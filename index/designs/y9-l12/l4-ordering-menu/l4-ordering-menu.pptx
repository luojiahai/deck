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42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4056" y="166688"/>
            <a:ext cx="1336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第十二课 · 外出就餐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888" y="176213"/>
            <a:ext cx="400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PP.115–116, 120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点菜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Ordering at a Restaurant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9 · Book 3 · Unit 4 · Lesson 12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901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改错句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7194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找错、改对 · 白板 · 改完以后用中文说为什么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98923"/>
            <a:ext cx="3454301" cy="657225"/>
          </a:xfrm>
          <a:prstGeom prst="roundRect">
            <a:avLst>
              <a:gd name="adj" fmla="val 11594"/>
            </a:avLst>
          </a:prstGeom>
          <a:solidFill>
            <a:srgbClr val="A843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2213223"/>
            <a:ext cx="31089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2C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以后我吃完饭看电视。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59052" y="2098923"/>
            <a:ext cx="3454301" cy="657225"/>
          </a:xfrm>
          <a:prstGeom prst="roundRect">
            <a:avLst>
              <a:gd name="adj" fmla="val 11594"/>
            </a:avLst>
          </a:prstGeom>
          <a:solidFill>
            <a:srgbClr val="2F6B4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202" y="2213223"/>
            <a:ext cx="31089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我吃完饭以后看电视。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92703" y="2313236"/>
            <a:ext cx="1744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「以后」要放在分句后面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035350"/>
            <a:ext cx="2539901" cy="657225"/>
          </a:xfrm>
          <a:prstGeom prst="roundRect">
            <a:avLst>
              <a:gd name="adj" fmla="val 11594"/>
            </a:avLst>
          </a:prstGeom>
          <a:solidFill>
            <a:srgbClr val="A843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149650"/>
            <a:ext cx="21762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2C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我们都很饱吃。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44652" y="3035350"/>
            <a:ext cx="2844701" cy="657225"/>
          </a:xfrm>
          <a:prstGeom prst="roundRect">
            <a:avLst>
              <a:gd name="adj" fmla="val 11594"/>
            </a:avLst>
          </a:prstGeom>
          <a:solidFill>
            <a:srgbClr val="2F6B4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47802" y="3149650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我们都吃得很饱。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68703" y="3249662"/>
            <a:ext cx="1427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「得」连动词和结果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3971776"/>
            <a:ext cx="2539901" cy="657225"/>
          </a:xfrm>
          <a:prstGeom prst="roundRect">
            <a:avLst>
              <a:gd name="adj" fmla="val 11594"/>
            </a:avLst>
          </a:prstGeom>
          <a:solidFill>
            <a:srgbClr val="A843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2750" y="4086076"/>
            <a:ext cx="21762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2C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这家饭店挺贵。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644652" y="3971776"/>
            <a:ext cx="2844701" cy="657225"/>
          </a:xfrm>
          <a:prstGeom prst="roundRect">
            <a:avLst>
              <a:gd name="adj" fmla="val 11594"/>
            </a:avLst>
          </a:prstGeom>
          <a:solidFill>
            <a:srgbClr val="2F6B4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847802" y="4086076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这家饭店挺贵的。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768703" y="4186089"/>
            <a:ext cx="1744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「挺……的」要有「的」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600" y="4882902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第二句是对的：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我们一共花了三百多块。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看谁没上当。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7020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81733" y="166688"/>
            <a:ext cx="19591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674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67433"/>
            <a:ext cx="10972800" cy="784175"/>
          </a:xfrm>
          <a:prstGeom prst="roundRect">
            <a:avLst>
              <a:gd name="adj" fmla="val 16195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576983"/>
            <a:ext cx="10531602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order food in a Chinese restaurant using 点 and 来.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3040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605534"/>
            <a:ext cx="10972800" cy="935236"/>
          </a:xfrm>
          <a:prstGeom prst="roundRect">
            <a:avLst>
              <a:gd name="adj" fmla="val 8148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67459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767459"/>
            <a:ext cx="420195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to order using 请问可以点菜了吗？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102620"/>
            <a:ext cx="420195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能问「请问可以点菜了吗？」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693170"/>
            <a:ext cx="10972800" cy="935236"/>
          </a:xfrm>
          <a:prstGeom prst="roundRect">
            <a:avLst>
              <a:gd name="adj" fmla="val 8148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85509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855095"/>
            <a:ext cx="382365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order a dish using 来 + 数量 + 菜名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190256"/>
            <a:ext cx="382365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能用「来半只烤鸭」点菜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780806"/>
            <a:ext cx="10972800" cy="935236"/>
          </a:xfrm>
          <a:prstGeom prst="roundRect">
            <a:avLst>
              <a:gd name="adj" fmla="val 8148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94273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4942731"/>
            <a:ext cx="367048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I'm hungry and read a menu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277892"/>
            <a:ext cx="367048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能说「我饿了」，看得懂菜单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0uBGefGcle/img/caid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08995" y="3866852"/>
            <a:ext cx="7238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càidān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057400" y="4285952"/>
            <a:ext cx="2461058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菜单（單）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015407" y="4931122"/>
            <a:ext cx="5068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menu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0uBGefGcle/img/dianc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40353" y="3866852"/>
            <a:ext cx="7907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diǎncài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点菜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440638" y="5070723"/>
            <a:ext cx="994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order food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各位好，这是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菜单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Good evening, here's the menu.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请问可以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点菜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了吗？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May I take your order?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我们看完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菜单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以后就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点菜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We'll order once we've looked at the menu.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问：服务员先说什么？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服务员：请问可以点菜了吗？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你：________ 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「点菜」可以拆开——点什么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菜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、点了三个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菜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。写两句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拆开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的，不要写不拆的。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391" y="176213"/>
            <a:ext cx="4198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253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26828"/>
            <a:ext cx="5308550" cy="4131320"/>
          </a:xfrm>
          <a:prstGeom prst="roundRect">
            <a:avLst>
              <a:gd name="adj" fmla="val 30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01591" y="2476054"/>
            <a:ext cx="1269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è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87401" y="2958554"/>
            <a:ext cx="3419856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饿（餓）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2362646" y="4058245"/>
            <a:ext cx="18385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hungry　·　饿 ↔ 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73701" y="1526828"/>
            <a:ext cx="5308699" cy="4131320"/>
          </a:xfrm>
          <a:prstGeom prst="roundRect">
            <a:avLst>
              <a:gd name="adj" fmla="val 30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0" descr="/var/folders/6c/210dcgxn4gz5sm71vld2cy1h0000gn/T/tmp.0uBGefGcle/img/kaoy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5550" y="1917353"/>
            <a:ext cx="1905000" cy="1905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613428" y="3936653"/>
            <a:ext cx="6416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kǎoyā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721650" y="4355753"/>
            <a:ext cx="2461058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烤鸭（鴨）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8440043" y="5000923"/>
            <a:ext cx="9953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roast duck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我们都很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饿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了。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We're all hungry.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北京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烤鸭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做得非常好吃。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Peking duck is delicious.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我很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饿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，我想吃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烤鸭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I'm hungry — I'd like roast duck.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问：「饿」和「饱」左边都是什么？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700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73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7355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501205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我很饿，我想吃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9506"/>
            <a:ext cx="10972800" cy="1236464"/>
          </a:xfrm>
          <a:prstGeom prst="roundRect">
            <a:avLst>
              <a:gd name="adj" fmla="val 6163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6257"/>
            <a:ext cx="1068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0158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一句话里「饿」和「饱」都要用上：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我们进饭店的时候都很饿，吃完以后都很饱。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再加一个「因为」的分句说为什么。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3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734" y="176213"/>
            <a:ext cx="4838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1729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18816"/>
            <a:ext cx="5308550" cy="3747343"/>
          </a:xfrm>
          <a:prstGeom prst="roundRect">
            <a:avLst>
              <a:gd name="adj" fmla="val 338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093244" y="2668042"/>
            <a:ext cx="3479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zhī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87401" y="3150543"/>
            <a:ext cx="3419856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只（隻）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1446461" y="4250234"/>
            <a:ext cx="37075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 word — animals, one of a pair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73701" y="1718816"/>
            <a:ext cx="5308699" cy="3747343"/>
          </a:xfrm>
          <a:prstGeom prst="roundRect">
            <a:avLst>
              <a:gd name="adj" fmla="val 338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22047" y="2668042"/>
            <a:ext cx="8282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bàn zhī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89850" y="3150543"/>
            <a:ext cx="1709928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半只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7386489" y="4250234"/>
            <a:ext cx="3144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half a （烤鸭）　·　半 在量词前面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3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142" y="176213"/>
            <a:ext cx="4589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来半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只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烤鸭。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We'll have half a roast duck.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我家有两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只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猫。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have two cats at home.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我们点了一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只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烤鸭和一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炒青菜。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ordered a roast duck and a stir-fried greens.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问：为什么烤鸭用「只」，炒青菜用「个」？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700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3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73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7355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501205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来 ________ 只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9506"/>
            <a:ext cx="10972800" cy="1236464"/>
          </a:xfrm>
          <a:prstGeom prst="roundRect">
            <a:avLst>
              <a:gd name="adj" fmla="val 6163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6257"/>
            <a:ext cx="1068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0158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「只」是动物，「碗」是米饭和汤，「杯」是茶，「瓶」是可乐——第六节课再学后面三个。写四个短的点菜句，每句用一个不同的量词，菜不许重复。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461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characters only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575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4562"/>
            <a:ext cx="203195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8485" y="3024188"/>
            <a:ext cx="179418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菜单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844701" y="2684562"/>
            <a:ext cx="2032099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63585" y="3024188"/>
            <a:ext cx="1794331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点菜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079950" y="2684562"/>
            <a:ext cx="203195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98836" y="3024188"/>
            <a:ext cx="179418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饿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315051" y="2684562"/>
            <a:ext cx="2032099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33935" y="3024188"/>
            <a:ext cx="1794331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烤鸭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550301" y="2684562"/>
            <a:ext cx="203195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69186" y="3024188"/>
            <a:ext cx="179418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只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09600" y="42972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读不出来就回头再教一遍。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693" y="176213"/>
            <a:ext cx="484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点菜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来 + 数量 + 量词 + 菜名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28244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来半只烤鸭。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282447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We'll have half a roast duck.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29756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来一个炒青菜。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297567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We'll have a stir-fried greens.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275373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来三碗米饭吧。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275373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bowls of rice, please.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p.120 NOTE：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点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和 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来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都可以用来点菜。「半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」，不是 ✗只半——「半」在量词前面。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266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一口气点四个菜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26655"/>
            <a:ext cx="10972800" cy="1179165"/>
          </a:xfrm>
          <a:prstGeom prst="roundRect">
            <a:avLst>
              <a:gd name="adj" fmla="val 1077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85050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来半只烤鸭、一个炒肉丝，再来一个蒸鱼。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858220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Half a roast duck, a shredded pork, and a steamed fish as well.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32807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再来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and also bring……，在同一句话里接着点下一样。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3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Text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495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课本 P.115 · CD 47 · 前半段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49611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811536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41227" y="1811536"/>
            <a:ext cx="62567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服务员：各位好，这是菜单……请问可以点菜了吗？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9600" y="2475012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636937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41227" y="2636937"/>
            <a:ext cx="652881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爸爸：我们都很饿了。我们现在就点。来半只烤鸭……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3300413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46233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41227" y="3462338"/>
            <a:ext cx="2720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服务员：要不要米饭？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09600" y="4125813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28773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41227" y="4287738"/>
            <a:ext cx="2720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爸爸：来三碗米饭吧。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09600" y="4976664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半个班当服务员，半个班当爸爸，一起读。烤鸭后面的菜留到下节课。
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：谁先说话？· 他们要了几碗米饭？· 「各位」是什么意思？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646" y="176213"/>
            <a:ext cx="478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383382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「饿」和「饱」哪个是 hungry？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38338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饿 举手，饱 手往下——老师乱着说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177186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怎么说 menu？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17718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38277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这句话对不对？ ✗ 来只半烤鸭。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38277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怎么改？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69446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一__烤鸭，一__米饭 —— 哪个用「只」？哪个用「碗」？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69446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点名回答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1731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8613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87661"/>
            <a:ext cx="3539133" cy="2025402"/>
          </a:xfrm>
          <a:prstGeom prst="roundRect">
            <a:avLst>
              <a:gd name="adj" fmla="val 62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0uBGefGcle/img/caid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1424136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0066" y="2566988"/>
            <a:ext cx="8549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菜单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287661"/>
            <a:ext cx="3539133" cy="2025402"/>
          </a:xfrm>
          <a:prstGeom prst="roundRect">
            <a:avLst>
              <a:gd name="adj" fmla="val 62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0uBGefGcle/img/dianc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1424136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76900" y="2566988"/>
            <a:ext cx="8549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点菜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1287661"/>
            <a:ext cx="3539133" cy="2025402"/>
          </a:xfrm>
          <a:prstGeom prst="roundRect">
            <a:avLst>
              <a:gd name="adj" fmla="val 62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9603284" y="1424136"/>
            <a:ext cx="4274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饿</a:t>
            </a:r>
            <a:endParaRPr lang="en-US" sz="3300" dirty="0"/>
          </a:p>
        </p:txBody>
      </p:sp>
      <p:sp>
        <p:nvSpPr>
          <p:cNvPr id="17" name="Text 13"/>
          <p:cNvSpPr/>
          <p:nvPr/>
        </p:nvSpPr>
        <p:spPr>
          <a:xfrm>
            <a:off x="609600" y="3490764"/>
            <a:ext cx="3539133" cy="2025402"/>
          </a:xfrm>
          <a:prstGeom prst="roundRect">
            <a:avLst>
              <a:gd name="adj" fmla="val 62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2" descr="/var/folders/6c/210dcgxn4gz5sm71vld2cy1h0000gn/T/tmp.0uBGefGcle/img/kaoy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417" y="3627239"/>
            <a:ext cx="1041350" cy="10413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60066" y="4770090"/>
            <a:ext cx="8549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烤鸭</a:t>
            </a:r>
            <a:endParaRPr lang="en-US" sz="3300" dirty="0"/>
          </a:p>
        </p:txBody>
      </p:sp>
      <p:sp>
        <p:nvSpPr>
          <p:cNvPr id="20" name="Text 15"/>
          <p:cNvSpPr/>
          <p:nvPr/>
        </p:nvSpPr>
        <p:spPr>
          <a:xfrm>
            <a:off x="4326434" y="3490764"/>
            <a:ext cx="3539133" cy="2025402"/>
          </a:xfrm>
          <a:prstGeom prst="roundRect">
            <a:avLst>
              <a:gd name="adj" fmla="val 62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886450" y="3627239"/>
            <a:ext cx="4274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只</a:t>
            </a:r>
            <a:endParaRPr lang="en-US" sz="3300" dirty="0"/>
          </a:p>
        </p:txBody>
      </p:sp>
      <p:sp>
        <p:nvSpPr>
          <p:cNvPr id="22" name="Text 17"/>
          <p:cNvSpPr/>
          <p:nvPr/>
        </p:nvSpPr>
        <p:spPr>
          <a:xfrm>
            <a:off x="609600" y="566856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这一页留在屏幕上——活动一要用。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5781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四张菜单 · Four menus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097" y="176213"/>
            <a:ext cx="4854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1446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四张菜单 · 每组一套 · 课本 P.120 第 14 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14488"/>
            <a:ext cx="10972800" cy="823913"/>
          </a:xfrm>
          <a:prstGeom prst="roundRect">
            <a:avLst>
              <a:gd name="adj" fmla="val 924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72551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725513"/>
            <a:ext cx="621792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快乐自助餐厅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2060674"/>
            <a:ext cx="62179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龙虾 · 寿司 · 烤牛排 · 沙拉 · 巧克力蛋糕 · 各种水果、甜品 · 果汁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514600"/>
            <a:ext cx="10972800" cy="823913"/>
          </a:xfrm>
          <a:prstGeom prst="roundRect">
            <a:avLst>
              <a:gd name="adj" fmla="val 924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62562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625626"/>
            <a:ext cx="485775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天天快餐店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2960787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热狗 · 汉堡包 · 比萨饼 · 香肠 · 煎蛋 · 可乐 · 汽水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14713"/>
            <a:ext cx="10972800" cy="823913"/>
          </a:xfrm>
          <a:prstGeom prst="roundRect">
            <a:avLst>
              <a:gd name="adj" fmla="val 924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52573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525738"/>
            <a:ext cx="476059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北京饭店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3127" y="3860899"/>
            <a:ext cx="47605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烤鸭 · 红烧豆腐 · 蒸鱼 · 炒肉丝 · 炒青菜 · 炒大虾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314825"/>
            <a:ext cx="10972800" cy="823913"/>
          </a:xfrm>
          <a:prstGeom prst="roundRect">
            <a:avLst>
              <a:gd name="adj" fmla="val 924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42585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4425851"/>
            <a:ext cx="437197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欢欢茶餐厅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3127" y="4761012"/>
            <a:ext cx="437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蛋炒饭 · 鱼蛋面 · 炒面 · 白粥 · 鱼片粥 · 绿茶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24023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选一家，点的菜必须在这家的菜单上。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1497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8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7800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补全对话 · 课本 P.120 第 14 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78025"/>
            <a:ext cx="10972800" cy="2513261"/>
          </a:xfrm>
          <a:prstGeom prst="roundRect">
            <a:avLst>
              <a:gd name="adj" fmla="val 5053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82567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两人一组，选一家饭店，把空的地方写出来。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17110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点的菜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必须在你选的那张菜单上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，至少点三个。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643485"/>
            <a:ext cx="10531602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服务员：各位好，这是菜单……请问可以点菜了吗？</a:t>
            </a:r>
            <a:endParaRPr lang="en-US" sz="2100" dirty="0"/>
          </a:p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爸爸：可以。来 ________ 。 服务员：________ ？ 爸爸：________ 。</a:t>
            </a:r>
            <a:endParaRPr lang="en-US" sz="2100" dirty="0"/>
          </a:p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服务员：几位想喝什么？ 爸爸：________ 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09600" y="4268986"/>
            <a:ext cx="10972800" cy="1236464"/>
          </a:xfrm>
          <a:prstGeom prst="roundRect">
            <a:avLst>
              <a:gd name="adj" fmla="val 6163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465737"/>
            <a:ext cx="1068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719638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写给五个人，一个不吃肉，一个不吃海鲜——点菜要有理由。再加一句服务员推荐，顾客接受或者拒绝，拒绝要说原因。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30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You Do · 9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6407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演出来 · 稿子翻过去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64097"/>
            <a:ext cx="10972800" cy="1531590"/>
          </a:xfrm>
          <a:prstGeom prst="roundRect">
            <a:avLst>
              <a:gd name="adj" fmla="val 8292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31174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同一组，稿子翻过来放桌上，站起来演一遍。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6571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交换角色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，换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另一家饭店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再演一遍——第二遍没有稿。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0026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两组演给全班看。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3773388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397013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23356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什么都不写：老师给一张没看过的菜单，三十秒准备，直接点给四个人吃。服务员要问一个稿上没有的问题（要不要米饭？想喝点儿什么？几位？），顾客现场答。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359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拍字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838" y="176213"/>
            <a:ext cx="5102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8391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拍字 SLAP THE CHARACTER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83940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4586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445865"/>
            <a:ext cx="223456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黑板上四张字卡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1781026"/>
            <a:ext cx="22345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菜单 · 点菜 · 饿 · 烤鸭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362051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52397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523976"/>
            <a:ext cx="231380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老师说词，两个同学抢拍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23138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先拍到的得一分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336566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：老师说一整句，中间空一个词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3937248"/>
            <a:ext cx="33656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我们都很____了，快点菜吧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518273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68019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680198"/>
            <a:ext cx="294501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：拍对以后要把整句说完整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9327" y="5015359"/>
            <a:ext cx="2945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说不出来不算分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57093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字卡打印两套，用蓝丁胶贴。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285" y="176213"/>
            <a:ext cx="5097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5283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同学用中文念三条。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白板上写 👍 / 😐 / 👎，一起举起来。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翻译成中文。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我们学怎么说一道菜是怎么做的——红烧、蒸、炒。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出门条：翻译成中文 —— </a:t>
            </a:r>
            <a:r>
              <a:rPr lang="en-US" sz="2100" b="1" i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May I order now? We'll have half a roast duck.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2026-09-15T00:22:02Z</dcterms:created>
  <dcterms:modified xsi:type="dcterms:W3CDTF">2026-09-15T00:22:02Z</dcterms:modified>
</cp:coreProperties>
</file>