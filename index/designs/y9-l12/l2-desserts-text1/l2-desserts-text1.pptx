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</p:sldIdLst>
  <p:notesMasterIdLst>
    <p:notesMasterId r:id="rId25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notesMaster" Target="notesMasters/notesMaster1.xml"/><Relationship Id="rId26" Type="http://schemas.openxmlformats.org/officeDocument/2006/relationships/presProps" Target="presProps.xml"/><Relationship Id="rId27" Type="http://schemas.openxmlformats.org/officeDocument/2006/relationships/viewProps" Target="viewProps.xml"/><Relationship Id="rId28" Type="http://schemas.openxmlformats.org/officeDocument/2006/relationships/theme" Target="theme/theme1.xml"/><Relationship Id="rId2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9-1.png"/><Relationship Id="rId2" Type="http://schemas.openxmlformats.org/officeDocument/2006/relationships/image" Target="../media/image-19-2.png"/><Relationship Id="rId3" Type="http://schemas.openxmlformats.org/officeDocument/2006/relationships/image" Target="../media/image-19-3.png"/><Relationship Id="rId4" Type="http://schemas.openxmlformats.org/officeDocument/2006/relationships/image" Target="../media/image-19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AF6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12192000" cy="542925"/>
          </a:xfrm>
          <a:prstGeom prst="rect">
            <a:avLst/>
          </a:prstGeom>
          <a:solidFill>
            <a:srgbClr val="FAF6E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Shape 1"/>
          <p:cNvSpPr/>
          <p:nvPr/>
        </p:nvSpPr>
        <p:spPr>
          <a:xfrm>
            <a:off x="0" y="538163"/>
            <a:ext cx="12192000" cy="0"/>
          </a:xfrm>
          <a:prstGeom prst="line">
            <a:avLst/>
          </a:prstGeom>
          <a:noFill/>
          <a:ln w="9525">
            <a:solidFill>
              <a:srgbClr val="E0CFB3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7950" y="176213"/>
            <a:ext cx="1202749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7A4426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LESSON 2 OF 6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972568" y="166688"/>
            <a:ext cx="1336944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5C4A37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第十二课 · 外出就餐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11291888" y="176213"/>
            <a:ext cx="400005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7A6952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1 / 23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507950" y="0"/>
            <a:ext cx="11176099" cy="31700"/>
          </a:xfrm>
          <a:prstGeom prst="rect">
            <a:avLst/>
          </a:prstGeom>
          <a:solidFill>
            <a:srgbClr val="7A4426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609600" y="2273201"/>
            <a:ext cx="11192256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7A4426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轻松学中文 3 · PP.110–112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609600" y="2600176"/>
            <a:ext cx="11192256" cy="90517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7128"/>
              </a:lnSpc>
              <a:spcBef>
                <a:spcPts val="1000"/>
              </a:spcBef>
              <a:buNone/>
            </a:pPr>
            <a:r>
              <a:rPr lang="en-US" sz="6600" b="1" dirty="0">
                <a:solidFill>
                  <a:srgbClr val="2B2018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甜品</a:t>
            </a:r>
            <a:endParaRPr lang="en-US" sz="6600" dirty="0"/>
          </a:p>
        </p:txBody>
      </p:sp>
      <p:sp>
        <p:nvSpPr>
          <p:cNvPr id="10" name="Text 8"/>
          <p:cNvSpPr/>
          <p:nvPr/>
        </p:nvSpPr>
        <p:spPr>
          <a:xfrm>
            <a:off x="609600" y="3581549"/>
            <a:ext cx="111922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600"/>
              </a:lnSpc>
              <a:spcBef>
                <a:spcPts val="600"/>
              </a:spcBef>
              <a:buNone/>
            </a:pPr>
            <a:r>
              <a:rPr lang="en-US" sz="3000" b="1" dirty="0">
                <a:solidFill>
                  <a:srgbClr val="2F6B44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Roast, Steak and Desserts</a:t>
            </a:r>
            <a:endParaRPr lang="en-US" sz="3000" dirty="0"/>
          </a:p>
        </p:txBody>
      </p:sp>
      <p:sp>
        <p:nvSpPr>
          <p:cNvPr id="11" name="Text 9"/>
          <p:cNvSpPr/>
          <p:nvPr/>
        </p:nvSpPr>
        <p:spPr>
          <a:xfrm>
            <a:off x="609600" y="4267349"/>
            <a:ext cx="11192256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00"/>
              </a:lnSpc>
              <a:spcBef>
                <a:spcPts val="1800"/>
              </a:spcBef>
              <a:buNone/>
            </a:pPr>
            <a:r>
              <a:rPr lang="en-US" sz="1800" dirty="0">
                <a:solidFill>
                  <a:srgbClr val="5C4A37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Year 9 · Book 3 · Unit 4 · Lesson 12 · 50 minutes</a:t>
            </a:r>
            <a:endParaRPr lang="en-US" sz="1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AF6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12192000" cy="542925"/>
          </a:xfrm>
          <a:prstGeom prst="rect">
            <a:avLst/>
          </a:prstGeom>
          <a:solidFill>
            <a:srgbClr val="FAF6E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Shape 1"/>
          <p:cNvSpPr/>
          <p:nvPr/>
        </p:nvSpPr>
        <p:spPr>
          <a:xfrm>
            <a:off x="0" y="538163"/>
            <a:ext cx="12192000" cy="0"/>
          </a:xfrm>
          <a:prstGeom prst="line">
            <a:avLst/>
          </a:prstGeom>
          <a:noFill/>
          <a:ln w="9525">
            <a:solidFill>
              <a:srgbClr val="E0CFB3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7950" y="176213"/>
            <a:ext cx="1468407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7A4426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0–8 MIN · REVIEW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2233017" y="166688"/>
            <a:ext cx="1046390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5C4A37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复习 · 第一节课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11266736" y="176213"/>
            <a:ext cx="425660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7A6952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2 / 23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507950" y="0"/>
            <a:ext cx="11176099" cy="31700"/>
          </a:xfrm>
          <a:prstGeom prst="rect">
            <a:avLst/>
          </a:prstGeom>
          <a:solidFill>
            <a:srgbClr val="7A4426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609600" y="2575917"/>
            <a:ext cx="11192256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7A4426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复习 · 两人对话 90 秒，然后交换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609600" y="2775942"/>
            <a:ext cx="10972800" cy="1531590"/>
          </a:xfrm>
          <a:prstGeom prst="roundRect">
            <a:avLst>
              <a:gd name="adj" fmla="val 8292"/>
            </a:avLst>
          </a:prstGeom>
          <a:solidFill>
            <a:srgbClr val="F1E8D8"/>
          </a:solidFill>
          <a:ln w="19050">
            <a:solidFill>
              <a:srgbClr val="C9B392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" name="Text 8"/>
          <p:cNvSpPr/>
          <p:nvPr/>
        </p:nvSpPr>
        <p:spPr>
          <a:xfrm>
            <a:off x="933450" y="3023592"/>
            <a:ext cx="10531602" cy="3454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20"/>
              </a:lnSpc>
              <a:buNone/>
            </a:pPr>
            <a:r>
              <a:rPr lang="en-US" sz="1700" dirty="0">
                <a:solidFill>
                  <a:srgbClr val="2B2018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A：你们去吃自助餐了吗？吃了什么？</a:t>
            </a:r>
            <a:endParaRPr lang="en-US" sz="1700" dirty="0"/>
          </a:p>
        </p:txBody>
      </p:sp>
      <p:sp>
        <p:nvSpPr>
          <p:cNvPr id="11" name="Text 9"/>
          <p:cNvSpPr/>
          <p:nvPr/>
        </p:nvSpPr>
        <p:spPr>
          <a:xfrm>
            <a:off x="933450" y="3369022"/>
            <a:ext cx="10531602" cy="3454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20"/>
              </a:lnSpc>
              <a:buNone/>
            </a:pPr>
            <a:r>
              <a:rPr lang="en-US" sz="1700" dirty="0">
                <a:solidFill>
                  <a:srgbClr val="2B2018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B：回答，至少用两个词（自助餐 · 龙虾 · 三文鱼 · 寿司）。</a:t>
            </a:r>
            <a:endParaRPr lang="en-US" sz="1700" dirty="0"/>
          </a:p>
        </p:txBody>
      </p:sp>
      <p:sp>
        <p:nvSpPr>
          <p:cNvPr id="12" name="Text 10"/>
          <p:cNvSpPr/>
          <p:nvPr/>
        </p:nvSpPr>
        <p:spPr>
          <a:xfrm>
            <a:off x="933450" y="3714452"/>
            <a:ext cx="10531602" cy="3454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20"/>
              </a:lnSpc>
              <a:buNone/>
            </a:pPr>
            <a:r>
              <a:rPr lang="en-US" sz="1700" dirty="0">
                <a:solidFill>
                  <a:srgbClr val="2B2018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然后</a:t>
            </a:r>
            <a:r>
              <a:rPr lang="en-US" sz="1700" b="1" dirty="0">
                <a:solidFill>
                  <a:srgbClr val="7A4426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白板快写</a:t>
            </a:r>
            <a:r>
              <a:rPr lang="en-US" sz="1700" dirty="0">
                <a:solidFill>
                  <a:srgbClr val="2B2018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：老师放图，写汉字，不许写拼音。</a:t>
            </a:r>
            <a:endParaRPr lang="en-US" sz="17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AF6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12192000" cy="542925"/>
          </a:xfrm>
          <a:prstGeom prst="rect">
            <a:avLst/>
          </a:prstGeom>
          <a:solidFill>
            <a:srgbClr val="FAF6E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Shape 1"/>
          <p:cNvSpPr/>
          <p:nvPr/>
        </p:nvSpPr>
        <p:spPr>
          <a:xfrm>
            <a:off x="0" y="538163"/>
            <a:ext cx="12192000" cy="0"/>
          </a:xfrm>
          <a:prstGeom prst="line">
            <a:avLst/>
          </a:prstGeom>
          <a:noFill/>
          <a:ln w="9525">
            <a:solidFill>
              <a:srgbClr val="E0CFB3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7950" y="176213"/>
            <a:ext cx="1468407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7A4426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0–8 MIN · REVIEW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2233017" y="166688"/>
            <a:ext cx="1511519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5C4A37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复习 · 分类 · 考试题型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11267182" y="176213"/>
            <a:ext cx="425205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7A6952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3 / 23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507950" y="0"/>
            <a:ext cx="11176099" cy="31700"/>
          </a:xfrm>
          <a:prstGeom prst="rect">
            <a:avLst/>
          </a:prstGeom>
          <a:solidFill>
            <a:srgbClr val="7A4426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609600" y="1885057"/>
            <a:ext cx="11192256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7A4426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分类 · 三分钟 · 这是第四单元测验第一题的题型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609600" y="2085082"/>
            <a:ext cx="10972800" cy="2913311"/>
          </a:xfrm>
          <a:prstGeom prst="roundRect">
            <a:avLst>
              <a:gd name="adj" fmla="val 4359"/>
            </a:avLst>
          </a:prstGeom>
          <a:solidFill>
            <a:srgbClr val="F1E8D8"/>
          </a:solidFill>
          <a:ln w="19050">
            <a:solidFill>
              <a:srgbClr val="C9B392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" name="Text 8"/>
          <p:cNvSpPr/>
          <p:nvPr/>
        </p:nvSpPr>
        <p:spPr>
          <a:xfrm>
            <a:off x="933450" y="2332732"/>
            <a:ext cx="10531602" cy="3454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20"/>
              </a:lnSpc>
              <a:buNone/>
            </a:pPr>
            <a:r>
              <a:rPr lang="en-US" sz="1700" dirty="0">
                <a:solidFill>
                  <a:srgbClr val="2B2018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两人一组，写在白板上，分成六类。</a:t>
            </a:r>
            <a:endParaRPr lang="en-US" sz="1700" dirty="0"/>
          </a:p>
        </p:txBody>
      </p:sp>
      <p:sp>
        <p:nvSpPr>
          <p:cNvPr id="11" name="Text 9"/>
          <p:cNvSpPr/>
          <p:nvPr/>
        </p:nvSpPr>
        <p:spPr>
          <a:xfrm>
            <a:off x="933450" y="2678162"/>
            <a:ext cx="10531602" cy="3454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20"/>
              </a:lnSpc>
              <a:buNone/>
            </a:pPr>
            <a:r>
              <a:rPr lang="en-US" sz="1700" dirty="0">
                <a:solidFill>
                  <a:srgbClr val="2B2018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分完以后，老师挑两个问：</a:t>
            </a:r>
            <a:r>
              <a:rPr lang="en-US" sz="1700" b="1" dirty="0">
                <a:solidFill>
                  <a:srgbClr val="7A4426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为什么？</a:t>
            </a:r>
            <a:r>
              <a:rPr lang="en-US" sz="1700" dirty="0">
                <a:solidFill>
                  <a:srgbClr val="2B2018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（用中文回答）</a:t>
            </a:r>
            <a:endParaRPr lang="en-US" sz="1700" dirty="0"/>
          </a:p>
        </p:txBody>
      </p:sp>
      <p:sp>
        <p:nvSpPr>
          <p:cNvPr id="12" name="Text 10"/>
          <p:cNvSpPr/>
          <p:nvPr/>
        </p:nvSpPr>
        <p:spPr>
          <a:xfrm>
            <a:off x="933450" y="3150543"/>
            <a:ext cx="10531602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150"/>
              </a:lnSpc>
              <a:spcBef>
                <a:spcPts val="1000"/>
              </a:spcBef>
              <a:buNone/>
            </a:pPr>
            <a:r>
              <a:rPr lang="en-US" sz="2100" dirty="0">
                <a:solidFill>
                  <a:srgbClr val="2B2018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龙虾 糖果 猪肉 热狗 面条 香肠 牛排 蛋糕 盒饭 红豆汤 汉堡包 三文鱼 巧克力 冰淇淋 三明治</a:t>
            </a:r>
            <a:endParaRPr lang="en-US" sz="2100" dirty="0"/>
          </a:p>
          <a:p>
            <a:pPr algn="l" indent="0" marL="0">
              <a:lnSpc>
                <a:spcPts val="3150"/>
              </a:lnSpc>
              <a:spcBef>
                <a:spcPts val="1000"/>
              </a:spcBef>
              <a:buNone/>
            </a:pPr>
            <a:endParaRPr lang="en-US" sz="2100" dirty="0"/>
          </a:p>
          <a:p>
            <a:pPr algn="l" indent="0" marL="0">
              <a:lnSpc>
                <a:spcPts val="3150"/>
              </a:lnSpc>
              <a:spcBef>
                <a:spcPts val="1000"/>
              </a:spcBef>
              <a:buNone/>
            </a:pPr>
            <a:r>
              <a:rPr lang="en-US" sz="2100" dirty="0">
                <a:solidFill>
                  <a:srgbClr val="2B2018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海鲜 · 零食 · 肉类 · 快餐 · 中餐 · 甜品</a:t>
            </a:r>
            <a:endParaRPr lang="en-US" sz="2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AF6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12192000" cy="542925"/>
          </a:xfrm>
          <a:prstGeom prst="rect">
            <a:avLst/>
          </a:prstGeom>
          <a:solidFill>
            <a:srgbClr val="FAF6E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Shape 1"/>
          <p:cNvSpPr/>
          <p:nvPr/>
        </p:nvSpPr>
        <p:spPr>
          <a:xfrm>
            <a:off x="0" y="538163"/>
            <a:ext cx="12192000" cy="0"/>
          </a:xfrm>
          <a:prstGeom prst="line">
            <a:avLst/>
          </a:prstGeom>
          <a:noFill/>
          <a:ln w="9525">
            <a:solidFill>
              <a:srgbClr val="E0CFB3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7950" y="176213"/>
            <a:ext cx="741718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7A4426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8–10 MIN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520577" y="166688"/>
            <a:ext cx="2029477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5C4A37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学习目标 · Learning Intention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11266438" y="176213"/>
            <a:ext cx="425964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7A6952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4 / 23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507950" y="0"/>
            <a:ext cx="11176099" cy="31700"/>
          </a:xfrm>
          <a:prstGeom prst="rect">
            <a:avLst/>
          </a:prstGeom>
          <a:solidFill>
            <a:srgbClr val="7A4426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609600" y="1181695"/>
            <a:ext cx="11192256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7A4426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LEARNING INTENTION · 学习目标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609600" y="1381720"/>
            <a:ext cx="10972800" cy="784175"/>
          </a:xfrm>
          <a:prstGeom prst="roundRect">
            <a:avLst>
              <a:gd name="adj" fmla="val 16195"/>
            </a:avLst>
          </a:prstGeom>
          <a:solidFill>
            <a:srgbClr val="E4D5BC"/>
          </a:solidFill>
          <a:ln w="19050">
            <a:solidFill>
              <a:srgbClr val="7A4426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" name="Text 8"/>
          <p:cNvSpPr/>
          <p:nvPr/>
        </p:nvSpPr>
        <p:spPr>
          <a:xfrm>
            <a:off x="933450" y="1591270"/>
            <a:ext cx="10531602" cy="3650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75"/>
              </a:lnSpc>
              <a:buNone/>
            </a:pPr>
            <a:r>
              <a:rPr lang="en-US" sz="2300" b="1" dirty="0">
                <a:solidFill>
                  <a:srgbClr val="2B2018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We are learning to talk about desserts at a buffet and say how full we are.</a:t>
            </a:r>
            <a:endParaRPr lang="en-US" sz="2300" dirty="0"/>
          </a:p>
        </p:txBody>
      </p:sp>
      <p:sp>
        <p:nvSpPr>
          <p:cNvPr id="11" name="Text 9"/>
          <p:cNvSpPr/>
          <p:nvPr/>
        </p:nvSpPr>
        <p:spPr>
          <a:xfrm>
            <a:off x="609600" y="2318296"/>
            <a:ext cx="11192256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200"/>
              </a:spcBef>
              <a:buNone/>
            </a:pPr>
            <a:r>
              <a:rPr lang="en-US" sz="1100" b="1" dirty="0">
                <a:solidFill>
                  <a:srgbClr val="7A4426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SUCCESS CRITERIA · 我能……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609600" y="2619821"/>
            <a:ext cx="10972800" cy="925711"/>
          </a:xfrm>
          <a:prstGeom prst="roundRect">
            <a:avLst>
              <a:gd name="adj" fmla="val 8232"/>
            </a:avLst>
          </a:prstGeom>
          <a:solidFill>
            <a:srgbClr val="F1E8D8"/>
          </a:solidFill>
          <a:ln w="9525">
            <a:solidFill>
              <a:srgbClr val="E0CFB3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3" name="Text 11"/>
          <p:cNvSpPr/>
          <p:nvPr/>
        </p:nvSpPr>
        <p:spPr>
          <a:xfrm>
            <a:off x="822275" y="2781746"/>
            <a:ext cx="297841" cy="3504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60"/>
              </a:lnSpc>
              <a:buNone/>
            </a:pPr>
            <a:r>
              <a:rPr lang="en-US" sz="2300" b="1" dirty="0">
                <a:solidFill>
                  <a:srgbClr val="7A4426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1</a:t>
            </a:r>
            <a:endParaRPr lang="en-US" sz="2300" dirty="0"/>
          </a:p>
        </p:txBody>
      </p:sp>
      <p:sp>
        <p:nvSpPr>
          <p:cNvPr id="14" name="Text 12"/>
          <p:cNvSpPr/>
          <p:nvPr/>
        </p:nvSpPr>
        <p:spPr>
          <a:xfrm>
            <a:off x="1279327" y="2781746"/>
            <a:ext cx="2334301" cy="2844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240"/>
              </a:lnSpc>
              <a:buNone/>
            </a:pPr>
            <a:r>
              <a:rPr lang="en-US" sz="1600" dirty="0">
                <a:solidFill>
                  <a:srgbClr val="2B2018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I can use 烤 with a dish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1279327" y="3116907"/>
            <a:ext cx="2334301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400"/>
              </a:spcBef>
              <a:buNone/>
            </a:pPr>
            <a:r>
              <a:rPr lang="en-US" sz="1500" b="1" dirty="0">
                <a:solidFill>
                  <a:srgbClr val="2F6B44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能用「烤」说一道菜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609600" y="3697932"/>
            <a:ext cx="10972800" cy="925711"/>
          </a:xfrm>
          <a:prstGeom prst="roundRect">
            <a:avLst>
              <a:gd name="adj" fmla="val 8232"/>
            </a:avLst>
          </a:prstGeom>
          <a:solidFill>
            <a:srgbClr val="F1E8D8"/>
          </a:solidFill>
          <a:ln w="9525">
            <a:solidFill>
              <a:srgbClr val="E0CFB3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7" name="Text 15"/>
          <p:cNvSpPr/>
          <p:nvPr/>
        </p:nvSpPr>
        <p:spPr>
          <a:xfrm>
            <a:off x="822275" y="3859857"/>
            <a:ext cx="297841" cy="3504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60"/>
              </a:lnSpc>
              <a:buNone/>
            </a:pPr>
            <a:r>
              <a:rPr lang="en-US" sz="2300" b="1" dirty="0">
                <a:solidFill>
                  <a:srgbClr val="7A4426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2</a:t>
            </a:r>
            <a:endParaRPr lang="en-US" sz="2300" dirty="0"/>
          </a:p>
        </p:txBody>
      </p:sp>
      <p:sp>
        <p:nvSpPr>
          <p:cNvPr id="18" name="Text 16"/>
          <p:cNvSpPr/>
          <p:nvPr/>
        </p:nvSpPr>
        <p:spPr>
          <a:xfrm>
            <a:off x="1279327" y="3859857"/>
            <a:ext cx="3695989" cy="2844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240"/>
              </a:lnSpc>
              <a:buNone/>
            </a:pPr>
            <a:r>
              <a:rPr lang="en-US" sz="1600" dirty="0">
                <a:solidFill>
                  <a:srgbClr val="2B2018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I can name three desserts in Chinese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1279327" y="4195018"/>
            <a:ext cx="3695989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400"/>
              </a:spcBef>
              <a:buNone/>
            </a:pPr>
            <a:r>
              <a:rPr lang="en-US" sz="1500" b="1" dirty="0">
                <a:solidFill>
                  <a:srgbClr val="2F6B44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能说出三种甜品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609600" y="4776043"/>
            <a:ext cx="10972800" cy="925711"/>
          </a:xfrm>
          <a:prstGeom prst="roundRect">
            <a:avLst>
              <a:gd name="adj" fmla="val 8232"/>
            </a:avLst>
          </a:prstGeom>
          <a:solidFill>
            <a:srgbClr val="F1E8D8"/>
          </a:solidFill>
          <a:ln w="9525">
            <a:solidFill>
              <a:srgbClr val="E0CFB3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1" name="Text 19"/>
          <p:cNvSpPr/>
          <p:nvPr/>
        </p:nvSpPr>
        <p:spPr>
          <a:xfrm>
            <a:off x="822275" y="4937968"/>
            <a:ext cx="297841" cy="3504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60"/>
              </a:lnSpc>
              <a:buNone/>
            </a:pPr>
            <a:r>
              <a:rPr lang="en-US" sz="2300" b="1" dirty="0">
                <a:solidFill>
                  <a:srgbClr val="7A4426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3</a:t>
            </a:r>
            <a:endParaRPr lang="en-US" sz="2300" dirty="0"/>
          </a:p>
        </p:txBody>
      </p:sp>
      <p:sp>
        <p:nvSpPr>
          <p:cNvPr id="22" name="Text 20"/>
          <p:cNvSpPr/>
          <p:nvPr/>
        </p:nvSpPr>
        <p:spPr>
          <a:xfrm>
            <a:off x="1279327" y="4937968"/>
            <a:ext cx="4833158" cy="2844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240"/>
              </a:lnSpc>
              <a:buNone/>
            </a:pPr>
            <a:r>
              <a:rPr lang="en-US" sz="1600" dirty="0">
                <a:solidFill>
                  <a:srgbClr val="2B2018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I can say how much someone ate using 吃得很饱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1279327" y="5273129"/>
            <a:ext cx="4833158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400"/>
              </a:spcBef>
              <a:buNone/>
            </a:pPr>
            <a:r>
              <a:rPr lang="en-US" sz="1500" b="1" dirty="0">
                <a:solidFill>
                  <a:srgbClr val="2F6B44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能用「得」说吃了多少</a:t>
            </a:r>
            <a:endParaRPr lang="en-US" sz="15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AF6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12192000" cy="542925"/>
          </a:xfrm>
          <a:prstGeom prst="rect">
            <a:avLst/>
          </a:prstGeom>
          <a:solidFill>
            <a:srgbClr val="FAF6E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Shape 1"/>
          <p:cNvSpPr/>
          <p:nvPr/>
        </p:nvSpPr>
        <p:spPr>
          <a:xfrm>
            <a:off x="0" y="538163"/>
            <a:ext cx="12192000" cy="0"/>
          </a:xfrm>
          <a:prstGeom prst="line">
            <a:avLst/>
          </a:prstGeom>
          <a:noFill/>
          <a:ln w="9525">
            <a:solidFill>
              <a:srgbClr val="E0CFB3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7950" y="176213"/>
            <a:ext cx="1371404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7A4426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10–20 MIN · I DO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2137916" y="166688"/>
            <a:ext cx="1408748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5C4A37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生词 1 · Cycle 1 of 3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11266736" y="176213"/>
            <a:ext cx="425660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7A6952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5 / 23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507950" y="0"/>
            <a:ext cx="11176099" cy="31700"/>
          </a:xfrm>
          <a:prstGeom prst="rect">
            <a:avLst/>
          </a:prstGeom>
          <a:solidFill>
            <a:srgbClr val="7A4426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609600" y="1155502"/>
            <a:ext cx="11192256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7A4426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NEW WORDS · 跟我读两遍 · REPEAT AFTER ME, TWICE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609600" y="1457027"/>
            <a:ext cx="5308550" cy="4270921"/>
          </a:xfrm>
          <a:prstGeom prst="roundRect">
            <a:avLst>
              <a:gd name="adj" fmla="val 2974"/>
            </a:avLst>
          </a:prstGeom>
          <a:solidFill>
            <a:srgbClr val="F1E8D8"/>
          </a:solidFill>
          <a:ln w="9525">
            <a:solidFill>
              <a:srgbClr val="E0CFB3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pic>
        <p:nvPicPr>
          <p:cNvPr id="10" name="Image 0" descr="/var/folders/6c/210dcgxn4gz5sm71vld2cy1h0000gn/T/tmp.0uBGefGcle/img/ka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311301" y="1847552"/>
            <a:ext cx="1905000" cy="1905000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3071068" y="3866852"/>
            <a:ext cx="393326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700" dirty="0">
                <a:solidFill>
                  <a:srgbClr val="2F6B44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kǎo</a:t>
            </a:r>
            <a:endParaRPr lang="en-US" sz="1700" dirty="0"/>
          </a:p>
        </p:txBody>
      </p:sp>
      <p:sp>
        <p:nvSpPr>
          <p:cNvPr id="12" name="Text 9"/>
          <p:cNvSpPr/>
          <p:nvPr/>
        </p:nvSpPr>
        <p:spPr>
          <a:xfrm>
            <a:off x="2959001" y="4285952"/>
            <a:ext cx="621792" cy="6704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5280"/>
              </a:lnSpc>
              <a:buNone/>
            </a:pPr>
            <a:r>
              <a:rPr lang="en-US" sz="4800" b="1" dirty="0">
                <a:solidFill>
                  <a:srgbClr val="2B2018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烤</a:t>
            </a:r>
            <a:endParaRPr lang="en-US" sz="4800" dirty="0"/>
          </a:p>
        </p:txBody>
      </p:sp>
      <p:sp>
        <p:nvSpPr>
          <p:cNvPr id="13" name="Text 10"/>
          <p:cNvSpPr/>
          <p:nvPr/>
        </p:nvSpPr>
        <p:spPr>
          <a:xfrm>
            <a:off x="2748409" y="5070723"/>
            <a:ext cx="1051551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dirty="0">
                <a:solidFill>
                  <a:srgbClr val="5C4A37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bake; roast</a:t>
            </a:r>
            <a:endParaRPr lang="en-US" sz="1500" dirty="0"/>
          </a:p>
        </p:txBody>
      </p:sp>
      <p:sp>
        <p:nvSpPr>
          <p:cNvPr id="14" name="Text 11"/>
          <p:cNvSpPr/>
          <p:nvPr/>
        </p:nvSpPr>
        <p:spPr>
          <a:xfrm>
            <a:off x="6273701" y="1457027"/>
            <a:ext cx="5308699" cy="4270921"/>
          </a:xfrm>
          <a:prstGeom prst="roundRect">
            <a:avLst>
              <a:gd name="adj" fmla="val 2974"/>
            </a:avLst>
          </a:prstGeom>
          <a:solidFill>
            <a:srgbClr val="F1E8D8"/>
          </a:solidFill>
          <a:ln w="9525">
            <a:solidFill>
              <a:srgbClr val="E0CFB3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pic>
        <p:nvPicPr>
          <p:cNvPr id="15" name="Image 1" descr="/var/folders/6c/210dcgxn4gz5sm71vld2cy1h0000gn/T/tmp.0uBGefGcle/img/niupai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75550" y="1847552"/>
            <a:ext cx="1905000" cy="1905000"/>
          </a:xfrm>
          <a:prstGeom prst="rect">
            <a:avLst/>
          </a:prstGeom>
        </p:spPr>
      </p:pic>
      <p:sp>
        <p:nvSpPr>
          <p:cNvPr id="16" name="Text 12"/>
          <p:cNvSpPr/>
          <p:nvPr/>
        </p:nvSpPr>
        <p:spPr>
          <a:xfrm>
            <a:off x="8598247" y="3866852"/>
            <a:ext cx="672647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700" dirty="0">
                <a:solidFill>
                  <a:srgbClr val="2F6B44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niúpái</a:t>
            </a:r>
            <a:endParaRPr lang="en-US" sz="1700" dirty="0"/>
          </a:p>
        </p:txBody>
      </p:sp>
      <p:sp>
        <p:nvSpPr>
          <p:cNvPr id="17" name="Text 13"/>
          <p:cNvSpPr/>
          <p:nvPr/>
        </p:nvSpPr>
        <p:spPr>
          <a:xfrm>
            <a:off x="8318450" y="4285952"/>
            <a:ext cx="1243584" cy="6704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5280"/>
              </a:lnSpc>
              <a:buNone/>
            </a:pPr>
            <a:r>
              <a:rPr lang="en-US" sz="4800" b="1" dirty="0">
                <a:solidFill>
                  <a:srgbClr val="2B2018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牛排</a:t>
            </a:r>
            <a:endParaRPr lang="en-US" sz="4800" dirty="0"/>
          </a:p>
        </p:txBody>
      </p:sp>
      <p:sp>
        <p:nvSpPr>
          <p:cNvPr id="18" name="Text 14"/>
          <p:cNvSpPr/>
          <p:nvPr/>
        </p:nvSpPr>
        <p:spPr>
          <a:xfrm>
            <a:off x="8475911" y="5070723"/>
            <a:ext cx="922213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dirty="0">
                <a:solidFill>
                  <a:srgbClr val="5C4A37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beefsteak</a:t>
            </a:r>
            <a:endParaRPr lang="en-US" sz="15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AF6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12192000" cy="542925"/>
          </a:xfrm>
          <a:prstGeom prst="rect">
            <a:avLst/>
          </a:prstGeom>
          <a:solidFill>
            <a:srgbClr val="FAF6E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Shape 1"/>
          <p:cNvSpPr/>
          <p:nvPr/>
        </p:nvSpPr>
        <p:spPr>
          <a:xfrm>
            <a:off x="0" y="538163"/>
            <a:ext cx="12192000" cy="0"/>
          </a:xfrm>
          <a:prstGeom prst="line">
            <a:avLst/>
          </a:prstGeom>
          <a:noFill/>
          <a:ln w="9525">
            <a:solidFill>
              <a:srgbClr val="E0CFB3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7950" y="176213"/>
            <a:ext cx="1371404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7A4426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10–20 MIN · I DO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2137916" y="166688"/>
            <a:ext cx="1620970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5C4A37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例句 1 · See them used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11265991" y="176213"/>
            <a:ext cx="426419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7A6952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6 / 23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507950" y="0"/>
            <a:ext cx="11176099" cy="31700"/>
          </a:xfrm>
          <a:prstGeom prst="rect">
            <a:avLst/>
          </a:prstGeom>
          <a:solidFill>
            <a:srgbClr val="7A4426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609600" y="1395264"/>
            <a:ext cx="11192256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7A4426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例句 · SEE THEM USED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609600" y="1671489"/>
            <a:ext cx="10972800" cy="1052066"/>
          </a:xfrm>
          <a:prstGeom prst="rect">
            <a:avLst/>
          </a:prstGeom>
          <a:solidFill>
            <a:srgbClr val="F1E8D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" name="Shape 8"/>
          <p:cNvSpPr/>
          <p:nvPr/>
        </p:nvSpPr>
        <p:spPr>
          <a:xfrm>
            <a:off x="633412" y="1671489"/>
            <a:ext cx="0" cy="1052066"/>
          </a:xfrm>
          <a:prstGeom prst="line">
            <a:avLst/>
          </a:prstGeom>
          <a:noFill/>
          <a:ln w="47625">
            <a:solidFill>
              <a:srgbClr val="2F6B44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85825" y="1823889"/>
            <a:ext cx="10677335" cy="4457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510"/>
              </a:lnSpc>
              <a:buNone/>
            </a:pPr>
            <a:r>
              <a:rPr lang="en-US" sz="2600" dirty="0">
                <a:solidFill>
                  <a:srgbClr val="2B2018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这家饭店的</a:t>
            </a:r>
            <a:r>
              <a:rPr lang="en-US" sz="2600" b="1" dirty="0">
                <a:solidFill>
                  <a:srgbClr val="7A4426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烤</a:t>
            </a:r>
            <a:r>
              <a:rPr lang="en-US" sz="2600" dirty="0">
                <a:solidFill>
                  <a:srgbClr val="2B2018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牛排做得最好吃。</a:t>
            </a:r>
            <a:endParaRPr lang="en-US" sz="2600" dirty="0"/>
          </a:p>
        </p:txBody>
      </p:sp>
      <p:sp>
        <p:nvSpPr>
          <p:cNvPr id="12" name="Text 10"/>
          <p:cNvSpPr/>
          <p:nvPr/>
        </p:nvSpPr>
        <p:spPr>
          <a:xfrm>
            <a:off x="885825" y="2333030"/>
            <a:ext cx="10677335" cy="2381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500"/>
              </a:spcBef>
              <a:buNone/>
            </a:pPr>
            <a:r>
              <a:rPr lang="en-US" sz="1350" dirty="0">
                <a:solidFill>
                  <a:srgbClr val="5C4A37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This restaurant's roast beefsteak is the best.</a:t>
            </a:r>
            <a:endParaRPr lang="en-US" sz="1350" dirty="0"/>
          </a:p>
        </p:txBody>
      </p:sp>
      <p:sp>
        <p:nvSpPr>
          <p:cNvPr id="13" name="Text 11"/>
          <p:cNvSpPr/>
          <p:nvPr/>
        </p:nvSpPr>
        <p:spPr>
          <a:xfrm>
            <a:off x="609600" y="2875955"/>
            <a:ext cx="10972800" cy="1052066"/>
          </a:xfrm>
          <a:prstGeom prst="rect">
            <a:avLst/>
          </a:prstGeom>
          <a:solidFill>
            <a:srgbClr val="F1E8D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4" name="Shape 12"/>
          <p:cNvSpPr/>
          <p:nvPr/>
        </p:nvSpPr>
        <p:spPr>
          <a:xfrm>
            <a:off x="633412" y="2875955"/>
            <a:ext cx="0" cy="1052066"/>
          </a:xfrm>
          <a:prstGeom prst="line">
            <a:avLst/>
          </a:prstGeom>
          <a:noFill/>
          <a:ln w="47625">
            <a:solidFill>
              <a:srgbClr val="2F6B44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85825" y="3028355"/>
            <a:ext cx="10677335" cy="4457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510"/>
              </a:lnSpc>
              <a:buNone/>
            </a:pPr>
            <a:r>
              <a:rPr lang="en-US" sz="2600" dirty="0">
                <a:solidFill>
                  <a:srgbClr val="2B2018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我爸爸每次都要吃</a:t>
            </a:r>
            <a:r>
              <a:rPr lang="en-US" sz="2600" b="1" dirty="0">
                <a:solidFill>
                  <a:srgbClr val="7A4426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牛排</a:t>
            </a:r>
            <a:r>
              <a:rPr lang="en-US" sz="2600" dirty="0">
                <a:solidFill>
                  <a:srgbClr val="2B2018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。</a:t>
            </a:r>
            <a:endParaRPr lang="en-US" sz="2600" dirty="0"/>
          </a:p>
        </p:txBody>
      </p:sp>
      <p:sp>
        <p:nvSpPr>
          <p:cNvPr id="16" name="Text 14"/>
          <p:cNvSpPr/>
          <p:nvPr/>
        </p:nvSpPr>
        <p:spPr>
          <a:xfrm>
            <a:off x="885825" y="3537496"/>
            <a:ext cx="10677335" cy="2381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500"/>
              </a:spcBef>
              <a:buNone/>
            </a:pPr>
            <a:r>
              <a:rPr lang="en-US" sz="1350" dirty="0">
                <a:solidFill>
                  <a:srgbClr val="5C4A37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My dad has steak every time.</a:t>
            </a:r>
            <a:endParaRPr lang="en-US" sz="1350" dirty="0"/>
          </a:p>
        </p:txBody>
      </p:sp>
      <p:sp>
        <p:nvSpPr>
          <p:cNvPr id="17" name="Text 15"/>
          <p:cNvSpPr/>
          <p:nvPr/>
        </p:nvSpPr>
        <p:spPr>
          <a:xfrm>
            <a:off x="609600" y="4080421"/>
            <a:ext cx="10972800" cy="1052066"/>
          </a:xfrm>
          <a:prstGeom prst="rect">
            <a:avLst/>
          </a:prstGeom>
          <a:solidFill>
            <a:srgbClr val="7A4426">
              <a:alpha val="12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8" name="Shape 16"/>
          <p:cNvSpPr/>
          <p:nvPr/>
        </p:nvSpPr>
        <p:spPr>
          <a:xfrm>
            <a:off x="633412" y="4080421"/>
            <a:ext cx="0" cy="1052066"/>
          </a:xfrm>
          <a:prstGeom prst="line">
            <a:avLst/>
          </a:prstGeom>
          <a:noFill/>
          <a:ln w="47625">
            <a:solidFill>
              <a:srgbClr val="7A4426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885825" y="4232821"/>
            <a:ext cx="10677335" cy="4457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510"/>
              </a:lnSpc>
              <a:buNone/>
            </a:pPr>
            <a:r>
              <a:rPr lang="en-US" sz="2600" dirty="0">
                <a:solidFill>
                  <a:srgbClr val="2B2018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我们上个周末吃了</a:t>
            </a:r>
            <a:r>
              <a:rPr lang="en-US" sz="2600" b="1" dirty="0">
                <a:solidFill>
                  <a:srgbClr val="7A4426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烤牛排</a:t>
            </a:r>
            <a:r>
              <a:rPr lang="en-US" sz="2600" dirty="0">
                <a:solidFill>
                  <a:srgbClr val="2B2018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和龙虾。</a:t>
            </a:r>
            <a:endParaRPr lang="en-US" sz="2600" dirty="0"/>
          </a:p>
        </p:txBody>
      </p:sp>
      <p:sp>
        <p:nvSpPr>
          <p:cNvPr id="20" name="Text 18"/>
          <p:cNvSpPr/>
          <p:nvPr/>
        </p:nvSpPr>
        <p:spPr>
          <a:xfrm>
            <a:off x="885825" y="4741962"/>
            <a:ext cx="10677335" cy="2381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500"/>
              </a:spcBef>
              <a:buNone/>
            </a:pPr>
            <a:r>
              <a:rPr lang="en-US" sz="1350" dirty="0">
                <a:solidFill>
                  <a:srgbClr val="5C4A37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Last weekend we ate roast beefsteak and lobster.</a:t>
            </a:r>
            <a:endParaRPr lang="en-US" sz="1350" dirty="0"/>
          </a:p>
        </p:txBody>
      </p:sp>
      <p:sp>
        <p:nvSpPr>
          <p:cNvPr id="21" name="Text 19"/>
          <p:cNvSpPr/>
          <p:nvPr/>
        </p:nvSpPr>
        <p:spPr>
          <a:xfrm>
            <a:off x="609600" y="5259437"/>
            <a:ext cx="1119225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00"/>
              </a:lnSpc>
              <a:spcBef>
                <a:spcPts val="1000"/>
              </a:spcBef>
              <a:buNone/>
            </a:pPr>
            <a:r>
              <a:rPr lang="en-US" sz="1200" dirty="0">
                <a:solidFill>
                  <a:srgbClr val="7A6952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问：「烤」字左边是什么？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AF6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12192000" cy="542925"/>
          </a:xfrm>
          <a:prstGeom prst="rect">
            <a:avLst/>
          </a:prstGeom>
          <a:solidFill>
            <a:srgbClr val="FAF6E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Shape 1"/>
          <p:cNvSpPr/>
          <p:nvPr/>
        </p:nvSpPr>
        <p:spPr>
          <a:xfrm>
            <a:off x="0" y="538163"/>
            <a:ext cx="12192000" cy="0"/>
          </a:xfrm>
          <a:prstGeom prst="line">
            <a:avLst/>
          </a:prstGeom>
          <a:noFill/>
          <a:ln w="9525">
            <a:solidFill>
              <a:srgbClr val="E0CFB3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7950" y="176213"/>
            <a:ext cx="1371404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7A4426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10–20 MIN · I DO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2137916" y="166688"/>
            <a:ext cx="1785830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5C4A37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写一句 1 · Write your own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11272391" y="176213"/>
            <a:ext cx="419892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7A6952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7 / 23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507950" y="0"/>
            <a:ext cx="11176099" cy="31700"/>
          </a:xfrm>
          <a:prstGeom prst="rect">
            <a:avLst/>
          </a:prstGeom>
          <a:solidFill>
            <a:srgbClr val="7A4426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609600" y="2119908"/>
            <a:ext cx="11192256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7A4426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写一句 · WRITE ONE SENTENCE · 60–90 秒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609600" y="2319933"/>
            <a:ext cx="10972800" cy="1314450"/>
          </a:xfrm>
          <a:prstGeom prst="roundRect">
            <a:avLst>
              <a:gd name="adj" fmla="val 9662"/>
            </a:avLst>
          </a:prstGeom>
          <a:solidFill>
            <a:srgbClr val="E4D5BC"/>
          </a:solidFill>
          <a:ln w="19050">
            <a:solidFill>
              <a:srgbClr val="A8700F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" name="Text 8"/>
          <p:cNvSpPr/>
          <p:nvPr/>
        </p:nvSpPr>
        <p:spPr>
          <a:xfrm>
            <a:off x="958751" y="2643783"/>
            <a:ext cx="10479988" cy="666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5250"/>
              </a:lnSpc>
              <a:buNone/>
            </a:pPr>
            <a:r>
              <a:rPr lang="en-US" sz="3000" b="1" dirty="0">
                <a:solidFill>
                  <a:srgbClr val="2B2018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我（喜欢／不喜欢）吃烤 ________ 。</a:t>
            </a:r>
            <a:endParaRPr lang="en-US" sz="3000" dirty="0"/>
          </a:p>
        </p:txBody>
      </p:sp>
      <p:sp>
        <p:nvSpPr>
          <p:cNvPr id="11" name="Text 9"/>
          <p:cNvSpPr/>
          <p:nvPr/>
        </p:nvSpPr>
        <p:spPr>
          <a:xfrm>
            <a:off x="609600" y="3812084"/>
            <a:ext cx="10972800" cy="951458"/>
          </a:xfrm>
          <a:prstGeom prst="roundRect">
            <a:avLst>
              <a:gd name="adj" fmla="val 8009"/>
            </a:avLst>
          </a:prstGeom>
          <a:solidFill>
            <a:srgbClr val="2F6B44">
              <a:alpha val="10000"/>
            </a:srgbClr>
          </a:solidFill>
          <a:ln w="19050">
            <a:solidFill>
              <a:srgbClr val="2F6B44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2" name="Text 10"/>
          <p:cNvSpPr/>
          <p:nvPr/>
        </p:nvSpPr>
        <p:spPr>
          <a:xfrm>
            <a:off x="857250" y="4008834"/>
            <a:ext cx="10687050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500"/>
              </a:spcAft>
              <a:buNone/>
            </a:pPr>
            <a:r>
              <a:rPr lang="en-US" sz="1100" b="1" dirty="0">
                <a:solidFill>
                  <a:srgbClr val="2F6B44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EXTENSION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857250" y="4272260"/>
            <a:ext cx="10687050" cy="29453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320"/>
              </a:lnSpc>
              <a:buNone/>
            </a:pPr>
            <a:r>
              <a:rPr lang="en-US" sz="1600" dirty="0">
                <a:solidFill>
                  <a:srgbClr val="2B2018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「烤」可以配很多词——烤鱼、烤鸡、烤面包。写两句，用不同的食物；再写一句用「比」比较它们。</a:t>
            </a:r>
            <a:endParaRPr lang="en-US" sz="16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AF6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12192000" cy="542925"/>
          </a:xfrm>
          <a:prstGeom prst="rect">
            <a:avLst/>
          </a:prstGeom>
          <a:solidFill>
            <a:srgbClr val="FAF6E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Shape 1"/>
          <p:cNvSpPr/>
          <p:nvPr/>
        </p:nvSpPr>
        <p:spPr>
          <a:xfrm>
            <a:off x="0" y="538163"/>
            <a:ext cx="12192000" cy="0"/>
          </a:xfrm>
          <a:prstGeom prst="line">
            <a:avLst/>
          </a:prstGeom>
          <a:noFill/>
          <a:ln w="9525">
            <a:solidFill>
              <a:srgbClr val="E0CFB3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7950" y="176213"/>
            <a:ext cx="1371404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7A4426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10–20 MIN · I DO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2137916" y="166688"/>
            <a:ext cx="1463397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5C4A37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生词 2 · Cycle 2 of 3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11266438" y="176213"/>
            <a:ext cx="425964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7A6952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8 / 23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507950" y="0"/>
            <a:ext cx="11176099" cy="31700"/>
          </a:xfrm>
          <a:prstGeom prst="rect">
            <a:avLst/>
          </a:prstGeom>
          <a:solidFill>
            <a:srgbClr val="7A4426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609600" y="1155502"/>
            <a:ext cx="11192256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7A4426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NEW WORDS · 跟我读两遍 · REPEAT AFTER ME, TWICE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609600" y="1457027"/>
            <a:ext cx="5308550" cy="4270921"/>
          </a:xfrm>
          <a:prstGeom prst="roundRect">
            <a:avLst>
              <a:gd name="adj" fmla="val 2974"/>
            </a:avLst>
          </a:prstGeom>
          <a:solidFill>
            <a:srgbClr val="F1E8D8"/>
          </a:solidFill>
          <a:ln w="9525">
            <a:solidFill>
              <a:srgbClr val="E0CFB3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pic>
        <p:nvPicPr>
          <p:cNvPr id="10" name="Image 0" descr="/var/folders/6c/210dcgxn4gz5sm71vld2cy1h0000gn/T/tmp.0uBGefGcle/img/tianpi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311301" y="1847552"/>
            <a:ext cx="1905000" cy="1905000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2894707" y="3866852"/>
            <a:ext cx="752951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700" dirty="0">
                <a:solidFill>
                  <a:srgbClr val="2F6B44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tiánpǐn</a:t>
            </a:r>
            <a:endParaRPr lang="en-US" sz="1700" dirty="0"/>
          </a:p>
        </p:txBody>
      </p:sp>
      <p:sp>
        <p:nvSpPr>
          <p:cNvPr id="12" name="Text 9"/>
          <p:cNvSpPr/>
          <p:nvPr/>
        </p:nvSpPr>
        <p:spPr>
          <a:xfrm>
            <a:off x="2654201" y="4285952"/>
            <a:ext cx="1243584" cy="6704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5280"/>
              </a:lnSpc>
              <a:buNone/>
            </a:pPr>
            <a:r>
              <a:rPr lang="en-US" sz="4800" b="1" dirty="0">
                <a:solidFill>
                  <a:srgbClr val="2B2018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甜品</a:t>
            </a:r>
            <a:endParaRPr lang="en-US" sz="4800" dirty="0"/>
          </a:p>
        </p:txBody>
      </p:sp>
      <p:sp>
        <p:nvSpPr>
          <p:cNvPr id="13" name="Text 10"/>
          <p:cNvSpPr/>
          <p:nvPr/>
        </p:nvSpPr>
        <p:spPr>
          <a:xfrm>
            <a:off x="2924473" y="5070723"/>
            <a:ext cx="692229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dirty="0">
                <a:solidFill>
                  <a:srgbClr val="5C4A37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dessert</a:t>
            </a:r>
            <a:endParaRPr lang="en-US" sz="1500" dirty="0"/>
          </a:p>
        </p:txBody>
      </p:sp>
      <p:sp>
        <p:nvSpPr>
          <p:cNvPr id="14" name="Text 11"/>
          <p:cNvSpPr/>
          <p:nvPr/>
        </p:nvSpPr>
        <p:spPr>
          <a:xfrm>
            <a:off x="6273701" y="1457027"/>
            <a:ext cx="5308699" cy="4270921"/>
          </a:xfrm>
          <a:prstGeom prst="roundRect">
            <a:avLst>
              <a:gd name="adj" fmla="val 2974"/>
            </a:avLst>
          </a:prstGeom>
          <a:solidFill>
            <a:srgbClr val="F1E8D8"/>
          </a:solidFill>
          <a:ln w="9525">
            <a:solidFill>
              <a:srgbClr val="E0CFB3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pic>
        <p:nvPicPr>
          <p:cNvPr id="15" name="Image 1" descr="/var/folders/6c/210dcgxn4gz5sm71vld2cy1h0000gn/T/tmp.0uBGefGcle/img/nailao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75550" y="1847552"/>
            <a:ext cx="1905000" cy="1905000"/>
          </a:xfrm>
          <a:prstGeom prst="rect">
            <a:avLst/>
          </a:prstGeom>
        </p:spPr>
      </p:pic>
      <p:sp>
        <p:nvSpPr>
          <p:cNvPr id="16" name="Text 12"/>
          <p:cNvSpPr/>
          <p:nvPr/>
        </p:nvSpPr>
        <p:spPr>
          <a:xfrm>
            <a:off x="8606582" y="3866852"/>
            <a:ext cx="655796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700" dirty="0">
                <a:solidFill>
                  <a:srgbClr val="2F6B44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nǎilào</a:t>
            </a:r>
            <a:endParaRPr lang="en-US" sz="1700" dirty="0"/>
          </a:p>
        </p:txBody>
      </p:sp>
      <p:sp>
        <p:nvSpPr>
          <p:cNvPr id="17" name="Text 13"/>
          <p:cNvSpPr/>
          <p:nvPr/>
        </p:nvSpPr>
        <p:spPr>
          <a:xfrm>
            <a:off x="8318450" y="4285952"/>
            <a:ext cx="1243584" cy="6704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5280"/>
              </a:lnSpc>
              <a:buNone/>
            </a:pPr>
            <a:r>
              <a:rPr lang="en-US" sz="4800" b="1" dirty="0">
                <a:solidFill>
                  <a:srgbClr val="2B2018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奶酪</a:t>
            </a:r>
            <a:endParaRPr lang="en-US" sz="4800" dirty="0"/>
          </a:p>
        </p:txBody>
      </p:sp>
      <p:sp>
        <p:nvSpPr>
          <p:cNvPr id="18" name="Text 14"/>
          <p:cNvSpPr/>
          <p:nvPr/>
        </p:nvSpPr>
        <p:spPr>
          <a:xfrm>
            <a:off x="8605093" y="5070723"/>
            <a:ext cx="658832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dirty="0">
                <a:solidFill>
                  <a:srgbClr val="5C4A37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cheese</a:t>
            </a:r>
            <a:endParaRPr lang="en-US" sz="15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AF6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12192000" cy="542925"/>
          </a:xfrm>
          <a:prstGeom prst="rect">
            <a:avLst/>
          </a:prstGeom>
          <a:solidFill>
            <a:srgbClr val="FAF6E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Shape 1"/>
          <p:cNvSpPr/>
          <p:nvPr/>
        </p:nvSpPr>
        <p:spPr>
          <a:xfrm>
            <a:off x="0" y="538163"/>
            <a:ext cx="12192000" cy="0"/>
          </a:xfrm>
          <a:prstGeom prst="line">
            <a:avLst/>
          </a:prstGeom>
          <a:noFill/>
          <a:ln w="9525">
            <a:solidFill>
              <a:srgbClr val="E0CFB3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7950" y="176213"/>
            <a:ext cx="1371404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7A4426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10–20 MIN · I DO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2137916" y="166688"/>
            <a:ext cx="1648295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5C4A37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例句 2 · See them used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11265843" y="176213"/>
            <a:ext cx="426571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7A6952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9 / 23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507950" y="0"/>
            <a:ext cx="11176099" cy="31700"/>
          </a:xfrm>
          <a:prstGeom prst="rect">
            <a:avLst/>
          </a:prstGeom>
          <a:solidFill>
            <a:srgbClr val="7A4426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609600" y="1395264"/>
            <a:ext cx="11192256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7A4426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例句 · SEE THEM USED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609600" y="1671489"/>
            <a:ext cx="10972800" cy="1052066"/>
          </a:xfrm>
          <a:prstGeom prst="rect">
            <a:avLst/>
          </a:prstGeom>
          <a:solidFill>
            <a:srgbClr val="F1E8D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" name="Shape 8"/>
          <p:cNvSpPr/>
          <p:nvPr/>
        </p:nvSpPr>
        <p:spPr>
          <a:xfrm>
            <a:off x="633412" y="1671489"/>
            <a:ext cx="0" cy="1052066"/>
          </a:xfrm>
          <a:prstGeom prst="line">
            <a:avLst/>
          </a:prstGeom>
          <a:noFill/>
          <a:ln w="47625">
            <a:solidFill>
              <a:srgbClr val="2F6B44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85825" y="1823889"/>
            <a:ext cx="10677335" cy="4457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510"/>
              </a:lnSpc>
              <a:buNone/>
            </a:pPr>
            <a:r>
              <a:rPr lang="en-US" sz="2600" dirty="0">
                <a:solidFill>
                  <a:srgbClr val="2B2018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我们还吃了很多</a:t>
            </a:r>
            <a:r>
              <a:rPr lang="en-US" sz="2600" b="1" dirty="0">
                <a:solidFill>
                  <a:srgbClr val="7A4426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甜品</a:t>
            </a:r>
            <a:r>
              <a:rPr lang="en-US" sz="2600" dirty="0">
                <a:solidFill>
                  <a:srgbClr val="2B2018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。</a:t>
            </a:r>
            <a:endParaRPr lang="en-US" sz="2600" dirty="0"/>
          </a:p>
        </p:txBody>
      </p:sp>
      <p:sp>
        <p:nvSpPr>
          <p:cNvPr id="12" name="Text 10"/>
          <p:cNvSpPr/>
          <p:nvPr/>
        </p:nvSpPr>
        <p:spPr>
          <a:xfrm>
            <a:off x="885825" y="2333030"/>
            <a:ext cx="10677335" cy="2381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500"/>
              </a:spcBef>
              <a:buNone/>
            </a:pPr>
            <a:r>
              <a:rPr lang="en-US" sz="1350" dirty="0">
                <a:solidFill>
                  <a:srgbClr val="5C4A37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We also ate a lot of desserts.</a:t>
            </a:r>
            <a:endParaRPr lang="en-US" sz="1350" dirty="0"/>
          </a:p>
        </p:txBody>
      </p:sp>
      <p:sp>
        <p:nvSpPr>
          <p:cNvPr id="13" name="Text 11"/>
          <p:cNvSpPr/>
          <p:nvPr/>
        </p:nvSpPr>
        <p:spPr>
          <a:xfrm>
            <a:off x="609600" y="2875955"/>
            <a:ext cx="10972800" cy="1052066"/>
          </a:xfrm>
          <a:prstGeom prst="rect">
            <a:avLst/>
          </a:prstGeom>
          <a:solidFill>
            <a:srgbClr val="F1E8D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4" name="Shape 12"/>
          <p:cNvSpPr/>
          <p:nvPr/>
        </p:nvSpPr>
        <p:spPr>
          <a:xfrm>
            <a:off x="633412" y="2875955"/>
            <a:ext cx="0" cy="1052066"/>
          </a:xfrm>
          <a:prstGeom prst="line">
            <a:avLst/>
          </a:prstGeom>
          <a:noFill/>
          <a:ln w="47625">
            <a:solidFill>
              <a:srgbClr val="2F6B44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85825" y="3028355"/>
            <a:ext cx="10677335" cy="4457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510"/>
              </a:lnSpc>
              <a:buNone/>
            </a:pPr>
            <a:r>
              <a:rPr lang="en-US" sz="2600" b="1" dirty="0">
                <a:solidFill>
                  <a:srgbClr val="7A4426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奶酪</a:t>
            </a:r>
            <a:r>
              <a:rPr lang="en-US" sz="2600" dirty="0">
                <a:solidFill>
                  <a:srgbClr val="2B2018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蛋糕很甜。</a:t>
            </a:r>
            <a:endParaRPr lang="en-US" sz="2600" dirty="0"/>
          </a:p>
        </p:txBody>
      </p:sp>
      <p:sp>
        <p:nvSpPr>
          <p:cNvPr id="16" name="Text 14"/>
          <p:cNvSpPr/>
          <p:nvPr/>
        </p:nvSpPr>
        <p:spPr>
          <a:xfrm>
            <a:off x="885825" y="3537496"/>
            <a:ext cx="10677335" cy="2381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500"/>
              </a:spcBef>
              <a:buNone/>
            </a:pPr>
            <a:r>
              <a:rPr lang="en-US" sz="1350" dirty="0">
                <a:solidFill>
                  <a:srgbClr val="5C4A37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Cheesecake is very sweet.</a:t>
            </a:r>
            <a:endParaRPr lang="en-US" sz="1350" dirty="0"/>
          </a:p>
        </p:txBody>
      </p:sp>
      <p:sp>
        <p:nvSpPr>
          <p:cNvPr id="17" name="Text 15"/>
          <p:cNvSpPr/>
          <p:nvPr/>
        </p:nvSpPr>
        <p:spPr>
          <a:xfrm>
            <a:off x="609600" y="4080421"/>
            <a:ext cx="10972800" cy="1052066"/>
          </a:xfrm>
          <a:prstGeom prst="rect">
            <a:avLst/>
          </a:prstGeom>
          <a:solidFill>
            <a:srgbClr val="7A4426">
              <a:alpha val="12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8" name="Shape 16"/>
          <p:cNvSpPr/>
          <p:nvPr/>
        </p:nvSpPr>
        <p:spPr>
          <a:xfrm>
            <a:off x="633412" y="4080421"/>
            <a:ext cx="0" cy="1052066"/>
          </a:xfrm>
          <a:prstGeom prst="line">
            <a:avLst/>
          </a:prstGeom>
          <a:noFill/>
          <a:ln w="47625">
            <a:solidFill>
              <a:srgbClr val="7A4426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885825" y="4232821"/>
            <a:ext cx="10677335" cy="4457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510"/>
              </a:lnSpc>
              <a:buNone/>
            </a:pPr>
            <a:r>
              <a:rPr lang="en-US" sz="2600" b="1" dirty="0">
                <a:solidFill>
                  <a:srgbClr val="7A4426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甜品</a:t>
            </a:r>
            <a:r>
              <a:rPr lang="en-US" sz="2600" dirty="0">
                <a:solidFill>
                  <a:srgbClr val="2B2018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有</a:t>
            </a:r>
            <a:r>
              <a:rPr lang="en-US" sz="2600" b="1" dirty="0">
                <a:solidFill>
                  <a:srgbClr val="7A4426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奶酪</a:t>
            </a:r>
            <a:r>
              <a:rPr lang="en-US" sz="2600" dirty="0">
                <a:solidFill>
                  <a:srgbClr val="2B2018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蛋糕、巧克力蛋糕和水果沙拉。</a:t>
            </a:r>
            <a:endParaRPr lang="en-US" sz="2600" dirty="0"/>
          </a:p>
        </p:txBody>
      </p:sp>
      <p:sp>
        <p:nvSpPr>
          <p:cNvPr id="20" name="Text 18"/>
          <p:cNvSpPr/>
          <p:nvPr/>
        </p:nvSpPr>
        <p:spPr>
          <a:xfrm>
            <a:off x="885825" y="4741962"/>
            <a:ext cx="10677335" cy="2381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500"/>
              </a:spcBef>
              <a:buNone/>
            </a:pPr>
            <a:r>
              <a:rPr lang="en-US" sz="1350" dirty="0">
                <a:solidFill>
                  <a:srgbClr val="5C4A37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For dessert there is cheesecake, chocolate cake and fruit salad.</a:t>
            </a:r>
            <a:endParaRPr lang="en-US" sz="1350" dirty="0"/>
          </a:p>
        </p:txBody>
      </p:sp>
      <p:sp>
        <p:nvSpPr>
          <p:cNvPr id="21" name="Text 19"/>
          <p:cNvSpPr/>
          <p:nvPr/>
        </p:nvSpPr>
        <p:spPr>
          <a:xfrm>
            <a:off x="609600" y="5259437"/>
            <a:ext cx="1119225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00"/>
              </a:lnSpc>
              <a:spcBef>
                <a:spcPts val="1000"/>
              </a:spcBef>
              <a:buNone/>
            </a:pPr>
            <a:r>
              <a:rPr lang="en-US" sz="1200" dirty="0">
                <a:solidFill>
                  <a:srgbClr val="7A6952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问：你最喜欢哪个甜品？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AF6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12192000" cy="542925"/>
          </a:xfrm>
          <a:prstGeom prst="rect">
            <a:avLst/>
          </a:prstGeom>
          <a:solidFill>
            <a:srgbClr val="FAF6E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Shape 1"/>
          <p:cNvSpPr/>
          <p:nvPr/>
        </p:nvSpPr>
        <p:spPr>
          <a:xfrm>
            <a:off x="0" y="538163"/>
            <a:ext cx="12192000" cy="0"/>
          </a:xfrm>
          <a:prstGeom prst="line">
            <a:avLst/>
          </a:prstGeom>
          <a:noFill/>
          <a:ln w="9525">
            <a:solidFill>
              <a:srgbClr val="E0CFB3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7950" y="176213"/>
            <a:ext cx="1371404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7A4426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10–20 MIN · I DO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2137916" y="166688"/>
            <a:ext cx="1813155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5C4A37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写一句 2 · Write your own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11209734" y="176213"/>
            <a:ext cx="483802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7A6952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10 / 23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507950" y="0"/>
            <a:ext cx="11176099" cy="31700"/>
          </a:xfrm>
          <a:prstGeom prst="rect">
            <a:avLst/>
          </a:prstGeom>
          <a:solidFill>
            <a:srgbClr val="7A4426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609600" y="2119908"/>
            <a:ext cx="11192256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7A4426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写一句 · WRITE ONE SENTENCE · 60–90 秒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609600" y="2319933"/>
            <a:ext cx="10972800" cy="1314450"/>
          </a:xfrm>
          <a:prstGeom prst="roundRect">
            <a:avLst>
              <a:gd name="adj" fmla="val 9662"/>
            </a:avLst>
          </a:prstGeom>
          <a:solidFill>
            <a:srgbClr val="E4D5BC"/>
          </a:solidFill>
          <a:ln w="19050">
            <a:solidFill>
              <a:srgbClr val="A8700F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" name="Text 8"/>
          <p:cNvSpPr/>
          <p:nvPr/>
        </p:nvSpPr>
        <p:spPr>
          <a:xfrm>
            <a:off x="958751" y="2643783"/>
            <a:ext cx="10479988" cy="666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5250"/>
              </a:lnSpc>
              <a:buNone/>
            </a:pPr>
            <a:r>
              <a:rPr lang="en-US" sz="3000" b="1" dirty="0">
                <a:solidFill>
                  <a:srgbClr val="2B2018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甜品我最喜欢吃 ________ 。</a:t>
            </a:r>
            <a:endParaRPr lang="en-US" sz="3000" dirty="0"/>
          </a:p>
        </p:txBody>
      </p:sp>
      <p:sp>
        <p:nvSpPr>
          <p:cNvPr id="11" name="Text 9"/>
          <p:cNvSpPr/>
          <p:nvPr/>
        </p:nvSpPr>
        <p:spPr>
          <a:xfrm>
            <a:off x="609600" y="3812084"/>
            <a:ext cx="10972800" cy="951458"/>
          </a:xfrm>
          <a:prstGeom prst="roundRect">
            <a:avLst>
              <a:gd name="adj" fmla="val 8009"/>
            </a:avLst>
          </a:prstGeom>
          <a:solidFill>
            <a:srgbClr val="2F6B44">
              <a:alpha val="10000"/>
            </a:srgbClr>
          </a:solidFill>
          <a:ln w="19050">
            <a:solidFill>
              <a:srgbClr val="2F6B44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2" name="Text 10"/>
          <p:cNvSpPr/>
          <p:nvPr/>
        </p:nvSpPr>
        <p:spPr>
          <a:xfrm>
            <a:off x="857250" y="4008834"/>
            <a:ext cx="10687050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500"/>
              </a:spcAft>
              <a:buNone/>
            </a:pPr>
            <a:r>
              <a:rPr lang="en-US" sz="1100" b="1" dirty="0">
                <a:solidFill>
                  <a:srgbClr val="2F6B44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EXTENSION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857250" y="4272260"/>
            <a:ext cx="10687050" cy="29453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320"/>
              </a:lnSpc>
              <a:buNone/>
            </a:pPr>
            <a:r>
              <a:rPr lang="en-US" sz="1600" dirty="0">
                <a:solidFill>
                  <a:srgbClr val="2B2018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写一句用「除了……以外」：</a:t>
            </a:r>
            <a:r>
              <a:rPr lang="en-US" sz="1600" b="1" dirty="0">
                <a:solidFill>
                  <a:srgbClr val="2F6B44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除了奶酪蛋糕以外，我还喜欢吃冰淇淋。</a:t>
            </a:r>
            <a:endParaRPr lang="en-US" sz="16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AF6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12192000" cy="542925"/>
          </a:xfrm>
          <a:prstGeom prst="rect">
            <a:avLst/>
          </a:prstGeom>
          <a:solidFill>
            <a:srgbClr val="FAF6E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Shape 1"/>
          <p:cNvSpPr/>
          <p:nvPr/>
        </p:nvSpPr>
        <p:spPr>
          <a:xfrm>
            <a:off x="0" y="538163"/>
            <a:ext cx="12192000" cy="0"/>
          </a:xfrm>
          <a:prstGeom prst="line">
            <a:avLst/>
          </a:prstGeom>
          <a:noFill/>
          <a:ln w="9525">
            <a:solidFill>
              <a:srgbClr val="E0CFB3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7950" y="176213"/>
            <a:ext cx="1371404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7A4426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10–20 MIN · I DO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2137916" y="166688"/>
            <a:ext cx="1463397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5C4A37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生词 3 · Cycle 3 of 3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11234142" y="176213"/>
            <a:ext cx="458906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7A6952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11 / 23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507950" y="0"/>
            <a:ext cx="11176099" cy="31700"/>
          </a:xfrm>
          <a:prstGeom prst="rect">
            <a:avLst/>
          </a:prstGeom>
          <a:solidFill>
            <a:srgbClr val="7A4426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609600" y="1417290"/>
            <a:ext cx="11192256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7A4426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NEW WORDS · 跟我读两遍 · REPEAT AFTER ME, TWICE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609600" y="1718816"/>
            <a:ext cx="5308550" cy="3747343"/>
          </a:xfrm>
          <a:prstGeom prst="roundRect">
            <a:avLst>
              <a:gd name="adj" fmla="val 3389"/>
            </a:avLst>
          </a:prstGeom>
          <a:solidFill>
            <a:srgbClr val="F1E8D8"/>
          </a:solidFill>
          <a:ln w="9525">
            <a:solidFill>
              <a:srgbClr val="E0CFB3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" name="Text 8"/>
          <p:cNvSpPr/>
          <p:nvPr/>
        </p:nvSpPr>
        <p:spPr>
          <a:xfrm>
            <a:off x="3065562" y="2668042"/>
            <a:ext cx="404559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700" dirty="0">
                <a:solidFill>
                  <a:srgbClr val="2F6B44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bǎo</a:t>
            </a:r>
            <a:endParaRPr lang="en-US" sz="1700" dirty="0"/>
          </a:p>
        </p:txBody>
      </p:sp>
      <p:sp>
        <p:nvSpPr>
          <p:cNvPr id="11" name="Text 9"/>
          <p:cNvSpPr/>
          <p:nvPr/>
        </p:nvSpPr>
        <p:spPr>
          <a:xfrm>
            <a:off x="1587401" y="3150543"/>
            <a:ext cx="3419856" cy="921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7260"/>
              </a:lnSpc>
              <a:buNone/>
            </a:pPr>
            <a:r>
              <a:rPr lang="en-US" sz="6600" b="1" dirty="0">
                <a:solidFill>
                  <a:srgbClr val="2B2018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饱（飽）</a:t>
            </a:r>
            <a:endParaRPr lang="en-US" sz="6600" dirty="0"/>
          </a:p>
        </p:txBody>
      </p:sp>
      <p:sp>
        <p:nvSpPr>
          <p:cNvPr id="12" name="Text 10"/>
          <p:cNvSpPr/>
          <p:nvPr/>
        </p:nvSpPr>
        <p:spPr>
          <a:xfrm>
            <a:off x="3122712" y="4250234"/>
            <a:ext cx="287973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dirty="0">
                <a:solidFill>
                  <a:srgbClr val="5C4A37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full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6273701" y="1718816"/>
            <a:ext cx="5308699" cy="3747343"/>
          </a:xfrm>
          <a:prstGeom prst="roundRect">
            <a:avLst>
              <a:gd name="adj" fmla="val 3389"/>
            </a:avLst>
          </a:prstGeom>
          <a:solidFill>
            <a:srgbClr val="F1E8D8"/>
          </a:solidFill>
          <a:ln w="9525">
            <a:solidFill>
              <a:srgbClr val="E0CFB3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4" name="Text 12"/>
          <p:cNvSpPr/>
          <p:nvPr/>
        </p:nvSpPr>
        <p:spPr>
          <a:xfrm>
            <a:off x="8770888" y="2668042"/>
            <a:ext cx="320612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700" dirty="0">
                <a:solidFill>
                  <a:srgbClr val="2F6B44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shí</a:t>
            </a:r>
            <a:endParaRPr lang="en-US" sz="1700" dirty="0"/>
          </a:p>
        </p:txBody>
      </p:sp>
      <p:sp>
        <p:nvSpPr>
          <p:cNvPr id="15" name="Text 13"/>
          <p:cNvSpPr/>
          <p:nvPr/>
        </p:nvSpPr>
        <p:spPr>
          <a:xfrm>
            <a:off x="7600652" y="3150543"/>
            <a:ext cx="2707740" cy="921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7260"/>
              </a:lnSpc>
              <a:buNone/>
            </a:pPr>
            <a:r>
              <a:rPr lang="en-US" sz="6600" b="1" dirty="0">
                <a:solidFill>
                  <a:srgbClr val="2B2018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饣 = 食</a:t>
            </a:r>
            <a:endParaRPr lang="en-US" sz="6600" dirty="0"/>
          </a:p>
        </p:txBody>
      </p:sp>
      <p:sp>
        <p:nvSpPr>
          <p:cNvPr id="16" name="Text 14"/>
          <p:cNvSpPr/>
          <p:nvPr/>
        </p:nvSpPr>
        <p:spPr>
          <a:xfrm>
            <a:off x="6873776" y="4250234"/>
            <a:ext cx="419072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dirty="0">
                <a:solidFill>
                  <a:srgbClr val="5C4A37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the food radical — 饱、饿、饭、饼 all have it</a:t>
            </a:r>
            <a:endParaRPr lang="en-US" sz="15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AF6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12192000" cy="542925"/>
          </a:xfrm>
          <a:prstGeom prst="rect">
            <a:avLst/>
          </a:prstGeom>
          <a:solidFill>
            <a:srgbClr val="FAF6E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Shape 1"/>
          <p:cNvSpPr/>
          <p:nvPr/>
        </p:nvSpPr>
        <p:spPr>
          <a:xfrm>
            <a:off x="0" y="538163"/>
            <a:ext cx="12192000" cy="0"/>
          </a:xfrm>
          <a:prstGeom prst="line">
            <a:avLst/>
          </a:prstGeom>
          <a:noFill/>
          <a:ln w="9525">
            <a:solidFill>
              <a:srgbClr val="E0CFB3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7950" y="176213"/>
            <a:ext cx="1371404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7A4426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10–20 MIN · I DO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2137916" y="166688"/>
            <a:ext cx="1648295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5C4A37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例句 3 · See them used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11208990" y="176213"/>
            <a:ext cx="484561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7A6952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12 / 23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507950" y="0"/>
            <a:ext cx="11176099" cy="31700"/>
          </a:xfrm>
          <a:prstGeom prst="rect">
            <a:avLst/>
          </a:prstGeom>
          <a:solidFill>
            <a:srgbClr val="7A4426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609600" y="1395264"/>
            <a:ext cx="11192256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7A4426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例句 · SEE THEM USED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609600" y="1671489"/>
            <a:ext cx="10972800" cy="1052066"/>
          </a:xfrm>
          <a:prstGeom prst="rect">
            <a:avLst/>
          </a:prstGeom>
          <a:solidFill>
            <a:srgbClr val="F1E8D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" name="Shape 8"/>
          <p:cNvSpPr/>
          <p:nvPr/>
        </p:nvSpPr>
        <p:spPr>
          <a:xfrm>
            <a:off x="633412" y="1671489"/>
            <a:ext cx="0" cy="1052066"/>
          </a:xfrm>
          <a:prstGeom prst="line">
            <a:avLst/>
          </a:prstGeom>
          <a:noFill/>
          <a:ln w="47625">
            <a:solidFill>
              <a:srgbClr val="2F6B44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85825" y="1823889"/>
            <a:ext cx="10677335" cy="4457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510"/>
              </a:lnSpc>
              <a:buNone/>
            </a:pPr>
            <a:r>
              <a:rPr lang="en-US" sz="2600" dirty="0">
                <a:solidFill>
                  <a:srgbClr val="2B2018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我们都吃得很</a:t>
            </a:r>
            <a:r>
              <a:rPr lang="en-US" sz="2600" b="1" dirty="0">
                <a:solidFill>
                  <a:srgbClr val="7A4426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饱</a:t>
            </a:r>
            <a:r>
              <a:rPr lang="en-US" sz="2600" dirty="0">
                <a:solidFill>
                  <a:srgbClr val="2B2018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。</a:t>
            </a:r>
            <a:endParaRPr lang="en-US" sz="2600" dirty="0"/>
          </a:p>
        </p:txBody>
      </p:sp>
      <p:sp>
        <p:nvSpPr>
          <p:cNvPr id="12" name="Text 10"/>
          <p:cNvSpPr/>
          <p:nvPr/>
        </p:nvSpPr>
        <p:spPr>
          <a:xfrm>
            <a:off x="885825" y="2333030"/>
            <a:ext cx="10677335" cy="2381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500"/>
              </a:spcBef>
              <a:buNone/>
            </a:pPr>
            <a:r>
              <a:rPr lang="en-US" sz="1350" dirty="0">
                <a:solidFill>
                  <a:srgbClr val="5C4A37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We all ate until we were full.</a:t>
            </a:r>
            <a:endParaRPr lang="en-US" sz="1350" dirty="0"/>
          </a:p>
        </p:txBody>
      </p:sp>
      <p:sp>
        <p:nvSpPr>
          <p:cNvPr id="13" name="Text 11"/>
          <p:cNvSpPr/>
          <p:nvPr/>
        </p:nvSpPr>
        <p:spPr>
          <a:xfrm>
            <a:off x="609600" y="2875955"/>
            <a:ext cx="10972800" cy="1052066"/>
          </a:xfrm>
          <a:prstGeom prst="rect">
            <a:avLst/>
          </a:prstGeom>
          <a:solidFill>
            <a:srgbClr val="F1E8D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4" name="Shape 12"/>
          <p:cNvSpPr/>
          <p:nvPr/>
        </p:nvSpPr>
        <p:spPr>
          <a:xfrm>
            <a:off x="633412" y="2875955"/>
            <a:ext cx="0" cy="1052066"/>
          </a:xfrm>
          <a:prstGeom prst="line">
            <a:avLst/>
          </a:prstGeom>
          <a:noFill/>
          <a:ln w="47625">
            <a:solidFill>
              <a:srgbClr val="2F6B44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85825" y="3028355"/>
            <a:ext cx="10677335" cy="4457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510"/>
              </a:lnSpc>
              <a:buNone/>
            </a:pPr>
            <a:r>
              <a:rPr lang="en-US" sz="2600" dirty="0">
                <a:solidFill>
                  <a:srgbClr val="2B2018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我吃了两个龙虾，现在很</a:t>
            </a:r>
            <a:r>
              <a:rPr lang="en-US" sz="2600" b="1" dirty="0">
                <a:solidFill>
                  <a:srgbClr val="7A4426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饱</a:t>
            </a:r>
            <a:r>
              <a:rPr lang="en-US" sz="2600" dirty="0">
                <a:solidFill>
                  <a:srgbClr val="2B2018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。</a:t>
            </a:r>
            <a:endParaRPr lang="en-US" sz="2600" dirty="0"/>
          </a:p>
        </p:txBody>
      </p:sp>
      <p:sp>
        <p:nvSpPr>
          <p:cNvPr id="16" name="Text 14"/>
          <p:cNvSpPr/>
          <p:nvPr/>
        </p:nvSpPr>
        <p:spPr>
          <a:xfrm>
            <a:off x="885825" y="3537496"/>
            <a:ext cx="10677335" cy="2381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500"/>
              </a:spcBef>
              <a:buNone/>
            </a:pPr>
            <a:r>
              <a:rPr lang="en-US" sz="1350" dirty="0">
                <a:solidFill>
                  <a:srgbClr val="5C4A37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I ate two lobsters — I'm full now.</a:t>
            </a:r>
            <a:endParaRPr lang="en-US" sz="1350" dirty="0"/>
          </a:p>
        </p:txBody>
      </p:sp>
      <p:sp>
        <p:nvSpPr>
          <p:cNvPr id="17" name="Text 15"/>
          <p:cNvSpPr/>
          <p:nvPr/>
        </p:nvSpPr>
        <p:spPr>
          <a:xfrm>
            <a:off x="609600" y="4080421"/>
            <a:ext cx="10972800" cy="1052066"/>
          </a:xfrm>
          <a:prstGeom prst="rect">
            <a:avLst/>
          </a:prstGeom>
          <a:solidFill>
            <a:srgbClr val="7A4426">
              <a:alpha val="12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8" name="Shape 16"/>
          <p:cNvSpPr/>
          <p:nvPr/>
        </p:nvSpPr>
        <p:spPr>
          <a:xfrm>
            <a:off x="633412" y="4080421"/>
            <a:ext cx="0" cy="1052066"/>
          </a:xfrm>
          <a:prstGeom prst="line">
            <a:avLst/>
          </a:prstGeom>
          <a:noFill/>
          <a:ln w="47625">
            <a:solidFill>
              <a:srgbClr val="7A4426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885825" y="4232821"/>
            <a:ext cx="10677335" cy="4457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510"/>
              </a:lnSpc>
              <a:buNone/>
            </a:pPr>
            <a:r>
              <a:rPr lang="en-US" sz="2600" dirty="0">
                <a:solidFill>
                  <a:srgbClr val="2B2018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甜品太多了，我吃得非常</a:t>
            </a:r>
            <a:r>
              <a:rPr lang="en-US" sz="2600" b="1" dirty="0">
                <a:solidFill>
                  <a:srgbClr val="7A4426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饱</a:t>
            </a:r>
            <a:r>
              <a:rPr lang="en-US" sz="2600" dirty="0">
                <a:solidFill>
                  <a:srgbClr val="2B2018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。</a:t>
            </a:r>
            <a:endParaRPr lang="en-US" sz="2600" dirty="0"/>
          </a:p>
        </p:txBody>
      </p:sp>
      <p:sp>
        <p:nvSpPr>
          <p:cNvPr id="20" name="Text 18"/>
          <p:cNvSpPr/>
          <p:nvPr/>
        </p:nvSpPr>
        <p:spPr>
          <a:xfrm>
            <a:off x="885825" y="4741962"/>
            <a:ext cx="10677335" cy="2381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500"/>
              </a:spcBef>
              <a:buNone/>
            </a:pPr>
            <a:r>
              <a:rPr lang="en-US" sz="1350" dirty="0">
                <a:solidFill>
                  <a:srgbClr val="5C4A37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There were too many desserts; I'm absolutely stuffed.</a:t>
            </a:r>
            <a:endParaRPr lang="en-US" sz="1350" dirty="0"/>
          </a:p>
        </p:txBody>
      </p:sp>
      <p:sp>
        <p:nvSpPr>
          <p:cNvPr id="21" name="Text 19"/>
          <p:cNvSpPr/>
          <p:nvPr/>
        </p:nvSpPr>
        <p:spPr>
          <a:xfrm>
            <a:off x="609600" y="5259437"/>
            <a:ext cx="1119225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00"/>
              </a:lnSpc>
              <a:spcBef>
                <a:spcPts val="1000"/>
              </a:spcBef>
              <a:buNone/>
            </a:pPr>
            <a:r>
              <a:rPr lang="en-US" sz="1200" dirty="0">
                <a:solidFill>
                  <a:srgbClr val="7A6952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问：「饱」的反义词是什么？下个星期学。</a:t>
            </a:r>
            <a:endParaRPr lang="en-US" sz="12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AF6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12192000" cy="542925"/>
          </a:xfrm>
          <a:prstGeom prst="rect">
            <a:avLst/>
          </a:prstGeom>
          <a:solidFill>
            <a:srgbClr val="FAF6E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Shape 1"/>
          <p:cNvSpPr/>
          <p:nvPr/>
        </p:nvSpPr>
        <p:spPr>
          <a:xfrm>
            <a:off x="0" y="538163"/>
            <a:ext cx="12192000" cy="0"/>
          </a:xfrm>
          <a:prstGeom prst="line">
            <a:avLst/>
          </a:prstGeom>
          <a:noFill/>
          <a:ln w="9525">
            <a:solidFill>
              <a:srgbClr val="E0CFB3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7950" y="176213"/>
            <a:ext cx="1371404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7A4426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10–20 MIN · I DO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2137916" y="166688"/>
            <a:ext cx="1813155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5C4A37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写一句 3 · Write your own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11209288" y="176213"/>
            <a:ext cx="484257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7A6952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13 / 23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507950" y="0"/>
            <a:ext cx="11176099" cy="31700"/>
          </a:xfrm>
          <a:prstGeom prst="rect">
            <a:avLst/>
          </a:prstGeom>
          <a:solidFill>
            <a:srgbClr val="7A4426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609600" y="2119908"/>
            <a:ext cx="11192256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7A4426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写一句 · WRITE ONE SENTENCE · 60–90 秒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609600" y="2319933"/>
            <a:ext cx="10972800" cy="1314450"/>
          </a:xfrm>
          <a:prstGeom prst="roundRect">
            <a:avLst>
              <a:gd name="adj" fmla="val 9662"/>
            </a:avLst>
          </a:prstGeom>
          <a:solidFill>
            <a:srgbClr val="E4D5BC"/>
          </a:solidFill>
          <a:ln w="19050">
            <a:solidFill>
              <a:srgbClr val="A8700F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" name="Text 8"/>
          <p:cNvSpPr/>
          <p:nvPr/>
        </p:nvSpPr>
        <p:spPr>
          <a:xfrm>
            <a:off x="958751" y="2643783"/>
            <a:ext cx="10479988" cy="666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5250"/>
              </a:lnSpc>
              <a:buNone/>
            </a:pPr>
            <a:r>
              <a:rPr lang="en-US" sz="3000" b="1" dirty="0">
                <a:solidFill>
                  <a:srgbClr val="2B2018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我吃了 ________ ，吃得很饱。</a:t>
            </a:r>
            <a:endParaRPr lang="en-US" sz="3000" dirty="0"/>
          </a:p>
        </p:txBody>
      </p:sp>
      <p:sp>
        <p:nvSpPr>
          <p:cNvPr id="11" name="Text 9"/>
          <p:cNvSpPr/>
          <p:nvPr/>
        </p:nvSpPr>
        <p:spPr>
          <a:xfrm>
            <a:off x="609600" y="3812084"/>
            <a:ext cx="10972800" cy="951458"/>
          </a:xfrm>
          <a:prstGeom prst="roundRect">
            <a:avLst>
              <a:gd name="adj" fmla="val 8009"/>
            </a:avLst>
          </a:prstGeom>
          <a:solidFill>
            <a:srgbClr val="2F6B44">
              <a:alpha val="10000"/>
            </a:srgbClr>
          </a:solidFill>
          <a:ln w="19050">
            <a:solidFill>
              <a:srgbClr val="2F6B44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2" name="Text 10"/>
          <p:cNvSpPr/>
          <p:nvPr/>
        </p:nvSpPr>
        <p:spPr>
          <a:xfrm>
            <a:off x="857250" y="4008834"/>
            <a:ext cx="10687050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500"/>
              </a:spcAft>
              <a:buNone/>
            </a:pPr>
            <a:r>
              <a:rPr lang="en-US" sz="1100" b="1" dirty="0">
                <a:solidFill>
                  <a:srgbClr val="2F6B44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EXTENSION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857250" y="4272260"/>
            <a:ext cx="10687050" cy="29453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320"/>
              </a:lnSpc>
              <a:buNone/>
            </a:pPr>
            <a:r>
              <a:rPr lang="en-US" sz="1600" dirty="0">
                <a:solidFill>
                  <a:srgbClr val="2B2018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「饱」的反义词是「饿」——从「饣」猜猜看。写一句，两个词都要用上：</a:t>
            </a:r>
            <a:r>
              <a:rPr lang="en-US" sz="1600" b="1" dirty="0">
                <a:solidFill>
                  <a:srgbClr val="2F6B44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我去饭店的时候很饿，吃完以后很饱。</a:t>
            </a:r>
            <a:endParaRPr lang="en-US" sz="16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AF6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12192000" cy="542925"/>
          </a:xfrm>
          <a:prstGeom prst="rect">
            <a:avLst/>
          </a:prstGeom>
          <a:solidFill>
            <a:srgbClr val="FAF6E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Shape 1"/>
          <p:cNvSpPr/>
          <p:nvPr/>
        </p:nvSpPr>
        <p:spPr>
          <a:xfrm>
            <a:off x="0" y="538163"/>
            <a:ext cx="12192000" cy="0"/>
          </a:xfrm>
          <a:prstGeom prst="line">
            <a:avLst/>
          </a:prstGeom>
          <a:noFill/>
          <a:ln w="9525">
            <a:solidFill>
              <a:srgbClr val="E0CFB3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7950" y="176213"/>
            <a:ext cx="1371404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7A4426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10–20 MIN · I DO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2137916" y="166688"/>
            <a:ext cx="1546131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5C4A37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认字 · characters only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11208693" y="176213"/>
            <a:ext cx="484864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7A6952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14 / 23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507950" y="0"/>
            <a:ext cx="11176099" cy="31700"/>
          </a:xfrm>
          <a:prstGeom prst="rect">
            <a:avLst/>
          </a:prstGeom>
          <a:solidFill>
            <a:srgbClr val="7A4426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609600" y="2357586"/>
            <a:ext cx="11192256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7A4426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认一认 · CHARACTERS ONLY · 一起读出来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609600" y="2684562"/>
            <a:ext cx="2031950" cy="1460302"/>
          </a:xfrm>
          <a:prstGeom prst="roundRect">
            <a:avLst>
              <a:gd name="adj" fmla="val 8697"/>
            </a:avLst>
          </a:prstGeom>
          <a:solidFill>
            <a:srgbClr val="F1E8D8"/>
          </a:solidFill>
          <a:ln w="9525">
            <a:solidFill>
              <a:srgbClr val="E0CFB3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" name="Text 8"/>
          <p:cNvSpPr/>
          <p:nvPr/>
        </p:nvSpPr>
        <p:spPr>
          <a:xfrm>
            <a:off x="728485" y="3024188"/>
            <a:ext cx="1794180" cy="7810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2B2018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烤</a:t>
            </a:r>
            <a:endParaRPr lang="en-US" sz="4400" dirty="0"/>
          </a:p>
        </p:txBody>
      </p:sp>
      <p:sp>
        <p:nvSpPr>
          <p:cNvPr id="11" name="Text 9"/>
          <p:cNvSpPr/>
          <p:nvPr/>
        </p:nvSpPr>
        <p:spPr>
          <a:xfrm>
            <a:off x="2844701" y="2684562"/>
            <a:ext cx="2032099" cy="1460302"/>
          </a:xfrm>
          <a:prstGeom prst="roundRect">
            <a:avLst>
              <a:gd name="adj" fmla="val 8697"/>
            </a:avLst>
          </a:prstGeom>
          <a:solidFill>
            <a:srgbClr val="F1E8D8"/>
          </a:solidFill>
          <a:ln w="9525">
            <a:solidFill>
              <a:srgbClr val="E0CFB3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2" name="Text 10"/>
          <p:cNvSpPr/>
          <p:nvPr/>
        </p:nvSpPr>
        <p:spPr>
          <a:xfrm>
            <a:off x="2963585" y="3024188"/>
            <a:ext cx="1794331" cy="7810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2B2018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牛排</a:t>
            </a:r>
            <a:endParaRPr lang="en-US" sz="4400" dirty="0"/>
          </a:p>
        </p:txBody>
      </p:sp>
      <p:sp>
        <p:nvSpPr>
          <p:cNvPr id="13" name="Text 11"/>
          <p:cNvSpPr/>
          <p:nvPr/>
        </p:nvSpPr>
        <p:spPr>
          <a:xfrm>
            <a:off x="5079950" y="2684562"/>
            <a:ext cx="2031950" cy="1460302"/>
          </a:xfrm>
          <a:prstGeom prst="roundRect">
            <a:avLst>
              <a:gd name="adj" fmla="val 8697"/>
            </a:avLst>
          </a:prstGeom>
          <a:solidFill>
            <a:srgbClr val="F1E8D8"/>
          </a:solidFill>
          <a:ln w="9525">
            <a:solidFill>
              <a:srgbClr val="E0CFB3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4" name="Text 12"/>
          <p:cNvSpPr/>
          <p:nvPr/>
        </p:nvSpPr>
        <p:spPr>
          <a:xfrm>
            <a:off x="5198836" y="3024188"/>
            <a:ext cx="1794180" cy="7810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2B2018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甜品</a:t>
            </a:r>
            <a:endParaRPr lang="en-US" sz="4400" dirty="0"/>
          </a:p>
        </p:txBody>
      </p:sp>
      <p:sp>
        <p:nvSpPr>
          <p:cNvPr id="15" name="Text 13"/>
          <p:cNvSpPr/>
          <p:nvPr/>
        </p:nvSpPr>
        <p:spPr>
          <a:xfrm>
            <a:off x="7315051" y="2684562"/>
            <a:ext cx="2032099" cy="1460302"/>
          </a:xfrm>
          <a:prstGeom prst="roundRect">
            <a:avLst>
              <a:gd name="adj" fmla="val 8697"/>
            </a:avLst>
          </a:prstGeom>
          <a:solidFill>
            <a:srgbClr val="F1E8D8"/>
          </a:solidFill>
          <a:ln w="9525">
            <a:solidFill>
              <a:srgbClr val="E0CFB3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6" name="Text 14"/>
          <p:cNvSpPr/>
          <p:nvPr/>
        </p:nvSpPr>
        <p:spPr>
          <a:xfrm>
            <a:off x="7433935" y="3024188"/>
            <a:ext cx="1794331" cy="7810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2B2018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奶酪</a:t>
            </a:r>
            <a:endParaRPr lang="en-US" sz="4400" dirty="0"/>
          </a:p>
        </p:txBody>
      </p:sp>
      <p:sp>
        <p:nvSpPr>
          <p:cNvPr id="17" name="Text 15"/>
          <p:cNvSpPr/>
          <p:nvPr/>
        </p:nvSpPr>
        <p:spPr>
          <a:xfrm>
            <a:off x="9550301" y="2684562"/>
            <a:ext cx="2031950" cy="1460302"/>
          </a:xfrm>
          <a:prstGeom prst="roundRect">
            <a:avLst>
              <a:gd name="adj" fmla="val 8697"/>
            </a:avLst>
          </a:prstGeom>
          <a:solidFill>
            <a:srgbClr val="F1E8D8"/>
          </a:solidFill>
          <a:ln w="9525">
            <a:solidFill>
              <a:srgbClr val="E0CFB3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8" name="Text 16"/>
          <p:cNvSpPr/>
          <p:nvPr/>
        </p:nvSpPr>
        <p:spPr>
          <a:xfrm>
            <a:off x="9669186" y="3024188"/>
            <a:ext cx="1794180" cy="7810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2B2018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饱</a:t>
            </a:r>
            <a:endParaRPr lang="en-US" sz="4400" dirty="0"/>
          </a:p>
        </p:txBody>
      </p:sp>
      <p:sp>
        <p:nvSpPr>
          <p:cNvPr id="19" name="Text 17"/>
          <p:cNvSpPr/>
          <p:nvPr/>
        </p:nvSpPr>
        <p:spPr>
          <a:xfrm>
            <a:off x="609600" y="4297263"/>
            <a:ext cx="1119225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00"/>
              </a:lnSpc>
              <a:spcBef>
                <a:spcPts val="1200"/>
              </a:spcBef>
              <a:buNone/>
            </a:pPr>
            <a:r>
              <a:rPr lang="en-US" sz="1200" dirty="0">
                <a:solidFill>
                  <a:srgbClr val="7A6952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读不出来就回头再教一遍，不要往下走。</a:t>
            </a:r>
            <a:endParaRPr lang="en-US" sz="12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AF6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12192000" cy="542925"/>
          </a:xfrm>
          <a:prstGeom prst="rect">
            <a:avLst/>
          </a:prstGeom>
          <a:solidFill>
            <a:srgbClr val="FAF6E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Shape 1"/>
          <p:cNvSpPr/>
          <p:nvPr/>
        </p:nvSpPr>
        <p:spPr>
          <a:xfrm>
            <a:off x="0" y="538163"/>
            <a:ext cx="12192000" cy="0"/>
          </a:xfrm>
          <a:prstGeom prst="line">
            <a:avLst/>
          </a:prstGeom>
          <a:noFill/>
          <a:ln w="9525">
            <a:solidFill>
              <a:srgbClr val="E0CFB3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7950" y="176213"/>
            <a:ext cx="1371404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7A4426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10–20 MIN · I DO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2137916" y="166688"/>
            <a:ext cx="1670307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5C4A37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句型 · Sentence pattern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11208990" y="176213"/>
            <a:ext cx="484561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7A6952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15 / 23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507950" y="0"/>
            <a:ext cx="11176099" cy="31700"/>
          </a:xfrm>
          <a:prstGeom prst="rect">
            <a:avLst/>
          </a:prstGeom>
          <a:solidFill>
            <a:srgbClr val="7A4426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609600" y="892671"/>
            <a:ext cx="11192256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7A4426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句型 · 说做得怎么样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609600" y="1092696"/>
            <a:ext cx="10972800" cy="971550"/>
          </a:xfrm>
          <a:prstGeom prst="roundRect">
            <a:avLst>
              <a:gd name="adj" fmla="val 13072"/>
            </a:avLst>
          </a:prstGeom>
          <a:solidFill>
            <a:srgbClr val="E4D5BC"/>
          </a:solidFill>
          <a:ln w="19050">
            <a:solidFill>
              <a:srgbClr val="7A4426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" name="Text 8"/>
          <p:cNvSpPr/>
          <p:nvPr/>
        </p:nvSpPr>
        <p:spPr>
          <a:xfrm>
            <a:off x="830199" y="1302246"/>
            <a:ext cx="10531602" cy="552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3100" b="1" dirty="0">
                <a:solidFill>
                  <a:srgbClr val="2B2018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动词 + 得 + 很／非常 + 形容词</a:t>
            </a:r>
            <a:endParaRPr lang="en-US" sz="3100" dirty="0"/>
          </a:p>
        </p:txBody>
      </p:sp>
      <p:sp>
        <p:nvSpPr>
          <p:cNvPr id="11" name="Text 9"/>
          <p:cNvSpPr/>
          <p:nvPr/>
        </p:nvSpPr>
        <p:spPr>
          <a:xfrm>
            <a:off x="609600" y="2191196"/>
            <a:ext cx="10972800" cy="1046411"/>
          </a:xfrm>
          <a:prstGeom prst="roundRect">
            <a:avLst>
              <a:gd name="adj" fmla="val 7282"/>
            </a:avLst>
          </a:prstGeom>
          <a:solidFill>
            <a:srgbClr val="F1E8D8"/>
          </a:solidFill>
          <a:ln w="9525">
            <a:solidFill>
              <a:srgbClr val="E0CFB3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2" name="Text 10"/>
          <p:cNvSpPr/>
          <p:nvPr/>
        </p:nvSpPr>
        <p:spPr>
          <a:xfrm>
            <a:off x="822275" y="2353121"/>
            <a:ext cx="297841" cy="3504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60"/>
              </a:lnSpc>
              <a:buNone/>
            </a:pPr>
            <a:r>
              <a:rPr lang="en-US" sz="2300" b="1" dirty="0">
                <a:solidFill>
                  <a:srgbClr val="7A4426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1</a:t>
            </a:r>
            <a:endParaRPr lang="en-US" sz="2300" dirty="0"/>
          </a:p>
        </p:txBody>
      </p:sp>
      <p:sp>
        <p:nvSpPr>
          <p:cNvPr id="13" name="Text 11"/>
          <p:cNvSpPr/>
          <p:nvPr/>
        </p:nvSpPr>
        <p:spPr>
          <a:xfrm>
            <a:off x="1279327" y="2353121"/>
            <a:ext cx="2822505" cy="4000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150"/>
              </a:lnSpc>
              <a:buNone/>
            </a:pPr>
            <a:r>
              <a:rPr lang="en-US" sz="2100" b="1" dirty="0">
                <a:solidFill>
                  <a:srgbClr val="2B2018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我们都吃得很饱。</a:t>
            </a:r>
            <a:endParaRPr lang="en-US" sz="2100" dirty="0"/>
          </a:p>
        </p:txBody>
      </p:sp>
      <p:sp>
        <p:nvSpPr>
          <p:cNvPr id="14" name="Text 12"/>
          <p:cNvSpPr/>
          <p:nvPr/>
        </p:nvSpPr>
        <p:spPr>
          <a:xfrm>
            <a:off x="1279327" y="2791271"/>
            <a:ext cx="2822505" cy="2844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240"/>
              </a:lnSpc>
              <a:spcBef>
                <a:spcPts val="300"/>
              </a:spcBef>
              <a:buNone/>
            </a:pPr>
            <a:r>
              <a:rPr lang="en-US" sz="1600" dirty="0">
                <a:solidFill>
                  <a:srgbClr val="2B2018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We all ate until we were full.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609600" y="3390007"/>
            <a:ext cx="10972800" cy="1046411"/>
          </a:xfrm>
          <a:prstGeom prst="roundRect">
            <a:avLst>
              <a:gd name="adj" fmla="val 7282"/>
            </a:avLst>
          </a:prstGeom>
          <a:solidFill>
            <a:srgbClr val="F1E8D8"/>
          </a:solidFill>
          <a:ln w="9525">
            <a:solidFill>
              <a:srgbClr val="E0CFB3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6" name="Text 14"/>
          <p:cNvSpPr/>
          <p:nvPr/>
        </p:nvSpPr>
        <p:spPr>
          <a:xfrm>
            <a:off x="822275" y="3551932"/>
            <a:ext cx="297841" cy="3504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60"/>
              </a:lnSpc>
              <a:buNone/>
            </a:pPr>
            <a:r>
              <a:rPr lang="en-US" sz="2300" b="1" dirty="0">
                <a:solidFill>
                  <a:srgbClr val="7A4426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2</a:t>
            </a:r>
            <a:endParaRPr lang="en-US" sz="2300" dirty="0"/>
          </a:p>
        </p:txBody>
      </p:sp>
      <p:sp>
        <p:nvSpPr>
          <p:cNvPr id="17" name="Text 15"/>
          <p:cNvSpPr/>
          <p:nvPr/>
        </p:nvSpPr>
        <p:spPr>
          <a:xfrm>
            <a:off x="1279327" y="3551932"/>
            <a:ext cx="1632204" cy="4000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150"/>
              </a:lnSpc>
              <a:buNone/>
            </a:pPr>
            <a:r>
              <a:rPr lang="en-US" sz="2100" b="1" dirty="0">
                <a:solidFill>
                  <a:srgbClr val="2B2018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他吃得很快。</a:t>
            </a:r>
            <a:endParaRPr lang="en-US" sz="2100" dirty="0"/>
          </a:p>
        </p:txBody>
      </p:sp>
      <p:sp>
        <p:nvSpPr>
          <p:cNvPr id="18" name="Text 16"/>
          <p:cNvSpPr/>
          <p:nvPr/>
        </p:nvSpPr>
        <p:spPr>
          <a:xfrm>
            <a:off x="1279327" y="3990082"/>
            <a:ext cx="1632204" cy="2844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240"/>
              </a:lnSpc>
              <a:spcBef>
                <a:spcPts val="300"/>
              </a:spcBef>
              <a:buNone/>
            </a:pPr>
            <a:r>
              <a:rPr lang="en-US" sz="1600" dirty="0">
                <a:solidFill>
                  <a:srgbClr val="2B2018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He eats fast.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609600" y="4588818"/>
            <a:ext cx="10972800" cy="1046411"/>
          </a:xfrm>
          <a:prstGeom prst="roundRect">
            <a:avLst>
              <a:gd name="adj" fmla="val 7282"/>
            </a:avLst>
          </a:prstGeom>
          <a:solidFill>
            <a:srgbClr val="F1E8D8"/>
          </a:solidFill>
          <a:ln w="9525">
            <a:solidFill>
              <a:srgbClr val="E0CFB3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0" name="Text 18"/>
          <p:cNvSpPr/>
          <p:nvPr/>
        </p:nvSpPr>
        <p:spPr>
          <a:xfrm>
            <a:off x="822275" y="4750743"/>
            <a:ext cx="297841" cy="3504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60"/>
              </a:lnSpc>
              <a:buNone/>
            </a:pPr>
            <a:r>
              <a:rPr lang="en-US" sz="2300" b="1" dirty="0">
                <a:solidFill>
                  <a:srgbClr val="7A4426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3</a:t>
            </a:r>
            <a:endParaRPr lang="en-US" sz="2300" dirty="0"/>
          </a:p>
        </p:txBody>
      </p:sp>
      <p:sp>
        <p:nvSpPr>
          <p:cNvPr id="21" name="Text 19"/>
          <p:cNvSpPr/>
          <p:nvPr/>
        </p:nvSpPr>
        <p:spPr>
          <a:xfrm>
            <a:off x="1279327" y="4750743"/>
            <a:ext cx="4200588" cy="4000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150"/>
              </a:lnSpc>
              <a:buNone/>
            </a:pPr>
            <a:r>
              <a:rPr lang="en-US" sz="2100" b="1" dirty="0">
                <a:solidFill>
                  <a:srgbClr val="2B2018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他们的烤牛排做得非常好吃。</a:t>
            </a:r>
            <a:endParaRPr lang="en-US" sz="2100" dirty="0"/>
          </a:p>
        </p:txBody>
      </p:sp>
      <p:sp>
        <p:nvSpPr>
          <p:cNvPr id="22" name="Text 20"/>
          <p:cNvSpPr/>
          <p:nvPr/>
        </p:nvSpPr>
        <p:spPr>
          <a:xfrm>
            <a:off x="1279327" y="5188893"/>
            <a:ext cx="4200588" cy="2844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240"/>
              </a:lnSpc>
              <a:spcBef>
                <a:spcPts val="300"/>
              </a:spcBef>
              <a:buNone/>
            </a:pPr>
            <a:r>
              <a:rPr lang="en-US" sz="1600" dirty="0">
                <a:solidFill>
                  <a:srgbClr val="2B2018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They make the roast beefsteak really well.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609600" y="5762179"/>
            <a:ext cx="1119225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00"/>
              </a:lnSpc>
              <a:spcBef>
                <a:spcPts val="1000"/>
              </a:spcBef>
              <a:buNone/>
            </a:pPr>
            <a:r>
              <a:rPr lang="en-US" sz="1200" dirty="0">
                <a:solidFill>
                  <a:srgbClr val="7A6952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「得」把动词和</a:t>
            </a:r>
            <a:r>
              <a:rPr lang="en-US" sz="1200" b="1" dirty="0">
                <a:solidFill>
                  <a:srgbClr val="7A6952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做得怎么样</a:t>
            </a:r>
            <a:r>
              <a:rPr lang="en-US" sz="1200" dirty="0">
                <a:solidFill>
                  <a:srgbClr val="7A6952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连起来。不是 ✗我很饱吃。</a:t>
            </a:r>
            <a:endParaRPr lang="en-US" sz="12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AF6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12192000" cy="542925"/>
          </a:xfrm>
          <a:prstGeom prst="rect">
            <a:avLst/>
          </a:prstGeom>
          <a:solidFill>
            <a:srgbClr val="FAF6E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Shape 1"/>
          <p:cNvSpPr/>
          <p:nvPr/>
        </p:nvSpPr>
        <p:spPr>
          <a:xfrm>
            <a:off x="0" y="538163"/>
            <a:ext cx="12192000" cy="0"/>
          </a:xfrm>
          <a:prstGeom prst="line">
            <a:avLst/>
          </a:prstGeom>
          <a:noFill/>
          <a:ln w="9525">
            <a:solidFill>
              <a:srgbClr val="E0CFB3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7950" y="176213"/>
            <a:ext cx="1371404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7A4426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10–20 MIN · I DO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2137916" y="166688"/>
            <a:ext cx="1191667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5C4A37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句型 · 最难的一句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11208246" y="176213"/>
            <a:ext cx="485320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7A6952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16 / 23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507950" y="0"/>
            <a:ext cx="11176099" cy="31700"/>
          </a:xfrm>
          <a:prstGeom prst="rect">
            <a:avLst/>
          </a:prstGeom>
          <a:solidFill>
            <a:srgbClr val="7A4426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609600" y="2326630"/>
            <a:ext cx="11192256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7A4426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句型 · 两个分句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609600" y="2526655"/>
            <a:ext cx="10972800" cy="1179165"/>
          </a:xfrm>
          <a:prstGeom prst="roundRect">
            <a:avLst>
              <a:gd name="adj" fmla="val 10770"/>
            </a:avLst>
          </a:prstGeom>
          <a:solidFill>
            <a:srgbClr val="E4D5BC"/>
          </a:solidFill>
          <a:ln w="19050">
            <a:solidFill>
              <a:srgbClr val="A8700F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" name="Text 8"/>
          <p:cNvSpPr/>
          <p:nvPr/>
        </p:nvSpPr>
        <p:spPr>
          <a:xfrm>
            <a:off x="958751" y="2850505"/>
            <a:ext cx="10479988" cy="53146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4185"/>
              </a:lnSpc>
              <a:buNone/>
            </a:pPr>
            <a:r>
              <a:rPr lang="en-US" sz="2700" b="1" dirty="0">
                <a:solidFill>
                  <a:srgbClr val="2B2018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那家饭店的菜做得好吃，但是挺贵的。</a:t>
            </a:r>
            <a:endParaRPr lang="en-US" sz="2700" dirty="0"/>
          </a:p>
        </p:txBody>
      </p:sp>
      <p:sp>
        <p:nvSpPr>
          <p:cNvPr id="11" name="Text 9"/>
          <p:cNvSpPr/>
          <p:nvPr/>
        </p:nvSpPr>
        <p:spPr>
          <a:xfrm>
            <a:off x="609600" y="3858220"/>
            <a:ext cx="11192256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00"/>
              </a:lnSpc>
              <a:spcBef>
                <a:spcPts val="1200"/>
              </a:spcBef>
              <a:buNone/>
            </a:pPr>
            <a:r>
              <a:rPr lang="en-US" sz="1800" dirty="0">
                <a:solidFill>
                  <a:srgbClr val="5C4A37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That restaurant cooks well, but it's fairly expensive.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609600" y="4328071"/>
            <a:ext cx="1119225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00"/>
              </a:lnSpc>
              <a:spcBef>
                <a:spcPts val="1000"/>
              </a:spcBef>
              <a:buNone/>
            </a:pPr>
            <a:r>
              <a:rPr lang="en-US" sz="1200" dirty="0">
                <a:solidFill>
                  <a:srgbClr val="7A6952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两个分句，用「但是」连起来，后半用「挺……的」。</a:t>
            </a:r>
            <a:endParaRPr lang="en-US" sz="12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AF6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12192000" cy="542925"/>
          </a:xfrm>
          <a:prstGeom prst="rect">
            <a:avLst/>
          </a:prstGeom>
          <a:solidFill>
            <a:srgbClr val="FAF6E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Shape 1"/>
          <p:cNvSpPr/>
          <p:nvPr/>
        </p:nvSpPr>
        <p:spPr>
          <a:xfrm>
            <a:off x="0" y="538163"/>
            <a:ext cx="12192000" cy="0"/>
          </a:xfrm>
          <a:prstGeom prst="line">
            <a:avLst/>
          </a:prstGeom>
          <a:noFill/>
          <a:ln w="9525">
            <a:solidFill>
              <a:srgbClr val="E0CFB3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7950" y="176213"/>
            <a:ext cx="1371404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7A4426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10–20 MIN · I DO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2137916" y="166688"/>
            <a:ext cx="1028021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5C4A37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课文一 · Text 1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11214646" y="176213"/>
            <a:ext cx="478792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7A6952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17 / 23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507950" y="0"/>
            <a:ext cx="11176099" cy="31700"/>
          </a:xfrm>
          <a:prstGeom prst="rect">
            <a:avLst/>
          </a:prstGeom>
          <a:solidFill>
            <a:srgbClr val="7A4426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609600" y="1572369"/>
            <a:ext cx="11192256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7A4426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课文一 · 课本 P.110 · CD 45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609600" y="1772394"/>
            <a:ext cx="10972800" cy="2123777"/>
          </a:xfrm>
          <a:prstGeom prst="roundRect">
            <a:avLst>
              <a:gd name="adj" fmla="val 5980"/>
            </a:avLst>
          </a:prstGeom>
          <a:solidFill>
            <a:srgbClr val="E4D5BC"/>
          </a:solidFill>
          <a:ln w="19050">
            <a:solidFill>
              <a:srgbClr val="A8700F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" name="Text 8"/>
          <p:cNvSpPr/>
          <p:nvPr/>
        </p:nvSpPr>
        <p:spPr>
          <a:xfrm>
            <a:off x="958751" y="2096244"/>
            <a:ext cx="10479988" cy="147607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875"/>
              </a:lnSpc>
              <a:buNone/>
            </a:pPr>
            <a:r>
              <a:rPr lang="en-US" sz="2500" b="1" dirty="0">
                <a:solidFill>
                  <a:srgbClr val="2B2018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我们一家三口上个周末去吃自助餐了。我们吃了龙虾、三文鱼、寿司、烤牛排、炒面等。我们还吃了很多甜品，有奶酪、巧克力蛋糕和水果沙拉。我们都吃得很饱。我们一共花了三百多块，挺便宜的。</a:t>
            </a:r>
            <a:endParaRPr lang="en-US" sz="2500" dirty="0"/>
          </a:p>
        </p:txBody>
      </p:sp>
      <p:sp>
        <p:nvSpPr>
          <p:cNvPr id="11" name="Text 9"/>
          <p:cNvSpPr/>
          <p:nvPr/>
        </p:nvSpPr>
        <p:spPr>
          <a:xfrm>
            <a:off x="609600" y="4048571"/>
            <a:ext cx="10972800" cy="1262360"/>
          </a:xfrm>
          <a:prstGeom prst="roundRect">
            <a:avLst>
              <a:gd name="adj" fmla="val 10060"/>
            </a:avLst>
          </a:prstGeom>
          <a:solidFill>
            <a:srgbClr val="F1E8D8"/>
          </a:solidFill>
          <a:ln w="19050">
            <a:solidFill>
              <a:srgbClr val="C9B392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2" name="Text 10"/>
          <p:cNvSpPr/>
          <p:nvPr/>
        </p:nvSpPr>
        <p:spPr>
          <a:xfrm>
            <a:off x="933450" y="4296221"/>
            <a:ext cx="10531602" cy="3454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20"/>
              </a:lnSpc>
              <a:buNone/>
            </a:pPr>
            <a:r>
              <a:rPr lang="en-US" sz="1700" b="1" dirty="0">
                <a:solidFill>
                  <a:srgbClr val="7A4426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用中文回答</a:t>
            </a:r>
            <a:r>
              <a:rPr lang="en-US" sz="1700" dirty="0">
                <a:solidFill>
                  <a:srgbClr val="2B2018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· 他们家有几口人？ · 他们吃了什么甜品？ · 三百多块贵不贵？他们觉得呢？</a:t>
            </a:r>
            <a:endParaRPr lang="en-US" sz="1700" dirty="0"/>
          </a:p>
        </p:txBody>
      </p:sp>
      <p:sp>
        <p:nvSpPr>
          <p:cNvPr id="13" name="Text 11"/>
          <p:cNvSpPr/>
          <p:nvPr/>
        </p:nvSpPr>
        <p:spPr>
          <a:xfrm>
            <a:off x="933450" y="4717852"/>
            <a:ext cx="10531602" cy="3454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20"/>
              </a:lnSpc>
              <a:spcBef>
                <a:spcPts val="600"/>
              </a:spcBef>
              <a:buNone/>
            </a:pPr>
            <a:r>
              <a:rPr lang="en-US" sz="1700" dirty="0">
                <a:solidFill>
                  <a:srgbClr val="2B2018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老师先读，全班跟读，然后一起读一遍。</a:t>
            </a:r>
            <a:endParaRPr lang="en-US" sz="17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AF6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12192000" cy="542925"/>
          </a:xfrm>
          <a:prstGeom prst="rect">
            <a:avLst/>
          </a:prstGeom>
          <a:solidFill>
            <a:srgbClr val="FAF6E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Shape 1"/>
          <p:cNvSpPr/>
          <p:nvPr/>
        </p:nvSpPr>
        <p:spPr>
          <a:xfrm>
            <a:off x="0" y="538163"/>
            <a:ext cx="12192000" cy="0"/>
          </a:xfrm>
          <a:prstGeom prst="line">
            <a:avLst/>
          </a:prstGeom>
          <a:noFill/>
          <a:ln w="9525">
            <a:solidFill>
              <a:srgbClr val="E0CFB3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7950" y="176213"/>
            <a:ext cx="1371404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7A4426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10–20 MIN · I DO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2137916" y="166688"/>
            <a:ext cx="1055043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5C4A37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检查理解 · CFU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11208544" y="176213"/>
            <a:ext cx="485016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7A6952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18 / 23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507950" y="0"/>
            <a:ext cx="11176099" cy="31700"/>
          </a:xfrm>
          <a:prstGeom prst="rect">
            <a:avLst/>
          </a:prstGeom>
          <a:solidFill>
            <a:srgbClr val="7A4426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609600" y="852636"/>
            <a:ext cx="11192256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7A4426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检查理解 · CHECK FOR UNDERSTANDING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609600" y="1052661"/>
            <a:ext cx="10972800" cy="1041350"/>
          </a:xfrm>
          <a:prstGeom prst="roundRect">
            <a:avLst>
              <a:gd name="adj" fmla="val 7317"/>
            </a:avLst>
          </a:prstGeom>
          <a:solidFill>
            <a:srgbClr val="F1E8D8"/>
          </a:solidFill>
          <a:ln w="9525">
            <a:solidFill>
              <a:srgbClr val="E0CFB3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" name="Text 8"/>
          <p:cNvSpPr/>
          <p:nvPr/>
        </p:nvSpPr>
        <p:spPr>
          <a:xfrm>
            <a:off x="822275" y="1214586"/>
            <a:ext cx="297841" cy="3504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60"/>
              </a:lnSpc>
              <a:buNone/>
            </a:pPr>
            <a:r>
              <a:rPr lang="en-US" sz="2300" b="1" dirty="0">
                <a:solidFill>
                  <a:srgbClr val="7A4426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1</a:t>
            </a:r>
            <a:endParaRPr lang="en-US" sz="2300" dirty="0"/>
          </a:p>
        </p:txBody>
      </p:sp>
      <p:sp>
        <p:nvSpPr>
          <p:cNvPr id="11" name="Text 9"/>
          <p:cNvSpPr/>
          <p:nvPr/>
        </p:nvSpPr>
        <p:spPr>
          <a:xfrm>
            <a:off x="1279327" y="1214586"/>
            <a:ext cx="2720340" cy="4000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150"/>
              </a:lnSpc>
              <a:buNone/>
            </a:pPr>
            <a:r>
              <a:rPr lang="en-US" sz="2100" b="1" dirty="0">
                <a:solidFill>
                  <a:srgbClr val="2B2018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「饱」的意思是什么？</a:t>
            </a:r>
            <a:endParaRPr lang="en-US" sz="2100" dirty="0"/>
          </a:p>
        </p:txBody>
      </p:sp>
      <p:sp>
        <p:nvSpPr>
          <p:cNvPr id="12" name="Text 10"/>
          <p:cNvSpPr/>
          <p:nvPr/>
        </p:nvSpPr>
        <p:spPr>
          <a:xfrm>
            <a:off x="1279327" y="1665387"/>
            <a:ext cx="272034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400"/>
              </a:spcBef>
              <a:buNone/>
            </a:pPr>
            <a:r>
              <a:rPr lang="en-US" sz="1500" b="1" dirty="0">
                <a:solidFill>
                  <a:srgbClr val="2F6B44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Thumbs up if you know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609600" y="2246412"/>
            <a:ext cx="10972800" cy="1041350"/>
          </a:xfrm>
          <a:prstGeom prst="roundRect">
            <a:avLst>
              <a:gd name="adj" fmla="val 7317"/>
            </a:avLst>
          </a:prstGeom>
          <a:solidFill>
            <a:srgbClr val="F1E8D8"/>
          </a:solidFill>
          <a:ln w="9525">
            <a:solidFill>
              <a:srgbClr val="E0CFB3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4" name="Text 12"/>
          <p:cNvSpPr/>
          <p:nvPr/>
        </p:nvSpPr>
        <p:spPr>
          <a:xfrm>
            <a:off x="822275" y="2408337"/>
            <a:ext cx="297841" cy="3504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60"/>
              </a:lnSpc>
              <a:buNone/>
            </a:pPr>
            <a:r>
              <a:rPr lang="en-US" sz="2300" b="1" dirty="0">
                <a:solidFill>
                  <a:srgbClr val="7A4426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2</a:t>
            </a:r>
            <a:endParaRPr lang="en-US" sz="2300" dirty="0"/>
          </a:p>
        </p:txBody>
      </p:sp>
      <p:sp>
        <p:nvSpPr>
          <p:cNvPr id="15" name="Text 13"/>
          <p:cNvSpPr/>
          <p:nvPr/>
        </p:nvSpPr>
        <p:spPr>
          <a:xfrm>
            <a:off x="1279327" y="2408337"/>
            <a:ext cx="1858393" cy="4000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150"/>
              </a:lnSpc>
              <a:buNone/>
            </a:pPr>
            <a:r>
              <a:rPr lang="en-US" sz="2100" b="1" dirty="0">
                <a:solidFill>
                  <a:srgbClr val="2B2018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怎么说 cheese？</a:t>
            </a:r>
            <a:endParaRPr lang="en-US" sz="2100" dirty="0"/>
          </a:p>
        </p:txBody>
      </p:sp>
      <p:sp>
        <p:nvSpPr>
          <p:cNvPr id="16" name="Text 14"/>
          <p:cNvSpPr/>
          <p:nvPr/>
        </p:nvSpPr>
        <p:spPr>
          <a:xfrm>
            <a:off x="1279327" y="2859137"/>
            <a:ext cx="1858393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400"/>
              </a:spcBef>
              <a:buNone/>
            </a:pPr>
            <a:r>
              <a:rPr lang="en-US" sz="1500" b="1" dirty="0">
                <a:solidFill>
                  <a:srgbClr val="2F6B44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写在小白板上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609600" y="3440162"/>
            <a:ext cx="10972800" cy="1041350"/>
          </a:xfrm>
          <a:prstGeom prst="roundRect">
            <a:avLst>
              <a:gd name="adj" fmla="val 7317"/>
            </a:avLst>
          </a:prstGeom>
          <a:solidFill>
            <a:srgbClr val="F1E8D8"/>
          </a:solidFill>
          <a:ln w="9525">
            <a:solidFill>
              <a:srgbClr val="E0CFB3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8" name="Text 16"/>
          <p:cNvSpPr/>
          <p:nvPr/>
        </p:nvSpPr>
        <p:spPr>
          <a:xfrm>
            <a:off x="822275" y="3602087"/>
            <a:ext cx="297841" cy="3504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60"/>
              </a:lnSpc>
              <a:buNone/>
            </a:pPr>
            <a:r>
              <a:rPr lang="en-US" sz="2300" b="1" dirty="0">
                <a:solidFill>
                  <a:srgbClr val="7A4426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3</a:t>
            </a:r>
            <a:endParaRPr lang="en-US" sz="2300" dirty="0"/>
          </a:p>
        </p:txBody>
      </p:sp>
      <p:sp>
        <p:nvSpPr>
          <p:cNvPr id="19" name="Text 17"/>
          <p:cNvSpPr/>
          <p:nvPr/>
        </p:nvSpPr>
        <p:spPr>
          <a:xfrm>
            <a:off x="1279327" y="3602087"/>
            <a:ext cx="4099789" cy="4000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150"/>
              </a:lnSpc>
              <a:buNone/>
            </a:pPr>
            <a:r>
              <a:rPr lang="en-US" sz="2100" b="1" dirty="0">
                <a:solidFill>
                  <a:srgbClr val="2B2018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这句话对不对？ ✗ 我们都很饱吃。</a:t>
            </a:r>
            <a:endParaRPr lang="en-US" sz="2100" dirty="0"/>
          </a:p>
        </p:txBody>
      </p:sp>
      <p:sp>
        <p:nvSpPr>
          <p:cNvPr id="20" name="Text 18"/>
          <p:cNvSpPr/>
          <p:nvPr/>
        </p:nvSpPr>
        <p:spPr>
          <a:xfrm>
            <a:off x="1279327" y="4052888"/>
            <a:ext cx="4099789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400"/>
              </a:spcBef>
              <a:buNone/>
            </a:pPr>
            <a:r>
              <a:rPr lang="en-US" sz="1500" b="1" dirty="0">
                <a:solidFill>
                  <a:srgbClr val="2F6B44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怎么改？</a:t>
            </a:r>
            <a:endParaRPr lang="en-US" sz="1500" dirty="0"/>
          </a:p>
        </p:txBody>
      </p:sp>
      <p:sp>
        <p:nvSpPr>
          <p:cNvPr id="21" name="Text 19"/>
          <p:cNvSpPr/>
          <p:nvPr/>
        </p:nvSpPr>
        <p:spPr>
          <a:xfrm>
            <a:off x="609600" y="4633913"/>
            <a:ext cx="10972800" cy="1041350"/>
          </a:xfrm>
          <a:prstGeom prst="roundRect">
            <a:avLst>
              <a:gd name="adj" fmla="val 7317"/>
            </a:avLst>
          </a:prstGeom>
          <a:solidFill>
            <a:srgbClr val="F1E8D8"/>
          </a:solidFill>
          <a:ln w="9525">
            <a:solidFill>
              <a:srgbClr val="E0CFB3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2" name="Text 20"/>
          <p:cNvSpPr/>
          <p:nvPr/>
        </p:nvSpPr>
        <p:spPr>
          <a:xfrm>
            <a:off x="822275" y="4795838"/>
            <a:ext cx="297841" cy="3504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60"/>
              </a:lnSpc>
              <a:buNone/>
            </a:pPr>
            <a:r>
              <a:rPr lang="en-US" sz="2300" b="1" dirty="0">
                <a:solidFill>
                  <a:srgbClr val="7A4426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4</a:t>
            </a:r>
            <a:endParaRPr lang="en-US" sz="2300" dirty="0"/>
          </a:p>
        </p:txBody>
      </p:sp>
      <p:sp>
        <p:nvSpPr>
          <p:cNvPr id="23" name="Text 21"/>
          <p:cNvSpPr/>
          <p:nvPr/>
        </p:nvSpPr>
        <p:spPr>
          <a:xfrm>
            <a:off x="1279327" y="4795838"/>
            <a:ext cx="5440680" cy="4000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150"/>
              </a:lnSpc>
              <a:buNone/>
            </a:pPr>
            <a:r>
              <a:rPr lang="en-US" sz="2100" b="1" dirty="0">
                <a:solidFill>
                  <a:srgbClr val="2B2018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「烤」字左边是什么部分？它跟什么有关系？</a:t>
            </a:r>
            <a:endParaRPr lang="en-US" sz="2100" dirty="0"/>
          </a:p>
        </p:txBody>
      </p:sp>
      <p:sp>
        <p:nvSpPr>
          <p:cNvPr id="24" name="Text 22"/>
          <p:cNvSpPr/>
          <p:nvPr/>
        </p:nvSpPr>
        <p:spPr>
          <a:xfrm>
            <a:off x="1279327" y="5246638"/>
            <a:ext cx="544068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400"/>
              </a:spcBef>
              <a:buNone/>
            </a:pPr>
            <a:r>
              <a:rPr lang="en-US" sz="1500" b="1" dirty="0">
                <a:solidFill>
                  <a:srgbClr val="2F6B44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点名回答</a:t>
            </a:r>
            <a:endParaRPr lang="en-US" sz="1500" dirty="0"/>
          </a:p>
        </p:txBody>
      </p:sp>
      <p:sp>
        <p:nvSpPr>
          <p:cNvPr id="25" name="Text 23"/>
          <p:cNvSpPr/>
          <p:nvPr/>
        </p:nvSpPr>
        <p:spPr>
          <a:xfrm>
            <a:off x="609600" y="5802213"/>
            <a:ext cx="1119225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00"/>
              </a:lnSpc>
              <a:spcBef>
                <a:spcPts val="1000"/>
              </a:spcBef>
              <a:buNone/>
            </a:pPr>
            <a:r>
              <a:rPr lang="en-US" sz="1200" dirty="0">
                <a:solidFill>
                  <a:srgbClr val="7A6952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答案不上屏——老师现场收（白板／点名）。</a:t>
            </a:r>
            <a:endParaRPr lang="en-US" sz="12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AF6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12192000" cy="542925"/>
          </a:xfrm>
          <a:prstGeom prst="rect">
            <a:avLst/>
          </a:prstGeom>
          <a:solidFill>
            <a:srgbClr val="FAF6E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Shape 1"/>
          <p:cNvSpPr/>
          <p:nvPr/>
        </p:nvSpPr>
        <p:spPr>
          <a:xfrm>
            <a:off x="0" y="538163"/>
            <a:ext cx="12192000" cy="0"/>
          </a:xfrm>
          <a:prstGeom prst="line">
            <a:avLst/>
          </a:prstGeom>
          <a:noFill/>
          <a:ln w="9525">
            <a:solidFill>
              <a:srgbClr val="E0CFB3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7950" y="180975"/>
            <a:ext cx="2386370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7A4426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20–43 MIN · FLEXIBLE PRACTICE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132981" y="166688"/>
            <a:ext cx="1731788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5C4A37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词汇总览 · stays on screen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11244709" y="180975"/>
            <a:ext cx="448127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7A6952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19 / 23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507950" y="0"/>
            <a:ext cx="11176099" cy="31700"/>
          </a:xfrm>
          <a:prstGeom prst="rect">
            <a:avLst/>
          </a:prstGeom>
          <a:solidFill>
            <a:srgbClr val="7A4426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609600" y="986135"/>
            <a:ext cx="11192256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7A4426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词汇总览 · 这一课的生词 · STAYS UP WHILE YOU WORK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609600" y="1287661"/>
            <a:ext cx="3539133" cy="2025402"/>
          </a:xfrm>
          <a:prstGeom prst="roundRect">
            <a:avLst>
              <a:gd name="adj" fmla="val 6270"/>
            </a:avLst>
          </a:prstGeom>
          <a:solidFill>
            <a:srgbClr val="F1E8D8"/>
          </a:solidFill>
          <a:ln w="9525">
            <a:solidFill>
              <a:srgbClr val="E0CFB3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pic>
        <p:nvPicPr>
          <p:cNvPr id="10" name="Image 0" descr="/var/folders/6c/210dcgxn4gz5sm71vld2cy1h0000gn/T/tmp.0uBGefGcle/img/ka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858417" y="1424136"/>
            <a:ext cx="1041350" cy="1041350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2169616" y="2566988"/>
            <a:ext cx="427482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300" b="1" dirty="0">
                <a:solidFill>
                  <a:srgbClr val="2B2018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烤</a:t>
            </a:r>
            <a:endParaRPr lang="en-US" sz="3300" dirty="0"/>
          </a:p>
        </p:txBody>
      </p:sp>
      <p:sp>
        <p:nvSpPr>
          <p:cNvPr id="12" name="Text 9"/>
          <p:cNvSpPr/>
          <p:nvPr/>
        </p:nvSpPr>
        <p:spPr>
          <a:xfrm>
            <a:off x="4326434" y="1287661"/>
            <a:ext cx="3539133" cy="2025402"/>
          </a:xfrm>
          <a:prstGeom prst="roundRect">
            <a:avLst>
              <a:gd name="adj" fmla="val 6270"/>
            </a:avLst>
          </a:prstGeom>
          <a:solidFill>
            <a:srgbClr val="F1E8D8"/>
          </a:solidFill>
          <a:ln w="9525">
            <a:solidFill>
              <a:srgbClr val="E0CFB3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pic>
        <p:nvPicPr>
          <p:cNvPr id="13" name="Image 1" descr="/var/folders/6c/210dcgxn4gz5sm71vld2cy1h0000gn/T/tmp.0uBGefGcle/img/niupai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75250" y="1424136"/>
            <a:ext cx="1041350" cy="1041350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5676900" y="2566988"/>
            <a:ext cx="854964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300" b="1" dirty="0">
                <a:solidFill>
                  <a:srgbClr val="2B2018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牛排</a:t>
            </a:r>
            <a:endParaRPr lang="en-US" sz="3300" dirty="0"/>
          </a:p>
        </p:txBody>
      </p:sp>
      <p:sp>
        <p:nvSpPr>
          <p:cNvPr id="15" name="Text 11"/>
          <p:cNvSpPr/>
          <p:nvPr/>
        </p:nvSpPr>
        <p:spPr>
          <a:xfrm>
            <a:off x="8043267" y="1287661"/>
            <a:ext cx="3539133" cy="2025402"/>
          </a:xfrm>
          <a:prstGeom prst="roundRect">
            <a:avLst>
              <a:gd name="adj" fmla="val 6270"/>
            </a:avLst>
          </a:prstGeom>
          <a:solidFill>
            <a:srgbClr val="F1E8D8"/>
          </a:solidFill>
          <a:ln w="9525">
            <a:solidFill>
              <a:srgbClr val="E0CFB3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pic>
        <p:nvPicPr>
          <p:cNvPr id="16" name="Image 2" descr="/var/folders/6c/210dcgxn4gz5sm71vld2cy1h0000gn/T/tmp.0uBGefGcle/img/tianpin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292084" y="1424136"/>
            <a:ext cx="1041350" cy="1041350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9393734" y="2566988"/>
            <a:ext cx="854964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300" b="1" dirty="0">
                <a:solidFill>
                  <a:srgbClr val="2B2018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甜品</a:t>
            </a:r>
            <a:endParaRPr lang="en-US" sz="3300" dirty="0"/>
          </a:p>
        </p:txBody>
      </p:sp>
      <p:sp>
        <p:nvSpPr>
          <p:cNvPr id="18" name="Text 13"/>
          <p:cNvSpPr/>
          <p:nvPr/>
        </p:nvSpPr>
        <p:spPr>
          <a:xfrm>
            <a:off x="609600" y="3490764"/>
            <a:ext cx="3539133" cy="2025402"/>
          </a:xfrm>
          <a:prstGeom prst="roundRect">
            <a:avLst>
              <a:gd name="adj" fmla="val 6270"/>
            </a:avLst>
          </a:prstGeom>
          <a:solidFill>
            <a:srgbClr val="F1E8D8"/>
          </a:solidFill>
          <a:ln w="9525">
            <a:solidFill>
              <a:srgbClr val="E0CFB3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pic>
        <p:nvPicPr>
          <p:cNvPr id="19" name="Image 3" descr="/var/folders/6c/210dcgxn4gz5sm71vld2cy1h0000gn/T/tmp.0uBGefGcle/img/nailao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858417" y="3627239"/>
            <a:ext cx="1041350" cy="1041350"/>
          </a:xfrm>
          <a:prstGeom prst="rect">
            <a:avLst/>
          </a:prstGeom>
        </p:spPr>
      </p:pic>
      <p:sp>
        <p:nvSpPr>
          <p:cNvPr id="20" name="Text 14"/>
          <p:cNvSpPr/>
          <p:nvPr/>
        </p:nvSpPr>
        <p:spPr>
          <a:xfrm>
            <a:off x="1960066" y="4770090"/>
            <a:ext cx="854964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300" b="1" dirty="0">
                <a:solidFill>
                  <a:srgbClr val="2B2018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奶酪</a:t>
            </a:r>
            <a:endParaRPr lang="en-US" sz="3300" dirty="0"/>
          </a:p>
        </p:txBody>
      </p:sp>
      <p:sp>
        <p:nvSpPr>
          <p:cNvPr id="21" name="Text 15"/>
          <p:cNvSpPr/>
          <p:nvPr/>
        </p:nvSpPr>
        <p:spPr>
          <a:xfrm>
            <a:off x="4326434" y="3490764"/>
            <a:ext cx="3539133" cy="2025402"/>
          </a:xfrm>
          <a:prstGeom prst="roundRect">
            <a:avLst>
              <a:gd name="adj" fmla="val 6270"/>
            </a:avLst>
          </a:prstGeom>
          <a:solidFill>
            <a:srgbClr val="F1E8D8"/>
          </a:solidFill>
          <a:ln w="9525">
            <a:solidFill>
              <a:srgbClr val="E0CFB3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2" name="Text 16"/>
          <p:cNvSpPr/>
          <p:nvPr/>
        </p:nvSpPr>
        <p:spPr>
          <a:xfrm>
            <a:off x="5886450" y="3627239"/>
            <a:ext cx="427482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300" b="1" dirty="0">
                <a:solidFill>
                  <a:srgbClr val="2B2018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饱</a:t>
            </a:r>
            <a:endParaRPr lang="en-US" sz="3300" dirty="0"/>
          </a:p>
        </p:txBody>
      </p:sp>
      <p:sp>
        <p:nvSpPr>
          <p:cNvPr id="23" name="Text 17"/>
          <p:cNvSpPr/>
          <p:nvPr/>
        </p:nvSpPr>
        <p:spPr>
          <a:xfrm>
            <a:off x="609600" y="5668566"/>
            <a:ext cx="1119225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00"/>
              </a:lnSpc>
              <a:spcBef>
                <a:spcPts val="1200"/>
              </a:spcBef>
              <a:buNone/>
            </a:pPr>
            <a:r>
              <a:rPr lang="en-US" sz="1200" dirty="0">
                <a:solidFill>
                  <a:srgbClr val="7A6952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这一页留在屏幕上——活动二要用。</a:t>
            </a:r>
            <a:endParaRPr lang="en-US" sz="12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AF6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12192000" cy="542925"/>
          </a:xfrm>
          <a:prstGeom prst="rect">
            <a:avLst/>
          </a:prstGeom>
          <a:solidFill>
            <a:srgbClr val="FAF6E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Shape 1"/>
          <p:cNvSpPr/>
          <p:nvPr/>
        </p:nvSpPr>
        <p:spPr>
          <a:xfrm>
            <a:off x="0" y="538163"/>
            <a:ext cx="12192000" cy="0"/>
          </a:xfrm>
          <a:prstGeom prst="line">
            <a:avLst/>
          </a:prstGeom>
          <a:noFill/>
          <a:ln w="9525">
            <a:solidFill>
              <a:srgbClr val="E0CFB3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7950" y="176213"/>
            <a:ext cx="2644893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7A4426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20–43 MIN · FLEXIBLE PRACTICE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386435" y="166688"/>
            <a:ext cx="1678504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5C4A37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活动一 · We Do · 8 分钟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11184582" y="176213"/>
            <a:ext cx="509457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7A6952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20 / 23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507950" y="0"/>
            <a:ext cx="11176099" cy="31700"/>
          </a:xfrm>
          <a:prstGeom prst="rect">
            <a:avLst/>
          </a:prstGeom>
          <a:solidFill>
            <a:srgbClr val="7A4426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609600" y="930176"/>
            <a:ext cx="11192256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7A4426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活动一 · 课本 P.112 第 3 题 · 两人一组，做两遍，第二遍不看稿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609600" y="1130201"/>
            <a:ext cx="10972800" cy="583853"/>
          </a:xfrm>
          <a:prstGeom prst="roundRect">
            <a:avLst>
              <a:gd name="adj" fmla="val 13051"/>
            </a:avLst>
          </a:prstGeom>
          <a:solidFill>
            <a:srgbClr val="F1E8D8"/>
          </a:solidFill>
          <a:ln w="9525">
            <a:solidFill>
              <a:srgbClr val="E0CFB3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" name="Text 8"/>
          <p:cNvSpPr/>
          <p:nvPr/>
        </p:nvSpPr>
        <p:spPr>
          <a:xfrm>
            <a:off x="796826" y="1241227"/>
            <a:ext cx="258979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2000" b="1" dirty="0">
                <a:solidFill>
                  <a:srgbClr val="7A4426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A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1215777" y="1241227"/>
            <a:ext cx="4429813" cy="36180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900" b="1" dirty="0">
                <a:solidFill>
                  <a:srgbClr val="2B2018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我们星期天下午去红山饭店吃自助餐了。</a:t>
            </a:r>
            <a:endParaRPr lang="en-US" sz="1900" dirty="0"/>
          </a:p>
        </p:txBody>
      </p:sp>
      <p:sp>
        <p:nvSpPr>
          <p:cNvPr id="12" name="Text 10"/>
          <p:cNvSpPr/>
          <p:nvPr/>
        </p:nvSpPr>
        <p:spPr>
          <a:xfrm>
            <a:off x="609600" y="1777454"/>
            <a:ext cx="10972800" cy="583853"/>
          </a:xfrm>
          <a:prstGeom prst="roundRect">
            <a:avLst>
              <a:gd name="adj" fmla="val 13051"/>
            </a:avLst>
          </a:prstGeom>
          <a:solidFill>
            <a:srgbClr val="F1E8D8"/>
          </a:solidFill>
          <a:ln w="9525">
            <a:solidFill>
              <a:srgbClr val="E0CFB3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3" name="Text 11"/>
          <p:cNvSpPr/>
          <p:nvPr/>
        </p:nvSpPr>
        <p:spPr>
          <a:xfrm>
            <a:off x="796826" y="1888480"/>
            <a:ext cx="258979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2000" b="1" dirty="0">
                <a:solidFill>
                  <a:srgbClr val="2F6B44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B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1215777" y="1888480"/>
            <a:ext cx="2953208" cy="36180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900" b="1" dirty="0">
                <a:solidFill>
                  <a:srgbClr val="2B2018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你们吃了什么？喝了什么？</a:t>
            </a:r>
            <a:endParaRPr lang="en-US" sz="1900" dirty="0"/>
          </a:p>
        </p:txBody>
      </p:sp>
      <p:sp>
        <p:nvSpPr>
          <p:cNvPr id="15" name="Text 13"/>
          <p:cNvSpPr/>
          <p:nvPr/>
        </p:nvSpPr>
        <p:spPr>
          <a:xfrm>
            <a:off x="609600" y="2424708"/>
            <a:ext cx="10972800" cy="583853"/>
          </a:xfrm>
          <a:prstGeom prst="roundRect">
            <a:avLst>
              <a:gd name="adj" fmla="val 13051"/>
            </a:avLst>
          </a:prstGeom>
          <a:solidFill>
            <a:srgbClr val="F1E8D8"/>
          </a:solidFill>
          <a:ln w="9525">
            <a:solidFill>
              <a:srgbClr val="E0CFB3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6" name="Text 14"/>
          <p:cNvSpPr/>
          <p:nvPr/>
        </p:nvSpPr>
        <p:spPr>
          <a:xfrm>
            <a:off x="796826" y="2535734"/>
            <a:ext cx="258979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2000" b="1" dirty="0">
                <a:solidFill>
                  <a:srgbClr val="7A4426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A</a:t>
            </a:r>
            <a:endParaRPr lang="en-US" sz="2000" dirty="0"/>
          </a:p>
        </p:txBody>
      </p:sp>
      <p:sp>
        <p:nvSpPr>
          <p:cNvPr id="17" name="Text 15"/>
          <p:cNvSpPr/>
          <p:nvPr/>
        </p:nvSpPr>
        <p:spPr>
          <a:xfrm>
            <a:off x="1215777" y="2535734"/>
            <a:ext cx="8121095" cy="36180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900" b="1" dirty="0">
                <a:solidFill>
                  <a:srgbClr val="2B2018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我们吃了甜品，有蛋糕、饼干、冰淇淋等。我们还吃了寿司、炒面和炒饭。</a:t>
            </a:r>
            <a:endParaRPr lang="en-US" sz="1900" dirty="0"/>
          </a:p>
        </p:txBody>
      </p:sp>
      <p:sp>
        <p:nvSpPr>
          <p:cNvPr id="18" name="Text 16"/>
          <p:cNvSpPr/>
          <p:nvPr/>
        </p:nvSpPr>
        <p:spPr>
          <a:xfrm>
            <a:off x="609600" y="3071961"/>
            <a:ext cx="10972800" cy="583853"/>
          </a:xfrm>
          <a:prstGeom prst="roundRect">
            <a:avLst>
              <a:gd name="adj" fmla="val 13051"/>
            </a:avLst>
          </a:prstGeom>
          <a:solidFill>
            <a:srgbClr val="F1E8D8"/>
          </a:solidFill>
          <a:ln w="9525">
            <a:solidFill>
              <a:srgbClr val="E0CFB3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9" name="Text 17"/>
          <p:cNvSpPr/>
          <p:nvPr/>
        </p:nvSpPr>
        <p:spPr>
          <a:xfrm>
            <a:off x="796826" y="3182987"/>
            <a:ext cx="258979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2000" b="1" dirty="0">
                <a:solidFill>
                  <a:srgbClr val="2F6B44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B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1215777" y="3182987"/>
            <a:ext cx="1230529" cy="36180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900" b="1" dirty="0">
                <a:solidFill>
                  <a:srgbClr val="2B2018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有水果吗？</a:t>
            </a:r>
            <a:endParaRPr lang="en-US" sz="1900" dirty="0"/>
          </a:p>
        </p:txBody>
      </p:sp>
      <p:sp>
        <p:nvSpPr>
          <p:cNvPr id="21" name="Text 19"/>
          <p:cNvSpPr/>
          <p:nvPr/>
        </p:nvSpPr>
        <p:spPr>
          <a:xfrm>
            <a:off x="609600" y="3719215"/>
            <a:ext cx="10972800" cy="583853"/>
          </a:xfrm>
          <a:prstGeom prst="roundRect">
            <a:avLst>
              <a:gd name="adj" fmla="val 13051"/>
            </a:avLst>
          </a:prstGeom>
          <a:solidFill>
            <a:srgbClr val="F1E8D8"/>
          </a:solidFill>
          <a:ln w="9525">
            <a:solidFill>
              <a:srgbClr val="E0CFB3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2" name="Text 20"/>
          <p:cNvSpPr/>
          <p:nvPr/>
        </p:nvSpPr>
        <p:spPr>
          <a:xfrm>
            <a:off x="796826" y="3830241"/>
            <a:ext cx="258979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2000" b="1" dirty="0">
                <a:solidFill>
                  <a:srgbClr val="7A4426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A</a:t>
            </a:r>
            <a:endParaRPr lang="en-US" sz="2000" dirty="0"/>
          </a:p>
        </p:txBody>
      </p:sp>
      <p:sp>
        <p:nvSpPr>
          <p:cNvPr id="23" name="Text 21"/>
          <p:cNvSpPr/>
          <p:nvPr/>
        </p:nvSpPr>
        <p:spPr>
          <a:xfrm>
            <a:off x="1215777" y="3830241"/>
            <a:ext cx="4183737" cy="36180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900" b="1" dirty="0">
                <a:solidFill>
                  <a:srgbClr val="2B2018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当然有。我们吃了西瓜、苹果和香蕉。</a:t>
            </a:r>
            <a:endParaRPr lang="en-US" sz="1900" dirty="0"/>
          </a:p>
        </p:txBody>
      </p:sp>
      <p:sp>
        <p:nvSpPr>
          <p:cNvPr id="24" name="Text 22"/>
          <p:cNvSpPr/>
          <p:nvPr/>
        </p:nvSpPr>
        <p:spPr>
          <a:xfrm>
            <a:off x="609600" y="4366468"/>
            <a:ext cx="10972800" cy="583853"/>
          </a:xfrm>
          <a:prstGeom prst="roundRect">
            <a:avLst>
              <a:gd name="adj" fmla="val 13051"/>
            </a:avLst>
          </a:prstGeom>
          <a:solidFill>
            <a:srgbClr val="F1E8D8"/>
          </a:solidFill>
          <a:ln w="9525">
            <a:solidFill>
              <a:srgbClr val="E0CFB3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5" name="Text 23"/>
          <p:cNvSpPr/>
          <p:nvPr/>
        </p:nvSpPr>
        <p:spPr>
          <a:xfrm>
            <a:off x="796826" y="4477494"/>
            <a:ext cx="258979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2000" b="1" dirty="0">
                <a:solidFill>
                  <a:srgbClr val="2F6B44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B</a:t>
            </a:r>
            <a:endParaRPr lang="en-US" sz="2000" dirty="0"/>
          </a:p>
        </p:txBody>
      </p:sp>
      <p:sp>
        <p:nvSpPr>
          <p:cNvPr id="26" name="Text 24"/>
          <p:cNvSpPr/>
          <p:nvPr/>
        </p:nvSpPr>
        <p:spPr>
          <a:xfrm>
            <a:off x="1215777" y="4477494"/>
            <a:ext cx="2214982" cy="36180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900" b="1" dirty="0">
                <a:solidFill>
                  <a:srgbClr val="2B2018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在那里吃饭贵不贵？</a:t>
            </a:r>
            <a:endParaRPr lang="en-US" sz="1900" dirty="0"/>
          </a:p>
        </p:txBody>
      </p:sp>
      <p:sp>
        <p:nvSpPr>
          <p:cNvPr id="27" name="Text 25"/>
          <p:cNvSpPr/>
          <p:nvPr/>
        </p:nvSpPr>
        <p:spPr>
          <a:xfrm>
            <a:off x="609600" y="5013722"/>
            <a:ext cx="10972800" cy="583853"/>
          </a:xfrm>
          <a:prstGeom prst="roundRect">
            <a:avLst>
              <a:gd name="adj" fmla="val 13051"/>
            </a:avLst>
          </a:prstGeom>
          <a:solidFill>
            <a:srgbClr val="F1E8D8"/>
          </a:solidFill>
          <a:ln w="9525">
            <a:solidFill>
              <a:srgbClr val="E0CFB3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8" name="Text 26"/>
          <p:cNvSpPr/>
          <p:nvPr/>
        </p:nvSpPr>
        <p:spPr>
          <a:xfrm>
            <a:off x="796826" y="5124748"/>
            <a:ext cx="258979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2000" b="1" dirty="0">
                <a:solidFill>
                  <a:srgbClr val="7A4426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A</a:t>
            </a:r>
            <a:endParaRPr lang="en-US" sz="2000" dirty="0"/>
          </a:p>
        </p:txBody>
      </p:sp>
      <p:sp>
        <p:nvSpPr>
          <p:cNvPr id="29" name="Text 27"/>
          <p:cNvSpPr/>
          <p:nvPr/>
        </p:nvSpPr>
        <p:spPr>
          <a:xfrm>
            <a:off x="1215777" y="5124748"/>
            <a:ext cx="2953208" cy="36180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900" b="1" dirty="0">
                <a:solidFill>
                  <a:srgbClr val="2B2018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还可以，每位一百五十块。</a:t>
            </a:r>
            <a:endParaRPr lang="en-US" sz="1900" dirty="0"/>
          </a:p>
        </p:txBody>
      </p:sp>
      <p:sp>
        <p:nvSpPr>
          <p:cNvPr id="30" name="Text 28"/>
          <p:cNvSpPr/>
          <p:nvPr/>
        </p:nvSpPr>
        <p:spPr>
          <a:xfrm>
            <a:off x="609600" y="5724525"/>
            <a:ext cx="1119225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00"/>
              </a:lnSpc>
              <a:spcBef>
                <a:spcPts val="1000"/>
              </a:spcBef>
              <a:buNone/>
            </a:pPr>
            <a:r>
              <a:rPr lang="en-US" sz="1200" b="1" dirty="0">
                <a:solidFill>
                  <a:srgbClr val="7A6952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加难</a:t>
            </a:r>
            <a:r>
              <a:rPr lang="en-US" sz="1200" dirty="0">
                <a:solidFill>
                  <a:srgbClr val="7A6952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：B 是美食评论员。问三个稿上没有的问题（什么菜做得最好吃？人多不多？排队了吗？），A 每个答案都要带「因为……所以……」。</a:t>
            </a:r>
            <a:endParaRPr lang="en-US" sz="12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AF6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12192000" cy="542925"/>
          </a:xfrm>
          <a:prstGeom prst="rect">
            <a:avLst/>
          </a:prstGeom>
          <a:solidFill>
            <a:srgbClr val="FAF6E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Shape 1"/>
          <p:cNvSpPr/>
          <p:nvPr/>
        </p:nvSpPr>
        <p:spPr>
          <a:xfrm>
            <a:off x="0" y="538163"/>
            <a:ext cx="12192000" cy="0"/>
          </a:xfrm>
          <a:prstGeom prst="line">
            <a:avLst/>
          </a:prstGeom>
          <a:noFill/>
          <a:ln w="9525">
            <a:solidFill>
              <a:srgbClr val="E0CFB3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7950" y="176213"/>
            <a:ext cx="2644893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7A4426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20–43 MIN · FLEXIBLE PRACTICE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386435" y="166688"/>
            <a:ext cx="1730573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5C4A37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活动二 · You Do · 9 分钟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11208990" y="176213"/>
            <a:ext cx="484561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7A6952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21 / 23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507950" y="0"/>
            <a:ext cx="11176099" cy="31700"/>
          </a:xfrm>
          <a:prstGeom prst="rect">
            <a:avLst/>
          </a:prstGeom>
          <a:solidFill>
            <a:srgbClr val="7A4426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609600" y="1400473"/>
            <a:ext cx="11192256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7A4426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活动二 · 写一写自助餐的甜品那一半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609600" y="1600498"/>
            <a:ext cx="10972800" cy="2458641"/>
          </a:xfrm>
          <a:prstGeom prst="roundRect">
            <a:avLst>
              <a:gd name="adj" fmla="val 5165"/>
            </a:avLst>
          </a:prstGeom>
          <a:solidFill>
            <a:srgbClr val="F1E8D8"/>
          </a:solidFill>
          <a:ln w="19050">
            <a:solidFill>
              <a:srgbClr val="C9B392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" name="Text 8"/>
          <p:cNvSpPr/>
          <p:nvPr/>
        </p:nvSpPr>
        <p:spPr>
          <a:xfrm>
            <a:off x="933450" y="1848148"/>
            <a:ext cx="10531602" cy="3454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20"/>
              </a:lnSpc>
              <a:buNone/>
            </a:pPr>
            <a:r>
              <a:rPr lang="en-US" sz="1700" dirty="0">
                <a:solidFill>
                  <a:srgbClr val="2B2018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一个人写，写在练习本上，至少四句。</a:t>
            </a:r>
            <a:endParaRPr lang="en-US" sz="1700" dirty="0"/>
          </a:p>
        </p:txBody>
      </p:sp>
      <p:sp>
        <p:nvSpPr>
          <p:cNvPr id="11" name="Text 9"/>
          <p:cNvSpPr/>
          <p:nvPr/>
        </p:nvSpPr>
        <p:spPr>
          <a:xfrm>
            <a:off x="933450" y="2193578"/>
            <a:ext cx="10531602" cy="6908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20"/>
              </a:lnSpc>
              <a:buNone/>
            </a:pPr>
            <a:r>
              <a:rPr lang="en-US" sz="1700" dirty="0">
                <a:solidFill>
                  <a:srgbClr val="2B2018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五个生词</a:t>
            </a:r>
            <a:r>
              <a:rPr lang="en-US" sz="1700" b="1" dirty="0">
                <a:solidFill>
                  <a:srgbClr val="7A4426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都要用上</a:t>
            </a:r>
            <a:r>
              <a:rPr lang="en-US" sz="1700" dirty="0">
                <a:solidFill>
                  <a:srgbClr val="2B2018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：烤了什么、甜品有什么（甜品、奶酪）、主食是什么（牛排）、大家吃得怎么样（饱）。</a:t>
            </a:r>
            <a:endParaRPr lang="en-US" sz="1700" dirty="0"/>
          </a:p>
        </p:txBody>
      </p:sp>
      <p:sp>
        <p:nvSpPr>
          <p:cNvPr id="12" name="Text 10"/>
          <p:cNvSpPr/>
          <p:nvPr/>
        </p:nvSpPr>
        <p:spPr>
          <a:xfrm>
            <a:off x="933450" y="3011388"/>
            <a:ext cx="10531602" cy="8001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150"/>
              </a:lnSpc>
              <a:spcBef>
                <a:spcPts val="1000"/>
              </a:spcBef>
              <a:buNone/>
            </a:pPr>
            <a:r>
              <a:rPr lang="en-US" sz="2100" b="1" dirty="0">
                <a:solidFill>
                  <a:srgbClr val="2B2018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上个周末我们一家去吃自助餐了。主食有烤牛排……甜品有奶酪蛋糕……我们都吃得很饱。</a:t>
            </a:r>
            <a:endParaRPr lang="en-US" sz="2100" dirty="0"/>
          </a:p>
        </p:txBody>
      </p:sp>
      <p:sp>
        <p:nvSpPr>
          <p:cNvPr id="13" name="Text 11"/>
          <p:cNvSpPr/>
          <p:nvPr/>
        </p:nvSpPr>
        <p:spPr>
          <a:xfrm>
            <a:off x="609600" y="4236839"/>
            <a:ext cx="10972800" cy="1245989"/>
          </a:xfrm>
          <a:prstGeom prst="roundRect">
            <a:avLst>
              <a:gd name="adj" fmla="val 6116"/>
            </a:avLst>
          </a:prstGeom>
          <a:solidFill>
            <a:srgbClr val="2F6B44">
              <a:alpha val="10000"/>
            </a:srgbClr>
          </a:solidFill>
          <a:ln w="19050">
            <a:solidFill>
              <a:srgbClr val="2F6B44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4" name="Text 12"/>
          <p:cNvSpPr/>
          <p:nvPr/>
        </p:nvSpPr>
        <p:spPr>
          <a:xfrm>
            <a:off x="857250" y="4433590"/>
            <a:ext cx="10687050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500"/>
              </a:spcAft>
              <a:buNone/>
            </a:pPr>
            <a:r>
              <a:rPr lang="en-US" sz="1100" b="1" dirty="0">
                <a:solidFill>
                  <a:srgbClr val="2F6B44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EXTENSION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857250" y="4697016"/>
            <a:ext cx="10687050" cy="58906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320"/>
              </a:lnSpc>
              <a:buNone/>
            </a:pPr>
            <a:r>
              <a:rPr lang="en-US" sz="1600" dirty="0">
                <a:solidFill>
                  <a:srgbClr val="2B2018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写别人，不写自己——用第三人称，再加上钱：</a:t>
            </a:r>
            <a:r>
              <a:rPr lang="en-US" sz="1600" b="1" dirty="0">
                <a:solidFill>
                  <a:srgbClr val="2F6B44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他们一家四口一共花了……块。</a:t>
            </a:r>
            <a:r>
              <a:rPr lang="en-US" sz="1600" dirty="0">
                <a:solidFill>
                  <a:srgbClr val="2B2018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然后评一句：挺便宜的 还是 挺贵的？用「因为……所以……」说为什么。</a:t>
            </a:r>
            <a:r>
              <a:rPr lang="en-US" sz="1600" b="1" dirty="0">
                <a:solidFill>
                  <a:srgbClr val="2F6B44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不看总览页。</a:t>
            </a:r>
            <a:endParaRPr lang="en-US" sz="16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AF6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12192000" cy="542925"/>
          </a:xfrm>
          <a:prstGeom prst="rect">
            <a:avLst/>
          </a:prstGeom>
          <a:solidFill>
            <a:srgbClr val="FAF6E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Shape 1"/>
          <p:cNvSpPr/>
          <p:nvPr/>
        </p:nvSpPr>
        <p:spPr>
          <a:xfrm>
            <a:off x="0" y="538163"/>
            <a:ext cx="12192000" cy="0"/>
          </a:xfrm>
          <a:prstGeom prst="line">
            <a:avLst/>
          </a:prstGeom>
          <a:noFill/>
          <a:ln w="9525">
            <a:solidFill>
              <a:srgbClr val="E0CFB3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7950" y="176213"/>
            <a:ext cx="2644893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7A4426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20–43 MIN · FLEXIBLE PRACTICE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386435" y="166688"/>
            <a:ext cx="1504840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5C4A37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游戏 · 找不同 · 5 分钟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11183838" y="176213"/>
            <a:ext cx="510216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7A6952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22 / 23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507950" y="0"/>
            <a:ext cx="11176099" cy="31700"/>
          </a:xfrm>
          <a:prstGeom prst="rect">
            <a:avLst/>
          </a:prstGeom>
          <a:solidFill>
            <a:srgbClr val="7A4426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609600" y="1083915"/>
            <a:ext cx="11192256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7A4426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游戏 · ODD ONE OUT · 用中文说为什么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609600" y="1283940"/>
            <a:ext cx="10972800" cy="925711"/>
          </a:xfrm>
          <a:prstGeom prst="roundRect">
            <a:avLst>
              <a:gd name="adj" fmla="val 8232"/>
            </a:avLst>
          </a:prstGeom>
          <a:solidFill>
            <a:srgbClr val="F1E8D8"/>
          </a:solidFill>
          <a:ln w="9525">
            <a:solidFill>
              <a:srgbClr val="E0CFB3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" name="Text 8"/>
          <p:cNvSpPr/>
          <p:nvPr/>
        </p:nvSpPr>
        <p:spPr>
          <a:xfrm>
            <a:off x="822275" y="1445865"/>
            <a:ext cx="297841" cy="3504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60"/>
              </a:lnSpc>
              <a:buNone/>
            </a:pPr>
            <a:r>
              <a:rPr lang="en-US" sz="2300" b="1" dirty="0">
                <a:solidFill>
                  <a:srgbClr val="7A4426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1</a:t>
            </a:r>
            <a:endParaRPr lang="en-US" sz="2300" dirty="0"/>
          </a:p>
        </p:txBody>
      </p:sp>
      <p:sp>
        <p:nvSpPr>
          <p:cNvPr id="11" name="Text 9"/>
          <p:cNvSpPr/>
          <p:nvPr/>
        </p:nvSpPr>
        <p:spPr>
          <a:xfrm>
            <a:off x="1279327" y="1445865"/>
            <a:ext cx="1974372" cy="2844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240"/>
              </a:lnSpc>
              <a:buNone/>
            </a:pPr>
            <a:r>
              <a:rPr lang="en-US" sz="1600" dirty="0">
                <a:solidFill>
                  <a:srgbClr val="2B2018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龙虾 · 三文鱼 · 奶酪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1279327" y="1781026"/>
            <a:ext cx="1974372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400"/>
              </a:spcBef>
              <a:buNone/>
            </a:pPr>
            <a:r>
              <a:rPr lang="en-US" sz="1500" b="1" dirty="0">
                <a:solidFill>
                  <a:srgbClr val="2F6B44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奶酪不是海鲜。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609600" y="2362051"/>
            <a:ext cx="10972800" cy="925711"/>
          </a:xfrm>
          <a:prstGeom prst="roundRect">
            <a:avLst>
              <a:gd name="adj" fmla="val 8232"/>
            </a:avLst>
          </a:prstGeom>
          <a:solidFill>
            <a:srgbClr val="F1E8D8"/>
          </a:solidFill>
          <a:ln w="9525">
            <a:solidFill>
              <a:srgbClr val="E0CFB3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4" name="Text 12"/>
          <p:cNvSpPr/>
          <p:nvPr/>
        </p:nvSpPr>
        <p:spPr>
          <a:xfrm>
            <a:off x="822275" y="2523976"/>
            <a:ext cx="297841" cy="3504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60"/>
              </a:lnSpc>
              <a:buNone/>
            </a:pPr>
            <a:r>
              <a:rPr lang="en-US" sz="2300" b="1" dirty="0">
                <a:solidFill>
                  <a:srgbClr val="7A4426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2</a:t>
            </a:r>
            <a:endParaRPr lang="en-US" sz="2300" dirty="0"/>
          </a:p>
        </p:txBody>
      </p:sp>
      <p:sp>
        <p:nvSpPr>
          <p:cNvPr id="15" name="Text 13"/>
          <p:cNvSpPr/>
          <p:nvPr/>
        </p:nvSpPr>
        <p:spPr>
          <a:xfrm>
            <a:off x="1279327" y="2523976"/>
            <a:ext cx="1763970" cy="2844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240"/>
              </a:lnSpc>
              <a:buNone/>
            </a:pPr>
            <a:r>
              <a:rPr lang="en-US" sz="1600" dirty="0">
                <a:solidFill>
                  <a:srgbClr val="2B2018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甜品 · 蛋糕 · 牛排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1279327" y="2859137"/>
            <a:ext cx="176397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400"/>
              </a:spcBef>
              <a:buNone/>
            </a:pPr>
            <a:r>
              <a:rPr lang="en-US" sz="1500" b="1" dirty="0">
                <a:solidFill>
                  <a:srgbClr val="2F6B44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牛排不是甜品。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609600" y="3440162"/>
            <a:ext cx="10972800" cy="925711"/>
          </a:xfrm>
          <a:prstGeom prst="roundRect">
            <a:avLst>
              <a:gd name="adj" fmla="val 8232"/>
            </a:avLst>
          </a:prstGeom>
          <a:solidFill>
            <a:srgbClr val="F1E8D8"/>
          </a:solidFill>
          <a:ln w="9525">
            <a:solidFill>
              <a:srgbClr val="E0CFB3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8" name="Text 16"/>
          <p:cNvSpPr/>
          <p:nvPr/>
        </p:nvSpPr>
        <p:spPr>
          <a:xfrm>
            <a:off x="822275" y="3602087"/>
            <a:ext cx="297841" cy="3504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60"/>
              </a:lnSpc>
              <a:buNone/>
            </a:pPr>
            <a:r>
              <a:rPr lang="en-US" sz="2300" b="1" dirty="0">
                <a:solidFill>
                  <a:srgbClr val="7A4426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3</a:t>
            </a:r>
            <a:endParaRPr lang="en-US" sz="2300" dirty="0"/>
          </a:p>
        </p:txBody>
      </p:sp>
      <p:sp>
        <p:nvSpPr>
          <p:cNvPr id="19" name="Text 17"/>
          <p:cNvSpPr/>
          <p:nvPr/>
        </p:nvSpPr>
        <p:spPr>
          <a:xfrm>
            <a:off x="1279327" y="3602087"/>
            <a:ext cx="2184773" cy="2844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240"/>
              </a:lnSpc>
              <a:buNone/>
            </a:pPr>
            <a:r>
              <a:rPr lang="en-US" sz="1600" dirty="0">
                <a:solidFill>
                  <a:srgbClr val="2B2018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烤牛排 · 炒面 · 冰淇淋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1279327" y="3937248"/>
            <a:ext cx="2184773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400"/>
              </a:spcBef>
              <a:buNone/>
            </a:pPr>
            <a:r>
              <a:rPr lang="en-US" sz="1500" b="1" dirty="0">
                <a:solidFill>
                  <a:srgbClr val="2F6B44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冰淇淋是甜品。</a:t>
            </a:r>
            <a:endParaRPr lang="en-US" sz="1500" dirty="0"/>
          </a:p>
        </p:txBody>
      </p:sp>
      <p:sp>
        <p:nvSpPr>
          <p:cNvPr id="21" name="Text 19"/>
          <p:cNvSpPr/>
          <p:nvPr/>
        </p:nvSpPr>
        <p:spPr>
          <a:xfrm>
            <a:off x="609600" y="4518273"/>
            <a:ext cx="10972800" cy="925711"/>
          </a:xfrm>
          <a:prstGeom prst="roundRect">
            <a:avLst>
              <a:gd name="adj" fmla="val 8232"/>
            </a:avLst>
          </a:prstGeom>
          <a:solidFill>
            <a:srgbClr val="F1E8D8"/>
          </a:solidFill>
          <a:ln w="9525">
            <a:solidFill>
              <a:srgbClr val="E0CFB3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2" name="Text 20"/>
          <p:cNvSpPr/>
          <p:nvPr/>
        </p:nvSpPr>
        <p:spPr>
          <a:xfrm>
            <a:off x="822275" y="4680198"/>
            <a:ext cx="297841" cy="3504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60"/>
              </a:lnSpc>
              <a:buNone/>
            </a:pPr>
            <a:r>
              <a:rPr lang="en-US" sz="2300" b="1" dirty="0">
                <a:solidFill>
                  <a:srgbClr val="7A4426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4</a:t>
            </a:r>
            <a:endParaRPr lang="en-US" sz="2300" dirty="0"/>
          </a:p>
        </p:txBody>
      </p:sp>
      <p:sp>
        <p:nvSpPr>
          <p:cNvPr id="23" name="Text 21"/>
          <p:cNvSpPr/>
          <p:nvPr/>
        </p:nvSpPr>
        <p:spPr>
          <a:xfrm>
            <a:off x="1279327" y="4680198"/>
            <a:ext cx="5052060" cy="2844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240"/>
              </a:lnSpc>
              <a:buNone/>
            </a:pPr>
            <a:r>
              <a:rPr lang="en-US" sz="1600" b="1" dirty="0">
                <a:solidFill>
                  <a:srgbClr val="2B2018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加难</a:t>
            </a:r>
            <a:r>
              <a:rPr lang="en-US" sz="1600" dirty="0">
                <a:solidFill>
                  <a:srgbClr val="2B2018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：理由里一定要有「因为」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1279327" y="5015359"/>
            <a:ext cx="505206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400"/>
              </a:spcBef>
              <a:buNone/>
            </a:pPr>
            <a:r>
              <a:rPr lang="en-US" sz="1500" b="1" dirty="0">
                <a:solidFill>
                  <a:srgbClr val="2F6B44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后面几轮不许重复前面用过的分类——要找第二个不同点。</a:t>
            </a:r>
            <a:endParaRPr lang="en-US" sz="1500" dirty="0"/>
          </a:p>
        </p:txBody>
      </p:sp>
      <p:sp>
        <p:nvSpPr>
          <p:cNvPr id="25" name="Text 23"/>
          <p:cNvSpPr/>
          <p:nvPr/>
        </p:nvSpPr>
        <p:spPr>
          <a:xfrm>
            <a:off x="609600" y="5570934"/>
            <a:ext cx="1119225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00"/>
              </a:lnSpc>
              <a:spcBef>
                <a:spcPts val="1000"/>
              </a:spcBef>
              <a:buNone/>
            </a:pPr>
            <a:r>
              <a:rPr lang="en-US" sz="1200" dirty="0">
                <a:solidFill>
                  <a:srgbClr val="7A6952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六张图卡打印好放在黑板上。</a:t>
            </a:r>
            <a:endParaRPr lang="en-US" sz="12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AF6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12192000" cy="542925"/>
          </a:xfrm>
          <a:prstGeom prst="rect">
            <a:avLst/>
          </a:prstGeom>
          <a:solidFill>
            <a:srgbClr val="FAF6E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Shape 1"/>
          <p:cNvSpPr/>
          <p:nvPr/>
        </p:nvSpPr>
        <p:spPr>
          <a:xfrm>
            <a:off x="0" y="538163"/>
            <a:ext cx="12192000" cy="0"/>
          </a:xfrm>
          <a:prstGeom prst="line">
            <a:avLst/>
          </a:prstGeom>
          <a:noFill/>
          <a:ln w="9525">
            <a:solidFill>
              <a:srgbClr val="E0CFB3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7950" y="176213"/>
            <a:ext cx="1785830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7A4426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43–50 MIN · PLENARY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2544217" y="166688"/>
            <a:ext cx="983998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5C4A37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小结 · Plenary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11184285" y="176213"/>
            <a:ext cx="509760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7A6952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23 / 23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507950" y="0"/>
            <a:ext cx="11176099" cy="31700"/>
          </a:xfrm>
          <a:prstGeom prst="rect">
            <a:avLst/>
          </a:prstGeom>
          <a:solidFill>
            <a:srgbClr val="7A4426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609600" y="2139702"/>
            <a:ext cx="11192256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7A4426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小结 · 43–50 分钟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609600" y="2339727"/>
            <a:ext cx="10972800" cy="2404021"/>
          </a:xfrm>
          <a:prstGeom prst="roundRect">
            <a:avLst>
              <a:gd name="adj" fmla="val 5283"/>
            </a:avLst>
          </a:prstGeom>
          <a:solidFill>
            <a:srgbClr val="F1E8D8"/>
          </a:solidFill>
          <a:ln w="19050">
            <a:solidFill>
              <a:srgbClr val="C9B392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" name="Text 8"/>
          <p:cNvSpPr/>
          <p:nvPr/>
        </p:nvSpPr>
        <p:spPr>
          <a:xfrm>
            <a:off x="933450" y="2587377"/>
            <a:ext cx="10531602" cy="3454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20"/>
              </a:lnSpc>
              <a:buNone/>
            </a:pPr>
            <a:r>
              <a:rPr lang="en-US" sz="1700" b="1" dirty="0">
                <a:solidFill>
                  <a:srgbClr val="7A4426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回看目标</a:t>
            </a:r>
            <a:r>
              <a:rPr lang="en-US" sz="1700" dirty="0">
                <a:solidFill>
                  <a:srgbClr val="2B2018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· 全班一起用中文念三条。</a:t>
            </a:r>
            <a:endParaRPr lang="en-US" sz="1700" dirty="0"/>
          </a:p>
        </p:txBody>
      </p:sp>
      <p:sp>
        <p:nvSpPr>
          <p:cNvPr id="11" name="Text 9"/>
          <p:cNvSpPr/>
          <p:nvPr/>
        </p:nvSpPr>
        <p:spPr>
          <a:xfrm>
            <a:off x="933450" y="2932807"/>
            <a:ext cx="10531602" cy="3454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20"/>
              </a:lnSpc>
              <a:buNone/>
            </a:pPr>
            <a:r>
              <a:rPr lang="en-US" sz="1700" b="1" dirty="0">
                <a:solidFill>
                  <a:srgbClr val="7A4426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自评</a:t>
            </a:r>
            <a:r>
              <a:rPr lang="en-US" sz="1700" dirty="0">
                <a:solidFill>
                  <a:srgbClr val="2B2018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· 白板上写 👍 / 😐 / 👎，一条一条举起来。</a:t>
            </a:r>
            <a:endParaRPr lang="en-US" sz="1700" dirty="0"/>
          </a:p>
        </p:txBody>
      </p:sp>
      <p:sp>
        <p:nvSpPr>
          <p:cNvPr id="12" name="Text 10"/>
          <p:cNvSpPr/>
          <p:nvPr/>
        </p:nvSpPr>
        <p:spPr>
          <a:xfrm>
            <a:off x="933450" y="3278237"/>
            <a:ext cx="10531602" cy="3454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20"/>
              </a:lnSpc>
              <a:buNone/>
            </a:pPr>
            <a:r>
              <a:rPr lang="en-US" sz="1700" b="1" dirty="0">
                <a:solidFill>
                  <a:srgbClr val="7A4426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出门条</a:t>
            </a:r>
            <a:r>
              <a:rPr lang="en-US" sz="1700" dirty="0">
                <a:solidFill>
                  <a:srgbClr val="2B2018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· 翻译成中文。</a:t>
            </a:r>
            <a:endParaRPr lang="en-US" sz="1700" dirty="0"/>
          </a:p>
        </p:txBody>
      </p:sp>
      <p:sp>
        <p:nvSpPr>
          <p:cNvPr id="13" name="Text 11"/>
          <p:cNvSpPr/>
          <p:nvPr/>
        </p:nvSpPr>
        <p:spPr>
          <a:xfrm>
            <a:off x="933450" y="3623667"/>
            <a:ext cx="10531602" cy="3454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20"/>
              </a:lnSpc>
              <a:buNone/>
            </a:pPr>
            <a:r>
              <a:rPr lang="en-US" sz="1700" b="1" dirty="0">
                <a:solidFill>
                  <a:srgbClr val="7A4426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下节课</a:t>
            </a:r>
            <a:r>
              <a:rPr lang="en-US" sz="1700" dirty="0">
                <a:solidFill>
                  <a:srgbClr val="2B2018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· 我们用二百块去买菜——要买给你们一家人吃。</a:t>
            </a:r>
            <a:endParaRPr lang="en-US" sz="1700" dirty="0"/>
          </a:p>
        </p:txBody>
      </p:sp>
      <p:sp>
        <p:nvSpPr>
          <p:cNvPr id="14" name="Text 12"/>
          <p:cNvSpPr/>
          <p:nvPr/>
        </p:nvSpPr>
        <p:spPr>
          <a:xfrm>
            <a:off x="933450" y="4096048"/>
            <a:ext cx="10531602" cy="4000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150"/>
              </a:lnSpc>
              <a:spcBef>
                <a:spcPts val="1000"/>
              </a:spcBef>
              <a:buNone/>
            </a:pPr>
            <a:r>
              <a:rPr lang="en-US" sz="2100" dirty="0">
                <a:solidFill>
                  <a:srgbClr val="2B2018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出门条：翻译成中文 —— </a:t>
            </a:r>
            <a:r>
              <a:rPr lang="en-US" sz="2100" b="1" i="1" dirty="0">
                <a:solidFill>
                  <a:srgbClr val="2B2018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We all ate until we were very full.</a:t>
            </a:r>
            <a:endParaRPr lang="en-US" sz="2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23</Slides>
  <Notes>23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23</vt:i4>
      </vt:variant>
    </vt:vector>
  </HeadingPairs>
  <TitlesOfParts>
    <vt:vector size="2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2026-09-15T00:20:20Z</dcterms:created>
  <dcterms:modified xsi:type="dcterms:W3CDTF">2026-09-15T00:20:20Z</dcterms:modified>
</cp:coreProperties>
</file>