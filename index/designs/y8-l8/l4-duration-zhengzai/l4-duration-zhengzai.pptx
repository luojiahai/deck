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21920" y="1905000"/>
            <a:ext cx="12435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4 OF 8 · Y8 UNIT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-121920" y="2241500"/>
            <a:ext cx="1243584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0"/>
              </a:spcBef>
              <a:buNone/>
            </a:pPr>
            <a:r>
              <a:rPr lang="en-US" sz="4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时间长度·正在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-121920" y="3162151"/>
            <a:ext cx="1243584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800"/>
              </a:spcBef>
              <a:buNone/>
            </a:pPr>
            <a:r>
              <a:rPr lang="en-US" sz="16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Duration Q&amp;A + 正在 Present Continuous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-121920" y="3676501"/>
            <a:ext cx="124358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8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  ·  50 mins  ·  Speaking + Writing  ·  轻松学中文 Book 2 · p.71, 76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0221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DURATION Q&amp;A + 正在</a:t>
            </a:r>
            <a:pPr algn="l" indent="0" marL="0">
              <a:buNone/>
            </a:pP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93675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复习 · L3 Duration + Text 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034951"/>
            <a:ext cx="115550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Recap Lesson 3's duration pattern and Text 1's family facts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387376"/>
            <a:ext cx="5575399" cy="1403747"/>
          </a:xfrm>
          <a:prstGeom prst="roundRect">
            <a:avLst>
              <a:gd name="adj" fmla="val 723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18976" y="1523851"/>
            <a:ext cx="53049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 WARM-UP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18976" y="1761976"/>
            <a:ext cx="530496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gives a sport + duration — write the full sentence and hold up your board: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8976" y="2254597"/>
            <a:ext cx="5200948" cy="400050"/>
          </a:xfrm>
          <a:prstGeom prst="roundRect">
            <a:avLst>
              <a:gd name="adj" fmla="val 19048"/>
            </a:avLst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55452" y="2340322"/>
            <a:ext cx="3368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87202" y="2364135"/>
            <a:ext cx="6527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52699" y="2340322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半个小时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14550" y="2364135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43150" y="2340322"/>
            <a:ext cx="16838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她每天游半个小时泳。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84850" y="1387376"/>
            <a:ext cx="5575399" cy="1403747"/>
          </a:xfrm>
          <a:prstGeom prst="roundRect">
            <a:avLst>
              <a:gd name="adj" fmla="val 723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72076" y="1523851"/>
            <a:ext cx="53049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RECALL · TEXT 1 — GAO LI'S FAMILY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72076" y="1761976"/>
            <a:ext cx="530496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6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Turn and tell your partner: in Text 1, what sport does Gao Li's family play, and how long?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72076" y="2292697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92652" y="2254597"/>
            <a:ext cx="29784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for duration words!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92652" y="2454622"/>
            <a:ext cx="297840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Numbers + 小时 — how long is the sentence saying?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1750" y="2943523"/>
            <a:ext cx="11328499" cy="467171"/>
          </a:xfrm>
          <a:prstGeom prst="rect">
            <a:avLst/>
          </a:prstGeom>
          <a:solidFill>
            <a:srgbClr val="F5E8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55563" y="2943523"/>
            <a:ext cx="0" cy="467171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2526" y="3070473"/>
            <a:ext cx="110920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"Yesterday you could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make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 duration statement. Today you'll learn to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someone else how long they do a sport — and answer for yourself."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0475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DURATION Q&amp;A + 正在</a:t>
            </a:r>
            <a:pPr algn="l" indent="0" marL="0">
              <a:buNone/>
            </a:pP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SC · 8–10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93675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136600"/>
            <a:ext cx="11328499" cy="697557"/>
          </a:xfrm>
          <a:prstGeom prst="rect">
            <a:avLst/>
          </a:prstGeom>
          <a:solidFill>
            <a:srgbClr val="F5E8C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5563" y="1136600"/>
            <a:ext cx="0" cy="697557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2526" y="1263551"/>
            <a:ext cx="1109206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2526" y="1476226"/>
            <a:ext cx="11092065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</a:t>
            </a:r>
            <a:pPr algn="l" indent="0" marL="0">
              <a:lnSpc>
                <a:spcPts val="1820"/>
              </a:lnSpc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and answer how long someone does a sport</a:t>
            </a:r>
            <a:pPr algn="l" indent="0" marL="0">
              <a:lnSpc>
                <a:spcPts val="1820"/>
              </a:lnSpc>
              <a:spcBef>
                <a:spcPts val="400"/>
              </a:spcBef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and to describe what people are doing right now.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1750" y="1986558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1851" y="1986558"/>
            <a:ext cx="547316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ask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你每天/每个星期打几个小时 + sport？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answer with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duration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1750" y="2301329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1851" y="2301329"/>
            <a:ext cx="606247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write a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verb + duration + object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sentence for any sport learned so far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1750" y="2616101"/>
            <a:ext cx="2072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1851" y="2616101"/>
            <a:ext cx="5079992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describe what someone is doing using </a:t>
            </a:r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(zhèngzài)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sport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1750" y="2981771"/>
            <a:ext cx="11328499" cy="688777"/>
          </a:xfrm>
          <a:prstGeom prst="roundRect">
            <a:avLst>
              <a:gd name="adj" fmla="val 11063"/>
            </a:avLst>
          </a:prstGeom>
          <a:solidFill>
            <a:srgbClr val="EA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53951" y="3168997"/>
            <a:ext cx="233172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🎯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34951" y="3127772"/>
            <a:ext cx="47953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call: </a:t>
            </a:r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你每天打几个小时网球？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34951" y="3362623"/>
            <a:ext cx="47953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Let a student attempt or guess — then reveal this is exactly today's target question.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0636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DURATION Q&amp;A + 正在</a:t>
            </a:r>
            <a:pPr algn="l" indent="0" marL="0">
              <a:buNone/>
            </a:pP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VOCABULARY NOTE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93675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Vocabulary Note · 词汇笔记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161901"/>
            <a:ext cx="4317950" cy="774502"/>
          </a:xfrm>
          <a:prstGeom prst="roundRect">
            <a:avLst>
              <a:gd name="adj" fmla="val 9839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451" y="1263402"/>
            <a:ext cx="4041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几个小时</a:t>
            </a:r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5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jǐ ge xiǎoshí</a:t>
            </a:r>
            <a:pPr algn="l" indent="0" marL="0">
              <a:buNone/>
            </a:pPr>
            <a:r>
              <a:rPr lang="en-US" sz="15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5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 how many hours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1750" y="2139553"/>
            <a:ext cx="1052513" cy="882402"/>
          </a:xfrm>
          <a:prstGeom prst="roundRect">
            <a:avLst>
              <a:gd name="adj" fmla="val 11514"/>
            </a:avLst>
          </a:prstGeom>
          <a:solidFill>
            <a:srgbClr val="F5E8CC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05607" y="2260104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79400" y="2739479"/>
            <a:ext cx="5683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many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11213" y="2423517"/>
            <a:ext cx="1487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84015" y="2139553"/>
            <a:ext cx="1355229" cy="882402"/>
          </a:xfrm>
          <a:prstGeom prst="roundRect">
            <a:avLst>
              <a:gd name="adj" fmla="val 11514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409230" y="2260104"/>
            <a:ext cx="31089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131665" y="2739479"/>
            <a:ext cx="87712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(measure word)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66195" y="2423517"/>
            <a:ext cx="1487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38996" y="2139553"/>
            <a:ext cx="1104900" cy="882402"/>
          </a:xfrm>
          <a:prstGeom prst="roundRect">
            <a:avLst>
              <a:gd name="adj" fmla="val 11514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886646" y="2260104"/>
            <a:ext cx="62179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小时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068217" y="2739479"/>
            <a:ext cx="2513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hour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70847" y="2437805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201096" y="2385417"/>
            <a:ext cx="113990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几个小时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31750" y="3225105"/>
            <a:ext cx="22345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3225" y="3225105"/>
            <a:ext cx="3950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几 </a:t>
            </a:r>
            <a:pPr algn="l" indent="0" marL="0"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(how many)</a:t>
            </a:r>
            <a:pPr algn="l" indent="0" marL="0">
              <a:buNone/>
            </a:pPr>
            <a:r>
              <a:rPr lang="en-US" sz="12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is review from earlier units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03225" y="3459956"/>
            <a:ext cx="395086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 it combines with 小时 to ask about duration specifically.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6308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DURATION Q&amp;A + 正在</a:t>
            </a:r>
            <a:pPr algn="l" indent="0" marL="0">
              <a:buNone/>
            </a:pP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Q&amp;A PATTERN + 正在 RECAP · 10–20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93675"/>
            <a:ext cx="1155506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Key Sentence Pattern · 关键句型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31750" y="1063526"/>
            <a:ext cx="5575399" cy="2806303"/>
          </a:xfrm>
          <a:prstGeom prst="roundRect">
            <a:avLst>
              <a:gd name="adj" fmla="val 362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8976" y="1200001"/>
            <a:ext cx="530496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DURATION Q&amp;A · 提问时长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8976" y="1457176"/>
            <a:ext cx="5200948" cy="361950"/>
          </a:xfrm>
          <a:prstGeom prst="roundRect">
            <a:avLst>
              <a:gd name="adj" fmla="val 2105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5927" y="1533376"/>
            <a:ext cx="50459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你每天/每个星期 + verb + 几个小时 + object？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8976" y="1895326"/>
            <a:ext cx="5200948" cy="361950"/>
          </a:xfrm>
          <a:prstGeom prst="roundRect">
            <a:avLst>
              <a:gd name="adj" fmla="val 2105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5927" y="1971526"/>
            <a:ext cx="50459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我每天/每个星期 + verb + duration + object。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8976" y="2333476"/>
            <a:ext cx="5200948" cy="549176"/>
          </a:xfrm>
          <a:prstGeom prst="roundRect">
            <a:avLst>
              <a:gd name="adj" fmla="val 13875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5452" y="2419201"/>
            <a:ext cx="50265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你每天</a:t>
            </a:r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跑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几个小时步？我每天</a:t>
            </a:r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跑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一个小时步。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5452" y="2654052"/>
            <a:ext cx="5026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many hours do you jog every day? → I jog for 1 hour every day.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8976" y="2958852"/>
            <a:ext cx="5200948" cy="549176"/>
          </a:xfrm>
          <a:prstGeom prst="roundRect">
            <a:avLst>
              <a:gd name="adj" fmla="val 13875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5452" y="3044577"/>
            <a:ext cx="50265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你每个星期</a:t>
            </a:r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几个小时网球？我每个星期</a:t>
            </a:r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三个小时网球。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5452" y="3279428"/>
            <a:ext cx="5026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many hours a week do you play tennis? → I play tennis for 3 hours a week.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84850" y="1063526"/>
            <a:ext cx="5575399" cy="2806303"/>
          </a:xfrm>
          <a:prstGeom prst="roundRect">
            <a:avLst>
              <a:gd name="adj" fmla="val 362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72076" y="1200001"/>
            <a:ext cx="530496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 RECAP · 现在进行时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72076" y="1457176"/>
            <a:ext cx="5200948" cy="361950"/>
          </a:xfrm>
          <a:prstGeom prst="roundRect">
            <a:avLst>
              <a:gd name="adj" fmla="val 2105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499027" y="1533376"/>
            <a:ext cx="504598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Subject + </a:t>
            </a:r>
            <a:pPr algn="l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+ Verb (+ Object) </a:t>
            </a:r>
            <a:pPr algn="l" indent="0" marL="0">
              <a:buNone/>
            </a:pPr>
            <a:r>
              <a:rPr lang="en-US" sz="900" i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 "is [verb]-ing right now"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72076" y="1895326"/>
            <a:ext cx="5200948" cy="568226"/>
          </a:xfrm>
          <a:prstGeom prst="roundRect">
            <a:avLst>
              <a:gd name="adj" fmla="val 13410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508552" y="1981051"/>
            <a:ext cx="5026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</a:t>
            </a:r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08552" y="2234952"/>
            <a:ext cx="5026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He is playing basketball right now.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72076" y="2539752"/>
            <a:ext cx="5200948" cy="568226"/>
          </a:xfrm>
          <a:prstGeom prst="roundRect">
            <a:avLst>
              <a:gd name="adj" fmla="val 13410"/>
            </a:avLst>
          </a:prstGeom>
          <a:solidFill>
            <a:srgbClr val="FEFCF7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508552" y="2625477"/>
            <a:ext cx="5026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</a:t>
            </a:r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跑步。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08552" y="2879378"/>
            <a:ext cx="5026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She is jogging right now.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72076" y="3184178"/>
            <a:ext cx="5200948" cy="549176"/>
          </a:xfrm>
          <a:prstGeom prst="roundRect">
            <a:avLst>
              <a:gd name="adj" fmla="val 13875"/>
            </a:avLst>
          </a:prstGeom>
          <a:solidFill>
            <a:srgbClr val="FBF0EE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508552" y="3269903"/>
            <a:ext cx="502655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</a:t>
            </a:r>
            <a:pPr algn="l" indent="0" marL="0">
              <a:buNone/>
            </a:pPr>
            <a:r>
              <a:rPr lang="en-US" sz="12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打乒乓球吗？不，我</a:t>
            </a:r>
            <a:pPr algn="l" indent="0" marL="0">
              <a:buNone/>
            </a:pPr>
            <a:r>
              <a:rPr lang="en-US" sz="12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写作业！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08552" y="3504754"/>
            <a:ext cx="5026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Are you playing ping-pong right now? No, I'm doing homework! </a:t>
            </a:r>
            <a:pPr algn="l" indent="0" marL="0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SILLY · PAUSE FOR REACTIONS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3542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DURATION Q&amp;A + 正在</a:t>
            </a:r>
            <a:pPr algn="l" indent="0" marL="0">
              <a:buNone/>
            </a:pP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93675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CFU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034951"/>
            <a:ext cx="11555069" cy="2158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your answer on your mini whiteboard </a:t>
            </a:r>
            <a:pPr algn="l" indent="0" marL="0">
              <a:spcBef>
                <a:spcPts val="400"/>
              </a:spcBef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WHITEBOARD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750" y="1428452"/>
            <a:ext cx="11328499" cy="671066"/>
          </a:xfrm>
          <a:prstGeom prst="roundRect">
            <a:avLst>
              <a:gd name="adj" fmla="val 1514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4426" y="1564928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2269" y="1615678"/>
            <a:ext cx="7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2227" y="1564928"/>
            <a:ext cx="5384057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 translate: "How many hours do you swim every day?" Write it.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52227" y="1801118"/>
            <a:ext cx="53840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1750" y="2226469"/>
            <a:ext cx="11328499" cy="671066"/>
          </a:xfrm>
          <a:prstGeom prst="roundRect">
            <a:avLst>
              <a:gd name="adj" fmla="val 1514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4426" y="2362944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57238" y="2413695"/>
            <a:ext cx="106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227" y="2362944"/>
            <a:ext cx="5877422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correction: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你每天几个小时打网球？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What's wrong with the word order?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52227" y="2599134"/>
            <a:ext cx="58774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1750" y="3024485"/>
            <a:ext cx="11328499" cy="671066"/>
          </a:xfrm>
          <a:prstGeom prst="roundRect">
            <a:avLst>
              <a:gd name="adj" fmla="val 1514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44426" y="3160961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56791" y="3211711"/>
            <a:ext cx="107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52227" y="3160961"/>
            <a:ext cx="5553623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Make a sentence with </a:t>
            </a:r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</a:t>
            </a:r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about someone playing basketball. Write it.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52227" y="3397151"/>
            <a:ext cx="555362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0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2812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DURATION Q&amp;A + 正在</a:t>
            </a:r>
            <a:pPr algn="l" indent="0" marL="0">
              <a:buNone/>
            </a:pP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↪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ANSWERS REVEALED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93675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Answers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187351"/>
            <a:ext cx="11328499" cy="958751"/>
          </a:xfrm>
          <a:prstGeom prst="roundRect">
            <a:avLst>
              <a:gd name="adj" fmla="val 1059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4426" y="1311176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72269" y="1361926"/>
            <a:ext cx="75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2227" y="1311176"/>
            <a:ext cx="29822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"How many hours do you swim every day?"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52227" y="1549301"/>
            <a:ext cx="298220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你每天游几个小时泳？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52227" y="1860352"/>
            <a:ext cx="29822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nǐ měitiān yóu jǐ ge xiǎoshí yǒng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1750" y="2273052"/>
            <a:ext cx="11328499" cy="958751"/>
          </a:xfrm>
          <a:prstGeom prst="roundRect">
            <a:avLst>
              <a:gd name="adj" fmla="val 1059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4426" y="2396877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57238" y="2447627"/>
            <a:ext cx="106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227" y="2396877"/>
            <a:ext cx="53869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Error correction: 你每天几个小时打网球？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52227" y="2635002"/>
            <a:ext cx="538694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你每天打几个小时网球？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52227" y="2946053"/>
            <a:ext cx="53869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几个小时 comes after the verb, not before — the duration phrase sits between verb and object.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1750" y="3358753"/>
            <a:ext cx="11328499" cy="958751"/>
          </a:xfrm>
          <a:prstGeom prst="roundRect">
            <a:avLst>
              <a:gd name="adj" fmla="val 1059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44426" y="3482578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6791" y="3533329"/>
            <a:ext cx="1073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2227" y="3482578"/>
            <a:ext cx="36085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正在 sentence — someone playing basketball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52227" y="3720703"/>
            <a:ext cx="36085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6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他/她正在打篮球。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2227" y="4031754"/>
            <a:ext cx="36085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tā zhèngzài dǎ lánqiú — He/She is playing basketball right now.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6792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DURATION Q&amp;A + 正在</a:t>
            </a:r>
            <a:pPr algn="l" indent="0" marL="0">
              <a:buNone/>
            </a:pP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WRITTEN DURATION Q&amp;A · 20–28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450"/>
            <a:ext cx="1013371" cy="263426"/>
          </a:xfrm>
          <a:prstGeom prst="roundRect">
            <a:avLst>
              <a:gd name="adj" fmla="val 36122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4150" y="457200"/>
            <a:ext cx="72274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72071" y="381000"/>
            <a:ext cx="311897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Written Duration Q&amp;A Building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1750" y="771525"/>
            <a:ext cx="725835" cy="241102"/>
          </a:xfrm>
          <a:prstGeom prst="roundRect">
            <a:avLst>
              <a:gd name="adj" fmla="val 3946660"/>
            </a:avLst>
          </a:prstGeom>
          <a:solidFill>
            <a:srgbClr val="F5E8CC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806351"/>
            <a:ext cx="4619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59086" y="795338"/>
            <a:ext cx="646956" cy="193477"/>
          </a:xfrm>
          <a:prstGeom prst="roundRect">
            <a:avLst>
              <a:gd name="adj" fmla="val 4918143"/>
            </a:avLst>
          </a:prstGeom>
          <a:solidFill>
            <a:srgbClr val="EA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86036" y="820638"/>
            <a:ext cx="40091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1750" y="1165027"/>
            <a:ext cx="5749826" cy="2104876"/>
          </a:xfrm>
          <a:prstGeom prst="roundRect">
            <a:avLst>
              <a:gd name="adj" fmla="val 482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8976" y="1326952"/>
            <a:ext cx="54828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8976" y="1584127"/>
            <a:ext cx="5375374" cy="1089868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18"/>
              </a:lnSpc>
              <a:buSzPct val="100000"/>
              <a:buChar char="•"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Teacher gives a sport + duration prompt — e.g. </a:t>
            </a:r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网球 / 两个小时</a:t>
            </a:r>
            <a:endParaRPr lang="en-US" sz="1050" dirty="0"/>
          </a:p>
          <a:p>
            <a:pPr algn="l" marL="88900" indent="-88900">
              <a:lnSpc>
                <a:spcPts val="1418"/>
              </a:lnSpc>
              <a:buSzPct val="100000"/>
              <a:buChar char="•"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Students write the </a:t>
            </a:r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full question-and-answer pair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their whiteboards</a:t>
            </a:r>
            <a:endParaRPr lang="en-US" sz="1050" dirty="0"/>
          </a:p>
          <a:p>
            <a:pPr algn="l" marL="88900" indent="-88900">
              <a:lnSpc>
                <a:spcPts val="1418"/>
              </a:lnSpc>
              <a:buSzPct val="100000"/>
              <a:buChar char="•"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Repeat with </a:t>
            </a:r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more prompts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covering different verb types (打 / 踢 / no-verb)</a:t>
            </a:r>
            <a:endParaRPr lang="en-US" sz="1050" dirty="0"/>
          </a:p>
          <a:p>
            <a:pPr algn="l" marL="88900" indent="-88900">
              <a:lnSpc>
                <a:spcPts val="1418"/>
              </a:lnSpc>
              <a:buSzPct val="100000"/>
              <a:buChar char="•"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 Hold up whiteboards after each round for a whole-class check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84727" y="1165027"/>
            <a:ext cx="5375523" cy="975568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408539" y="1165027"/>
            <a:ext cx="0" cy="975568"/>
          </a:xfrm>
          <a:prstGeom prst="line">
            <a:avLst/>
          </a:prstGeom>
          <a:noFill/>
          <a:ln w="47625">
            <a:solidFill>
              <a:srgbClr val="C894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10052" y="1291977"/>
            <a:ext cx="507194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610052" y="1485602"/>
            <a:ext cx="5071946" cy="528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你每天/每个星期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几个小时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我每天/每个星期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[duration]</a:t>
            </a:r>
            <a:pPr algn="l" indent="0" marL="0">
              <a:lnSpc>
                <a:spcPts val="2080"/>
              </a:lnSpc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84727" y="2267545"/>
            <a:ext cx="5375523" cy="1002357"/>
          </a:xfrm>
          <a:prstGeom prst="roundRect">
            <a:avLst>
              <a:gd name="adj" fmla="val 1013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71952" y="2404021"/>
            <a:ext cx="510109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EXAMPLE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71952" y="2642146"/>
            <a:ext cx="510109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网球 </a:t>
            </a:r>
            <a:pPr algn="l"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/</a:t>
            </a:r>
            <a:pPr algn="l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两个小时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71952" y="2902446"/>
            <a:ext cx="5101093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你每天打几个小时网球？我每天打两个小时网球。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1750" y="3422303"/>
            <a:ext cx="3691533" cy="695027"/>
          </a:xfrm>
          <a:prstGeom prst="roundRect">
            <a:avLst>
              <a:gd name="adj" fmla="val 1096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9451" y="3523804"/>
            <a:ext cx="34028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09451" y="3691979"/>
            <a:ext cx="34028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 with blanks stays projected throughout.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50234" y="3422303"/>
            <a:ext cx="3691533" cy="695027"/>
          </a:xfrm>
          <a:prstGeom prst="roundRect">
            <a:avLst>
              <a:gd name="adj" fmla="val 1096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427934" y="3523804"/>
            <a:ext cx="34028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427934" y="3691979"/>
            <a:ext cx="340285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swap 每天 for 每个星期 and adjust the duration without being told to.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68717" y="3422303"/>
            <a:ext cx="3691533" cy="695027"/>
          </a:xfrm>
          <a:prstGeom prst="roundRect">
            <a:avLst>
              <a:gd name="adj" fmla="val 1096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246418" y="3523804"/>
            <a:ext cx="34028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46418" y="3691979"/>
            <a:ext cx="340285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Whole-class whiteboard hold-up after each prompt.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5882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DURATION Q&amp;A + 正在</a:t>
            </a:r>
            <a:pPr algn="l" indent="0" marL="0">
              <a:buNone/>
            </a:pP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正在 PICTURES + TPR · 28–36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450"/>
            <a:ext cx="1034207" cy="263426"/>
          </a:xfrm>
          <a:prstGeom prst="roundRect">
            <a:avLst>
              <a:gd name="adj" fmla="val 3612200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4150" y="457200"/>
            <a:ext cx="74399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92907" y="381000"/>
            <a:ext cx="2899773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 Picture Sentences + TPR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1750" y="771525"/>
            <a:ext cx="725835" cy="241102"/>
          </a:xfrm>
          <a:prstGeom prst="roundRect">
            <a:avLst>
              <a:gd name="adj" fmla="val 3946660"/>
            </a:avLst>
          </a:prstGeom>
          <a:solidFill>
            <a:srgbClr val="F5E8CC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806351"/>
            <a:ext cx="4619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59086" y="795338"/>
            <a:ext cx="1302990" cy="193477"/>
          </a:xfrm>
          <a:prstGeom prst="roundRect">
            <a:avLst>
              <a:gd name="adj" fmla="val 4918143"/>
            </a:avLst>
          </a:prstGeom>
          <a:solidFill>
            <a:srgbClr val="EAF3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86036" y="820638"/>
            <a:ext cx="107007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→ YOU DO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1750" y="1165027"/>
            <a:ext cx="5749826" cy="2806005"/>
          </a:xfrm>
          <a:prstGeom prst="roundRect">
            <a:avLst>
              <a:gd name="adj" fmla="val 362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8976" y="1326952"/>
            <a:ext cx="54828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8976" y="1584127"/>
            <a:ext cx="5375374" cy="1269802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18"/>
              </a:lnSpc>
              <a:buSzPct val="100000"/>
              <a:buChar char="•"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Teacher shows each people-doing-sport picture one at a time — </a:t>
            </a:r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Act.1 (p.71)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+ </a:t>
            </a:r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Act.10 (p.76)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pictures combined into one set</a:t>
            </a:r>
            <a:endParaRPr lang="en-US" sz="1050" dirty="0"/>
          </a:p>
          <a:p>
            <a:pPr algn="l" marL="88900" indent="-88900">
              <a:lnSpc>
                <a:spcPts val="1418"/>
              </a:lnSpc>
              <a:buSzPct val="100000"/>
              <a:buChar char="•"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Students first </a:t>
            </a:r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正在 sentence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describing the picture on their whiteboard</a:t>
            </a:r>
            <a:endParaRPr lang="en-US" sz="1050" dirty="0"/>
          </a:p>
          <a:p>
            <a:pPr algn="l" marL="88900" indent="-88900">
              <a:lnSpc>
                <a:spcPts val="1418"/>
              </a:lnSpc>
              <a:buSzPct val="100000"/>
              <a:buChar char="•"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Once every picture has been written, teacher </a:t>
            </a:r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calls out phrases at random</a:t>
            </a:r>
            <a:endParaRPr lang="en-US" sz="1050" dirty="0"/>
          </a:p>
          <a:p>
            <a:pPr algn="l" marL="88900" indent="-88900">
              <a:lnSpc>
                <a:spcPts val="1418"/>
              </a:lnSpc>
              <a:buSzPct val="100000"/>
              <a:buChar char="•"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 Students </a:t>
            </a:r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 out (TPR)</a:t>
            </a:r>
            <a:pPr algn="l" indent="0" marL="0">
              <a:lnSpc>
                <a:spcPts val="1418"/>
              </a:lnSpc>
              <a:buNone/>
            </a:pPr>
            <a:r>
              <a:rPr lang="en-US" sz="10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matching picture's action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384727" y="1165027"/>
            <a:ext cx="5375523" cy="1806178"/>
          </a:xfrm>
          <a:prstGeom prst="roundRect">
            <a:avLst>
              <a:gd name="adj" fmla="val 4219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62427" y="1266527"/>
            <a:ext cx="512052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TODAY'S SPORT VOCABULARY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62427" y="1523702"/>
            <a:ext cx="5020121" cy="1346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 </a:t>
            </a:r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yóuyǒng</a:t>
            </a:r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</a:t>
            </a:r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swim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打网球 </a:t>
            </a:r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dǎ wǎngqiú</a:t>
            </a:r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</a:t>
            </a:r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play tennis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打篮球 </a:t>
            </a:r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dǎ lánqiú</a:t>
            </a:r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</a:t>
            </a:r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play basketball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打乒乓球 </a:t>
            </a:r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dǎ pīngpāngqiú</a:t>
            </a:r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</a:t>
            </a:r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play table tennis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跑步 </a:t>
            </a:r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pǎobù</a:t>
            </a:r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</a:t>
            </a:r>
            <a:pPr algn="l" indent="0" marL="0">
              <a:buNone/>
            </a:pPr>
            <a:r>
              <a:rPr lang="en-US" sz="900" b="1" dirty="0">
                <a:solidFill>
                  <a:srgbClr val="8B94A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jog / run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84727" y="3098155"/>
            <a:ext cx="5375523" cy="872877"/>
          </a:xfrm>
          <a:prstGeom prst="roundRect">
            <a:avLst>
              <a:gd name="adj" fmla="val 11640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571952" y="3209181"/>
            <a:ext cx="510109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SENTENCE FRAME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571952" y="3402806"/>
            <a:ext cx="51010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他/她 </a:t>
            </a:r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打篮球。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71952" y="3631406"/>
            <a:ext cx="51010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他/她 </a:t>
            </a:r>
            <a:pPr algn="l" indent="0" marL="0">
              <a:buNone/>
            </a:pPr>
            <a:r>
              <a:rPr lang="en-US" sz="13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正在</a:t>
            </a:r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跑步。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31750" y="4123432"/>
            <a:ext cx="3691533" cy="695027"/>
          </a:xfrm>
          <a:prstGeom prst="roundRect">
            <a:avLst>
              <a:gd name="adj" fmla="val 1096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9451" y="4224933"/>
            <a:ext cx="34028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9451" y="4393109"/>
            <a:ext cx="340285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Today's sport vocabulary list stays projected alongside the pictures.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50234" y="4123432"/>
            <a:ext cx="3691533" cy="695027"/>
          </a:xfrm>
          <a:prstGeom prst="roundRect">
            <a:avLst>
              <a:gd name="adj" fmla="val 1096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427934" y="4224933"/>
            <a:ext cx="34028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427934" y="4393109"/>
            <a:ext cx="340285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Add a duration or 跟……一起 detail to your 正在 sentence if you can recall it.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068717" y="4123432"/>
            <a:ext cx="3691533" cy="695027"/>
          </a:xfrm>
          <a:prstGeom prst="roundRect">
            <a:avLst>
              <a:gd name="adj" fmla="val 1096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246418" y="4224933"/>
            <a:ext cx="34028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46418" y="4393109"/>
            <a:ext cx="340285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writes a sentence for every picture; TPR round calls on the whole class.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44112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DURATION Q&amp;A + 正在</a:t>
            </a:r>
            <a:pPr algn="l" indent="0" marL="0">
              <a:buNone/>
            </a:pP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 · PARTNER DIALOGUE · 36–43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450"/>
            <a:ext cx="1034802" cy="263426"/>
          </a:xfrm>
          <a:prstGeom prst="roundRect">
            <a:avLst>
              <a:gd name="adj" fmla="val 361220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4150" y="457200"/>
            <a:ext cx="74460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593503" y="381000"/>
            <a:ext cx="244694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Written Partner Dialogue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1750" y="771525"/>
            <a:ext cx="719584" cy="241102"/>
          </a:xfrm>
          <a:prstGeom prst="roundRect">
            <a:avLst>
              <a:gd name="adj" fmla="val 3946660"/>
            </a:avLst>
          </a:prstGeom>
          <a:solidFill>
            <a:srgbClr val="F5E8CC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806351"/>
            <a:ext cx="4555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52835" y="795338"/>
            <a:ext cx="718096" cy="193477"/>
          </a:xfrm>
          <a:prstGeom prst="roundRect">
            <a:avLst>
              <a:gd name="adj" fmla="val 4918143"/>
            </a:avLst>
          </a:prstGeom>
          <a:solidFill>
            <a:srgbClr val="FBF0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79786" y="820638"/>
            <a:ext cx="4734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1750" y="1165027"/>
            <a:ext cx="5572125" cy="1678484"/>
          </a:xfrm>
          <a:prstGeom prst="roundRect">
            <a:avLst>
              <a:gd name="adj" fmla="val 605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8976" y="1326952"/>
            <a:ext cx="53016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8976" y="1584127"/>
            <a:ext cx="5197673" cy="934641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540"/>
              </a:lnSpc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In pairs, write a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3–4 exchange dialogue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asking and answering about sport duration for </a:t>
            </a:r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two different sports</a:t>
            </a:r>
            <a:endParaRPr lang="en-US" sz="1100" dirty="0"/>
          </a:p>
          <a:p>
            <a:pPr algn="l" marL="88900" indent="-88900">
              <a:lnSpc>
                <a:spcPts val="1540"/>
              </a:lnSpc>
              <a:buSzPct val="100000"/>
              <a:buChar char="•"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Swap papers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your partner to check for errors</a:t>
            </a:r>
            <a:endParaRPr lang="en-US" sz="1100" dirty="0"/>
          </a:p>
          <a:p>
            <a:pPr algn="l" marL="88900" indent="-88900">
              <a:lnSpc>
                <a:spcPts val="1540"/>
              </a:lnSpc>
              <a:buSzPct val="100000"/>
              <a:buChar char="•"/>
            </a:pP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Read your dialogue aloud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together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07026" y="1165027"/>
            <a:ext cx="5553224" cy="1678484"/>
          </a:xfrm>
          <a:prstGeom prst="roundRect">
            <a:avLst>
              <a:gd name="adj" fmla="val 4540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384727" y="1266527"/>
            <a:ext cx="53017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DIALOGUE · REFERENCE STRUCTURE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384727" y="1549003"/>
            <a:ext cx="5197822" cy="1193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你每天跑几个小时步？</a:t>
            </a:r>
            <a:endParaRPr lang="en-US" sz="12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我每天跑一个小时步。</a:t>
            </a:r>
            <a:endParaRPr lang="en-US" sz="12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你每个星期打几个小时网球？</a:t>
            </a:r>
            <a:endParaRPr lang="en-US" sz="12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</a:t>
            </a:r>
            <a:pPr algn="l" indent="0" marL="0">
              <a:buNone/>
            </a:pP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buNone/>
            </a:pPr>
            <a:r>
              <a:rPr lang="en-US" sz="14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我每个星期打三个小时网球。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31750" y="2995910"/>
            <a:ext cx="3691533" cy="695027"/>
          </a:xfrm>
          <a:prstGeom prst="roundRect">
            <a:avLst>
              <a:gd name="adj" fmla="val 1096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9451" y="3097411"/>
            <a:ext cx="34028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9451" y="3265587"/>
            <a:ext cx="340285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model dialogue stays projected as a reference structure to adapt.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50234" y="2995910"/>
            <a:ext cx="3691533" cy="695027"/>
          </a:xfrm>
          <a:prstGeom prst="roundRect">
            <a:avLst>
              <a:gd name="adj" fmla="val 1096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427934" y="3097411"/>
            <a:ext cx="34028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427934" y="3265587"/>
            <a:ext cx="340285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 one 打-sport, one 踢/no-verb sport, and vary 每天 vs 每个星期.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068717" y="2995910"/>
            <a:ext cx="3691533" cy="695027"/>
          </a:xfrm>
          <a:prstGeom prst="roundRect">
            <a:avLst>
              <a:gd name="adj" fmla="val 10964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246418" y="3097411"/>
            <a:ext cx="34028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46418" y="3265587"/>
            <a:ext cx="340285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Partner peer-check for every student; 2–3 pairs read to the class.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4403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DURATION Q&amp;A + 正在</a:t>
            </a:r>
            <a:pPr algn="l" indent="0" marL="0">
              <a:buNone/>
            </a:pP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SENTENCE JUMBLE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406450"/>
            <a:ext cx="688181" cy="263426"/>
          </a:xfrm>
          <a:prstGeom prst="roundRect">
            <a:avLst>
              <a:gd name="adj" fmla="val 361220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84150" y="457200"/>
            <a:ext cx="3910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46882" y="381000"/>
            <a:ext cx="2831461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Sentence Jumble · 造句比赛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1750" y="771525"/>
            <a:ext cx="725984" cy="241102"/>
          </a:xfrm>
          <a:prstGeom prst="roundRect">
            <a:avLst>
              <a:gd name="adj" fmla="val 3946660"/>
            </a:avLst>
          </a:prstGeom>
          <a:solidFill>
            <a:srgbClr val="F5E8CC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68226" y="806351"/>
            <a:ext cx="4620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4 min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59235" y="795338"/>
            <a:ext cx="1221135" cy="193477"/>
          </a:xfrm>
          <a:prstGeom prst="roundRect">
            <a:avLst>
              <a:gd name="adj" fmla="val 4918143"/>
            </a:avLst>
          </a:prstGeom>
          <a:solidFill>
            <a:srgbClr val="FBF0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86185" y="820638"/>
            <a:ext cx="98657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RACE!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31750" y="1114127"/>
            <a:ext cx="4049911" cy="355402"/>
          </a:xfrm>
          <a:prstGeom prst="roundRect">
            <a:avLst>
              <a:gd name="adj" fmla="val 21441"/>
            </a:avLst>
          </a:prstGeom>
          <a:solidFill>
            <a:srgbClr val="F5E8CC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3200" y="1196578"/>
            <a:ext cx="378115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 Order: </a:t>
            </a:r>
            <a:pPr algn="l" indent="0" marL="0">
              <a:buNone/>
            </a:pPr>
            <a:r>
              <a:rPr lang="en-US" sz="9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Subject</a:t>
            </a:r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</a:t>
            </a:r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每天/每个星期</a:t>
            </a:r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Verb → Duration → Object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08612" y="1210866"/>
            <a:ext cx="41465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correct sentence on your mini whiteboard — race to hold it up!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1750" y="1596479"/>
            <a:ext cx="11328499" cy="495300"/>
          </a:xfrm>
          <a:prstGeom prst="roundRect">
            <a:avLst>
              <a:gd name="adj" fmla="val 1538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31750" y="1601242"/>
            <a:ext cx="113284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755487" y="1596479"/>
            <a:ext cx="0" cy="49530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1750" y="2087017"/>
            <a:ext cx="113284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5563" y="1596479"/>
            <a:ext cx="0" cy="495300"/>
          </a:xfrm>
          <a:prstGeom prst="line">
            <a:avLst/>
          </a:prstGeom>
          <a:noFill/>
          <a:ln w="47625">
            <a:solidFill>
              <a:srgbClr val="D475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7076" y="1729829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5480" y="1763167"/>
            <a:ext cx="5282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87177" y="1682204"/>
            <a:ext cx="419100" cy="323850"/>
          </a:xfrm>
          <a:prstGeom prst="roundRect">
            <a:avLst>
              <a:gd name="adj" fmla="val 19608"/>
            </a:avLst>
          </a:prstGeom>
          <a:solidFill>
            <a:srgbClr val="EA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20527" y="1739354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07778" y="1682204"/>
            <a:ext cx="571500" cy="323850"/>
          </a:xfrm>
          <a:prstGeom prst="roundRect">
            <a:avLst>
              <a:gd name="adj" fmla="val 19608"/>
            </a:avLst>
          </a:prstGeom>
          <a:solidFill>
            <a:srgbClr val="F5E8CC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641128" y="1739354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每天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180779" y="1682204"/>
            <a:ext cx="419100" cy="323850"/>
          </a:xfrm>
          <a:prstGeom prst="roundRect">
            <a:avLst>
              <a:gd name="adj" fmla="val 19608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314129" y="1739354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01379" y="1682204"/>
            <a:ext cx="571500" cy="323850"/>
          </a:xfrm>
          <a:prstGeom prst="roundRect">
            <a:avLst>
              <a:gd name="adj" fmla="val 19608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834729" y="1739354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三个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74380" y="1682204"/>
            <a:ext cx="571500" cy="323850"/>
          </a:xfrm>
          <a:prstGeom prst="roundRect">
            <a:avLst>
              <a:gd name="adj" fmla="val 19608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507730" y="1739354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小时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047381" y="1682204"/>
            <a:ext cx="571500" cy="323850"/>
          </a:xfrm>
          <a:prstGeom prst="roundRect">
            <a:avLst>
              <a:gd name="adj" fmla="val 19608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180731" y="1739354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篮球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20382" y="1744117"/>
            <a:ext cx="1425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61632" y="1682204"/>
            <a:ext cx="419100" cy="323850"/>
          </a:xfrm>
          <a:prstGeom prst="roundRect">
            <a:avLst>
              <a:gd name="adj" fmla="val 19608"/>
            </a:avLst>
          </a:prstGeom>
          <a:solidFill>
            <a:srgbClr val="FBF0EE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094982" y="1739354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1750" y="2167979"/>
            <a:ext cx="11328499" cy="495300"/>
          </a:xfrm>
          <a:prstGeom prst="roundRect">
            <a:avLst>
              <a:gd name="adj" fmla="val 1538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31750" y="2172742"/>
            <a:ext cx="113284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755487" y="2167979"/>
            <a:ext cx="0" cy="49530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31750" y="2658517"/>
            <a:ext cx="113284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5563" y="2167979"/>
            <a:ext cx="0" cy="495300"/>
          </a:xfrm>
          <a:prstGeom prst="line">
            <a:avLst/>
          </a:prstGeom>
          <a:noFill/>
          <a:ln w="47625">
            <a:solidFill>
              <a:srgbClr val="D475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7076" y="2301329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35062" y="2334667"/>
            <a:ext cx="7392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87177" y="2253704"/>
            <a:ext cx="419100" cy="323850"/>
          </a:xfrm>
          <a:prstGeom prst="roundRect">
            <a:avLst>
              <a:gd name="adj" fmla="val 19608"/>
            </a:avLst>
          </a:prstGeom>
          <a:solidFill>
            <a:srgbClr val="EA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120527" y="2310854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507778" y="2253704"/>
            <a:ext cx="876300" cy="323850"/>
          </a:xfrm>
          <a:prstGeom prst="roundRect">
            <a:avLst>
              <a:gd name="adj" fmla="val 19608"/>
            </a:avLst>
          </a:prstGeom>
          <a:solidFill>
            <a:srgbClr val="F5E8CC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641128" y="2310854"/>
            <a:ext cx="6217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每个星期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485579" y="2253704"/>
            <a:ext cx="419100" cy="323850"/>
          </a:xfrm>
          <a:prstGeom prst="roundRect">
            <a:avLst>
              <a:gd name="adj" fmla="val 19608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618929" y="2310854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006179" y="2253704"/>
            <a:ext cx="571500" cy="323850"/>
          </a:xfrm>
          <a:prstGeom prst="roundRect">
            <a:avLst>
              <a:gd name="adj" fmla="val 19608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139529" y="2310854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两个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3679180" y="2253704"/>
            <a:ext cx="571500" cy="323850"/>
          </a:xfrm>
          <a:prstGeom prst="roundRect">
            <a:avLst>
              <a:gd name="adj" fmla="val 19608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812530" y="2310854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小时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352181" y="2253704"/>
            <a:ext cx="419100" cy="323850"/>
          </a:xfrm>
          <a:prstGeom prst="roundRect">
            <a:avLst>
              <a:gd name="adj" fmla="val 19608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485531" y="2310854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泳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872782" y="2315617"/>
            <a:ext cx="1425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114032" y="2253704"/>
            <a:ext cx="419100" cy="323850"/>
          </a:xfrm>
          <a:prstGeom prst="roundRect">
            <a:avLst>
              <a:gd name="adj" fmla="val 19608"/>
            </a:avLst>
          </a:prstGeom>
          <a:solidFill>
            <a:srgbClr val="FBF0EE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247382" y="2310854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31750" y="2739479"/>
            <a:ext cx="11328499" cy="495300"/>
          </a:xfrm>
          <a:prstGeom prst="roundRect">
            <a:avLst>
              <a:gd name="adj" fmla="val 1538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431750" y="2744242"/>
            <a:ext cx="113284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55487" y="2739479"/>
            <a:ext cx="0" cy="49530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31750" y="3230017"/>
            <a:ext cx="113284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55563" y="2739479"/>
            <a:ext cx="0" cy="495300"/>
          </a:xfrm>
          <a:prstGeom prst="line">
            <a:avLst/>
          </a:prstGeom>
          <a:noFill/>
          <a:ln w="47625">
            <a:solidFill>
              <a:srgbClr val="D4756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7076" y="2872829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34764" y="2906167"/>
            <a:ext cx="745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87177" y="2825204"/>
            <a:ext cx="419100" cy="323850"/>
          </a:xfrm>
          <a:prstGeom prst="roundRect">
            <a:avLst>
              <a:gd name="adj" fmla="val 19608"/>
            </a:avLst>
          </a:prstGeom>
          <a:solidFill>
            <a:srgbClr val="EA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1120527" y="2882354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507778" y="2825204"/>
            <a:ext cx="571500" cy="323850"/>
          </a:xfrm>
          <a:prstGeom prst="roundRect">
            <a:avLst>
              <a:gd name="adj" fmla="val 19608"/>
            </a:avLst>
          </a:prstGeom>
          <a:solidFill>
            <a:srgbClr val="F5E8CC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1641128" y="2882354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每天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2180779" y="2825204"/>
            <a:ext cx="419100" cy="323850"/>
          </a:xfrm>
          <a:prstGeom prst="roundRect">
            <a:avLst>
              <a:gd name="adj" fmla="val 19608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2314129" y="2882354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2701379" y="2825204"/>
            <a:ext cx="571500" cy="323850"/>
          </a:xfrm>
          <a:prstGeom prst="roundRect">
            <a:avLst>
              <a:gd name="adj" fmla="val 19608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2834729" y="2882354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3374380" y="2825204"/>
            <a:ext cx="571500" cy="323850"/>
          </a:xfrm>
          <a:prstGeom prst="roundRect">
            <a:avLst>
              <a:gd name="adj" fmla="val 19608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3507730" y="2882354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小时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4047381" y="2825204"/>
            <a:ext cx="571500" cy="323850"/>
          </a:xfrm>
          <a:prstGeom prst="roundRect">
            <a:avLst>
              <a:gd name="adj" fmla="val 19608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4180731" y="2882354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网球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4720382" y="2887117"/>
            <a:ext cx="1425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4961632" y="2825204"/>
            <a:ext cx="419100" cy="323850"/>
          </a:xfrm>
          <a:prstGeom prst="roundRect">
            <a:avLst>
              <a:gd name="adj" fmla="val 19608"/>
            </a:avLst>
          </a:prstGeom>
          <a:solidFill>
            <a:srgbClr val="FBF0EE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5094982" y="2882354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431750" y="3310979"/>
            <a:ext cx="11328499" cy="495300"/>
          </a:xfrm>
          <a:prstGeom prst="roundRect">
            <a:avLst>
              <a:gd name="adj" fmla="val 15385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Shape 80"/>
          <p:cNvSpPr/>
          <p:nvPr/>
        </p:nvSpPr>
        <p:spPr>
          <a:xfrm>
            <a:off x="431750" y="3315742"/>
            <a:ext cx="113284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755487" y="3310979"/>
            <a:ext cx="0" cy="49530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31750" y="3801517"/>
            <a:ext cx="11328499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55563" y="3310979"/>
            <a:ext cx="0" cy="495300"/>
          </a:xfrm>
          <a:prstGeom prst="line">
            <a:avLst/>
          </a:prstGeom>
          <a:noFill/>
          <a:ln w="47625">
            <a:solidFill>
              <a:srgbClr val="D4756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57076" y="3444329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734318" y="3477667"/>
            <a:ext cx="7544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987177" y="3396704"/>
            <a:ext cx="419100" cy="323850"/>
          </a:xfrm>
          <a:prstGeom prst="roundRect">
            <a:avLst>
              <a:gd name="adj" fmla="val 19608"/>
            </a:avLst>
          </a:prstGeom>
          <a:solidFill>
            <a:srgbClr val="EAF3F4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1120527" y="3453854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1507778" y="3396704"/>
            <a:ext cx="571500" cy="323850"/>
          </a:xfrm>
          <a:prstGeom prst="roundRect">
            <a:avLst>
              <a:gd name="adj" fmla="val 19608"/>
            </a:avLst>
          </a:prstGeom>
          <a:solidFill>
            <a:srgbClr val="F5E8CC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1641128" y="3453854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每天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2180779" y="3396704"/>
            <a:ext cx="419100" cy="323850"/>
          </a:xfrm>
          <a:prstGeom prst="roundRect">
            <a:avLst>
              <a:gd name="adj" fmla="val 19608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2314129" y="3453854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跑</a:t>
            </a:r>
            <a:endParaRPr lang="en-US" sz="1200" dirty="0"/>
          </a:p>
        </p:txBody>
      </p:sp>
      <p:sp>
        <p:nvSpPr>
          <p:cNvPr id="94" name="Text 92"/>
          <p:cNvSpPr/>
          <p:nvPr/>
        </p:nvSpPr>
        <p:spPr>
          <a:xfrm>
            <a:off x="2701379" y="3396704"/>
            <a:ext cx="571500" cy="323850"/>
          </a:xfrm>
          <a:prstGeom prst="roundRect">
            <a:avLst>
              <a:gd name="adj" fmla="val 19608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2834729" y="3453854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3374380" y="3396704"/>
            <a:ext cx="571500" cy="323850"/>
          </a:xfrm>
          <a:prstGeom prst="roundRect">
            <a:avLst>
              <a:gd name="adj" fmla="val 19608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3507730" y="3453854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小时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4047381" y="3396704"/>
            <a:ext cx="419100" cy="323850"/>
          </a:xfrm>
          <a:prstGeom prst="roundRect">
            <a:avLst>
              <a:gd name="adj" fmla="val 19608"/>
            </a:avLst>
          </a:prstGeom>
          <a:solidFill>
            <a:srgbClr val="EDE7D7"/>
          </a:solidFill>
          <a:ln w="19050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9" name="Text 97"/>
          <p:cNvSpPr/>
          <p:nvPr/>
        </p:nvSpPr>
        <p:spPr>
          <a:xfrm>
            <a:off x="4180731" y="3453854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步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4567982" y="3458617"/>
            <a:ext cx="1425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4809232" y="3396704"/>
            <a:ext cx="419100" cy="323850"/>
          </a:xfrm>
          <a:prstGeom prst="roundRect">
            <a:avLst>
              <a:gd name="adj" fmla="val 19608"/>
            </a:avLst>
          </a:prstGeom>
          <a:solidFill>
            <a:srgbClr val="FBF0EE"/>
          </a:solidFill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100"/>
          <p:cNvSpPr/>
          <p:nvPr/>
        </p:nvSpPr>
        <p:spPr>
          <a:xfrm>
            <a:off x="4942582" y="3453854"/>
            <a:ext cx="1554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431750" y="3907780"/>
            <a:ext cx="11328499" cy="527000"/>
          </a:xfrm>
          <a:prstGeom prst="roundRect">
            <a:avLst>
              <a:gd name="adj" fmla="val 14459"/>
            </a:avLst>
          </a:prstGeom>
          <a:solidFill>
            <a:srgbClr val="F5E8CC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Text 102"/>
          <p:cNvSpPr/>
          <p:nvPr/>
        </p:nvSpPr>
        <p:spPr>
          <a:xfrm>
            <a:off x="628501" y="4037856"/>
            <a:ext cx="2040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🛠</a:t>
            </a:r>
            <a:endParaRPr lang="en-US" sz="1400" dirty="0"/>
          </a:p>
        </p:txBody>
      </p:sp>
      <p:sp>
        <p:nvSpPr>
          <p:cNvPr id="105" name="Text 103"/>
          <p:cNvSpPr/>
          <p:nvPr/>
        </p:nvSpPr>
        <p:spPr>
          <a:xfrm>
            <a:off x="955477" y="4003030"/>
            <a:ext cx="36580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needed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>
            <a:off x="955477" y="4196655"/>
            <a:ext cx="365803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3–4 scrambled sentences prepared in advance, projected one at a time.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1856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DURATION Q&amp;A + 正在</a:t>
            </a:r>
            <a:pPr algn="l" indent="0" marL="0">
              <a:buNone/>
            </a:pP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1750" y="381000"/>
            <a:ext cx="115550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1750" y="593675"/>
            <a:ext cx="1155506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1750" y="1161901"/>
            <a:ext cx="5562600" cy="2023467"/>
          </a:xfrm>
          <a:prstGeom prst="roundRect">
            <a:avLst>
              <a:gd name="adj" fmla="val 502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44426" y="1323826"/>
            <a:ext cx="52399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   👍✋👎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4426" y="1634877"/>
            <a:ext cx="5137249" cy="718096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485"/>
              </a:lnSpc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Ask 你每天/每个星期打几个小时…？ and answer with a duration</a:t>
            </a:r>
            <a:endParaRPr lang="en-US" sz="1100" dirty="0"/>
          </a:p>
          <a:p>
            <a:pPr algn="l" marL="88900" indent="-88900">
              <a:lnSpc>
                <a:spcPts val="1485"/>
              </a:lnSpc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 full verb + duration + object sentence for any sport</a:t>
            </a:r>
            <a:endParaRPr lang="en-US" sz="1100" dirty="0"/>
          </a:p>
          <a:p>
            <a:pPr algn="l" marL="88900" indent="-88900">
              <a:lnSpc>
                <a:spcPts val="1485"/>
              </a:lnSpc>
              <a:buSzPct val="100000"/>
              <a:buChar char="•"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Describe what someone is doing using 正在 + sport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97501" y="1161901"/>
            <a:ext cx="5562749" cy="2023467"/>
          </a:xfrm>
          <a:prstGeom prst="roundRect">
            <a:avLst>
              <a:gd name="adj" fmla="val 5021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10176" y="1323826"/>
            <a:ext cx="52401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10176" y="1606302"/>
            <a:ext cx="5137398" cy="909489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433989" y="1606302"/>
            <a:ext cx="0" cy="909489"/>
          </a:xfrm>
          <a:prstGeom prst="line">
            <a:avLst/>
          </a:prstGeom>
          <a:noFill/>
          <a:ln w="47625">
            <a:solidFill>
              <a:srgbClr val="3A7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35502" y="1733252"/>
            <a:ext cx="48290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635502" y="1926878"/>
            <a:ext cx="482905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one question asking a friend how many hours they do a sport each week, and answer it yourself.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10176" y="2642741"/>
            <a:ext cx="5240146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Reuse today's pattern: </a:t>
            </a:r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你每个星期……几个小时……？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
</a:t>
            </a:r>
            <a:pPr algn="l" indent="0" marL="0">
              <a:lnSpc>
                <a:spcPts val="1500"/>
              </a:lnSpc>
              <a:buNone/>
            </a:pPr>
            <a:r>
              <a:rPr lang="en-US" sz="10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Underline any word you're unsure about</a:t>
            </a:r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that's your homework focus.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0"/>
            <a:ext cx="11328499" cy="12650"/>
          </a:xfrm>
          <a:prstGeom prst="rect">
            <a:avLst/>
          </a:prstGeom>
          <a:solidFill>
            <a:srgbClr val="E5DF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31750" y="0"/>
            <a:ext cx="2539901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1750" y="101501"/>
            <a:ext cx="32832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L4 · DURATION Q&amp;A + 正在</a:t>
            </a:r>
            <a:pPr algn="l" indent="0" marL="0">
              <a:buNone/>
            </a:pPr>
            <a:r>
              <a:rPr lang="en-US" sz="900" b="1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|</a:t>
            </a:r>
            <a:pPr algn="l" indent="0" marL="0">
              <a:buNone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NEXT LESSON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67979" y="1179909"/>
            <a:ext cx="2056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 · L5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163312" y="1456134"/>
            <a:ext cx="1865376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3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不太喜欢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067282" y="2145060"/>
            <a:ext cx="405743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Talking about TV, movies, and weekends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06850" y="2710160"/>
            <a:ext cx="1524000" cy="1326952"/>
          </a:xfrm>
          <a:prstGeom prst="roundRect">
            <a:avLst>
              <a:gd name="adj" fmla="val 765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834497" y="2897386"/>
            <a:ext cx="106870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📺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834497" y="3440311"/>
            <a:ext cx="10687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834497" y="3687961"/>
            <a:ext cx="10687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TV &amp; Movies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34000" y="2710160"/>
            <a:ext cx="1524000" cy="1326952"/>
          </a:xfrm>
          <a:prstGeom prst="roundRect">
            <a:avLst>
              <a:gd name="adj" fmla="val 765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561648" y="2897386"/>
            <a:ext cx="106870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🌴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561648" y="3440311"/>
            <a:ext cx="10687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周末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61648" y="3687961"/>
            <a:ext cx="10687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Weekends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061150" y="2710160"/>
            <a:ext cx="1524000" cy="1326952"/>
          </a:xfrm>
          <a:prstGeom prst="roundRect">
            <a:avLst>
              <a:gd name="adj" fmla="val 765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288798" y="2897386"/>
            <a:ext cx="106870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💬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88798" y="3440311"/>
            <a:ext cx="10687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buNone/>
            </a:pPr>
            <a:r>
              <a:rPr lang="en-US" sz="1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不太喜欢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88798" y="3687961"/>
            <a:ext cx="10687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Phrase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84080" y="4291013"/>
            <a:ext cx="2623691" cy="1209377"/>
          </a:xfrm>
          <a:prstGeom prst="roundRect">
            <a:avLst>
              <a:gd name="adj" fmla="val 8401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72270" y="4468713"/>
            <a:ext cx="18473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NEW PHRASE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72270" y="4681389"/>
            <a:ext cx="184731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不太喜欢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172270" y="5122664"/>
            <a:ext cx="18473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 really like (mild dislike)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31750" y="6562725"/>
            <a:ext cx="16999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2026-07-21T08:53:07Z</dcterms:created>
  <dcterms:modified xsi:type="dcterms:W3CDTF">2026-07-21T08:53:07Z</dcterms:modified>
</cp:coreProperties>
</file>