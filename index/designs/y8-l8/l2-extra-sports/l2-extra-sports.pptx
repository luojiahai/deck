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78164" y="5129213"/>
            <a:ext cx="25400" cy="25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8237" y="5129213"/>
            <a:ext cx="25400" cy="25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40637" y="5129213"/>
            <a:ext cx="25400" cy="25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01019" y="187325"/>
            <a:ext cx="110187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· Unit 3 Hobbies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033000" y="4826000"/>
            <a:ext cx="2567432" cy="255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0" dirty="0">
                <a:solidFill>
                  <a:srgbClr val="C8943E">
                    <a:alpha val="4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3762077" y="1639888"/>
            <a:ext cx="4695178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spc="20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 · Y8 UNIT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62077" y="1976438"/>
            <a:ext cx="469517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C8943E">
                    <a:alpha val="15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3762077" y="3376613"/>
            <a:ext cx="4695178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运动·更多</a:t>
            </a:r>
            <a:endParaRPr lang="en-US" sz="7500" dirty="0"/>
          </a:p>
        </p:txBody>
      </p:sp>
      <p:sp>
        <p:nvSpPr>
          <p:cNvPr id="15" name="Text 13"/>
          <p:cNvSpPr/>
          <p:nvPr/>
        </p:nvSpPr>
        <p:spPr>
          <a:xfrm>
            <a:off x="3762077" y="4379913"/>
            <a:ext cx="4695178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More Sports + 跟(和)……一起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62077" y="5065713"/>
            <a:ext cx="7911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55964" y="5065713"/>
            <a:ext cx="43730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96037" y="5065713"/>
            <a:ext cx="11196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Listening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18437" y="5065713"/>
            <a:ext cx="14388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708150"/>
            <a:ext cx="5207000" cy="16065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23000" y="2089150"/>
            <a:ext cx="571500" cy="495300"/>
          </a:xfrm>
          <a:prstGeom prst="roundRect">
            <a:avLst/>
          </a:prstGeom>
          <a:solidFill>
            <a:srgbClr val="EDE7D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70700" y="2089150"/>
            <a:ext cx="571500" cy="495300"/>
          </a:xfrm>
          <a:prstGeom prst="roundRect">
            <a:avLst/>
          </a:prstGeom>
          <a:solidFill>
            <a:srgbClr val="EDE7D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8400" y="2089150"/>
            <a:ext cx="571500" cy="495300"/>
          </a:xfrm>
          <a:prstGeom prst="roundRect">
            <a:avLst/>
          </a:prstGeom>
          <a:solidFill>
            <a:srgbClr val="EDE7D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6100" y="2089150"/>
            <a:ext cx="723900" cy="495300"/>
          </a:xfrm>
          <a:prstGeom prst="roundRect">
            <a:avLst/>
          </a:prstGeom>
          <a:solidFill>
            <a:srgbClr val="EDE7D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6200" y="2089150"/>
            <a:ext cx="1028700" cy="495300"/>
          </a:xfrm>
          <a:prstGeom prst="roundRect">
            <a:avLst/>
          </a:prstGeom>
          <a:solidFill>
            <a:srgbClr val="EDE7D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492500"/>
            <a:ext cx="10668000" cy="412750"/>
          </a:xfrm>
          <a:prstGeom prst="rect">
            <a:avLst/>
          </a:prstGeom>
          <a:solidFill>
            <a:srgbClr val="C8943E">
              <a:alpha val="12000"/>
            </a:srgbClr>
          </a:solidFill>
          <a:ln w="31750">
            <a:solidFill>
              <a:srgbClr val="5B66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801019" y="187325"/>
            <a:ext cx="85015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62000" y="812800"/>
            <a:ext cx="10695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2000" y="1028700"/>
            <a:ext cx="10695432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1 Vocabulary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71550" y="2032000"/>
            <a:ext cx="48153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7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DIALOGUE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3950" y="2298700"/>
            <a:ext cx="4662932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recreate the pattern 我喜欢跟朋友一起打网球 from memory — no notes.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3950" y="2794000"/>
            <a:ext cx="466293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roles, then vary the sport (e.g. swap in 跑步 or 游泳).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3000" y="1822450"/>
            <a:ext cx="52344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72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WORDS (LESSON 1)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6350" y="2159000"/>
            <a:ext cx="3322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6350" y="2393950"/>
            <a:ext cx="3322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004050" y="2159000"/>
            <a:ext cx="3322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04050" y="2393950"/>
            <a:ext cx="3322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651750" y="2159000"/>
            <a:ext cx="3322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51750" y="2393950"/>
            <a:ext cx="3322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tennis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299450" y="2159000"/>
            <a:ext cx="4846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99450" y="2393950"/>
            <a:ext cx="4846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tennis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9099550" y="2159000"/>
            <a:ext cx="7894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跟……一起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99550" y="2393950"/>
            <a:ext cx="7894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together with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62000" y="3492500"/>
            <a:ext cx="10695432" cy="431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"Yesterday you learned 3 sports and one verb rule. Today you're getting 8 more sports — and a second verb, 踢, for football."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632075"/>
            <a:ext cx="9328150" cy="685800"/>
          </a:xfrm>
          <a:prstGeom prst="rect">
            <a:avLst/>
          </a:prstGeom>
          <a:solidFill>
            <a:srgbClr val="C8943E">
              <a:alpha val="12000"/>
            </a:srgbClr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3533775"/>
            <a:ext cx="254000" cy="2540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3914775"/>
            <a:ext cx="254000" cy="2540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4295775"/>
            <a:ext cx="254000" cy="2540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000" y="4727575"/>
            <a:ext cx="9271000" cy="5842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01019" y="187325"/>
            <a:ext cx="86831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89000" y="1724025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9000" y="1952625"/>
            <a:ext cx="10441432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23950" y="2771775"/>
            <a:ext cx="89174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23950" y="2930525"/>
            <a:ext cx="8917432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name more sports in Chinese and say who we do them with using 跟(和)……一起.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9000" y="3533775"/>
            <a:ext cx="2814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44600" y="3521075"/>
            <a:ext cx="6391521" cy="2437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at least 8 sports in Chinese — 排球, 篮球, 乒乓球, 羽毛球, 高尔夫球, 足球, 滑冰, 滑雪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9000" y="3914775"/>
            <a:ext cx="2814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44600" y="3902075"/>
            <a:ext cx="5649563" cy="2437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跟(和)……一起 to make a full sentence about doing a sport with someone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9000" y="4295775"/>
            <a:ext cx="2814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44600" y="4283075"/>
            <a:ext cx="4210495" cy="2437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explain why 足球 uses 踢 and 滑冰/滑雪 use no verb at all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79500" y="4889500"/>
            <a:ext cx="20523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8900" y="4841875"/>
            <a:ext cx="4160191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of these do you already know the English cognate for?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58900" y="5045075"/>
            <a:ext cx="416019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乒乓球 = ping pong · 高尔夫球 = golf — build confidence before we teach the rest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000" y="1574800"/>
            <a:ext cx="2663825" cy="495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7725" y="1574800"/>
            <a:ext cx="2663825" cy="495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0450" y="1574800"/>
            <a:ext cx="2663825" cy="495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3175" y="1574800"/>
            <a:ext cx="2663825" cy="495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000" y="2159000"/>
            <a:ext cx="2663825" cy="495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7725" y="2159000"/>
            <a:ext cx="2663825" cy="4953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0450" y="2159000"/>
            <a:ext cx="2663825" cy="4953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93175" y="2159000"/>
            <a:ext cx="2663825" cy="4953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000" y="2794000"/>
            <a:ext cx="10922000" cy="5588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01019" y="187325"/>
            <a:ext cx="168071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5000" y="787400"/>
            <a:ext cx="10949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5000" y="1003300"/>
            <a:ext cx="10949432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68350" y="1682750"/>
            <a:ext cx="598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打排球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28750" y="1682750"/>
            <a:ext cx="666599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páiqiú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428750" y="1828800"/>
            <a:ext cx="666599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volleyball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21075" y="1682750"/>
            <a:ext cx="598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81475" y="1682750"/>
            <a:ext cx="696067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lánqiú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81475" y="1828800"/>
            <a:ext cx="696067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basketball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73800" y="1682750"/>
            <a:ext cx="7894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24700" y="1682750"/>
            <a:ext cx="75927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pīngpāngqiú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24700" y="1828800"/>
            <a:ext cx="75927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table tennis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026525" y="1682750"/>
            <a:ext cx="7894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打羽毛球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77425" y="1682750"/>
            <a:ext cx="730496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yǔmáoqiú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877425" y="1828800"/>
            <a:ext cx="730496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badminton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8350" y="2266950"/>
            <a:ext cx="979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打高尔夫球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809750" y="2266950"/>
            <a:ext cx="689816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gāo'ěrfūqiú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09750" y="2413000"/>
            <a:ext cx="689816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golf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521075" y="2266950"/>
            <a:ext cx="598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181475" y="2266950"/>
            <a:ext cx="94590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 zúqiú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81475" y="2413000"/>
            <a:ext cx="94590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football / soccer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73800" y="2266950"/>
            <a:ext cx="4084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43700" y="2266950"/>
            <a:ext cx="4083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huábīng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43700" y="2413000"/>
            <a:ext cx="4083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ice skate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026525" y="2266950"/>
            <a:ext cx="4084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滑雪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496425" y="2266950"/>
            <a:ext cx="363585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huáxuě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496425" y="2413000"/>
            <a:ext cx="363585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25500" y="2959100"/>
            <a:ext cx="179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79500" y="2908300"/>
            <a:ext cx="7030787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 (qiú) = ball — appears in almost every word here: 打排球 · 打篮球 · 打乒乓球 · 打羽毛球 · 打高尔夫球 · 踢足球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9500" y="3105150"/>
            <a:ext cx="7030787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"Ball" is the shared radical clue across this whole vocabulary set.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682750"/>
            <a:ext cx="3488234" cy="72638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51834" y="1682750"/>
            <a:ext cx="3488234" cy="72638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41667" y="1682750"/>
            <a:ext cx="3488234" cy="72638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2548830"/>
            <a:ext cx="2367062" cy="457200"/>
          </a:xfrm>
          <a:prstGeom prst="roundRect">
            <a:avLst/>
          </a:prstGeom>
          <a:solidFill>
            <a:srgbClr val="EDE7D7"/>
          </a:solidFill>
          <a:ln w="1905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78895" y="2548830"/>
            <a:ext cx="930374" cy="457200"/>
          </a:xfrm>
          <a:prstGeom prst="roundRect">
            <a:avLst/>
          </a:prstGeom>
          <a:solidFill>
            <a:srgbClr val="EDE7D7"/>
          </a:solidFill>
          <a:ln w="1905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3107630"/>
            <a:ext cx="10668000" cy="368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539430"/>
            <a:ext cx="10668000" cy="368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3971230"/>
            <a:ext cx="10668000" cy="368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4403030"/>
            <a:ext cx="10668000" cy="3683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475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6750" y="4555430"/>
            <a:ext cx="861219" cy="133350"/>
          </a:xfrm>
          <a:prstGeom prst="roundRect">
            <a:avLst/>
          </a:prstGeom>
          <a:solidFill>
            <a:srgbClr val="D4756B">
              <a:alpha val="15000"/>
            </a:srgbClr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801019" y="187325"/>
            <a:ext cx="1451618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 &amp; Verb Rules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2000" y="787400"/>
            <a:ext cx="10695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2000" y="990600"/>
            <a:ext cx="106954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Verb Rules &amp; Key Sentence Pattern · 动词规则与句型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62000" y="1409700"/>
            <a:ext cx="106954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 categories: 打 / 踢 / no verb at all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01700" y="1784350"/>
            <a:ext cx="217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1905000"/>
            <a:ext cx="132604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01700" y="2114550"/>
            <a:ext cx="3236266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5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 · 打排球 · 打篮球 · 打乒乓球 · 打羽毛球 · 打高尔夫球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91534" y="1784350"/>
            <a:ext cx="217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32834" y="1905000"/>
            <a:ext cx="85475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491534" y="2114550"/>
            <a:ext cx="3236266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5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81367" y="1784350"/>
            <a:ext cx="20810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12845" y="1905000"/>
            <a:ext cx="33987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verb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081367" y="2114550"/>
            <a:ext cx="3236266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5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 · 游泳 · 滑冰 · 滑雪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2000" y="2548830"/>
            <a:ext cx="23944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我喜欢跟(和)朋友一起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05262" y="2659955"/>
            <a:ext cx="124865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78895" y="2548830"/>
            <a:ext cx="9578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sport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85469" y="2675830"/>
            <a:ext cx="16713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01369" y="2602805"/>
            <a:ext cx="3032966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"I like doing [sport] with [someone]"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8050" y="3177480"/>
            <a:ext cx="1932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我喜欢跟朋友一起打篮球。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569252" y="3215580"/>
            <a:ext cx="174213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playing basketball with friends.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08050" y="3609280"/>
            <a:ext cx="22499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我哥哥喜欢和同学一起踢足球。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693845" y="3647380"/>
            <a:ext cx="261753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older brother likes playing football with classmates.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08050" y="4041080"/>
            <a:ext cx="1932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我们喜欢跟家人一起滑雪。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076855" y="4079180"/>
            <a:ext cx="1234527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like skiing with family.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08050" y="4472880"/>
            <a:ext cx="318735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我喜欢跟我的狗一起打乒乓球！SILLY EXAMPLE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474994" y="4510980"/>
            <a:ext cx="183638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playing table tennis with my dog!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41812" y="2387798"/>
            <a:ext cx="772616" cy="15875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2775148"/>
            <a:ext cx="10414000" cy="7747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3150" y="2933898"/>
            <a:ext cx="279400" cy="279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3702248"/>
            <a:ext cx="10414000" cy="7937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3150" y="3860998"/>
            <a:ext cx="279400" cy="279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000" y="4648398"/>
            <a:ext cx="10414000" cy="7937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3150" y="4807148"/>
            <a:ext cx="279400" cy="279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801019" y="187325"/>
            <a:ext cx="1114175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89000" y="1593652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89000" y="1822252"/>
            <a:ext cx="10441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89000" y="2355652"/>
            <a:ext cx="10441432" cy="20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 WHITEBOARD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3150" y="2933898"/>
            <a:ext cx="3068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79550" y="2933898"/>
            <a:ext cx="9666732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"play basketball". Write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79550" y="3219648"/>
            <a:ext cx="96667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B94A3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73150" y="3860998"/>
            <a:ext cx="3068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79550" y="3860998"/>
            <a:ext cx="96667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我打足球。 What's wrong?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79550" y="4165798"/>
            <a:ext cx="96667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B94A3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3150" y="4807148"/>
            <a:ext cx="3068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79550" y="4807148"/>
            <a:ext cx="96667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滑雪 needs a verb in front of it.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79550" y="5111948"/>
            <a:ext cx="96667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B94A3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438400"/>
            <a:ext cx="10414000" cy="9398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150" y="2571750"/>
            <a:ext cx="279400" cy="279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3505200"/>
            <a:ext cx="10414000" cy="9398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3150" y="3638550"/>
            <a:ext cx="279400" cy="279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000" y="4572000"/>
            <a:ext cx="10414000" cy="9398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3150" y="4705350"/>
            <a:ext cx="279400" cy="279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01019" y="187325"/>
            <a:ext cx="104482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89000" y="1524000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89000" y="1752600"/>
            <a:ext cx="10441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073150" y="2571750"/>
            <a:ext cx="3068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79550" y="2571750"/>
            <a:ext cx="966673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"play basketball"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79550" y="2825750"/>
            <a:ext cx="9666732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79550" y="3086100"/>
            <a:ext cx="96667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lánqiú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3150" y="3638550"/>
            <a:ext cx="3068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79550" y="3638550"/>
            <a:ext cx="966673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我打足球。What's wrong?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79550" y="3892550"/>
            <a:ext cx="9666732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Should be 踢足球, not 打足球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79550" y="4152900"/>
            <a:ext cx="96667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足球 is a kicking sport — it takes the verb 踢, not 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3150" y="4705350"/>
            <a:ext cx="3068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79550" y="4705350"/>
            <a:ext cx="966673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滑雪 need a verb in front of it?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79550" y="4959350"/>
            <a:ext cx="9666732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No thumbs — 滑雪 needs no verb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79550" y="5219700"/>
            <a:ext cx="96667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滑雪 is already a complete verb, like 跑步 and 游泳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000" y="863600"/>
            <a:ext cx="801588" cy="2032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346200"/>
            <a:ext cx="620713" cy="24765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1913" y="1374775"/>
            <a:ext cx="501551" cy="1905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000" y="1771650"/>
            <a:ext cx="5359400" cy="1590675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7600" y="1771650"/>
            <a:ext cx="5359400" cy="32131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0000" y="229235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0000" y="261620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0000" y="294005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0000" y="326390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0000" y="358775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0000" y="391160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0000" y="423545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0000" y="4559300"/>
            <a:ext cx="5054600" cy="2730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000" y="516255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1034" y="516255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7067" y="516255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801019" y="187325"/>
            <a:ext cx="86801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5000" y="863600"/>
            <a:ext cx="82902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63588" y="762000"/>
            <a:ext cx="3792089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Choral + TPR Picture Drill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5000" y="1346200"/>
            <a:ext cx="648145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31913" y="1374775"/>
            <a:ext cx="52898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56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19150" y="2063750"/>
            <a:ext cx="50185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46150" y="2324100"/>
            <a:ext cx="4891532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each of the 8 sport pictures in random order.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6150" y="2600325"/>
            <a:ext cx="4891532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chorally calls out the Chinese word.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6150" y="2876550"/>
            <a:ext cx="4891532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mimes the action — swing a racket, kick, skate.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0000" y="2032000"/>
            <a:ext cx="50820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0000" y="2330450"/>
            <a:ext cx="42748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打排球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765433" y="2330450"/>
            <a:ext cx="66659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volleyball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350000" y="2654300"/>
            <a:ext cx="42748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735965" y="2654300"/>
            <a:ext cx="696067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basketball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50000" y="2978150"/>
            <a:ext cx="5608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672763" y="2978150"/>
            <a:ext cx="75927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table tennis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50000" y="3302000"/>
            <a:ext cx="5608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打羽毛球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701536" y="3302000"/>
            <a:ext cx="730496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badminton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50000" y="3625850"/>
            <a:ext cx="69418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打高尔夫球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026080" y="3625850"/>
            <a:ext cx="40595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golf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50000" y="3949700"/>
            <a:ext cx="42748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486132" y="3949700"/>
            <a:ext cx="94590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football / soccer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50000" y="4273550"/>
            <a:ext cx="2941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023699" y="4273550"/>
            <a:ext cx="40833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ice skate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50000" y="4597400"/>
            <a:ext cx="2941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滑雪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281271" y="4597400"/>
            <a:ext cx="15076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23900" y="522605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389934" y="522605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8055967" y="522605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000" y="815975"/>
            <a:ext cx="801588" cy="2032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225550"/>
            <a:ext cx="620713" cy="24765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1913" y="1254125"/>
            <a:ext cx="1031180" cy="1905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000" y="2978150"/>
            <a:ext cx="5614591" cy="406400"/>
          </a:xfrm>
          <a:prstGeom prst="rect">
            <a:avLst/>
          </a:prstGeom>
          <a:solidFill>
            <a:srgbClr val="EDE7D7"/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9050" y="3054350"/>
            <a:ext cx="762000" cy="2540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000" y="3632200"/>
            <a:ext cx="5614591" cy="349250"/>
          </a:xfrm>
          <a:prstGeom prst="rect">
            <a:avLst/>
          </a:prstGeom>
          <a:solidFill>
            <a:srgbClr val="C8943E">
              <a:alpha val="12000"/>
            </a:srgbClr>
          </a:solidFill>
          <a:ln w="25400">
            <a:solidFill>
              <a:srgbClr val="C89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52791" y="1612900"/>
            <a:ext cx="5104209" cy="8001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5191" y="2044700"/>
            <a:ext cx="4445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0491" y="2044700"/>
            <a:ext cx="4445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5791" y="2044700"/>
            <a:ext cx="4445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1091" y="2044700"/>
            <a:ext cx="4445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86391" y="2044700"/>
            <a:ext cx="4445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2791" y="2514600"/>
            <a:ext cx="5104209" cy="10922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5191" y="2946400"/>
            <a:ext cx="5588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14791" y="2946400"/>
            <a:ext cx="5588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24391" y="2946400"/>
            <a:ext cx="6731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8291" y="2946400"/>
            <a:ext cx="6731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2191" y="2946400"/>
            <a:ext cx="7874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10391" y="2946400"/>
            <a:ext cx="5588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19991" y="2946400"/>
            <a:ext cx="4445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5191" y="3238500"/>
            <a:ext cx="444500" cy="2413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000" y="426085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01034" y="426085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67067" y="426085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01019" y="187325"/>
            <a:ext cx="131767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We Do → You Do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5000" y="815975"/>
            <a:ext cx="82902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63588" y="736600"/>
            <a:ext cx="453394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Pair Grammar Drill · 跟(和)……一起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000" y="1225550"/>
            <a:ext cx="648145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9 min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331913" y="1254125"/>
            <a:ext cx="105861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56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5000" y="1720850"/>
            <a:ext cx="5642023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2000" y="1981200"/>
            <a:ext cx="551502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complete 4 sentence starters using 跟(和)……一起.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2000" y="2235200"/>
            <a:ext cx="551502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write 4 fully original sentences of your own — different sports, different people.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2000" y="2489200"/>
            <a:ext cx="551502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word banks on the right for reference.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000" y="2794000"/>
            <a:ext cx="5642023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52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STARTER · 句型框架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35000" y="2978150"/>
            <a:ext cx="564202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我喜欢______一起打篮球。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5000" y="3448050"/>
            <a:ext cx="5642023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52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WORKED EXAMPLE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35000" y="3632200"/>
            <a:ext cx="5642023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我喜欢跟妹妹一起打篮球。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05191" y="1835150"/>
            <a:ext cx="482684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60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PEOPLE · 人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05191" y="2044700"/>
            <a:ext cx="471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朋友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00491" y="2044700"/>
            <a:ext cx="471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哥哥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95791" y="2044700"/>
            <a:ext cx="471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91091" y="2044700"/>
            <a:ext cx="471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同学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86391" y="2044700"/>
            <a:ext cx="471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家人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05191" y="2736850"/>
            <a:ext cx="482684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6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8 SPORTS · 运动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605191" y="2946400"/>
            <a:ext cx="5862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打排球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14791" y="2946400"/>
            <a:ext cx="5862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24391" y="2946400"/>
            <a:ext cx="7005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48291" y="2946400"/>
            <a:ext cx="7005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打羽毛球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272191" y="2946400"/>
            <a:ext cx="8148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打高尔夫球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110391" y="2946400"/>
            <a:ext cx="5862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19991" y="2946400"/>
            <a:ext cx="471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滑冰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05191" y="3238500"/>
            <a:ext cx="471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滑雪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3900" y="432435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389934" y="432435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8055967" y="432435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000" y="863600"/>
            <a:ext cx="801588" cy="203200"/>
          </a:xfrm>
          <a:prstGeom prst="roundRect">
            <a:avLst/>
          </a:prstGeom>
          <a:solidFill>
            <a:srgbClr val="D4756B"/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295400"/>
            <a:ext cx="620713" cy="24765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1913" y="1323975"/>
            <a:ext cx="556915" cy="1905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000" y="1695450"/>
            <a:ext cx="5359400" cy="23050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150" y="3403600"/>
            <a:ext cx="4991100" cy="41275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7600" y="1695450"/>
            <a:ext cx="5359400" cy="22733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0000" y="22161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28100" y="22161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0000" y="25463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28100" y="25463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0000" y="28765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28100" y="28765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0000" y="32067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28100" y="32067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0000" y="35369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28100" y="3536950"/>
            <a:ext cx="24765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000" y="430530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1034" y="430530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67067" y="4305300"/>
            <a:ext cx="3589834" cy="5207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01019" y="187325"/>
            <a:ext cx="893909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You Do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5000" y="863600"/>
            <a:ext cx="82902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563588" y="762000"/>
            <a:ext cx="4377777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Chain Drill · Naming 10 Sports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5000" y="1295400"/>
            <a:ext cx="648145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31913" y="1323975"/>
            <a:ext cx="584347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56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19150" y="1987550"/>
            <a:ext cx="50185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46150" y="2247900"/>
            <a:ext cx="4891532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Stand in a circle or row.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6150" y="2524125"/>
            <a:ext cx="4891532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student says one sport in Chinese.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46150" y="2800350"/>
            <a:ext cx="4891532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student repeats it and adds a new one — the chain continues.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6150" y="3076575"/>
            <a:ext cx="4891532" cy="21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Continue until someone can't recall the sequence or a new sport.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19150" y="3403600"/>
            <a:ext cx="5018532" cy="431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Goal: aim for 10 total sports — today's 8 + 网球 + 打网球 from Lesson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0000" y="1955800"/>
            <a:ext cx="50820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 POOL · 10 WORDS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50000" y="22161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28100" y="22161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0000" y="25463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打排球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28100" y="25463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0000" y="28765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28100" y="28765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打羽毛球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0000" y="32067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打高尔夫球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28100" y="32067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0000" y="35369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28100" y="3536950"/>
            <a:ext cx="2503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滑雪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3900" y="436880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389934" y="436880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8055967" y="4368800"/>
            <a:ext cx="34394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000" y="723900"/>
            <a:ext cx="556220" cy="209550"/>
          </a:xfrm>
          <a:prstGeom prst="roundRect">
            <a:avLst/>
          </a:prstGeom>
          <a:solidFill>
            <a:srgbClr val="D4756B"/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2820" y="711200"/>
            <a:ext cx="596999" cy="2349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1420" y="723900"/>
            <a:ext cx="1243409" cy="20955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000" y="1727200"/>
            <a:ext cx="3975100" cy="158750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475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050" y="1746250"/>
            <a:ext cx="787400" cy="774700"/>
          </a:xfrm>
          <a:prstGeom prst="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1450" y="1746250"/>
            <a:ext cx="787400" cy="774700"/>
          </a:xfrm>
          <a:prstGeom prst="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17462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6250" y="17462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03650" y="17462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050" y="25209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41450" y="25209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25209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6250" y="25209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650" y="2520950"/>
            <a:ext cx="787400" cy="774700"/>
          </a:xfrm>
          <a:prstGeom prst="rect">
            <a:avLst/>
          </a:prstGeom>
          <a:solidFill>
            <a:srgbClr val="FEFCF7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3300" y="1727200"/>
            <a:ext cx="6743700" cy="15367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3300" y="3365500"/>
            <a:ext cx="6743700" cy="5207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000" y="4216400"/>
            <a:ext cx="3589834" cy="546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1034" y="4216400"/>
            <a:ext cx="3589834" cy="546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67067" y="4216400"/>
            <a:ext cx="3589834" cy="546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01019" y="187325"/>
            <a:ext cx="109820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Slap the Board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5000" y="723900"/>
            <a:ext cx="58365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92820" y="711200"/>
            <a:ext cx="624431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991420" y="723900"/>
            <a:ext cx="1270841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Players at a Time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5000" y="996950"/>
            <a:ext cx="10949432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Slap the Board · 拍词游戏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5000" y="1428750"/>
            <a:ext cx="109494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a sport in Chinese → both players slap the matching card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4050" y="17462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41450" y="17462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28850" y="17462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打排球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6250" y="17462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03650" y="17462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4050" y="25209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打羽毛球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41450" y="25209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打高尔夫球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28850" y="25209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16250" y="25209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03650" y="2520950"/>
            <a:ext cx="814832" cy="792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滑雪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72050" y="1955800"/>
            <a:ext cx="64536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75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72050" y="2178050"/>
            <a:ext cx="1671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87950" y="2178050"/>
            <a:ext cx="361776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students at the board (or a table with cards spread out).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72050" y="2432050"/>
            <a:ext cx="1671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87950" y="2432050"/>
            <a:ext cx="218901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a sport in Chinese.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72050" y="2686050"/>
            <a:ext cx="1671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87950" y="2686050"/>
            <a:ext cx="2705048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students slap the matching card/word.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72050" y="2940050"/>
            <a:ext cx="1671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87950" y="2940050"/>
            <a:ext cx="4298005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Winner stays at the board for the next round — new challenger steps up.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53000" y="3521075"/>
            <a:ext cx="17348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87950" y="3467100"/>
            <a:ext cx="2910233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in Chinese → students slap the card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87950" y="3651250"/>
            <a:ext cx="2910233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滑雪 → both players slap the 滑雪 card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36600" y="4292600"/>
            <a:ext cx="34140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402634" y="4292600"/>
            <a:ext cx="34140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PROGRESSION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8068667" y="4292600"/>
            <a:ext cx="34140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 &amp; SLAP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957909"/>
            <a:ext cx="5105400" cy="2078831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550" y="3535759"/>
            <a:ext cx="215900" cy="2159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2550" y="3535759"/>
            <a:ext cx="215900" cy="2159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6550" y="3535759"/>
            <a:ext cx="215900" cy="2159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475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8550" y="3853259"/>
            <a:ext cx="215900" cy="2159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2550" y="3853259"/>
            <a:ext cx="215900" cy="2159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6550" y="3853259"/>
            <a:ext cx="215900" cy="2159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475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8550" y="4170759"/>
            <a:ext cx="215900" cy="2159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2550" y="4170759"/>
            <a:ext cx="215900" cy="2159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C894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6550" y="4170759"/>
            <a:ext cx="215900" cy="2159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47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7600" y="2957909"/>
            <a:ext cx="5105400" cy="2078831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7150" y="3535759"/>
            <a:ext cx="4686300" cy="864791"/>
          </a:xfrm>
          <a:prstGeom prst="rect">
            <a:avLst/>
          </a:prstGeom>
          <a:solidFill>
            <a:srgbClr val="EDE7D7"/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801019" y="187325"/>
            <a:ext cx="983008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89000" y="1999059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89000" y="2227659"/>
            <a:ext cx="10441432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98550" y="3250009"/>
            <a:ext cx="47137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8550" y="35357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52550" y="35357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06550" y="35357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8550" y="38532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52550" y="38532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06550" y="38532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8550" y="41707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52550" y="41707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06550" y="4170759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7150" y="3250009"/>
            <a:ext cx="47137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91300" y="3662759"/>
            <a:ext cx="437718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591300" y="3846909"/>
            <a:ext cx="4377182" cy="4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sentence: who do you play a sport with? Use 跟(和)……一起.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7150" y="4527550"/>
            <a:ext cx="4713732" cy="34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read the success criteria from the board — class calls out one example sport per criterion.</a:t>
            </a:r>
            <a:endParaRPr lang="en-US" sz="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of hands — 👍/😐/👎 against each criterion.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6766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49700" y="2868613"/>
            <a:ext cx="2070100" cy="12636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2868613"/>
            <a:ext cx="2070100" cy="12636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6395" y="4411663"/>
            <a:ext cx="3199209" cy="95885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000" y="190500"/>
            <a:ext cx="106010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MORE SPORTS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01019" y="187325"/>
            <a:ext cx="1073595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03949" y="1665288"/>
            <a:ext cx="141153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spc="13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93381" y="1900238"/>
            <a:ext cx="3832670" cy="38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Family's Sports Story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794250" y="2316163"/>
            <a:ext cx="2630833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practising the tricky ou / uo sounds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59250" y="3052763"/>
            <a:ext cx="1678432" cy="46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59250" y="3592513"/>
            <a:ext cx="16784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59250" y="3814763"/>
            <a:ext cx="16784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Gao Li's family sports story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81750" y="3052763"/>
            <a:ext cx="1678432" cy="46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81750" y="3592513"/>
            <a:ext cx="16784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1750" y="3814763"/>
            <a:ext cx="16784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 ou / uo sounds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01195" y="4551363"/>
            <a:ext cx="2617041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PRONUNCIATION FOCUS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801195" y="4722813"/>
            <a:ext cx="2617041" cy="32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 vs uo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01195" y="5072063"/>
            <a:ext cx="2617041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commonly confused vowel sounds in Mandarin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8000" y="6638925"/>
            <a:ext cx="134872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deck.liyu.dev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classroom lesson slides</dc:subject>
  <dc:creator>deck.liyu.dev</dc:creator>
  <cp:lastModifiedBy>deck.liyu.dev</cp:lastModifiedBy>
  <cp:revision>1</cp:revision>
  <dcterms:created xsi:type="dcterms:W3CDTF">2026-07-20T00:31:54Z</dcterms:created>
  <dcterms:modified xsi:type="dcterms:W3CDTF">2026-07-20T00:31:54Z</dcterms:modified>
</cp:coreProperties>
</file>