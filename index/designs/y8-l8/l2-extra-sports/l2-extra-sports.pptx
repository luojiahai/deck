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868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YEAR 8 UNIT 3 HOBBIES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-121920" y="190500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OF 8 · Y8 UNIT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-121920" y="2231975"/>
            <a:ext cx="124358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运动·更多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-121920" y="3114526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Sports + 跟(和)……一起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-121920" y="3558927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Listening  ·  轻松学中文 Book 2 · Unit 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7988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 1 Vocabulary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57151"/>
            <a:ext cx="5537299" cy="1376958"/>
          </a:xfrm>
          <a:prstGeom prst="roundRect">
            <a:avLst>
              <a:gd name="adj" fmla="val 737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434852"/>
            <a:ext cx="51817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DIALOGUE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0350" y="1717328"/>
            <a:ext cx="518170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In pairs, recreate the pattern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我喜欢跟朋友一起打网球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memory — no notes.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0350" y="2184648"/>
            <a:ext cx="518170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Swap roles, then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vary the sport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(e.g. swap in 跑步 or 游泳).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22950" y="1257151"/>
            <a:ext cx="5537299" cy="1376958"/>
          </a:xfrm>
          <a:prstGeom prst="roundRect">
            <a:avLst>
              <a:gd name="adj" fmla="val 737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51550" y="1434852"/>
            <a:ext cx="51817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WORDS (LESSON 1)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51550" y="1717328"/>
            <a:ext cx="584150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78501" y="17807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78501" y="2009329"/>
            <a:ext cx="336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111901" y="1717328"/>
            <a:ext cx="584150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238851" y="17807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38851" y="2009329"/>
            <a:ext cx="336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251" y="1717328"/>
            <a:ext cx="584150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99202" y="17807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99202" y="2009329"/>
            <a:ext cx="336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32602" y="1717328"/>
            <a:ext cx="786854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559552" y="1780729"/>
            <a:ext cx="543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9552" y="2009329"/>
            <a:ext cx="543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295656" y="1717328"/>
            <a:ext cx="1079302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22606" y="1780729"/>
            <a:ext cx="841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22606" y="2009329"/>
            <a:ext cx="841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1750" y="2786509"/>
            <a:ext cx="11328499" cy="449461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55563" y="2786509"/>
            <a:ext cx="0" cy="44946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2526" y="2913459"/>
            <a:ext cx="1109206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"Yesterday you learned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sports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one verb rule. Today you're getting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more sports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and a second verb,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for football."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057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LEARNING INTENTION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155502"/>
            <a:ext cx="11328499" cy="697557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155502"/>
            <a:ext cx="0" cy="69755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282452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495127"/>
            <a:ext cx="11092065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sports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and say who we do them with using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跟(和)……一起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2018109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355" y="2038648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1851" y="2005459"/>
            <a:ext cx="690271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</a:t>
            </a: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least 8 sports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—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排球, 篮球, 乒乓球, 羽毛球, 高尔夫球, 足球, 滑冰, 滑雪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750" y="2335411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7086" y="2355949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1851" y="2322761"/>
            <a:ext cx="627393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跟(和)……一起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make a </a:t>
            </a: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doing a sport with someone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2652713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6788" y="2673251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1851" y="2640062"/>
            <a:ext cx="474101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explain why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uses </a:t>
            </a: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滑冰/滑雪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 </a:t>
            </a: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all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3058864"/>
            <a:ext cx="11328499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901" y="3185815"/>
            <a:ext cx="11140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Which of these do you already know the English cognate for?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4901" y="3439716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乒乓球 = ping pong · 高尔夫球 = golf — build confidence before we teach the rest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1829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682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82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páiqiú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82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volleyball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892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257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57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257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467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832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832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pīngpāngqiú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832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042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1407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07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yǔmáoqiú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407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badminton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82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82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gāo'ěrfūqiú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82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golf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892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257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257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 zúqiú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57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football / soccer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467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832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832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huábīng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832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ice skate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042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1407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1407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huáxuě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07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ski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750" y="3186708"/>
            <a:ext cx="11328499" cy="682526"/>
          </a:xfrm>
          <a:prstGeom prst="roundRect">
            <a:avLst>
              <a:gd name="adj" fmla="val 111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4901" y="3313658"/>
            <a:ext cx="11140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🏐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 (qiú)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ball — appears in almost every word here: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打排球 · 打篮球 · 打乒乓球 · 打羽毛球 · 打高尔夫球 · 踢足球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4901" y="3580358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"Ball" is the shared radical clue across this whole vocabulary set.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091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KEY PATTERN &amp; VERB RULES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 Rules &amp; Key Sentence Pattern · 动词规则与句型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1041202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 categories: 打 / 踢 / no verb at all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23677"/>
            <a:ext cx="3691533" cy="1009352"/>
          </a:xfrm>
          <a:prstGeom prst="roundRect">
            <a:avLst>
              <a:gd name="adj" fmla="val 1006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3200" y="1444228"/>
            <a:ext cx="34156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 </a:t>
            </a:r>
            <a:r>
              <a:rPr lang="en-US" sz="85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dǎ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200" y="1793379"/>
            <a:ext cx="341560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 · 打排球 · 打篮球 · 打乒乓球 · 打羽毛球 · 打高尔夫球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50234" y="1323677"/>
            <a:ext cx="3691533" cy="1009352"/>
          </a:xfrm>
          <a:prstGeom prst="roundRect">
            <a:avLst>
              <a:gd name="adj" fmla="val 10066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21684" y="1444228"/>
            <a:ext cx="34156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 </a:t>
            </a:r>
            <a:r>
              <a:rPr lang="en-US" sz="85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21684" y="1793379"/>
            <a:ext cx="34156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68717" y="1323677"/>
            <a:ext cx="3691533" cy="1009352"/>
          </a:xfrm>
          <a:prstGeom prst="roundRect">
            <a:avLst>
              <a:gd name="adj" fmla="val 10066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40167" y="1444228"/>
            <a:ext cx="34156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 </a:t>
            </a:r>
            <a:r>
              <a:rPr lang="en-US" sz="85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verb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40167" y="1793379"/>
            <a:ext cx="34156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· 游泳 · 滑冰 · 滑雪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2459980"/>
            <a:ext cx="2096988" cy="438150"/>
          </a:xfrm>
          <a:prstGeom prst="roundRect">
            <a:avLst>
              <a:gd name="adj" fmla="val 23188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8501" y="2555230"/>
            <a:ext cx="17375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我喜欢跟(和)朋友一起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30239" y="2564755"/>
            <a:ext cx="108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38152" y="2459980"/>
            <a:ext cx="763339" cy="438150"/>
          </a:xfrm>
          <a:prstGeom prst="roundRect">
            <a:avLst>
              <a:gd name="adj" fmla="val 23188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034903" y="2555230"/>
            <a:ext cx="37723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02993" y="257428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56893" y="2579043"/>
            <a:ext cx="20898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"I like doing [sport] with [someone]"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1750" y="3025080"/>
            <a:ext cx="11328499" cy="381000"/>
          </a:xfrm>
          <a:prstGeom prst="roundRect">
            <a:avLst>
              <a:gd name="adj" fmla="val 2000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9451" y="3101280"/>
            <a:ext cx="202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我喜欢跟朋友一起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433173" y="3134618"/>
            <a:ext cx="2192363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basketball with friends.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1750" y="3469481"/>
            <a:ext cx="11328499" cy="381000"/>
          </a:xfrm>
          <a:prstGeom prst="roundRect">
            <a:avLst>
              <a:gd name="adj" fmla="val 2000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9451" y="3545681"/>
            <a:ext cx="23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</a:t>
            </a: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喜欢和同学一起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85423" y="3579019"/>
            <a:ext cx="3261068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older brother likes playing football with classmates.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3913882"/>
            <a:ext cx="11328499" cy="381000"/>
          </a:xfrm>
          <a:prstGeom prst="roundRect">
            <a:avLst>
              <a:gd name="adj" fmla="val 2000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9451" y="3990082"/>
            <a:ext cx="202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</a:t>
            </a: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喜欢跟家人一起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011073" y="4023420"/>
            <a:ext cx="1602906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like skiing with family.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1750" y="4358283"/>
            <a:ext cx="11328499" cy="400050"/>
          </a:xfrm>
          <a:prstGeom prst="roundRect">
            <a:avLst>
              <a:gd name="adj" fmla="val 19048"/>
            </a:avLst>
          </a:prstGeom>
          <a:solidFill>
            <a:srgbClr val="FBEEEC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18976" y="4444008"/>
            <a:ext cx="2987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我的狗</a:t>
            </a: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一起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打乒乓球！</a:t>
            </a: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(silly example)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305776" y="4477345"/>
            <a:ext cx="2312593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table tennis with my dog!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944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603623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835348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352824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[Whiteboard]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2730550"/>
            <a:ext cx="11328499" cy="584150"/>
          </a:xfrm>
          <a:prstGeom prst="roundRect">
            <a:avLst>
              <a:gd name="adj" fmla="val 173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28829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2950" y="2922538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6651" y="2908250"/>
            <a:ext cx="3546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"play basketball"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Write 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3441650"/>
            <a:ext cx="11328499" cy="584150"/>
          </a:xfrm>
          <a:prstGeom prst="roundRect">
            <a:avLst>
              <a:gd name="adj" fmla="val 173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35940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30300" y="3633639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66651" y="3619351"/>
            <a:ext cx="3508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我打足球。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4152751"/>
            <a:ext cx="11328499" cy="584150"/>
          </a:xfrm>
          <a:prstGeom prst="roundRect">
            <a:avLst>
              <a:gd name="adj" fmla="val 173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430515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0002" y="4344739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6651" y="4330452"/>
            <a:ext cx="36706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滑雪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needs a verb in front of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750" y="4863852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3675" y="4936778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9805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CFU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470273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701998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219474"/>
            <a:ext cx="11328499" cy="907852"/>
          </a:xfrm>
          <a:prstGeom prst="roundRect">
            <a:avLst>
              <a:gd name="adj" fmla="val 111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4901" y="25336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2950" y="2573238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6651" y="2346424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"play basketball"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6651" y="2584549"/>
            <a:ext cx="10700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6651" y="2838450"/>
            <a:ext cx="10700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1750" y="3241625"/>
            <a:ext cx="11328499" cy="907852"/>
          </a:xfrm>
          <a:prstGeom prst="roundRect">
            <a:avLst>
              <a:gd name="adj" fmla="val 111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4901" y="355580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30300" y="3595390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6651" y="3368576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我打足球。What's wrong?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6651" y="3606701"/>
            <a:ext cx="10700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Should be 踢足球, not 打足球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6651" y="3860602"/>
            <a:ext cx="10700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 is a kicking sport — it takes the verb 踢, not 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1750" y="4263777"/>
            <a:ext cx="11328499" cy="907852"/>
          </a:xfrm>
          <a:prstGeom prst="roundRect">
            <a:avLst>
              <a:gd name="adj" fmla="val 111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4901" y="457795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0002" y="4617541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6651" y="4390727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滑雪 need a verb in front of it?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66651" y="4628852"/>
            <a:ext cx="10700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— 滑雪 needs no verb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6651" y="4882753"/>
            <a:ext cx="10700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滑雪 is already a complete verb, like 跑步 and 游泳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8920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ACTIVITY 1 · WE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9850"/>
            <a:ext cx="1063972" cy="263426"/>
          </a:xfrm>
          <a:prstGeom prst="roundRect">
            <a:avLst>
              <a:gd name="adj" fmla="val 5785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520601"/>
            <a:ext cx="722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8123" y="406301"/>
            <a:ext cx="321613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Choral + TPR Picture Drill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873026"/>
            <a:ext cx="719584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065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2835" y="873026"/>
            <a:ext cx="646956" cy="266700"/>
          </a:xfrm>
          <a:prstGeom prst="roundRect">
            <a:avLst>
              <a:gd name="adj" fmla="val 57143"/>
            </a:avLst>
          </a:prstGeom>
          <a:solidFill>
            <a:srgbClr val="EA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9786" y="911126"/>
            <a:ext cx="400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92126"/>
            <a:ext cx="5562600" cy="2854226"/>
          </a:xfrm>
          <a:prstGeom prst="roundRect">
            <a:avLst>
              <a:gd name="adj" fmla="val 356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1444526"/>
            <a:ext cx="52594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4901" y="1707952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Teacher projects each of the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sport pictures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random order.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4901" y="1957983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Class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 calls out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Chinese word.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4901" y="2208014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Then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mimes the action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swing a racket, kick, skate.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97501" y="1292126"/>
            <a:ext cx="5562749" cy="2854226"/>
          </a:xfrm>
          <a:prstGeom prst="roundRect">
            <a:avLst>
              <a:gd name="adj" fmla="val 356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651" y="1444526"/>
            <a:ext cx="5259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651" y="19889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651" y="174605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71299" y="1746052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volleyball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651" y="22746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651" y="203180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820698" y="2031802"/>
            <a:ext cx="7511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651" y="25604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651" y="2317552"/>
            <a:ext cx="5697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44200" y="2317552"/>
            <a:ext cx="8291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651" y="28461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651" y="2603302"/>
            <a:ext cx="5697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802838" y="2603302"/>
            <a:ext cx="7693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badminton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400651" y="31319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651" y="2889052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130855" y="2889052"/>
            <a:ext cx="4347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golf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651" y="34176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651" y="317480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493276" y="3174802"/>
            <a:ext cx="1085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football / soccer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00651" y="37034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651" y="3460552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110466" y="3460552"/>
            <a:ext cx="4555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ice skate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400651" y="39891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651" y="3746302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418987" y="3746302"/>
            <a:ext cx="1408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ski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1750" y="4298752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58701" y="4374952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58701" y="4543127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stays visible under each picture for the first pass.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241750" y="4298752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368701" y="4374952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68701" y="4543127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the second pass, hide pinyin — students rely on the picture and character only.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051750" y="4298752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178701" y="4374952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178701" y="4543127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choral response + mime on every picture.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86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ACTIVITY 2 · WE DO →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46038"/>
            <a:ext cx="1084808" cy="263426"/>
          </a:xfrm>
          <a:prstGeom prst="roundRect">
            <a:avLst>
              <a:gd name="adj" fmla="val 5785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96788"/>
            <a:ext cx="7439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68959" y="406301"/>
            <a:ext cx="402054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Grammar Drill · 跟(和)……一起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825401"/>
            <a:ext cx="726281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73026"/>
            <a:ext cx="46239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9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9532" y="825401"/>
            <a:ext cx="1302990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6483" y="863501"/>
            <a:ext cx="1070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19051"/>
            <a:ext cx="59440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1750" y="1457176"/>
            <a:ext cx="59440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In pairs, complete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sentence starters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跟(和)……一起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1750" y="1707207"/>
            <a:ext cx="59440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Then write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fully original sentences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your own — different sports, different people.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1750" y="1957239"/>
            <a:ext cx="59440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Use the word banks on the right for reference.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1750" y="2220069"/>
            <a:ext cx="59440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STARTER · 句型框架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1750" y="2362944"/>
            <a:ext cx="5827514" cy="35540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50800" y="2362944"/>
            <a:ext cx="0" cy="355402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250" y="2426345"/>
            <a:ext cx="55943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我喜欢______一起打篮球。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750" y="2794546"/>
            <a:ext cx="59440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WORKED EXAMPLE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31750" y="2937421"/>
            <a:ext cx="5827514" cy="336352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50800" y="2937421"/>
            <a:ext cx="0" cy="336352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250" y="3000821"/>
            <a:ext cx="55943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我喜欢跟妹妹一起打篮球。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62415" y="1219051"/>
            <a:ext cx="5297835" cy="717352"/>
          </a:xfrm>
          <a:prstGeom prst="roundRect">
            <a:avLst>
              <a:gd name="adj" fmla="val 1416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614815" y="1320552"/>
            <a:ext cx="50928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PEOPLE · 人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14815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738640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朋友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79915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03740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哥哥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45016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868841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姐姐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310116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433941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同学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75216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999041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家人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62415" y="2063353"/>
            <a:ext cx="5297835" cy="1056977"/>
          </a:xfrm>
          <a:prstGeom prst="roundRect">
            <a:avLst>
              <a:gd name="adj" fmla="val 961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614815" y="2164854"/>
            <a:ext cx="50928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8 SPORTS · 运动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614815" y="2402979"/>
            <a:ext cx="62865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38640" y="24506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06866" y="2402979"/>
            <a:ext cx="62865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30691" y="24506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8916" y="2402979"/>
            <a:ext cx="7556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122741" y="2450604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817918" y="2402979"/>
            <a:ext cx="7556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941743" y="2450604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636919" y="2402979"/>
            <a:ext cx="882551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760744" y="2450604"/>
            <a:ext cx="6475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582870" y="2402979"/>
            <a:ext cx="62865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06695" y="24506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614815" y="2742605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38640" y="2790230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179915" y="2742605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03740" y="2790230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31750" y="340072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58701" y="347692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58701" y="3645098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people (朋友, 哥哥, 姐姐, 同学, 家人) and today's 8 sports projected as reference.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241750" y="340072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4368701" y="347692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368701" y="3645098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reason or frequency word from memory (经常, 每个周末) if you recall it — bonus, not required yet.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051750" y="340072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78701" y="347692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178701" y="3645098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talk — each partner reads one sentence aloud before sharing with the class.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9976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ACTIVITY 3 ·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9850"/>
            <a:ext cx="1085404" cy="263426"/>
          </a:xfrm>
          <a:prstGeom prst="roundRect">
            <a:avLst>
              <a:gd name="adj" fmla="val 5785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520601"/>
            <a:ext cx="744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69554" y="406301"/>
            <a:ext cx="382851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Chain Drill · Naming 10 Sports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873026"/>
            <a:ext cx="719584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065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2835" y="873026"/>
            <a:ext cx="718096" cy="266700"/>
          </a:xfrm>
          <a:prstGeom prst="roundRect">
            <a:avLst>
              <a:gd name="adj" fmla="val 57143"/>
            </a:avLst>
          </a:prstGeom>
          <a:solidFill>
            <a:srgbClr val="FB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9786" y="911126"/>
            <a:ext cx="4734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92126"/>
            <a:ext cx="5562600" cy="2098179"/>
          </a:xfrm>
          <a:prstGeom prst="roundRect">
            <a:avLst>
              <a:gd name="adj" fmla="val 48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1444526"/>
            <a:ext cx="52594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4901" y="1707952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Stand in a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 or row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4901" y="1957983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First student says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sport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4901" y="2208014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Next student </a:t>
            </a: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repeats it and adds a new one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the chain continues.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4901" y="2458045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Continue until someone can't recall the sequence or a new sport.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4901" y="2746177"/>
            <a:ext cx="5156299" cy="422077"/>
          </a:xfrm>
          <a:prstGeom prst="roundRect">
            <a:avLst>
              <a:gd name="adj" fmla="val 18054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6351" y="2866727"/>
            <a:ext cx="49096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Goal: aim for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total sports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today's 8 + 网球 + 打网球 from Lesson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7501" y="1292126"/>
            <a:ext cx="5562749" cy="2098179"/>
          </a:xfrm>
          <a:prstGeom prst="roundRect">
            <a:avLst>
              <a:gd name="adj" fmla="val 484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00651" y="1444526"/>
            <a:ext cx="5259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POOL · 10 WORDS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651" y="1988939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651" y="174605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42350" y="1988939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42350" y="174605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651" y="2299990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651" y="205710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42350" y="2299990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42350" y="205710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651" y="261104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651" y="2368153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42350" y="261104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42350" y="2368153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651" y="292209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651" y="2679204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042350" y="292209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42350" y="2679204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651" y="3233142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651" y="2990255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042350" y="3233142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42350" y="2990255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1750" y="3542705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58701" y="3618905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8701" y="3787080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flashcards laid out on the table as a visual prompt for anyone who blanks.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241750" y="3542705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368701" y="3618905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368701" y="3787080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Advanced students must also add 跟朋友一起 before each sport, not just the bare word.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051750" y="3542705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178701" y="3618905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178701" y="3787080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the chain must produce at least one sport aloud.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914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GAME · SLAP THE BOARD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20588"/>
            <a:ext cx="644277" cy="228600"/>
          </a:xfrm>
          <a:prstGeom prst="roundRect">
            <a:avLst>
              <a:gd name="adj" fmla="val 66667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58688"/>
            <a:ext cx="3462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77528" y="406301"/>
            <a:ext cx="700236" cy="257175"/>
          </a:xfrm>
          <a:prstGeom prst="roundRect">
            <a:avLst>
              <a:gd name="adj" fmla="val 592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14004" y="453926"/>
            <a:ext cx="435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9265" y="420588"/>
            <a:ext cx="1473696" cy="228600"/>
          </a:xfrm>
          <a:prstGeom prst="roundRect">
            <a:avLst>
              <a:gd name="adj" fmla="val 66667"/>
            </a:avLst>
          </a:prstGeom>
          <a:solidFill>
            <a:srgbClr val="FB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06216" y="458688"/>
            <a:ext cx="1244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Players at a Time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31750" y="73967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Slap the Board · 拍词游戏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31750" y="1180951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a sport in Chinese → both players slap the matching card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1750" y="1472952"/>
            <a:ext cx="4317950" cy="2263080"/>
          </a:xfrm>
          <a:prstGeom prst="roundRect">
            <a:avLst>
              <a:gd name="adj" fmla="val 4489"/>
            </a:avLst>
          </a:prstGeom>
          <a:noFill/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800" y="1492002"/>
            <a:ext cx="855911" cy="333375"/>
          </a:xfrm>
          <a:prstGeom prst="rect">
            <a:avLst/>
          </a:prstGeom>
          <a:solidFill>
            <a:srgbClr val="FBEEEC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0819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306711" y="1492002"/>
            <a:ext cx="855911" cy="333375"/>
          </a:xfrm>
          <a:prstGeom prst="rect">
            <a:avLst/>
          </a:prstGeom>
          <a:solidFill>
            <a:srgbClr val="FBEEEC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46729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62621" y="1492002"/>
            <a:ext cx="856059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202638" y="1577727"/>
            <a:ext cx="7760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018681" y="1492002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058699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74591" y="1492002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914610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0800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0819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306711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346729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62621" y="1825377"/>
            <a:ext cx="856059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202638" y="1911102"/>
            <a:ext cx="7760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018681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058699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74591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914610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52851" y="1472952"/>
            <a:ext cx="6807398" cy="1533227"/>
          </a:xfrm>
          <a:prstGeom prst="roundRect">
            <a:avLst>
              <a:gd name="adj" fmla="val 662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130552" y="1599902"/>
            <a:ext cx="65810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30552" y="1838027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students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the board (or a table with cards spread out).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30552" y="2098328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 Teacher calls out a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in Chinese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130552" y="2358628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 Both students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slap the matching card/word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30552" y="2618929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Winner stays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the board for the next round — new challenger steps up.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52851" y="3107680"/>
            <a:ext cx="6807398" cy="628352"/>
          </a:xfrm>
          <a:prstGeom prst="roundRect">
            <a:avLst>
              <a:gd name="adj" fmla="val 12127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124301" y="3228231"/>
            <a:ext cx="6593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 Teacher calls in Chinese → students slap the card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24301" y="3463082"/>
            <a:ext cx="65937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滑雪 → both players slap the 滑雪 card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31750" y="386298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58701" y="393918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58701" y="4107359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cards printed and spread on a table, or written on the whiteboard in a grid.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241750" y="386298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368701" y="393918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PROGRESSION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68701" y="4107359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Winner stays for the next round — new challenger comes up to try to beat them.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051750" y="386298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178701" y="393918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&amp; SLAP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178701" y="4107359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a sport in Chinese — fastest correct slap wins the point.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778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82452"/>
            <a:ext cx="5562600" cy="2002929"/>
          </a:xfrm>
          <a:prstGeom prst="roundRect">
            <a:avLst>
              <a:gd name="adj" fmla="val 50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460153"/>
            <a:ext cx="52075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0350" y="1768078"/>
            <a:ext cx="520750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Name at least 8 sports in Chinese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0350" y="2065139"/>
            <a:ext cx="520750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Use 跟(和)……一起 in a full sentence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0350" y="2362200"/>
            <a:ext cx="520750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Explain why 足球 uses 踢, and 滑冰/滑雪 use no verb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97501" y="1282452"/>
            <a:ext cx="5562749" cy="2002929"/>
          </a:xfrm>
          <a:prstGeom prst="roundRect">
            <a:avLst>
              <a:gd name="adj" fmla="val 50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26101" y="1460153"/>
            <a:ext cx="5207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26101" y="1768078"/>
            <a:ext cx="5105549" cy="669727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449913" y="1768078"/>
            <a:ext cx="0" cy="669727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1427" y="1895029"/>
            <a:ext cx="47965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651427" y="2088654"/>
            <a:ext cx="4796573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sentence: who do you play a sport with? Use 跟(和)……一起.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26101" y="2564755"/>
            <a:ext cx="520766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read the success criteria from the board — class calls out </a:t>
            </a: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example sport per criterion</a:t>
            </a: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95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of hands — 👍/😐/👎 against each criterion.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636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185779" y="1436936"/>
            <a:ext cx="18204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6282" y="1719411"/>
            <a:ext cx="319943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 Family's Sports Story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51692" y="2262336"/>
            <a:ext cx="30884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practising the tricky ou / uo sounds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21150" y="2694087"/>
            <a:ext cx="2286000" cy="1399877"/>
          </a:xfrm>
          <a:prstGeom prst="roundRect">
            <a:avLst>
              <a:gd name="adj" fmla="val 72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57268" y="2871788"/>
            <a:ext cx="181376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957268" y="3338513"/>
            <a:ext cx="18137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7268" y="3592413"/>
            <a:ext cx="18137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Gao Li's family sports story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84850" y="2694087"/>
            <a:ext cx="2286000" cy="1399877"/>
          </a:xfrm>
          <a:prstGeom prst="roundRect">
            <a:avLst>
              <a:gd name="adj" fmla="val 72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20969" y="2871788"/>
            <a:ext cx="181376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20969" y="3338513"/>
            <a:ext cx="18137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语音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20969" y="3592413"/>
            <a:ext cx="18137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Practise ou / uo sounds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06776" y="4297114"/>
            <a:ext cx="3778448" cy="1022300"/>
          </a:xfrm>
          <a:prstGeom prst="roundRect">
            <a:avLst>
              <a:gd name="adj" fmla="val 993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79887" y="4449514"/>
            <a:ext cx="32322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PRONUNCIATION FOCUS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479887" y="4643140"/>
            <a:ext cx="3232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 </a:t>
            </a: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vs</a:t>
            </a: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uo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479887" y="4986040"/>
            <a:ext cx="32322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commonly confused vowel sounds in Mandarin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2026-07-21T08:50:09Z</dcterms:created>
  <dcterms:modified xsi:type="dcterms:W3CDTF">2026-07-21T08:50:09Z</dcterms:modified>
</cp:coreProperties>
</file>