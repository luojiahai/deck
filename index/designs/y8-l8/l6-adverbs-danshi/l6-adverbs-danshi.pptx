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905000"/>
            <a:ext cx="12435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OF 8 · Y8 UNIT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-121920" y="2241500"/>
            <a:ext cx="1243584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4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频率副词·但是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-121920" y="3111401"/>
            <a:ext cx="1243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Frequency Adverbs + 但是 Experience Sentences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-121920" y="3651052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  ·  50 mins  ·  Speaking + Writing  ·  轻松学中文 Book 2 · Unit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REVIEW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38175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Lesson 5 Recap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282601"/>
            <a:ext cx="5749975" cy="1637109"/>
          </a:xfrm>
          <a:prstGeom prst="roundRect">
            <a:avLst>
              <a:gd name="adj" fmla="val 775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1495276"/>
            <a:ext cx="54311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 QUIZ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426" y="1777752"/>
            <a:ext cx="5324624" cy="92928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gives an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prompt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e.g. "I don't really like football, but I like swimming"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the full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sentence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mini whiteboards and hold 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35626" y="1282601"/>
            <a:ext cx="54311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 FROM LESSON 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35626" y="1565077"/>
            <a:ext cx="5324624" cy="898475"/>
          </a:xfrm>
          <a:prstGeom prst="roundRect">
            <a:avLst>
              <a:gd name="adj" fmla="val 11308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48301" y="1727002"/>
            <a:ext cx="49972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不太喜欢……但是……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48301" y="2120652"/>
            <a:ext cx="49972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don't really like ... but 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1750" y="3097411"/>
            <a:ext cx="11328499" cy="762000"/>
          </a:xfrm>
          <a:prstGeom prst="rect">
            <a:avLst/>
          </a:prstGeom>
          <a:solidFill>
            <a:srgbClr val="F6E9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0325" y="3097411"/>
            <a:ext cx="0" cy="762000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500" y="3249811"/>
            <a:ext cx="1103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 already know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contrasting likes. Today you'll use it for a new purpose — contrasting places you have and haven't been — and nail down exactly where frequency words like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经常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常常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go in a sentence."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LEARNING INTENTION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425922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1683097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2264122"/>
            <a:ext cx="11328499" cy="1012775"/>
          </a:xfrm>
          <a:prstGeom prst="rect">
            <a:avLst/>
          </a:prstGeom>
          <a:solidFill>
            <a:srgbClr val="F6E9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0325" y="2264122"/>
            <a:ext cx="0" cy="1012775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500" y="2416522"/>
            <a:ext cx="110304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7500" y="2629198"/>
            <a:ext cx="1103043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correctly place frequency adverbs (</a:t>
            </a:r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经常/常常/差不多</a:t>
            </a:r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 before the verb, and use </a:t>
            </a:r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contrast experiences.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1750" y="3429298"/>
            <a:ext cx="253901" cy="253901"/>
          </a:xfrm>
          <a:prstGeom prst="roundRect">
            <a:avLst>
              <a:gd name="adj" fmla="val 36014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9977" y="3465761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2602" y="3429298"/>
            <a:ext cx="57146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经常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常常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place them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correctly before the verb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not after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1750" y="3784699"/>
            <a:ext cx="253901" cy="253901"/>
          </a:xfrm>
          <a:prstGeom prst="roundRect">
            <a:avLst>
              <a:gd name="adj" fmla="val 36014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8368" y="3821162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2602" y="3784699"/>
            <a:ext cx="42729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rewrite a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常常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 as a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差不多每天都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750" y="4140101"/>
            <a:ext cx="253901" cy="253901"/>
          </a:xfrm>
          <a:prstGeom prst="roundRect">
            <a:avLst>
              <a:gd name="adj" fmla="val 36014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8071" y="4176564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2602" y="4140101"/>
            <a:ext cx="69074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make a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 about places I have and haven't been —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去过……但是没去过……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1750" y="4546402"/>
            <a:ext cx="11328499" cy="784027"/>
          </a:xfrm>
          <a:prstGeom prst="roundRect">
            <a:avLst>
              <a:gd name="adj" fmla="val 12959"/>
            </a:avLst>
          </a:prstGeom>
          <a:solidFill>
            <a:srgbClr val="DCEAEC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9400" y="4795540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💭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0875" y="4692402"/>
            <a:ext cx="36396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我打网球经常。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0875" y="5003453"/>
            <a:ext cx="36396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Does this look right? You'll find out why in a few minutes.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I DO · NEW VOCABULARY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73861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1970336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词汇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244971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 each word · model pronunciation twice · class repeats twice (choral)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2878336"/>
            <a:ext cx="5537299" cy="1184077"/>
          </a:xfrm>
          <a:prstGeom prst="roundRect">
            <a:avLst>
              <a:gd name="adj" fmla="val 10726"/>
            </a:avLst>
          </a:prstGeom>
          <a:solidFill>
            <a:srgbClr val="F6E9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5600" y="3151287"/>
            <a:ext cx="93268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经常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98600" y="3210074"/>
            <a:ext cx="9651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jīngcháng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98600" y="3502075"/>
            <a:ext cx="9651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often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22950" y="2878336"/>
            <a:ext cx="5537299" cy="1184077"/>
          </a:xfrm>
          <a:prstGeom prst="roundRect">
            <a:avLst>
              <a:gd name="adj" fmla="val 10726"/>
            </a:avLst>
          </a:prstGeom>
          <a:solidFill>
            <a:srgbClr val="F6E9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46800" y="3151287"/>
            <a:ext cx="93268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常常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689800" y="3210074"/>
            <a:ext cx="11647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chángcháng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9800" y="3502075"/>
            <a:ext cx="1164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often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750" y="4291013"/>
            <a:ext cx="11328499" cy="726877"/>
          </a:xfrm>
          <a:prstGeom prst="roundRect">
            <a:avLst>
              <a:gd name="adj" fmla="val 13978"/>
            </a:avLst>
          </a:prstGeom>
          <a:solidFill>
            <a:srgbClr val="DCEAEC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9400" y="4511576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0875" y="4437013"/>
            <a:ext cx="4679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经常 and 常常 are near-synonyms — both mean "often"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0875" y="4690914"/>
            <a:ext cx="46798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They are interchangeable in almost every sentence.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I DO · KEY PATTERNS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1272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Key Sentence Patterns · 关键句型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540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Where adverbs go — and how to contrast experiences with 但是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406426"/>
            <a:ext cx="5549950" cy="2875657"/>
          </a:xfrm>
          <a:prstGeom prst="roundRect">
            <a:avLst>
              <a:gd name="adj" fmla="val 441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426" y="1593652"/>
            <a:ext cx="52270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FREQUENCY ADVERB PLACEMENT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4426" y="1857077"/>
            <a:ext cx="5124599" cy="469702"/>
          </a:xfrm>
          <a:prstGeom prst="roundRect">
            <a:avLst>
              <a:gd name="adj" fmla="val 16223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5876" y="1977628"/>
            <a:ext cx="48773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Subject + 经常/常常/差不多 + Verb + Object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426" y="2428280"/>
            <a:ext cx="5124599" cy="419100"/>
          </a:xfrm>
          <a:prstGeom prst="roundRect">
            <a:avLst>
              <a:gd name="adj" fmla="val 18182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0901" y="2514005"/>
            <a:ext cx="10878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我经常运动。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40027" y="2580680"/>
            <a:ext cx="9103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often exercise.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426" y="2910780"/>
            <a:ext cx="5124599" cy="419100"/>
          </a:xfrm>
          <a:prstGeom prst="roundRect">
            <a:avLst>
              <a:gd name="adj" fmla="val 18182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0901" y="2996505"/>
            <a:ext cx="12690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我常常看电影。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44603" y="3063180"/>
            <a:ext cx="12117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often watch movies.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426" y="3393281"/>
            <a:ext cx="5124599" cy="419100"/>
          </a:xfrm>
          <a:prstGeom prst="roundRect">
            <a:avLst>
              <a:gd name="adj" fmla="val 18182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0901" y="3479006"/>
            <a:ext cx="18130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我差不多每天都游泳。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70772" y="3545681"/>
            <a:ext cx="13890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swim almost every day.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426" y="3913882"/>
            <a:ext cx="52270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adverb sits </a:t>
            </a:r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directly before the verb</a:t>
            </a:r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never at the end of the sentence.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0300" y="1406426"/>
            <a:ext cx="5549950" cy="2875657"/>
          </a:xfrm>
          <a:prstGeom prst="roundRect">
            <a:avLst>
              <a:gd name="adj" fmla="val 441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22975" y="1593652"/>
            <a:ext cx="52270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 EXPERIENCE SENTENCES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22975" y="1857077"/>
            <a:ext cx="5124599" cy="469702"/>
          </a:xfrm>
          <a:prstGeom prst="roundRect">
            <a:avLst>
              <a:gd name="adj" fmla="val 16223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94425" y="1977628"/>
            <a:ext cx="48773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我去过____，但是没去过____。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2975" y="2428280"/>
            <a:ext cx="5124599" cy="656927"/>
          </a:xfrm>
          <a:prstGeom prst="roundRect">
            <a:avLst>
              <a:gd name="adj" fmla="val 11599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59451" y="2539305"/>
            <a:ext cx="49486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我去过英国和美国，但是没去过日本。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59451" y="2812256"/>
            <a:ext cx="49486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I've been to the UK and the US, but haven't been to Japan.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22975" y="3186708"/>
            <a:ext cx="522709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去过</a:t>
            </a:r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"have been to" (met earlier) — today's focus is joining two experiences with 但是.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I DO · CFU CHECKPOINTS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73861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1970336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244971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your answer on your mini whiteboard </a:t>
            </a:r>
            <a:pPr algn="l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2802136"/>
            <a:ext cx="11328499" cy="653951"/>
          </a:xfrm>
          <a:prstGeom prst="roundRect">
            <a:avLst>
              <a:gd name="adj" fmla="val 1942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426" y="2964061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2269" y="3014811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227" y="2964061"/>
            <a:ext cx="106032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check: </a:t>
            </a:r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我看电影经常。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What's wrong?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1750" y="3583037"/>
            <a:ext cx="11328499" cy="653951"/>
          </a:xfrm>
          <a:prstGeom prst="roundRect">
            <a:avLst>
              <a:gd name="adj" fmla="val 1942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4426" y="374496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7238" y="3795713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227" y="3744962"/>
            <a:ext cx="1060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translate: "I often play tennis." </a:t>
            </a:r>
            <a:pPr algn="l"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750" y="4363938"/>
            <a:ext cx="11328499" cy="653951"/>
          </a:xfrm>
          <a:prstGeom prst="roundRect">
            <a:avLst>
              <a:gd name="adj" fmla="val 1942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4426" y="452586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6791" y="4576614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227" y="4525863"/>
            <a:ext cx="106032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差不多每天都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means the same thing as 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常常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just stronger.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I DO · CFU ANSWERS ↳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391245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1648420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2254746"/>
            <a:ext cx="11328499" cy="952202"/>
          </a:xfrm>
          <a:prstGeom prst="roundRect">
            <a:avLst>
              <a:gd name="adj" fmla="val 1333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2391221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2269" y="2441972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227" y="2391221"/>
            <a:ext cx="106032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check: 我看电影经常。 What's wrong?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227" y="2597497"/>
            <a:ext cx="106032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我经常看电影。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2227" y="2908548"/>
            <a:ext cx="1060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adverb must come before the verb — not at the end.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1750" y="3333899"/>
            <a:ext cx="11328499" cy="952202"/>
          </a:xfrm>
          <a:prstGeom prst="roundRect">
            <a:avLst>
              <a:gd name="adj" fmla="val 1333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4426" y="3470374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7238" y="3521125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227" y="3470374"/>
            <a:ext cx="106032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"I often play tennis."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227" y="3676650"/>
            <a:ext cx="106032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我经常/常常打网球。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227" y="3987701"/>
            <a:ext cx="1060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Either adverb works — they're interchangeable.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1750" y="4413052"/>
            <a:ext cx="11328499" cy="952202"/>
          </a:xfrm>
          <a:prstGeom prst="roundRect">
            <a:avLst>
              <a:gd name="adj" fmla="val 1333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4426" y="454952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6791" y="4600277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227" y="4549527"/>
            <a:ext cx="106032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Does 差不多每天都 mean the same as 常常, just stronger?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227" y="4755803"/>
            <a:ext cx="106032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Yes 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227" y="5066854"/>
            <a:ext cx="1060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差不多每天都 = "almost every day" — i.e. very often.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GAME · CORRECT THE TEACHER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237741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Correct the Teacher!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40392" y="412849"/>
            <a:ext cx="742504" cy="326827"/>
          </a:xfrm>
          <a:prstGeom prst="roundRect">
            <a:avLst>
              <a:gd name="adj" fmla="val 62173"/>
            </a:avLst>
          </a:prstGeom>
          <a:solidFill>
            <a:srgbClr val="DCEAEC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227618" y="485775"/>
            <a:ext cx="3754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84396" y="412849"/>
            <a:ext cx="875854" cy="326827"/>
          </a:xfrm>
          <a:prstGeom prst="roundRect">
            <a:avLst>
              <a:gd name="adj" fmla="val 62173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071622" y="485775"/>
            <a:ext cx="511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1750" y="923925"/>
            <a:ext cx="115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sentence below has an adverb placement mistake. Find the error and write the corrected sentence.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1285875"/>
            <a:ext cx="3657600" cy="1406128"/>
          </a:xfrm>
          <a:prstGeom prst="roundRect">
            <a:avLst>
              <a:gd name="adj" fmla="val 9032"/>
            </a:avLst>
          </a:prstGeom>
          <a:solidFill>
            <a:srgbClr val="D4756B">
              <a:alpha val="7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3951" y="1482626"/>
            <a:ext cx="32774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951" y="1771501"/>
            <a:ext cx="327746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我运动经常。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3951" y="2222302"/>
            <a:ext cx="3213199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951" y="2333327"/>
            <a:ext cx="32774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 </a:t>
            </a:r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你来写…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67051" y="1285875"/>
            <a:ext cx="3657749" cy="1406128"/>
          </a:xfrm>
          <a:prstGeom prst="roundRect">
            <a:avLst>
              <a:gd name="adj" fmla="val 9032"/>
            </a:avLst>
          </a:prstGeom>
          <a:solidFill>
            <a:srgbClr val="D4756B">
              <a:alpha val="7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89252" y="1482626"/>
            <a:ext cx="32776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9252" y="1771501"/>
            <a:ext cx="327761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我看电影常常。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489252" y="2222302"/>
            <a:ext cx="3213348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9252" y="2333327"/>
            <a:ext cx="32776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 </a:t>
            </a:r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你来写…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02501" y="1285875"/>
            <a:ext cx="3657749" cy="1406128"/>
          </a:xfrm>
          <a:prstGeom prst="roundRect">
            <a:avLst>
              <a:gd name="adj" fmla="val 9032"/>
            </a:avLst>
          </a:prstGeom>
          <a:solidFill>
            <a:srgbClr val="D4756B">
              <a:alpha val="7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24701" y="1482626"/>
            <a:ext cx="32776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24701" y="1771501"/>
            <a:ext cx="327761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我游泳差不多每天都。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324701" y="2222302"/>
            <a:ext cx="3213348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4701" y="2333327"/>
            <a:ext cx="32776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 </a:t>
            </a:r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你来写…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1750" y="2844403"/>
            <a:ext cx="11328499" cy="434876"/>
          </a:xfrm>
          <a:prstGeom prst="roundRect">
            <a:avLst>
              <a:gd name="adj" fmla="val 233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4901" y="2971354"/>
            <a:ext cx="11140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Setup:</a:t>
            </a:r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Sentences shown one at a time — students write the corrected sentence on their whiteboards and hold up.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GAME · 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2171998"/>
            <a:ext cx="371359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Correct the Teacher — Answers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17746" y="2203847"/>
            <a:ext cx="742504" cy="326827"/>
          </a:xfrm>
          <a:prstGeom prst="roundRect">
            <a:avLst>
              <a:gd name="adj" fmla="val 62173"/>
            </a:avLst>
          </a:prstGeom>
          <a:solidFill>
            <a:srgbClr val="DCEAEC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204972" y="2276773"/>
            <a:ext cx="3754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1750" y="2765673"/>
            <a:ext cx="3657600" cy="1818829"/>
          </a:xfrm>
          <a:prstGeom prst="roundRect">
            <a:avLst>
              <a:gd name="adj" fmla="val 69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426" y="2952899"/>
            <a:ext cx="32968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4426" y="3241774"/>
            <a:ext cx="32968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我运动经常。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426" y="3654475"/>
            <a:ext cx="323224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4426" y="3794075"/>
            <a:ext cx="32968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4426" y="4082951"/>
            <a:ext cx="329689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经常</a:t>
            </a:r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67051" y="2765673"/>
            <a:ext cx="3657749" cy="1818829"/>
          </a:xfrm>
          <a:prstGeom prst="roundRect">
            <a:avLst>
              <a:gd name="adj" fmla="val 69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79727" y="2952899"/>
            <a:ext cx="3297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79727" y="3241774"/>
            <a:ext cx="32970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我看电影常常。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79727" y="3654475"/>
            <a:ext cx="3232398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79727" y="3794075"/>
            <a:ext cx="3297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79727" y="4082951"/>
            <a:ext cx="329704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常常</a:t>
            </a:r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看电影。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02501" y="2765673"/>
            <a:ext cx="3657749" cy="1818829"/>
          </a:xfrm>
          <a:prstGeom prst="roundRect">
            <a:avLst>
              <a:gd name="adj" fmla="val 69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15176" y="2952899"/>
            <a:ext cx="3297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15176" y="3241774"/>
            <a:ext cx="32970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我游泳差不多每天都。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15176" y="3654475"/>
            <a:ext cx="3232398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315176" y="3794075"/>
            <a:ext cx="32970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15176" y="4082951"/>
            <a:ext cx="329704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差不多每天都</a:t>
            </a:r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游泳。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ACTIVITY 1 · ACT.16 REWRITE · WE DO → YOU 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90525"/>
            <a:ext cx="939998" cy="307777"/>
          </a:xfrm>
          <a:prstGeom prst="roundRect">
            <a:avLst>
              <a:gd name="adj" fmla="val 6602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453926"/>
            <a:ext cx="5962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98699" y="381000"/>
            <a:ext cx="877193" cy="326827"/>
          </a:xfrm>
          <a:prstGeom prst="roundRect">
            <a:avLst>
              <a:gd name="adj" fmla="val 6217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85925" y="453926"/>
            <a:ext cx="5127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02843" y="390525"/>
            <a:ext cx="1461939" cy="307777"/>
          </a:xfrm>
          <a:prstGeom prst="roundRect">
            <a:avLst>
              <a:gd name="adj" fmla="val 66022"/>
            </a:avLst>
          </a:prstGeom>
          <a:solidFill>
            <a:srgbClr val="DCEA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80543" y="453926"/>
            <a:ext cx="11286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1750" y="834777"/>
            <a:ext cx="1155506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Act. 16 Rewrite · 常常 → 差不多每天都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1750" y="1237952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Rewrite each 常常 sentence as a 差不多每天都 sentence — same meaning, stronger frequency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750" y="1564928"/>
            <a:ext cx="7326064" cy="1730276"/>
          </a:xfrm>
          <a:prstGeom prst="roundRect">
            <a:avLst>
              <a:gd name="adj" fmla="val 734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9875" y="2265015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97719" y="2315766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7677" y="2166491"/>
            <a:ext cx="3696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EXAMPLE · WE 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77677" y="2379166"/>
            <a:ext cx="36969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他常常打篮球。 </a:t>
            </a:r>
            <a:pPr algn="l" indent="0" marL="0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79789" y="2201466"/>
            <a:ext cx="2539901" cy="457200"/>
          </a:xfrm>
          <a:prstGeom prst="roundRect">
            <a:avLst>
              <a:gd name="adj" fmla="val 44444"/>
            </a:avLst>
          </a:prstGeom>
          <a:solidFill>
            <a:srgbClr val="F6E9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01989" y="2296716"/>
            <a:ext cx="2137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他差不多每天都打篮球。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60965" y="1564928"/>
            <a:ext cx="3799284" cy="1730276"/>
          </a:xfrm>
          <a:prstGeom prst="roundRect">
            <a:avLst>
              <a:gd name="adj" fmla="val 734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48191" y="1726853"/>
            <a:ext cx="34933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148191" y="1990279"/>
            <a:ext cx="34933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👩‍🏫 First example done together as a class (We Do)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48191" y="2276029"/>
            <a:ext cx="349332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👥 Pairs continue independently on mini whiteboards (You Do)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8191" y="2742754"/>
            <a:ext cx="349332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Extension: write one original 常常 sentence, swap with a partner to rewrite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1750" y="3422154"/>
            <a:ext cx="3691533" cy="714077"/>
          </a:xfrm>
          <a:prstGeom prst="roundRect">
            <a:avLst>
              <a:gd name="adj" fmla="val 14228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4150" y="3523655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4150" y="3710880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example done together as a class (We Do) before pairs continue independently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50234" y="3422154"/>
            <a:ext cx="3691533" cy="714077"/>
          </a:xfrm>
          <a:prstGeom prst="roundRect">
            <a:avLst>
              <a:gd name="adj" fmla="val 14228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02634" y="3523655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02634" y="3710880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one additional original 常常 sentence, then swap with a partner to rewrite each other's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68717" y="3422154"/>
            <a:ext cx="3691533" cy="714077"/>
          </a:xfrm>
          <a:prstGeom prst="roundRect">
            <a:avLst>
              <a:gd name="adj" fmla="val 14228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221117" y="3523655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1117" y="3710880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Whole-class whiteboard hold-up after each rewrite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ACTIVITY 2 · 但是 EXPERIENCE SENTENCES · YOU 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3324"/>
            <a:ext cx="1202680" cy="307777"/>
          </a:xfrm>
          <a:prstGeom prst="roundRect">
            <a:avLst>
              <a:gd name="adj" fmla="val 6602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66725"/>
            <a:ext cx="8123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12131" y="381000"/>
            <a:ext cx="282204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 Experience Sentences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1750" y="885825"/>
            <a:ext cx="927348" cy="345877"/>
          </a:xfrm>
          <a:prstGeom prst="roundRect">
            <a:avLst>
              <a:gd name="adj" fmla="val 58749"/>
            </a:avLst>
          </a:prstGeom>
          <a:solidFill>
            <a:srgbClr val="F6E9D3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958751"/>
            <a:ext cx="5639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86049" y="914400"/>
            <a:ext cx="877193" cy="288727"/>
          </a:xfrm>
          <a:prstGeom prst="roundRect">
            <a:avLst>
              <a:gd name="adj" fmla="val 70378"/>
            </a:avLst>
          </a:prstGeom>
          <a:solidFill>
            <a:srgbClr val="DCEA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63750" y="977801"/>
            <a:ext cx="5322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1750" y="1384102"/>
            <a:ext cx="5546824" cy="1713309"/>
          </a:xfrm>
          <a:prstGeom prst="roundRect">
            <a:avLst>
              <a:gd name="adj" fmla="val 741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4426" y="1596777"/>
            <a:ext cx="52239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426" y="1879253"/>
            <a:ext cx="5121473" cy="100548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You'll receive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experience checklists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places visited (✓) and not visited (✗)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sentence for each checklist using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去过……但是没去过……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the worked example as your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2475" y="1384102"/>
            <a:ext cx="5527774" cy="1713309"/>
          </a:xfrm>
          <a:prstGeom prst="roundRect">
            <a:avLst>
              <a:gd name="adj" fmla="val 741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35626" y="1587252"/>
            <a:ext cx="52239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WORKED EXAMPLE · 例句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35626" y="1869728"/>
            <a:ext cx="522390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我去过英国和美国，但是没去过日本。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5626" y="2230338"/>
            <a:ext cx="52239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I've been to the UK and the US, but haven't been to Japan.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1750" y="3249811"/>
            <a:ext cx="3691533" cy="714077"/>
          </a:xfrm>
          <a:prstGeom prst="roundRect">
            <a:avLst>
              <a:gd name="adj" fmla="val 1422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4150" y="3351312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4150" y="3538538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worked textbook example stays projected as a model to adapt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50234" y="3249811"/>
            <a:ext cx="3691533" cy="714077"/>
          </a:xfrm>
          <a:prstGeom prst="roundRect">
            <a:avLst>
              <a:gd name="adj" fmla="val 1422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02634" y="3351312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02634" y="3538538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one checklist and sentence about their own real travel experience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68717" y="3249811"/>
            <a:ext cx="3691533" cy="714077"/>
          </a:xfrm>
          <a:prstGeom prst="roundRect">
            <a:avLst>
              <a:gd name="adj" fmla="val 1422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21117" y="3351312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1117" y="3538538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4–5 students to read one sentence aloud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ACTIVITY 3 · CUMULATIVE INTERVIEW · CAPSTONE · YOU 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3324"/>
            <a:ext cx="1203275" cy="307777"/>
          </a:xfrm>
          <a:prstGeom prst="roundRect">
            <a:avLst>
              <a:gd name="adj" fmla="val 6602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66725"/>
            <a:ext cx="81291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12727" y="381000"/>
            <a:ext cx="22934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Cumulative Interview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1750" y="885825"/>
            <a:ext cx="927348" cy="345877"/>
          </a:xfrm>
          <a:prstGeom prst="roundRect">
            <a:avLst>
              <a:gd name="adj" fmla="val 58749"/>
            </a:avLst>
          </a:prstGeom>
          <a:solidFill>
            <a:srgbClr val="F6E9D3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958751"/>
            <a:ext cx="5639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86049" y="914400"/>
            <a:ext cx="877193" cy="288727"/>
          </a:xfrm>
          <a:prstGeom prst="roundRect">
            <a:avLst>
              <a:gd name="adj" fmla="val 70378"/>
            </a:avLst>
          </a:prstGeom>
          <a:solidFill>
            <a:srgbClr val="DCEA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63750" y="977801"/>
            <a:ext cx="5322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0192" y="914400"/>
            <a:ext cx="1662559" cy="288727"/>
          </a:xfrm>
          <a:prstGeom prst="roundRect">
            <a:avLst>
              <a:gd name="adj" fmla="val 70378"/>
            </a:avLst>
          </a:prstGeom>
          <a:solidFill>
            <a:srgbClr val="D475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67893" y="977801"/>
            <a:ext cx="13333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CAPSTONE · ACT. 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1750" y="1384102"/>
            <a:ext cx="5546824" cy="1732806"/>
          </a:xfrm>
          <a:prstGeom prst="roundRect">
            <a:avLst>
              <a:gd name="adj" fmla="val 732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4426" y="1596777"/>
            <a:ext cx="52239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426" y="1879253"/>
            <a:ext cx="5121473" cy="79221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work through the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11-question interview sheet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your partner's answers on the printed sheet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 cover school and hobbies from across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Lessons 1–6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2475" y="1384102"/>
            <a:ext cx="5527774" cy="1732806"/>
          </a:xfrm>
          <a:prstGeom prst="roundRect">
            <a:avLst>
              <a:gd name="adj" fmla="val 732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35626" y="1587252"/>
            <a:ext cx="52239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 COVERAGE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35626" y="1869728"/>
            <a:ext cx="1094780" cy="326827"/>
          </a:xfrm>
          <a:prstGeom prst="roundRect">
            <a:avLst>
              <a:gd name="adj" fmla="val 6217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97551" y="1942654"/>
            <a:ext cx="7863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Sports liked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31906" y="1869728"/>
            <a:ext cx="871389" cy="326827"/>
          </a:xfrm>
          <a:prstGeom prst="roundRect">
            <a:avLst>
              <a:gd name="adj" fmla="val 6217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93831" y="1942654"/>
            <a:ext cx="5584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04796" y="1869728"/>
            <a:ext cx="917823" cy="326827"/>
          </a:xfrm>
          <a:prstGeom prst="roundRect">
            <a:avLst>
              <a:gd name="adj" fmla="val 6217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766721" y="1942654"/>
            <a:ext cx="6058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 with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24120" y="1869728"/>
            <a:ext cx="1749028" cy="326827"/>
          </a:xfrm>
          <a:prstGeom prst="roundRect">
            <a:avLst>
              <a:gd name="adj" fmla="val 6217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786045" y="1942654"/>
            <a:ext cx="14536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TV/movie preferences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35626" y="2298055"/>
            <a:ext cx="987177" cy="326827"/>
          </a:xfrm>
          <a:prstGeom prst="roundRect">
            <a:avLst>
              <a:gd name="adj" fmla="val 6217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597551" y="2370981"/>
            <a:ext cx="6765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35626" y="2751832"/>
            <a:ext cx="52239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Materials:</a:t>
            </a:r>
            <a:pPr algn="l" indent="0" marL="0">
              <a:spcBef>
                <a:spcPts val="10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Printed 11-question interview sheet (Act. 8)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1750" y="3269307"/>
            <a:ext cx="3691533" cy="714077"/>
          </a:xfrm>
          <a:prstGeom prst="roundRect">
            <a:avLst>
              <a:gd name="adj" fmla="val 1422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84150" y="3370808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4150" y="3558034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 are pre-printed in full Chinese with English glosses underneath for the first few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50234" y="3269307"/>
            <a:ext cx="3691533" cy="714077"/>
          </a:xfrm>
          <a:prstGeom prst="roundRect">
            <a:avLst>
              <a:gd name="adj" fmla="val 1422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402634" y="3370808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02634" y="3558034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ask one bonus follow-up question in Chinese beyond the 11 listed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68717" y="3269307"/>
            <a:ext cx="3691533" cy="714077"/>
          </a:xfrm>
          <a:prstGeom prst="roundRect">
            <a:avLst>
              <a:gd name="adj" fmla="val 1422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221117" y="3370808"/>
            <a:ext cx="3454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1117" y="3558034"/>
            <a:ext cx="345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both asks and answers all 11 questions; 2–3 pairs report one interesting answer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PLENARY · 43–50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790849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2048024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2629049"/>
            <a:ext cx="5549950" cy="2336453"/>
          </a:xfrm>
          <a:prstGeom prst="roundRect">
            <a:avLst>
              <a:gd name="adj" fmla="val 543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2841724"/>
            <a:ext cx="52270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426" y="3149650"/>
            <a:ext cx="6252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84399" y="3163937"/>
            <a:ext cx="28439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Place 经常/常常 correctly before the verb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426" y="3479750"/>
            <a:ext cx="6252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84399" y="3494038"/>
            <a:ext cx="27954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Rewrite a 常常 sentence as 差不多每天都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426" y="3809851"/>
            <a:ext cx="6252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84399" y="3824139"/>
            <a:ext cx="2823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 a 去过……但是没去过…… sentence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0300" y="2629049"/>
            <a:ext cx="5549950" cy="2336453"/>
          </a:xfrm>
          <a:prstGeom prst="roundRect">
            <a:avLst>
              <a:gd name="adj" fmla="val 543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22975" y="2841724"/>
            <a:ext cx="52270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22975" y="3149650"/>
            <a:ext cx="5124599" cy="961876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451550" y="3149650"/>
            <a:ext cx="0" cy="961876"/>
          </a:xfrm>
          <a:prstGeom prst="line">
            <a:avLst/>
          </a:prstGeom>
          <a:noFill/>
          <a:ln w="57150">
            <a:solidFill>
              <a:srgbClr val="3A7D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7826" y="3276600"/>
            <a:ext cx="48062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57826" y="3489275"/>
            <a:ext cx="480628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 using 经常 or 常常 correctly placed before the verb.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22975" y="4238476"/>
            <a:ext cx="52270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0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read the Success Criteria and self-check one 经常/常常 sentence and one 但是 sentence against them. Also complete: thumbs up / sideways / down self-assessment against each criterion above.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经常/常常 + 但是 · PREVIEW · NEXT LESSON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57808" y="2770287"/>
            <a:ext cx="2076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66489" y="3122712"/>
            <a:ext cx="345902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Simple Characters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86304" y="3701653"/>
            <a:ext cx="8419392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we learn four new simple characters and build new words by combining characters.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2026-07-21T08:50:54Z</dcterms:created>
  <dcterms:modified xsi:type="dcterms:W3CDTF">2026-07-21T08:50:54Z</dcterms:modified>
</cp:coreProperties>
</file>