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8270" y="4970066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68342" y="4970066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90531" y="4970066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33000" y="4826000"/>
            <a:ext cx="2567432" cy="2558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0" dirty="0">
                <a:solidFill>
                  <a:srgbClr val="C8943E">
                    <a:alpha val="4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endParaRPr lang="en-US" sz="20000" dirty="0"/>
          </a:p>
        </p:txBody>
      </p:sp>
      <p:sp>
        <p:nvSpPr>
          <p:cNvPr id="6" name="Text 4"/>
          <p:cNvSpPr/>
          <p:nvPr/>
        </p:nvSpPr>
        <p:spPr>
          <a:xfrm>
            <a:off x="3680420" y="1798935"/>
            <a:ext cx="4858591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spc="20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6 OF 8 · Y8 UNIT 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80420" y="2135485"/>
            <a:ext cx="4858591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000" dirty="0">
                <a:solidFill>
                  <a:srgbClr val="C8943E">
                    <a:alpha val="15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球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3680420" y="3407966"/>
            <a:ext cx="4858591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频率副词·但是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680420" y="4220766"/>
            <a:ext cx="4858591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spc="6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Frequency Adverbs + 但是 Experience Sentences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812183" y="4906566"/>
            <a:ext cx="7911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906070" y="4906566"/>
            <a:ext cx="43730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46142" y="4906566"/>
            <a:ext cx="1019421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 + Writing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968331" y="4906566"/>
            <a:ext cx="14388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2 · Unit 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8880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708150"/>
            <a:ext cx="5207000" cy="18161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23000" y="2089150"/>
            <a:ext cx="5207000" cy="749300"/>
          </a:xfrm>
          <a:prstGeom prst="roundRect">
            <a:avLst/>
          </a:prstGeom>
          <a:solidFill>
            <a:srgbClr val="EDE7D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2000" y="3702050"/>
            <a:ext cx="10668000" cy="59690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5B667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8000" y="190500"/>
            <a:ext cx="108123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822152" y="187325"/>
            <a:ext cx="85015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762000" y="81280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62000" y="1028700"/>
            <a:ext cx="10695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Lesson 5 Recap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71550" y="2032000"/>
            <a:ext cx="48153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7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 QUIZ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3950" y="2298700"/>
            <a:ext cx="46629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gives an English prompt — e.g. "I don't really like football, but I like swimming"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23950" y="2794000"/>
            <a:ext cx="46629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write the full Chinese sentence on mini whiteboards and hold up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23000" y="1822450"/>
            <a:ext cx="5234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spc="7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 FROM LESSON 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81750" y="2222500"/>
            <a:ext cx="4916932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不太喜欢……但是……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81750" y="2552700"/>
            <a:ext cx="49169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don't really like ... but ...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62000" y="3702050"/>
            <a:ext cx="10695432" cy="615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"You already know 但是 for contrasting likes. Today you'll use it for a new purpose — contrasting places you have and haven't been — and nail down exactly where frequency words like 经常 and 常常 go in a sentence."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8880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495550"/>
            <a:ext cx="8693150" cy="90805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61950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98780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356100"/>
            <a:ext cx="254000" cy="2540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787900"/>
            <a:ext cx="8610600" cy="6413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108123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822152" y="187325"/>
            <a:ext cx="86831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89000" y="160655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89000" y="1835150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1123950" y="2635250"/>
            <a:ext cx="8282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23950" y="2794000"/>
            <a:ext cx="8282432" cy="48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correctly place frequency adverbs (经常/常常/差不多) before the verb, and use 但是 to contrast experiences.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89000" y="361950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244600" y="3606800"/>
            <a:ext cx="5092946" cy="2437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经常 and 常常 and place them correctly before the verb, not after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89000" y="398780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244600" y="3975100"/>
            <a:ext cx="3799332" cy="2437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rewrite a 常常 sentence as a 差不多每天都 sentence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9000" y="4356100"/>
            <a:ext cx="2814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244600" y="4343400"/>
            <a:ext cx="6209951" cy="2437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make a 但是 sentence about places I have and haven't been — 去过……但是没去过……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66800" y="4994275"/>
            <a:ext cx="179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💭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320800" y="4902200"/>
            <a:ext cx="3032669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我打网球经常。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20800" y="5149850"/>
            <a:ext cx="3032669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Does this look right? You'll find out why in a few minutes.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8880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3168650"/>
            <a:ext cx="5118100" cy="10668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184900" y="3168650"/>
            <a:ext cx="5118100" cy="10668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438650"/>
            <a:ext cx="10414000" cy="5461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8000" y="190500"/>
            <a:ext cx="108123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822152" y="187325"/>
            <a:ext cx="168071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89000" y="207645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89000" y="2292350"/>
            <a:ext cx="10441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词汇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89000" y="2768600"/>
            <a:ext cx="10441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Show each word · model pronunciation twice · class repeats twice (choral)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155700" y="3409950"/>
            <a:ext cx="840232" cy="602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经常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146300" y="3470275"/>
            <a:ext cx="739624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jīngcháng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46300" y="3730625"/>
            <a:ext cx="739624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often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51600" y="3409950"/>
            <a:ext cx="840232" cy="602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常常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442200" y="3470275"/>
            <a:ext cx="912959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chángcháng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42200" y="3730625"/>
            <a:ext cx="912959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often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79500" y="4597400"/>
            <a:ext cx="179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🔁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33500" y="4552950"/>
            <a:ext cx="3413966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经常 and 常常 are near-synonyms — both mean "often"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333500" y="4737100"/>
            <a:ext cx="3413966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They are interchangeable in almost every sentence.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8880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1809750"/>
            <a:ext cx="5232400" cy="28194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8850" y="2438400"/>
            <a:ext cx="4838700" cy="4127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8850" y="2952750"/>
            <a:ext cx="4838700" cy="3746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8850" y="3390900"/>
            <a:ext cx="4838700" cy="3746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8850" y="3829050"/>
            <a:ext cx="4838700" cy="3746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7600" y="1809750"/>
            <a:ext cx="5232400" cy="28194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94450" y="2438400"/>
            <a:ext cx="4838700" cy="4127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94450" y="2952750"/>
            <a:ext cx="4838700" cy="61595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8000" y="190500"/>
            <a:ext cx="108123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822152" y="187325"/>
            <a:ext cx="90899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Patterns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62000" y="787400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62000" y="1003300"/>
            <a:ext cx="10695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Sentence Patterns · 关键句型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762000" y="1460500"/>
            <a:ext cx="10695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Where adverbs go — and how to contrast experiences with 但是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58850" y="2082800"/>
            <a:ext cx="48661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64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FREQUENCY ADVERB PLACEMENT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58850" y="2438400"/>
            <a:ext cx="48661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Subject + 经常/常常/差不多 + Verb + Object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66800" y="3022600"/>
            <a:ext cx="10180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我经常运动。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55877" y="3092450"/>
            <a:ext cx="76115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often exercise.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66800" y="3460750"/>
            <a:ext cx="11831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我常常看电影。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89376" y="3530600"/>
            <a:ext cx="1027656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often watch movies.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66800" y="3898900"/>
            <a:ext cx="16784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我差不多每天都游泳。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35884" y="3968750"/>
            <a:ext cx="11811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swim almost every day.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958850" y="4305300"/>
            <a:ext cx="48661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adverb sits directly before the verb — never at the end of the sentence.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394450" y="2082800"/>
            <a:ext cx="48661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64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但是 EXPERIENCE SENTENCES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94450" y="2438400"/>
            <a:ext cx="48661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我去过____，但是没去过____。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02400" y="3022600"/>
            <a:ext cx="28341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我去过英国和美国，但是没去过日本。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02400" y="3346450"/>
            <a:ext cx="2770930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I've been to the UK and the US, but haven't been to Japan.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394450" y="3670300"/>
            <a:ext cx="48661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去过 = "have been to" (met earlier) — today's focus is joining two experiences with 但是.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8880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41812" y="2403673"/>
            <a:ext cx="772616" cy="1587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2791023"/>
            <a:ext cx="10414000" cy="793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73150" y="2949773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737173"/>
            <a:ext cx="10414000" cy="7620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3150" y="3895923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000" y="4651573"/>
            <a:ext cx="10414000" cy="7747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3150" y="4810323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108123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822152" y="187325"/>
            <a:ext cx="111417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89000" y="1609527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89000" y="1838127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889000" y="2371527"/>
            <a:ext cx="10441432" cy="20918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answer on your mini whiteboard WHITEBOARD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3150" y="2949773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79550" y="2949773"/>
            <a:ext cx="96667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check: 我看电影经常。 What's wrong?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79550" y="3254573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73150" y="3895923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79550" y="3895923"/>
            <a:ext cx="96667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Quick translate: "I often play tennis." Write it.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79550" y="4168973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73150" y="4810323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79550" y="4810323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Thumbs up if 差不多每天都 means the same thing as 常常, just stronger.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79550" y="5096073"/>
            <a:ext cx="96667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B94A3">
                    <a:alpha val="3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8880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466975"/>
            <a:ext cx="10414000" cy="920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2600325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514725"/>
            <a:ext cx="10414000" cy="920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73150" y="3648075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4562475"/>
            <a:ext cx="10414000" cy="9207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3150" y="4695825"/>
            <a:ext cx="279400" cy="279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000" y="190500"/>
            <a:ext cx="108123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822152" y="187325"/>
            <a:ext cx="104482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89000" y="155257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89000" y="1781175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1073150" y="2600325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79550" y="2600325"/>
            <a:ext cx="96667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check: 我看电影经常。 What's wrong?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479550" y="2835275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我经常看电影。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79550" y="3095625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adverb must come before the verb — not at the end.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73150" y="3648075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79550" y="3648075"/>
            <a:ext cx="96667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"I often play tennis."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479550" y="3883025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我经常/常常打网球。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79550" y="4143375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Either adverb works — they're interchangeable.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073150" y="4695825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479550" y="4695825"/>
            <a:ext cx="96667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Does 差不多每天都 mean the same as 常常, just stronger?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479550" y="4930775"/>
            <a:ext cx="96667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Yes 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79550" y="5191125"/>
            <a:ext cx="96667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差不多每天都 = "almost every day" — i.e. very often.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8880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70741" y="854075"/>
            <a:ext cx="513060" cy="2349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60001" y="847725"/>
            <a:ext cx="596999" cy="2476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5000" y="1676400"/>
            <a:ext cx="3556000" cy="4178300"/>
          </a:xfrm>
          <a:prstGeom prst="roundRect">
            <a:avLst/>
          </a:prstGeom>
          <a:solidFill>
            <a:srgbClr val="D4756B">
              <a:alpha val="7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2800" y="2500610"/>
            <a:ext cx="3200400" cy="368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18000" y="1676400"/>
            <a:ext cx="3556000" cy="4178300"/>
          </a:xfrm>
          <a:prstGeom prst="roundRect">
            <a:avLst/>
          </a:prstGeom>
          <a:solidFill>
            <a:srgbClr val="D4756B">
              <a:alpha val="7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95800" y="2500610"/>
            <a:ext cx="3200400" cy="368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01000" y="1676400"/>
            <a:ext cx="3556000" cy="4178300"/>
          </a:xfrm>
          <a:prstGeom prst="roundRect">
            <a:avLst/>
          </a:prstGeom>
          <a:solidFill>
            <a:srgbClr val="D4756B">
              <a:alpha val="7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78800" y="2500610"/>
            <a:ext cx="3200400" cy="368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000" y="5994400"/>
            <a:ext cx="10922000" cy="330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8000" y="190500"/>
            <a:ext cx="108123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822152" y="187325"/>
            <a:ext cx="131886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Correct the Teacher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5000" y="762000"/>
            <a:ext cx="314151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Correct the Teacher!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10370741" y="854075"/>
            <a:ext cx="54049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0960001" y="847725"/>
            <a:ext cx="624431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35000" y="1308100"/>
            <a:ext cx="109494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sentence below has an adverb placement mistake. Find the error and write the corrected sentence.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12800" y="1866900"/>
            <a:ext cx="3227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1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812800" y="2101850"/>
            <a:ext cx="3227832" cy="302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我运动经常。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12800" y="2681585"/>
            <a:ext cx="541782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1390650" y="2624435"/>
            <a:ext cx="6370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你来写…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95800" y="1866900"/>
            <a:ext cx="3227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2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4495800" y="2101850"/>
            <a:ext cx="3227832" cy="302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我看电影常常。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95800" y="2681585"/>
            <a:ext cx="541782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5073650" y="2624435"/>
            <a:ext cx="6370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你来写…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178800" y="1866900"/>
            <a:ext cx="32278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3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8178800" y="2101850"/>
            <a:ext cx="3227832" cy="3027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我游泳差不多每天都。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178800" y="2681585"/>
            <a:ext cx="541782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8756650" y="2624435"/>
            <a:ext cx="6370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你来写…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5000" y="5994400"/>
            <a:ext cx="1094943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Setup: Sentences shown one at a time — students write the corrected sentence on their whiteboards and hold up.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8880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43940" y="854075"/>
            <a:ext cx="513060" cy="2349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308100"/>
            <a:ext cx="3556000" cy="5016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6450" y="2009080"/>
            <a:ext cx="3213100" cy="635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18000" y="1308100"/>
            <a:ext cx="3556000" cy="5016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89450" y="2009080"/>
            <a:ext cx="3213100" cy="635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01000" y="1308100"/>
            <a:ext cx="3556000" cy="50165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72450" y="2009080"/>
            <a:ext cx="3213100" cy="635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8000" y="190500"/>
            <a:ext cx="108123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822152" y="187325"/>
            <a:ext cx="81076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Answers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35000" y="762000"/>
            <a:ext cx="4765028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Correct the Teacher — Answers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11043940" y="854075"/>
            <a:ext cx="54049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06450" y="1466850"/>
            <a:ext cx="32405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806450" y="1676400"/>
            <a:ext cx="3240532" cy="24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我运动经常。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6450" y="2117030"/>
            <a:ext cx="3240532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CORRECT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06450" y="2263080"/>
            <a:ext cx="3240532" cy="24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我经常运动。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489450" y="1466850"/>
            <a:ext cx="32405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2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4489450" y="1676400"/>
            <a:ext cx="3240532" cy="24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我看电影常常。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489450" y="2117030"/>
            <a:ext cx="3240532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CORRECT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4489450" y="2263080"/>
            <a:ext cx="3240532" cy="24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我常常看电影。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172450" y="1466850"/>
            <a:ext cx="32405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3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172450" y="1676400"/>
            <a:ext cx="3240532" cy="24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我游泳差不多每天都。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172450" y="2117030"/>
            <a:ext cx="3240532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60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CORRECT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172450" y="2263080"/>
            <a:ext cx="3240532" cy="24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我差不多每天都游泳。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8880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749300"/>
            <a:ext cx="765274" cy="20955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01874" y="736600"/>
            <a:ext cx="596999" cy="2349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00473" y="749300"/>
            <a:ext cx="977602" cy="2095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52600"/>
            <a:ext cx="8204200" cy="7493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1850" y="1987550"/>
            <a:ext cx="279400" cy="2794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21450" y="1946275"/>
            <a:ext cx="2120900" cy="3619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17000" y="1752600"/>
            <a:ext cx="2540000" cy="1881584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000" y="3913584"/>
            <a:ext cx="3572867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9467" y="3913584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84034" y="3913584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000" y="190500"/>
            <a:ext cx="108123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822152" y="187325"/>
            <a:ext cx="210824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Act.16 Rewrite · We Do → You Do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35000" y="749300"/>
            <a:ext cx="792706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501874" y="736600"/>
            <a:ext cx="624431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200473" y="749300"/>
            <a:ext cx="1005034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35000" y="1022350"/>
            <a:ext cx="10949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Act. 16 Rewrite · 常常 → 差不多每天都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35000" y="1428750"/>
            <a:ext cx="10949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Rewrite each 常常 sentence as a 差不多每天都 sentence — same meaning, stronger frequency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31850" y="1987550"/>
            <a:ext cx="3068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38250" y="1898650"/>
            <a:ext cx="518363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 EXAMPLE · WE DO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660650" y="2098675"/>
            <a:ext cx="1925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21450" y="1946275"/>
            <a:ext cx="2148332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他差不多每天都打篮球。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63050" y="1981200"/>
            <a:ext cx="22753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7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9163050" y="2190750"/>
            <a:ext cx="160782" cy="17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👩‍🏫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359900" y="2190750"/>
            <a:ext cx="2078482" cy="3381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example done together as a class (We Do)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63050" y="2574131"/>
            <a:ext cx="160782" cy="17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359900" y="2574131"/>
            <a:ext cx="2078482" cy="3381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Pairs continue independently on mini whiteboards (You Do)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63050" y="2957513"/>
            <a:ext cx="160782" cy="1782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359900" y="2957513"/>
            <a:ext cx="2078482" cy="4981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write one original 常常 sentence, swap with a partner to rewrite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6600" y="3989784"/>
            <a:ext cx="33970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4411067" y="3989784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8085634" y="3989784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8880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50900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32080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349375"/>
            <a:ext cx="556915" cy="190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1746250"/>
            <a:ext cx="5359400" cy="15621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97600" y="1746250"/>
            <a:ext cx="5359400" cy="12192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000" y="3460750"/>
            <a:ext cx="3572867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9467" y="346075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84034" y="346075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8000" y="190500"/>
            <a:ext cx="108123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822152" y="187325"/>
            <a:ext cx="222840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但是 Experience Sentences · You Do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35000" y="850900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563588" y="762000"/>
            <a:ext cx="3658045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但是 Experience Sentences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35000" y="132080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331913" y="1349375"/>
            <a:ext cx="584347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819150" y="2038350"/>
            <a:ext cx="50185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946150" y="2298700"/>
            <a:ext cx="48915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You'll receive 3 experience checklists of places visited (✓) and not visited (✗)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46150" y="2565400"/>
            <a:ext cx="48915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sentence for each checklist using 去过……但是没去过……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46150" y="2832100"/>
            <a:ext cx="48915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the worked example as your model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75400" y="2032000"/>
            <a:ext cx="50312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WORKED EXAMPLE · 例句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375400" y="2292350"/>
            <a:ext cx="5031232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我去过英国和美国，但是没去过日本。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75400" y="2622550"/>
            <a:ext cx="50312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I've been to the UK and the US, but haven't been to Japan.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36600" y="3536950"/>
            <a:ext cx="33970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411067" y="353695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8085634" y="353695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8880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841375"/>
            <a:ext cx="801588" cy="2032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1301750"/>
            <a:ext cx="620713" cy="2476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1913" y="1330325"/>
            <a:ext cx="556915" cy="1905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65027" y="1330325"/>
            <a:ext cx="1153319" cy="1905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5000" y="1727200"/>
            <a:ext cx="5359400" cy="15621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7600" y="1727200"/>
            <a:ext cx="5359400" cy="12382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75400" y="2273300"/>
            <a:ext cx="837704" cy="2667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76604" y="2273300"/>
            <a:ext cx="679152" cy="2667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19256" y="2273300"/>
            <a:ext cx="712192" cy="2667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794948" y="2273300"/>
            <a:ext cx="1321197" cy="2667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79645" y="2273300"/>
            <a:ext cx="765373" cy="266700"/>
          </a:xfrm>
          <a:prstGeom prst="roundRect">
            <a:avLst/>
          </a:prstGeom>
          <a:solidFill>
            <a:srgbClr val="FEFCF7"/>
          </a:solidFill>
          <a:ln w="6350">
            <a:solidFill>
              <a:srgbClr val="D5CEB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000" y="3441700"/>
            <a:ext cx="3572867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09467" y="344170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84034" y="3441700"/>
            <a:ext cx="3572966" cy="5461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8000" y="190500"/>
            <a:ext cx="108123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822152" y="187325"/>
            <a:ext cx="2568027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Cumulative Interview · Capstone · You Do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35000" y="841375"/>
            <a:ext cx="829020" cy="221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63588" y="762000"/>
            <a:ext cx="2895350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Interview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35000" y="1301750"/>
            <a:ext cx="648145" cy="26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6 min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331913" y="1330325"/>
            <a:ext cx="584347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965027" y="1330325"/>
            <a:ext cx="1180751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CAPSTONE · ACT. 8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19150" y="2019300"/>
            <a:ext cx="50185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946150" y="2279650"/>
            <a:ext cx="48915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pairs, work through the 11-question interview sheet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46150" y="2546350"/>
            <a:ext cx="48915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your partner's answers on the printed sheet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46150" y="2813050"/>
            <a:ext cx="48915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Questions cover school and hobbies from across Lessons 1–6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75400" y="2012950"/>
            <a:ext cx="50312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 COVERAGE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375400" y="2273300"/>
            <a:ext cx="865136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Sports liked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276604" y="2273300"/>
            <a:ext cx="706584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019256" y="2273300"/>
            <a:ext cx="739624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 with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794948" y="2273300"/>
            <a:ext cx="1348629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TV/movie preferences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179645" y="2273300"/>
            <a:ext cx="792805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Frequency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375400" y="2654300"/>
            <a:ext cx="50312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Materials: Printed 11-question interview sheet (Act. 8)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736600" y="3517900"/>
            <a:ext cx="3397099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411067" y="351790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085634" y="3517900"/>
            <a:ext cx="3397198" cy="11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b="1" spc="55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8880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858195"/>
            <a:ext cx="5105400" cy="2233811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5850" y="3423345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9850" y="3423345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93850" y="3423345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85850" y="3728145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39850" y="3728145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93850" y="3728145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85850" y="4032945"/>
            <a:ext cx="215900" cy="215900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39850" y="4032945"/>
            <a:ext cx="215900" cy="2159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93850" y="4032945"/>
            <a:ext cx="215900" cy="2159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6350">
            <a:solidFill>
              <a:srgbClr val="D475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7600" y="2858195"/>
            <a:ext cx="5105400" cy="2233811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94450" y="3423345"/>
            <a:ext cx="4711700" cy="895350"/>
          </a:xfrm>
          <a:prstGeom prst="rect">
            <a:avLst/>
          </a:prstGeom>
          <a:solidFill>
            <a:srgbClr val="EDE7D7"/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8000" y="190500"/>
            <a:ext cx="108123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822152" y="187325"/>
            <a:ext cx="98300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89000" y="1943795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89000" y="2172395"/>
            <a:ext cx="10441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1085850" y="3137595"/>
            <a:ext cx="47391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85850" y="34233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339850" y="34233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593850" y="34233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85850" y="37281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339850" y="37281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593850" y="37281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85850" y="40329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339850" y="40329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593850" y="4032945"/>
            <a:ext cx="243332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394450" y="3137595"/>
            <a:ext cx="47391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6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578600" y="3550345"/>
            <a:ext cx="440258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6578600" y="3734495"/>
            <a:ext cx="440258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sentence using 经常 or 常常 correctly placed before the verb.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394450" y="4432995"/>
            <a:ext cx="4739132" cy="5058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read the Success Criteria and self-check one 经常/常常 sentence and one 但是 sentence against them.</a:t>
            </a:r>
            <a:endParaRPr lang="en-US" sz="8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Also complete: thumbs up / sideways / down self-assessment against each criterion above.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88802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8000" y="190500"/>
            <a:ext cx="1081234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经常/常常 + 但是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822152" y="187325"/>
            <a:ext cx="107359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Lesson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5403949" y="3029645"/>
            <a:ext cx="141153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spc="13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L7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05672" y="3264595"/>
            <a:ext cx="4008088" cy="414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Simple Characters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735858" y="3762375"/>
            <a:ext cx="6747716" cy="2620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we learn four new simple characters and build new words by combining characters.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8000" y="6638925"/>
            <a:ext cx="134872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deck.liyu.dev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Editable classroom lesson slides</dc:subject>
  <dc:creator>deck.liyu.dev</dc:creator>
  <cp:lastModifiedBy>deck.liyu.dev</cp:lastModifiedBy>
  <cp:revision>1</cp:revision>
  <dcterms:created xsi:type="dcterms:W3CDTF">2026-07-20T00:32:13Z</dcterms:created>
  <dcterms:modified xsi:type="dcterms:W3CDTF">2026-07-20T00:32:13Z</dcterms:modified>
</cp:coreProperties>
</file>