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3074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93147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5916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0" y="4826000"/>
            <a:ext cx="2567432" cy="255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0" dirty="0">
                <a:solidFill>
                  <a:srgbClr val="C8943E">
                    <a:alpha val="4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20000" dirty="0"/>
          </a:p>
        </p:txBody>
      </p:sp>
      <p:sp>
        <p:nvSpPr>
          <p:cNvPr id="6" name="Text 4"/>
          <p:cNvSpPr/>
          <p:nvPr/>
        </p:nvSpPr>
        <p:spPr>
          <a:xfrm>
            <a:off x="3383260" y="1580555"/>
            <a:ext cx="545291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OF 8 · Y8 UNIT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60" y="1917105"/>
            <a:ext cx="545291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C8943E">
                    <a:alpha val="15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383260" y="3359745"/>
            <a:ext cx="5452912" cy="103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拼音·课文一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3383260" y="4426545"/>
            <a:ext cx="545291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ou/uo + Text 1 · 高力's Sporty Family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36988" y="5125045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930874" y="5125045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70947" y="5125045"/>
            <a:ext cx="106000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+ Reading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033716" y="5125045"/>
            <a:ext cx="134862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p.70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708150"/>
            <a:ext cx="5207000" cy="21018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23000" y="2089150"/>
            <a:ext cx="587772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86972" y="2089150"/>
            <a:ext cx="571500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34672" y="2089150"/>
            <a:ext cx="723900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34772" y="2089150"/>
            <a:ext cx="846237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57209" y="2089150"/>
            <a:ext cx="1033760" cy="495300"/>
          </a:xfrm>
          <a:prstGeom prst="round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987800"/>
            <a:ext cx="10668000" cy="4127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5B66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287885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2000" y="8128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2000" y="1028700"/>
            <a:ext cx="10695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L1–2 Sports Vocabulary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971550" y="2032000"/>
            <a:ext cx="48153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SLAP THE BOARD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3950" y="2298700"/>
            <a:ext cx="466293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students come to the front at a time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23950" y="2584450"/>
            <a:ext cx="46629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sport in Chinese — students slap the matching English/picture card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23950" y="3079750"/>
            <a:ext cx="46629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recap: 打 for hit-sports, 踢 for kick-sports — some sports take no verb at all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23000" y="1822450"/>
            <a:ext cx="5234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WORDS (L1–2)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56350" y="2159000"/>
            <a:ext cx="348504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6350" y="2393950"/>
            <a:ext cx="348504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/ jog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7020322" y="2159000"/>
            <a:ext cx="3322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20322" y="2393950"/>
            <a:ext cx="3322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7668022" y="2159000"/>
            <a:ext cx="4846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68022" y="2393950"/>
            <a:ext cx="4846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468122" y="2159000"/>
            <a:ext cx="60696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打篮球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68122" y="2393950"/>
            <a:ext cx="60696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basketball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9390559" y="2260600"/>
            <a:ext cx="79449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+ 7 more sports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2000" y="3987800"/>
            <a:ext cx="106954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 can already name 11 sports. Today you'll hear them used in a real family story, and train your ear on two tricky vowel sounds — ou and uo."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689225"/>
            <a:ext cx="350341" cy="1968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50541" y="2686050"/>
            <a:ext cx="6350" cy="2032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4691" y="2689225"/>
            <a:ext cx="350341" cy="1968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105150"/>
            <a:ext cx="8693150" cy="9080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22910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61010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9000" y="499110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287885" y="187325"/>
            <a:ext cx="164846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SC · 8–10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7907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201930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89000" y="2689225"/>
            <a:ext cx="377773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315541" y="2647950"/>
            <a:ext cx="217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82241" y="2647950"/>
            <a:ext cx="217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134691" y="2689225"/>
            <a:ext cx="377773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UO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561233" y="2647950"/>
            <a:ext cx="217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说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827933" y="2647950"/>
            <a:ext cx="217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7033" y="2708275"/>
            <a:ext cx="1891653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— can you hear the difference?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3950" y="324485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23950" y="3403600"/>
            <a:ext cx="8282432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distinguish the ou/uo pinyin sounds by ear and understand a passage about a family's sports habits.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9000" y="422910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244600" y="4216400"/>
            <a:ext cx="5305473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hear the difference between ou and uo and write the correct tonal mark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9000" y="461010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244600" y="4597400"/>
            <a:ext cx="5902174" cy="23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read and understand Text 1 (高力's family) and answer comprehension questions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89000" y="499110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244600" y="4978400"/>
            <a:ext cx="6018955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how long someone does a sport using verb + duration + object — 跑一个小时步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1720850"/>
            <a:ext cx="2138561" cy="6032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2698750"/>
            <a:ext cx="512266" cy="41275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0766" y="2698750"/>
            <a:ext cx="469900" cy="41275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44166" y="2698750"/>
            <a:ext cx="603647" cy="41275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11313" y="2698750"/>
            <a:ext cx="557808" cy="41275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621" y="2698750"/>
            <a:ext cx="519113" cy="41275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3486150"/>
            <a:ext cx="5403850" cy="5397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3150" y="3486150"/>
            <a:ext cx="5403850" cy="539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287885" y="187325"/>
            <a:ext cx="214773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Vocabulary &amp; Sound Focus · 10–20 min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35000" y="762000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35000" y="965200"/>
            <a:ext cx="10949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生词与拼音 · New Word + Sound Focus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5000" y="1511300"/>
            <a:ext cx="1094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WORD IN TODAY'S TEXT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19150" y="1841500"/>
            <a:ext cx="789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一家人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708150" y="1851025"/>
            <a:ext cx="908693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yìjiā rén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708150" y="2028825"/>
            <a:ext cx="908693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whole family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25961" y="1841500"/>
            <a:ext cx="4091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is the only new word in today's text — everything else you already know from Lessons 1–2 and earlier units.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35000" y="2489200"/>
            <a:ext cx="1094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(ALREADY KNOWN)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2950" y="2755900"/>
            <a:ext cx="323798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2950" y="2946400"/>
            <a:ext cx="3237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/ jog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318716" y="2755900"/>
            <a:ext cx="28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18716" y="2946400"/>
            <a:ext cx="28143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52116" y="2755900"/>
            <a:ext cx="415179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打网球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852116" y="2946400"/>
            <a:ext cx="415179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tennis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2519263" y="2755900"/>
            <a:ext cx="36934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519263" y="2946400"/>
            <a:ext cx="369340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day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140571" y="2755900"/>
            <a:ext cx="330645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40571" y="2946400"/>
            <a:ext cx="330645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morning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35000" y="3276600"/>
            <a:ext cx="1094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FOCUS · OU VS UO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87400" y="3600450"/>
            <a:ext cx="314174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ou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188442" y="3610670"/>
            <a:ext cx="1163884" cy="3089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smooth "oh-oo" glide</a:t>
            </a:r>
            <a:endParaRPr lang="en-US" sz="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 · 都 · 后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305550" y="3600450"/>
            <a:ext cx="314174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uo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706592" y="3610670"/>
            <a:ext cx="1556691" cy="3089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Starts with a rounded "w" onset</a:t>
            </a:r>
            <a:endParaRPr lang="en-US" sz="8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 · 多 · 我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5500" y="2379067"/>
            <a:ext cx="1090116" cy="4191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05831" y="2379067"/>
            <a:ext cx="1388269" cy="4191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84315" y="2379067"/>
            <a:ext cx="1232198" cy="419100"/>
          </a:xfrm>
          <a:prstGeom prst="roundRect">
            <a:avLst/>
          </a:prstGeom>
          <a:solidFill>
            <a:srgbClr val="EDE7D7"/>
          </a:solidFill>
          <a:ln w="190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5500" y="3191867"/>
            <a:ext cx="10541000" cy="419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5500" y="3674467"/>
            <a:ext cx="10541000" cy="419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5500" y="4157067"/>
            <a:ext cx="10541000" cy="419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5500" y="4690467"/>
            <a:ext cx="5219700" cy="32385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46800" y="4690467"/>
            <a:ext cx="5219700" cy="32385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5500" y="5128617"/>
            <a:ext cx="10541000" cy="537766"/>
          </a:xfrm>
          <a:prstGeom prst="rect">
            <a:avLst/>
          </a:prstGeom>
          <a:solidFill>
            <a:srgbClr val="EDE7D7"/>
          </a:solidFill>
          <a:ln w="31750">
            <a:solidFill>
              <a:srgbClr val="5B667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287885" y="187325"/>
            <a:ext cx="146808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 · 10–20 min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25500" y="1369417"/>
            <a:ext cx="10568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5500" y="1585317"/>
            <a:ext cx="10568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关键句型 · Duration + Separable Verbs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25500" y="2042517"/>
            <a:ext cx="10568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Where does the duration word go?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25500" y="2379067"/>
            <a:ext cx="111754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2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动词 Verb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04516" y="2448917"/>
            <a:ext cx="139847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205831" y="2379067"/>
            <a:ext cx="1415701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22" kern="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时长 Duration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83000" y="2448917"/>
            <a:ext cx="139847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84315" y="2379067"/>
            <a:ext cx="1259630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22" kern="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宾语 Object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5500" y="2887067"/>
            <a:ext cx="10568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跑步 and 游泳 are two-part words (verb + object) — the duration slides in between the two parts. No 的 needed.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1550" y="3274417"/>
            <a:ext cx="1805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他每天跑一个小时步。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33545" y="3318867"/>
            <a:ext cx="1614337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runs for an hour every day.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1550" y="3757017"/>
            <a:ext cx="1805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她每天游半个小时泳。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51057" y="3801467"/>
            <a:ext cx="1996825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swims for half an hour every day.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1550" y="4239617"/>
            <a:ext cx="19832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他每天打一个小时篮球。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09459" y="4284067"/>
            <a:ext cx="3038423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plays basketball for an hour every day. (same pattern)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46150" y="4760317"/>
            <a:ext cx="99961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✗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82179" y="4760317"/>
            <a:ext cx="1297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他每天跑步一个小时。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67450" y="4760317"/>
            <a:ext cx="99961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✗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3479" y="4760317"/>
            <a:ext cx="142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他每天跑一个小时的步。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5500" y="5128617"/>
            <a:ext cx="10568432" cy="55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5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"跑步 and 游泳 are actually two-part words — verb + object glued together. When I add a duration, it slides in between the two parts, and unlike some other duration sentences you've seen, these usually drop 的."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1390650"/>
            <a:ext cx="8051800" cy="23939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900" y="1581150"/>
            <a:ext cx="1282303" cy="2222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900" y="3435350"/>
            <a:ext cx="152400" cy="152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08238" y="3435350"/>
            <a:ext cx="152400" cy="152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01666" y="3435350"/>
            <a:ext cx="152400" cy="152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0" y="1390650"/>
            <a:ext cx="2667000" cy="97155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90000" y="2463800"/>
            <a:ext cx="2667000" cy="1792684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287885" y="187325"/>
            <a:ext cx="158486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· 高力的一家 · I Do / We Do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35000" y="723900"/>
            <a:ext cx="1094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10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PRESENTATION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35000" y="908050"/>
            <a:ext cx="10949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 · 高力的一家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50900" y="1581150"/>
            <a:ext cx="1309735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🎵 CD Track 36 · p.70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222103" y="1600200"/>
            <a:ext cx="408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0900" y="1917700"/>
            <a:ext cx="7647432" cy="1427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8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我叫高力。我们一家人都喜欢运动。</a:t>
            </a:r>
            <a:endParaRPr lang="en-US" sz="15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我爸爸喜欢跑步。他每天跑一个小时步。</a:t>
            </a:r>
            <a:endParaRPr lang="en-US" sz="15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我妈妈喜欢游泳。她每天早上游泳。</a:t>
            </a:r>
            <a:endParaRPr lang="en-US" sz="1500" dirty="0"/>
          </a:p>
          <a:p>
            <a:pPr algn="l" indent="0" marL="0">
              <a:lnSpc>
                <a:spcPct val="18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我呢，我喜欢跟朋友一起打网球。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0900" y="3435350"/>
            <a:ext cx="1798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230438" y="3429000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08238" y="3435350"/>
            <a:ext cx="1798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623866" y="3429000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01666" y="3435350"/>
            <a:ext cx="1798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9023350" y="1524000"/>
            <a:ext cx="24277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023350" y="1917700"/>
            <a:ext cx="24277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Gāo Lì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023350" y="2076450"/>
            <a:ext cx="24277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Main character · Lesson 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036050" y="2597150"/>
            <a:ext cx="24023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COMPREHENSION QUESTIONS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9036050" y="2794000"/>
            <a:ext cx="182908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248676" y="2794000"/>
            <a:ext cx="2189706" cy="338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everyone in 高力's family like sport?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036050" y="3183731"/>
            <a:ext cx="182908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248676" y="3183731"/>
            <a:ext cx="2189706" cy="338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dad like, and for how long each day?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036050" y="3573463"/>
            <a:ext cx="182908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248676" y="3573463"/>
            <a:ext cx="1740146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mum like, and when?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36050" y="3803253"/>
            <a:ext cx="182908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248676" y="3803253"/>
            <a:ext cx="2189706" cy="338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高力 himself like, and with whom?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41812" y="2362398"/>
            <a:ext cx="772616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749748"/>
            <a:ext cx="10414000" cy="8191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3150" y="290849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721298"/>
            <a:ext cx="10414000" cy="8191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3150" y="388004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692848"/>
            <a:ext cx="10414000" cy="7747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3150" y="4851598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287885" y="187325"/>
            <a:ext cx="171901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10–20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568252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1796852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89000" y="2330252"/>
            <a:ext cx="10441432" cy="209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WHITEBOARD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3150" y="290849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79550" y="2908498"/>
            <a:ext cx="96667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has the uo sound — 走 or 说?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79550" y="323869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3150" y="388004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80048"/>
            <a:ext cx="96667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gap: 他每天跑____步。 (one hour)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79550" y="421024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73150" y="4851598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851598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True or false: Gao Li's mum plays tennis.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79550" y="5137348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6697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260032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1472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3150" y="364807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56247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3150" y="469582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287885" y="187325"/>
            <a:ext cx="104482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5525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78117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73150" y="260032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79550" y="260032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has the uo sound — 走 or 说?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79550" y="283527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说 has the uo sound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79550" y="309562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 has the ou sound instead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73150" y="364807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79550" y="364807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gap: 他每天跑____步。(one hour)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79550" y="388302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他每天跑一个小时步。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79550" y="414337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tā měitiān pǎo yí ge xiǎoshí bù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73150" y="469582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69582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True or false: Gao Li's mum plays tennis.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479550" y="493077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False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79550" y="519112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高力's mum likes 游泳 (swimming), not tennis — Gao Li himself is the one who plays tennis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25500"/>
            <a:ext cx="1106289" cy="23495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96843" y="831850"/>
            <a:ext cx="533003" cy="2222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63461" y="809625"/>
            <a:ext cx="693539" cy="2667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250950"/>
            <a:ext cx="4137223" cy="44005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323" y="1530350"/>
            <a:ext cx="6619677" cy="342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323" y="1930400"/>
            <a:ext cx="6619677" cy="342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323" y="2330450"/>
            <a:ext cx="6619677" cy="342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323" y="2762250"/>
            <a:ext cx="6619677" cy="5969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" y="577850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467" y="57785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4034" y="57785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287885" y="187325"/>
            <a:ext cx="171444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CD Track 37 · 20–25 min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35000" y="825500"/>
            <a:ext cx="1133721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1 · PINYIN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868289" y="762000"/>
            <a:ext cx="3728986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听音辨调 · ou/uo Tonal Marks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696843" y="831850"/>
            <a:ext cx="560435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863461" y="809625"/>
            <a:ext cx="720971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475012" y="2717800"/>
            <a:ext cx="484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2423716" y="3263900"/>
            <a:ext cx="5872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12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433836" y="3479800"/>
            <a:ext cx="566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spc="-72" kern="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37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2076748" y="4025900"/>
            <a:ext cx="1281061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Act. 3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937323" y="1250950"/>
            <a:ext cx="6647109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to do: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70673" y="1612900"/>
            <a:ext cx="1671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299273" y="1606550"/>
            <a:ext cx="3580059" cy="1871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— teacher plays/reads a list of words containing ou or uo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70673" y="2012950"/>
            <a:ext cx="1671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299273" y="2006600"/>
            <a:ext cx="3893887" cy="1871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pinyin with the correct tonal mark on your mini whiteboard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70673" y="2413000"/>
            <a:ext cx="1671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99273" y="2406650"/>
            <a:ext cx="2390426" cy="1871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your whiteboard after every word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70673" y="2857500"/>
            <a:ext cx="638040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MOUTH-SHAPE REMINDER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5070673" y="3041650"/>
            <a:ext cx="22983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ou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49280" y="3067050"/>
            <a:ext cx="591491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 · 都 · 后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91612" y="3041650"/>
            <a:ext cx="229838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uo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570218" y="3067050"/>
            <a:ext cx="591491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说 · 多 · 我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36600" y="585470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411067" y="58547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8085634" y="58547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509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208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49375"/>
            <a:ext cx="501551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46250"/>
            <a:ext cx="5846564" cy="2066925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84764" y="1746250"/>
            <a:ext cx="4872236" cy="22161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37164" y="2266950"/>
            <a:ext cx="4567436" cy="4127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411480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9467" y="41148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84034" y="41148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287885" y="187325"/>
            <a:ext cx="219675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Text 1 Comprehension · 25–31 min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5000" y="8509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563588" y="762000"/>
            <a:ext cx="578737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朗读与理解 · Choral Read + Comprehension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35000" y="13208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331913" y="1349375"/>
            <a:ext cx="528983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819150" y="2038350"/>
            <a:ext cx="5505696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46150" y="2298700"/>
            <a:ext cx="5378696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reads Text 1 chorally twice — once slow, once at natural pace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46150" y="2574925"/>
            <a:ext cx="5378696" cy="418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group answers the 4 comprehension questions from the text — cold-call different students for each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46150" y="3051175"/>
            <a:ext cx="5378696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the sentence starter 他每天…… to structure spoken answers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46150" y="3327400"/>
            <a:ext cx="5378696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restate the answer as a full Chinese sentence, not a fragment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37164" y="2006600"/>
            <a:ext cx="4594868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STARTER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837164" y="2266950"/>
            <a:ext cx="4594868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他每天……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37164" y="2787650"/>
            <a:ext cx="4594868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 TO DRILL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837164" y="3048000"/>
            <a:ext cx="165644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37164" y="3251200"/>
            <a:ext cx="165644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837164" y="3454400"/>
            <a:ext cx="165644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37164" y="3657600"/>
            <a:ext cx="165644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6600" y="419100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411067" y="41910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085634" y="41910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50900"/>
            <a:ext cx="801588" cy="2032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208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49375"/>
            <a:ext cx="556915" cy="1905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46250"/>
            <a:ext cx="5846564" cy="21653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150" y="3429000"/>
            <a:ext cx="5478264" cy="2984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84764" y="1746250"/>
            <a:ext cx="4872236" cy="22733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37164" y="2266950"/>
            <a:ext cx="4567436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37164" y="2597150"/>
            <a:ext cx="4567436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7164" y="2927350"/>
            <a:ext cx="4567436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37164" y="3257550"/>
            <a:ext cx="4567436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37164" y="3587750"/>
            <a:ext cx="4567436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" y="417195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09467" y="417195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84034" y="417195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287885" y="187325"/>
            <a:ext cx="207947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Duration Chain Drill · 31–35 min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35000" y="8509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63588" y="762000"/>
            <a:ext cx="415413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接龙练习 · Duration Chain Drill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35000" y="13208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331913" y="134937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19150" y="2038350"/>
            <a:ext cx="5505696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46150" y="2298700"/>
            <a:ext cx="5378696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duration phrase in English — e.g. "five days", "three months"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46150" y="2574925"/>
            <a:ext cx="5378696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student translates it aloud into Chinese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46150" y="2851150"/>
            <a:ext cx="5378696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That student then says a new duration phrase in English for the next student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46150" y="3127375"/>
            <a:ext cx="5378696" cy="21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Continue round the room — every student must respond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19150" y="3429000"/>
            <a:ext cx="5505696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combine your duration with a sport — 他每天跑三个小时步。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837164" y="2006600"/>
            <a:ext cx="4594868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WORDS · 时长词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837164" y="2305050"/>
            <a:ext cx="1671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242278" y="2305050"/>
            <a:ext cx="189754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837164" y="26352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星期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170741" y="2635250"/>
            <a:ext cx="261291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week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837164" y="2965450"/>
            <a:ext cx="1671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月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106646" y="2965450"/>
            <a:ext cx="325386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month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837164" y="32956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194256" y="3295650"/>
            <a:ext cx="237776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hour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837164" y="362585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分钟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087199" y="3625850"/>
            <a:ext cx="344833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36600" y="424815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4411067" y="42481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085634" y="42481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793750"/>
            <a:ext cx="1308497" cy="23495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58780" y="800100"/>
            <a:ext cx="560090" cy="2222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63461" y="777875"/>
            <a:ext cx="693539" cy="2667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187450"/>
            <a:ext cx="1651000" cy="2772172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4700" y="2641600"/>
            <a:ext cx="1371600" cy="350441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4700" y="3042841"/>
            <a:ext cx="1371600" cy="350441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4700" y="3444081"/>
            <a:ext cx="1371600" cy="350441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8400" y="1384300"/>
            <a:ext cx="9118600" cy="1238250"/>
          </a:xfrm>
          <a:prstGeom prst="round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44750" y="1390650"/>
            <a:ext cx="698500" cy="406400"/>
          </a:xfrm>
          <a:prstGeom prst="rect">
            <a:avLst/>
          </a:prstGeom>
          <a:solidFill>
            <a:srgbClr val="EDE7D7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43250" y="1390650"/>
            <a:ext cx="1501279" cy="406400"/>
          </a:xfrm>
          <a:prstGeom prst="rect">
            <a:avLst/>
          </a:prstGeom>
          <a:solidFill>
            <a:srgbClr val="EDE7D7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44529" y="1390650"/>
            <a:ext cx="1501279" cy="406400"/>
          </a:xfrm>
          <a:prstGeom prst="rect">
            <a:avLst/>
          </a:prstGeom>
          <a:solidFill>
            <a:srgbClr val="EDE7D7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5808" y="1390650"/>
            <a:ext cx="1501378" cy="406400"/>
          </a:xfrm>
          <a:prstGeom prst="rect">
            <a:avLst/>
          </a:prstGeom>
          <a:solidFill>
            <a:srgbClr val="EDE7D7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47186" y="1390650"/>
            <a:ext cx="1501279" cy="406400"/>
          </a:xfrm>
          <a:prstGeom prst="rect">
            <a:avLst/>
          </a:prstGeom>
          <a:solidFill>
            <a:srgbClr val="EDE7D7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8465" y="1390650"/>
            <a:ext cx="2402185" cy="406400"/>
          </a:xfrm>
          <a:prstGeom prst="rect">
            <a:avLst/>
          </a:prstGeom>
          <a:solidFill>
            <a:srgbClr val="EDE7D7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4750" y="1797050"/>
            <a:ext cx="698500" cy="2730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43250" y="179705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44529" y="179705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45808" y="1797050"/>
            <a:ext cx="1501378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47186" y="179705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8465" y="1797050"/>
            <a:ext cx="2402185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44750" y="2070100"/>
            <a:ext cx="698500" cy="2730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43250" y="207010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44529" y="207010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45808" y="2070100"/>
            <a:ext cx="1501378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7186" y="207010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8465" y="2070100"/>
            <a:ext cx="2402185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44750" y="2343150"/>
            <a:ext cx="698500" cy="2730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3250" y="234315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44529" y="234315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45808" y="2343150"/>
            <a:ext cx="1501378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47186" y="2343150"/>
            <a:ext cx="1501279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8465" y="2343150"/>
            <a:ext cx="2402185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5000" y="4213622"/>
            <a:ext cx="3572867" cy="412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09467" y="4213622"/>
            <a:ext cx="3572966" cy="412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4034" y="4213622"/>
            <a:ext cx="3572966" cy="4127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287885" y="187325"/>
            <a:ext cx="171444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 · CD Track 38 · 35–41 min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35000" y="793750"/>
            <a:ext cx="1335929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4 · LISTENING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070497" y="736600"/>
            <a:ext cx="2988715" cy="367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听力表格 · Listening Grid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5158780" y="800100"/>
            <a:ext cx="58752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0863461" y="777875"/>
            <a:ext cx="720971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282700" y="1352550"/>
            <a:ext cx="3830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</a:t>
            </a:r>
            <a:endParaRPr lang="en-US" sz="2800" dirty="0"/>
          </a:p>
        </p:txBody>
      </p:sp>
      <p:sp>
        <p:nvSpPr>
          <p:cNvPr id="48" name="Text 46"/>
          <p:cNvSpPr/>
          <p:nvPr/>
        </p:nvSpPr>
        <p:spPr>
          <a:xfrm>
            <a:off x="1200547" y="1771650"/>
            <a:ext cx="54723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117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1242616" y="1955800"/>
            <a:ext cx="46310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38</a:t>
            </a:r>
            <a:endParaRPr lang="en-US" sz="2800" dirty="0"/>
          </a:p>
        </p:txBody>
      </p:sp>
      <p:sp>
        <p:nvSpPr>
          <p:cNvPr id="50" name="Text 48"/>
          <p:cNvSpPr/>
          <p:nvPr/>
        </p:nvSpPr>
        <p:spPr>
          <a:xfrm>
            <a:off x="944265" y="2374900"/>
            <a:ext cx="1059803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Act. 5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4700" y="2641600"/>
            <a:ext cx="1399032" cy="36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6 short descriptions of people's sport habits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74700" y="3042841"/>
            <a:ext cx="1399032" cy="36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Tick the correct box for each person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74700" y="3444081"/>
            <a:ext cx="1399032" cy="36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 as a class, raise hand if wrong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438400" y="1187450"/>
            <a:ext cx="91460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Grid Format · 6 People × 8 Activities (first 3 shown)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2444750" y="1390650"/>
            <a:ext cx="7259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Person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834606" y="1625600"/>
            <a:ext cx="13964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305623" y="1625600"/>
            <a:ext cx="200073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792813" y="1625600"/>
            <a:ext cx="22844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8226723" y="1625600"/>
            <a:ext cx="363287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basketball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9148465" y="1390650"/>
            <a:ext cx="2429617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+ 4 more sports from Units 1–2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2444750" y="1797050"/>
            <a:ext cx="725932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1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3143250" y="179705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644529" y="179705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145808" y="1797050"/>
            <a:ext cx="1528810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7647186" y="179705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9148465" y="1797050"/>
            <a:ext cx="2429617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2444750" y="2070100"/>
            <a:ext cx="725932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2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3143250" y="207010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4644529" y="207010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6145808" y="2070100"/>
            <a:ext cx="1528810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7647186" y="207010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148465" y="2070100"/>
            <a:ext cx="2429617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2444750" y="2343150"/>
            <a:ext cx="725932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3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3143250" y="234315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4644529" y="234315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6145808" y="2343150"/>
            <a:ext cx="1528810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7647186" y="2343150"/>
            <a:ext cx="152871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9148465" y="2343150"/>
            <a:ext cx="2429617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2438400" y="2686050"/>
            <a:ext cx="91460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printed grid continues for all 6 people × 8 activities (all sports taught in Units 1–2), pictures included alongside the Chinese activity names.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736600" y="4289822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4411067" y="4289822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8085634" y="4289822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70741" y="822325"/>
            <a:ext cx="513060" cy="2349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60001" y="815975"/>
            <a:ext cx="596999" cy="247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2486223"/>
            <a:ext cx="10922000" cy="4826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9150" y="2606873"/>
            <a:ext cx="241300" cy="241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000" y="3057723"/>
            <a:ext cx="10922000" cy="4826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9150" y="3178373"/>
            <a:ext cx="241300" cy="241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3629223"/>
            <a:ext cx="10922000" cy="4826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9150" y="3749873"/>
            <a:ext cx="241300" cy="241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" y="4200723"/>
            <a:ext cx="10922000" cy="4826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9150" y="4321373"/>
            <a:ext cx="241300" cy="241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00" y="4772223"/>
            <a:ext cx="10922000" cy="4826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9150" y="4892873"/>
            <a:ext cx="241300" cy="241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287885" y="187325"/>
            <a:ext cx="169698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Listen &amp; Judge · 41–43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5000" y="736600"/>
            <a:ext cx="5878957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真假判断 · Listen &amp; Judge — True or False!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370741" y="822325"/>
            <a:ext cx="54049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960001" y="815975"/>
            <a:ext cx="624431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2 min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254077" y="1270000"/>
            <a:ext cx="251270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live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55467" y="1276747"/>
            <a:ext cx="350786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👎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07297" y="1270000"/>
            <a:ext cx="579187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instantly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19150" y="2606873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87450" y="2620169"/>
            <a:ext cx="1678432" cy="232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高力的爸爸喜欢跑步。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19150" y="3178373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87450" y="3191669"/>
            <a:ext cx="1678432" cy="232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高力的爸爸喜欢游泳。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9150" y="3749873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87450" y="3763169"/>
            <a:ext cx="2008632" cy="232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高力的妈妈每天早上游泳。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19150" y="4321373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87450" y="4334669"/>
            <a:ext cx="1843532" cy="232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高力喜欢一个人打网球。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9150" y="4892873"/>
            <a:ext cx="268732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87450" y="4906169"/>
            <a:ext cx="2008632" cy="232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高力一家人都不喜欢运动。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35000" y="6242050"/>
            <a:ext cx="1094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 needed: None — purely oral, works as a fast plenary bridge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5500" y="2994025"/>
            <a:ext cx="5168900" cy="1936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2350" y="354647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76350" y="354647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30350" y="354647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2350" y="385127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76350" y="385127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30350" y="385127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2350" y="415607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76350" y="415607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30350" y="415607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7600" y="2994025"/>
            <a:ext cx="5168900" cy="1936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94450" y="3546475"/>
            <a:ext cx="4775200" cy="864791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287885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25500" y="2105025"/>
            <a:ext cx="10568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5500" y="2333625"/>
            <a:ext cx="10568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1022350" y="3273425"/>
            <a:ext cx="4802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2350" y="35464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276350" y="35464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530350" y="35464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22350" y="38512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76350" y="38512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530350" y="38512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22350" y="41560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276350" y="41560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530350" y="415607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22350" y="4473575"/>
            <a:ext cx="480263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 each criterion — class gives an example: a word with ou, a fact from the text, a duration sentence.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394450" y="3273425"/>
            <a:ext cx="4802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578600" y="3673475"/>
            <a:ext cx="44660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6578600" y="3857625"/>
            <a:ext cx="4466082" cy="4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about how long you do a sport each day, using verb + duration + object.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394450" y="4525566"/>
            <a:ext cx="48026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Self-assessment: use mini whiteboards to write 👍/😐/👎 next to each criterion number above.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54535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24200" y="2945705"/>
            <a:ext cx="1879600" cy="12255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56200" y="2945705"/>
            <a:ext cx="1879600" cy="12255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88200" y="2945705"/>
            <a:ext cx="1879600" cy="12255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24100" y="4450655"/>
            <a:ext cx="7543800" cy="8318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1546967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PINYIN OU/UO + TEXT 1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287885" y="187325"/>
            <a:ext cx="107359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403949" y="1753195"/>
            <a:ext cx="141153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13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L4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967684" y="1988145"/>
            <a:ext cx="2284063" cy="3979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时长问答 · 表演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377730" y="2418655"/>
            <a:ext cx="3463873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Asking, answering, and acting out sport duration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3750" y="3129855"/>
            <a:ext cx="14879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3750" y="3631505"/>
            <a:ext cx="14879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问答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3750" y="3853755"/>
            <a:ext cx="1487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Q&amp;A on duration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365750" y="3129855"/>
            <a:ext cx="14879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🎭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65750" y="3631505"/>
            <a:ext cx="14879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65750" y="3853755"/>
            <a:ext cx="1487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out what people are doing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397750" y="3129855"/>
            <a:ext cx="14879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97750" y="3631505"/>
            <a:ext cx="14879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时长词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97750" y="3853755"/>
            <a:ext cx="14879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天 / 星期 / 月 / 小时 / 分钟 again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3500" y="4590355"/>
            <a:ext cx="701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NEXT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603500" y="4761805"/>
            <a:ext cx="7012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"Next lesson we'll practise asking and answering about sport duration with a partner, and act out what people are doing."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2026-07-20T00:31:57Z</dcterms:created>
  <dcterms:modified xsi:type="dcterms:W3CDTF">2026-07-20T00:31:57Z</dcterms:modified>
</cp:coreProperties>
</file>