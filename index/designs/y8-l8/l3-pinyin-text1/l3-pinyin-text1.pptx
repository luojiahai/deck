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-121920" y="1905000"/>
            <a:ext cx="1243584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LESSON 3 OF 8 · Y8 UNIT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-121920" y="2190750"/>
            <a:ext cx="12435840" cy="558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400"/>
              </a:lnSpc>
              <a:spcBef>
                <a:spcPts val="600"/>
              </a:spcBef>
              <a:buNone/>
            </a:pPr>
            <a:r>
              <a:rPr lang="en-US" sz="4400" dirty="0">
                <a:solidFill>
                  <a:srgbClr val="E8CD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球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-121920" y="2800350"/>
            <a:ext cx="1243584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56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拼音</a:t>
            </a:r>
            <a:pPr algn="ctr" indent="0" marL="0">
              <a:spcBef>
                <a:spcPts val="400"/>
              </a:spcBef>
              <a:buNone/>
            </a:pPr>
            <a:r>
              <a:rPr lang="en-US" sz="56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·</a:t>
            </a:r>
            <a:pPr algn="ctr" indent="0" marL="0">
              <a:spcBef>
                <a:spcPts val="400"/>
              </a:spcBef>
              <a:buNone/>
            </a:pPr>
            <a:r>
              <a:rPr lang="en-US" sz="56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课文一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-121920" y="3892451"/>
            <a:ext cx="1243584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800"/>
              </a:spcBef>
              <a:buNone/>
            </a:pPr>
            <a:r>
              <a:rPr lang="en-US" sz="16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Pinyin ou/uo + Text 1 · 高力's Sporty Family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-121920" y="4406801"/>
            <a:ext cx="1243584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800"/>
              </a:spcBef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Year 8 Chinese  ·  50 mins  ·  Listening + Reading  ·  轻松学中文 Book 2 · p.70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341014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PINYIN OU/UO + TEXT 1 · REVIEW · 0-8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406301"/>
            <a:ext cx="1155506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0-8 MIN · REVIEW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31750" y="682526"/>
            <a:ext cx="11555069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回顾 · L1-2 Sports Vocabulary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31750" y="1326952"/>
            <a:ext cx="5749975" cy="1894731"/>
          </a:xfrm>
          <a:prstGeom prst="roundRect">
            <a:avLst>
              <a:gd name="adj" fmla="val 6703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69875" y="1514177"/>
            <a:ext cx="537919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SLAP THE BOARD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69875" y="1815703"/>
            <a:ext cx="5273725" cy="1218754"/>
          </a:xfrm>
          <a:prstGeom prst="rect">
            <a:avLst/>
          </a:prstGeom>
          <a:noFill/>
          <a:ln/>
        </p:spPr>
        <p:txBody>
          <a:bodyPr wrap="square" lIns="114300" tIns="0" rIns="0" bIns="0" rtlCol="0" anchor="t"/>
          <a:lstStyle/>
          <a:p>
            <a:pPr algn="l" marL="114300" indent="-114300">
              <a:lnSpc>
                <a:spcPts val="1680"/>
              </a:lnSpc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Two students</a:t>
            </a:r>
            <a:pPr algn="l" indent="0" marL="0">
              <a:lnSpc>
                <a:spcPts val="168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come to the front at a time</a:t>
            </a:r>
            <a:endParaRPr lang="en-US" sz="1200" dirty="0"/>
          </a:p>
          <a:p>
            <a:pPr algn="l" marL="114300" indent="-114300">
              <a:lnSpc>
                <a:spcPts val="168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says a sport in Chinese — students </a:t>
            </a:r>
            <a:pPr algn="l" indent="0" marL="0">
              <a:lnSpc>
                <a:spcPts val="168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slap the matching</a:t>
            </a:r>
            <a:pPr algn="l" indent="0" marL="0">
              <a:lnSpc>
                <a:spcPts val="168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English/picture card</a:t>
            </a:r>
            <a:endParaRPr lang="en-US" sz="1200" dirty="0"/>
          </a:p>
          <a:p>
            <a:pPr algn="l" marL="114300" indent="-114300">
              <a:lnSpc>
                <a:spcPts val="168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Quick recap: </a:t>
            </a:r>
            <a:pPr algn="l" indent="0" marL="0">
              <a:lnSpc>
                <a:spcPts val="168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打</a:t>
            </a:r>
            <a:pPr algn="l" indent="0" marL="0">
              <a:lnSpc>
                <a:spcPts val="168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for hit-sports, </a:t>
            </a:r>
            <a:pPr algn="l" indent="0" marL="0">
              <a:lnSpc>
                <a:spcPts val="168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踢</a:t>
            </a:r>
            <a:pPr algn="l" indent="0" marL="0">
              <a:lnSpc>
                <a:spcPts val="168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for kick-sports — some sports take </a:t>
            </a:r>
            <a:pPr algn="l" indent="0" marL="0">
              <a:lnSpc>
                <a:spcPts val="168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no verb</a:t>
            </a:r>
            <a:pPr algn="l" indent="0" marL="0">
              <a:lnSpc>
                <a:spcPts val="168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at all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86525" y="1326952"/>
            <a:ext cx="537919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REVIEW WORDS (L1-2)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86525" y="1628477"/>
            <a:ext cx="809030" cy="561975"/>
          </a:xfrm>
          <a:prstGeom prst="roundRect">
            <a:avLst>
              <a:gd name="adj" fmla="val 13559"/>
            </a:avLst>
          </a:prstGeom>
          <a:solidFill>
            <a:srgbClr val="EDE7D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673751" y="1714202"/>
            <a:ext cx="44327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跑步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673751" y="1961852"/>
            <a:ext cx="44327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run / jog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7397055" y="1628477"/>
            <a:ext cx="730002" cy="561975"/>
          </a:xfrm>
          <a:prstGeom prst="roundRect">
            <a:avLst>
              <a:gd name="adj" fmla="val 13559"/>
            </a:avLst>
          </a:prstGeom>
          <a:solidFill>
            <a:srgbClr val="EDE7D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7584281" y="1714202"/>
            <a:ext cx="362661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游泳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584281" y="1961852"/>
            <a:ext cx="36266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swim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8558" y="1628477"/>
            <a:ext cx="907703" cy="561975"/>
          </a:xfrm>
          <a:prstGeom prst="roundRect">
            <a:avLst>
              <a:gd name="adj" fmla="val 13559"/>
            </a:avLst>
          </a:prstGeom>
          <a:solidFill>
            <a:srgbClr val="EDE7D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415784" y="1714202"/>
            <a:ext cx="54391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打网球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415784" y="1961852"/>
            <a:ext cx="54391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 tennis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9237762" y="1628477"/>
            <a:ext cx="1110853" cy="561975"/>
          </a:xfrm>
          <a:prstGeom prst="roundRect">
            <a:avLst>
              <a:gd name="adj" fmla="val 13559"/>
            </a:avLst>
          </a:prstGeom>
          <a:solidFill>
            <a:srgbClr val="EDE7D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9424988" y="1714202"/>
            <a:ext cx="75113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打篮球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424988" y="1961852"/>
            <a:ext cx="75113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 basketball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486525" y="2291953"/>
            <a:ext cx="1494383" cy="371475"/>
          </a:xfrm>
          <a:prstGeom prst="roundRect">
            <a:avLst>
              <a:gd name="adj" fmla="val 20513"/>
            </a:avLst>
          </a:prstGeom>
          <a:noFill/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673751" y="2377678"/>
            <a:ext cx="114233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+ 7 more sports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31750" y="3450282"/>
            <a:ext cx="11328499" cy="762000"/>
          </a:xfrm>
          <a:prstGeom prst="rect">
            <a:avLst/>
          </a:prstGeom>
          <a:solidFill>
            <a:srgbClr val="F5E8C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Shape 24"/>
          <p:cNvSpPr/>
          <p:nvPr/>
        </p:nvSpPr>
        <p:spPr>
          <a:xfrm>
            <a:off x="460325" y="3450282"/>
            <a:ext cx="0" cy="762000"/>
          </a:xfrm>
          <a:prstGeom prst="line">
            <a:avLst/>
          </a:prstGeom>
          <a:noFill/>
          <a:ln w="57150">
            <a:solidFill>
              <a:srgbClr val="C8943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42801" y="3602682"/>
            <a:ext cx="109788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"You can already name </a:t>
            </a:r>
            <a:pPr algn="l" indent="0" marL="0"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11 sports</a:t>
            </a:r>
            <a:pPr algn="l" indent="0" marL="0">
              <a:buNone/>
            </a:pP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. Today you'll hear them used in a real family story, and train your ear on two tricky vowel sounds — </a:t>
            </a:r>
            <a:pPr algn="l" indent="0" marL="0"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ou</a:t>
            </a:r>
            <a:pPr algn="l" indent="0" marL="0">
              <a:buNone/>
            </a:pP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and </a:t>
            </a:r>
            <a:pPr algn="l" indent="0" marL="0"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uo</a:t>
            </a:r>
            <a:pPr algn="l" indent="0" marL="0">
              <a:buNone/>
            </a:pP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."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345887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PINYIN OU/UO + TEXT 1 · LI &amp; SC · 8-10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431750"/>
            <a:ext cx="1155506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8-10 MIN · DISPLAY ON PROJECTOR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31750" y="676126"/>
            <a:ext cx="11555069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今日目标 · Today's Goal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31750" y="1300014"/>
            <a:ext cx="481608" cy="276225"/>
          </a:xfrm>
          <a:prstGeom prst="roundRect">
            <a:avLst>
              <a:gd name="adj" fmla="val 73563"/>
            </a:avLst>
          </a:prstGeom>
          <a:solidFill>
            <a:srgbClr val="F5E8CC"/>
          </a:solidFill>
          <a:ln w="9525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593675" y="1347639"/>
            <a:ext cx="16091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ou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14859" y="1295251"/>
            <a:ext cx="20736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走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319659" y="1295251"/>
            <a:ext cx="20736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后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700659" y="1311176"/>
            <a:ext cx="12650" cy="2539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891010" y="1300014"/>
            <a:ext cx="481608" cy="276225"/>
          </a:xfrm>
          <a:prstGeom prst="roundRect">
            <a:avLst>
              <a:gd name="adj" fmla="val 73563"/>
            </a:avLst>
          </a:prstGeom>
          <a:solidFill>
            <a:srgbClr val="DCEAEC"/>
          </a:solidFill>
          <a:ln w="9525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2052935" y="1347639"/>
            <a:ext cx="16091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uo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474119" y="1295251"/>
            <a:ext cx="20736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说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778919" y="1295251"/>
            <a:ext cx="20736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多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159919" y="1347639"/>
            <a:ext cx="241582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Listen — can you hear the difference?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31750" y="1758702"/>
            <a:ext cx="11328499" cy="765125"/>
          </a:xfrm>
          <a:prstGeom prst="rect">
            <a:avLst/>
          </a:prstGeom>
          <a:solidFill>
            <a:srgbClr val="F5E8C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460325" y="1758702"/>
            <a:ext cx="0" cy="765125"/>
          </a:xfrm>
          <a:prstGeom prst="line">
            <a:avLst/>
          </a:prstGeom>
          <a:noFill/>
          <a:ln w="57150">
            <a:solidFill>
              <a:srgbClr val="C8943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7500" y="1911102"/>
            <a:ext cx="1103043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17500" y="2123777"/>
            <a:ext cx="1103043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are learning to </a:t>
            </a:r>
            <a:pPr algn="l" indent="0" marL="0">
              <a:spcBef>
                <a:spcPts val="400"/>
              </a:spcBef>
              <a:buNone/>
            </a:pPr>
            <a:r>
              <a:rPr lang="en-US" sz="14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distinguish the ou/uo pinyin sounds</a:t>
            </a:r>
            <a:pPr algn="l" indent="0" marL="0">
              <a:spcBef>
                <a:spcPts val="400"/>
              </a:spcBef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by ear and understand a passage about a family's sports habits.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31750" y="2701528"/>
            <a:ext cx="11328499" cy="412552"/>
          </a:xfrm>
          <a:prstGeom prst="roundRect">
            <a:avLst>
              <a:gd name="adj" fmla="val 1847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09451" y="2803029"/>
            <a:ext cx="20721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39552" y="2803029"/>
            <a:ext cx="586603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hear the difference between </a:t>
            </a:r>
            <a:pPr algn="l" indent="0" marL="0">
              <a:buNone/>
            </a:pPr>
            <a:r>
              <a:rPr lang="en-US" sz="12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ou</a:t>
            </a:r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and </a:t>
            </a:r>
            <a:pPr algn="l" indent="0" marL="0">
              <a:buNone/>
            </a:pPr>
            <a:r>
              <a:rPr lang="en-US" sz="12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uo</a:t>
            </a:r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and write the </a:t>
            </a:r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correct tonal mark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31750" y="3241030"/>
            <a:ext cx="11328499" cy="412552"/>
          </a:xfrm>
          <a:prstGeom prst="roundRect">
            <a:avLst>
              <a:gd name="adj" fmla="val 1847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609451" y="3342531"/>
            <a:ext cx="20721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939552" y="3342531"/>
            <a:ext cx="654414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read and understand </a:t>
            </a:r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Text 1 (高力's family)</a:t>
            </a:r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and answer comprehension questions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31750" y="3780532"/>
            <a:ext cx="11328499" cy="412552"/>
          </a:xfrm>
          <a:prstGeom prst="roundRect">
            <a:avLst>
              <a:gd name="adj" fmla="val 1847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609451" y="3882033"/>
            <a:ext cx="20721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39552" y="3882033"/>
            <a:ext cx="675151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say how long someone does a sport using </a:t>
            </a:r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verb + duration + object</a:t>
            </a:r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</a:t>
            </a:r>
            <a:pPr algn="l" indent="0" marL="0">
              <a:buNone/>
            </a:pPr>
            <a:r>
              <a:rPr lang="en-US" sz="12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跑一个小时步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564106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PINYIN OU/UO + TEXT 1 · I DO · VOCABULARY &amp; SOUND FOCUS · 10-20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406301"/>
            <a:ext cx="1155506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10-20 MIN · I DO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31750" y="638026"/>
            <a:ext cx="11555069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生词与拼音 · New Word + Sound Focus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31750" y="1180951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200"/>
              </a:spcBef>
              <a:buNone/>
            </a:pPr>
            <a:r>
              <a:rPr lang="en-US" sz="9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NEW WORD IN TODAY'S TEXT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31750" y="1419076"/>
            <a:ext cx="2693938" cy="720626"/>
          </a:xfrm>
          <a:prstGeom prst="roundRect">
            <a:avLst>
              <a:gd name="adj" fmla="val 17624"/>
            </a:avLst>
          </a:prstGeom>
          <a:solidFill>
            <a:srgbClr val="F5E8CC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79400" y="1565077"/>
            <a:ext cx="932688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一家人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771501" y="1579364"/>
            <a:ext cx="112866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yìjiā rén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771501" y="1779389"/>
            <a:ext cx="112866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the whole family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328839" y="1679377"/>
            <a:ext cx="785346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This is the </a:t>
            </a:r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only new word</a:t>
            </a:r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in today's text — everything else you already know from Lessons 1-2 and earlier units.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31750" y="2317403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400"/>
              </a:spcBef>
              <a:buNone/>
            </a:pPr>
            <a:r>
              <a:rPr lang="en-US" sz="9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REVIEW (ALREADY KNOWN)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31750" y="2555528"/>
            <a:ext cx="704255" cy="479227"/>
          </a:xfrm>
          <a:prstGeom prst="roundRect">
            <a:avLst>
              <a:gd name="adj" fmla="val 15901"/>
            </a:avLst>
          </a:prstGeom>
          <a:solidFill>
            <a:srgbClr val="EDE7D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593675" y="2628454"/>
            <a:ext cx="38801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跑步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93675" y="2838004"/>
            <a:ext cx="38801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run / jog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1237506" y="2555528"/>
            <a:ext cx="628650" cy="479227"/>
          </a:xfrm>
          <a:prstGeom prst="roundRect">
            <a:avLst>
              <a:gd name="adj" fmla="val 15901"/>
            </a:avLst>
          </a:prstGeom>
          <a:solidFill>
            <a:srgbClr val="EDE7D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399431" y="2628454"/>
            <a:ext cx="31089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游泳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399431" y="2838004"/>
            <a:ext cx="31089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swim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967657" y="2555528"/>
            <a:ext cx="790277" cy="479227"/>
          </a:xfrm>
          <a:prstGeom prst="roundRect">
            <a:avLst>
              <a:gd name="adj" fmla="val 15901"/>
            </a:avLst>
          </a:prstGeom>
          <a:solidFill>
            <a:srgbClr val="EDE7D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2129582" y="2628454"/>
            <a:ext cx="47575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打网球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129582" y="2838004"/>
            <a:ext cx="47575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 tennis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2859435" y="2555528"/>
            <a:ext cx="735360" cy="479227"/>
          </a:xfrm>
          <a:prstGeom prst="roundRect">
            <a:avLst>
              <a:gd name="adj" fmla="val 15901"/>
            </a:avLst>
          </a:prstGeom>
          <a:solidFill>
            <a:srgbClr val="EDE7D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3021360" y="2628454"/>
            <a:ext cx="41974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每天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021360" y="2838004"/>
            <a:ext cx="41974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every day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3696295" y="2555528"/>
            <a:ext cx="673298" cy="479227"/>
          </a:xfrm>
          <a:prstGeom prst="roundRect">
            <a:avLst>
              <a:gd name="adj" fmla="val 15901"/>
            </a:avLst>
          </a:prstGeom>
          <a:solidFill>
            <a:srgbClr val="EDE7D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3858220" y="2628454"/>
            <a:ext cx="35643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早上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858220" y="2838004"/>
            <a:ext cx="3564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morning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431750" y="3212455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400"/>
              </a:spcBef>
              <a:buNone/>
            </a:pPr>
            <a:r>
              <a:rPr lang="en-US" sz="9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PINYIN FOCUS · OU VS UO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31750" y="3450580"/>
            <a:ext cx="5575399" cy="692051"/>
          </a:xfrm>
          <a:prstGeom prst="roundRect">
            <a:avLst>
              <a:gd name="adj" fmla="val 14681"/>
            </a:avLst>
          </a:prstGeom>
          <a:solidFill>
            <a:srgbClr val="F5E8CC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653951" y="3601343"/>
            <a:ext cx="288429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ou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1114425" y="3596580"/>
            <a:ext cx="1675013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 smooth </a:t>
            </a:r>
            <a:pPr algn="l" indent="0" marL="0">
              <a:buNone/>
            </a:pPr>
            <a:r>
              <a:rPr lang="en-US" sz="11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"oh-oo"</a:t>
            </a:r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glide
</a:t>
            </a:r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走 · 都 · 后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184850" y="3450580"/>
            <a:ext cx="5575399" cy="692051"/>
          </a:xfrm>
          <a:prstGeom prst="roundRect">
            <a:avLst>
              <a:gd name="adj" fmla="val 14681"/>
            </a:avLst>
          </a:prstGeom>
          <a:solidFill>
            <a:srgbClr val="DCEAEC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6407051" y="3601343"/>
            <a:ext cx="288429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uo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6867525" y="3596580"/>
            <a:ext cx="2230314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Starts with a rounded </a:t>
            </a:r>
            <a:pPr algn="l" indent="0" marL="0">
              <a:buNone/>
            </a:pPr>
            <a:r>
              <a:rPr lang="en-US" sz="11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"w"</a:t>
            </a:r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onset
</a:t>
            </a:r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说 · 多 · 我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445622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PINYIN OU/UO + TEXT 1 · I DO · KEY PATTERN · 10-20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406301"/>
            <a:ext cx="1155506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10-20 MIN · I DO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31750" y="638026"/>
            <a:ext cx="11555069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关键句型 · Duration + Separable Verbs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31750" y="1053852"/>
            <a:ext cx="1155506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Where does the duration word go?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31750" y="1380827"/>
            <a:ext cx="1325314" cy="469702"/>
          </a:xfrm>
          <a:prstGeom prst="roundRect">
            <a:avLst>
              <a:gd name="adj" fmla="val 21631"/>
            </a:avLst>
          </a:prstGeom>
          <a:solidFill>
            <a:srgbClr val="EDE7D7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704701" y="1501378"/>
            <a:ext cx="79500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动词 Verb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884015" y="1472803"/>
            <a:ext cx="13267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141041" y="1380827"/>
            <a:ext cx="1650950" cy="469702"/>
          </a:xfrm>
          <a:prstGeom prst="roundRect">
            <a:avLst>
              <a:gd name="adj" fmla="val 21631"/>
            </a:avLst>
          </a:prstGeom>
          <a:solidFill>
            <a:srgbClr val="EDE7D7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2413992" y="1501378"/>
            <a:ext cx="1127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时长 Duration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918942" y="1472803"/>
            <a:ext cx="13267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175968" y="1380827"/>
            <a:ext cx="1489323" cy="469702"/>
          </a:xfrm>
          <a:prstGeom prst="roundRect">
            <a:avLst>
              <a:gd name="adj" fmla="val 21631"/>
            </a:avLst>
          </a:prstGeom>
          <a:solidFill>
            <a:srgbClr val="EDE7D7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448919" y="1501378"/>
            <a:ext cx="96229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宾语 Object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31750" y="1952030"/>
            <a:ext cx="1155506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跑步 and 游泳 are two-part words (verb + object) — the duration slides </a:t>
            </a:r>
            <a:pPr algn="l" indent="0" marL="0">
              <a:spcBef>
                <a:spcPts val="800"/>
              </a:spcBef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 between</a:t>
            </a:r>
            <a:pPr algn="l" indent="0" marL="0">
              <a:spcBef>
                <a:spcPts val="800"/>
              </a:spcBef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the two parts. </a:t>
            </a:r>
            <a:pPr algn="l" indent="0" marL="0">
              <a:spcBef>
                <a:spcPts val="800"/>
              </a:spcBef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No 的 needed.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31750" y="2259955"/>
            <a:ext cx="11328499" cy="482501"/>
          </a:xfrm>
          <a:prstGeom prst="roundRect">
            <a:avLst>
              <a:gd name="adj" fmla="val 21057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44426" y="2358330"/>
            <a:ext cx="207258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他每天跑</a:t>
            </a:r>
            <a:pPr algn="l" indent="0" marL="0">
              <a:buNone/>
            </a:pPr>
            <a:r>
              <a:rPr lang="en-US" sz="16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一个小时</a:t>
            </a:r>
            <a:pPr algn="l" indent="0" marL="0">
              <a:buNone/>
            </a:pPr>
            <a:r>
              <a:rPr lang="en-US" sz="16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步。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675168" y="2410718"/>
            <a:ext cx="190985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He runs for an hour every day.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1750" y="2818656"/>
            <a:ext cx="11328499" cy="482501"/>
          </a:xfrm>
          <a:prstGeom prst="roundRect">
            <a:avLst>
              <a:gd name="adj" fmla="val 21057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44426" y="2917031"/>
            <a:ext cx="207258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她每天游</a:t>
            </a:r>
            <a:pPr algn="l" indent="0" marL="0">
              <a:buNone/>
            </a:pPr>
            <a:r>
              <a:rPr lang="en-US" sz="16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半个小时</a:t>
            </a:r>
            <a:pPr algn="l" indent="0" marL="0">
              <a:buNone/>
            </a:pPr>
            <a:r>
              <a:rPr lang="en-US" sz="16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泳。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223325" y="2969419"/>
            <a:ext cx="237073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She swims for half an hour every day.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31750" y="3377357"/>
            <a:ext cx="11328499" cy="482501"/>
          </a:xfrm>
          <a:prstGeom prst="roundRect">
            <a:avLst>
              <a:gd name="adj" fmla="val 21057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44426" y="3475732"/>
            <a:ext cx="227980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他每天打</a:t>
            </a:r>
            <a:pPr algn="l" indent="0" marL="0">
              <a:buNone/>
            </a:pPr>
            <a:r>
              <a:rPr lang="en-US" sz="16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一个小时</a:t>
            </a:r>
            <a:pPr algn="l" indent="0" marL="0">
              <a:buNone/>
            </a:pPr>
            <a:r>
              <a:rPr lang="en-US" sz="16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篮球。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012162" y="3528120"/>
            <a:ext cx="360612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He plays basketball for an hour every day. (same pattern)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31750" y="3986808"/>
            <a:ext cx="5600700" cy="419100"/>
          </a:xfrm>
          <a:prstGeom prst="roundRect">
            <a:avLst>
              <a:gd name="adj" fmla="val 24243"/>
            </a:avLst>
          </a:prstGeom>
          <a:solidFill>
            <a:srgbClr val="F6E4E1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628501" y="4091583"/>
            <a:ext cx="8880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✗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17066" y="4082058"/>
            <a:ext cx="16838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B667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他每天跑步一个小时。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159401" y="3986808"/>
            <a:ext cx="5600849" cy="419100"/>
          </a:xfrm>
          <a:prstGeom prst="roundRect">
            <a:avLst>
              <a:gd name="adj" fmla="val 24243"/>
            </a:avLst>
          </a:prstGeom>
          <a:solidFill>
            <a:srgbClr val="F6E4E1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6356152" y="4091583"/>
            <a:ext cx="8880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✗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544717" y="4082058"/>
            <a:ext cx="185216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B667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他每天跑一个小时的步。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431750" y="4532858"/>
            <a:ext cx="11328499" cy="653951"/>
          </a:xfrm>
          <a:prstGeom prst="rect">
            <a:avLst/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Shape 31"/>
          <p:cNvSpPr/>
          <p:nvPr/>
        </p:nvSpPr>
        <p:spPr>
          <a:xfrm>
            <a:off x="460325" y="4532858"/>
            <a:ext cx="0" cy="653951"/>
          </a:xfrm>
          <a:prstGeom prst="line">
            <a:avLst/>
          </a:prstGeom>
          <a:noFill/>
          <a:ln w="57150">
            <a:solidFill>
              <a:srgbClr val="3A7D8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17500" y="4659809"/>
            <a:ext cx="1103043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"跑步 and 游泳 are actually </a:t>
            </a:r>
            <a:pPr algn="l" indent="0" marL="0">
              <a:buNone/>
            </a:pPr>
            <a:r>
              <a:rPr lang="en-US" sz="11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two-part words</a:t>
            </a:r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verb + object glued together. When I add a duration, it slides in between the two parts, and unlike some other duration sentences you've seen, these usually </a:t>
            </a:r>
            <a:pPr algn="l" indent="0" marL="0">
              <a:buNone/>
            </a:pPr>
            <a:r>
              <a:rPr lang="en-US" sz="11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drop 的</a:t>
            </a:r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."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452484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PINYIN OU/UO + TEXT 1 · TEXT 1 · 高力的一家 · I DO / WE DO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381000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TEXT PRESENTATION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31750" y="593675"/>
            <a:ext cx="11555069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课文一 · 高力的一家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31750" y="1111151"/>
            <a:ext cx="7021264" cy="2689175"/>
          </a:xfrm>
          <a:prstGeom prst="roundRect">
            <a:avLst>
              <a:gd name="adj" fmla="val 5667"/>
            </a:avLst>
          </a:prstGeom>
          <a:solidFill>
            <a:srgbClr val="F6F2E8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79400" y="1333351"/>
            <a:ext cx="1643063" cy="304800"/>
          </a:xfrm>
          <a:prstGeom prst="roundRect">
            <a:avLst>
              <a:gd name="adj" fmla="val 66667"/>
            </a:avLst>
          </a:prstGeom>
          <a:solidFill>
            <a:srgbClr val="DCEAEC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50850" y="1390501"/>
            <a:ext cx="132616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🎵 CD Track 36 · p.70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449413" y="1380976"/>
            <a:ext cx="46634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5B667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课文一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79400" y="1739652"/>
            <a:ext cx="6525964" cy="15114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75"/>
              </a:lnSpc>
              <a:buNone/>
            </a:pPr>
            <a:r>
              <a:rPr lang="en-US" sz="1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我叫高力。我们</a:t>
            </a:r>
            <a:pPr algn="l" indent="0" marL="0">
              <a:lnSpc>
                <a:spcPts val="2975"/>
              </a:lnSpc>
              <a:buNone/>
            </a:pPr>
            <a:r>
              <a:rPr lang="en-US" sz="17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一家人</a:t>
            </a:r>
            <a:pPr algn="l" indent="0" marL="0">
              <a:lnSpc>
                <a:spcPts val="2975"/>
              </a:lnSpc>
              <a:buNone/>
            </a:pPr>
            <a:r>
              <a:rPr lang="en-US" sz="1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都喜欢运动。</a:t>
            </a:r>
            <a:endParaRPr lang="en-US" sz="1700" dirty="0"/>
          </a:p>
          <a:p>
            <a:pPr algn="l" indent="0" marL="0">
              <a:lnSpc>
                <a:spcPts val="2975"/>
              </a:lnSpc>
              <a:buNone/>
            </a:pPr>
            <a:r>
              <a:rPr lang="en-US" sz="1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我爸爸喜欢跑步。他每天跑</a:t>
            </a:r>
            <a:pPr algn="l" indent="0" marL="0">
              <a:lnSpc>
                <a:spcPts val="2975"/>
              </a:lnSpc>
              <a:buNone/>
            </a:pPr>
            <a:r>
              <a:rPr lang="en-US" sz="17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一个小时</a:t>
            </a:r>
            <a:pPr algn="l" indent="0" marL="0">
              <a:lnSpc>
                <a:spcPts val="2975"/>
              </a:lnSpc>
              <a:buNone/>
            </a:pPr>
            <a:r>
              <a:rPr lang="en-US" sz="1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步。</a:t>
            </a:r>
            <a:endParaRPr lang="en-US" sz="1700" dirty="0"/>
          </a:p>
          <a:p>
            <a:pPr algn="l" indent="0" marL="0">
              <a:lnSpc>
                <a:spcPts val="2975"/>
              </a:lnSpc>
              <a:buNone/>
            </a:pPr>
            <a:r>
              <a:rPr lang="en-US" sz="1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我妈妈喜欢游泳。她每天早上游泳。</a:t>
            </a:r>
            <a:endParaRPr lang="en-US" sz="1700" dirty="0"/>
          </a:p>
          <a:p>
            <a:pPr algn="l" indent="0" marL="0">
              <a:lnSpc>
                <a:spcPts val="2975"/>
              </a:lnSpc>
              <a:buNone/>
            </a:pPr>
            <a:r>
              <a:rPr lang="en-US" sz="1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我呢，我喜欢跟朋友一起打网球。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79400" y="3397151"/>
            <a:ext cx="165042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Listen with books closed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398961" y="3378101"/>
            <a:ext cx="14254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640211" y="3397151"/>
            <a:ext cx="143728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Follow along reading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150816" y="3378101"/>
            <a:ext cx="14254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392067" y="3397151"/>
            <a:ext cx="92358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Choral read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681615" y="1111151"/>
            <a:ext cx="4078635" cy="1111151"/>
          </a:xfrm>
          <a:prstGeom prst="roundRect">
            <a:avLst>
              <a:gd name="adj" fmla="val 11430"/>
            </a:avLst>
          </a:prstGeom>
          <a:solidFill>
            <a:srgbClr val="EDE7D7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815707" y="1282601"/>
            <a:ext cx="3810449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000"/>
              </a:lnSpc>
              <a:buNone/>
            </a:pPr>
            <a:r>
              <a:rPr lang="en-US" sz="30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高力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7815707" y="1701701"/>
            <a:ext cx="381044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Gāo Lì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815707" y="1888927"/>
            <a:ext cx="381044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Main character · Lesson 3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681615" y="2349252"/>
            <a:ext cx="4078635" cy="1406426"/>
          </a:xfrm>
          <a:prstGeom prst="roundRect">
            <a:avLst>
              <a:gd name="adj" fmla="val 9030"/>
            </a:avLst>
          </a:prstGeom>
          <a:solidFill>
            <a:srgbClr val="F6F2E8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7878366" y="2520702"/>
            <a:ext cx="375883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COMPREHENSION QUESTIONS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7878366" y="2784128"/>
            <a:ext cx="3685133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Q1</a:t>
            </a:r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Does everyone in 高力's family like sport?</a:t>
            </a:r>
            <a:endParaRPr lang="en-US" sz="1100" dirty="0"/>
          </a:p>
          <a:p>
            <a:pPr algn="l" indent="0" marL="0">
              <a:buNone/>
            </a:pPr>
            <a:r>
              <a:rPr lang="en-US" sz="11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Q2</a:t>
            </a:r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 does dad like, and for how long each day?</a:t>
            </a:r>
            <a:endParaRPr lang="en-US" sz="1100" dirty="0"/>
          </a:p>
          <a:p>
            <a:pPr algn="l" indent="0" marL="0">
              <a:buNone/>
            </a:pPr>
            <a:r>
              <a:rPr lang="en-US" sz="11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Q3</a:t>
            </a:r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 does mum like, and when?</a:t>
            </a:r>
            <a:endParaRPr lang="en-US" sz="1100" dirty="0"/>
          </a:p>
          <a:p>
            <a:pPr algn="l" indent="0" marL="0">
              <a:buNone/>
            </a:pPr>
            <a:r>
              <a:rPr lang="en-US" sz="11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Q4</a:t>
            </a:r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 does 高力 himself like, and with whom?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481069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PINYIN OU/UO + TEXT 1 · I DO · CFU CHECKPOINTS · 10-20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507950"/>
            <a:ext cx="1155506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CHECK FOR UNDERSTANDING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31750" y="784175"/>
            <a:ext cx="11555069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理解检查 · CFU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31750" y="1301651"/>
            <a:ext cx="1155506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2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your answer on your mini whiteboard </a:t>
            </a:r>
            <a:pPr algn="l" indent="0" marL="0">
              <a:spcBef>
                <a:spcPts val="400"/>
              </a:spcBef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WHITEBOARD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31750" y="1714351"/>
            <a:ext cx="11328499" cy="755452"/>
          </a:xfrm>
          <a:prstGeom prst="roundRect">
            <a:avLst>
              <a:gd name="adj" fmla="val 13449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69875" y="1901577"/>
            <a:ext cx="381000" cy="381000"/>
          </a:xfrm>
          <a:prstGeom prst="roundRect">
            <a:avLst>
              <a:gd name="adj" fmla="val 24000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20341" y="1968252"/>
            <a:ext cx="81671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54026" y="1901577"/>
            <a:ext cx="379359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Which word has the </a:t>
            </a:r>
            <a:pPr algn="l" indent="0" marL="0">
              <a:buNone/>
            </a:pPr>
            <a:r>
              <a:rPr lang="en-US" sz="16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uo</a:t>
            </a:r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sound — </a:t>
            </a:r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走</a:t>
            </a:r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or </a:t>
            </a:r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说</a:t>
            </a:r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?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31750" y="2622203"/>
            <a:ext cx="11328499" cy="755452"/>
          </a:xfrm>
          <a:prstGeom prst="roundRect">
            <a:avLst>
              <a:gd name="adj" fmla="val 13449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69875" y="2809429"/>
            <a:ext cx="381000" cy="381000"/>
          </a:xfrm>
          <a:prstGeom prst="roundRect">
            <a:avLst>
              <a:gd name="adj" fmla="val 24000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04118" y="2876104"/>
            <a:ext cx="11461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254026" y="2809429"/>
            <a:ext cx="381242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Fill the gap: </a:t>
            </a:r>
            <a:pPr algn="l" indent="0" marL="0">
              <a:buNone/>
            </a:pPr>
            <a:r>
              <a:rPr lang="en-US" sz="16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他每天跑____步。</a:t>
            </a:r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(one hour)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31750" y="3530054"/>
            <a:ext cx="11328499" cy="755452"/>
          </a:xfrm>
          <a:prstGeom prst="roundRect">
            <a:avLst>
              <a:gd name="adj" fmla="val 13449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69875" y="3717280"/>
            <a:ext cx="381000" cy="381000"/>
          </a:xfrm>
          <a:prstGeom prst="roundRect">
            <a:avLst>
              <a:gd name="adj" fmla="val 24000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03672" y="3783955"/>
            <a:ext cx="11552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254026" y="3717280"/>
            <a:ext cx="376080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True or false: </a:t>
            </a:r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Gao Li's mum plays tennis.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31750" y="4437906"/>
            <a:ext cx="1155506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200"/>
              </a:spcBef>
              <a:buNone/>
            </a:pPr>
            <a:r>
              <a:rPr lang="en-US" sz="1100" i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Answers on next slide →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361705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PINYIN OU/UO + TEXT 1 · I DO · CFU ANSWERS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507950"/>
            <a:ext cx="1155506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ANSWERS REVEALED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31750" y="784175"/>
            <a:ext cx="11555069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答案 · Answers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31750" y="1454051"/>
            <a:ext cx="11328499" cy="1047601"/>
          </a:xfrm>
          <a:prstGeom prst="roundRect">
            <a:avLst>
              <a:gd name="adj" fmla="val 9698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69875" y="1615976"/>
            <a:ext cx="381000" cy="381000"/>
          </a:xfrm>
          <a:prstGeom prst="roundRect">
            <a:avLst>
              <a:gd name="adj" fmla="val 24000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20341" y="1682651"/>
            <a:ext cx="81671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254026" y="1615976"/>
            <a:ext cx="290857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Which word has the uo sound — 走 or 说?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254026" y="1866751"/>
            <a:ext cx="290857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说 has the uo sound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254026" y="2158752"/>
            <a:ext cx="29085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走 has the ou sound instead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31750" y="2628602"/>
            <a:ext cx="11328499" cy="1047601"/>
          </a:xfrm>
          <a:prstGeom prst="roundRect">
            <a:avLst>
              <a:gd name="adj" fmla="val 9698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69875" y="2790527"/>
            <a:ext cx="381000" cy="381000"/>
          </a:xfrm>
          <a:prstGeom prst="roundRect">
            <a:avLst>
              <a:gd name="adj" fmla="val 24000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804118" y="2857202"/>
            <a:ext cx="11461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254026" y="2790527"/>
            <a:ext cx="273506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Fill the gap: 他每天跑____步。(one hour)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254026" y="3041303"/>
            <a:ext cx="273506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他每天跑一个小时步。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254026" y="3333304"/>
            <a:ext cx="273506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tā měitiān pǎo yí ge xiǎoshí bù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31750" y="3803154"/>
            <a:ext cx="11328499" cy="1047601"/>
          </a:xfrm>
          <a:prstGeom prst="roundRect">
            <a:avLst>
              <a:gd name="adj" fmla="val 9698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69875" y="3965079"/>
            <a:ext cx="381000" cy="381000"/>
          </a:xfrm>
          <a:prstGeom prst="roundRect">
            <a:avLst>
              <a:gd name="adj" fmla="val 24000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803672" y="4031754"/>
            <a:ext cx="11552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254026" y="3965079"/>
            <a:ext cx="571074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True or false: Gao Li's mum plays tennis.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254026" y="4215854"/>
            <a:ext cx="571074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False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254026" y="4507855"/>
            <a:ext cx="571074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高力's mum likes 游泳 (swimming), not tennis — Gao Li himself is the one who plays tennis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489114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PINYIN OU/UO + TEXT 1 · ACTIVITY 1 · CD TRACK 37 · 20-25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428625"/>
            <a:ext cx="1487984" cy="307777"/>
          </a:xfrm>
          <a:prstGeom prst="roundRect">
            <a:avLst>
              <a:gd name="adj" fmla="val 66022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34901" y="492026"/>
            <a:ext cx="110331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 1 · PINYIN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097435" y="406301"/>
            <a:ext cx="3530218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听音辨调 · ou/uo Tonal Marks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736134" y="441275"/>
            <a:ext cx="753368" cy="282476"/>
          </a:xfrm>
          <a:prstGeom prst="roundRect">
            <a:avLst>
              <a:gd name="adj" fmla="val 71935"/>
            </a:avLst>
          </a:prstGeom>
          <a:solidFill>
            <a:srgbClr val="F6F2E8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923359" y="501551"/>
            <a:ext cx="38649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Do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865346" y="422225"/>
            <a:ext cx="894904" cy="320576"/>
          </a:xfrm>
          <a:prstGeom prst="roundRect">
            <a:avLst>
              <a:gd name="adj" fmla="val 63386"/>
            </a:avLst>
          </a:prstGeom>
          <a:solidFill>
            <a:srgbClr val="DCEAEC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1062097" y="492026"/>
            <a:ext cx="51143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5 min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31750" y="936427"/>
            <a:ext cx="2539901" cy="2681585"/>
          </a:xfrm>
          <a:prstGeom prst="roundRect">
            <a:avLst>
              <a:gd name="adj" fmla="val 6000"/>
            </a:avLst>
          </a:prstGeom>
          <a:solidFill>
            <a:srgbClr val="DCEAEC"/>
          </a:solidFill>
          <a:ln w="28575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449288" y="1377255"/>
            <a:ext cx="514922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💿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1333798" y="2193131"/>
            <a:ext cx="75037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CD TRACK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487239" y="2456557"/>
            <a:ext cx="43750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37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1032867" y="3015258"/>
            <a:ext cx="136442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Book 2 · Unit 3 · Act. 3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200251" y="936427"/>
            <a:ext cx="87311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 to do: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200251" y="1266527"/>
            <a:ext cx="8559998" cy="450652"/>
          </a:xfrm>
          <a:prstGeom prst="roundRect">
            <a:avLst>
              <a:gd name="adj" fmla="val 22545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3387477" y="1377553"/>
            <a:ext cx="1748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1️⃣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685877" y="1377553"/>
            <a:ext cx="450176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Listen</a:t>
            </a:r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teacher plays/reads a list of words containing ou or uo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200251" y="1818680"/>
            <a:ext cx="8559998" cy="450652"/>
          </a:xfrm>
          <a:prstGeom prst="roundRect">
            <a:avLst>
              <a:gd name="adj" fmla="val 22545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3387477" y="1929705"/>
            <a:ext cx="1748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2️⃣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685877" y="1929705"/>
            <a:ext cx="475376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</a:t>
            </a:r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the pinyin with the correct tonal mark on your mini whiteboard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200251" y="2370832"/>
            <a:ext cx="8559998" cy="450652"/>
          </a:xfrm>
          <a:prstGeom prst="roundRect">
            <a:avLst>
              <a:gd name="adj" fmla="val 22545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387477" y="2481858"/>
            <a:ext cx="1748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3️⃣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685877" y="2481858"/>
            <a:ext cx="290296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Hold up</a:t>
            </a:r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your whiteboard after every word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200251" y="2948285"/>
            <a:ext cx="8559998" cy="669727"/>
          </a:xfrm>
          <a:prstGeom prst="roundRect">
            <a:avLst>
              <a:gd name="adj" fmla="val 15170"/>
            </a:avLst>
          </a:prstGeom>
          <a:solidFill>
            <a:srgbClr val="EDE7D7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3397002" y="3068836"/>
            <a:ext cx="832982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MOUTH-SHAPE REMINDER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3397002" y="3287911"/>
            <a:ext cx="114506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ou</a:t>
            </a:r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走 · 都 · 后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697313" y="3287911"/>
            <a:ext cx="114506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uo</a:t>
            </a:r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说 · 多 · 我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31750" y="3770412"/>
            <a:ext cx="3691533" cy="644426"/>
          </a:xfrm>
          <a:prstGeom prst="roundRect">
            <a:avLst>
              <a:gd name="adj" fmla="val 1576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584150" y="3846612"/>
            <a:ext cx="345446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584150" y="4014788"/>
            <a:ext cx="345446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Mouth-shape reminder card stays projected — ou vs uo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250234" y="3770412"/>
            <a:ext cx="3691533" cy="644426"/>
          </a:xfrm>
          <a:prstGeom prst="roundRect">
            <a:avLst>
              <a:gd name="adj" fmla="val 1576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4402634" y="3846612"/>
            <a:ext cx="345446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4402634" y="4014788"/>
            <a:ext cx="3454467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Say whether the word is one you know already (e.g. 都, 说) and give its meaning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8068717" y="3770412"/>
            <a:ext cx="3691533" cy="644426"/>
          </a:xfrm>
          <a:prstGeom prst="roundRect">
            <a:avLst>
              <a:gd name="adj" fmla="val 1576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8221117" y="3846612"/>
            <a:ext cx="345446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8221117" y="4014788"/>
            <a:ext cx="345446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Whole-class whiteboard hold-up after every word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568872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PINYIN OU/UO + TEXT 1 · ACTIVITY 2 · TEXT 1 COMPREHENSION · 25-31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457200"/>
            <a:ext cx="1135707" cy="288727"/>
          </a:xfrm>
          <a:prstGeom prst="roundRect">
            <a:avLst>
              <a:gd name="adj" fmla="val 70378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34901" y="520601"/>
            <a:ext cx="74399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745159" y="406301"/>
            <a:ext cx="54718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朗读与理解 · Choral Read + Comprehension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31750" y="923776"/>
            <a:ext cx="877193" cy="301526"/>
          </a:xfrm>
          <a:prstGeom prst="roundRect">
            <a:avLst>
              <a:gd name="adj" fmla="val 67390"/>
            </a:avLst>
          </a:prstGeom>
          <a:solidFill>
            <a:srgbClr val="F5E8CC"/>
          </a:solidFill>
          <a:ln w="9525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18976" y="984052"/>
            <a:ext cx="51279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6 min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435894" y="942826"/>
            <a:ext cx="746671" cy="263426"/>
          </a:xfrm>
          <a:prstGeom prst="roundRect">
            <a:avLst>
              <a:gd name="adj" fmla="val 77137"/>
            </a:avLst>
          </a:prstGeom>
          <a:solidFill>
            <a:srgbClr val="DCEAE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588294" y="993577"/>
            <a:ext cx="45070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DO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31750" y="1403003"/>
            <a:ext cx="6030813" cy="2310854"/>
          </a:xfrm>
          <a:prstGeom prst="roundRect">
            <a:avLst>
              <a:gd name="adj" fmla="val 5496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95176" y="1615678"/>
            <a:ext cx="561404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INSTRUCTIONS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95176" y="1917204"/>
            <a:ext cx="5503962" cy="1508224"/>
          </a:xfrm>
          <a:prstGeom prst="rect">
            <a:avLst/>
          </a:prstGeom>
          <a:noFill/>
          <a:ln/>
        </p:spPr>
        <p:txBody>
          <a:bodyPr wrap="square" lIns="114300" tIns="0" rIns="0" bIns="0" rtlCol="0" anchor="t"/>
          <a:lstStyle/>
          <a:p>
            <a:pPr algn="l" marL="114300" indent="-114300">
              <a:lnSpc>
                <a:spcPts val="168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Class reads </a:t>
            </a:r>
            <a:pPr algn="l" indent="0" marL="0">
              <a:lnSpc>
                <a:spcPts val="168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Text 1 chorally twice</a:t>
            </a:r>
            <a:pPr algn="l" indent="0" marL="0">
              <a:lnSpc>
                <a:spcPts val="168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once slow, once at natural pace</a:t>
            </a:r>
            <a:endParaRPr lang="en-US" sz="1200" dirty="0"/>
          </a:p>
          <a:p>
            <a:pPr algn="l" marL="114300" indent="-114300">
              <a:lnSpc>
                <a:spcPts val="168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Whole group answers the </a:t>
            </a:r>
            <a:pPr algn="l" indent="0" marL="0">
              <a:lnSpc>
                <a:spcPts val="168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 comprehension questions</a:t>
            </a:r>
            <a:pPr algn="l" indent="0" marL="0">
              <a:lnSpc>
                <a:spcPts val="168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from the text — cold-call different students for each</a:t>
            </a:r>
            <a:endParaRPr lang="en-US" sz="1200" dirty="0"/>
          </a:p>
          <a:p>
            <a:pPr algn="l" marL="114300" indent="-114300">
              <a:lnSpc>
                <a:spcPts val="168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Use the sentence starter </a:t>
            </a:r>
            <a:pPr algn="l" indent="0" marL="0">
              <a:lnSpc>
                <a:spcPts val="168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他每天……</a:t>
            </a:r>
            <a:pPr algn="l" indent="0" marL="0">
              <a:lnSpc>
                <a:spcPts val="168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to structure spoken answers</a:t>
            </a:r>
            <a:endParaRPr lang="en-US" sz="1200" dirty="0"/>
          </a:p>
          <a:p>
            <a:pPr algn="l" marL="114300" indent="-114300">
              <a:lnSpc>
                <a:spcPts val="168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Extension: restate the answer as a </a:t>
            </a:r>
            <a:pPr algn="l" indent="0" marL="0">
              <a:lnSpc>
                <a:spcPts val="168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full Chinese sentence</a:t>
            </a:r>
            <a:pPr algn="l" indent="0" marL="0">
              <a:lnSpc>
                <a:spcPts val="168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, not a fragment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716464" y="1403003"/>
            <a:ext cx="5043785" cy="2310854"/>
          </a:xfrm>
          <a:prstGeom prst="roundRect">
            <a:avLst>
              <a:gd name="adj" fmla="val 5496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945064" y="1580704"/>
            <a:ext cx="467831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SENTENCE STARTER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945064" y="1882229"/>
            <a:ext cx="4586585" cy="526852"/>
          </a:xfrm>
          <a:prstGeom prst="roundRect">
            <a:avLst>
              <a:gd name="adj" fmla="val 19284"/>
            </a:avLst>
          </a:prstGeom>
          <a:solidFill>
            <a:srgbClr val="FEFCF7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074078" y="2002780"/>
            <a:ext cx="432855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他每天……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945064" y="2536031"/>
            <a:ext cx="467831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0"/>
              </a:spcBef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QUESTIONS TO DRILL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945064" y="2812256"/>
            <a:ext cx="4586585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Q1</a:t>
            </a:r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Does everyone in the family like sport?</a:t>
            </a:r>
            <a:endParaRPr lang="en-US" sz="1000" dirty="0"/>
          </a:p>
          <a:p>
            <a:pPr algn="l"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Q2</a:t>
            </a:r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Dad — what, and how long each day?</a:t>
            </a:r>
            <a:endParaRPr lang="en-US" sz="1000" dirty="0"/>
          </a:p>
          <a:p>
            <a:pPr algn="l"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Q3</a:t>
            </a:r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Mum — what, and when?</a:t>
            </a:r>
            <a:endParaRPr lang="en-US" sz="1000" dirty="0"/>
          </a:p>
          <a:p>
            <a:pPr algn="l"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Q4</a:t>
            </a:r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高力 — what, and with whom?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31750" y="3866257"/>
            <a:ext cx="3691533" cy="644426"/>
          </a:xfrm>
          <a:prstGeom prst="roundRect">
            <a:avLst>
              <a:gd name="adj" fmla="val 1576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584150" y="3942457"/>
            <a:ext cx="345446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584150" y="4110633"/>
            <a:ext cx="3454467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English translations available to glance at for students who need it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250234" y="3866257"/>
            <a:ext cx="3691533" cy="644426"/>
          </a:xfrm>
          <a:prstGeom prst="roundRect">
            <a:avLst>
              <a:gd name="adj" fmla="val 1576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4402634" y="3942457"/>
            <a:ext cx="345446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4402634" y="4110633"/>
            <a:ext cx="3454467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Fluent speakers restate the answer as a full Chinese sentence, not a fragment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068717" y="3866257"/>
            <a:ext cx="3691533" cy="644426"/>
          </a:xfrm>
          <a:prstGeom prst="roundRect">
            <a:avLst>
              <a:gd name="adj" fmla="val 1576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8221117" y="3942457"/>
            <a:ext cx="345446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8221117" y="4110633"/>
            <a:ext cx="345446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Cold call spread across at least 6 different students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560979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PINYIN OU/UO + TEXT 1 · ACTIVITY 3 · DURATION CHAIN DRILL · 31-35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457200"/>
            <a:ext cx="1136303" cy="288727"/>
          </a:xfrm>
          <a:prstGeom prst="roundRect">
            <a:avLst>
              <a:gd name="adj" fmla="val 70378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34901" y="520601"/>
            <a:ext cx="74460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745754" y="406301"/>
            <a:ext cx="4051819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接龙练习 · Duration Chain Drill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31750" y="923776"/>
            <a:ext cx="876895" cy="301526"/>
          </a:xfrm>
          <a:prstGeom prst="roundRect">
            <a:avLst>
              <a:gd name="adj" fmla="val 67390"/>
            </a:avLst>
          </a:prstGeom>
          <a:solidFill>
            <a:srgbClr val="F5E8CC"/>
          </a:solidFill>
          <a:ln w="9525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18976" y="984052"/>
            <a:ext cx="51249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4 min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435596" y="942826"/>
            <a:ext cx="826591" cy="263426"/>
          </a:xfrm>
          <a:prstGeom prst="roundRect">
            <a:avLst>
              <a:gd name="adj" fmla="val 77137"/>
            </a:avLst>
          </a:prstGeom>
          <a:solidFill>
            <a:srgbClr val="F6E4E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587996" y="993577"/>
            <a:ext cx="53222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DO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31750" y="1403003"/>
            <a:ext cx="6030813" cy="2803178"/>
          </a:xfrm>
          <a:prstGeom prst="roundRect">
            <a:avLst>
              <a:gd name="adj" fmla="val 4531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95176" y="1615678"/>
            <a:ext cx="561404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INSTRUCTIONS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95176" y="1917204"/>
            <a:ext cx="5503962" cy="1508224"/>
          </a:xfrm>
          <a:prstGeom prst="rect">
            <a:avLst/>
          </a:prstGeom>
          <a:noFill/>
          <a:ln/>
        </p:spPr>
        <p:txBody>
          <a:bodyPr wrap="square" lIns="114300" tIns="0" rIns="0" bIns="0" rtlCol="0" anchor="t"/>
          <a:lstStyle/>
          <a:p>
            <a:pPr algn="l" marL="114300" indent="-114300">
              <a:lnSpc>
                <a:spcPts val="168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says a </a:t>
            </a:r>
            <a:pPr algn="l" indent="0" marL="0">
              <a:lnSpc>
                <a:spcPts val="168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duration phrase in English</a:t>
            </a:r>
            <a:pPr algn="l" indent="0" marL="0">
              <a:lnSpc>
                <a:spcPts val="168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e.g. "five days", "three months"</a:t>
            </a:r>
            <a:endParaRPr lang="en-US" sz="1200" dirty="0"/>
          </a:p>
          <a:p>
            <a:pPr algn="l" marL="114300" indent="-114300">
              <a:lnSpc>
                <a:spcPts val="1680"/>
              </a:lnSpc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First student</a:t>
            </a:r>
            <a:pPr algn="l" indent="0" marL="0">
              <a:lnSpc>
                <a:spcPts val="168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translates it aloud into Chinese</a:t>
            </a:r>
            <a:endParaRPr lang="en-US" sz="1200" dirty="0"/>
          </a:p>
          <a:p>
            <a:pPr algn="l" marL="114300" indent="-114300">
              <a:lnSpc>
                <a:spcPts val="168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That student then says a </a:t>
            </a:r>
            <a:pPr algn="l" indent="0" marL="0">
              <a:lnSpc>
                <a:spcPts val="168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new duration phrase</a:t>
            </a:r>
            <a:pPr algn="l" indent="0" marL="0">
              <a:lnSpc>
                <a:spcPts val="168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in English for the next student</a:t>
            </a:r>
            <a:endParaRPr lang="en-US" sz="1200" dirty="0"/>
          </a:p>
          <a:p>
            <a:pPr algn="l" marL="114300" indent="-114300">
              <a:lnSpc>
                <a:spcPts val="168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Continue </a:t>
            </a:r>
            <a:pPr algn="l" indent="0" marL="0">
              <a:lnSpc>
                <a:spcPts val="168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the room</a:t>
            </a:r>
            <a:pPr algn="l" indent="0" marL="0">
              <a:lnSpc>
                <a:spcPts val="168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every student must respond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95176" y="3552379"/>
            <a:ext cx="5503962" cy="441127"/>
          </a:xfrm>
          <a:prstGeom prst="roundRect">
            <a:avLst>
              <a:gd name="adj" fmla="val 23032"/>
            </a:avLst>
          </a:prstGeom>
          <a:solidFill>
            <a:srgbClr val="FEFCF7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91927" y="3672929"/>
            <a:ext cx="521266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Extension: combine your duration with a sport — </a:t>
            </a:r>
            <a:pPr algn="l" indent="0" marL="0">
              <a:buNone/>
            </a:pPr>
            <a:r>
              <a:rPr lang="en-US" sz="11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他每天跑三个小时步。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716464" y="1403003"/>
            <a:ext cx="5043785" cy="2803178"/>
          </a:xfrm>
          <a:prstGeom prst="roundRect">
            <a:avLst>
              <a:gd name="adj" fmla="val 4531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945064" y="1580704"/>
            <a:ext cx="467831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DURATION WORDS · 时长词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945064" y="1882229"/>
            <a:ext cx="4586585" cy="1638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天 </a:t>
            </a:r>
            <a:pPr algn="l" indent="0" marL="0">
              <a:buNone/>
            </a:pPr>
            <a:r>
              <a:rPr lang="en-US" sz="900" b="1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day</a:t>
            </a:r>
            <a:endParaRPr lang="en-US" sz="1500" dirty="0"/>
          </a:p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星期 </a:t>
            </a:r>
            <a:pPr algn="l" indent="0" marL="0">
              <a:buNone/>
            </a:pPr>
            <a:r>
              <a:rPr lang="en-US" sz="900" b="1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week</a:t>
            </a:r>
            <a:endParaRPr lang="en-US" sz="1500" dirty="0"/>
          </a:p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月 </a:t>
            </a:r>
            <a:pPr algn="l" indent="0" marL="0">
              <a:buNone/>
            </a:pPr>
            <a:r>
              <a:rPr lang="en-US" sz="900" b="1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month</a:t>
            </a:r>
            <a:endParaRPr lang="en-US" sz="1500" dirty="0"/>
          </a:p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小时 </a:t>
            </a:r>
            <a:pPr algn="l" indent="0" marL="0">
              <a:buNone/>
            </a:pPr>
            <a:r>
              <a:rPr lang="en-US" sz="900" b="1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hour</a:t>
            </a:r>
            <a:endParaRPr lang="en-US" sz="1500" dirty="0"/>
          </a:p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分钟 </a:t>
            </a:r>
            <a:pPr algn="l" indent="0" marL="0">
              <a:buNone/>
            </a:pPr>
            <a:r>
              <a:rPr lang="en-US" sz="900" b="1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minute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31750" y="4383881"/>
            <a:ext cx="3691533" cy="644426"/>
          </a:xfrm>
          <a:prstGeom prst="roundRect">
            <a:avLst>
              <a:gd name="adj" fmla="val 1576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584150" y="4460081"/>
            <a:ext cx="345446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584150" y="4628257"/>
            <a:ext cx="3454467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Reference list of duration words (天/星期/月/小时/分钟) stays visible on projector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250234" y="4383881"/>
            <a:ext cx="3691533" cy="644426"/>
          </a:xfrm>
          <a:prstGeom prst="roundRect">
            <a:avLst>
              <a:gd name="adj" fmla="val 1576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4402634" y="4460081"/>
            <a:ext cx="345446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4402634" y="4628257"/>
            <a:ext cx="345446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Combine your duration with a sport: 他每天跑三个小时步。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068717" y="4383881"/>
            <a:ext cx="3691533" cy="644426"/>
          </a:xfrm>
          <a:prstGeom prst="roundRect">
            <a:avLst>
              <a:gd name="adj" fmla="val 1576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8221117" y="4460081"/>
            <a:ext cx="345446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8221117" y="4628257"/>
            <a:ext cx="345446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Every student in the chain must respond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489919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PINYIN OU/UO + TEXT 1 · ACTIVITY 4 · CD TRACK 38 · 35-41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412849"/>
            <a:ext cx="1654522" cy="288727"/>
          </a:xfrm>
          <a:prstGeom prst="roundRect">
            <a:avLst>
              <a:gd name="adj" fmla="val 70378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34901" y="476250"/>
            <a:ext cx="127318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 4 · LISTENING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263973" y="381000"/>
            <a:ext cx="2961406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听力表格 · Listening Grid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345013" y="415975"/>
            <a:ext cx="798165" cy="282476"/>
          </a:xfrm>
          <a:prstGeom prst="roundRect">
            <a:avLst>
              <a:gd name="adj" fmla="val 71935"/>
            </a:avLst>
          </a:prstGeom>
          <a:solidFill>
            <a:srgbClr val="F6F2E8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532239" y="476250"/>
            <a:ext cx="43218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Do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864007" y="396925"/>
            <a:ext cx="896243" cy="320576"/>
          </a:xfrm>
          <a:prstGeom prst="roundRect">
            <a:avLst>
              <a:gd name="adj" fmla="val 63386"/>
            </a:avLst>
          </a:prstGeom>
          <a:solidFill>
            <a:srgbClr val="F6E4E1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1060757" y="466725"/>
            <a:ext cx="51279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6 min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31750" y="885825"/>
            <a:ext cx="2158901" cy="3195638"/>
          </a:xfrm>
          <a:prstGeom prst="roundRect">
            <a:avLst>
              <a:gd name="adj" fmla="val 5883"/>
            </a:avLst>
          </a:prstGeom>
          <a:solidFill>
            <a:srgbClr val="F6E4E1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320701" y="1057275"/>
            <a:ext cx="38862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💿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1183928" y="1666875"/>
            <a:ext cx="66748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CD TRACK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344364" y="1885950"/>
            <a:ext cx="340194" cy="355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8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38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03680" y="2317700"/>
            <a:ext cx="121489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Book 2 · Unit 3 · Act. 5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03200" y="2587526"/>
            <a:ext cx="1816001" cy="398562"/>
          </a:xfrm>
          <a:prstGeom prst="roundRect">
            <a:avLst>
              <a:gd name="adj" fmla="val 1274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79400" y="2638276"/>
            <a:ext cx="1696873" cy="297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Listen</a:t>
            </a:r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to 6 short descriptions of people's sport habits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03200" y="3049488"/>
            <a:ext cx="1816001" cy="398562"/>
          </a:xfrm>
          <a:prstGeom prst="roundRect">
            <a:avLst>
              <a:gd name="adj" fmla="val 1274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79400" y="3100239"/>
            <a:ext cx="1696873" cy="297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Tick</a:t>
            </a:r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the correct box for each person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03200" y="3511451"/>
            <a:ext cx="1816001" cy="398562"/>
          </a:xfrm>
          <a:prstGeom prst="roundRect">
            <a:avLst>
              <a:gd name="adj" fmla="val 1274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79400" y="3562201"/>
            <a:ext cx="1696873" cy="297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Self-mark</a:t>
            </a:r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as a class, raise hand if wrong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2793802" y="885825"/>
            <a:ext cx="914577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Grid Format · 6 People × 8 Activities </a:t>
            </a:r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(first 3 shown)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793802" y="1143000"/>
            <a:ext cx="8966448" cy="1704975"/>
          </a:xfrm>
          <a:prstGeom prst="roundRect">
            <a:avLst>
              <a:gd name="adj" fmla="val 5959"/>
            </a:avLst>
          </a:prstGeom>
          <a:noFill/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2812852" y="1162050"/>
            <a:ext cx="8928348" cy="561975"/>
          </a:xfrm>
          <a:prstGeom prst="rect">
            <a:avLst/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2812852" y="1162050"/>
            <a:ext cx="888950" cy="561975"/>
          </a:xfrm>
          <a:prstGeom prst="rect">
            <a:avLst/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Shape 25"/>
          <p:cNvSpPr/>
          <p:nvPr/>
        </p:nvSpPr>
        <p:spPr>
          <a:xfrm>
            <a:off x="3697039" y="1162050"/>
            <a:ext cx="0" cy="561975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812852" y="1719263"/>
            <a:ext cx="88895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39802" y="1238250"/>
            <a:ext cx="71575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Person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146179" y="1162050"/>
            <a:ext cx="0" cy="561975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701802" y="1719263"/>
            <a:ext cx="1449139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739171" y="1238250"/>
            <a:ext cx="1364876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跑步
</a:t>
            </a:r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run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595467" y="1162050"/>
            <a:ext cx="0" cy="561975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150941" y="1719263"/>
            <a:ext cx="1449288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188309" y="1238250"/>
            <a:ext cx="1365028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游泳
</a:t>
            </a:r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swim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8044607" y="1162050"/>
            <a:ext cx="0" cy="561975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600230" y="1719263"/>
            <a:ext cx="1449139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637599" y="1238250"/>
            <a:ext cx="1364876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打网球
</a:t>
            </a:r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tennis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9493895" y="1162050"/>
            <a:ext cx="0" cy="561975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049369" y="1719263"/>
            <a:ext cx="1449288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086737" y="1238250"/>
            <a:ext cx="1365028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打篮球
</a:t>
            </a:r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basketball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9498657" y="1719263"/>
            <a:ext cx="2242542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527997" y="1238250"/>
            <a:ext cx="218386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+ 4 more sports from Units 1-2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2812852" y="1724025"/>
            <a:ext cx="888950" cy="371475"/>
          </a:xfrm>
          <a:prstGeom prst="rect">
            <a:avLst/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Shape 43"/>
          <p:cNvSpPr/>
          <p:nvPr/>
        </p:nvSpPr>
        <p:spPr>
          <a:xfrm>
            <a:off x="3697039" y="1724025"/>
            <a:ext cx="0" cy="371475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812852" y="2090738"/>
            <a:ext cx="88895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939802" y="1800225"/>
            <a:ext cx="71575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Person 1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5132636" y="1724025"/>
            <a:ext cx="0" cy="371475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701802" y="2090738"/>
            <a:ext cx="1435596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739307" y="1800225"/>
            <a:ext cx="135106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☐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6568232" y="1724025"/>
            <a:ext cx="0" cy="371475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5137398" y="2090738"/>
            <a:ext cx="1435596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174903" y="1800225"/>
            <a:ext cx="135106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☐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8003828" y="1724025"/>
            <a:ext cx="0" cy="371475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572994" y="2090738"/>
            <a:ext cx="1435596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610499" y="1800225"/>
            <a:ext cx="135106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☐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9439424" y="1724025"/>
            <a:ext cx="0" cy="371475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008590" y="2090738"/>
            <a:ext cx="1435596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046095" y="1800225"/>
            <a:ext cx="135106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☐</a:t>
            </a:r>
            <a:endParaRPr lang="en-US" sz="1200" dirty="0"/>
          </a:p>
        </p:txBody>
      </p:sp>
      <p:sp>
        <p:nvSpPr>
          <p:cNvPr id="60" name="Shape 58"/>
          <p:cNvSpPr/>
          <p:nvPr/>
        </p:nvSpPr>
        <p:spPr>
          <a:xfrm>
            <a:off x="9444186" y="2090738"/>
            <a:ext cx="2297013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9571137" y="1800225"/>
            <a:ext cx="216169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…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2812852" y="2095500"/>
            <a:ext cx="888950" cy="371475"/>
          </a:xfrm>
          <a:prstGeom prst="rect">
            <a:avLst/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Shape 61"/>
          <p:cNvSpPr/>
          <p:nvPr/>
        </p:nvSpPr>
        <p:spPr>
          <a:xfrm>
            <a:off x="3697039" y="2095500"/>
            <a:ext cx="0" cy="371475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2812852" y="2462212"/>
            <a:ext cx="88895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2939802" y="2171700"/>
            <a:ext cx="71575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Person 2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5132636" y="2095500"/>
            <a:ext cx="0" cy="371475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3701802" y="2462212"/>
            <a:ext cx="1435596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3739307" y="2171700"/>
            <a:ext cx="135106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☐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6568232" y="2095500"/>
            <a:ext cx="0" cy="371475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137398" y="2462212"/>
            <a:ext cx="1435596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174903" y="2171700"/>
            <a:ext cx="135106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☐</a:t>
            </a:r>
            <a:endParaRPr lang="en-US" sz="1200" dirty="0"/>
          </a:p>
        </p:txBody>
      </p:sp>
      <p:sp>
        <p:nvSpPr>
          <p:cNvPr id="72" name="Shape 70"/>
          <p:cNvSpPr/>
          <p:nvPr/>
        </p:nvSpPr>
        <p:spPr>
          <a:xfrm>
            <a:off x="8003828" y="2095500"/>
            <a:ext cx="0" cy="371475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6572994" y="2462212"/>
            <a:ext cx="1435596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610499" y="2171700"/>
            <a:ext cx="135106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☐</a:t>
            </a:r>
            <a:endParaRPr lang="en-US" sz="1200" dirty="0"/>
          </a:p>
        </p:txBody>
      </p:sp>
      <p:sp>
        <p:nvSpPr>
          <p:cNvPr id="75" name="Shape 73"/>
          <p:cNvSpPr/>
          <p:nvPr/>
        </p:nvSpPr>
        <p:spPr>
          <a:xfrm>
            <a:off x="9439424" y="2095500"/>
            <a:ext cx="0" cy="371475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8008590" y="2462212"/>
            <a:ext cx="1435596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8046095" y="2171700"/>
            <a:ext cx="135106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☐</a:t>
            </a:r>
            <a:endParaRPr lang="en-US" sz="1200" dirty="0"/>
          </a:p>
        </p:txBody>
      </p:sp>
      <p:sp>
        <p:nvSpPr>
          <p:cNvPr id="78" name="Shape 76"/>
          <p:cNvSpPr/>
          <p:nvPr/>
        </p:nvSpPr>
        <p:spPr>
          <a:xfrm>
            <a:off x="9444186" y="2462212"/>
            <a:ext cx="2297013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9571137" y="2171700"/>
            <a:ext cx="216169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…</a:t>
            </a:r>
            <a:endParaRPr lang="en-US" sz="900" dirty="0"/>
          </a:p>
        </p:txBody>
      </p:sp>
      <p:sp>
        <p:nvSpPr>
          <p:cNvPr id="80" name="Text 78"/>
          <p:cNvSpPr/>
          <p:nvPr/>
        </p:nvSpPr>
        <p:spPr>
          <a:xfrm>
            <a:off x="2812852" y="2466975"/>
            <a:ext cx="888950" cy="361950"/>
          </a:xfrm>
          <a:prstGeom prst="rect">
            <a:avLst/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1" name="Shape 79"/>
          <p:cNvSpPr/>
          <p:nvPr/>
        </p:nvSpPr>
        <p:spPr>
          <a:xfrm>
            <a:off x="3697039" y="2466975"/>
            <a:ext cx="0" cy="36195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2939802" y="2543175"/>
            <a:ext cx="71575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Person 3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5132636" y="2466975"/>
            <a:ext cx="0" cy="36195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3739307" y="2543175"/>
            <a:ext cx="135106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☐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6568232" y="2466975"/>
            <a:ext cx="0" cy="36195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5174903" y="2543175"/>
            <a:ext cx="135106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☐</a:t>
            </a:r>
            <a:endParaRPr lang="en-US" sz="1200" dirty="0"/>
          </a:p>
        </p:txBody>
      </p:sp>
      <p:sp>
        <p:nvSpPr>
          <p:cNvPr id="87" name="Shape 85"/>
          <p:cNvSpPr/>
          <p:nvPr/>
        </p:nvSpPr>
        <p:spPr>
          <a:xfrm>
            <a:off x="8003828" y="2466975"/>
            <a:ext cx="0" cy="36195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610499" y="2543175"/>
            <a:ext cx="135106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☐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9439424" y="2466975"/>
            <a:ext cx="0" cy="36195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046095" y="2543175"/>
            <a:ext cx="135106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☐</a:t>
            </a:r>
            <a:endParaRPr lang="en-US" sz="1200" dirty="0"/>
          </a:p>
        </p:txBody>
      </p:sp>
      <p:sp>
        <p:nvSpPr>
          <p:cNvPr id="91" name="Text 89"/>
          <p:cNvSpPr/>
          <p:nvPr/>
        </p:nvSpPr>
        <p:spPr>
          <a:xfrm>
            <a:off x="9571137" y="2543175"/>
            <a:ext cx="216169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…</a:t>
            </a:r>
            <a:endParaRPr lang="en-US" sz="900" dirty="0"/>
          </a:p>
        </p:txBody>
      </p:sp>
      <p:sp>
        <p:nvSpPr>
          <p:cNvPr id="92" name="Text 90"/>
          <p:cNvSpPr/>
          <p:nvPr/>
        </p:nvSpPr>
        <p:spPr>
          <a:xfrm>
            <a:off x="2793802" y="2924175"/>
            <a:ext cx="914577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Full printed grid continues for all </a:t>
            </a:r>
            <a:pPr algn="l" indent="0" marL="0">
              <a:spcBef>
                <a:spcPts val="600"/>
              </a:spcBef>
              <a:buNone/>
            </a:pPr>
            <a:r>
              <a:rPr lang="en-US" sz="9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 people × 8 activities</a:t>
            </a:r>
            <a:pPr algn="l" indent="0" marL="0">
              <a:spcBef>
                <a:spcPts val="600"/>
              </a:spcBef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(all sports taught in Units 1-2), pictures included alongside the Chinese activity names.</a:t>
            </a:r>
            <a:endParaRPr lang="en-US" sz="900" dirty="0"/>
          </a:p>
        </p:txBody>
      </p:sp>
      <p:sp>
        <p:nvSpPr>
          <p:cNvPr id="93" name="Text 91"/>
          <p:cNvSpPr/>
          <p:nvPr/>
        </p:nvSpPr>
        <p:spPr>
          <a:xfrm>
            <a:off x="431750" y="4208413"/>
            <a:ext cx="3691533" cy="644426"/>
          </a:xfrm>
          <a:prstGeom prst="roundRect">
            <a:avLst>
              <a:gd name="adj" fmla="val 1576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4" name="Text 92"/>
          <p:cNvSpPr/>
          <p:nvPr/>
        </p:nvSpPr>
        <p:spPr>
          <a:xfrm>
            <a:off x="584150" y="4284613"/>
            <a:ext cx="345446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800" dirty="0"/>
          </a:p>
        </p:txBody>
      </p:sp>
      <p:sp>
        <p:nvSpPr>
          <p:cNvPr id="95" name="Text 93"/>
          <p:cNvSpPr/>
          <p:nvPr/>
        </p:nvSpPr>
        <p:spPr>
          <a:xfrm>
            <a:off x="584150" y="4452789"/>
            <a:ext cx="3454467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Grid pre-labelled with pictures alongside the Chinese activity names</a:t>
            </a:r>
            <a:endParaRPr lang="en-US" sz="900" dirty="0"/>
          </a:p>
        </p:txBody>
      </p:sp>
      <p:sp>
        <p:nvSpPr>
          <p:cNvPr id="96" name="Text 94"/>
          <p:cNvSpPr/>
          <p:nvPr/>
        </p:nvSpPr>
        <p:spPr>
          <a:xfrm>
            <a:off x="4250234" y="4208413"/>
            <a:ext cx="3691533" cy="644426"/>
          </a:xfrm>
          <a:prstGeom prst="roundRect">
            <a:avLst>
              <a:gd name="adj" fmla="val 1576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7" name="Text 95"/>
          <p:cNvSpPr/>
          <p:nvPr/>
        </p:nvSpPr>
        <p:spPr>
          <a:xfrm>
            <a:off x="4402634" y="4284613"/>
            <a:ext cx="345446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800" dirty="0"/>
          </a:p>
        </p:txBody>
      </p:sp>
      <p:sp>
        <p:nvSpPr>
          <p:cNvPr id="98" name="Text 96"/>
          <p:cNvSpPr/>
          <p:nvPr/>
        </p:nvSpPr>
        <p:spPr>
          <a:xfrm>
            <a:off x="4402634" y="4452789"/>
            <a:ext cx="3454467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After ticking, write one full sentence about one person from memory</a:t>
            </a:r>
            <a:endParaRPr lang="en-US" sz="900" dirty="0"/>
          </a:p>
        </p:txBody>
      </p:sp>
      <p:sp>
        <p:nvSpPr>
          <p:cNvPr id="99" name="Text 97"/>
          <p:cNvSpPr/>
          <p:nvPr/>
        </p:nvSpPr>
        <p:spPr>
          <a:xfrm>
            <a:off x="8068717" y="4208413"/>
            <a:ext cx="3691533" cy="644426"/>
          </a:xfrm>
          <a:prstGeom prst="roundRect">
            <a:avLst>
              <a:gd name="adj" fmla="val 1576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0" name="Text 98"/>
          <p:cNvSpPr/>
          <p:nvPr/>
        </p:nvSpPr>
        <p:spPr>
          <a:xfrm>
            <a:off x="8221117" y="4284613"/>
            <a:ext cx="345446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800" dirty="0"/>
          </a:p>
        </p:txBody>
      </p:sp>
      <p:sp>
        <p:nvSpPr>
          <p:cNvPr id="101" name="Text 99"/>
          <p:cNvSpPr/>
          <p:nvPr/>
        </p:nvSpPr>
        <p:spPr>
          <a:xfrm>
            <a:off x="8221117" y="4452789"/>
            <a:ext cx="3454467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Independent listening, checked as a class — raise hands for any wrong</a:t>
            </a:r>
            <a:endParaRPr lang="en-US" sz="900" dirty="0"/>
          </a:p>
        </p:txBody>
      </p:sp>
      <p:sp>
        <p:nvSpPr>
          <p:cNvPr id="102" name="Text 100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474784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PINYIN OU/UO + TEXT 1 · GAME · LISTEN &amp; JUDGE · 41-43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406301"/>
            <a:ext cx="5798635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真假判断 · Listen &amp; Judge — True or False!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0126414" y="479375"/>
            <a:ext cx="706189" cy="282476"/>
          </a:xfrm>
          <a:prstGeom prst="roundRect">
            <a:avLst>
              <a:gd name="adj" fmla="val 71935"/>
            </a:avLst>
          </a:prstGeom>
          <a:solidFill>
            <a:srgbClr val="DCEAEC"/>
          </a:solidFill>
          <a:ln w="9525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0313640" y="539651"/>
            <a:ext cx="33837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934105" y="474613"/>
            <a:ext cx="826145" cy="292001"/>
          </a:xfrm>
          <a:prstGeom prst="roundRect">
            <a:avLst>
              <a:gd name="adj" fmla="val 69589"/>
            </a:avLst>
          </a:prstGeom>
          <a:solidFill>
            <a:srgbClr val="F6F2E8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1121330" y="534888"/>
            <a:ext cx="46072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2 min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31750" y="936427"/>
            <a:ext cx="1155506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says a sentence about Text 1. Judge </a:t>
            </a:r>
            <a:pPr algn="l" indent="0" marL="0">
              <a:spcBef>
                <a:spcPts val="800"/>
              </a:spcBef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live</a:t>
            </a:r>
            <a:pPr algn="l" indent="0" marL="0">
              <a:spcBef>
                <a:spcPts val="800"/>
              </a:spcBef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show 👍 👎 </a:t>
            </a:r>
            <a:pPr algn="l" indent="0" marL="0">
              <a:spcBef>
                <a:spcPts val="800"/>
              </a:spcBef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instantly</a:t>
            </a:r>
            <a:pPr algn="l" indent="0" marL="0">
              <a:spcBef>
                <a:spcPts val="800"/>
              </a:spcBef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, no writing.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31750" y="1361777"/>
            <a:ext cx="11328499" cy="647402"/>
          </a:xfrm>
          <a:prstGeom prst="roundRect">
            <a:avLst>
              <a:gd name="adj" fmla="val 15694"/>
            </a:avLst>
          </a:prstGeom>
          <a:solidFill>
            <a:srgbClr val="F6F2E8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04701" y="1520428"/>
            <a:ext cx="330101" cy="330101"/>
          </a:xfrm>
          <a:prstGeom prst="roundRect">
            <a:avLst>
              <a:gd name="adj" fmla="val 277006"/>
            </a:avLst>
          </a:prstGeom>
          <a:solidFill>
            <a:srgbClr val="EDE7D7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38200" y="1585466"/>
            <a:ext cx="6436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237952" y="1542604"/>
            <a:ext cx="207243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高力的爸爸喜欢跑步。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31750" y="2123480"/>
            <a:ext cx="11328499" cy="647402"/>
          </a:xfrm>
          <a:prstGeom prst="roundRect">
            <a:avLst>
              <a:gd name="adj" fmla="val 15694"/>
            </a:avLst>
          </a:prstGeom>
          <a:solidFill>
            <a:srgbClr val="F6F2E8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704701" y="2282130"/>
            <a:ext cx="330101" cy="330101"/>
          </a:xfrm>
          <a:prstGeom prst="roundRect">
            <a:avLst>
              <a:gd name="adj" fmla="val 277006"/>
            </a:avLst>
          </a:prstGeom>
          <a:solidFill>
            <a:srgbClr val="EDE7D7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825550" y="2347168"/>
            <a:ext cx="9017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237952" y="2304306"/>
            <a:ext cx="207243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高力的爸爸喜欢游泳。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31750" y="2885182"/>
            <a:ext cx="11328499" cy="647402"/>
          </a:xfrm>
          <a:prstGeom prst="roundRect">
            <a:avLst>
              <a:gd name="adj" fmla="val 15694"/>
            </a:avLst>
          </a:prstGeom>
          <a:solidFill>
            <a:srgbClr val="F6F2E8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704701" y="3043833"/>
            <a:ext cx="330101" cy="330101"/>
          </a:xfrm>
          <a:prstGeom prst="roundRect">
            <a:avLst>
              <a:gd name="adj" fmla="val 277006"/>
            </a:avLst>
          </a:prstGeom>
          <a:solidFill>
            <a:srgbClr val="EDE7D7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825103" y="3108871"/>
            <a:ext cx="9093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237952" y="3066008"/>
            <a:ext cx="248686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高力的妈妈每天早上游泳。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31750" y="3646884"/>
            <a:ext cx="11328499" cy="647402"/>
          </a:xfrm>
          <a:prstGeom prst="roundRect">
            <a:avLst>
              <a:gd name="adj" fmla="val 15694"/>
            </a:avLst>
          </a:prstGeom>
          <a:solidFill>
            <a:srgbClr val="F6F2E8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704701" y="3805535"/>
            <a:ext cx="330101" cy="330101"/>
          </a:xfrm>
          <a:prstGeom prst="roundRect">
            <a:avLst>
              <a:gd name="adj" fmla="val 277006"/>
            </a:avLst>
          </a:prstGeom>
          <a:solidFill>
            <a:srgbClr val="EDE7D7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824657" y="3870573"/>
            <a:ext cx="9199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237952" y="3827711"/>
            <a:ext cx="227965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高力喜欢一个人打网球。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431750" y="4408587"/>
            <a:ext cx="11328499" cy="647402"/>
          </a:xfrm>
          <a:prstGeom prst="roundRect">
            <a:avLst>
              <a:gd name="adj" fmla="val 15694"/>
            </a:avLst>
          </a:prstGeom>
          <a:solidFill>
            <a:srgbClr val="F6F2E8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704701" y="4567238"/>
            <a:ext cx="330101" cy="330101"/>
          </a:xfrm>
          <a:prstGeom prst="roundRect">
            <a:avLst>
              <a:gd name="adj" fmla="val 277006"/>
            </a:avLst>
          </a:prstGeom>
          <a:solidFill>
            <a:srgbClr val="EDE7D7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825252" y="4632275"/>
            <a:ext cx="9062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237952" y="4589413"/>
            <a:ext cx="248686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高力一家人都不喜欢运动。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318465" y="5182939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0"/>
              </a:spcBef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Setup needed:</a:t>
            </a:r>
            <a:pPr algn="ctr" indent="0" marL="0">
              <a:spcBef>
                <a:spcPts val="1000"/>
              </a:spcBef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None — purely oral, works as a fast plenary bridge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368900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PINYIN OU/UO + TEXT 1 · PLENARY · 43-50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431750"/>
            <a:ext cx="1155506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PLENARY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31750" y="707975"/>
            <a:ext cx="11555069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总结 · Wrap-Up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31750" y="1352401"/>
            <a:ext cx="5537299" cy="2139553"/>
          </a:xfrm>
          <a:prstGeom prst="roundRect">
            <a:avLst>
              <a:gd name="adj" fmla="val 5936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69875" y="1565077"/>
            <a:ext cx="516227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REVISIT SUCCESS CRITERIA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69875" y="1896814"/>
            <a:ext cx="43719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👍😐👎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225451" y="1892052"/>
            <a:ext cx="281992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Hear ou vs uo and mark the correct tone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69875" y="2223790"/>
            <a:ext cx="43719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👍😐👎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225451" y="2219027"/>
            <a:ext cx="338979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Understand Text 1 and answer questions about 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9875" y="2550765"/>
            <a:ext cx="43719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👍😐👎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225451" y="2546003"/>
            <a:ext cx="432719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Say how long someone does a sport (verb + duration + object)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69875" y="2872978"/>
            <a:ext cx="5162270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Bef>
                <a:spcPts val="1000"/>
              </a:spcBef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reads each criterion — class gives an example: </a:t>
            </a:r>
            <a:pPr algn="l" indent="0" marL="0">
              <a:lnSpc>
                <a:spcPts val="1260"/>
              </a:lnSpc>
              <a:spcBef>
                <a:spcPts val="1000"/>
              </a:spcBef>
              <a:buNone/>
            </a:pPr>
            <a:r>
              <a:rPr lang="en-US" sz="9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 word with ou, a fact from the text, a duration sentence</a:t>
            </a:r>
            <a:pPr algn="l" indent="0" marL="0">
              <a:lnSpc>
                <a:spcPts val="1260"/>
              </a:lnSpc>
              <a:spcBef>
                <a:spcPts val="1000"/>
              </a:spcBef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.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222950" y="1352401"/>
            <a:ext cx="5537299" cy="2139553"/>
          </a:xfrm>
          <a:prstGeom prst="roundRect">
            <a:avLst>
              <a:gd name="adj" fmla="val 5936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461075" y="1565077"/>
            <a:ext cx="516227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EXIT TICKET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61075" y="1866602"/>
            <a:ext cx="5061049" cy="942826"/>
          </a:xfrm>
          <a:prstGeom prst="rect">
            <a:avLst/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6489650" y="1866602"/>
            <a:ext cx="0" cy="942826"/>
          </a:xfrm>
          <a:prstGeom prst="line">
            <a:avLst/>
          </a:prstGeom>
          <a:noFill/>
          <a:ln w="57150">
            <a:solidFill>
              <a:srgbClr val="3A7D8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695926" y="1993553"/>
            <a:ext cx="47414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TASK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695926" y="2187178"/>
            <a:ext cx="4741468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Write one sentence about how long you do a sport each day, using verb + duration + object.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61075" y="2936379"/>
            <a:ext cx="516227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spcBef>
                <a:spcPts val="1000"/>
              </a:spcBef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Self-assessment: use mini whiteboards to write 👍/😐/👎 next to each criterion number above.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390016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PINYIN OU/UO + TEXT 1 · PREVIEW · NEXT LESSON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-121920" y="888950"/>
            <a:ext cx="1243584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COMING UP NEXT · L4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-121920" y="1190476"/>
            <a:ext cx="1243584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800"/>
              </a:spcBef>
              <a:buNone/>
            </a:pPr>
            <a:r>
              <a:rPr lang="en-US" sz="3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时长问答 · 表演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-121920" y="1812727"/>
            <a:ext cx="1243584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4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Asking, answering, and acting out sport duration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035350" y="2390477"/>
            <a:ext cx="1905000" cy="1584127"/>
          </a:xfrm>
          <a:prstGeom prst="roundRect">
            <a:avLst>
              <a:gd name="adj" fmla="val 8017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259187" y="2603153"/>
            <a:ext cx="1457325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🗣️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3259187" y="3146078"/>
            <a:ext cx="14573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问答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259187" y="3438079"/>
            <a:ext cx="145732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Partner Q&amp;A on duration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143500" y="2390477"/>
            <a:ext cx="1905000" cy="1584127"/>
          </a:xfrm>
          <a:prstGeom prst="roundRect">
            <a:avLst>
              <a:gd name="adj" fmla="val 8017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5367338" y="2603153"/>
            <a:ext cx="1457325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🎭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5367338" y="3146078"/>
            <a:ext cx="14573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表演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367338" y="3438079"/>
            <a:ext cx="145732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 out what people are doing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251650" y="2390477"/>
            <a:ext cx="1905000" cy="1584127"/>
          </a:xfrm>
          <a:prstGeom prst="roundRect">
            <a:avLst>
              <a:gd name="adj" fmla="val 8017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7475488" y="2603153"/>
            <a:ext cx="1457325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⏱️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7475488" y="3146078"/>
            <a:ext cx="14573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时长词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475488" y="3438079"/>
            <a:ext cx="145732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天 / 星期 / 月 / 小时 / 分钟 again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650950" y="4279404"/>
            <a:ext cx="8889950" cy="999827"/>
          </a:xfrm>
          <a:prstGeom prst="roundRect">
            <a:avLst>
              <a:gd name="adj" fmla="val 12702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1976478" y="4457105"/>
            <a:ext cx="823889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WHAT'S NEXT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976478" y="4682430"/>
            <a:ext cx="8238896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00"/>
              </a:spcBef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"Next lesson we'll practise asking and answering about sport duration with a partner, and act out what people are doing."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2026-07-21T08:52:09Z</dcterms:created>
  <dcterms:modified xsi:type="dcterms:W3CDTF">2026-07-21T08:52:09Z</dcterms:modified>
</cp:coreProperties>
</file>