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1920" y="1905000"/>
            <a:ext cx="12435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3 OF 8 · Y8 UNIT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-121920" y="2190750"/>
            <a:ext cx="12435840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00"/>
              </a:lnSpc>
              <a:spcBef>
                <a:spcPts val="600"/>
              </a:spcBef>
              <a:buNone/>
            </a:pPr>
            <a:r>
              <a:rPr lang="en-US" sz="4400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球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-121920" y="2800350"/>
            <a:ext cx="1243584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5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拼音</a:t>
            </a:r>
            <a:r>
              <a:rPr lang="en-US" sz="5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5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课文一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-121920" y="3892451"/>
            <a:ext cx="124358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 ou/uo + Text 1 · 高力's Sporty Family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-121920" y="4406801"/>
            <a:ext cx="12435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Chinese  ·  50 mins  ·  Listening + Reading  ·  轻松学中文 Book 2 · p.70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4101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PINYIN OU/UO + TEXT 1 · REVIEW · 0-8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0-8 MIN · REVIEW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682526"/>
            <a:ext cx="115550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L1-2 Sports Vocabulary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1750" y="1326952"/>
            <a:ext cx="5749975" cy="1894731"/>
          </a:xfrm>
          <a:prstGeom prst="roundRect">
            <a:avLst>
              <a:gd name="adj" fmla="val 670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9875" y="1514177"/>
            <a:ext cx="53791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SLAP THE BOARD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9875" y="1815703"/>
            <a:ext cx="5273725" cy="121875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students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come to the front at a time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a sport in Chinese — students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slap the matching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English/picture card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Quick recap: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hit-sports,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踢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kick-sports — some sports take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verb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at all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86525" y="1326952"/>
            <a:ext cx="53791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WORDS (L1-2)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86525" y="1628477"/>
            <a:ext cx="809030" cy="561975"/>
          </a:xfrm>
          <a:prstGeom prst="roundRect">
            <a:avLst>
              <a:gd name="adj" fmla="val 13559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73751" y="1714202"/>
            <a:ext cx="44327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跑步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3751" y="1961852"/>
            <a:ext cx="4432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 / jog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97055" y="1628477"/>
            <a:ext cx="730002" cy="561975"/>
          </a:xfrm>
          <a:prstGeom prst="roundRect">
            <a:avLst>
              <a:gd name="adj" fmla="val 13559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584281" y="1714202"/>
            <a:ext cx="362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84281" y="1961852"/>
            <a:ext cx="362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swim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8558" y="1628477"/>
            <a:ext cx="907703" cy="561975"/>
          </a:xfrm>
          <a:prstGeom prst="roundRect">
            <a:avLst>
              <a:gd name="adj" fmla="val 13559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415784" y="1714202"/>
            <a:ext cx="5439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打网球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5784" y="1961852"/>
            <a:ext cx="5439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tennis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237762" y="1628477"/>
            <a:ext cx="1110853" cy="561975"/>
          </a:xfrm>
          <a:prstGeom prst="roundRect">
            <a:avLst>
              <a:gd name="adj" fmla="val 13559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424988" y="1714202"/>
            <a:ext cx="7511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打篮球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24988" y="1961852"/>
            <a:ext cx="7511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basketball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86525" y="2291953"/>
            <a:ext cx="1494383" cy="371475"/>
          </a:xfrm>
          <a:prstGeom prst="roundRect">
            <a:avLst>
              <a:gd name="adj" fmla="val 20513"/>
            </a:avLst>
          </a:prstGeom>
          <a:noFill/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673751" y="2377678"/>
            <a:ext cx="11423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+ 7 more sports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1750" y="3450282"/>
            <a:ext cx="11328499" cy="762000"/>
          </a:xfrm>
          <a:prstGeom prst="rect">
            <a:avLst/>
          </a:prstGeom>
          <a:solidFill>
            <a:srgbClr val="F5E8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0325" y="3450282"/>
            <a:ext cx="0" cy="762000"/>
          </a:xfrm>
          <a:prstGeom prst="line">
            <a:avLst/>
          </a:prstGeom>
          <a:noFill/>
          <a:ln w="57150">
            <a:solidFill>
              <a:srgbClr val="C894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2801" y="3602682"/>
            <a:ext cx="109788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"You can already name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 sports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Today you'll hear them used in a real family story, and train your ear on two tricky vowel sounds —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uo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."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4588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PINYIN OU/UO + TEXT 1 · LI &amp; SC · 8-10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31750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8-10 MIN · DISPLAY ON PROJECTOR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676126"/>
            <a:ext cx="115550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1750" y="1300014"/>
            <a:ext cx="481608" cy="276225"/>
          </a:xfrm>
          <a:prstGeom prst="roundRect">
            <a:avLst>
              <a:gd name="adj" fmla="val 73563"/>
            </a:avLst>
          </a:prstGeom>
          <a:solidFill>
            <a:srgbClr val="F5E8CC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3675" y="1347639"/>
            <a:ext cx="1609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14859" y="1295251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19659" y="1295251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后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00659" y="1311176"/>
            <a:ext cx="12650" cy="2539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891010" y="1300014"/>
            <a:ext cx="481608" cy="276225"/>
          </a:xfrm>
          <a:prstGeom prst="roundRect">
            <a:avLst>
              <a:gd name="adj" fmla="val 73563"/>
            </a:avLst>
          </a:prstGeom>
          <a:solidFill>
            <a:srgbClr val="DCEAEC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052935" y="1347639"/>
            <a:ext cx="1609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74119" y="1295251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78919" y="1295251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59919" y="1347639"/>
            <a:ext cx="24158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— can you hear the difference?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1750" y="1758702"/>
            <a:ext cx="11328499" cy="765125"/>
          </a:xfrm>
          <a:prstGeom prst="rect">
            <a:avLst/>
          </a:prstGeom>
          <a:solidFill>
            <a:srgbClr val="F5E8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0325" y="1758702"/>
            <a:ext cx="0" cy="765125"/>
          </a:xfrm>
          <a:prstGeom prst="line">
            <a:avLst/>
          </a:prstGeom>
          <a:noFill/>
          <a:ln w="57150">
            <a:solidFill>
              <a:srgbClr val="C894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500" y="1911102"/>
            <a:ext cx="110304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7500" y="2123777"/>
            <a:ext cx="110304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distinguish the ou/uo pinyin sounds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by ear and understand a passage about a family's sports habits.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1750" y="2701528"/>
            <a:ext cx="11328499" cy="412552"/>
          </a:xfrm>
          <a:prstGeom prst="roundRect">
            <a:avLst>
              <a:gd name="adj" fmla="val 1847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9451" y="2803029"/>
            <a:ext cx="2072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9552" y="2803029"/>
            <a:ext cx="58660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hear the difference between </a:t>
            </a: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uo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write the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tonal mark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1750" y="3241030"/>
            <a:ext cx="11328499" cy="412552"/>
          </a:xfrm>
          <a:prstGeom prst="roundRect">
            <a:avLst>
              <a:gd name="adj" fmla="val 1847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09451" y="3342531"/>
            <a:ext cx="2072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9552" y="3342531"/>
            <a:ext cx="65441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read and understand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1 (高力's family)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answer comprehension questions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1750" y="3780532"/>
            <a:ext cx="11328499" cy="412552"/>
          </a:xfrm>
          <a:prstGeom prst="roundRect">
            <a:avLst>
              <a:gd name="adj" fmla="val 1847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09451" y="3882033"/>
            <a:ext cx="2072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9552" y="3882033"/>
            <a:ext cx="67515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how long someone does a sport using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verb + duration + object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</a:t>
            </a: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跑一个小时步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56410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PINYIN OU/UO + TEXT 1 · I DO · VOCABULARY &amp; SOUND FOCUS · 10-20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10-20 MIN · I DO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638026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生词与拼音 · New Word + Sound Focus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18095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WORD IN TODAY'S TEXT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1750" y="1419076"/>
            <a:ext cx="2693938" cy="720626"/>
          </a:xfrm>
          <a:prstGeom prst="roundRect">
            <a:avLst>
              <a:gd name="adj" fmla="val 17624"/>
            </a:avLst>
          </a:prstGeom>
          <a:solidFill>
            <a:srgbClr val="F5E8CC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9400" y="1565077"/>
            <a:ext cx="9326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一家人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71501" y="1579364"/>
            <a:ext cx="11286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yìjiā rén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71501" y="1779389"/>
            <a:ext cx="11286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whole family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28839" y="1679377"/>
            <a:ext cx="7853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This is the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only new word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today's text — everything else you already know from Lessons 1-2 and earlier units.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1750" y="2317403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(ALREADY KNOWN)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1750" y="2555528"/>
            <a:ext cx="704255" cy="479227"/>
          </a:xfrm>
          <a:prstGeom prst="roundRect">
            <a:avLst>
              <a:gd name="adj" fmla="val 15901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3675" y="2628454"/>
            <a:ext cx="3880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跑步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3675" y="2838004"/>
            <a:ext cx="3880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 / jog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237506" y="2555528"/>
            <a:ext cx="628650" cy="479227"/>
          </a:xfrm>
          <a:prstGeom prst="roundRect">
            <a:avLst>
              <a:gd name="adj" fmla="val 15901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99431" y="2628454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99431" y="2838004"/>
            <a:ext cx="3108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swim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967657" y="2555528"/>
            <a:ext cx="790277" cy="479227"/>
          </a:xfrm>
          <a:prstGeom prst="roundRect">
            <a:avLst>
              <a:gd name="adj" fmla="val 15901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129582" y="2628454"/>
            <a:ext cx="4757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打网球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29582" y="2838004"/>
            <a:ext cx="4757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tennis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859435" y="2555528"/>
            <a:ext cx="735360" cy="479227"/>
          </a:xfrm>
          <a:prstGeom prst="roundRect">
            <a:avLst>
              <a:gd name="adj" fmla="val 15901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021360" y="2628454"/>
            <a:ext cx="4197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21360" y="2838004"/>
            <a:ext cx="4197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day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696295" y="2555528"/>
            <a:ext cx="673298" cy="479227"/>
          </a:xfrm>
          <a:prstGeom prst="roundRect">
            <a:avLst>
              <a:gd name="adj" fmla="val 15901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858220" y="2628454"/>
            <a:ext cx="3564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早上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58220" y="2838004"/>
            <a:ext cx="3564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morning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31750" y="3212455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 FOCUS · OU VS UO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1750" y="3450580"/>
            <a:ext cx="5575399" cy="692051"/>
          </a:xfrm>
          <a:prstGeom prst="roundRect">
            <a:avLst>
              <a:gd name="adj" fmla="val 14681"/>
            </a:avLst>
          </a:prstGeom>
          <a:solidFill>
            <a:srgbClr val="F5E8CC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53951" y="3601343"/>
            <a:ext cx="28842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ou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14425" y="3596580"/>
            <a:ext cx="16750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smooth </a:t>
            </a:r>
            <a:r>
              <a:rPr lang="en-US" sz="11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"oh-oo"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glide
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走 · 都 · 后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84850" y="3450580"/>
            <a:ext cx="5575399" cy="692051"/>
          </a:xfrm>
          <a:prstGeom prst="roundRect">
            <a:avLst>
              <a:gd name="adj" fmla="val 14681"/>
            </a:avLst>
          </a:prstGeom>
          <a:solidFill>
            <a:srgbClr val="DCEAEC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07051" y="3601343"/>
            <a:ext cx="28842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uo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867525" y="3596580"/>
            <a:ext cx="223031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Starts with a rounded </a:t>
            </a:r>
            <a:r>
              <a:rPr lang="en-US" sz="11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"w"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onset
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说 · 多 · 我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4562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PINYIN OU/UO + TEXT 1 · I DO · KEY PATTERN · 10-20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10-20 MIN · I DO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638026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关键句型 · Duration + Separable Verbs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053852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Where does the duration word go?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1380827"/>
            <a:ext cx="1325314" cy="469702"/>
          </a:xfrm>
          <a:prstGeom prst="roundRect">
            <a:avLst>
              <a:gd name="adj" fmla="val 21631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04701" y="1501378"/>
            <a:ext cx="7950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动词 Verb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84015" y="1472803"/>
            <a:ext cx="1326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41041" y="1380827"/>
            <a:ext cx="1650950" cy="469702"/>
          </a:xfrm>
          <a:prstGeom prst="roundRect">
            <a:avLst>
              <a:gd name="adj" fmla="val 21631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413992" y="1501378"/>
            <a:ext cx="1127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时长 Duration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18942" y="1472803"/>
            <a:ext cx="1326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75968" y="1380827"/>
            <a:ext cx="1489323" cy="469702"/>
          </a:xfrm>
          <a:prstGeom prst="roundRect">
            <a:avLst>
              <a:gd name="adj" fmla="val 21631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48919" y="1501378"/>
            <a:ext cx="9622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宾语 Object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1750" y="1952030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跑步 and 游泳 are two-part words (verb + object) — the duration slides </a:t>
            </a: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between</a:t>
            </a: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two parts. </a:t>
            </a: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的 needed.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1750" y="2259955"/>
            <a:ext cx="11328499" cy="482501"/>
          </a:xfrm>
          <a:prstGeom prst="roundRect">
            <a:avLst>
              <a:gd name="adj" fmla="val 2105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4426" y="2358330"/>
            <a:ext cx="207258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他每天跑</a:t>
            </a: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一个小时</a:t>
            </a: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步。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75168" y="2410718"/>
            <a:ext cx="19098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 runs for an hour every day.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1750" y="2818656"/>
            <a:ext cx="11328499" cy="482501"/>
          </a:xfrm>
          <a:prstGeom prst="roundRect">
            <a:avLst>
              <a:gd name="adj" fmla="val 2105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4426" y="2917031"/>
            <a:ext cx="207258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她每天游</a:t>
            </a: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半个小时</a:t>
            </a: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泳。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23325" y="2969419"/>
            <a:ext cx="23707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She swims for half an hour every day.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1750" y="3377357"/>
            <a:ext cx="11328499" cy="482501"/>
          </a:xfrm>
          <a:prstGeom prst="roundRect">
            <a:avLst>
              <a:gd name="adj" fmla="val 2105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4426" y="3475732"/>
            <a:ext cx="22798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他每天打</a:t>
            </a: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一个小时</a:t>
            </a: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篮球。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12162" y="3528120"/>
            <a:ext cx="36061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 plays basketball for an hour every day. (same pattern)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1750" y="3986808"/>
            <a:ext cx="5600700" cy="419100"/>
          </a:xfrm>
          <a:prstGeom prst="roundRect">
            <a:avLst>
              <a:gd name="adj" fmla="val 24243"/>
            </a:avLst>
          </a:prstGeom>
          <a:solidFill>
            <a:srgbClr val="F6E4E1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8501" y="4091583"/>
            <a:ext cx="888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✗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7066" y="4082058"/>
            <a:ext cx="1683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他每天跑步一个小时。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59401" y="3986808"/>
            <a:ext cx="5600849" cy="419100"/>
          </a:xfrm>
          <a:prstGeom prst="roundRect">
            <a:avLst>
              <a:gd name="adj" fmla="val 24243"/>
            </a:avLst>
          </a:prstGeom>
          <a:solidFill>
            <a:srgbClr val="F6E4E1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356152" y="4091583"/>
            <a:ext cx="888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✗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44717" y="4082058"/>
            <a:ext cx="1852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他每天跑一个小时的步。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31750" y="4532858"/>
            <a:ext cx="11328499" cy="653951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60325" y="4532858"/>
            <a:ext cx="0" cy="653951"/>
          </a:xfrm>
          <a:prstGeom prst="line">
            <a:avLst/>
          </a:prstGeom>
          <a:noFill/>
          <a:ln w="57150">
            <a:solidFill>
              <a:srgbClr val="3A7D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500" y="4659809"/>
            <a:ext cx="1103043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"跑步 and 游泳 are actually </a:t>
            </a: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two-part words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verb + object glued together. When I add a duration, it slides in between the two parts, and unlike some other duration sentences you've seen, these usually </a:t>
            </a: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drop 的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."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5248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PINYIN OU/UO + TEXT 1 · TEXT 1 · 高力的一家 · I DO / WE 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TEXT 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93675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课文一 · 高力的一家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111151"/>
            <a:ext cx="7021264" cy="2689175"/>
          </a:xfrm>
          <a:prstGeom prst="roundRect">
            <a:avLst>
              <a:gd name="adj" fmla="val 5667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9400" y="1333351"/>
            <a:ext cx="1643063" cy="304800"/>
          </a:xfrm>
          <a:prstGeom prst="roundRect">
            <a:avLst>
              <a:gd name="adj" fmla="val 66667"/>
            </a:avLst>
          </a:prstGeom>
          <a:solidFill>
            <a:srgbClr val="DCEAEC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0850" y="1390501"/>
            <a:ext cx="13261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🎵 CD Track 36 · p.70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49413" y="1380976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课文一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9400" y="1739652"/>
            <a:ext cx="6525964" cy="151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5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我叫高力。我们</a:t>
            </a:r>
            <a:r>
              <a:rPr lang="en-US" sz="17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一家人</a:t>
            </a: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都喜欢运动。</a:t>
            </a:r>
            <a:endParaRPr lang="en-US" sz="1700" dirty="0"/>
          </a:p>
          <a:p>
            <a:pPr algn="l" indent="0" marL="0">
              <a:lnSpc>
                <a:spcPts val="2975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我爸爸喜欢跑步。他每天跑</a:t>
            </a:r>
            <a:r>
              <a:rPr lang="en-US" sz="17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一个小时</a:t>
            </a: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步。</a:t>
            </a:r>
            <a:endParaRPr lang="en-US" sz="1700" dirty="0"/>
          </a:p>
          <a:p>
            <a:pPr algn="l" indent="0" marL="0">
              <a:lnSpc>
                <a:spcPts val="2975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我妈妈喜欢游泳。她每天早上游泳。</a:t>
            </a:r>
            <a:endParaRPr lang="en-US" sz="1700" dirty="0"/>
          </a:p>
          <a:p>
            <a:pPr algn="l" indent="0" marL="0">
              <a:lnSpc>
                <a:spcPts val="2975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我呢，我喜欢跟朋友一起打网球。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79400" y="3397151"/>
            <a:ext cx="16504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Listen with books closed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98961" y="3378101"/>
            <a:ext cx="1425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40211" y="3397151"/>
            <a:ext cx="143728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Follow along reading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50816" y="3378101"/>
            <a:ext cx="1425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92067" y="3397151"/>
            <a:ext cx="9235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Choral read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81615" y="1111151"/>
            <a:ext cx="4078635" cy="1111151"/>
          </a:xfrm>
          <a:prstGeom prst="roundRect">
            <a:avLst>
              <a:gd name="adj" fmla="val 11430"/>
            </a:avLst>
          </a:prstGeom>
          <a:solidFill>
            <a:srgbClr val="EDE7D7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15707" y="1282601"/>
            <a:ext cx="381044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高力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815707" y="1701701"/>
            <a:ext cx="38104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Gāo Lì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15707" y="1888927"/>
            <a:ext cx="38104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Main character · Lesson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81615" y="2349252"/>
            <a:ext cx="4078635" cy="1406426"/>
          </a:xfrm>
          <a:prstGeom prst="roundRect">
            <a:avLst>
              <a:gd name="adj" fmla="val 9030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878366" y="2520702"/>
            <a:ext cx="37588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COMPREHENSION QUESTIONS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78366" y="2784128"/>
            <a:ext cx="3685133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Q1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Does everyone in 高力's family like sport?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Q2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 dad like, and for how long each day?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Q3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 mum like, and when?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Q4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 高力 himself like, and with whom?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8106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PINYIN OU/UO + TEXT 1 · I DO · CFU CHECKPOINTS · 10-20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507950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784175"/>
            <a:ext cx="115550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理解检查 · CFU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1750" y="1301651"/>
            <a:ext cx="115550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your answer on your mini whiteboard </a:t>
            </a: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WHITEBOARD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1750" y="1714351"/>
            <a:ext cx="11328499" cy="755452"/>
          </a:xfrm>
          <a:prstGeom prst="roundRect">
            <a:avLst>
              <a:gd name="adj" fmla="val 1344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9875" y="1901577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0341" y="1968252"/>
            <a:ext cx="816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54026" y="1901577"/>
            <a:ext cx="3793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word has the </a:t>
            </a:r>
            <a:r>
              <a:rPr lang="en-US" sz="1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uo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sound — </a:t>
            </a: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走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or </a:t>
            </a: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说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1750" y="2622203"/>
            <a:ext cx="11328499" cy="755452"/>
          </a:xfrm>
          <a:prstGeom prst="roundRect">
            <a:avLst>
              <a:gd name="adj" fmla="val 1344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9875" y="2809429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4118" y="2876104"/>
            <a:ext cx="1146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54026" y="2809429"/>
            <a:ext cx="38124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Fill the gap: </a:t>
            </a:r>
            <a:r>
              <a:rPr lang="en-US" sz="1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他每天跑____步。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(one hour)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1750" y="3530054"/>
            <a:ext cx="11328499" cy="755452"/>
          </a:xfrm>
          <a:prstGeom prst="roundRect">
            <a:avLst>
              <a:gd name="adj" fmla="val 1344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9875" y="371728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3672" y="3783955"/>
            <a:ext cx="1155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54026" y="3717280"/>
            <a:ext cx="37608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True or false: </a:t>
            </a: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Gao Li's mum plays tennis.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1750" y="4437906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on next slide 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6170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PINYIN OU/UO + TEXT 1 · I DO · CFU ANSWERS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507950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ANSWERS REVEALED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784175"/>
            <a:ext cx="115550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Answers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1750" y="1454051"/>
            <a:ext cx="11328499" cy="1047601"/>
          </a:xfrm>
          <a:prstGeom prst="roundRect">
            <a:avLst>
              <a:gd name="adj" fmla="val 969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9875" y="1615976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0341" y="1682651"/>
            <a:ext cx="816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54026" y="1615976"/>
            <a:ext cx="29085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word has the uo sound — 走 or 说?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54026" y="1866751"/>
            <a:ext cx="29085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说 has the uo sound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54026" y="2158752"/>
            <a:ext cx="29085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走 has the ou sound instead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1750" y="2628602"/>
            <a:ext cx="11328499" cy="1047601"/>
          </a:xfrm>
          <a:prstGeom prst="roundRect">
            <a:avLst>
              <a:gd name="adj" fmla="val 969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9875" y="2790527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04118" y="2857202"/>
            <a:ext cx="1146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54026" y="2790527"/>
            <a:ext cx="27350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Fill the gap: 他每天跑____步。(one hour)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54026" y="3041303"/>
            <a:ext cx="27350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他每天跑一个小时步。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54026" y="3333304"/>
            <a:ext cx="27350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tā měitiān pǎo yí ge xiǎoshí bù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1750" y="3803154"/>
            <a:ext cx="11328499" cy="1047601"/>
          </a:xfrm>
          <a:prstGeom prst="roundRect">
            <a:avLst>
              <a:gd name="adj" fmla="val 969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9875" y="3965079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03672" y="4031754"/>
            <a:ext cx="1155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54026" y="3965079"/>
            <a:ext cx="57107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True or false: Gao Li's mum plays tennis.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54026" y="4215854"/>
            <a:ext cx="57107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False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54026" y="4507855"/>
            <a:ext cx="57107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高力's mum likes 游泳 (swimming), not tennis — Gao Li himself is the one who plays tennis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8911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PINYIN OU/UO + TEXT 1 · ACTIVITY 1 · CD TRACK 37 · 20-25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28625"/>
            <a:ext cx="1487984" cy="307777"/>
          </a:xfrm>
          <a:prstGeom prst="roundRect">
            <a:avLst>
              <a:gd name="adj" fmla="val 66022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492026"/>
            <a:ext cx="11033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 1 · PINYIN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97435" y="406301"/>
            <a:ext cx="353021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听音辨调 · ou/uo Tonal Marks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736134" y="441275"/>
            <a:ext cx="753368" cy="282476"/>
          </a:xfrm>
          <a:prstGeom prst="roundRect">
            <a:avLst>
              <a:gd name="adj" fmla="val 71935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23359" y="501551"/>
            <a:ext cx="3864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65346" y="422225"/>
            <a:ext cx="894904" cy="320576"/>
          </a:xfrm>
          <a:prstGeom prst="roundRect">
            <a:avLst>
              <a:gd name="adj" fmla="val 63386"/>
            </a:avLst>
          </a:prstGeom>
          <a:solidFill>
            <a:srgbClr val="DCEAEC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062097" y="492026"/>
            <a:ext cx="5114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5 min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1750" y="936427"/>
            <a:ext cx="2539901" cy="2681585"/>
          </a:xfrm>
          <a:prstGeom prst="roundRect">
            <a:avLst>
              <a:gd name="adj" fmla="val 6000"/>
            </a:avLst>
          </a:prstGeom>
          <a:solidFill>
            <a:srgbClr val="DCEAEC"/>
          </a:solidFill>
          <a:ln w="2857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49288" y="1377255"/>
            <a:ext cx="51492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💿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1333798" y="2193131"/>
            <a:ext cx="7503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CD TRACK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87239" y="2456557"/>
            <a:ext cx="4375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37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032867" y="3015258"/>
            <a:ext cx="13644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Book 2 · Unit 3 · Act.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251" y="936427"/>
            <a:ext cx="87311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to do: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251" y="1266527"/>
            <a:ext cx="8559998" cy="450652"/>
          </a:xfrm>
          <a:prstGeom prst="roundRect">
            <a:avLst>
              <a:gd name="adj" fmla="val 2254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87477" y="1377553"/>
            <a:ext cx="1748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1️⃣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85877" y="1377553"/>
            <a:ext cx="45017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teacher plays/reads a list of words containing ou or uo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251" y="1818680"/>
            <a:ext cx="8559998" cy="450652"/>
          </a:xfrm>
          <a:prstGeom prst="roundRect">
            <a:avLst>
              <a:gd name="adj" fmla="val 2254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87477" y="1929705"/>
            <a:ext cx="1748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2️⃣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85877" y="1929705"/>
            <a:ext cx="47537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pinyin with the correct tonal mark on your mini whiteboard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251" y="2370832"/>
            <a:ext cx="8559998" cy="450652"/>
          </a:xfrm>
          <a:prstGeom prst="roundRect">
            <a:avLst>
              <a:gd name="adj" fmla="val 2254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87477" y="2481858"/>
            <a:ext cx="1748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3️⃣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85877" y="2481858"/>
            <a:ext cx="29029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up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your whiteboard after every word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251" y="2948285"/>
            <a:ext cx="8559998" cy="669727"/>
          </a:xfrm>
          <a:prstGeom prst="roundRect">
            <a:avLst>
              <a:gd name="adj" fmla="val 15170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97002" y="3068836"/>
            <a:ext cx="83298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MOUTH-SHAPE REMINDER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97002" y="3287911"/>
            <a:ext cx="11450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走 · 都 · 后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97313" y="3287911"/>
            <a:ext cx="11450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uo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说 · 多 · 我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1750" y="3770412"/>
            <a:ext cx="3691533" cy="644426"/>
          </a:xfrm>
          <a:prstGeom prst="roundRect">
            <a:avLst>
              <a:gd name="adj" fmla="val 1576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84150" y="3846612"/>
            <a:ext cx="3454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84150" y="4014788"/>
            <a:ext cx="34544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Mouth-shape reminder card stays projected — ou vs uo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50234" y="3770412"/>
            <a:ext cx="3691533" cy="644426"/>
          </a:xfrm>
          <a:prstGeom prst="roundRect">
            <a:avLst>
              <a:gd name="adj" fmla="val 1576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402634" y="3846612"/>
            <a:ext cx="3454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402634" y="4014788"/>
            <a:ext cx="345446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Say whether the word is one you know already (e.g. 都, 说) and give its meaning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68717" y="3770412"/>
            <a:ext cx="3691533" cy="644426"/>
          </a:xfrm>
          <a:prstGeom prst="roundRect">
            <a:avLst>
              <a:gd name="adj" fmla="val 1576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221117" y="3846612"/>
            <a:ext cx="3454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21117" y="4014788"/>
            <a:ext cx="34544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Whole-class whiteboard hold-up after every word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56887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PINYIN OU/UO + TEXT 1 · ACTIVITY 2 · TEXT 1 COMPREHENSION · 25-31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57200"/>
            <a:ext cx="1135707" cy="288727"/>
          </a:xfrm>
          <a:prstGeom prst="roundRect">
            <a:avLst>
              <a:gd name="adj" fmla="val 70378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520601"/>
            <a:ext cx="7439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45159" y="406301"/>
            <a:ext cx="54718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朗读与理解 · Choral Read + Comprehension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1750" y="923776"/>
            <a:ext cx="877193" cy="301526"/>
          </a:xfrm>
          <a:prstGeom prst="roundRect">
            <a:avLst>
              <a:gd name="adj" fmla="val 67390"/>
            </a:avLst>
          </a:prstGeom>
          <a:solidFill>
            <a:srgbClr val="F5E8CC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8976" y="984052"/>
            <a:ext cx="5127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6 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35894" y="942826"/>
            <a:ext cx="746671" cy="263426"/>
          </a:xfrm>
          <a:prstGeom prst="roundRect">
            <a:avLst>
              <a:gd name="adj" fmla="val 77137"/>
            </a:avLst>
          </a:prstGeom>
          <a:solidFill>
            <a:srgbClr val="DCEA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88294" y="993577"/>
            <a:ext cx="45070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1750" y="1403003"/>
            <a:ext cx="6030813" cy="2310854"/>
          </a:xfrm>
          <a:prstGeom prst="roundRect">
            <a:avLst>
              <a:gd name="adj" fmla="val 549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5176" y="1615678"/>
            <a:ext cx="56140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5176" y="1917204"/>
            <a:ext cx="5503962" cy="150822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 reads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1 chorally twice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once slow, once at natural pace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Whole group answers the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comprehension questions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from the text — cold-call different students for each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the sentence starter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他每天……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structure spoken answers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Extension: restate the answer as a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 Chinese sentence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not a fragment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16464" y="1403003"/>
            <a:ext cx="5043785" cy="2310854"/>
          </a:xfrm>
          <a:prstGeom prst="roundRect">
            <a:avLst>
              <a:gd name="adj" fmla="val 5496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45064" y="1580704"/>
            <a:ext cx="46783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STARTER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45064" y="1882229"/>
            <a:ext cx="4586585" cy="526852"/>
          </a:xfrm>
          <a:prstGeom prst="roundRect">
            <a:avLst>
              <a:gd name="adj" fmla="val 19284"/>
            </a:avLst>
          </a:prstGeom>
          <a:solidFill>
            <a:srgbClr val="FEFCF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74078" y="2002780"/>
            <a:ext cx="43285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他每天……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5064" y="2536031"/>
            <a:ext cx="46783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QUESTIONS TO DRILL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5064" y="2812256"/>
            <a:ext cx="458658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Q1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Does everyone in the family like sport?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Q2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Dad — what, and how long each day?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Q3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Mum — what, and when?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Q4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高力 — what, and with whom?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1750" y="3866257"/>
            <a:ext cx="3691533" cy="644426"/>
          </a:xfrm>
          <a:prstGeom prst="roundRect">
            <a:avLst>
              <a:gd name="adj" fmla="val 1576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84150" y="3942457"/>
            <a:ext cx="3454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4150" y="4110633"/>
            <a:ext cx="345446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 translations available to glance at for students who need it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50234" y="3866257"/>
            <a:ext cx="3691533" cy="644426"/>
          </a:xfrm>
          <a:prstGeom prst="roundRect">
            <a:avLst>
              <a:gd name="adj" fmla="val 1576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402634" y="3942457"/>
            <a:ext cx="3454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402634" y="4110633"/>
            <a:ext cx="345446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Fluent speakers restate the answer as a full Chinese sentence, not a fragment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68717" y="3866257"/>
            <a:ext cx="3691533" cy="644426"/>
          </a:xfrm>
          <a:prstGeom prst="roundRect">
            <a:avLst>
              <a:gd name="adj" fmla="val 1576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221117" y="3942457"/>
            <a:ext cx="3454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221117" y="4110633"/>
            <a:ext cx="34544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spread across at least 6 different students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56097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PINYIN OU/UO + TEXT 1 · ACTIVITY 3 · DURATION CHAIN DRILL · 31-35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57200"/>
            <a:ext cx="1136303" cy="288727"/>
          </a:xfrm>
          <a:prstGeom prst="roundRect">
            <a:avLst>
              <a:gd name="adj" fmla="val 70378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520601"/>
            <a:ext cx="7446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45754" y="406301"/>
            <a:ext cx="405181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接龙练习 · Duration Chain Drill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1750" y="923776"/>
            <a:ext cx="876895" cy="301526"/>
          </a:xfrm>
          <a:prstGeom prst="roundRect">
            <a:avLst>
              <a:gd name="adj" fmla="val 67390"/>
            </a:avLst>
          </a:prstGeom>
          <a:solidFill>
            <a:srgbClr val="F5E8CC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8976" y="984052"/>
            <a:ext cx="5124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4 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35596" y="942826"/>
            <a:ext cx="826591" cy="263426"/>
          </a:xfrm>
          <a:prstGeom prst="roundRect">
            <a:avLst>
              <a:gd name="adj" fmla="val 77137"/>
            </a:avLst>
          </a:prstGeom>
          <a:solidFill>
            <a:srgbClr val="F6E4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87996" y="993577"/>
            <a:ext cx="5322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1750" y="1403003"/>
            <a:ext cx="6030813" cy="2803178"/>
          </a:xfrm>
          <a:prstGeom prst="roundRect">
            <a:avLst>
              <a:gd name="adj" fmla="val 453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5176" y="1615678"/>
            <a:ext cx="56140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5176" y="1917204"/>
            <a:ext cx="5503962" cy="150822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a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duration phrase in English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e.g. "five days", "three months"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student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translates it aloud into Chinese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That student then says a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duration phrase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English for the next student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Continue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the room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every student must respond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5176" y="3552379"/>
            <a:ext cx="5503962" cy="441127"/>
          </a:xfrm>
          <a:prstGeom prst="roundRect">
            <a:avLst>
              <a:gd name="adj" fmla="val 23032"/>
            </a:avLst>
          </a:prstGeom>
          <a:solidFill>
            <a:srgbClr val="FEFCF7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91927" y="3672929"/>
            <a:ext cx="52126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Extension: combine your duration with a sport — </a:t>
            </a: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他每天跑三个小时步。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16464" y="1403003"/>
            <a:ext cx="5043785" cy="2803178"/>
          </a:xfrm>
          <a:prstGeom prst="roundRect">
            <a:avLst>
              <a:gd name="adj" fmla="val 4531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45064" y="1580704"/>
            <a:ext cx="46783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DURATION WORDS · 时长词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5064" y="1882229"/>
            <a:ext cx="4586585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天 </a:t>
            </a:r>
            <a:r>
              <a:rPr lang="en-US" sz="9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day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星期 </a:t>
            </a:r>
            <a:r>
              <a:rPr lang="en-US" sz="9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week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月 </a:t>
            </a:r>
            <a:r>
              <a:rPr lang="en-US" sz="9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month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小时 </a:t>
            </a:r>
            <a:r>
              <a:rPr lang="en-US" sz="9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hour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分钟 </a:t>
            </a:r>
            <a:r>
              <a:rPr lang="en-US" sz="9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minute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31750" y="4383881"/>
            <a:ext cx="3691533" cy="644426"/>
          </a:xfrm>
          <a:prstGeom prst="roundRect">
            <a:avLst>
              <a:gd name="adj" fmla="val 1576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84150" y="4460081"/>
            <a:ext cx="3454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84150" y="4628257"/>
            <a:ext cx="345446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Reference list of duration words (天/星期/月/小时/分钟) stays visible on projector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50234" y="4383881"/>
            <a:ext cx="3691533" cy="644426"/>
          </a:xfrm>
          <a:prstGeom prst="roundRect">
            <a:avLst>
              <a:gd name="adj" fmla="val 1576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402634" y="4460081"/>
            <a:ext cx="3454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402634" y="4628257"/>
            <a:ext cx="34544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Combine your duration with a sport: 他每天跑三个小时步。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68717" y="4383881"/>
            <a:ext cx="3691533" cy="644426"/>
          </a:xfrm>
          <a:prstGeom prst="roundRect">
            <a:avLst>
              <a:gd name="adj" fmla="val 1576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221117" y="4460081"/>
            <a:ext cx="3454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21117" y="4628257"/>
            <a:ext cx="34544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in the chain must respond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89919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PINYIN OU/UO + TEXT 1 · ACTIVITY 4 · CD TRACK 38 · 35-41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12849"/>
            <a:ext cx="1654522" cy="288727"/>
          </a:xfrm>
          <a:prstGeom prst="roundRect">
            <a:avLst>
              <a:gd name="adj" fmla="val 70378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476250"/>
            <a:ext cx="12731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 4 · LISTENING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63973" y="381000"/>
            <a:ext cx="29614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听力表格 · Listening Grid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45013" y="415975"/>
            <a:ext cx="798165" cy="282476"/>
          </a:xfrm>
          <a:prstGeom prst="roundRect">
            <a:avLst>
              <a:gd name="adj" fmla="val 71935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32239" y="476250"/>
            <a:ext cx="4321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64007" y="396925"/>
            <a:ext cx="896243" cy="320576"/>
          </a:xfrm>
          <a:prstGeom prst="roundRect">
            <a:avLst>
              <a:gd name="adj" fmla="val 63386"/>
            </a:avLst>
          </a:prstGeom>
          <a:solidFill>
            <a:srgbClr val="F6E4E1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060757" y="466725"/>
            <a:ext cx="5127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6 min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1750" y="885825"/>
            <a:ext cx="2158901" cy="3195638"/>
          </a:xfrm>
          <a:prstGeom prst="roundRect">
            <a:avLst>
              <a:gd name="adj" fmla="val 5883"/>
            </a:avLst>
          </a:prstGeom>
          <a:solidFill>
            <a:srgbClr val="F6E4E1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20701" y="1057275"/>
            <a:ext cx="3886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💿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183928" y="1666875"/>
            <a:ext cx="6674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CD TRACK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44364" y="1885950"/>
            <a:ext cx="340194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38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03680" y="2317700"/>
            <a:ext cx="12148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Book 2 · Unit 3 · Act. 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3200" y="2587526"/>
            <a:ext cx="1816001" cy="398562"/>
          </a:xfrm>
          <a:prstGeom prst="roundRect">
            <a:avLst>
              <a:gd name="adj" fmla="val 1274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9400" y="2638276"/>
            <a:ext cx="1696873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6 short descriptions of people's sport habits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3200" y="3049488"/>
            <a:ext cx="1816001" cy="398562"/>
          </a:xfrm>
          <a:prstGeom prst="roundRect">
            <a:avLst>
              <a:gd name="adj" fmla="val 1274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9400" y="3100239"/>
            <a:ext cx="1696873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Tick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correct box for each person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3200" y="3511451"/>
            <a:ext cx="1816001" cy="398562"/>
          </a:xfrm>
          <a:prstGeom prst="roundRect">
            <a:avLst>
              <a:gd name="adj" fmla="val 1274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9400" y="3562201"/>
            <a:ext cx="1696873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Self-mark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as a class, raise hand if wrong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93802" y="885825"/>
            <a:ext cx="91457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Grid Format · 6 People × 8 Activities </a:t>
            </a: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(first 3 shown)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93802" y="1143000"/>
            <a:ext cx="8966448" cy="1704975"/>
          </a:xfrm>
          <a:prstGeom prst="roundRect">
            <a:avLst>
              <a:gd name="adj" fmla="val 5959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812852" y="1162050"/>
            <a:ext cx="8928348" cy="561975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812852" y="1162050"/>
            <a:ext cx="888950" cy="561975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697039" y="1162050"/>
            <a:ext cx="0" cy="561975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12852" y="1719263"/>
            <a:ext cx="88895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39802" y="1238250"/>
            <a:ext cx="7157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Person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46179" y="1162050"/>
            <a:ext cx="0" cy="561975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01802" y="1719263"/>
            <a:ext cx="144913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39171" y="1238250"/>
            <a:ext cx="136487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跑步
</a:t>
            </a:r>
            <a:r>
              <a:rPr lang="en-US" sz="80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run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95467" y="1162050"/>
            <a:ext cx="0" cy="561975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50941" y="1719263"/>
            <a:ext cx="144928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88309" y="1238250"/>
            <a:ext cx="136502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
</a:t>
            </a:r>
            <a:r>
              <a:rPr lang="en-US" sz="80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swim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44607" y="1162050"/>
            <a:ext cx="0" cy="561975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00230" y="1719263"/>
            <a:ext cx="144913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37599" y="1238250"/>
            <a:ext cx="136487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打网球
</a:t>
            </a:r>
            <a:r>
              <a:rPr lang="en-US" sz="80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tennis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493895" y="1162050"/>
            <a:ext cx="0" cy="561975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49369" y="1719263"/>
            <a:ext cx="144928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86737" y="1238250"/>
            <a:ext cx="136502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打篮球
</a:t>
            </a:r>
            <a:r>
              <a:rPr lang="en-US" sz="80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basketball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498657" y="1719263"/>
            <a:ext cx="2242542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27997" y="1238250"/>
            <a:ext cx="21838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+ 4 more sports from Units 1-2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812852" y="1724025"/>
            <a:ext cx="888950" cy="371475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3697039" y="1724025"/>
            <a:ext cx="0" cy="371475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12852" y="2090738"/>
            <a:ext cx="88895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39802" y="1800225"/>
            <a:ext cx="7157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Person 1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132636" y="1724025"/>
            <a:ext cx="0" cy="371475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01802" y="2090738"/>
            <a:ext cx="1435596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39307" y="1800225"/>
            <a:ext cx="13510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☐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568232" y="1724025"/>
            <a:ext cx="0" cy="371475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37398" y="2090738"/>
            <a:ext cx="1435596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74903" y="1800225"/>
            <a:ext cx="13510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☐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003828" y="1724025"/>
            <a:ext cx="0" cy="371475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72994" y="2090738"/>
            <a:ext cx="1435596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10499" y="1800225"/>
            <a:ext cx="13510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☐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439424" y="1724025"/>
            <a:ext cx="0" cy="371475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008590" y="2090738"/>
            <a:ext cx="1435596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46095" y="1800225"/>
            <a:ext cx="13510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☐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444186" y="2090738"/>
            <a:ext cx="2297013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571137" y="1800225"/>
            <a:ext cx="21616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…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812852" y="2095500"/>
            <a:ext cx="888950" cy="371475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3697039" y="2095500"/>
            <a:ext cx="0" cy="371475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812852" y="2462212"/>
            <a:ext cx="88895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939802" y="2171700"/>
            <a:ext cx="7157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Person 2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132636" y="2095500"/>
            <a:ext cx="0" cy="371475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701802" y="2462212"/>
            <a:ext cx="1435596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739307" y="2171700"/>
            <a:ext cx="13510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☐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568232" y="2095500"/>
            <a:ext cx="0" cy="371475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137398" y="2462212"/>
            <a:ext cx="1435596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74903" y="2171700"/>
            <a:ext cx="13510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☐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8003828" y="2095500"/>
            <a:ext cx="0" cy="371475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572994" y="2462212"/>
            <a:ext cx="1435596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10499" y="2171700"/>
            <a:ext cx="13510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☐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9439424" y="2095500"/>
            <a:ext cx="0" cy="371475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008590" y="2462212"/>
            <a:ext cx="1435596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046095" y="2171700"/>
            <a:ext cx="13510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☐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9444186" y="2462212"/>
            <a:ext cx="2297013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571137" y="2171700"/>
            <a:ext cx="21616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…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2812852" y="2466975"/>
            <a:ext cx="888950" cy="361950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Shape 79"/>
          <p:cNvSpPr/>
          <p:nvPr/>
        </p:nvSpPr>
        <p:spPr>
          <a:xfrm>
            <a:off x="3697039" y="2466975"/>
            <a:ext cx="0" cy="36195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939802" y="2543175"/>
            <a:ext cx="7157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Person 3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5132636" y="2466975"/>
            <a:ext cx="0" cy="36195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739307" y="2543175"/>
            <a:ext cx="13510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☐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6568232" y="2466975"/>
            <a:ext cx="0" cy="36195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174903" y="2543175"/>
            <a:ext cx="13510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☐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8003828" y="2466975"/>
            <a:ext cx="0" cy="36195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610499" y="2543175"/>
            <a:ext cx="13510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☐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9439424" y="2466975"/>
            <a:ext cx="0" cy="36195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046095" y="2543175"/>
            <a:ext cx="13510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☐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9571137" y="2543175"/>
            <a:ext cx="21616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…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2793802" y="2924175"/>
            <a:ext cx="91457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 printed grid continues for all </a:t>
            </a: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people × 8 activities</a:t>
            </a: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(all sports taught in Units 1-2), pictures included alongside the Chinese activity names.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431750" y="4208413"/>
            <a:ext cx="3691533" cy="644426"/>
          </a:xfrm>
          <a:prstGeom prst="roundRect">
            <a:avLst>
              <a:gd name="adj" fmla="val 1576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Text 92"/>
          <p:cNvSpPr/>
          <p:nvPr/>
        </p:nvSpPr>
        <p:spPr>
          <a:xfrm>
            <a:off x="584150" y="4284613"/>
            <a:ext cx="3454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584150" y="4452789"/>
            <a:ext cx="345446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Grid pre-labelled with pictures alongside the Chinese activity names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4250234" y="4208413"/>
            <a:ext cx="3691533" cy="644426"/>
          </a:xfrm>
          <a:prstGeom prst="roundRect">
            <a:avLst>
              <a:gd name="adj" fmla="val 1576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4402634" y="4284613"/>
            <a:ext cx="3454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4402634" y="4452789"/>
            <a:ext cx="345446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ticking, write one full sentence about one person from memory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8068717" y="4208413"/>
            <a:ext cx="3691533" cy="644426"/>
          </a:xfrm>
          <a:prstGeom prst="roundRect">
            <a:avLst>
              <a:gd name="adj" fmla="val 1576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Text 98"/>
          <p:cNvSpPr/>
          <p:nvPr/>
        </p:nvSpPr>
        <p:spPr>
          <a:xfrm>
            <a:off x="8221117" y="4284613"/>
            <a:ext cx="3454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8221117" y="4452789"/>
            <a:ext cx="345446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Independent listening, checked as a class — raise hands for any wrong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7478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PINYIN OU/UO + TEXT 1 · GAME · LISTEN &amp; JUDGE · 41-43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579863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真假判断 · Listen &amp; Judge — True or False!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126414" y="479375"/>
            <a:ext cx="706189" cy="282476"/>
          </a:xfrm>
          <a:prstGeom prst="roundRect">
            <a:avLst>
              <a:gd name="adj" fmla="val 71935"/>
            </a:avLst>
          </a:prstGeom>
          <a:solidFill>
            <a:srgbClr val="DCEAEC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313640" y="539651"/>
            <a:ext cx="3383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34105" y="474613"/>
            <a:ext cx="826145" cy="292001"/>
          </a:xfrm>
          <a:prstGeom prst="roundRect">
            <a:avLst>
              <a:gd name="adj" fmla="val 69589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121330" y="534888"/>
            <a:ext cx="4607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2 min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1750" y="936427"/>
            <a:ext cx="115550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a sentence about Text 1. Judge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live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show 👍 👎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instantly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no writing.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750" y="1361777"/>
            <a:ext cx="11328499" cy="647402"/>
          </a:xfrm>
          <a:prstGeom prst="roundRect">
            <a:avLst>
              <a:gd name="adj" fmla="val 15694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4701" y="1520428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38200" y="1585466"/>
            <a:ext cx="643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7952" y="1542604"/>
            <a:ext cx="2072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高力的爸爸喜欢跑步。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1750" y="2123480"/>
            <a:ext cx="11328499" cy="647402"/>
          </a:xfrm>
          <a:prstGeom prst="roundRect">
            <a:avLst>
              <a:gd name="adj" fmla="val 15694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4701" y="2282130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5550" y="2347168"/>
            <a:ext cx="901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37952" y="2304306"/>
            <a:ext cx="2072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高力的爸爸喜欢游泳。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1750" y="2885182"/>
            <a:ext cx="11328499" cy="647402"/>
          </a:xfrm>
          <a:prstGeom prst="roundRect">
            <a:avLst>
              <a:gd name="adj" fmla="val 15694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4701" y="3043833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5103" y="3108871"/>
            <a:ext cx="909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37952" y="3066008"/>
            <a:ext cx="24868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高力的妈妈每天早上游泳。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1750" y="3646884"/>
            <a:ext cx="11328499" cy="647402"/>
          </a:xfrm>
          <a:prstGeom prst="roundRect">
            <a:avLst>
              <a:gd name="adj" fmla="val 15694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04701" y="3805535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24657" y="3870573"/>
            <a:ext cx="919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37952" y="3827711"/>
            <a:ext cx="227965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高力喜欢一个人打网球。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31750" y="4408587"/>
            <a:ext cx="11328499" cy="647402"/>
          </a:xfrm>
          <a:prstGeom prst="roundRect">
            <a:avLst>
              <a:gd name="adj" fmla="val 15694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04701" y="4567238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25252" y="4632275"/>
            <a:ext cx="906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37952" y="4589413"/>
            <a:ext cx="24868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高力一家人都不喜欢运动。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18465" y="5182939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 needed:</a:t>
            </a: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None — purely oral, works as a fast plenary bridge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6890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PINYIN OU/UO + TEXT 1 · PLENARY · 43-50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31750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707975"/>
            <a:ext cx="115550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1750" y="1352401"/>
            <a:ext cx="5537299" cy="2139553"/>
          </a:xfrm>
          <a:prstGeom prst="roundRect">
            <a:avLst>
              <a:gd name="adj" fmla="val 593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9875" y="1565077"/>
            <a:ext cx="51622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9875" y="1896814"/>
            <a:ext cx="4371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👍😐👎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25451" y="1892052"/>
            <a:ext cx="2819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Hear ou vs uo and mark the correct tone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9875" y="2223790"/>
            <a:ext cx="4371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👍😐👎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25451" y="2219027"/>
            <a:ext cx="33897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Understand Text 1 and answer questions about 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9875" y="2550765"/>
            <a:ext cx="4371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👍😐👎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25451" y="2546003"/>
            <a:ext cx="43271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Say how long someone does a sport (verb + duration + object)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9875" y="2872978"/>
            <a:ext cx="516227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0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reads each criterion — class gives an example: </a:t>
            </a: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word with ou, a fact from the text, a duration sentence</a:t>
            </a: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22950" y="1352401"/>
            <a:ext cx="5537299" cy="2139553"/>
          </a:xfrm>
          <a:prstGeom prst="roundRect">
            <a:avLst>
              <a:gd name="adj" fmla="val 593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61075" y="1565077"/>
            <a:ext cx="51622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61075" y="1866602"/>
            <a:ext cx="5061049" cy="942826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489650" y="1866602"/>
            <a:ext cx="0" cy="942826"/>
          </a:xfrm>
          <a:prstGeom prst="line">
            <a:avLst/>
          </a:prstGeom>
          <a:noFill/>
          <a:ln w="57150">
            <a:solidFill>
              <a:srgbClr val="3A7D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5926" y="1993553"/>
            <a:ext cx="47414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695926" y="2187178"/>
            <a:ext cx="474146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one sentence about how long you do a sport each day, using verb + duration + object.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61075" y="2936379"/>
            <a:ext cx="51622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0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Self-assessment: use mini whiteboards to write 👍/😐/👎 next to each criterion number above.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9001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PINYIN OU/UO + TEXT 1 · PREVIEW · NEXT LESSON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-121920" y="888950"/>
            <a:ext cx="12435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 NEXT · L4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-121920" y="1190476"/>
            <a:ext cx="12435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3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时长问答 · 表演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-121920" y="1812727"/>
            <a:ext cx="124358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Asking, answering, and acting out sport duration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35350" y="2390477"/>
            <a:ext cx="1905000" cy="1584127"/>
          </a:xfrm>
          <a:prstGeom prst="roundRect">
            <a:avLst>
              <a:gd name="adj" fmla="val 801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59187" y="2603153"/>
            <a:ext cx="14573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59187" y="3146078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问答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59187" y="3438079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Partner Q&amp;A on duration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43500" y="2390477"/>
            <a:ext cx="1905000" cy="1584127"/>
          </a:xfrm>
          <a:prstGeom prst="roundRect">
            <a:avLst>
              <a:gd name="adj" fmla="val 801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67338" y="2603153"/>
            <a:ext cx="14573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🎭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367338" y="3146078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表演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67338" y="3438079"/>
            <a:ext cx="14573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 out what people are doing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251650" y="2390477"/>
            <a:ext cx="1905000" cy="1584127"/>
          </a:xfrm>
          <a:prstGeom prst="roundRect">
            <a:avLst>
              <a:gd name="adj" fmla="val 801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75488" y="2603153"/>
            <a:ext cx="14573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475488" y="3146078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时长词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75488" y="3438079"/>
            <a:ext cx="14573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天 / 星期 / 月 / 小时 / 分钟 again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50950" y="4279404"/>
            <a:ext cx="8889950" cy="999827"/>
          </a:xfrm>
          <a:prstGeom prst="roundRect">
            <a:avLst>
              <a:gd name="adj" fmla="val 12702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976478" y="4457105"/>
            <a:ext cx="82388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WHAT'S NEXT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76478" y="4682430"/>
            <a:ext cx="823889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"Next lesson we'll practise asking and answering about sport duration with a partner, and act out what people are doing."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2026-07-21T08:52:09Z</dcterms:created>
  <dcterms:modified xsi:type="dcterms:W3CDTF">2026-07-21T08:52:09Z</dcterms:modified>
</cp:coreProperties>
</file>