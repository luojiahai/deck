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8270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68342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90531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812183" y="1580555"/>
            <a:ext cx="4594967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12183" y="1917105"/>
            <a:ext cx="4594967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812183" y="3359745"/>
            <a:ext cx="4594967" cy="103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爱好·运动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3812183" y="4426545"/>
            <a:ext cx="4594967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Core Sports Vocabulary + Verb Rules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12183" y="5125045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06070" y="5125045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46142" y="5125045"/>
            <a:ext cx="101942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968331" y="5125045"/>
            <a:ext cx="14388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Unit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08150"/>
            <a:ext cx="5207000" cy="1816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23000" y="2089150"/>
            <a:ext cx="815479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4679" y="2089150"/>
            <a:ext cx="693936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84815" y="2089150"/>
            <a:ext cx="821730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82745" y="2089150"/>
            <a:ext cx="720626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79570" y="2089150"/>
            <a:ext cx="609997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23000" y="2660650"/>
            <a:ext cx="1189633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3702050"/>
            <a:ext cx="10668000" cy="59690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161679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62000" y="8128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62000" y="102870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 7 Vocabulary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71550" y="2032000"/>
            <a:ext cx="48153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FLASHCARD RAPID FIRE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3950" y="229870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Lesson 7 word on the projector → class chorally says pinyin + English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23950" y="279400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Reverse: teacher says an English hobby → students write the Chinese on mini whiteboards and hold up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23000" y="1822450"/>
            <a:ext cx="5234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WORDS (LESSON 7)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56350" y="2159000"/>
            <a:ext cx="576211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6350" y="2393950"/>
            <a:ext cx="576211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the piano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7248029" y="2159000"/>
            <a:ext cx="45466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48029" y="2393950"/>
            <a:ext cx="45466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 a song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018165" y="2159000"/>
            <a:ext cx="58246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18165" y="2393950"/>
            <a:ext cx="58246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music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916095" y="2159000"/>
            <a:ext cx="48135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16095" y="2393950"/>
            <a:ext cx="48135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/ study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9712920" y="2159000"/>
            <a:ext cx="37072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12920" y="2393950"/>
            <a:ext cx="37072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/ both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356350" y="2730500"/>
            <a:ext cx="950365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56350" y="2965450"/>
            <a:ext cx="950365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the process of (doing)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62000" y="3702050"/>
            <a:ext cx="10695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"Last unit we talked about music hobbies with 一边……一边…… — today we start a new hobby topic: 运动 (sports) — and you'll meet a new way to say who you do something with."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857500"/>
            <a:ext cx="8693150" cy="9715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40957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4894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8831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161679" y="187325"/>
            <a:ext cx="86831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8986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21272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30099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3168650"/>
            <a:ext cx="8282432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sports in Chinese and choose the correct verb (打 / 踢 / no verb) for each one.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9000" y="40957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244600" y="4083050"/>
            <a:ext cx="512717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运动, 跑步, 游泳, 网球, 打网球 in Chinese (拼音说出核心运动词汇)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9000" y="44894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244600" y="4476750"/>
            <a:ext cx="521091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跟……一起 to say who I do something with — 跟朋友一起打网球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9000" y="48831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244600" y="4870450"/>
            <a:ext cx="5329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pick the right verb pattern: 打 for racket sports, no verb for 跑步 / 游泳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574800"/>
            <a:ext cx="5416550" cy="571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40450" y="1574800"/>
            <a:ext cx="5416550" cy="571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2235200"/>
            <a:ext cx="5416550" cy="571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40450" y="2235200"/>
            <a:ext cx="5416550" cy="571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2895600"/>
            <a:ext cx="5416550" cy="5715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0450" y="2895600"/>
            <a:ext cx="5416550" cy="571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3556000"/>
            <a:ext cx="10922000" cy="5715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" y="4267200"/>
            <a:ext cx="10922000" cy="5334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161679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5000" y="787400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5000" y="1003300"/>
            <a:ext cx="10949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781050" y="1698625"/>
            <a:ext cx="535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03350" y="1695450"/>
            <a:ext cx="801140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yùndòng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403350" y="1866900"/>
            <a:ext cx="801140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sports; exercise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286500" y="1698625"/>
            <a:ext cx="535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08800" y="1695450"/>
            <a:ext cx="410813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pǎobù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08800" y="1866900"/>
            <a:ext cx="410813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run; jog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81050" y="2359025"/>
            <a:ext cx="535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03350" y="2355850"/>
            <a:ext cx="47322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403350" y="2527300"/>
            <a:ext cx="47322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86500" y="2359025"/>
            <a:ext cx="535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一起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08800" y="2355850"/>
            <a:ext cx="45675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yìqǐ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08800" y="2527300"/>
            <a:ext cx="45675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81050" y="3063875"/>
            <a:ext cx="8529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720850" y="3016250"/>
            <a:ext cx="703509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gēn…yìqǐ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720850" y="3187700"/>
            <a:ext cx="703509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86500" y="3019425"/>
            <a:ext cx="535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908800" y="3016250"/>
            <a:ext cx="47252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wǎngqiú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908800" y="3187700"/>
            <a:ext cx="47252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81050" y="3679825"/>
            <a:ext cx="7132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581150" y="3676650"/>
            <a:ext cx="62691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wǎngqiú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581150" y="3848100"/>
            <a:ext cx="62691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00100" y="4419600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54100" y="4368800"/>
            <a:ext cx="4416969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= 跑 (run) + 步 (step) → literally "run-step" = jog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54100" y="4565650"/>
            <a:ext cx="441696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 pairs two near-synonym characters (游 + 泳, both "swim") — Chinese often doubles up like this.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1771650"/>
            <a:ext cx="1168400" cy="56515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47615" y="1771650"/>
            <a:ext cx="927100" cy="56515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2476500"/>
            <a:ext cx="10414000" cy="387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2927350"/>
            <a:ext cx="10414000" cy="387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3378200"/>
            <a:ext cx="10414000" cy="387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3829050"/>
            <a:ext cx="10414000" cy="3873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0100" y="3994150"/>
            <a:ext cx="861219" cy="133350"/>
          </a:xfrm>
          <a:prstGeom prst="roundRect">
            <a:avLst/>
          </a:prstGeom>
          <a:solidFill>
            <a:srgbClr val="D4756B">
              <a:alpha val="15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9000" y="4591050"/>
            <a:ext cx="5143500" cy="628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59500" y="4591050"/>
            <a:ext cx="5143500" cy="6286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161679" y="187325"/>
            <a:ext cx="143862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 + Verb Rules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89000" y="7874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89000" y="1003300"/>
            <a:ext cx="10441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关键句型 + 动词规则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9000" y="1447800"/>
            <a:ext cx="10441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what sport you like — and which verb to use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9000" y="1771650"/>
            <a:ext cx="1195832" cy="58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146300" y="1914525"/>
            <a:ext cx="139847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347615" y="1771650"/>
            <a:ext cx="954532" cy="58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3363615" y="1943100"/>
            <a:ext cx="1798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04915" y="1838325"/>
            <a:ext cx="1797395" cy="4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"I like to [sport]"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35050" y="2546350"/>
            <a:ext cx="10561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我喜欢跑步。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10477" y="2590800"/>
            <a:ext cx="117390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running / jogging.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35050" y="2997200"/>
            <a:ext cx="10561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我喜欢游泳。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346531" y="3041650"/>
            <a:ext cx="837851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swimming.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35050" y="3448050"/>
            <a:ext cx="20848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我喜欢跟朋友一起打网球。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960247" y="3492500"/>
            <a:ext cx="222413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tennis together with my friend.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35050" y="3898900"/>
            <a:ext cx="3193701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我喜欢跟我的猫一起打网球！SILLY EXAMPLE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554964" y="3943350"/>
            <a:ext cx="162941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tennis with my cat!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89000" y="4381500"/>
            <a:ext cx="10441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RULE · 动词规则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054100" y="4705350"/>
            <a:ext cx="48407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RACKET SPORT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054100" y="4870450"/>
            <a:ext cx="4840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 dǎ wǎngqiú — "hit tennis"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324600" y="4705350"/>
            <a:ext cx="48407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 — ALREADY A VERB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24600" y="4870450"/>
            <a:ext cx="4840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· 游泳 complete action-words on their own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89000" y="5283200"/>
            <a:ext cx="104414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sports — and the 踢 category — coming next lesson.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44962" y="2375098"/>
            <a:ext cx="336451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762448"/>
            <a:ext cx="10414000" cy="8191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9211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733998"/>
            <a:ext cx="10414000" cy="7747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9274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61098"/>
            <a:ext cx="10414000" cy="793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81984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61679" y="187325"/>
            <a:ext cx="1114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580952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809552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342952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Respond as prompted for each question CFU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9211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921198"/>
            <a:ext cx="96667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verb for 网球? Thumbs up when you know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79550" y="325139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9274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92748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"swim" in Chinese? Write it on your whiteboard.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17849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81984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819848"/>
            <a:ext cx="96667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我打跑步。 What's wrong?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79550" y="51246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38400"/>
            <a:ext cx="104140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57175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05200"/>
            <a:ext cx="104140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3855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72000"/>
            <a:ext cx="104140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70535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161679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5240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5260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5717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571750"/>
            <a:ext cx="96667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verb for 网球?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79550" y="2825750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 needs 打 in front — 打网球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79550" y="3086100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wǎngqiú — "hit tennis". 打 is used for racket/ball sports.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3150" y="36385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38550"/>
            <a:ext cx="96667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"swim" in Chinese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92550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152900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3150" y="47053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705350"/>
            <a:ext cx="96667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我打跑步。 What's wrong?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79550" y="4959350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never takes a verb in front — should be 我跑步。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79550" y="5219700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and 游泳 are already complete action-words — no 打 needed.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01551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17907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29337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0" y="22923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0" y="26225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0" y="29527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0" y="32829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0" y="36131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0" y="39433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0" y="42735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000" y="48831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1034" y="48831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67067" y="48831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161679" y="187325"/>
            <a:ext cx="86801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563588" y="762000"/>
            <a:ext cx="3836837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 Tracing &amp; Matching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31913" y="1374775"/>
            <a:ext cx="528983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46150" y="23241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 each of today's 7 new words three times on the printed worksheet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46150" y="2600325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the matching column — connect 汉字 ↔ pinyin ↔ English for all 7 words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46150" y="3076575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cover the English column and self-quiz from memory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50000" y="2032000"/>
            <a:ext cx="50820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50000" y="23304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721975" y="2330450"/>
            <a:ext cx="710057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sports; exercise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350000" y="26606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1066264" y="2660650"/>
            <a:ext cx="365768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run; jog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350000" y="29908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169154" y="2990850"/>
            <a:ext cx="262878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50000" y="33210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一起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25783" y="3321050"/>
            <a:ext cx="406249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350000" y="3651250"/>
            <a:ext cx="7259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808097" y="3651250"/>
            <a:ext cx="623935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350000" y="39814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130558" y="3981450"/>
            <a:ext cx="301474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350000" y="4311650"/>
            <a:ext cx="4465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919916" y="4311650"/>
            <a:ext cx="512116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23900" y="49466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389934" y="49466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8055967" y="49466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01551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9663" y="1374775"/>
            <a:ext cx="680244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1771650"/>
            <a:ext cx="5359400" cy="1866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7600" y="1771650"/>
            <a:ext cx="5359400" cy="19812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0" y="2292350"/>
            <a:ext cx="5054600" cy="6096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0" y="2990850"/>
            <a:ext cx="5054600" cy="6096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39306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1034" y="39306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7067" y="39306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161679" y="187325"/>
            <a:ext cx="131767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We Do → You Do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563588" y="762000"/>
            <a:ext cx="2620613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Verb-Rule Sorting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331913" y="1374775"/>
            <a:ext cx="528983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909663" y="1374775"/>
            <a:ext cx="707676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YOU DO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46150" y="23241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a sport — 跑步, 游泳, or 网球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46150" y="2600325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"打 + word" or "no verb" on their whiteboard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6150" y="287655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on the count of three — teacher scans the room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6150" y="3152775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write the full sentence with 我喜欢, not just the verb choice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50000" y="2032000"/>
            <a:ext cx="50820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REFERENCE CHART · STAYS PROJECTED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02400" y="2406650"/>
            <a:ext cx="4777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39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WORD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6502400" y="2565400"/>
            <a:ext cx="4777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02400" y="3105150"/>
            <a:ext cx="4777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39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6502400" y="3263900"/>
            <a:ext cx="4777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· 游泳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3900" y="39941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4389934" y="39941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055967" y="39941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56915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206692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4381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77050" y="20447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7600" y="2324100"/>
            <a:ext cx="5359400" cy="4381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02550" y="259715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7600" y="2876550"/>
            <a:ext cx="5359400" cy="8699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0" y="3308350"/>
            <a:ext cx="520700" cy="3111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34200" y="3308350"/>
            <a:ext cx="520700" cy="3111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18400" y="3308350"/>
            <a:ext cx="660400" cy="3111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000" y="4016375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1034" y="4016375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67067" y="4016375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161679" y="187325"/>
            <a:ext cx="89390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You Do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563588" y="762000"/>
            <a:ext cx="270663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Sentence-Building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31913" y="13747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46150" y="23241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Using the frames on the right, write 3 original sentences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46150" y="2600325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in at least one 跟……一起 sentence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46150" y="2876550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add a second clause with 一边……一边…… (from last unit) — e.g. 我喜欢一边跑步一边听音乐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46150" y="33528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call: be ready to read one sentence aloud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7600" y="1771650"/>
            <a:ext cx="53868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7600" y="2324100"/>
            <a:ext cx="53868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我喜欢跟朋友一起。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50000" y="3098800"/>
            <a:ext cx="50820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50000" y="3308350"/>
            <a:ext cx="5481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34200" y="3308350"/>
            <a:ext cx="5481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518400" y="3308350"/>
            <a:ext cx="6878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3900" y="4079875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389934" y="4079875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055967" y="4079875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723900"/>
            <a:ext cx="556220" cy="20955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2820" y="711200"/>
            <a:ext cx="596999" cy="2349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1420" y="723900"/>
            <a:ext cx="547390" cy="2095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27200"/>
            <a:ext cx="3340100" cy="281940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4050" y="1746250"/>
            <a:ext cx="3302000" cy="419100"/>
          </a:xfrm>
          <a:prstGeom prst="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050" y="1746250"/>
            <a:ext cx="110063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54684" y="1746250"/>
            <a:ext cx="110063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050" y="21653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54684" y="21653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55317" y="21653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4050" y="29527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54684" y="2952750"/>
            <a:ext cx="1100634" cy="787400"/>
          </a:xfrm>
          <a:prstGeom prst="rect">
            <a:avLst/>
          </a:prstGeom>
          <a:solidFill>
            <a:srgbClr val="D4756B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55317" y="29527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050" y="37401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54684" y="37401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55317" y="3740150"/>
            <a:ext cx="1100634" cy="787400"/>
          </a:xfrm>
          <a:prstGeom prst="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78300" y="1727200"/>
            <a:ext cx="7378700" cy="12827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8300" y="3111500"/>
            <a:ext cx="7378700" cy="5207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000" y="480060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01034" y="480060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67067" y="480060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161679" y="187325"/>
            <a:ext cx="69279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Bingo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35000" y="723900"/>
            <a:ext cx="58365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292820" y="711200"/>
            <a:ext cx="62443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991420" y="723900"/>
            <a:ext cx="57482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35000" y="996950"/>
            <a:ext cx="10949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Bingo · 宾狗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35000" y="1428750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English meanings or pinyin → cross off the matching 汉字 — first full line wins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4050" y="1746250"/>
            <a:ext cx="1128066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754684" y="1746250"/>
            <a:ext cx="1128066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2855317" y="1746250"/>
            <a:ext cx="1128066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54050" y="21653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754684" y="21653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55317" y="21653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050" y="29527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754684" y="29527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G·O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855317" y="29527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050" y="37401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754684" y="37401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855317" y="3740150"/>
            <a:ext cx="1128066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337050" y="1955800"/>
            <a:ext cx="70886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337050" y="2178050"/>
            <a:ext cx="1671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52950" y="2178050"/>
            <a:ext cx="5340894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fills a 3×3 grid with today's 7 words — their choice of squares, some repeat.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337050" y="2432050"/>
            <a:ext cx="1671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52950" y="2432050"/>
            <a:ext cx="608692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English meanings or pinyin, one at a time. Find &amp; cross off the matching 汉字 square.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337050" y="2686050"/>
            <a:ext cx="1671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52950" y="2686050"/>
            <a:ext cx="429304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 in a row (horizontal, vertical, or diagonal) — call out 宾狗 (Bingo)!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318000" y="3267075"/>
            <a:ext cx="1734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52950" y="3213100"/>
            <a:ext cx="3160066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English/pinyin → students cross off 汉字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52950" y="3397250"/>
            <a:ext cx="316006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"swim" / yóuyǒng → students cross off 游泳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36600" y="487680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402634" y="487680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8068667" y="487680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855020"/>
            <a:ext cx="5105400" cy="228461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8550" y="3432870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2550" y="3432870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6550" y="3432870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8550" y="3737670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2550" y="3737670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6550" y="3737670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8550" y="4042470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52550" y="4042470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6550" y="4042470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2855020"/>
            <a:ext cx="5105400" cy="228461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7150" y="3432870"/>
            <a:ext cx="4686300" cy="9080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161679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89000" y="189617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9000" y="212477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8550" y="3147120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98550" y="34328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352550" y="34328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06550" y="34328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98550" y="37376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352550" y="37376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06550" y="37376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8550" y="40424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352550" y="40424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606550" y="404247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7150" y="3147120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91300" y="3559870"/>
            <a:ext cx="4377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591300" y="3744020"/>
            <a:ext cx="437718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saying you like a sport with a friend, using 跟……一起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7150" y="4467920"/>
            <a:ext cx="4713732" cy="505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 volunteer reads each success criterion aloud — class responds with the target word or sentence.</a:t>
            </a:r>
            <a:endParaRPr lang="en-US" sz="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 with thumbs against each of the 3 criteria above.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2832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49700" y="2890441"/>
            <a:ext cx="2070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72200" y="2890441"/>
            <a:ext cx="2070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32449" y="4433491"/>
            <a:ext cx="2527102" cy="958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142076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161679" y="187325"/>
            <a:ext cx="10735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03949" y="1643360"/>
            <a:ext cx="141153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207000" y="1878310"/>
            <a:ext cx="1805432" cy="42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230489" y="2337991"/>
            <a:ext cx="3758355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more sports words + practising 跟……一起 properly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59250" y="3074591"/>
            <a:ext cx="1678432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⚽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59250" y="3607991"/>
            <a:ext cx="1678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 (2)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59250" y="3830241"/>
            <a:ext cx="1678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Basketball, football, skiing &amp; more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81750" y="3074591"/>
            <a:ext cx="1678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381750" y="3614341"/>
            <a:ext cx="1678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跟……一起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81750" y="3836591"/>
            <a:ext cx="1678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Practising Properly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137249" y="4573191"/>
            <a:ext cx="1944934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137249" y="4744641"/>
            <a:ext cx="1944934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跟朋友一起 + ___？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137249" y="5093891"/>
            <a:ext cx="1944934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 a friend + [new sport]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2026-07-20T00:31:55Z</dcterms:created>
  <dcterms:modified xsi:type="dcterms:W3CDTF">2026-07-20T00:31:55Z</dcterms:modified>
</cp:coreProperties>
</file>