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 · Y8 UNIT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241500"/>
            <a:ext cx="1243584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4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4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-121920" y="3162151"/>
            <a:ext cx="12435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Sports Vocabulary + Verb Rules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-121920" y="3657451"/>
            <a:ext cx="12435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Speaking + Writing  ·  轻松学中文 Book 2 · Unit 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870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7 Vocabulary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5753100" cy="1659136"/>
          </a:xfrm>
          <a:prstGeom prst="roundRect">
            <a:avLst>
              <a:gd name="adj" fmla="val 61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451" y="1098352"/>
            <a:ext cx="5505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FLASHCARD RAPID FIRE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9451" y="1336477"/>
            <a:ext cx="5397698" cy="80992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7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 </a:t>
            </a: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word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 → class chorally says pinyin + English</a:t>
            </a:r>
            <a:endParaRPr lang="en-US" sz="1050" dirty="0"/>
          </a:p>
          <a:p>
            <a:pPr algn="l" marL="88900" indent="-88900">
              <a:lnSpc>
                <a:spcPts val="147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Reverse: teacher says an </a:t>
            </a: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hobby</a:t>
            </a: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students write the Chinese on mini whiteboards and hold 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62551" y="971401"/>
            <a:ext cx="5505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WORDS (LESSON 7)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62551" y="1209526"/>
            <a:ext cx="5397698" cy="1421011"/>
          </a:xfrm>
          <a:prstGeom prst="roundRect">
            <a:avLst>
              <a:gd name="adj" fmla="val 715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62551" y="1209526"/>
            <a:ext cx="5397698" cy="1421011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piano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唱歌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 a song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听音乐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music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读书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/ study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/ both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the process of (doing)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1750" y="2757488"/>
            <a:ext cx="11328499" cy="584002"/>
          </a:xfrm>
          <a:prstGeom prst="rect">
            <a:avLst/>
          </a:prstGeom>
          <a:solidFill>
            <a:srgbClr val="F5E9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5563" y="2757488"/>
            <a:ext cx="0" cy="584002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076" y="2871788"/>
            <a:ext cx="1114398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"Last unit we talked about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 hobbies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一边……一边…… — today we start a new hobby topic: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 (sports)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you'll meet a new way to say who you do something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93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LEARNING INTENTION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11328499" cy="733425"/>
          </a:xfrm>
          <a:prstGeom prst="rect">
            <a:avLst/>
          </a:prstGeom>
          <a:solidFill>
            <a:srgbClr val="F5E9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971401"/>
            <a:ext cx="0" cy="73342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1123801"/>
            <a:ext cx="110920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2526" y="1323826"/>
            <a:ext cx="110920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sports in Chinese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choose the correct verb (打 / 踢 / no verb) for each one.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1895177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0183" y="1925241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6402" y="1882527"/>
            <a:ext cx="5227091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运动, 跑步, 游泳, 网球, 打网球</a:t>
            </a: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1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(拼音说出核心运动词汇)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1750" y="2225278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0955" y="2255341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6402" y="2212628"/>
            <a:ext cx="5323335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</a:t>
            </a: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</a:t>
            </a: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 I do something with</a:t>
            </a: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跟朋友一起打网球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1750" y="2555379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0807" y="2585442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6402" y="2542729"/>
            <a:ext cx="5581403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pick the right </a:t>
            </a: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 pattern</a:t>
            </a: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</a:t>
            </a: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racket sports, no verb for </a:t>
            </a:r>
            <a:r>
              <a:rPr lang="en-US" sz="11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/ 游泳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6710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11328499" cy="1992809"/>
          </a:xfrm>
          <a:prstGeom prst="roundRect">
            <a:avLst>
              <a:gd name="adj" fmla="val 3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971401"/>
            <a:ext cx="11328499" cy="1992809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yùndòng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sports; exercise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pǎobù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run; jog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swim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yìqǐ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together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gēn…yìqǐ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together with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wǎngqiú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tennis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wǎngqiú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tennis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3091160"/>
            <a:ext cx="11328499" cy="633561"/>
          </a:xfrm>
          <a:prstGeom prst="roundRect">
            <a:avLst>
              <a:gd name="adj" fmla="val 12027"/>
            </a:avLst>
          </a:prstGeom>
          <a:solidFill>
            <a:srgbClr val="E4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501" y="3224510"/>
            <a:ext cx="1115369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跑 (run) + 步 (step) → literally "run-step" = jog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8501" y="3440311"/>
            <a:ext cx="1115369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 pairs two near-synonym characters (游 + 泳, both "swim") — Chinese often doubles up like this.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4820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I DO · KEY PATTERN + VERB RULES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+ 动词规则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115550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say what sport you like — and which verb to use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1750" y="1263402"/>
            <a:ext cx="886271" cy="412552"/>
          </a:xfrm>
          <a:prstGeom prst="roundRect">
            <a:avLst>
              <a:gd name="adj" fmla="val 1847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3200" y="1345853"/>
            <a:ext cx="554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9523" y="1364903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19399" y="1263402"/>
            <a:ext cx="705148" cy="412552"/>
          </a:xfrm>
          <a:prstGeom prst="roundRect">
            <a:avLst>
              <a:gd name="adj" fmla="val 18470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90849" y="1345853"/>
            <a:ext cx="369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26047" y="1364903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948" y="1374428"/>
            <a:ext cx="10955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like to [sport]"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1750" y="1777454"/>
            <a:ext cx="11328499" cy="326827"/>
          </a:xfrm>
          <a:prstGeom prst="roundRect">
            <a:avLst>
              <a:gd name="adj" fmla="val 233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150" y="1840855"/>
            <a:ext cx="871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13491" y="1859905"/>
            <a:ext cx="13202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running / jogging.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1750" y="2155031"/>
            <a:ext cx="11328499" cy="326827"/>
          </a:xfrm>
          <a:prstGeom prst="roundRect">
            <a:avLst>
              <a:gd name="adj" fmla="val 233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4150" y="2218432"/>
            <a:ext cx="871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24852" y="2237482"/>
            <a:ext cx="9006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swimming.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2532608"/>
            <a:ext cx="11328499" cy="326827"/>
          </a:xfrm>
          <a:prstGeom prst="roundRect">
            <a:avLst>
              <a:gd name="adj" fmla="val 233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150" y="2596009"/>
            <a:ext cx="1743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跟朋友一起打网球。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66622" y="2615059"/>
            <a:ext cx="24900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playing tennis together with my friend.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1750" y="2910185"/>
            <a:ext cx="11328499" cy="326827"/>
          </a:xfrm>
          <a:prstGeom prst="roundRect">
            <a:avLst>
              <a:gd name="adj" fmla="val 23315"/>
            </a:avLst>
          </a:prstGeom>
          <a:solidFill>
            <a:srgbClr val="FAEA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150" y="2973586"/>
            <a:ext cx="28241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跟我的猫一起打网球！ </a:t>
            </a: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16405" y="2992636"/>
            <a:ext cx="18272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playing tennis with my cat!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750" y="3338513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 RULE · 动词规则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1750" y="3563838"/>
            <a:ext cx="5600700" cy="625376"/>
          </a:xfrm>
          <a:prstGeom prst="roundRect">
            <a:avLst>
              <a:gd name="adj" fmla="val 12185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3200" y="3671739"/>
            <a:ext cx="5362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 + RACKET SPORT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200" y="3852714"/>
            <a:ext cx="536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wǎngqiú — "hit tennis"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59401" y="3563838"/>
            <a:ext cx="5600849" cy="625376"/>
          </a:xfrm>
          <a:prstGeom prst="roundRect">
            <a:avLst>
              <a:gd name="adj" fmla="val 12185"/>
            </a:avLst>
          </a:prstGeom>
          <a:solidFill>
            <a:srgbClr val="E4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30851" y="3671739"/>
            <a:ext cx="53631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VERB — ALREADY A VERB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30851" y="3852714"/>
            <a:ext cx="5363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· 游泳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action-words on their own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1750" y="4265414"/>
            <a:ext cx="11555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More sports — and the 踢 category — coming next lesson.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825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I DO · CFU CHECKPOINTS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278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58889" y="979438"/>
            <a:ext cx="475506" cy="183952"/>
          </a:xfrm>
          <a:prstGeom prst="roundRect">
            <a:avLst>
              <a:gd name="adj" fmla="val 82848"/>
            </a:avLst>
          </a:prstGeom>
          <a:solidFill>
            <a:srgbClr val="E4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5840" y="1004739"/>
            <a:ext cx="226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1750" y="1298377"/>
            <a:ext cx="11328499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451" y="14126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7678" y="1449139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90302" y="1412677"/>
            <a:ext cx="3904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verb for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</a:t>
            </a:r>
            <a:r>
              <a:rPr lang="en-US" sz="9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when you know 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0302" y="1679377"/>
            <a:ext cx="39044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50" y="2069902"/>
            <a:ext cx="11328499" cy="638175"/>
          </a:xfrm>
          <a:prstGeom prst="roundRect">
            <a:avLst>
              <a:gd name="adj" fmla="val 159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451" y="218420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6069" y="2220664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0302" y="2184202"/>
            <a:ext cx="46279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"swim" in Chinese? </a:t>
            </a:r>
            <a:r>
              <a:rPr lang="en-US" sz="9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0302" y="2431852"/>
            <a:ext cx="46279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750" y="2822377"/>
            <a:ext cx="11328499" cy="638175"/>
          </a:xfrm>
          <a:prstGeom prst="roundRect">
            <a:avLst>
              <a:gd name="adj" fmla="val 159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9451" y="29366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5771" y="2973139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0302" y="2936677"/>
            <a:ext cx="30207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我打跑步。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wrong?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0302" y="3184327"/>
            <a:ext cx="30207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68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I DO · CFU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11328499" cy="844451"/>
          </a:xfrm>
          <a:prstGeom prst="roundRect">
            <a:avLst>
              <a:gd name="adj" fmla="val 12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451" y="10857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7678" y="1122164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0302" y="1085701"/>
            <a:ext cx="32094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the verb for 网球?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90302" y="1314301"/>
            <a:ext cx="3209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 needs 打 in front — 打网球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302" y="1549152"/>
            <a:ext cx="3209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wǎngqiú — "hit tennis". 打 is used for racket/ball sports.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1750" y="1930152"/>
            <a:ext cx="11328499" cy="844451"/>
          </a:xfrm>
          <a:prstGeom prst="roundRect">
            <a:avLst>
              <a:gd name="adj" fmla="val 12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451" y="20444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6069" y="2080915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90302" y="2044452"/>
            <a:ext cx="19833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say "swim" in Chinese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0302" y="2273052"/>
            <a:ext cx="19833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0302" y="2507903"/>
            <a:ext cx="19833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1750" y="2888903"/>
            <a:ext cx="11328499" cy="844451"/>
          </a:xfrm>
          <a:prstGeom prst="roundRect">
            <a:avLst>
              <a:gd name="adj" fmla="val 1203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451" y="30032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5771" y="3039666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302" y="3003203"/>
            <a:ext cx="4177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我打跑步。 What's wrong?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0302" y="3231803"/>
            <a:ext cx="4177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never takes a verb in front — should be 我跑步。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0302" y="3466654"/>
            <a:ext cx="4177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and 游泳 are already complete action-words — no 打 needed.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800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ACTIVITY 1 · WE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92013"/>
            <a:ext cx="935385" cy="219075"/>
          </a:xfrm>
          <a:prstGeom prst="roundRect">
            <a:avLst>
              <a:gd name="adj" fmla="val 695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30113"/>
            <a:ext cx="6431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94086" y="330101"/>
            <a:ext cx="3276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Tracing &amp; Matching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1750" y="749201"/>
            <a:ext cx="700980" cy="257175"/>
          </a:xfrm>
          <a:prstGeom prst="roundRect">
            <a:avLst>
              <a:gd name="adj" fmla="val 59259"/>
            </a:avLst>
          </a:prstGeom>
          <a:solidFill>
            <a:srgbClr val="F5E9D2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796826"/>
            <a:ext cx="4365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232" y="773013"/>
            <a:ext cx="622548" cy="209550"/>
          </a:xfrm>
          <a:prstGeom prst="roundRect">
            <a:avLst>
              <a:gd name="adj" fmla="val 72727"/>
            </a:avLst>
          </a:prstGeom>
          <a:solidFill>
            <a:srgbClr val="E4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61182" y="811113"/>
            <a:ext cx="3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1750" y="1107877"/>
            <a:ext cx="5575399" cy="1763464"/>
          </a:xfrm>
          <a:prstGeom prst="roundRect">
            <a:avLst>
              <a:gd name="adj" fmla="val 57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451" y="1222177"/>
            <a:ext cx="5324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451" y="1447502"/>
            <a:ext cx="5219998" cy="58995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each of today's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new words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three times on the printed worksheet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the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matching column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connect 汉字 ↔ pinyin ↔ English for all 7 words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cover the English column and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self-quiz from memory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84850" y="1107877"/>
            <a:ext cx="5575399" cy="1763464"/>
          </a:xfrm>
          <a:prstGeom prst="roundRect">
            <a:avLst>
              <a:gd name="adj" fmla="val 576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62551" y="1222177"/>
            <a:ext cx="5324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 BANK · 词库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62551" y="1447502"/>
            <a:ext cx="5219998" cy="13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sports; exercise</a:t>
            </a:r>
            <a:endParaRPr lang="en-US" sz="950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run; jog</a:t>
            </a:r>
            <a:endParaRPr lang="en-US" sz="950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950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together</a:t>
            </a:r>
            <a:endParaRPr lang="en-US" sz="950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together with</a:t>
            </a:r>
            <a:endParaRPr lang="en-US" sz="950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tennis</a:t>
            </a:r>
            <a:endParaRPr lang="en-US" sz="950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 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tennis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1750" y="2972842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8701" y="3049042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8701" y="3207693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printed above each character on the tracing lines; matching column includes a partially-filled example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41750" y="2972842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68701" y="3049042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68701" y="3207693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matching, students cover the English column and self-quiz by writing meanings from memory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51750" y="2972842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78701" y="3049042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78701" y="3207693"/>
            <a:ext cx="352369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every word — 100% response rate by design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1746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ACTIVITY 2 · WE DO → YOU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92013"/>
            <a:ext cx="953839" cy="219075"/>
          </a:xfrm>
          <a:prstGeom prst="roundRect">
            <a:avLst>
              <a:gd name="adj" fmla="val 695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30113"/>
            <a:ext cx="662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12540" y="330101"/>
            <a:ext cx="22360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Verb-Rule Sorting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1750" y="749201"/>
            <a:ext cx="700980" cy="257175"/>
          </a:xfrm>
          <a:prstGeom prst="roundRect">
            <a:avLst>
              <a:gd name="adj" fmla="val 59259"/>
            </a:avLst>
          </a:prstGeom>
          <a:solidFill>
            <a:srgbClr val="F5E9D2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796826"/>
            <a:ext cx="4365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232" y="773013"/>
            <a:ext cx="622548" cy="209550"/>
          </a:xfrm>
          <a:prstGeom prst="roundRect">
            <a:avLst>
              <a:gd name="adj" fmla="val 72727"/>
            </a:avLst>
          </a:prstGeom>
          <a:solidFill>
            <a:srgbClr val="E4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61182" y="811113"/>
            <a:ext cx="376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58280" y="773013"/>
            <a:ext cx="829866" cy="209550"/>
          </a:xfrm>
          <a:prstGeom prst="roundRect">
            <a:avLst>
              <a:gd name="adj" fmla="val 72727"/>
            </a:avLst>
          </a:prstGeom>
          <a:solidFill>
            <a:srgbClr val="FAEA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85231" y="811113"/>
            <a:ext cx="587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YOU DO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1750" y="1107877"/>
            <a:ext cx="5575399" cy="1799927"/>
          </a:xfrm>
          <a:prstGeom prst="roundRect">
            <a:avLst>
              <a:gd name="adj" fmla="val 564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1222177"/>
            <a:ext cx="5324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451" y="1447502"/>
            <a:ext cx="5219998" cy="80352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 sport —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跑步, 游泳,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"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 + word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 or "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verb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 on their whiteboard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on the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count of three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teacher scans the room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write the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sentence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我喜欢, not just the verb 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84850" y="1107877"/>
            <a:ext cx="5575399" cy="1799927"/>
          </a:xfrm>
          <a:prstGeom prst="roundRect">
            <a:avLst>
              <a:gd name="adj" fmla="val 564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62551" y="1222177"/>
            <a:ext cx="5324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REFERENCE CHART · STAYS PROJECTED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62551" y="1460302"/>
            <a:ext cx="5219998" cy="615851"/>
          </a:xfrm>
          <a:prstGeom prst="roundRect">
            <a:avLst>
              <a:gd name="adj" fmla="val 12373"/>
            </a:avLst>
          </a:prstGeom>
          <a:solidFill>
            <a:srgbClr val="F5E9D2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34001" y="1568202"/>
            <a:ext cx="4974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 + WORD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34001" y="1739652"/>
            <a:ext cx="497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2551" y="2177653"/>
            <a:ext cx="5219998" cy="615851"/>
          </a:xfrm>
          <a:prstGeom prst="roundRect">
            <a:avLst>
              <a:gd name="adj" fmla="val 12373"/>
            </a:avLst>
          </a:prstGeom>
          <a:solidFill>
            <a:srgbClr val="E4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34001" y="2285554"/>
            <a:ext cx="4974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VERB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34001" y="2457004"/>
            <a:ext cx="497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 · 游泳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1750" y="3009305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8701" y="3085505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8701" y="3244155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Two-column reference chart (打 / no-verb) stays projected throughout the activity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41750" y="3009305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68701" y="3085505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68701" y="3244155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confident, students write the full sentence with 我喜欢, not just the verb choice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51750" y="3009305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78701" y="3085505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178701" y="3244155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simultaneous whiteboard hold-up — teacher scans for the most common error and re-teaches on the spot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858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ACTIVITY 3 · YOU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92013"/>
            <a:ext cx="954286" cy="219075"/>
          </a:xfrm>
          <a:prstGeom prst="roundRect">
            <a:avLst>
              <a:gd name="adj" fmla="val 695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30113"/>
            <a:ext cx="6624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12987" y="330101"/>
            <a:ext cx="2288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Sentence-Building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1750" y="749201"/>
            <a:ext cx="695027" cy="257175"/>
          </a:xfrm>
          <a:prstGeom prst="roundRect">
            <a:avLst>
              <a:gd name="adj" fmla="val 59259"/>
            </a:avLst>
          </a:prstGeom>
          <a:solidFill>
            <a:srgbClr val="F5E9D2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796826"/>
            <a:ext cx="4305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28279" y="773013"/>
            <a:ext cx="689372" cy="209550"/>
          </a:xfrm>
          <a:prstGeom prst="roundRect">
            <a:avLst>
              <a:gd name="adj" fmla="val 72727"/>
            </a:avLst>
          </a:prstGeom>
          <a:solidFill>
            <a:srgbClr val="FAEA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229" y="811113"/>
            <a:ext cx="4441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1750" y="1107877"/>
            <a:ext cx="5753100" cy="1748433"/>
          </a:xfrm>
          <a:prstGeom prst="roundRect">
            <a:avLst>
              <a:gd name="adj" fmla="val 58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451" y="1222177"/>
            <a:ext cx="5505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451" y="1447502"/>
            <a:ext cx="5397698" cy="9663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Using the frames on the right, write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original sentences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in at least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跟……一起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add a second clause with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(from last unit) — e.g. 我喜欢一边跑步一边听音乐</a:t>
            </a:r>
            <a:endParaRPr lang="en-US" sz="950" dirty="0"/>
          </a:p>
          <a:p>
            <a:pPr algn="l" marL="88900" indent="-88900">
              <a:lnSpc>
                <a:spcPts val="1283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call: be ready to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one sentence aloud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62551" y="1107877"/>
            <a:ext cx="5397698" cy="4125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81601" y="1107877"/>
            <a:ext cx="0" cy="412552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051" y="1209377"/>
            <a:ext cx="51558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551" y="1621929"/>
            <a:ext cx="5397698" cy="41255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81601" y="1621929"/>
            <a:ext cx="0" cy="412552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3051" y="1723430"/>
            <a:ext cx="51558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我喜欢跟朋友一起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2551" y="2135981"/>
            <a:ext cx="5397698" cy="720328"/>
          </a:xfrm>
          <a:prstGeom prst="roundRect">
            <a:avLst>
              <a:gd name="adj" fmla="val 1410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14951" y="2237482"/>
            <a:ext cx="51947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 BANK · 词库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14951" y="2443758"/>
            <a:ext cx="545009" cy="311051"/>
          </a:xfrm>
          <a:prstGeom prst="roundRect">
            <a:avLst>
              <a:gd name="adj" fmla="val 2449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1427" y="2504033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6160" y="2443758"/>
            <a:ext cx="545009" cy="311051"/>
          </a:xfrm>
          <a:prstGeom prst="roundRect">
            <a:avLst>
              <a:gd name="adj" fmla="val 2449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72635" y="2504033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57368" y="2443758"/>
            <a:ext cx="681038" cy="311051"/>
          </a:xfrm>
          <a:prstGeom prst="roundRect">
            <a:avLst>
              <a:gd name="adj" fmla="val 2449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93844" y="2504033"/>
            <a:ext cx="416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1750" y="2957810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701" y="3034010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8701" y="3192661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printed with a word bank (跑步, 游泳, 打网球) alongside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41750" y="2957810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68701" y="3034010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368701" y="3192661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second clause using 一边……一边…… — valid practice even if not literally sensible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51750" y="2957810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78701" y="3034010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178701" y="3192661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4–5 students to read one sentence aloud before moving to the game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0119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GAME · BINGO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44388"/>
            <a:ext cx="644277" cy="228600"/>
          </a:xfrm>
          <a:prstGeom prst="roundRect">
            <a:avLst>
              <a:gd name="adj" fmla="val 66667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382488"/>
            <a:ext cx="3462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77528" y="330101"/>
            <a:ext cx="700236" cy="257175"/>
          </a:xfrm>
          <a:prstGeom prst="roundRect">
            <a:avLst>
              <a:gd name="adj" fmla="val 592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14004" y="377726"/>
            <a:ext cx="4358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79265" y="344388"/>
            <a:ext cx="654397" cy="228600"/>
          </a:xfrm>
          <a:prstGeom prst="roundRect">
            <a:avLst>
              <a:gd name="adj" fmla="val 66667"/>
            </a:avLst>
          </a:prstGeom>
          <a:solidFill>
            <a:srgbClr val="FAEA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06216" y="382488"/>
            <a:ext cx="4085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1750" y="638026"/>
            <a:ext cx="11555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Bingo · 宾狗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31750" y="1031677"/>
            <a:ext cx="115550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English meanings or pinyin → cross off the matching 汉字 — first full line wins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1750" y="1323677"/>
            <a:ext cx="2286000" cy="1544092"/>
          </a:xfrm>
          <a:prstGeom prst="roundRect">
            <a:avLst>
              <a:gd name="adj" fmla="val 6580"/>
            </a:avLst>
          </a:prstGeom>
          <a:noFill/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800" y="1342727"/>
            <a:ext cx="2247900" cy="349151"/>
          </a:xfrm>
          <a:prstGeom prst="rect">
            <a:avLst/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3308" y="1393478"/>
            <a:ext cx="7641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2508" y="1393478"/>
            <a:ext cx="7643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41857" y="1393478"/>
            <a:ext cx="7643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800" y="1691878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886" y="1777603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00001" y="1691878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1087" y="1777603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49202" y="1691878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90287" y="1777603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800" y="2000399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886" y="2086124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00001" y="2000399"/>
            <a:ext cx="749201" cy="308521"/>
          </a:xfrm>
          <a:prstGeom prst="rect">
            <a:avLst/>
          </a:prstGeom>
          <a:solidFill>
            <a:srgbClr val="D4756B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41087" y="2086124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G·O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49202" y="2000399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90287" y="2086124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0800" y="2308920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886" y="2394645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00001" y="2308920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41087" y="2394645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49202" y="2308920"/>
            <a:ext cx="749201" cy="308521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990287" y="2394645"/>
            <a:ext cx="66703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0901" y="1323677"/>
            <a:ext cx="8839349" cy="940891"/>
          </a:xfrm>
          <a:prstGeom prst="roundRect">
            <a:avLst>
              <a:gd name="adj" fmla="val 1079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073301" y="1425178"/>
            <a:ext cx="8705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TO PLAY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73301" y="1640979"/>
            <a:ext cx="870524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 Each student fills a </a:t>
            </a: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 grid</a:t>
            </a: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today's </a:t>
            </a: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words</a:t>
            </a: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their choice of squares, some repeat.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073301" y="1831925"/>
            <a:ext cx="870524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 Teacher calls out </a:t>
            </a: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meanings or pinyin</a:t>
            </a: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one at a time. Find &amp; cross off the matching 汉字 square.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073301" y="2022872"/>
            <a:ext cx="870524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 </a:t>
            </a: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in a row</a:t>
            </a: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(horizontal, vertical, or diagonal) — call out </a:t>
            </a:r>
            <a:r>
              <a:rPr lang="en-US" sz="8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宾狗 (Bingo)</a:t>
            </a:r>
            <a:r>
              <a:rPr lang="en-US" sz="8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920901" y="2340769"/>
            <a:ext cx="8839349" cy="527000"/>
          </a:xfrm>
          <a:prstGeom prst="roundRect">
            <a:avLst>
              <a:gd name="adj" fmla="val 14459"/>
            </a:avLst>
          </a:prstGeom>
          <a:solidFill>
            <a:srgbClr val="FAEA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66901" y="2436019"/>
            <a:ext cx="87182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 Teacher calls English/pinyin → students cross off 汉字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66901" y="2639169"/>
            <a:ext cx="8718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"swim" / yóuyǒng → students cross off 游泳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1750" y="3070771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58701" y="3146971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8701" y="3305621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7-word list stays visible on the board so students can double-check before crossing off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41750" y="3070771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68701" y="3146971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368701" y="3305621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take turns as the caller, choosing English or pinyin prompts for the class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51750" y="3070771"/>
            <a:ext cx="3708499" cy="591443"/>
          </a:xfrm>
          <a:prstGeom prst="roundRect">
            <a:avLst>
              <a:gd name="adj" fmla="val 1288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178701" y="3146971"/>
            <a:ext cx="35236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178701" y="3305621"/>
            <a:ext cx="352369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Blank grids (photocopied) + markers/pens — students fill in any 7 of today's words themselves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5658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30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301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971401"/>
            <a:ext cx="5575399" cy="1931491"/>
          </a:xfrm>
          <a:prstGeom prst="roundRect">
            <a:avLst>
              <a:gd name="adj" fmla="val 526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451" y="1098352"/>
            <a:ext cx="5324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REVISIT SUCCESS CRITERIA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9451" y="1361777"/>
            <a:ext cx="532439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   Say 运动, 跑步, 游泳, 网球, 打网球 in Chinese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451" y="1615678"/>
            <a:ext cx="532439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   Use 跟……一起 to say who I do it with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451" y="1869579"/>
            <a:ext cx="532439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   Choose 打 for racket sports, no verb for 跑步/游泳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84850" y="971401"/>
            <a:ext cx="5575399" cy="1931491"/>
          </a:xfrm>
          <a:prstGeom prst="roundRect">
            <a:avLst>
              <a:gd name="adj" fmla="val 526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62551" y="1098352"/>
            <a:ext cx="5324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EXIT TICKET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62551" y="1361777"/>
            <a:ext cx="5219998" cy="815727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81601" y="1361777"/>
            <a:ext cx="0" cy="815727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3051" y="1463278"/>
            <a:ext cx="4974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53051" y="1656904"/>
            <a:ext cx="4974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sentence saying you like a sport with a friend, using 跟……一起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2551" y="2279005"/>
            <a:ext cx="5324398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word or sentence.
</a:t>
            </a: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3 criteria above.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51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CORE SPORTS VOCAB · PREVIEW · NEXT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5320" y="558701"/>
            <a:ext cx="10881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5320" y="860227"/>
            <a:ext cx="10881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5320" y="1444377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more sports words + practising 跟……一起 properly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02150" y="1926878"/>
            <a:ext cx="1905000" cy="1476077"/>
          </a:xfrm>
          <a:prstGeom prst="roundRect">
            <a:avLst>
              <a:gd name="adj" fmla="val 688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6272" y="2104579"/>
            <a:ext cx="147675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⚽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16272" y="2647504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 (2)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6272" y="2901404"/>
            <a:ext cx="14767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Basketball, football, skiing &amp; more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4850" y="1926878"/>
            <a:ext cx="1905000" cy="1476077"/>
          </a:xfrm>
          <a:prstGeom prst="roundRect">
            <a:avLst>
              <a:gd name="adj" fmla="val 688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98972" y="2104579"/>
            <a:ext cx="147675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98972" y="2647504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8972" y="2901404"/>
            <a:ext cx="14767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Practising Properly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0914" y="3631555"/>
            <a:ext cx="2810173" cy="980926"/>
          </a:xfrm>
          <a:prstGeom prst="roundRect">
            <a:avLst>
              <a:gd name="adj" fmla="val 1035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3708" y="3758505"/>
            <a:ext cx="2244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73708" y="3952131"/>
            <a:ext cx="224458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跟朋友一起 + ___？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73708" y="4304556"/>
            <a:ext cx="22445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together with a friend + [new sport]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2026-07-21T08:50:18Z</dcterms:created>
  <dcterms:modified xsi:type="dcterms:W3CDTF">2026-07-21T08:50:18Z</dcterms:modified>
</cp:coreProperties>
</file>