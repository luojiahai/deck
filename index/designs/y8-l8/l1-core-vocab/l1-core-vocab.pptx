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21920" y="1905000"/>
            <a:ext cx="124358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1 OF 8 · Y8 UNIT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-121920" y="2241500"/>
            <a:ext cx="1243584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4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爱好</a:t>
            </a:r>
            <a:pPr algn="ctr" indent="0" marL="0">
              <a:spcBef>
                <a:spcPts val="1000"/>
              </a:spcBef>
              <a:buNone/>
            </a:pPr>
            <a:r>
              <a:rPr lang="en-US" sz="4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·</a:t>
            </a:r>
            <a:pPr algn="ctr" indent="0" marL="0">
              <a:spcBef>
                <a:spcPts val="1000"/>
              </a:spcBef>
              <a:buNone/>
            </a:pPr>
            <a:r>
              <a:rPr lang="en-US" sz="4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运动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-121920" y="3162151"/>
            <a:ext cx="124358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5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Core Sports Vocabulary + Verb Rules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-121920" y="3657451"/>
            <a:ext cx="124358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800"/>
              </a:spcBef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  ·  50 mins  ·  Speaking + Writing  ·  轻松学中文 Book 2 · Unit 3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2870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 · REVIEW · 0–8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301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30126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Lesson 7 Vocabulary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971401"/>
            <a:ext cx="5753100" cy="1659136"/>
          </a:xfrm>
          <a:prstGeom prst="roundRect">
            <a:avLst>
              <a:gd name="adj" fmla="val 61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451" y="1098352"/>
            <a:ext cx="55056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FLASHCARD RAPID FIRE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09451" y="1336477"/>
            <a:ext cx="5397698" cy="809923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47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a 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7 word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 the projector → class chorally says pinyin + English</a:t>
            </a:r>
            <a:endParaRPr lang="en-US" sz="1050" dirty="0"/>
          </a:p>
          <a:p>
            <a:pPr algn="l" marL="88900" indent="-88900">
              <a:lnSpc>
                <a:spcPts val="147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Reverse: teacher says an 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 hobby</a:t>
            </a:r>
            <a:pPr algn="l" indent="0" marL="0">
              <a:lnSpc>
                <a:spcPts val="147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students write the Chinese on mini whiteboards and hold up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362551" y="971401"/>
            <a:ext cx="55056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WORDS (LESSON 7)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362551" y="1209526"/>
            <a:ext cx="5397698" cy="1421011"/>
          </a:xfrm>
          <a:prstGeom prst="roundRect">
            <a:avLst>
              <a:gd name="adj" fmla="val 715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62551" y="1209526"/>
            <a:ext cx="5397698" cy="1421011"/>
          </a:xfrm>
          <a:prstGeom prst="rect">
            <a:avLst/>
          </a:prstGeom>
          <a:noFill/>
          <a:ln/>
        </p:spPr>
        <p:txBody>
          <a:bodyPr wrap="square" lIns="152400" tIns="101600" rIns="152400" bIns="10160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弹钢琴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the piano</a:t>
            </a:r>
            <a:endParaRPr lang="en-US" sz="10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唱歌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sing a song</a:t>
            </a:r>
            <a:endParaRPr lang="en-US" sz="10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听音乐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to music</a:t>
            </a:r>
            <a:endParaRPr lang="en-US" sz="10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读书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/ study</a:t>
            </a:r>
            <a:endParaRPr lang="en-US" sz="10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all / both</a:t>
            </a:r>
            <a:endParaRPr lang="en-US" sz="10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the process of (doing)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1750" y="2757488"/>
            <a:ext cx="11328499" cy="584002"/>
          </a:xfrm>
          <a:prstGeom prst="rect">
            <a:avLst/>
          </a:prstGeom>
          <a:solidFill>
            <a:srgbClr val="F5E9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55563" y="2757488"/>
            <a:ext cx="0" cy="584002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7076" y="2871788"/>
            <a:ext cx="11143982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"Last unit we talked about </a:t>
            </a:r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music hobbies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with 一边……一边…… — today we start a new hobby topic: </a:t>
            </a:r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运动 (sports)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and you'll meet a new way to say who you do something </a:t>
            </a:r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with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."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493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 · LEARNING INTENTION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301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30126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971401"/>
            <a:ext cx="11328499" cy="733425"/>
          </a:xfrm>
          <a:prstGeom prst="rect">
            <a:avLst/>
          </a:prstGeom>
          <a:solidFill>
            <a:srgbClr val="F5E9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5563" y="971401"/>
            <a:ext cx="0" cy="733425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2526" y="1123801"/>
            <a:ext cx="110920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2526" y="1323826"/>
            <a:ext cx="110920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 sports in Chinese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choose the correct verb (打 / 踢 / no verb) for each one.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1750" y="1895177"/>
            <a:ext cx="203150" cy="203150"/>
          </a:xfrm>
          <a:prstGeom prst="roundRect">
            <a:avLst>
              <a:gd name="adj" fmla="val 45011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10183" y="1925241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36402" y="1882527"/>
            <a:ext cx="5227091" cy="204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</a:t>
            </a:r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运动, 跑步, 游泳, 网球, 打网球</a:t>
            </a:r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 </a:t>
            </a:r>
            <a:pPr algn="l" indent="0" marL="0">
              <a:lnSpc>
                <a:spcPts val="1610"/>
              </a:lnSpc>
              <a:buNone/>
            </a:pPr>
            <a:r>
              <a:rPr lang="en-US" sz="115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(拼音说出核心运动词汇)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31750" y="2225278"/>
            <a:ext cx="203150" cy="203150"/>
          </a:xfrm>
          <a:prstGeom prst="roundRect">
            <a:avLst>
              <a:gd name="adj" fmla="val 45011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00955" y="2255341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36402" y="2212628"/>
            <a:ext cx="5323335" cy="204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use </a:t>
            </a:r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跟……一起</a:t>
            </a:r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say </a:t>
            </a:r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 I do something with</a:t>
            </a:r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</a:t>
            </a:r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跟朋友一起打网球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31750" y="2555379"/>
            <a:ext cx="203150" cy="203150"/>
          </a:xfrm>
          <a:prstGeom prst="roundRect">
            <a:avLst>
              <a:gd name="adj" fmla="val 45011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00807" y="2585442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36402" y="2542729"/>
            <a:ext cx="5581403" cy="204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pick the right </a:t>
            </a:r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verb pattern</a:t>
            </a:r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</a:t>
            </a:r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for racket sports, no verb for </a:t>
            </a:r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跑步 / 游泳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67103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 · I DO · NEW VOCABULARY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301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30126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词汇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971401"/>
            <a:ext cx="11328499" cy="1992809"/>
          </a:xfrm>
          <a:prstGeom prst="roundRect">
            <a:avLst>
              <a:gd name="adj" fmla="val 3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31750" y="971401"/>
            <a:ext cx="11328499" cy="1992809"/>
          </a:xfrm>
          <a:prstGeom prst="rect">
            <a:avLst/>
          </a:prstGeom>
          <a:noFill/>
          <a:ln/>
        </p:spPr>
        <p:txBody>
          <a:bodyPr wrap="square" lIns="177800" tIns="101600" rIns="177800" bIns="101600" rtlCol="0" anchor="t"/>
          <a:lstStyle/>
          <a:p>
            <a:pPr algn="l" indent="0" marL="0">
              <a:lnSpc>
                <a:spcPts val="1705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运动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yùndòng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sports; exercise</a:t>
            </a:r>
            <a:endParaRPr lang="en-US" sz="1100" dirty="0"/>
          </a:p>
          <a:p>
            <a:pPr algn="l" indent="0" marL="0">
              <a:lnSpc>
                <a:spcPts val="1705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跑步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pǎobù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run; jog</a:t>
            </a:r>
            <a:endParaRPr lang="en-US" sz="1100" dirty="0"/>
          </a:p>
          <a:p>
            <a:pPr algn="l" indent="0" marL="0">
              <a:lnSpc>
                <a:spcPts val="1705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游泳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yóuyǒng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swim</a:t>
            </a:r>
            <a:endParaRPr lang="en-US" sz="1100" dirty="0"/>
          </a:p>
          <a:p>
            <a:pPr algn="l" indent="0" marL="0">
              <a:lnSpc>
                <a:spcPts val="1705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一起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yìqǐ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together</a:t>
            </a:r>
            <a:endParaRPr lang="en-US" sz="1100" dirty="0"/>
          </a:p>
          <a:p>
            <a:pPr algn="l" indent="0" marL="0">
              <a:lnSpc>
                <a:spcPts val="1705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跟……一起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gēn…yìqǐ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together with</a:t>
            </a:r>
            <a:endParaRPr lang="en-US" sz="1100" dirty="0"/>
          </a:p>
          <a:p>
            <a:pPr algn="l" indent="0" marL="0">
              <a:lnSpc>
                <a:spcPts val="1705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网球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wǎngqiú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tennis</a:t>
            </a:r>
            <a:endParaRPr lang="en-US" sz="1100" dirty="0"/>
          </a:p>
          <a:p>
            <a:pPr algn="l" indent="0" marL="0">
              <a:lnSpc>
                <a:spcPts val="1705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打网球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wǎngqiú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play tennis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750" y="3091160"/>
            <a:ext cx="11328499" cy="633561"/>
          </a:xfrm>
          <a:prstGeom prst="roundRect">
            <a:avLst>
              <a:gd name="adj" fmla="val 12027"/>
            </a:avLst>
          </a:prstGeom>
          <a:solidFill>
            <a:srgbClr val="E4EEF0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28501" y="3224510"/>
            <a:ext cx="11153698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🏃 </a:t>
            </a:r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跑步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跑 (run) + 步 (step) → literally "run-step" = jog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501" y="3440311"/>
            <a:ext cx="11153698" cy="151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0"/>
              </a:lnSpc>
              <a:spcBef>
                <a:spcPts val="3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游泳 pairs two near-synonym characters (游 + 泳, both "swim") — Chinese often doubles up like this.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4820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 · I DO · KEY PATTERN + VERB RULES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301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30126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关键句型 + 动词规则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971401"/>
            <a:ext cx="1155506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say what sport you like — and which verb to use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31750" y="1263402"/>
            <a:ext cx="886271" cy="412552"/>
          </a:xfrm>
          <a:prstGeom prst="roundRect">
            <a:avLst>
              <a:gd name="adj" fmla="val 18470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3200" y="1345853"/>
            <a:ext cx="55423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我喜欢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9523" y="1364903"/>
            <a:ext cx="10034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19399" y="1263402"/>
            <a:ext cx="705148" cy="412552"/>
          </a:xfrm>
          <a:prstGeom prst="roundRect">
            <a:avLst>
              <a:gd name="adj" fmla="val 18470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790849" y="1345853"/>
            <a:ext cx="36949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运动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26047" y="1364903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79948" y="1374428"/>
            <a:ext cx="109557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like to [sport]"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31750" y="1777454"/>
            <a:ext cx="11328499" cy="326827"/>
          </a:xfrm>
          <a:prstGeom prst="roundRect">
            <a:avLst>
              <a:gd name="adj" fmla="val 233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84150" y="1840855"/>
            <a:ext cx="87196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我喜欢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跑步。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313491" y="1859905"/>
            <a:ext cx="13202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like running / jogging.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31750" y="2155031"/>
            <a:ext cx="11328499" cy="326827"/>
          </a:xfrm>
          <a:prstGeom prst="roundRect">
            <a:avLst>
              <a:gd name="adj" fmla="val 233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84150" y="2218432"/>
            <a:ext cx="87196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我喜欢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游泳。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724852" y="2237482"/>
            <a:ext cx="9006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like swimming.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31750" y="2532608"/>
            <a:ext cx="11328499" cy="326827"/>
          </a:xfrm>
          <a:prstGeom prst="roundRect">
            <a:avLst>
              <a:gd name="adj" fmla="val 233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84150" y="2596009"/>
            <a:ext cx="17436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我喜欢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跟朋友一起打网球。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66622" y="2615059"/>
            <a:ext cx="24900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like playing tennis together with my friend.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31750" y="2910185"/>
            <a:ext cx="11328499" cy="326827"/>
          </a:xfrm>
          <a:prstGeom prst="roundRect">
            <a:avLst>
              <a:gd name="adj" fmla="val 23315"/>
            </a:avLst>
          </a:prstGeom>
          <a:solidFill>
            <a:srgbClr val="FAEA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84150" y="2973586"/>
            <a:ext cx="28241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我喜欢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跟我的猫一起打网球！ </a:t>
            </a:r>
            <a:pPr algn="l" indent="0" marL="0"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SILLY EXAMPLE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816405" y="2992636"/>
            <a:ext cx="18272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like playing tennis with my cat!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31750" y="3338513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VERB RULE · 动词规则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31750" y="3563838"/>
            <a:ext cx="5600700" cy="625376"/>
          </a:xfrm>
          <a:prstGeom prst="roundRect">
            <a:avLst>
              <a:gd name="adj" fmla="val 12185"/>
            </a:avLst>
          </a:prstGeom>
          <a:solidFill>
            <a:srgbClr val="F5E9D2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03200" y="3671739"/>
            <a:ext cx="53629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 + RACKET SPORT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03200" y="3852714"/>
            <a:ext cx="53629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打网球 </a:t>
            </a:r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wǎngqiú — "hit tennis"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159401" y="3563838"/>
            <a:ext cx="5600849" cy="625376"/>
          </a:xfrm>
          <a:prstGeom prst="roundRect">
            <a:avLst>
              <a:gd name="adj" fmla="val 12185"/>
            </a:avLst>
          </a:prstGeom>
          <a:solidFill>
            <a:srgbClr val="E4EEF0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330851" y="3671739"/>
            <a:ext cx="536310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VERB — ALREADY A VERB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330851" y="3852714"/>
            <a:ext cx="53631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跑步 · 游泳 </a:t>
            </a:r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complete action-words on their own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31750" y="4265414"/>
            <a:ext cx="115550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More sports — and the 踢 category — coming next lesson.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78251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 · I DO · CFU CHECKPOINTS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301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30126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971401"/>
            <a:ext cx="2780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Respond as prompted for each question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58889" y="979438"/>
            <a:ext cx="475506" cy="183952"/>
          </a:xfrm>
          <a:prstGeom prst="roundRect">
            <a:avLst>
              <a:gd name="adj" fmla="val 82848"/>
            </a:avLst>
          </a:prstGeom>
          <a:solidFill>
            <a:srgbClr val="E4EE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5840" y="1004739"/>
            <a:ext cx="2260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CFU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31750" y="1298377"/>
            <a:ext cx="11328499" cy="657225"/>
          </a:xfrm>
          <a:prstGeom prst="roundRect">
            <a:avLst>
              <a:gd name="adj" fmla="val 1545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09451" y="1412677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07678" y="1449139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90302" y="1412677"/>
            <a:ext cx="39044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the verb for </a:t>
            </a:r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网球</a:t>
            </a:r>
            <a:pPr algn="l"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 </a:t>
            </a:r>
            <a:pPr algn="l"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Thumbs up when you know it.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90302" y="1679377"/>
            <a:ext cx="390441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31750" y="2069902"/>
            <a:ext cx="11328499" cy="638175"/>
          </a:xfrm>
          <a:prstGeom prst="roundRect">
            <a:avLst>
              <a:gd name="adj" fmla="val 159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9451" y="218420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96069" y="2220664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90302" y="2184202"/>
            <a:ext cx="46279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say "swim" in Chinese? </a:t>
            </a:r>
            <a:pPr algn="l"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it on your whiteboard.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90302" y="2431852"/>
            <a:ext cx="46279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31750" y="2822377"/>
            <a:ext cx="11328499" cy="638175"/>
          </a:xfrm>
          <a:prstGeom prst="roundRect">
            <a:avLst>
              <a:gd name="adj" fmla="val 159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09451" y="2936677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95771" y="2973139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90302" y="2936677"/>
            <a:ext cx="30207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check: </a:t>
            </a:r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我打跑步。</a:t>
            </a:r>
            <a:pPr algn="l"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What's wrong?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90302" y="3184327"/>
            <a:ext cx="30207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4687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 · I DO · CFU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301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ANSWERS REVEALED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30126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Answers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971401"/>
            <a:ext cx="11328499" cy="844451"/>
          </a:xfrm>
          <a:prstGeom prst="roundRect">
            <a:avLst>
              <a:gd name="adj" fmla="val 1203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451" y="1085701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07678" y="1122164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90302" y="1085701"/>
            <a:ext cx="320945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the verb for 网球?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90302" y="1314301"/>
            <a:ext cx="320945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网球 needs 打 in front — 打网球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90302" y="1549152"/>
            <a:ext cx="320945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wǎngqiú — "hit tennis". 打 is used for racket/ball sports.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31750" y="1930152"/>
            <a:ext cx="11328499" cy="844451"/>
          </a:xfrm>
          <a:prstGeom prst="roundRect">
            <a:avLst>
              <a:gd name="adj" fmla="val 1203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09451" y="204445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96069" y="2080915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90302" y="2044452"/>
            <a:ext cx="19833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say "swim" in Chinese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90302" y="2273052"/>
            <a:ext cx="198332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游泳。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90302" y="2507903"/>
            <a:ext cx="19833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yóuyǒng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31750" y="2888903"/>
            <a:ext cx="11328499" cy="844451"/>
          </a:xfrm>
          <a:prstGeom prst="roundRect">
            <a:avLst>
              <a:gd name="adj" fmla="val 1203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09451" y="3003203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95771" y="3039666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90302" y="3003203"/>
            <a:ext cx="417721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check: 我打跑步。 What's wrong?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90302" y="3231803"/>
            <a:ext cx="41772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跑步 never takes a verb in front — should be 我跑步。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90302" y="3466654"/>
            <a:ext cx="41772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跑步 and 游泳 are already complete action-words — no 打 needed.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3800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 · ACTIVITY 1 · WE 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92013"/>
            <a:ext cx="935385" cy="219075"/>
          </a:xfrm>
          <a:prstGeom prst="roundRect">
            <a:avLst>
              <a:gd name="adj" fmla="val 69565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84150" y="430113"/>
            <a:ext cx="6431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494086" y="330101"/>
            <a:ext cx="32760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Vocab Tracing &amp; Matching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31750" y="749201"/>
            <a:ext cx="700980" cy="257175"/>
          </a:xfrm>
          <a:prstGeom prst="roundRect">
            <a:avLst>
              <a:gd name="adj" fmla="val 59259"/>
            </a:avLst>
          </a:prstGeom>
          <a:solidFill>
            <a:srgbClr val="F5E9D2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8226" y="796826"/>
            <a:ext cx="4365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234232" y="773013"/>
            <a:ext cx="622548" cy="209550"/>
          </a:xfrm>
          <a:prstGeom prst="roundRect">
            <a:avLst>
              <a:gd name="adj" fmla="val 72727"/>
            </a:avLst>
          </a:prstGeom>
          <a:solidFill>
            <a:srgbClr val="E4EE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61182" y="811113"/>
            <a:ext cx="3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1750" y="1107877"/>
            <a:ext cx="5575399" cy="1763464"/>
          </a:xfrm>
          <a:prstGeom prst="roundRect">
            <a:avLst>
              <a:gd name="adj" fmla="val 57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09451" y="1222177"/>
            <a:ext cx="53243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INSTRUCTIONS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09451" y="1447502"/>
            <a:ext cx="5219998" cy="589955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283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Trace each of today's 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 new words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three times on the printed worksheet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Complete the 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matching column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connect 汉字 ↔ pinyin ↔ English for all 7 words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 cover the English column and 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self-quiz from memory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184850" y="1107877"/>
            <a:ext cx="5575399" cy="1763464"/>
          </a:xfrm>
          <a:prstGeom prst="roundRect">
            <a:avLst>
              <a:gd name="adj" fmla="val 5761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362551" y="1222177"/>
            <a:ext cx="53243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WORD BANK · 词库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362551" y="1447502"/>
            <a:ext cx="5219998" cy="13095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运动 </a:t>
            </a:r>
            <a:pPr algn="l" indent="0" marL="0">
              <a:lnSpc>
                <a:spcPts val="1472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sports; exercise</a:t>
            </a:r>
            <a:endParaRPr lang="en-US" sz="950" dirty="0"/>
          </a:p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跑步 </a:t>
            </a:r>
            <a:pPr algn="l" indent="0" marL="0">
              <a:lnSpc>
                <a:spcPts val="1472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run; jog</a:t>
            </a:r>
            <a:endParaRPr lang="en-US" sz="950" dirty="0"/>
          </a:p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游泳 </a:t>
            </a:r>
            <a:pPr algn="l" indent="0" marL="0">
              <a:lnSpc>
                <a:spcPts val="1472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swim</a:t>
            </a:r>
            <a:endParaRPr lang="en-US" sz="950" dirty="0"/>
          </a:p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一起 </a:t>
            </a:r>
            <a:pPr algn="l" indent="0" marL="0">
              <a:lnSpc>
                <a:spcPts val="1472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together</a:t>
            </a:r>
            <a:endParaRPr lang="en-US" sz="950" dirty="0"/>
          </a:p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跟……一起 </a:t>
            </a:r>
            <a:pPr algn="l" indent="0" marL="0">
              <a:lnSpc>
                <a:spcPts val="1472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together with</a:t>
            </a:r>
            <a:endParaRPr lang="en-US" sz="950" dirty="0"/>
          </a:p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网球 </a:t>
            </a:r>
            <a:pPr algn="l" indent="0" marL="0">
              <a:lnSpc>
                <a:spcPts val="1472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tennis</a:t>
            </a:r>
            <a:endParaRPr lang="en-US" sz="950" dirty="0"/>
          </a:p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打网球 </a:t>
            </a:r>
            <a:pPr algn="l" indent="0" marL="0">
              <a:lnSpc>
                <a:spcPts val="1472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tennis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31750" y="2972842"/>
            <a:ext cx="3708499" cy="591443"/>
          </a:xfrm>
          <a:prstGeom prst="roundRect">
            <a:avLst>
              <a:gd name="adj" fmla="val 1288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58701" y="3049042"/>
            <a:ext cx="35236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558701" y="3207693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 printed above each character on the tracing lines; matching column includes a partially-filled example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241750" y="2972842"/>
            <a:ext cx="3708499" cy="591443"/>
          </a:xfrm>
          <a:prstGeom prst="roundRect">
            <a:avLst>
              <a:gd name="adj" fmla="val 1288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368701" y="3049042"/>
            <a:ext cx="35236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368701" y="3207693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matching, students cover the English column and self-quiz by writing meanings from memory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51750" y="2972842"/>
            <a:ext cx="3708499" cy="591443"/>
          </a:xfrm>
          <a:prstGeom prst="roundRect">
            <a:avLst>
              <a:gd name="adj" fmla="val 1288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178701" y="3049042"/>
            <a:ext cx="35236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178701" y="3207693"/>
            <a:ext cx="3523690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writes every word — 100% response rate by design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1746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 · ACTIVITY 2 · WE DO → YOU 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92013"/>
            <a:ext cx="953839" cy="219075"/>
          </a:xfrm>
          <a:prstGeom prst="roundRect">
            <a:avLst>
              <a:gd name="adj" fmla="val 69565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84150" y="430113"/>
            <a:ext cx="6620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512540" y="330101"/>
            <a:ext cx="223608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Verb-Rule Sorting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31750" y="749201"/>
            <a:ext cx="700980" cy="257175"/>
          </a:xfrm>
          <a:prstGeom prst="roundRect">
            <a:avLst>
              <a:gd name="adj" fmla="val 59259"/>
            </a:avLst>
          </a:prstGeom>
          <a:solidFill>
            <a:srgbClr val="F5E9D2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8226" y="796826"/>
            <a:ext cx="4365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234232" y="773013"/>
            <a:ext cx="622548" cy="209550"/>
          </a:xfrm>
          <a:prstGeom prst="roundRect">
            <a:avLst>
              <a:gd name="adj" fmla="val 72727"/>
            </a:avLst>
          </a:prstGeom>
          <a:solidFill>
            <a:srgbClr val="E4EE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61182" y="811113"/>
            <a:ext cx="3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958280" y="773013"/>
            <a:ext cx="829866" cy="209550"/>
          </a:xfrm>
          <a:prstGeom prst="roundRect">
            <a:avLst>
              <a:gd name="adj" fmla="val 72727"/>
            </a:avLst>
          </a:prstGeom>
          <a:solidFill>
            <a:srgbClr val="FAEA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085231" y="811113"/>
            <a:ext cx="5874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YOU DO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31750" y="1107877"/>
            <a:ext cx="5575399" cy="1799927"/>
          </a:xfrm>
          <a:prstGeom prst="roundRect">
            <a:avLst>
              <a:gd name="adj" fmla="val 564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09451" y="1222177"/>
            <a:ext cx="53243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INSTRUCTIONS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09451" y="1447502"/>
            <a:ext cx="5219998" cy="803523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283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out a sport — 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跑步, 游泳,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or 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网球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write "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 + word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 or "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verb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 on their whiteboard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 up on the 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count of three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teacher scans the room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 write the 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full sentence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with 我喜欢, not just the verb choice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184850" y="1107877"/>
            <a:ext cx="5575399" cy="1799927"/>
          </a:xfrm>
          <a:prstGeom prst="roundRect">
            <a:avLst>
              <a:gd name="adj" fmla="val 5645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362551" y="1222177"/>
            <a:ext cx="53243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REFERENCE CHART · STAYS PROJECTED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62551" y="1460302"/>
            <a:ext cx="5219998" cy="615851"/>
          </a:xfrm>
          <a:prstGeom prst="roundRect">
            <a:avLst>
              <a:gd name="adj" fmla="val 12373"/>
            </a:avLst>
          </a:prstGeom>
          <a:solidFill>
            <a:srgbClr val="F5E9D2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534001" y="1568202"/>
            <a:ext cx="4974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 + WORD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534001" y="1739652"/>
            <a:ext cx="497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打网球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62551" y="2177653"/>
            <a:ext cx="5219998" cy="615851"/>
          </a:xfrm>
          <a:prstGeom prst="roundRect">
            <a:avLst>
              <a:gd name="adj" fmla="val 12373"/>
            </a:avLst>
          </a:prstGeom>
          <a:solidFill>
            <a:srgbClr val="E4EEF0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534001" y="2285554"/>
            <a:ext cx="4974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VERB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534001" y="2457004"/>
            <a:ext cx="497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跑步 · 游泳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31750" y="3009305"/>
            <a:ext cx="3708499" cy="591443"/>
          </a:xfrm>
          <a:prstGeom prst="roundRect">
            <a:avLst>
              <a:gd name="adj" fmla="val 1288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58701" y="3085505"/>
            <a:ext cx="35236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558701" y="3244155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Two-column reference chart (打 / no-verb) stays projected throughout the activity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241750" y="3009305"/>
            <a:ext cx="3708499" cy="591443"/>
          </a:xfrm>
          <a:prstGeom prst="roundRect">
            <a:avLst>
              <a:gd name="adj" fmla="val 1288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368701" y="3085505"/>
            <a:ext cx="35236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368701" y="3244155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Once confident, students write the full sentence with 我喜欢, not just the verb choice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051750" y="3009305"/>
            <a:ext cx="3708499" cy="591443"/>
          </a:xfrm>
          <a:prstGeom prst="roundRect">
            <a:avLst>
              <a:gd name="adj" fmla="val 1288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178701" y="3085505"/>
            <a:ext cx="35236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8178701" y="3244155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Whole-class simultaneous whiteboard hold-up — teacher scans for the most common error and re-teaches on the spot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4858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 · ACTIVITY 3 · YOU 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92013"/>
            <a:ext cx="954286" cy="219075"/>
          </a:xfrm>
          <a:prstGeom prst="roundRect">
            <a:avLst>
              <a:gd name="adj" fmla="val 69565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84150" y="430113"/>
            <a:ext cx="6624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512987" y="330101"/>
            <a:ext cx="22884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Sentence-Building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31750" y="749201"/>
            <a:ext cx="695027" cy="257175"/>
          </a:xfrm>
          <a:prstGeom prst="roundRect">
            <a:avLst>
              <a:gd name="adj" fmla="val 59259"/>
            </a:avLst>
          </a:prstGeom>
          <a:solidFill>
            <a:srgbClr val="F5E9D2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8226" y="796826"/>
            <a:ext cx="4305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7 min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228279" y="773013"/>
            <a:ext cx="689372" cy="209550"/>
          </a:xfrm>
          <a:prstGeom prst="roundRect">
            <a:avLst>
              <a:gd name="adj" fmla="val 72727"/>
            </a:avLst>
          </a:prstGeom>
          <a:solidFill>
            <a:srgbClr val="FAEA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55229" y="811113"/>
            <a:ext cx="44418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1750" y="1107877"/>
            <a:ext cx="5753100" cy="1748433"/>
          </a:xfrm>
          <a:prstGeom prst="roundRect">
            <a:avLst>
              <a:gd name="adj" fmla="val 58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09451" y="1222177"/>
            <a:ext cx="55056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INSTRUCTIONS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09451" y="1447502"/>
            <a:ext cx="5397698" cy="966341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283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Using the frames on the right, write 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original sentences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Swap in at least 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跟……一起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sentence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 add a second clause with 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一边……一边……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(from last unit) — e.g. 我喜欢一边跑步一边听音乐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call: be ready to </a:t>
            </a:r>
            <a:pPr algn="l" indent="0" marL="0">
              <a:lnSpc>
                <a:spcPts val="1283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one sentence aloud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62551" y="1107877"/>
            <a:ext cx="5397698" cy="412552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381601" y="1107877"/>
            <a:ext cx="0" cy="412552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53051" y="1209377"/>
            <a:ext cx="51558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我喜欢</a:t>
            </a:r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62551" y="1621929"/>
            <a:ext cx="5397698" cy="412552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381601" y="1621929"/>
            <a:ext cx="0" cy="412552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53051" y="1723430"/>
            <a:ext cx="51558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我喜欢跟朋友一起</a:t>
            </a:r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62551" y="2135981"/>
            <a:ext cx="5397698" cy="720328"/>
          </a:xfrm>
          <a:prstGeom prst="roundRect">
            <a:avLst>
              <a:gd name="adj" fmla="val 14105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514951" y="2237482"/>
            <a:ext cx="51947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WORD BANK · 词库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514951" y="2443758"/>
            <a:ext cx="545009" cy="311051"/>
          </a:xfrm>
          <a:prstGeom prst="roundRect">
            <a:avLst>
              <a:gd name="adj" fmla="val 24498"/>
            </a:avLst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651427" y="2504033"/>
            <a:ext cx="27749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跑步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136160" y="2443758"/>
            <a:ext cx="545009" cy="311051"/>
          </a:xfrm>
          <a:prstGeom prst="roundRect">
            <a:avLst>
              <a:gd name="adj" fmla="val 24498"/>
            </a:avLst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272635" y="2504033"/>
            <a:ext cx="27749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游泳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57368" y="2443758"/>
            <a:ext cx="681038" cy="311051"/>
          </a:xfrm>
          <a:prstGeom prst="roundRect">
            <a:avLst>
              <a:gd name="adj" fmla="val 24498"/>
            </a:avLst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893844" y="2504033"/>
            <a:ext cx="41624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打网球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1750" y="2957810"/>
            <a:ext cx="3708499" cy="591443"/>
          </a:xfrm>
          <a:prstGeom prst="roundRect">
            <a:avLst>
              <a:gd name="adj" fmla="val 1288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58701" y="3034010"/>
            <a:ext cx="35236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58701" y="3192661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 printed with a word bank (跑步, 游泳, 打网球) alongside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241750" y="2957810"/>
            <a:ext cx="3708499" cy="591443"/>
          </a:xfrm>
          <a:prstGeom prst="roundRect">
            <a:avLst>
              <a:gd name="adj" fmla="val 1288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368701" y="3034010"/>
            <a:ext cx="35236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368701" y="3192661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a second clause using 一边……一边…… — valid practice even if not literally sensible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051750" y="2957810"/>
            <a:ext cx="3708499" cy="591443"/>
          </a:xfrm>
          <a:prstGeom prst="roundRect">
            <a:avLst>
              <a:gd name="adj" fmla="val 1288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8178701" y="3034010"/>
            <a:ext cx="35236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8178701" y="3192661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4–5 students to read one sentence aloud before moving to the game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0119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 · GAME · BINGO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44388"/>
            <a:ext cx="644277" cy="228600"/>
          </a:xfrm>
          <a:prstGeom prst="roundRect">
            <a:avLst>
              <a:gd name="adj" fmla="val 66667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84150" y="382488"/>
            <a:ext cx="3462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77528" y="330101"/>
            <a:ext cx="700236" cy="257175"/>
          </a:xfrm>
          <a:prstGeom prst="roundRect">
            <a:avLst>
              <a:gd name="adj" fmla="val 5925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314004" y="377726"/>
            <a:ext cx="4358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79265" y="344388"/>
            <a:ext cx="654397" cy="228600"/>
          </a:xfrm>
          <a:prstGeom prst="roundRect">
            <a:avLst>
              <a:gd name="adj" fmla="val 66667"/>
            </a:avLst>
          </a:prstGeom>
          <a:solidFill>
            <a:srgbClr val="FAEA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106216" y="382488"/>
            <a:ext cx="40850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31750" y="638026"/>
            <a:ext cx="1155506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Bingo · 宾狗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31750" y="1031677"/>
            <a:ext cx="1155506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English meanings or pinyin → cross off the matching 汉字 — first full line wins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31750" y="1323677"/>
            <a:ext cx="2286000" cy="1544092"/>
          </a:xfrm>
          <a:prstGeom prst="roundRect">
            <a:avLst>
              <a:gd name="adj" fmla="val 6580"/>
            </a:avLst>
          </a:prstGeom>
          <a:noFill/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0800" y="1342727"/>
            <a:ext cx="2247900" cy="349151"/>
          </a:xfrm>
          <a:prstGeom prst="rect">
            <a:avLst/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43308" y="1393478"/>
            <a:ext cx="7641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92508" y="1393478"/>
            <a:ext cx="76433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941857" y="1393478"/>
            <a:ext cx="76433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0800" y="1691878"/>
            <a:ext cx="749201" cy="308521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91886" y="1777603"/>
            <a:ext cx="66703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200001" y="1691878"/>
            <a:ext cx="749201" cy="308521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41087" y="1777603"/>
            <a:ext cx="66703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跑步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949202" y="1691878"/>
            <a:ext cx="749201" cy="308521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990287" y="1777603"/>
            <a:ext cx="66703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游泳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0800" y="2000399"/>
            <a:ext cx="749201" cy="308521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91886" y="2086124"/>
            <a:ext cx="66703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一起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200001" y="2000399"/>
            <a:ext cx="749201" cy="308521"/>
          </a:xfrm>
          <a:prstGeom prst="rect">
            <a:avLst/>
          </a:prstGeom>
          <a:solidFill>
            <a:srgbClr val="D4756B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241087" y="2086124"/>
            <a:ext cx="66703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G·O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949202" y="2000399"/>
            <a:ext cx="749201" cy="308521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990287" y="2086124"/>
            <a:ext cx="66703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跟……一起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0800" y="2308920"/>
            <a:ext cx="749201" cy="308521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91886" y="2394645"/>
            <a:ext cx="66703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网球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200001" y="2308920"/>
            <a:ext cx="749201" cy="308521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241087" y="2394645"/>
            <a:ext cx="66703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打网球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949202" y="2308920"/>
            <a:ext cx="749201" cy="308521"/>
          </a:xfrm>
          <a:prstGeom prst="rect">
            <a:avLst/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990287" y="2394645"/>
            <a:ext cx="66703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跑步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920901" y="1323677"/>
            <a:ext cx="8839349" cy="940891"/>
          </a:xfrm>
          <a:prstGeom prst="roundRect">
            <a:avLst>
              <a:gd name="adj" fmla="val 1079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073301" y="1425178"/>
            <a:ext cx="8705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HOW TO PLAY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3073301" y="1640979"/>
            <a:ext cx="8705240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1️⃣ Each student fills a </a:t>
            </a:r>
            <a:pPr algn="l" indent="0" marL="0">
              <a:lnSpc>
                <a:spcPts val="1105"/>
              </a:lnSpc>
              <a:buNone/>
            </a:pPr>
            <a:r>
              <a:rPr lang="en-US" sz="8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3×3 grid</a:t>
            </a:r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with today's </a:t>
            </a:r>
            <a:pPr algn="l" indent="0" marL="0">
              <a:lnSpc>
                <a:spcPts val="1105"/>
              </a:lnSpc>
              <a:buNone/>
            </a:pPr>
            <a:r>
              <a:rPr lang="en-US" sz="8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 words</a:t>
            </a:r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their choice of squares, some repeat.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073301" y="1831925"/>
            <a:ext cx="8705240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2️⃣ Teacher calls out </a:t>
            </a:r>
            <a:pPr algn="l" indent="0" marL="0">
              <a:lnSpc>
                <a:spcPts val="1105"/>
              </a:lnSpc>
              <a:buNone/>
            </a:pPr>
            <a:r>
              <a:rPr lang="en-US" sz="8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 meanings or pinyin</a:t>
            </a:r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one at a time. Find &amp; cross off the matching 汉字 square.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3073301" y="2022872"/>
            <a:ext cx="8705240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3️⃣ </a:t>
            </a:r>
            <a:pPr algn="l" indent="0" marL="0">
              <a:lnSpc>
                <a:spcPts val="1105"/>
              </a:lnSpc>
              <a:buNone/>
            </a:pPr>
            <a:r>
              <a:rPr lang="en-US" sz="8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Three in a row</a:t>
            </a:r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(horizontal, vertical, or diagonal) — call out </a:t>
            </a:r>
            <a:pPr algn="l" indent="0" marL="0">
              <a:lnSpc>
                <a:spcPts val="1105"/>
              </a:lnSpc>
              <a:buNone/>
            </a:pPr>
            <a:r>
              <a:rPr lang="en-US" sz="8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宾狗 (Bingo)</a:t>
            </a:r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!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2920901" y="2340769"/>
            <a:ext cx="8839349" cy="527000"/>
          </a:xfrm>
          <a:prstGeom prst="roundRect">
            <a:avLst>
              <a:gd name="adj" fmla="val 14459"/>
            </a:avLst>
          </a:prstGeom>
          <a:solidFill>
            <a:srgbClr val="FAEA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3066901" y="2436019"/>
            <a:ext cx="87182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📣 Teacher calls English/pinyin → students cross off 汉字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066901" y="2639169"/>
            <a:ext cx="87182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e.g. "swim" / yóuyǒng → students cross off 游泳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31750" y="3070771"/>
            <a:ext cx="3708499" cy="591443"/>
          </a:xfrm>
          <a:prstGeom prst="roundRect">
            <a:avLst>
              <a:gd name="adj" fmla="val 1288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58701" y="3146971"/>
            <a:ext cx="35236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558701" y="3305621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Today's 7-word list stays visible on the board so students can double-check before crossing off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241750" y="3070771"/>
            <a:ext cx="3708499" cy="591443"/>
          </a:xfrm>
          <a:prstGeom prst="roundRect">
            <a:avLst>
              <a:gd name="adj" fmla="val 1288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4368701" y="3146971"/>
            <a:ext cx="35236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368701" y="3305621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take turns as the caller, choosing English or pinyin prompts for the class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8051750" y="3070771"/>
            <a:ext cx="3708499" cy="591443"/>
          </a:xfrm>
          <a:prstGeom prst="roundRect">
            <a:avLst>
              <a:gd name="adj" fmla="val 1288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8178701" y="3146971"/>
            <a:ext cx="35236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8178701" y="3305621"/>
            <a:ext cx="3523690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Blank grids (photocopied) + markers/pens — students fill in any 7 of today's words themselves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5658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 · PLENARY · 43–50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301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30126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971401"/>
            <a:ext cx="5575399" cy="1931491"/>
          </a:xfrm>
          <a:prstGeom prst="roundRect">
            <a:avLst>
              <a:gd name="adj" fmla="val 526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451" y="1098352"/>
            <a:ext cx="53243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5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REVISIT SUCCESS CRITERIA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09451" y="1361777"/>
            <a:ext cx="5324398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✋ 👎   Say 运动, 跑步, 游泳, 网球, 打网球 in Chinese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09451" y="1615678"/>
            <a:ext cx="5324398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✋ 👎   Use 跟……一起 to say who I do it with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09451" y="1869579"/>
            <a:ext cx="5324398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✋ 👎   Choose 打 for racket sports, no verb for 跑步/游泳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84850" y="971401"/>
            <a:ext cx="5575399" cy="1931491"/>
          </a:xfrm>
          <a:prstGeom prst="roundRect">
            <a:avLst>
              <a:gd name="adj" fmla="val 526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62551" y="1098352"/>
            <a:ext cx="53243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5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EXIT TICKET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62551" y="1361777"/>
            <a:ext cx="5219998" cy="815727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381601" y="1361777"/>
            <a:ext cx="0" cy="815727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53051" y="1463278"/>
            <a:ext cx="4974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553051" y="1656904"/>
            <a:ext cx="49746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one sentence saying you like a sport with a friend, using 跟……一起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62551" y="2279005"/>
            <a:ext cx="5324398" cy="496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 volunteer reads each success criterion aloud — class responds with the target word or sentence.
</a:t>
            </a:r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Self-assess with thumbs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against each of the 3 criteria above.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7518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CORE SPORTS VOCAB · PREVIEW · NEXT LESSON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5320" y="558701"/>
            <a:ext cx="108813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 · L2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5320" y="860227"/>
            <a:ext cx="1088136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跟……一起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5320" y="1444377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0"/>
              </a:spcAft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 more sports words + practising 跟……一起 properly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02150" y="1926878"/>
            <a:ext cx="1905000" cy="1476077"/>
          </a:xfrm>
          <a:prstGeom prst="roundRect">
            <a:avLst>
              <a:gd name="adj" fmla="val 688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316272" y="2104579"/>
            <a:ext cx="147675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⚽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316272" y="2647504"/>
            <a:ext cx="14767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运动 (2)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16272" y="2901404"/>
            <a:ext cx="147675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Basketball, football, skiing &amp; more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184850" y="1926878"/>
            <a:ext cx="1905000" cy="1476077"/>
          </a:xfrm>
          <a:prstGeom prst="roundRect">
            <a:avLst>
              <a:gd name="adj" fmla="val 688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98972" y="2104579"/>
            <a:ext cx="147675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🤝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398972" y="2647504"/>
            <a:ext cx="14767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跟……一起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98972" y="2901404"/>
            <a:ext cx="14767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Practising Properly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90914" y="3631555"/>
            <a:ext cx="2810173" cy="980926"/>
          </a:xfrm>
          <a:prstGeom prst="roundRect">
            <a:avLst>
              <a:gd name="adj" fmla="val 10358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973708" y="3758505"/>
            <a:ext cx="22445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973708" y="3952131"/>
            <a:ext cx="224458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跟朋友一起 + ___？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73708" y="4304556"/>
            <a:ext cx="224458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together with a friend + [new sport]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2026-07-21T08:50:18Z</dcterms:created>
  <dcterms:modified xsi:type="dcterms:W3CDTF">2026-07-21T08:50:18Z</dcterms:modified>
</cp:coreProperties>
</file>