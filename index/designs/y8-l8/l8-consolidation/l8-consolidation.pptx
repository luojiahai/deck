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425752" y="5188545"/>
            <a:ext cx="25400" cy="25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165824" y="5188545"/>
            <a:ext cx="25400" cy="25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093049" y="5188545"/>
            <a:ext cx="25400" cy="25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33000" y="4826000"/>
            <a:ext cx="2567432" cy="2558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0" dirty="0">
                <a:solidFill>
                  <a:srgbClr val="C8943E">
                    <a:alpha val="4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球</a:t>
            </a:r>
            <a:endParaRPr lang="en-US" sz="20000" dirty="0"/>
          </a:p>
        </p:txBody>
      </p:sp>
      <p:sp>
        <p:nvSpPr>
          <p:cNvPr id="6" name="Text 4"/>
          <p:cNvSpPr/>
          <p:nvPr/>
        </p:nvSpPr>
        <p:spPr>
          <a:xfrm>
            <a:off x="3509665" y="1580555"/>
            <a:ext cx="5200003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spc="200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8 OF 8 · Y8 UNIT 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509665" y="1917105"/>
            <a:ext cx="5200003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000" dirty="0">
                <a:solidFill>
                  <a:srgbClr val="C8943E">
                    <a:alpha val="15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球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3509665" y="3359745"/>
            <a:ext cx="5200003" cy="1034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运动·复习</a:t>
            </a:r>
            <a:endParaRPr lang="en-US" sz="8000" dirty="0"/>
          </a:p>
        </p:txBody>
      </p:sp>
      <p:sp>
        <p:nvSpPr>
          <p:cNvPr id="9" name="Text 7"/>
          <p:cNvSpPr/>
          <p:nvPr/>
        </p:nvSpPr>
        <p:spPr>
          <a:xfrm>
            <a:off x="3509665" y="4426545"/>
            <a:ext cx="5200003" cy="310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spc="64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Consolidation + Test 3.2 Prep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509665" y="5125045"/>
            <a:ext cx="791119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spc="48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8 Chinese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603552" y="5125045"/>
            <a:ext cx="437305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spc="48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50 mins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343624" y="5125045"/>
            <a:ext cx="1624457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spc="48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Speaking + Listening + Writing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270849" y="5125045"/>
            <a:ext cx="1438819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spc="48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轻松学中文 Book 2 · Unit 3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9576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2000" y="1708150"/>
            <a:ext cx="5207000" cy="160655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23000" y="2089150"/>
            <a:ext cx="571500" cy="495300"/>
          </a:xfrm>
          <a:prstGeom prst="roundRect">
            <a:avLst/>
          </a:prstGeom>
          <a:solidFill>
            <a:srgbClr val="EDE7D7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70700" y="2089150"/>
            <a:ext cx="724793" cy="495300"/>
          </a:xfrm>
          <a:prstGeom prst="roundRect">
            <a:avLst/>
          </a:prstGeom>
          <a:solidFill>
            <a:srgbClr val="EDE7D7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71693" y="2089150"/>
            <a:ext cx="1024136" cy="495300"/>
          </a:xfrm>
          <a:prstGeom prst="roundRect">
            <a:avLst/>
          </a:prstGeom>
          <a:solidFill>
            <a:srgbClr val="EDE7D7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772029" y="2089150"/>
            <a:ext cx="571500" cy="495300"/>
          </a:xfrm>
          <a:prstGeom prst="roundRect">
            <a:avLst/>
          </a:prstGeom>
          <a:solidFill>
            <a:srgbClr val="EDE7D7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419729" y="2089150"/>
            <a:ext cx="703858" cy="495300"/>
          </a:xfrm>
          <a:prstGeom prst="roundRect">
            <a:avLst/>
          </a:prstGeom>
          <a:solidFill>
            <a:srgbClr val="EDE7D7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2000" y="3492500"/>
            <a:ext cx="10668000" cy="412750"/>
          </a:xfrm>
          <a:prstGeom prst="rect">
            <a:avLst/>
          </a:prstGeom>
          <a:solidFill>
            <a:srgbClr val="C8943E">
              <a:alpha val="12000"/>
            </a:srgbClr>
          </a:solidFill>
          <a:ln w="31750">
            <a:solidFill>
              <a:srgbClr val="5B66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8000" y="190500"/>
            <a:ext cx="1872008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CONSOLIDATION + TEST PREP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612926" y="187325"/>
            <a:ext cx="850154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0–8 min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762000" y="812800"/>
            <a:ext cx="10695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0–8 MIN · REVIEW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62000" y="1028700"/>
            <a:ext cx="10695432" cy="49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回顾 · Lessons 1–7 Recap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971550" y="2032000"/>
            <a:ext cx="48153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spc="7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FLASHCARD RAPID FIRE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3950" y="2298700"/>
            <a:ext cx="4662932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shows a word from any of the 7 previous lessons on the projector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123950" y="2794000"/>
            <a:ext cx="4662932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Class chorally says pinyin + English — at speed, across the whole unit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223000" y="1822450"/>
            <a:ext cx="52344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spc="72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CATEGORIES COVERED (L1–7)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369050" y="2171700"/>
            <a:ext cx="306832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运动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69050" y="2381250"/>
            <a:ext cx="3068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Sports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7016750" y="2171700"/>
            <a:ext cx="460125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-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016750" y="2381250"/>
            <a:ext cx="460125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TV / Movies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7817743" y="2171700"/>
            <a:ext cx="759468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-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817743" y="2381250"/>
            <a:ext cx="759468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Frequency Adverbs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8918079" y="2171700"/>
            <a:ext cx="306832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但是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918079" y="2381250"/>
            <a:ext cx="3068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but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9565779" y="2171700"/>
            <a:ext cx="439190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-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565779" y="2381250"/>
            <a:ext cx="439190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Characters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762000" y="3492500"/>
            <a:ext cx="10695432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"This is our last Sports lesson before the test. Today we pull every piece — speaking, listening, and writing — together."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9576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9000" y="2512120"/>
            <a:ext cx="8693150" cy="925711"/>
          </a:xfrm>
          <a:prstGeom prst="rect">
            <a:avLst/>
          </a:prstGeom>
          <a:solidFill>
            <a:srgbClr val="C8943E">
              <a:alpha val="12000"/>
            </a:srgbClr>
          </a:solidFill>
          <a:ln w="31750">
            <a:solidFill>
              <a:srgbClr val="1E2A3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9000" y="3679130"/>
            <a:ext cx="254000" cy="25400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89000" y="4060130"/>
            <a:ext cx="254000" cy="25400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89000" y="4441130"/>
            <a:ext cx="254000" cy="25400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9000" y="4872930"/>
            <a:ext cx="10414000" cy="58420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8000" y="190500"/>
            <a:ext cx="1872008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CONSOLIDATION + TEST PREP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2612926" y="187325"/>
            <a:ext cx="1648468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 &amp; SC · 8–10 min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889000" y="1578670"/>
            <a:ext cx="10441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8–10 MIN · DISPLAY ON PROJECTOR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89000" y="1807270"/>
            <a:ext cx="10441432" cy="49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Ready for Test 3.2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123950" y="2664520"/>
            <a:ext cx="82824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6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23950" y="2823270"/>
            <a:ext cx="8282432" cy="48044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combine everything from this unit — sports, TV/movies, frequency, and 但是 — in conversation, listening, and writing, ready for Test 3.2.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89000" y="3679130"/>
            <a:ext cx="281432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244600" y="3666430"/>
            <a:ext cx="5961606" cy="2437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hold a 6-question hobby conversation using 经常/差不多/但是/不太喜欢/会/不太会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89000" y="4060130"/>
            <a:ext cx="281432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244600" y="4047430"/>
            <a:ext cx="5508772" cy="2373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understand spoken descriptions of people's sport habits (Act. 14 listening)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89000" y="4441130"/>
            <a:ext cx="281432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244600" y="4428430"/>
            <a:ext cx="5628231" cy="2373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write the key Test 3.2 sentences correctly using this unit's grammar patterns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079500" y="5034855"/>
            <a:ext cx="205232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📝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58900" y="4987230"/>
            <a:ext cx="3495227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This lesson doubles as revision for Test 3.2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358900" y="5190430"/>
            <a:ext cx="3495227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Today's success criteria map directly onto what the test will ask you to do.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9576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000" y="1752600"/>
            <a:ext cx="2794000" cy="844550"/>
          </a:xfrm>
          <a:prstGeom prst="roundRect">
            <a:avLst/>
          </a:prstGeom>
          <a:solidFill>
            <a:srgbClr val="C8943E">
              <a:alpha val="1200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556000" y="1752600"/>
            <a:ext cx="2794000" cy="844550"/>
          </a:xfrm>
          <a:prstGeom prst="roundRect">
            <a:avLst/>
          </a:prstGeom>
          <a:solidFill>
            <a:srgbClr val="C8943E">
              <a:alpha val="1200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35000" y="2774950"/>
            <a:ext cx="10922000" cy="5842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5000" y="3498850"/>
            <a:ext cx="10922000" cy="817761"/>
          </a:xfrm>
          <a:prstGeom prst="roundRect">
            <a:avLst/>
          </a:prstGeom>
          <a:solidFill>
            <a:srgbClr val="D4756B">
              <a:alpha val="10000"/>
            </a:srgbClr>
          </a:solidFill>
          <a:ln w="12700">
            <a:solidFill>
              <a:srgbClr val="D475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8000" y="190500"/>
            <a:ext cx="1872008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CONSOLIDATION + TEST PREP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2612926" y="187325"/>
            <a:ext cx="1680714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New Vocabulary · 10–20 min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635000" y="787400"/>
            <a:ext cx="10949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35000" y="1143000"/>
            <a:ext cx="10949432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New Vocabulary · 词汇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819150" y="1971675"/>
            <a:ext cx="306832" cy="424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会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38250" y="1997075"/>
            <a:ext cx="1011384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huì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238250" y="2181225"/>
            <a:ext cx="1011384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can; know how to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740150" y="1971675"/>
            <a:ext cx="865632" cy="424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不太会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718050" y="1911350"/>
            <a:ext cx="147523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bú tài huì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718050" y="2095500"/>
            <a:ext cx="1475232" cy="361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can't really (do something)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25500" y="2936875"/>
            <a:ext cx="205232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💡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104900" y="2889250"/>
            <a:ext cx="4617291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会 (huì) = ability/skill — not preference, different from 喜欢/不太喜欢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104900" y="3092450"/>
            <a:ext cx="4617291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Show each word, model pronunciation twice — class repeats twice (choral).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5500" y="3613150"/>
            <a:ext cx="205232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⚠️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104900" y="3613150"/>
            <a:ext cx="10289032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Note for the teacher: outside this lesson's scope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104900" y="3816350"/>
            <a:ext cx="10289032" cy="40424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Test 3.2's vocabulary list also includes 长跑, 短跑, 走路, 游泳池, 水球, 通常, 大家 and the phrase 打得不太好 — from the workbook dictionary look-up exercises and complement structures, not the core textbook New Words. Not covered in this 8-lesson sequence — supplement directly from the workbook (WB pp. 82–91) before the test.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9576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9000" y="2571750"/>
            <a:ext cx="10414000" cy="4953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9000" y="3155950"/>
            <a:ext cx="10414000" cy="4953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89000" y="3740150"/>
            <a:ext cx="10414000" cy="4953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89000" y="4324350"/>
            <a:ext cx="10414000" cy="4953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20556" y="4552950"/>
            <a:ext cx="805954" cy="133350"/>
          </a:xfrm>
          <a:prstGeom prst="roundRect">
            <a:avLst/>
          </a:prstGeom>
          <a:solidFill>
            <a:srgbClr val="3A7D8C">
              <a:alpha val="15000"/>
            </a:srgbClr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89000" y="4959350"/>
            <a:ext cx="10414000" cy="58420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8000" y="190500"/>
            <a:ext cx="1872008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CONSOLIDATION + TEST PREP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2612926" y="187325"/>
            <a:ext cx="1361527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Test 3.2 Key Sentences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889000" y="1492250"/>
            <a:ext cx="10441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89000" y="1720850"/>
            <a:ext cx="10441432" cy="456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Test 3.2 Key Sentences · 关键句子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889000" y="2209800"/>
            <a:ext cx="10441432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Read each aloud — class repeats chorally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060450" y="2679700"/>
            <a:ext cx="21229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我差不多每天都去滑冰。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285387" y="2733675"/>
            <a:ext cx="1873595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go ice-skating almost every day.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060450" y="3263900"/>
            <a:ext cx="17419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我不太喜欢打篮球。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25248" y="3317875"/>
            <a:ext cx="2033734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don't really like playing basketball.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60450" y="3848100"/>
            <a:ext cx="174699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Harry常常看电影。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540577" y="3902075"/>
            <a:ext cx="1618405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Harry often watches movies.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060450" y="4432300"/>
            <a:ext cx="549349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Tom跟Jerry一起去打乒乓球，但是Tom打得不太好。NEW PATTERN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791027" y="4486275"/>
            <a:ext cx="4367955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Tom and Jerry go play table tennis together, but Tom doesn't play it very well.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079500" y="5124450"/>
            <a:ext cx="205232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🆕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358900" y="5073650"/>
            <a:ext cx="4275681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打得不太好 — verb + 得 + description = "doesn't do it very well"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358900" y="5276850"/>
            <a:ext cx="4275681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only need to recognise this pattern for the test, not produce it freely yet.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9576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541812" y="2378273"/>
            <a:ext cx="772616" cy="15875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9000" y="2765623"/>
            <a:ext cx="10414000" cy="76835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3150" y="2924373"/>
            <a:ext cx="279400" cy="279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89000" y="3686373"/>
            <a:ext cx="10414000" cy="81915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73150" y="3845123"/>
            <a:ext cx="279400" cy="279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89000" y="4657923"/>
            <a:ext cx="10414000" cy="79375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73150" y="4816673"/>
            <a:ext cx="279400" cy="279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8000" y="190500"/>
            <a:ext cx="1872008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CONSOLIDATION + TEST PREP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612926" y="187325"/>
            <a:ext cx="1114175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Checkpoints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889000" y="1584127"/>
            <a:ext cx="10441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CHECK FOR UNDERSTANDING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89000" y="1812727"/>
            <a:ext cx="10441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理解检查 · CFU</a:t>
            </a:r>
            <a:endParaRPr lang="en-US" sz="2500" dirty="0"/>
          </a:p>
        </p:txBody>
      </p:sp>
      <p:sp>
        <p:nvSpPr>
          <p:cNvPr id="17" name="Text 15"/>
          <p:cNvSpPr/>
          <p:nvPr/>
        </p:nvSpPr>
        <p:spPr>
          <a:xfrm>
            <a:off x="889000" y="2346127"/>
            <a:ext cx="10441432" cy="20918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your answer on your mini whiteboard WHITEBOARD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73150" y="2924373"/>
            <a:ext cx="3068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479550" y="2924373"/>
            <a:ext cx="96667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Quick translate: "I can't really play basketball." Write it.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479550" y="3203773"/>
            <a:ext cx="966673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8B94A3">
                    <a:alpha val="3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on next slide →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73150" y="3845123"/>
            <a:ext cx="3068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79550" y="3845123"/>
            <a:ext cx="96667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Thumbs up if 会 is about liking something.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479550" y="4175323"/>
            <a:ext cx="966673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8B94A3">
                    <a:alpha val="3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on next slide →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073150" y="4816673"/>
            <a:ext cx="3068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479550" y="4816673"/>
            <a:ext cx="9666732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of the 4 key sentences uses 跟……一起? Point to it.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1479550" y="5121473"/>
            <a:ext cx="966673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8B94A3">
                    <a:alpha val="3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on next slide →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9576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9000" y="2466975"/>
            <a:ext cx="10414000" cy="92075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73150" y="2600325"/>
            <a:ext cx="279400" cy="279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89000" y="3514725"/>
            <a:ext cx="10414000" cy="92075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73150" y="3648075"/>
            <a:ext cx="279400" cy="279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9000" y="4562475"/>
            <a:ext cx="10414000" cy="92075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3150" y="4695825"/>
            <a:ext cx="279400" cy="279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8000" y="190500"/>
            <a:ext cx="1872008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CONSOLIDATION + TEST PREP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2612926" y="187325"/>
            <a:ext cx="1044821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Answers ↳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889000" y="1552575"/>
            <a:ext cx="10441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ANSWERS REVEALED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89000" y="1781175"/>
            <a:ext cx="10441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答案 · Answers</a:t>
            </a:r>
            <a:endParaRPr lang="en-US" sz="2500" dirty="0"/>
          </a:p>
        </p:txBody>
      </p:sp>
      <p:sp>
        <p:nvSpPr>
          <p:cNvPr id="16" name="Text 14"/>
          <p:cNvSpPr/>
          <p:nvPr/>
        </p:nvSpPr>
        <p:spPr>
          <a:xfrm>
            <a:off x="1073150" y="2600325"/>
            <a:ext cx="3068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79550" y="2600325"/>
            <a:ext cx="9666732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"I can't really play basketball."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479550" y="2841625"/>
            <a:ext cx="96667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我不太会打篮球。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479550" y="3095625"/>
            <a:ext cx="96667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wǒ bú tài huì dǎ lánqiú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73150" y="3648075"/>
            <a:ext cx="3068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479550" y="3648075"/>
            <a:ext cx="9666732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Is 会 about liking something?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479550" y="3889375"/>
            <a:ext cx="96667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No — 会 is about ability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479550" y="4143375"/>
            <a:ext cx="96667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会 asks "can you do it?" — not "do you like it?" That's 喜欢/不太喜欢.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1073150" y="4695825"/>
            <a:ext cx="3068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479550" y="4695825"/>
            <a:ext cx="9666732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key sentence uses 跟……一起?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479550" y="4937125"/>
            <a:ext cx="96667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Tom跟Jerry一起去打乒乓球，但是Tom打得不太好。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479550" y="5191125"/>
            <a:ext cx="96667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 Tom &amp; Jerry sentence — "Tom and Jerry go together."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9576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000" y="850900"/>
            <a:ext cx="801588" cy="2032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5000" y="1295400"/>
            <a:ext cx="620713" cy="247650"/>
          </a:xfrm>
          <a:prstGeom prst="roundRect">
            <a:avLst/>
          </a:prstGeom>
          <a:solidFill>
            <a:srgbClr val="C8943E">
              <a:alpha val="1200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31913" y="1323975"/>
            <a:ext cx="1031180" cy="1905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5000" y="1708150"/>
            <a:ext cx="5359400" cy="15367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97600" y="1708150"/>
            <a:ext cx="5359400" cy="252730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50000" y="2203450"/>
            <a:ext cx="5054600" cy="2730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50000" y="2527300"/>
            <a:ext cx="5054600" cy="2730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50000" y="2851150"/>
            <a:ext cx="5054600" cy="2730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50000" y="3175000"/>
            <a:ext cx="5054600" cy="2730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50000" y="3498850"/>
            <a:ext cx="5054600" cy="2730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50000" y="3822700"/>
            <a:ext cx="5054600" cy="2730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5000" y="4387850"/>
            <a:ext cx="3572867" cy="5461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09467" y="4387850"/>
            <a:ext cx="3572966" cy="5461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984034" y="4387850"/>
            <a:ext cx="3572966" cy="5461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8000" y="190500"/>
            <a:ext cx="1872008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CONSOLIDATION + TEST PREP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2612926" y="187325"/>
            <a:ext cx="1738757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 · Partner Dialogue · 6 min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635000" y="850900"/>
            <a:ext cx="829020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70" kern="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1563588" y="762000"/>
            <a:ext cx="4237879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Partner Dialogue · 6 Questions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635000" y="1295400"/>
            <a:ext cx="648145" cy="26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6 min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331913" y="1323975"/>
            <a:ext cx="1058612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56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→ YOU DO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2439293" y="1352550"/>
            <a:ext cx="322509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Act. 13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819150" y="1987550"/>
            <a:ext cx="50185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spc="68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INSTRUCTIONS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946150" y="2247900"/>
            <a:ext cx="4891532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 pairs, ask and answer 6 hobby questions using the unit's reference words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46150" y="2514600"/>
            <a:ext cx="4891532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Use 经常/常常, 差不多, 每个周末, 但是, 不太喜欢, 会/不太会 in your answers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946150" y="2781300"/>
            <a:ext cx="4891532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2–3 pairs report one interesting answer about their partner to the class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50000" y="1955800"/>
            <a:ext cx="50820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spc="68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REFERENCE WORDS · 词库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350000" y="2241550"/>
            <a:ext cx="680986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经常 / 常常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11186716" y="2241550"/>
            <a:ext cx="245316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often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6350000" y="2565400"/>
            <a:ext cx="427482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差不多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10799564" y="2565400"/>
            <a:ext cx="632468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almost / about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6350000" y="2889250"/>
            <a:ext cx="560832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每个周末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10782300" y="2889250"/>
            <a:ext cx="649732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every weekend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6350000" y="3213100"/>
            <a:ext cx="294132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但是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11262122" y="3213100"/>
            <a:ext cx="169910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but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6350000" y="3536950"/>
            <a:ext cx="560832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不太喜欢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10769600" y="3536950"/>
            <a:ext cx="662432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don't really like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6350000" y="3860800"/>
            <a:ext cx="680986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会 / 不太会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10727333" y="3860800"/>
            <a:ext cx="704699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can / can't really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736600" y="4464050"/>
            <a:ext cx="3397099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4411067" y="4464050"/>
            <a:ext cx="3397198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085634" y="4464050"/>
            <a:ext cx="3397198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9576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000" y="825500"/>
            <a:ext cx="1308497" cy="23495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863461" y="809625"/>
            <a:ext cx="693539" cy="2667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35000" y="1250950"/>
            <a:ext cx="4132362" cy="437515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945162" y="1530350"/>
            <a:ext cx="6611838" cy="3429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45162" y="1930400"/>
            <a:ext cx="6611838" cy="3429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45162" y="2330450"/>
            <a:ext cx="6611838" cy="3429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45162" y="2762250"/>
            <a:ext cx="6611838" cy="1085850"/>
          </a:xfrm>
          <a:prstGeom prst="roundRect">
            <a:avLst/>
          </a:prstGeom>
          <a:solidFill>
            <a:srgbClr val="EDE7D7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78512" y="3041650"/>
            <a:ext cx="444500" cy="2159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523012" y="3041650"/>
            <a:ext cx="1966813" cy="2159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489825" y="3041650"/>
            <a:ext cx="1966912" cy="2159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456738" y="3041650"/>
            <a:ext cx="1966813" cy="2159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78512" y="3257550"/>
            <a:ext cx="444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523012" y="3257550"/>
            <a:ext cx="1966813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8B94A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89825" y="3257550"/>
            <a:ext cx="1966912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8B94A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456738" y="3257550"/>
            <a:ext cx="1966813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8B94A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8512" y="3505200"/>
            <a:ext cx="444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23012" y="3505200"/>
            <a:ext cx="1966813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8B94A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89825" y="3505200"/>
            <a:ext cx="1966912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8B94A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456738" y="3505200"/>
            <a:ext cx="1966813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8B94A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5000" y="5753100"/>
            <a:ext cx="3572867" cy="5461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09467" y="5753100"/>
            <a:ext cx="3572966" cy="5461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84034" y="5753100"/>
            <a:ext cx="3572966" cy="5461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8000" y="190500"/>
            <a:ext cx="1872008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CONSOLIDATION + TEST PREP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12926" y="187325"/>
            <a:ext cx="1387523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 · Listening · 6 min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635000" y="825500"/>
            <a:ext cx="1335929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 2 · LISTENING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070497" y="762000"/>
            <a:ext cx="2834430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听力练习 · CD Track 40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5004495" y="876300"/>
            <a:ext cx="322509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Act. 14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10863461" y="809625"/>
            <a:ext cx="720971" cy="284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6 min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459831" y="2676525"/>
            <a:ext cx="510032" cy="500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💿</a:t>
            </a:r>
            <a:endParaRPr lang="en-US" sz="3800" dirty="0"/>
          </a:p>
        </p:txBody>
      </p:sp>
      <p:sp>
        <p:nvSpPr>
          <p:cNvPr id="35" name="Text 33"/>
          <p:cNvSpPr/>
          <p:nvPr/>
        </p:nvSpPr>
        <p:spPr>
          <a:xfrm>
            <a:off x="2421235" y="3248025"/>
            <a:ext cx="587224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126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CD TRACK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415480" y="3463925"/>
            <a:ext cx="598833" cy="500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800" b="1" spc="-76" kern="0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40</a:t>
            </a:r>
            <a:endParaRPr lang="en-US" sz="3800" dirty="0"/>
          </a:p>
        </p:txBody>
      </p:sp>
      <p:sp>
        <p:nvSpPr>
          <p:cNvPr id="37" name="Text 35"/>
          <p:cNvSpPr/>
          <p:nvPr/>
        </p:nvSpPr>
        <p:spPr>
          <a:xfrm>
            <a:off x="2004913" y="4035425"/>
            <a:ext cx="1419967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Book 2 · Unit 3 · Act. 14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945162" y="1250950"/>
            <a:ext cx="6639270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to do: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078512" y="1612900"/>
            <a:ext cx="167132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1️⃣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307112" y="1606550"/>
            <a:ext cx="3756172" cy="19321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 — you will hear 6 short items, each with 3 possible answers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078512" y="2012950"/>
            <a:ext cx="167132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2️⃣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307112" y="2006600"/>
            <a:ext cx="2656134" cy="19321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Circle the correct choice for each of the 6 items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078512" y="2413000"/>
            <a:ext cx="167132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3️⃣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5307112" y="2406650"/>
            <a:ext cx="3956197" cy="19321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Self-mark as a class immediately after — hands up for any you missed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5078512" y="2857500"/>
            <a:ext cx="6372570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65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SHEET FORMAT</a:t>
            </a:r>
            <a:endParaRPr lang="en-US" sz="650" dirty="0"/>
          </a:p>
        </p:txBody>
      </p:sp>
      <p:sp>
        <p:nvSpPr>
          <p:cNvPr id="46" name="Text 44"/>
          <p:cNvSpPr/>
          <p:nvPr/>
        </p:nvSpPr>
        <p:spPr>
          <a:xfrm>
            <a:off x="5078512" y="3041650"/>
            <a:ext cx="4719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5523012" y="3041650"/>
            <a:ext cx="1994245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7489825" y="3041650"/>
            <a:ext cx="1994344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9456738" y="3041650"/>
            <a:ext cx="1994245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5078512" y="3257550"/>
            <a:ext cx="471932" cy="26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8416131" y="3295650"/>
            <a:ext cx="1417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◯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5078512" y="3505200"/>
            <a:ext cx="471932" cy="26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449219" y="3543300"/>
            <a:ext cx="1417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◯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736600" y="5829300"/>
            <a:ext cx="3397099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4411067" y="5829300"/>
            <a:ext cx="3397198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600" dirty="0"/>
          </a:p>
        </p:txBody>
      </p:sp>
      <p:sp>
        <p:nvSpPr>
          <p:cNvPr id="56" name="Text 54"/>
          <p:cNvSpPr/>
          <p:nvPr/>
        </p:nvSpPr>
        <p:spPr>
          <a:xfrm>
            <a:off x="8085634" y="5829300"/>
            <a:ext cx="3397198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600" dirty="0"/>
          </a:p>
        </p:txBody>
      </p:sp>
      <p:sp>
        <p:nvSpPr>
          <p:cNvPr id="57" name="Text 55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9576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000" y="825500"/>
            <a:ext cx="577850" cy="234950"/>
          </a:xfrm>
          <a:prstGeom prst="roundRect">
            <a:avLst/>
          </a:prstGeom>
          <a:solidFill>
            <a:srgbClr val="D4756B"/>
          </a:solidFill>
          <a:ln w="12700">
            <a:solidFill>
              <a:srgbClr val="D4756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863461" y="809625"/>
            <a:ext cx="693539" cy="266700"/>
          </a:xfrm>
          <a:prstGeom prst="roundRect">
            <a:avLst/>
          </a:prstGeom>
          <a:solidFill>
            <a:srgbClr val="D4756B">
              <a:alpha val="10000"/>
            </a:srgbClr>
          </a:solidFill>
          <a:ln w="6350">
            <a:solidFill>
              <a:srgbClr val="D475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35000" y="1765300"/>
            <a:ext cx="2644775" cy="10731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94075" y="1765300"/>
            <a:ext cx="2644775" cy="10731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53150" y="1765300"/>
            <a:ext cx="2644775" cy="10731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912225" y="1765300"/>
            <a:ext cx="2644775" cy="10731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5000" y="2965450"/>
            <a:ext cx="10922000" cy="48260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8000" y="190500"/>
            <a:ext cx="1872008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CONSOLIDATION + TEST PREP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612926" y="187325"/>
            <a:ext cx="1409946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Odd One Out · 4 min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635000" y="825500"/>
            <a:ext cx="60528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339850" y="762000"/>
            <a:ext cx="3378248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谁不是同类？· Odd One Out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0863461" y="809625"/>
            <a:ext cx="720971" cy="284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4 min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35000" y="1250950"/>
            <a:ext cx="10949432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projects 4 words at a time — 3 from one category, 1 from another. Students identify and explain which one doesn't belong and why.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35000" y="1568450"/>
            <a:ext cx="109494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78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1 · LIVE DISCUSSION — DON'T CALL IT OUT UNTIL ASKED!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627188" y="1943100"/>
            <a:ext cx="687832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篮球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793577" y="2311400"/>
            <a:ext cx="35505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lánqiú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713111" y="2508250"/>
            <a:ext cx="515985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basketball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386263" y="1943100"/>
            <a:ext cx="687832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网球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4493915" y="2311400"/>
            <a:ext cx="472527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wǎngqiú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570313" y="2508250"/>
            <a:ext cx="319730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tennis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980238" y="1943100"/>
            <a:ext cx="1018032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乒乓球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7150298" y="2311400"/>
            <a:ext cx="677811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pīngpāngqiú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7197626" y="2508250"/>
            <a:ext cx="583255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table tennis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9904413" y="1943100"/>
            <a:ext cx="687832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电影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10010577" y="2311400"/>
            <a:ext cx="475504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diànyǐng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088563" y="2508250"/>
            <a:ext cx="3195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movie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825500" y="3092450"/>
            <a:ext cx="1798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A38">
                    <a:alpha val="6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🎲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079500" y="3121025"/>
            <a:ext cx="7352058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Rounds 2–5 — teacher prepares 3–4 more word groups in the same format (3 from one category + 1 odd one out) for this slide before class.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9576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000" y="841375"/>
            <a:ext cx="801588" cy="2032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5000" y="1276350"/>
            <a:ext cx="620713" cy="247650"/>
          </a:xfrm>
          <a:prstGeom prst="roundRect">
            <a:avLst/>
          </a:prstGeom>
          <a:solidFill>
            <a:srgbClr val="C8943E">
              <a:alpha val="1200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31913" y="1304925"/>
            <a:ext cx="556915" cy="1905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5000" y="1689100"/>
            <a:ext cx="5359400" cy="900708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19150" y="2253258"/>
            <a:ext cx="165100" cy="1651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97600" y="1689100"/>
            <a:ext cx="5359400" cy="900708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81750" y="2253258"/>
            <a:ext cx="165100" cy="1651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5000" y="2716808"/>
            <a:ext cx="10922000" cy="58420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5000" y="3453408"/>
            <a:ext cx="3572867" cy="5461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09467" y="3453408"/>
            <a:ext cx="3572966" cy="5461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84034" y="3453408"/>
            <a:ext cx="3572966" cy="5461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8000" y="190500"/>
            <a:ext cx="1872008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CONSOLIDATION + TEST PREP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2612926" y="187325"/>
            <a:ext cx="1607491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3 · Written Recap · 6 min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635000" y="841375"/>
            <a:ext cx="829020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70" kern="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3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563588" y="762000"/>
            <a:ext cx="5116163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Written Mini-Test Recap · Test 3.2 Prep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35000" y="1276350"/>
            <a:ext cx="648145" cy="26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6 min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331913" y="1304925"/>
            <a:ext cx="584347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56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819150" y="1968500"/>
            <a:ext cx="50185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spc="68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PART 1 · TRANSLATE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19150" y="2253258"/>
            <a:ext cx="1925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844477" y="2222500"/>
            <a:ext cx="1503609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 key Test 3.2 sentences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81750" y="1968500"/>
            <a:ext cx="50185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spc="68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PART 2 · VOCABULARY GAPS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6381750" y="2253258"/>
            <a:ext cx="1925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6956723" y="2222500"/>
            <a:ext cx="1148604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 vocabulary gaps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5500" y="2878733"/>
            <a:ext cx="205232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✏️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104900" y="2831108"/>
            <a:ext cx="2633313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Extension: write one original sentence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104900" y="3034308"/>
            <a:ext cx="2633313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Use 差不多每天都 or 不太喜欢……但是……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736600" y="3529608"/>
            <a:ext cx="3397099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4411067" y="3529608"/>
            <a:ext cx="3397198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085634" y="3529608"/>
            <a:ext cx="3397198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9576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9000" y="3032125"/>
            <a:ext cx="5105400" cy="188595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85850" y="3584575"/>
            <a:ext cx="203200" cy="2032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27150" y="3584575"/>
            <a:ext cx="203200" cy="203200"/>
          </a:xfrm>
          <a:prstGeom prst="roundRect">
            <a:avLst/>
          </a:prstGeom>
          <a:solidFill>
            <a:srgbClr val="C8943E">
              <a:alpha val="1200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68450" y="3584575"/>
            <a:ext cx="203200" cy="203200"/>
          </a:xfrm>
          <a:prstGeom prst="roundRect">
            <a:avLst/>
          </a:prstGeom>
          <a:solidFill>
            <a:srgbClr val="D4756B">
              <a:alpha val="10000"/>
            </a:srgbClr>
          </a:solidFill>
          <a:ln w="6350">
            <a:solidFill>
              <a:srgbClr val="D475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85850" y="3870325"/>
            <a:ext cx="203200" cy="2032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27150" y="3870325"/>
            <a:ext cx="203200" cy="203200"/>
          </a:xfrm>
          <a:prstGeom prst="roundRect">
            <a:avLst/>
          </a:prstGeom>
          <a:solidFill>
            <a:srgbClr val="C8943E">
              <a:alpha val="1200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68450" y="3870325"/>
            <a:ext cx="203200" cy="203200"/>
          </a:xfrm>
          <a:prstGeom prst="roundRect">
            <a:avLst/>
          </a:prstGeom>
          <a:solidFill>
            <a:srgbClr val="D4756B">
              <a:alpha val="10000"/>
            </a:srgbClr>
          </a:solidFill>
          <a:ln w="6350">
            <a:solidFill>
              <a:srgbClr val="D475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85850" y="4156075"/>
            <a:ext cx="203200" cy="2032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27150" y="4156075"/>
            <a:ext cx="203200" cy="203200"/>
          </a:xfrm>
          <a:prstGeom prst="roundRect">
            <a:avLst/>
          </a:prstGeom>
          <a:solidFill>
            <a:srgbClr val="C8943E">
              <a:alpha val="1200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68450" y="4156075"/>
            <a:ext cx="203200" cy="203200"/>
          </a:xfrm>
          <a:prstGeom prst="roundRect">
            <a:avLst/>
          </a:prstGeom>
          <a:solidFill>
            <a:srgbClr val="D4756B">
              <a:alpha val="10000"/>
            </a:srgbClr>
          </a:solidFill>
          <a:ln w="6350">
            <a:solidFill>
              <a:srgbClr val="D475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85850" y="4454525"/>
            <a:ext cx="4711700" cy="2921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85850" y="4543425"/>
            <a:ext cx="203200" cy="2032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27150" y="4543425"/>
            <a:ext cx="203200" cy="203200"/>
          </a:xfrm>
          <a:prstGeom prst="roundRect">
            <a:avLst/>
          </a:prstGeom>
          <a:solidFill>
            <a:srgbClr val="C8943E">
              <a:alpha val="1200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68450" y="4543425"/>
            <a:ext cx="203200" cy="203200"/>
          </a:xfrm>
          <a:prstGeom prst="roundRect">
            <a:avLst/>
          </a:prstGeom>
          <a:solidFill>
            <a:srgbClr val="D4756B">
              <a:alpha val="10000"/>
            </a:srgbClr>
          </a:solidFill>
          <a:ln w="6350">
            <a:solidFill>
              <a:srgbClr val="D4756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97600" y="3032125"/>
            <a:ext cx="5105400" cy="188595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4450" y="3584575"/>
            <a:ext cx="4711700" cy="673100"/>
          </a:xfrm>
          <a:prstGeom prst="rect">
            <a:avLst/>
          </a:prstGeom>
          <a:solidFill>
            <a:srgbClr val="EDE7D7"/>
          </a:solidFill>
          <a:ln w="31750">
            <a:solidFill>
              <a:srgbClr val="1E2A3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8000" y="190500"/>
            <a:ext cx="1872008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CONSOLIDATION + TEST PREP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2612926" y="187325"/>
            <a:ext cx="983008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 · 43–50 min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889000" y="2117725"/>
            <a:ext cx="10441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89000" y="2346325"/>
            <a:ext cx="10441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总结 · Wrap-Up</a:t>
            </a:r>
            <a:endParaRPr lang="en-US" sz="2500" dirty="0"/>
          </a:p>
        </p:txBody>
      </p:sp>
      <p:sp>
        <p:nvSpPr>
          <p:cNvPr id="26" name="Text 24"/>
          <p:cNvSpPr/>
          <p:nvPr/>
        </p:nvSpPr>
        <p:spPr>
          <a:xfrm>
            <a:off x="1085850" y="3311525"/>
            <a:ext cx="47391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spc="68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85850" y="3584575"/>
            <a:ext cx="230632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327150" y="3584575"/>
            <a:ext cx="230632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😐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568450" y="3584575"/>
            <a:ext cx="230632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1085850" y="3870325"/>
            <a:ext cx="230632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1327150" y="3870325"/>
            <a:ext cx="230632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😐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1568450" y="3870325"/>
            <a:ext cx="230632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1085850" y="4156075"/>
            <a:ext cx="230632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1327150" y="4156075"/>
            <a:ext cx="230632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😐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1568450" y="4156075"/>
            <a:ext cx="230632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1085850" y="4543425"/>
            <a:ext cx="230632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1327150" y="4543425"/>
            <a:ext cx="230632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😐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1568450" y="4543425"/>
            <a:ext cx="230632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6394450" y="3311525"/>
            <a:ext cx="47391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spc="68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EXIT TICKET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6578600" y="3711575"/>
            <a:ext cx="440258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65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TASK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6578600" y="3895725"/>
            <a:ext cx="440258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Write one sentence using 会 or 不太会 about a sport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394450" y="4384675"/>
            <a:ext cx="4739132" cy="3433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Self-check against the written recap you just completed.</a:t>
            </a:r>
            <a:endParaRPr lang="en-US" sz="8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Traffic-light your confidence on your mini whiteboard against each criterion.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79576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654300" y="2905125"/>
            <a:ext cx="3098800" cy="203835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38900" y="2905125"/>
            <a:ext cx="3098800" cy="203835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E5DF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8000" y="190500"/>
            <a:ext cx="1872008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CONSOLIDATION + TEST PREP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2612926" y="187325"/>
            <a:ext cx="888750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Preview · Next Up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571629" y="2092325"/>
            <a:ext cx="1076075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spc="13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COMING UP NEXT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3700264" y="2352675"/>
            <a:ext cx="4818805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This unit's final checkpoint — then a brand new hobby topic begins.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997200" y="3197225"/>
            <a:ext cx="2440432" cy="615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📝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2997200" y="3921125"/>
            <a:ext cx="24404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b="1" spc="78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UP FIRST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2997200" y="4105275"/>
            <a:ext cx="2440432" cy="342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测验 3.2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997200" y="4479925"/>
            <a:ext cx="244043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Test 3.2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981700" y="2905125"/>
            <a:ext cx="256032" cy="2056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781800" y="3197225"/>
            <a:ext cx="2440432" cy="615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💃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6781800" y="3921125"/>
            <a:ext cx="24404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50" b="1" spc="78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9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6781800" y="4105275"/>
            <a:ext cx="2440432" cy="342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舞蹈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781800" y="4479925"/>
            <a:ext cx="244043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Dance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deck.liyu.dev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Editable classroom lesson slides</dc:subject>
  <dc:creator>deck.liyu.dev</dc:creator>
  <cp:lastModifiedBy>deck.liyu.dev</cp:lastModifiedBy>
  <cp:revision>1</cp:revision>
  <dcterms:created xsi:type="dcterms:W3CDTF">2026-07-20T00:32:12Z</dcterms:created>
  <dcterms:modified xsi:type="dcterms:W3CDTF">2026-07-20T00:32:12Z</dcterms:modified>
</cp:coreProperties>
</file>