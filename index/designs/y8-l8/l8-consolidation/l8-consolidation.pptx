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OF 8 · Y8 UNIT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21920" y="2282726"/>
            <a:ext cx="1243584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5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</a:t>
            </a:r>
            <a:pPr algn="ctr" indent="0" marL="0">
              <a:spcBef>
                <a:spcPts val="1400"/>
              </a:spcBef>
              <a:buNone/>
            </a:pPr>
            <a:r>
              <a:rPr lang="en-US" sz="5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·复习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-121920" y="3308152"/>
            <a:ext cx="124358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5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Consolidation + Test 3.2 Prep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-121920" y="3803452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Speaking + Listening + Writing  ·  轻松学中文 Book 2 · Unit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8792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Lessons 1–7 Recap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92002"/>
            <a:ext cx="5511850" cy="1668810"/>
          </a:xfrm>
          <a:prstGeom prst="roundRect">
            <a:avLst>
              <a:gd name="adj" fmla="val 608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704677"/>
            <a:ext cx="51882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426" y="2006203"/>
            <a:ext cx="518822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Teacher shows a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from any of the 7 previous lessons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426" y="2521595"/>
            <a:ext cx="518822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Class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 says pinyin + English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at speed, across the whole unit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1492002"/>
            <a:ext cx="56220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CATEGORIES COVERED (L1–7)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48400" y="1793528"/>
            <a:ext cx="645319" cy="523875"/>
          </a:xfrm>
          <a:prstGeom prst="roundRect">
            <a:avLst>
              <a:gd name="adj" fmla="val 1454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10325" y="1879253"/>
            <a:ext cx="3278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0325" y="2088803"/>
            <a:ext cx="3278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95220" y="1793528"/>
            <a:ext cx="925264" cy="523875"/>
          </a:xfrm>
          <a:prstGeom prst="roundRect">
            <a:avLst>
              <a:gd name="adj" fmla="val 1454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57145" y="1879253"/>
            <a:ext cx="6134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-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57145" y="2088803"/>
            <a:ext cx="6134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 / Movies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021985" y="1793528"/>
            <a:ext cx="1263402" cy="523875"/>
          </a:xfrm>
          <a:prstGeom prst="roundRect">
            <a:avLst>
              <a:gd name="adj" fmla="val 1454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83910" y="1879253"/>
            <a:ext cx="958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-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910" y="2088803"/>
            <a:ext cx="9583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Frequency Adverbs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386888" y="1793528"/>
            <a:ext cx="628650" cy="523875"/>
          </a:xfrm>
          <a:prstGeom prst="roundRect">
            <a:avLst>
              <a:gd name="adj" fmla="val 1454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548813" y="1879253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48813" y="2088803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17038" y="1793528"/>
            <a:ext cx="864245" cy="523875"/>
          </a:xfrm>
          <a:prstGeom prst="roundRect">
            <a:avLst>
              <a:gd name="adj" fmla="val 14545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278963" y="1879253"/>
            <a:ext cx="5512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-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78963" y="2088803"/>
            <a:ext cx="5512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1750" y="3440013"/>
            <a:ext cx="11328499" cy="527000"/>
          </a:xfrm>
          <a:prstGeom prst="rect">
            <a:avLst/>
          </a:prstGeom>
          <a:solidFill>
            <a:srgbClr val="F6EB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5563" y="3440013"/>
            <a:ext cx="0" cy="527000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975" y="3592413"/>
            <a:ext cx="11040148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"This is our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last Sports lesson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the test. Today we pull every piece —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speaking, listening, and writing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together."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2958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LEARNING INTENTION &amp; SC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84175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Ready for Test 3.2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41400"/>
            <a:ext cx="11328499" cy="1031825"/>
          </a:xfrm>
          <a:prstGeom prst="rect">
            <a:avLst/>
          </a:prstGeom>
          <a:solidFill>
            <a:srgbClr val="F6EB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441400"/>
            <a:ext cx="0" cy="1031825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7975" y="1593800"/>
            <a:ext cx="110401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7975" y="1825526"/>
            <a:ext cx="1104014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combine everything from this unit — </a:t>
            </a:r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sports, TV/movies, frequency, and 但是</a:t>
            </a:r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in conversation, listening, and writing, ready for Test 3.2.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1750" y="2625626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9800" y="2665214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3501" y="2625626"/>
            <a:ext cx="6900282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hold a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6-question hobby conversation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经常/差不多/但是/不太喜欢/会/不太会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31750" y="3019276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7149" y="3058864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3501" y="3019276"/>
            <a:ext cx="6387789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spoken descriptions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people's sport habits </a:t>
            </a:r>
            <a:pPr algn="l" indent="0" marL="0">
              <a:lnSpc>
                <a:spcPts val="1750"/>
              </a:lnSpc>
              <a:buNone/>
            </a:pPr>
            <a:r>
              <a:rPr lang="en-US" sz="12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(Act. 14 listening)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1750" y="3412927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6852" y="3452515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3501" y="3412927"/>
            <a:ext cx="6594699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key Test 3.2 sentences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correctly using this unit's grammar patterns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1750" y="3844677"/>
            <a:ext cx="11328499" cy="688777"/>
          </a:xfrm>
          <a:prstGeom prst="roundRect">
            <a:avLst>
              <a:gd name="adj" fmla="val 11063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9400" y="4031903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85701" y="3990677"/>
            <a:ext cx="44963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lesson doubles as revision for Test 3.2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85701" y="4225528"/>
            <a:ext cx="44963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success criteria map directly onto what the test will ask you to do.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2633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I DO · NEW VOCABULARY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34926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504801"/>
            <a:ext cx="5562600" cy="977801"/>
          </a:xfrm>
          <a:prstGeom prst="roundRect">
            <a:avLst>
              <a:gd name="adj" fmla="val 10391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701" y="1727002"/>
            <a:ext cx="38862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8852" y="1765102"/>
            <a:ext cx="1432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huì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8852" y="1993702"/>
            <a:ext cx="1432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can; know how 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501" y="1504801"/>
            <a:ext cx="5562749" cy="977801"/>
          </a:xfrm>
          <a:prstGeom prst="roundRect">
            <a:avLst>
              <a:gd name="adj" fmla="val 10391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70452" y="1727002"/>
            <a:ext cx="116586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不太会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816602" y="1765102"/>
            <a:ext cx="2170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bú tài huì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6602" y="1993702"/>
            <a:ext cx="2170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can't really (do something)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750" y="2685752"/>
            <a:ext cx="11328499" cy="777776"/>
          </a:xfrm>
          <a:prstGeom prst="roundRect">
            <a:avLst>
              <a:gd name="adj" fmla="val 9797"/>
            </a:avLst>
          </a:prstGeom>
          <a:solidFill>
            <a:srgbClr val="EB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701" y="2917478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1002" y="2857202"/>
            <a:ext cx="580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 (huì) = </a:t>
            </a:r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ability/skill</a:t>
            </a:r>
            <a:pPr algn="l" indent="0" marL="0">
              <a:buNone/>
            </a:pPr>
            <a:r>
              <a:rPr lang="en-US" sz="13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not preference, different from 喜欢/不太喜欢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1002" y="3111103"/>
            <a:ext cx="58010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 each word, model pronunciation twice — class repeats twice (choral).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750" y="3666679"/>
            <a:ext cx="11328499" cy="971550"/>
          </a:xfrm>
          <a:prstGeom prst="roundRect">
            <a:avLst>
              <a:gd name="adj" fmla="val 7843"/>
            </a:avLst>
          </a:prstGeom>
          <a:solidFill>
            <a:srgbClr val="FBEDEB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4701" y="3838129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1002" y="3838129"/>
            <a:ext cx="10583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Note for the teacher: outside this lesson's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1002" y="4104829"/>
            <a:ext cx="1058382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3.2's vocabulary list also includes 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长跑, 短跑, 走路, 游泳池, 水球, 通常, 大家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the phrase 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打得不太好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from the 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</a:t>
            </a:r>
            <a:pPr algn="l" indent="0" marL="0">
              <a:lnSpc>
                <a:spcPts val="1425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dictionary look-up exercises and complement structures, not the core textbook New Words. Not covered in this 8-lesson sequence — supplement directly from the workbook (WB pp. 82–91) before the test.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70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I DO · TEST 3.2 KEY SENTENCES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784175"/>
            <a:ext cx="115550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Test 3.2 Key Sentences · 关键句子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31750" y="140330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each aloud — class repeats chorally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755725"/>
            <a:ext cx="11328499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0350" y="1882676"/>
            <a:ext cx="22798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每天都去滑冰。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74730" y="1925538"/>
            <a:ext cx="2356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go ice-skating almost every day.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750" y="2396877"/>
            <a:ext cx="11328499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0350" y="2523827"/>
            <a:ext cx="186537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63609" y="2566690"/>
            <a:ext cx="2468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playing basketball.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1750" y="3038029"/>
            <a:ext cx="11328499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0350" y="3164979"/>
            <a:ext cx="17557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Harry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常常</a:t>
            </a:r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看电影。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62439" y="3207841"/>
            <a:ext cx="19692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Harry often watches movies.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1750" y="3679180"/>
            <a:ext cx="11328499" cy="520601"/>
          </a:xfrm>
          <a:prstGeom prst="roundRect">
            <a:avLst>
              <a:gd name="adj" fmla="val 14637"/>
            </a:avLst>
          </a:prstGeom>
          <a:solidFill>
            <a:srgbClr val="EB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875" y="3815655"/>
            <a:ext cx="496264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Tom跟Jerry一起去打乒乓球，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Tom</a:t>
            </a:r>
            <a:pPr algn="l" indent="0" marL="0">
              <a:buNone/>
            </a:pPr>
            <a:r>
              <a:rPr lang="en-US" sz="1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打得不太好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 </a:t>
            </a:r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PATTERN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5433" y="3844230"/>
            <a:ext cx="51766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Tom and Jerry go play table tennis together, but Tom doesn't play it very well.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1750" y="4352181"/>
            <a:ext cx="11328499" cy="688777"/>
          </a:xfrm>
          <a:prstGeom prst="roundRect">
            <a:avLst>
              <a:gd name="adj" fmla="val 11063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9400" y="4553694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176" y="4498181"/>
            <a:ext cx="49627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打得不太好 — verb + 得 + description = "doesn't do it very well"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76176" y="4733032"/>
            <a:ext cx="49627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only need to recognise this pattern for the test, not produce it freely yet.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374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96764"/>
            <a:ext cx="33711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63727" y="1492002"/>
            <a:ext cx="1115169" cy="238125"/>
          </a:xfrm>
          <a:prstGeom prst="roundRect">
            <a:avLst>
              <a:gd name="adj" fmla="val 64000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16127" y="1530102"/>
            <a:ext cx="8265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1750" y="1907828"/>
            <a:ext cx="11328499" cy="863352"/>
          </a:xfrm>
          <a:prstGeom prst="roundRect">
            <a:avLst>
              <a:gd name="adj" fmla="val 1176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209505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0369" y="2158454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28576" y="2095054"/>
            <a:ext cx="51146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</a:t>
            </a:r>
            <a:pPr algn="l" indent="0" marL="0">
              <a:buNone/>
            </a:pPr>
            <a:r>
              <a:rPr lang="en-US" sz="1400" b="1" i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can't really play basketball."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28576" y="2393454"/>
            <a:ext cx="51146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1750" y="2948880"/>
            <a:ext cx="11328499" cy="901452"/>
          </a:xfrm>
          <a:prstGeom prst="roundRect">
            <a:avLst>
              <a:gd name="adj" fmla="val 1127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9875" y="313610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5486" y="3199507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8576" y="3136106"/>
            <a:ext cx="39001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</a:t>
            </a:r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about liking something.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8576" y="3472607"/>
            <a:ext cx="3900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1750" y="4028033"/>
            <a:ext cx="11328499" cy="882402"/>
          </a:xfrm>
          <a:prstGeom prst="roundRect">
            <a:avLst>
              <a:gd name="adj" fmla="val 1151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9875" y="4215259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5040" y="4278660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8576" y="4215259"/>
            <a:ext cx="5367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of the 4 key sentences uses </a:t>
            </a:r>
            <a:pPr algn="l" indent="0" marL="0">
              <a:buNone/>
            </a:pP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跟……一起</a:t>
            </a:r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Point to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28576" y="4532709"/>
            <a:ext cx="5367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609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I DO · CFU ANSWERS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92002"/>
            <a:ext cx="11328499" cy="828675"/>
          </a:xfrm>
          <a:prstGeom prst="roundRect">
            <a:avLst>
              <a:gd name="adj" fmla="val 1226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65392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0369" y="1717328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8576" y="1653927"/>
            <a:ext cx="2188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 can't really play basketball."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228576" y="1892052"/>
            <a:ext cx="21888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我不太会打篮球。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1750" y="2473077"/>
            <a:ext cx="11328499" cy="1034951"/>
          </a:xfrm>
          <a:prstGeom prst="roundRect">
            <a:avLst>
              <a:gd name="adj" fmla="val 981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9875" y="26350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5486" y="2698403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28576" y="2635002"/>
            <a:ext cx="4371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 会 about liking something?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28576" y="2873127"/>
            <a:ext cx="43713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No — 会 is about ability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28576" y="3165128"/>
            <a:ext cx="43713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会 asks "can you do it?" — not "do you like it?" That's 喜欢/不太喜欢.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1750" y="3660428"/>
            <a:ext cx="11328499" cy="996851"/>
          </a:xfrm>
          <a:prstGeom prst="roundRect">
            <a:avLst>
              <a:gd name="adj" fmla="val 1019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875" y="38223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95040" y="3885754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28576" y="3822353"/>
            <a:ext cx="38295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key sentence uses 跟……一起?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28576" y="4060478"/>
            <a:ext cx="3829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Tom跟Jerry一起去打乒乓球，但是Tom打得不太好。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8576" y="4314379"/>
            <a:ext cx="382957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Tom &amp; Jerry sentence — "Tom and Jerry go together."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4757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ACTIVITY 1 · PARTNER DIALOGUE · 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501700"/>
            <a:ext cx="1177230" cy="288727"/>
          </a:xfrm>
          <a:prstGeom prst="roundRect">
            <a:avLst>
              <a:gd name="adj" fmla="val 5278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65100"/>
            <a:ext cx="7863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6682" y="431750"/>
            <a:ext cx="4142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Partner Dialogue · 6 Questions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1750" y="1012775"/>
            <a:ext cx="877193" cy="301526"/>
          </a:xfrm>
          <a:prstGeom prst="roundRect">
            <a:avLst>
              <a:gd name="adj" fmla="val 50543"/>
            </a:avLst>
          </a:prstGeom>
          <a:solidFill>
            <a:srgbClr val="F6EBD3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1073051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35894" y="1031825"/>
            <a:ext cx="1484263" cy="263426"/>
          </a:xfrm>
          <a:prstGeom prst="roundRect">
            <a:avLst>
              <a:gd name="adj" fmla="val 57853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8294" y="1082576"/>
            <a:ext cx="12030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7107" y="1082576"/>
            <a:ext cx="4041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 13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1750" y="1466701"/>
            <a:ext cx="5537299" cy="2336006"/>
          </a:xfrm>
          <a:prstGeom prst="roundRect">
            <a:avLst>
              <a:gd name="adj" fmla="val 434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1653927"/>
            <a:ext cx="521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426" y="1945928"/>
            <a:ext cx="5214187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In pairs, </a:t>
            </a:r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 6 hobby questions</a:t>
            </a:r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the unit's reference words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4426" y="2456111"/>
            <a:ext cx="5214187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Use </a:t>
            </a:r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经常/常常, 差不多, 每个周末, 但是, 不太喜欢, 会/不太会</a:t>
            </a:r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your answers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426" y="2966293"/>
            <a:ext cx="5214187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</a:t>
            </a:r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2–3 pairs report</a:t>
            </a:r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interesting answer about their partner to the class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22950" y="1466701"/>
            <a:ext cx="5537299" cy="2336006"/>
          </a:xfrm>
          <a:prstGeom prst="roundRect">
            <a:avLst>
              <a:gd name="adj" fmla="val 434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6101" y="1644402"/>
            <a:ext cx="52336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 WORDS · 词库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6101" y="1936403"/>
            <a:ext cx="5130998" cy="168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经常 / 常常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often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almost / about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每个周末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every weekend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但是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but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don't really like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 / 不太会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can / can't really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3955107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150" y="4056608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84150" y="4247108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6 reference words and question starters stay projected throughout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58717" y="3955107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411117" y="4056608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11117" y="4247108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add a follow-up question of their own beyond the 6 given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85683" y="3955107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38083" y="4056608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38083" y="4247108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both asks and answers all 6 questions; reporting-back calls on multiple pairs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8272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ACTIVITY 2 · LISTENING · 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57200"/>
            <a:ext cx="1720453" cy="288727"/>
          </a:xfrm>
          <a:prstGeom prst="roundRect">
            <a:avLst>
              <a:gd name="adj" fmla="val 5278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20601"/>
            <a:ext cx="134043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2 · LISTENING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29904" y="406301"/>
            <a:ext cx="30693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听力练习 · CD Track 40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16761" y="520601"/>
            <a:ext cx="404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 14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883057" y="450800"/>
            <a:ext cx="877193" cy="301526"/>
          </a:xfrm>
          <a:prstGeom prst="roundRect">
            <a:avLst>
              <a:gd name="adj" fmla="val 50543"/>
            </a:avLst>
          </a:prstGeom>
          <a:solidFill>
            <a:srgbClr val="EBF3F4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70282" y="511076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1750" y="923776"/>
            <a:ext cx="4269135" cy="2885182"/>
          </a:xfrm>
          <a:prstGeom prst="roundRect">
            <a:avLst>
              <a:gd name="adj" fmla="val 4402"/>
            </a:avLst>
          </a:prstGeom>
          <a:solidFill>
            <a:srgbClr val="EB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37643" y="1442442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💿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207568" y="2156817"/>
            <a:ext cx="7316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1782" y="2394942"/>
            <a:ext cx="437501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798141" y="3109317"/>
            <a:ext cx="156692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Book 2 · Unit 3 · Act. 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29485" y="923776"/>
            <a:ext cx="6967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to do: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29485" y="1253877"/>
            <a:ext cx="6830764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91410" y="1352252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64361" y="1352252"/>
            <a:ext cx="44697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you will hear 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short items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each with 3 possible answers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29485" y="1780729"/>
            <a:ext cx="6830764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91410" y="1879104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4361" y="1879104"/>
            <a:ext cx="32325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Circle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correct choice for each of the 6 items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29485" y="2307580"/>
            <a:ext cx="6830764" cy="425351"/>
          </a:xfrm>
          <a:prstGeom prst="roundRect">
            <a:avLst>
              <a:gd name="adj" fmla="val 1791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91410" y="2405955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64361" y="2405955"/>
            <a:ext cx="47376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 a class immediately after — hands up for any you missed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29485" y="2834432"/>
            <a:ext cx="6830764" cy="974527"/>
          </a:xfrm>
          <a:prstGeom prst="roundRect">
            <a:avLst>
              <a:gd name="adj" fmla="val 7819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16711" y="2945457"/>
            <a:ext cx="65854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SHEET FORMAT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16711" y="3174057"/>
            <a:ext cx="647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32208" y="3174057"/>
            <a:ext cx="19792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72629" y="3174057"/>
            <a:ext cx="19792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13050" y="3174057"/>
            <a:ext cx="19792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16711" y="3335982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72629" y="3335982"/>
            <a:ext cx="1979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◯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16711" y="3516957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32208" y="3516957"/>
            <a:ext cx="19792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◯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1750" y="3935909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4150" y="403740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4150" y="4227909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vocabulary for all 18 answer options pre-translated at the bottom of the sheet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258717" y="3935909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411117" y="403740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411117" y="4227909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 any 2 items, also write why the other 2 options are wrong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85683" y="3935909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238083" y="403740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238083" y="4227909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Independent listening task; self-mark as a class immediately after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7062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GAME · ODD ONE OUT · 4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57200"/>
            <a:ext cx="810518" cy="288727"/>
          </a:xfrm>
          <a:prstGeom prst="roundRect">
            <a:avLst>
              <a:gd name="adj" fmla="val 52783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20601"/>
            <a:ext cx="412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419969" y="406301"/>
            <a:ext cx="368141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谁不是同类？· Odd One Out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883354" y="450800"/>
            <a:ext cx="876895" cy="301526"/>
          </a:xfrm>
          <a:prstGeom prst="roundRect">
            <a:avLst>
              <a:gd name="adj" fmla="val 50543"/>
            </a:avLst>
          </a:prstGeom>
          <a:solidFill>
            <a:srgbClr val="FBEDEB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070580" y="511076"/>
            <a:ext cx="5124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1750" y="949226"/>
            <a:ext cx="1155506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projects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words at a time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3 from one category, 1 from another. Students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identify and explain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which one doesn't belong and why.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1314896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LIVE DISCUSSION — DON'T CALL IT OUT UNTIL ASKED!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578322"/>
            <a:ext cx="2717750" cy="1301651"/>
          </a:xfrm>
          <a:prstGeom prst="roundRect">
            <a:avLst>
              <a:gd name="adj" fmla="val 78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9452" y="1800523"/>
            <a:ext cx="242234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9452" y="2305348"/>
            <a:ext cx="2422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9452" y="2495848"/>
            <a:ext cx="2422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01901" y="1578322"/>
            <a:ext cx="2717899" cy="1301651"/>
          </a:xfrm>
          <a:prstGeom prst="roundRect">
            <a:avLst>
              <a:gd name="adj" fmla="val 78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49601" y="1800523"/>
            <a:ext cx="24224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49601" y="2305348"/>
            <a:ext cx="2422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wǎngqiú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9601" y="2495848"/>
            <a:ext cx="24224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72200" y="1578322"/>
            <a:ext cx="2717750" cy="1301651"/>
          </a:xfrm>
          <a:prstGeom prst="roundRect">
            <a:avLst>
              <a:gd name="adj" fmla="val 78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19901" y="1800523"/>
            <a:ext cx="242234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乒乓球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319901" y="2305348"/>
            <a:ext cx="24223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pīngpāngqiú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19901" y="2495848"/>
            <a:ext cx="24223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table tennis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042350" y="1578322"/>
            <a:ext cx="2717899" cy="1301651"/>
          </a:xfrm>
          <a:prstGeom prst="roundRect">
            <a:avLst>
              <a:gd name="adj" fmla="val 7805"/>
            </a:avLst>
          </a:prstGeom>
          <a:solidFill>
            <a:srgbClr val="F6F2E8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90050" y="1800523"/>
            <a:ext cx="24224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电影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90050" y="2305348"/>
            <a:ext cx="2422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diànyǐng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90050" y="2495848"/>
            <a:ext cx="24224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movie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1750" y="3032373"/>
            <a:ext cx="11328499" cy="577751"/>
          </a:xfrm>
          <a:prstGeom prst="roundRect">
            <a:avLst>
              <a:gd name="adj" fmla="val 17585"/>
            </a:avLst>
          </a:prstGeom>
          <a:noFill/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9400" y="3178373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🎲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0875" y="3227933"/>
            <a:ext cx="94249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Rounds 2–5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teacher prepares 3–4 more word groups in the same format (3 from one category + 1 odd one out) for this slide before class.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52305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ACTIVITY 3 · WRITTEN RECAP · 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82650"/>
            <a:ext cx="1175742" cy="288727"/>
          </a:xfrm>
          <a:prstGeom prst="roundRect">
            <a:avLst>
              <a:gd name="adj" fmla="val 52783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546050"/>
            <a:ext cx="7848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5193" y="431750"/>
            <a:ext cx="489054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Written Mini-Test Recap · Test 3.2 Prep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1750" y="999976"/>
            <a:ext cx="877193" cy="301526"/>
          </a:xfrm>
          <a:prstGeom prst="roundRect">
            <a:avLst>
              <a:gd name="adj" fmla="val 50543"/>
            </a:avLst>
          </a:prstGeom>
          <a:solidFill>
            <a:srgbClr val="F6EBD3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1060252"/>
            <a:ext cx="5127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35894" y="1019026"/>
            <a:ext cx="826591" cy="263426"/>
          </a:xfrm>
          <a:prstGeom prst="roundRect">
            <a:avLst>
              <a:gd name="adj" fmla="val 57853"/>
            </a:avLst>
          </a:prstGeom>
          <a:solidFill>
            <a:srgbClr val="EB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8294" y="1069777"/>
            <a:ext cx="532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1750" y="1479203"/>
            <a:ext cx="5537299" cy="904577"/>
          </a:xfrm>
          <a:prstGeom prst="roundRect">
            <a:avLst>
              <a:gd name="adj" fmla="val 1123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1666429"/>
            <a:ext cx="521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TRANSLATE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426" y="1958429"/>
            <a:ext cx="52141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Translate the 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key Test 3.2 sentences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(E→C or C→E)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22950" y="1479203"/>
            <a:ext cx="5537299" cy="904577"/>
          </a:xfrm>
          <a:prstGeom prst="roundRect">
            <a:avLst>
              <a:gd name="adj" fmla="val 1123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35626" y="1666429"/>
            <a:ext cx="521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VOCABULARY GAPS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35626" y="1958429"/>
            <a:ext cx="52141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in 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vocabulary gaps</a:t>
            </a:r>
            <a:pPr algn="l" indent="0" marL="0">
              <a:lnSpc>
                <a:spcPts val="1875"/>
              </a:lnSpc>
              <a:spcBef>
                <a:spcPts val="800"/>
              </a:spcBef>
              <a:buNone/>
            </a:pPr>
            <a:r>
              <a:rPr lang="en-US" sz="12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drawn from this unit's core word list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1750" y="2561481"/>
            <a:ext cx="11328499" cy="688777"/>
          </a:xfrm>
          <a:prstGeom prst="roundRect">
            <a:avLst>
              <a:gd name="adj" fmla="val 11063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9400" y="2762994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✏️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6176" y="2707481"/>
            <a:ext cx="300831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write one original sentence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6176" y="2942332"/>
            <a:ext cx="30083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</a:t>
            </a:r>
            <a:pPr algn="l" indent="0" marL="0">
              <a:spcBef>
                <a:spcPts val="200"/>
              </a:spcBef>
              <a:buNone/>
            </a:pPr>
            <a:r>
              <a:rPr lang="en-US" sz="9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差不多每天都</a:t>
            </a:r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pPr algn="l" indent="0" marL="0">
              <a:spcBef>
                <a:spcPts val="200"/>
              </a:spcBef>
              <a:buNone/>
            </a:pPr>
            <a:r>
              <a:rPr lang="en-US" sz="95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不太喜欢……但是……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1750" y="3427958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4150" y="352945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84150" y="3719959"/>
            <a:ext cx="34371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provided for the vocabulary-gap section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8717" y="3427958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11117" y="352945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411117" y="3719959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additional original sentence using 差不多每天都 or 不太喜欢……但是……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85683" y="3427958"/>
            <a:ext cx="3674566" cy="717352"/>
          </a:xfrm>
          <a:prstGeom prst="roundRect">
            <a:avLst>
              <a:gd name="adj" fmla="val 10622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38083" y="3529459"/>
            <a:ext cx="34371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38083" y="3719959"/>
            <a:ext cx="343716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Collected as a formal check — doubles as informal pre-test data for the teacher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158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31750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31750" y="809476"/>
            <a:ext cx="1155506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31750" y="1492002"/>
            <a:ext cx="5537299" cy="1914079"/>
          </a:xfrm>
          <a:prstGeom prst="roundRect">
            <a:avLst>
              <a:gd name="adj" fmla="val 53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679228"/>
            <a:ext cx="521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4426" y="1996678"/>
            <a:ext cx="521418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  Hold a 6-question hobby conversation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4426" y="2293739"/>
            <a:ext cx="521418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  Understand spoken sport-habit descriptions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426" y="2590800"/>
            <a:ext cx="521418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  Write the key Test 3.2 sentences correctly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426" y="2892623"/>
            <a:ext cx="5111948" cy="0"/>
          </a:xfrm>
          <a:prstGeom prst="line">
            <a:avLst/>
          </a:prstGeom>
          <a:noFill/>
          <a:ln w="9525">
            <a:solidFill>
              <a:srgbClr val="D5CE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426" y="2998887"/>
            <a:ext cx="521418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👍😐👎  How ready do I feel for Test 3.2?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22950" y="1492002"/>
            <a:ext cx="5537299" cy="1914079"/>
          </a:xfrm>
          <a:prstGeom prst="roundRect">
            <a:avLst>
              <a:gd name="adj" fmla="val 53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35626" y="1679228"/>
            <a:ext cx="52141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35626" y="1996678"/>
            <a:ext cx="5111948" cy="73327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59438" y="1996678"/>
            <a:ext cx="0" cy="733276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0952" y="2123629"/>
            <a:ext cx="4803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60952" y="2336304"/>
            <a:ext cx="480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using 会 or 不太会 about a sport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5626" y="2856905"/>
            <a:ext cx="5214187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Self-check against the written recap you just completed.</a:t>
            </a:r>
            <a:endParaRPr lang="en-US" sz="950" dirty="0"/>
          </a:p>
          <a:p>
            <a:pPr algn="l" indent="0" marL="0">
              <a:lnSpc>
                <a:spcPts val="1425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950" dirty="0"/>
          </a:p>
          <a:p>
            <a:pPr algn="l" indent="0" marL="0">
              <a:lnSpc>
                <a:spcPts val="1425"/>
              </a:lnSpc>
              <a:spcBef>
                <a:spcPts val="1000"/>
              </a:spcBef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Traffic-light your confidence</a:t>
            </a:r>
            <a:pPr algn="l" indent="0" marL="0">
              <a:lnSpc>
                <a:spcPts val="1425"/>
              </a:lnSpc>
              <a:spcBef>
                <a:spcPts val="1000"/>
              </a:spcBef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your mini whiteboard against each criterion.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9819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CONSOLIDATION + TEST PREP · PREVIEW · NEXT 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294776" y="431750"/>
            <a:ext cx="16022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101350" y="809476"/>
            <a:ext cx="598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unit's final checkpoint — then a brand new hobby topic begins.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11550" y="1336328"/>
            <a:ext cx="2539901" cy="2063502"/>
          </a:xfrm>
          <a:prstGeom prst="roundRect">
            <a:avLst>
              <a:gd name="adj" fmla="val 6155"/>
            </a:avLst>
          </a:prstGeom>
          <a:solidFill>
            <a:srgbClr val="F6EBD3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42284" y="1634728"/>
            <a:ext cx="18784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📝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42284" y="2307729"/>
            <a:ext cx="1878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 FIRST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42284" y="2520404"/>
            <a:ext cx="18784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测验 3.2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42284" y="2910929"/>
            <a:ext cx="18784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 3.2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53455" y="2172742"/>
            <a:ext cx="28508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40550" y="1336328"/>
            <a:ext cx="2539901" cy="2063502"/>
          </a:xfrm>
          <a:prstGeom prst="roundRect">
            <a:avLst>
              <a:gd name="adj" fmla="val 6155"/>
            </a:avLst>
          </a:prstGeom>
          <a:solidFill>
            <a:srgbClr val="F6F2E8"/>
          </a:solidFill>
          <a:ln w="19050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71284" y="1634728"/>
            <a:ext cx="187843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💃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71284" y="2307729"/>
            <a:ext cx="1878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9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71284" y="2520404"/>
            <a:ext cx="18784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71284" y="2910929"/>
            <a:ext cx="187843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2026-07-21T08:55:17Z</dcterms:created>
  <dcterms:modified xsi:type="dcterms:W3CDTF">2026-07-21T08:55:17Z</dcterms:modified>
</cp:coreProperties>
</file>