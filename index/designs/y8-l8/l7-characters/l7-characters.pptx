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121920" y="1905000"/>
            <a:ext cx="124358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7 OF 8 · Y8 UNIT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-121920" y="2231975"/>
            <a:ext cx="1243584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buNone/>
            </a:pPr>
            <a:r>
              <a:rPr lang="en-US" sz="4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汉字 · 组词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-121920" y="3190726"/>
            <a:ext cx="1243584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16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Simple Characters · Word-Building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-121920" y="3705076"/>
            <a:ext cx="124358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8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8 Chinese  ·  50 mins  ·  Writing + Vocabulary  ·  轻松学中文 Book 2 · p.75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237285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汉字·组词 · REVIEW · 0–8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301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0–8 MIN · REVIEW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1750" y="733276"/>
            <a:ext cx="1155506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回顾 · Correct the Teacher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31750" y="1288852"/>
            <a:ext cx="5775275" cy="1526679"/>
          </a:xfrm>
          <a:prstGeom prst="roundRect">
            <a:avLst>
              <a:gd name="adj" fmla="val 6655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44426" y="1450777"/>
            <a:ext cx="545692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CORRECT THE TEACHER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4426" y="1688902"/>
            <a:ext cx="5349925" cy="663476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writes </a:t>
            </a:r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sentences</a:t>
            </a:r>
            <a:pPr algn="l"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on the board with adverb-placement or 但是 errors</a:t>
            </a:r>
            <a:endParaRPr lang="en-US" sz="1100" dirty="0"/>
          </a:p>
          <a:p>
            <a:pPr algn="l" marL="101600" indent="-1016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Students </a:t>
            </a:r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find and fix</a:t>
            </a:r>
            <a:pPr algn="l"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the errors on mini whiteboards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10176" y="1288852"/>
            <a:ext cx="545707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GRAMMAR FOCUS (LESSON 6)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10176" y="1526977"/>
            <a:ext cx="5350073" cy="593527"/>
          </a:xfrm>
          <a:prstGeom prst="roundRect">
            <a:avLst>
              <a:gd name="adj" fmla="val 12839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572101" y="1638002"/>
            <a:ext cx="51267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Frequency Adverbs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72101" y="1847552"/>
            <a:ext cx="512674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Correct placement in a sentence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10176" y="2222004"/>
            <a:ext cx="5350073" cy="593527"/>
          </a:xfrm>
          <a:prstGeom prst="roundRect">
            <a:avLst>
              <a:gd name="adj" fmla="val 12839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572101" y="2333030"/>
            <a:ext cx="51267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但是 Experience Sentences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72101" y="2542580"/>
            <a:ext cx="512674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Contrasting two experiences or preferences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31750" y="2942481"/>
            <a:ext cx="11328499" cy="653951"/>
          </a:xfrm>
          <a:prstGeom prst="roundRect">
            <a:avLst>
              <a:gd name="adj" fmla="val 11652"/>
            </a:avLst>
          </a:prstGeom>
          <a:solidFill>
            <a:srgbClr val="F5E8C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460325" y="2942481"/>
            <a:ext cx="0" cy="653951"/>
          </a:xfrm>
          <a:prstGeom prst="line">
            <a:avLst/>
          </a:prstGeom>
          <a:noFill/>
          <a:ln w="57150">
            <a:solidFill>
              <a:srgbClr val="C8943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6601" y="3069431"/>
            <a:ext cx="11134267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"You've done a lot of speaking and grammar work this unit. Today we slow down and focus on </a:t>
            </a:r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writing</a:t>
            </a:r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four brand-new characters, and how characters combine to build the sport words you already know."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7895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汉字·组词 · LEARNING INTENTION &amp; SC · 8–10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301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1750" y="733276"/>
            <a:ext cx="11555069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31750" y="1326952"/>
            <a:ext cx="11328499" cy="1012775"/>
          </a:xfrm>
          <a:prstGeom prst="roundRect">
            <a:avLst>
              <a:gd name="adj" fmla="val 7524"/>
            </a:avLst>
          </a:prstGeom>
          <a:solidFill>
            <a:srgbClr val="F5E8C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60325" y="1326952"/>
            <a:ext cx="0" cy="1012775"/>
          </a:xfrm>
          <a:prstGeom prst="line">
            <a:avLst/>
          </a:prstGeom>
          <a:noFill/>
          <a:ln w="57150">
            <a:solidFill>
              <a:srgbClr val="C894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2051" y="1479352"/>
            <a:ext cx="110823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92051" y="1692027"/>
            <a:ext cx="11082349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</a:t>
            </a:r>
            <a:pPr algn="l" indent="0" marL="0">
              <a:spcBef>
                <a:spcPts val="400"/>
              </a:spcBef>
              <a:buNone/>
            </a:pP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four new simple characters</a:t>
            </a:r>
            <a:pPr algn="l" indent="0" marL="0">
              <a:spcBef>
                <a:spcPts val="400"/>
              </a:spcBef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and build sport words by combining characters around a shared base.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31750" y="2466677"/>
            <a:ext cx="11328499" cy="412552"/>
          </a:xfrm>
          <a:prstGeom prst="roundRect">
            <a:avLst>
              <a:gd name="adj" fmla="val 1847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09451" y="2568178"/>
            <a:ext cx="20721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39552" y="2568178"/>
            <a:ext cx="369143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write </a:t>
            </a:r>
            <a:pPr algn="l" indent="0" marL="0">
              <a:buNone/>
            </a:pPr>
            <a:r>
              <a:rPr lang="en-US" sz="12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夕, 心, 目, 方</a:t>
            </a:r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with </a:t>
            </a:r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correct stroke order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31750" y="2980730"/>
            <a:ext cx="11328499" cy="412552"/>
          </a:xfrm>
          <a:prstGeom prst="roundRect">
            <a:avLst>
              <a:gd name="adj" fmla="val 1847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09451" y="3082230"/>
            <a:ext cx="20721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39552" y="3082230"/>
            <a:ext cx="538314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</a:t>
            </a:r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recognise</a:t>
            </a:r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these 4 characters when I see them inside other words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31750" y="3494782"/>
            <a:ext cx="11328499" cy="412552"/>
          </a:xfrm>
          <a:prstGeom prst="roundRect">
            <a:avLst>
              <a:gd name="adj" fmla="val 1847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09451" y="3596283"/>
            <a:ext cx="20721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39552" y="3596283"/>
            <a:ext cx="566535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</a:t>
            </a:r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build a sport word</a:t>
            </a:r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by adding a character to a shared base </a:t>
            </a:r>
            <a:pPr algn="l" indent="0" marL="0">
              <a:buNone/>
            </a:pPr>
            <a:r>
              <a:rPr lang="en-US" sz="12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(e.g. ___球)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6592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汉字·组词 · SIMPLE CHARACTERS · ACT. 9 (P.75)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3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NEW CHARACTERS TODAY · 今天学的字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31750" y="695176"/>
            <a:ext cx="1155506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 Simple Characters · 四个简单的汉字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31750" y="1174552"/>
            <a:ext cx="2717750" cy="2091928"/>
          </a:xfrm>
          <a:prstGeom prst="roundRect">
            <a:avLst>
              <a:gd name="adj" fmla="val 6071"/>
            </a:avLst>
          </a:prstGeom>
          <a:solidFill>
            <a:srgbClr val="F5E8CC"/>
          </a:solidFill>
          <a:ln w="19050">
            <a:solidFill>
              <a:srgbClr val="E8CD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53493" y="1371302"/>
            <a:ext cx="2474265" cy="6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200"/>
              </a:lnSpc>
              <a:buNone/>
            </a:pPr>
            <a:r>
              <a:rPr lang="en-US" sz="5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夕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553493" y="2082403"/>
            <a:ext cx="247426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xī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53493" y="2282428"/>
            <a:ext cx="247426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sunset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53493" y="2533204"/>
            <a:ext cx="247426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STROKES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53493" y="2745879"/>
            <a:ext cx="247426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900" i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Simple, standalone character — taught for character literacy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301901" y="1174552"/>
            <a:ext cx="2717899" cy="2091928"/>
          </a:xfrm>
          <a:prstGeom prst="roundRect">
            <a:avLst>
              <a:gd name="adj" fmla="val 6071"/>
            </a:avLst>
          </a:prstGeom>
          <a:solidFill>
            <a:srgbClr val="E8F0F1"/>
          </a:solidFill>
          <a:ln w="19050">
            <a:solidFill>
              <a:srgbClr val="6BAFB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423642" y="1371302"/>
            <a:ext cx="2474416" cy="6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200"/>
              </a:lnSpc>
              <a:buNone/>
            </a:pPr>
            <a:r>
              <a:rPr lang="en-US" sz="52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心</a:t>
            </a:r>
            <a:endParaRPr lang="en-US" sz="5200" dirty="0"/>
          </a:p>
        </p:txBody>
      </p:sp>
      <p:sp>
        <p:nvSpPr>
          <p:cNvPr id="15" name="Text 13"/>
          <p:cNvSpPr/>
          <p:nvPr/>
        </p:nvSpPr>
        <p:spPr>
          <a:xfrm>
            <a:off x="3423642" y="2082403"/>
            <a:ext cx="247441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xīn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423642" y="2282428"/>
            <a:ext cx="247441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heart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423642" y="2533204"/>
            <a:ext cx="24744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 STROKES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3642" y="2745879"/>
            <a:ext cx="2474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900" i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Often reappears as a building block in later words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172200" y="1174552"/>
            <a:ext cx="2717750" cy="2091928"/>
          </a:xfrm>
          <a:prstGeom prst="roundRect">
            <a:avLst>
              <a:gd name="adj" fmla="val 6071"/>
            </a:avLst>
          </a:prstGeom>
          <a:solidFill>
            <a:srgbClr val="F9E6E3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293943" y="1371302"/>
            <a:ext cx="2474265" cy="6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200"/>
              </a:lnSpc>
              <a:buNone/>
            </a:pPr>
            <a:r>
              <a:rPr lang="en-US" sz="52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目</a:t>
            </a:r>
            <a:endParaRPr lang="en-US" sz="5200" dirty="0"/>
          </a:p>
        </p:txBody>
      </p:sp>
      <p:sp>
        <p:nvSpPr>
          <p:cNvPr id="21" name="Text 19"/>
          <p:cNvSpPr/>
          <p:nvPr/>
        </p:nvSpPr>
        <p:spPr>
          <a:xfrm>
            <a:off x="6293943" y="2082403"/>
            <a:ext cx="247426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1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mù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293943" y="2282428"/>
            <a:ext cx="247426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eye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93943" y="2533204"/>
            <a:ext cx="247426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 STROKES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293943" y="2745879"/>
            <a:ext cx="247426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900" i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Simple, standalone character — taught for character literacy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042350" y="1174552"/>
            <a:ext cx="2717899" cy="2091928"/>
          </a:xfrm>
          <a:prstGeom prst="roundRect">
            <a:avLst>
              <a:gd name="adj" fmla="val 6071"/>
            </a:avLst>
          </a:prstGeom>
          <a:solidFill>
            <a:srgbClr val="F5E8CC"/>
          </a:solidFill>
          <a:ln w="19050">
            <a:solidFill>
              <a:srgbClr val="E8CD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9164092" y="1371302"/>
            <a:ext cx="2474416" cy="6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200"/>
              </a:lnSpc>
              <a:buNone/>
            </a:pPr>
            <a:r>
              <a:rPr lang="en-US" sz="5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方</a:t>
            </a:r>
            <a:endParaRPr lang="en-US" sz="5200" dirty="0"/>
          </a:p>
        </p:txBody>
      </p:sp>
      <p:sp>
        <p:nvSpPr>
          <p:cNvPr id="27" name="Text 25"/>
          <p:cNvSpPr/>
          <p:nvPr/>
        </p:nvSpPr>
        <p:spPr>
          <a:xfrm>
            <a:off x="9164092" y="2082403"/>
            <a:ext cx="247441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fāng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164092" y="2282428"/>
            <a:ext cx="247441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square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164092" y="2533204"/>
            <a:ext cx="24744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 STROKES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64092" y="2745879"/>
            <a:ext cx="2474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900" i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Often reappears as a building block in later words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259707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汉字·组词 · STROKE ORDER · 笔顺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3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STROKE ORDER GUIDE · 笔顺示意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31750" y="669727"/>
            <a:ext cx="1155506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Follow the stroke order — then copy each character 3 times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31750" y="1076027"/>
            <a:ext cx="11328499" cy="784027"/>
          </a:xfrm>
          <a:prstGeom prst="roundRect">
            <a:avLst>
              <a:gd name="adj" fmla="val 12959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31750" y="1076027"/>
            <a:ext cx="11328499" cy="784027"/>
          </a:xfrm>
          <a:prstGeom prst="rect">
            <a:avLst/>
          </a:prstGeom>
          <a:noFill/>
          <a:ln/>
        </p:spPr>
        <p:txBody>
          <a:bodyPr wrap="square" lIns="177800" tIns="101600" rIns="177800" bIns="10160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夕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xī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</a:t>
            </a:r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Stroke order: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① 丿(slanting stroke) → ② 横撇/横钩 → ③ 丿(final stroke, completes 夕) </a:t>
            </a:r>
            <a:pPr algn="l" indent="0" marL="0"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strokes (fewest today) · Simple, standalone character — taught for character literacy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31750" y="1948904"/>
            <a:ext cx="11328499" cy="784027"/>
          </a:xfrm>
          <a:prstGeom prst="roundRect">
            <a:avLst>
              <a:gd name="adj" fmla="val 12959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31750" y="1948904"/>
            <a:ext cx="11328499" cy="784027"/>
          </a:xfrm>
          <a:prstGeom prst="rect">
            <a:avLst/>
          </a:prstGeom>
          <a:noFill/>
          <a:ln/>
        </p:spPr>
        <p:txBody>
          <a:bodyPr wrap="square" lIns="177800" tIns="101600" rIns="177800" bIns="10160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心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xīn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</a:t>
            </a:r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Stroke order: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① 点 (dot, left) → ② 卧钩 (lying hook) → ③ 点 (dot, middle) → ④ 点 (dot, right) </a:t>
            </a:r>
            <a:pPr algn="l" indent="0" marL="0"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 strokes · Often reappears as a building block in later words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31750" y="2821781"/>
            <a:ext cx="11328499" cy="784027"/>
          </a:xfrm>
          <a:prstGeom prst="roundRect">
            <a:avLst>
              <a:gd name="adj" fmla="val 12959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31750" y="2821781"/>
            <a:ext cx="11328499" cy="784027"/>
          </a:xfrm>
          <a:prstGeom prst="rect">
            <a:avLst/>
          </a:prstGeom>
          <a:noFill/>
          <a:ln/>
        </p:spPr>
        <p:txBody>
          <a:bodyPr wrap="square" lIns="177800" tIns="101600" rIns="177800" bIns="10160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目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mù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</a:t>
            </a:r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Stroke order: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① 竖 (vertical, left) → ② 横折 (horizontal-turn, top+right) → ③–④ 横 (two inner horizontals) → ⑤ 横 (bottom horizontal, closes box) </a:t>
            </a:r>
            <a:pPr algn="l" indent="0" marL="0"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 strokes (most today) · Simple, standalone character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31750" y="3694658"/>
            <a:ext cx="11328499" cy="784027"/>
          </a:xfrm>
          <a:prstGeom prst="roundRect">
            <a:avLst>
              <a:gd name="adj" fmla="val 12959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31750" y="3694658"/>
            <a:ext cx="11328499" cy="784027"/>
          </a:xfrm>
          <a:prstGeom prst="rect">
            <a:avLst/>
          </a:prstGeom>
          <a:noFill/>
          <a:ln/>
        </p:spPr>
        <p:txBody>
          <a:bodyPr wrap="square" lIns="177800" tIns="101600" rIns="177800" bIns="10160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方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fāng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</a:t>
            </a:r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Stroke order: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① 点 (dot) → ② 横 (horizontal) → ③ 横折钩 (horizontal-turn-hook) → ④ 撇 (falling stroke) </a:t>
            </a:r>
            <a:pPr algn="l" indent="0" marL="0"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 strokes · Often reappears as a building block in later words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1750" y="4580186"/>
            <a:ext cx="6092577" cy="425351"/>
          </a:xfrm>
          <a:prstGeom prst="roundRect">
            <a:avLst>
              <a:gd name="adj" fmla="val 17915"/>
            </a:avLst>
          </a:prstGeom>
          <a:solidFill>
            <a:srgbClr val="E8F0F1"/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8976" y="4678561"/>
            <a:ext cx="58324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✏️ Copy each character 3 times — follow stroke order </a:t>
            </a:r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· strokes stay on projector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39374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汉字·组词 · I DO · WORD-BUILDING PATTERN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301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1750" y="720626"/>
            <a:ext cx="1155506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组词公式 · Word-Building Pattern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31750" y="1225451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shared character + new character = new word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1750" y="1539776"/>
            <a:ext cx="774799" cy="631627"/>
          </a:xfrm>
          <a:prstGeom prst="roundRect">
            <a:avLst>
              <a:gd name="adj" fmla="val 16085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79400" y="1660327"/>
            <a:ext cx="28508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篮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308050" y="1712714"/>
            <a:ext cx="13267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539627" y="1539776"/>
            <a:ext cx="774799" cy="631627"/>
          </a:xfrm>
          <a:prstGeom prst="roundRect">
            <a:avLst>
              <a:gd name="adj" fmla="val 16085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787277" y="1660327"/>
            <a:ext cx="28508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球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415927" y="1731764"/>
            <a:ext cx="18140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695277" y="1703189"/>
            <a:ext cx="1131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篮球 </a:t>
            </a:r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basketball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31750" y="2285702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球 FAMILY · BALL SPORTS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31750" y="2561927"/>
            <a:ext cx="11328499" cy="463451"/>
          </a:xfrm>
          <a:prstGeom prst="roundRect">
            <a:avLst>
              <a:gd name="adj" fmla="val 16442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18976" y="2660303"/>
            <a:ext cx="123083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网 + </a:t>
            </a:r>
            <a:pPr algn="l" indent="0" marL="0">
              <a:buNone/>
            </a:pPr>
            <a:r>
              <a:rPr lang="en-US" sz="15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球</a:t>
            </a:r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= 网球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203037" y="2703165"/>
            <a:ext cx="37738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tennis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31750" y="3101578"/>
            <a:ext cx="11328499" cy="463451"/>
          </a:xfrm>
          <a:prstGeom prst="roundRect">
            <a:avLst>
              <a:gd name="adj" fmla="val 16442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18976" y="3199954"/>
            <a:ext cx="161945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羽毛 + </a:t>
            </a:r>
            <a:pPr algn="l" indent="0" marL="0">
              <a:buNone/>
            </a:pPr>
            <a:r>
              <a:rPr lang="en-US" sz="15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球</a:t>
            </a:r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= 羽毛球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926961" y="3242816"/>
            <a:ext cx="65898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badminton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31750" y="3679329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电 FAMILY · REVIEW FROM LESSON 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31750" y="3955554"/>
            <a:ext cx="11328499" cy="463451"/>
          </a:xfrm>
          <a:prstGeom prst="roundRect">
            <a:avLst>
              <a:gd name="adj" fmla="val 16442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18976" y="4053929"/>
            <a:ext cx="123083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</a:t>
            </a:r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+ 视 = 电视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0994827" y="4096792"/>
            <a:ext cx="58976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television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31750" y="4495205"/>
            <a:ext cx="11328499" cy="463451"/>
          </a:xfrm>
          <a:prstGeom prst="roundRect">
            <a:avLst>
              <a:gd name="adj" fmla="val 16442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18976" y="4593580"/>
            <a:ext cx="123083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</a:t>
            </a:r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+ 影 = 电影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1212413" y="4636443"/>
            <a:ext cx="36782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movie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286850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汉字·组词 · I DO · CFU CHECKPOINTS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301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CHECK FOR UNDERSTANDING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1750" y="733276"/>
            <a:ext cx="1155506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理解检查 · CFU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31750" y="1295102"/>
            <a:ext cx="297036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your answer on your mini whiteboard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445371" y="1288852"/>
            <a:ext cx="1064270" cy="212527"/>
          </a:xfrm>
          <a:prstGeom prst="roundRect">
            <a:avLst>
              <a:gd name="adj" fmla="val 95611"/>
            </a:avLst>
          </a:prstGeom>
          <a:solidFill>
            <a:srgbClr val="E8F0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572321" y="1314152"/>
            <a:ext cx="82657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WHITEBOARD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31750" y="1628329"/>
            <a:ext cx="11328499" cy="822275"/>
          </a:xfrm>
          <a:prstGeom prst="roundRect">
            <a:avLst>
              <a:gd name="adj" fmla="val 12356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44426" y="1790254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41378" y="1790254"/>
            <a:ext cx="31089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01626" y="1790254"/>
            <a:ext cx="1065486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</a:t>
            </a:r>
            <a:pPr algn="l" indent="0" marL="0">
              <a:buNone/>
            </a:pPr>
            <a:r>
              <a:rPr lang="en-US" sz="16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心</a:t>
            </a:r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with correct stroke order — one stroke at a time as I count.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01626" y="2126754"/>
            <a:ext cx="106548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9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on next slide →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31750" y="2564904"/>
            <a:ext cx="11328499" cy="822275"/>
          </a:xfrm>
          <a:prstGeom prst="roundRect">
            <a:avLst>
              <a:gd name="adj" fmla="val 12356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44426" y="2726829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41378" y="2726829"/>
            <a:ext cx="31089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01626" y="2726829"/>
            <a:ext cx="1065486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does </a:t>
            </a:r>
            <a:pPr algn="l" indent="0" marL="0">
              <a:buNone/>
            </a:pPr>
            <a:r>
              <a:rPr lang="en-US" sz="16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目</a:t>
            </a:r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mean? Thumbs up if you remember.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01626" y="3063329"/>
            <a:ext cx="106548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9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on next slide 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31750" y="3501479"/>
            <a:ext cx="11328499" cy="803225"/>
          </a:xfrm>
          <a:prstGeom prst="roundRect">
            <a:avLst>
              <a:gd name="adj" fmla="val 12649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44426" y="3663404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41378" y="3663404"/>
            <a:ext cx="31089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01626" y="3663404"/>
            <a:ext cx="1065486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Fill the gap: </a:t>
            </a:r>
            <a:pPr algn="l" indent="0" marL="0">
              <a:buNone/>
            </a:pPr>
            <a:r>
              <a:rPr lang="en-US" sz="1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羽毛___</a:t>
            </a:r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= badminton.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101626" y="3980855"/>
            <a:ext cx="106548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9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on next slide →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273111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汉字·组词 · I DO · CFU ANSWERS ↳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301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ANSWERS REVEALED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1750" y="733276"/>
            <a:ext cx="1155506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 · Answers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31750" y="1288852"/>
            <a:ext cx="11328499" cy="965002"/>
          </a:xfrm>
          <a:prstGeom prst="roundRect">
            <a:avLst>
              <a:gd name="adj" fmla="val 10529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44426" y="1425327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41378" y="1425327"/>
            <a:ext cx="31089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01626" y="1425327"/>
            <a:ext cx="106548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心 with correct stroke order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101626" y="1663452"/>
            <a:ext cx="1065486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5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心 = 点、卧钩、点、点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01626" y="1955453"/>
            <a:ext cx="106548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dot → lying hook → dot → dot — write in the air first, then on paper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31750" y="2355354"/>
            <a:ext cx="11328499" cy="965002"/>
          </a:xfrm>
          <a:prstGeom prst="roundRect">
            <a:avLst>
              <a:gd name="adj" fmla="val 10529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44426" y="2491829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41378" y="2491829"/>
            <a:ext cx="31089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01626" y="2491829"/>
            <a:ext cx="106548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does 目 mean?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01626" y="2729954"/>
            <a:ext cx="1065486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5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目 = eye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01626" y="3021955"/>
            <a:ext cx="106548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mù — recognise this character inside other words too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31750" y="3421856"/>
            <a:ext cx="11328499" cy="965002"/>
          </a:xfrm>
          <a:prstGeom prst="roundRect">
            <a:avLst>
              <a:gd name="adj" fmla="val 10529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44426" y="3558332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41378" y="3558332"/>
            <a:ext cx="31089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101626" y="3558332"/>
            <a:ext cx="106548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Fill the gap: 羽毛___ = badminton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101626" y="3796457"/>
            <a:ext cx="1065486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5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羽毛球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101626" y="4088457"/>
            <a:ext cx="106548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yǔmáoqiú — 羽毛 (feather) + 球 (ball)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41281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汉字·组词 · ACTIVITY 1 · CHARACTER WRITING · 20–26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46038"/>
            <a:ext cx="1063972" cy="263426"/>
          </a:xfrm>
          <a:prstGeom prst="roundRect">
            <a:avLst>
              <a:gd name="adj" fmla="val 77137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09451" y="496788"/>
            <a:ext cx="7227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622673" y="406301"/>
            <a:ext cx="447823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Character Tracing &amp; Writing · Act. 9 (p.75)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31750" y="863501"/>
            <a:ext cx="826591" cy="301526"/>
          </a:xfrm>
          <a:prstGeom prst="roundRect">
            <a:avLst>
              <a:gd name="adj" fmla="val 67390"/>
            </a:avLst>
          </a:prstGeom>
          <a:solidFill>
            <a:srgbClr val="F5E8CC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93675" y="923776"/>
            <a:ext cx="51279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6 min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359843" y="863501"/>
            <a:ext cx="712291" cy="301526"/>
          </a:xfrm>
          <a:prstGeom prst="roundRect">
            <a:avLst>
              <a:gd name="adj" fmla="val 67390"/>
            </a:avLst>
          </a:prstGeom>
          <a:solidFill>
            <a:srgbClr val="E8F0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512243" y="914251"/>
            <a:ext cx="41564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31750" y="1279327"/>
            <a:ext cx="5499199" cy="2139851"/>
          </a:xfrm>
          <a:prstGeom prst="roundRect">
            <a:avLst>
              <a:gd name="adj" fmla="val 4748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31750" y="1279327"/>
            <a:ext cx="5499199" cy="2139851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夕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xī · sunset · 3 strokes — copy ×3: ▢▢▢</a:t>
            </a:r>
            <a:endParaRPr lang="en-US" sz="1200" dirty="0"/>
          </a:p>
          <a:p>
            <a:pPr algn="l" indent="0" marL="0">
              <a:buNone/>
            </a:pPr>
            <a:r>
              <a:rPr lang="en-US" sz="2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心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xīn · heart · 4 strokes — copy ×3: ▢▢▢</a:t>
            </a:r>
            <a:endParaRPr lang="en-US" sz="1200" dirty="0"/>
          </a:p>
          <a:p>
            <a:pPr algn="l" indent="0" marL="0">
              <a:buNone/>
            </a:pPr>
            <a:r>
              <a:rPr lang="en-US" sz="26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目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mù · eye · 5 strokes — copy ×3: ▢▢▢</a:t>
            </a:r>
            <a:endParaRPr lang="en-US" sz="1200" dirty="0"/>
          </a:p>
          <a:p>
            <a:pPr algn="l" indent="0" marL="0">
              <a:buNone/>
            </a:pPr>
            <a:r>
              <a:rPr lang="en-US" sz="26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方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fāng · square · 4 strokes — copy ×3: ▢▢▢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108650" y="1279327"/>
            <a:ext cx="5651599" cy="2139851"/>
          </a:xfrm>
          <a:prstGeom prst="roundRect">
            <a:avLst>
              <a:gd name="adj" fmla="val 4748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321326" y="1441252"/>
            <a:ext cx="533077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INSTRUCTIONS · 说明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321326" y="1723727"/>
            <a:ext cx="5226248" cy="1152525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Trace each character on </a:t>
            </a:r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grid paper</a:t>
            </a:r>
            <a:pPr algn="l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following teacher-modelled stroke order</a:t>
            </a:r>
            <a:endParaRPr lang="en-US" sz="1100" dirty="0"/>
          </a:p>
          <a:p>
            <a:pPr algn="l" marL="101600" indent="-1016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each character </a:t>
            </a:r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independently 3 times</a:t>
            </a:r>
            <a:pPr algn="l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say the pinyin aloud as you write</a:t>
            </a:r>
            <a:endParaRPr lang="en-US" sz="1100" dirty="0"/>
          </a:p>
          <a:p>
            <a:pPr algn="l" marL="101600" indent="-1016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Check your stroke order against the guide — it </a:t>
            </a:r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stays projected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31750" y="3533477"/>
            <a:ext cx="3691533" cy="644426"/>
          </a:xfrm>
          <a:prstGeom prst="roundRect">
            <a:avLst>
              <a:gd name="adj" fmla="val 1182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58701" y="3622328"/>
            <a:ext cx="350638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58701" y="3765203"/>
            <a:ext cx="350638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Numbered stroke-order diagrams stay projected throughout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250234" y="3533477"/>
            <a:ext cx="3691533" cy="644426"/>
          </a:xfrm>
          <a:prstGeom prst="roundRect">
            <a:avLst>
              <a:gd name="adj" fmla="val 1182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377184" y="3622328"/>
            <a:ext cx="350638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377184" y="3765203"/>
            <a:ext cx="350638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a 5th repetition from memory with the diagram covered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68717" y="3533477"/>
            <a:ext cx="3691533" cy="644426"/>
          </a:xfrm>
          <a:prstGeom prst="roundRect">
            <a:avLst>
              <a:gd name="adj" fmla="val 1182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195667" y="3622328"/>
            <a:ext cx="350638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195667" y="3765203"/>
            <a:ext cx="35063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Every student writes every character — visual check as teacher circulates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502382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汉字·组词 · ACTIVITY 2 · WORD-BUILDING WORKSHEET · 26–32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65088"/>
            <a:ext cx="1084808" cy="263426"/>
          </a:xfrm>
          <a:prstGeom prst="roundRect">
            <a:avLst>
              <a:gd name="adj" fmla="val 77137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09451" y="515838"/>
            <a:ext cx="74399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643509" y="406301"/>
            <a:ext cx="40855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Word-Building Worksheet · Act. 12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431750" y="939701"/>
            <a:ext cx="826591" cy="301526"/>
          </a:xfrm>
          <a:prstGeom prst="roundRect">
            <a:avLst>
              <a:gd name="adj" fmla="val 67390"/>
            </a:avLst>
          </a:prstGeom>
          <a:solidFill>
            <a:srgbClr val="F5E8CC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93675" y="999976"/>
            <a:ext cx="51279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6 min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359843" y="939701"/>
            <a:ext cx="785515" cy="301526"/>
          </a:xfrm>
          <a:prstGeom prst="roundRect">
            <a:avLst>
              <a:gd name="adj" fmla="val 67390"/>
            </a:avLst>
          </a:prstGeom>
          <a:solidFill>
            <a:srgbClr val="E8F0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512243" y="990451"/>
            <a:ext cx="4903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31750" y="1393627"/>
            <a:ext cx="5572125" cy="1390352"/>
          </a:xfrm>
          <a:prstGeom prst="roundRect">
            <a:avLst>
              <a:gd name="adj" fmla="val 7308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18976" y="1580852"/>
            <a:ext cx="530162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INSTRUCTIONS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18976" y="1844278"/>
            <a:ext cx="5197673" cy="752475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You're given base characters: </a:t>
            </a:r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球, 电, 打</a:t>
            </a:r>
            <a:endParaRPr lang="en-US" sz="1100" dirty="0"/>
          </a:p>
          <a:p>
            <a:pPr algn="l" marL="101600" indent="-1016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Add the correct character to </a:t>
            </a:r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complete each sport/TV word</a:t>
            </a:r>
            <a:endParaRPr lang="en-US" sz="1100" dirty="0"/>
          </a:p>
          <a:p>
            <a:pPr algn="l" marL="101600" indent="-1016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the </a:t>
            </a:r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full word</a:t>
            </a:r>
            <a:pPr algn="l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on your worksheet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207026" y="1393627"/>
            <a:ext cx="5553224" cy="1390352"/>
          </a:xfrm>
          <a:prstGeom prst="roundRect">
            <a:avLst>
              <a:gd name="adj" fmla="val 7308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384727" y="1571327"/>
            <a:ext cx="530177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EXAMPLE PROMPTS · 例子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384727" y="1834753"/>
            <a:ext cx="530177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篮___ </a:t>
            </a:r>
            <a:pPr algn="l" indent="0" marL="0">
              <a:buNone/>
            </a:pPr>
            <a:r>
              <a:rPr lang="en-US" sz="15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→</a:t>
            </a:r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篮球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384727" y="2177653"/>
            <a:ext cx="530177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___视 </a:t>
            </a:r>
            <a:pPr algn="l" indent="0" marL="0">
              <a:buNone/>
            </a:pPr>
            <a:r>
              <a:rPr lang="en-US" sz="15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→</a:t>
            </a:r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电视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31750" y="2936379"/>
            <a:ext cx="3691533" cy="644426"/>
          </a:xfrm>
          <a:prstGeom prst="roundRect">
            <a:avLst>
              <a:gd name="adj" fmla="val 1182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58701" y="3025229"/>
            <a:ext cx="350638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58701" y="3168104"/>
            <a:ext cx="35063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bank of possible missing characters provided at the top of the worksheet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250234" y="2936379"/>
            <a:ext cx="3691533" cy="644426"/>
          </a:xfrm>
          <a:prstGeom prst="roundRect">
            <a:avLst>
              <a:gd name="adj" fmla="val 1182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377184" y="3025229"/>
            <a:ext cx="350638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377184" y="3168104"/>
            <a:ext cx="35063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Find one more word from this unit that also contains 球 or 电, without it being given as a prompt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068717" y="2936379"/>
            <a:ext cx="3691533" cy="644426"/>
          </a:xfrm>
          <a:prstGeom prst="roundRect">
            <a:avLst>
              <a:gd name="adj" fmla="val 1182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195667" y="3025229"/>
            <a:ext cx="350638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195667" y="3168104"/>
            <a:ext cx="35063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Students swap worksheets with a neighbour to peer-check answers before the class review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66760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汉字·组词 · GAME · WRITING RELAY · 32–37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15826"/>
            <a:ext cx="753963" cy="282476"/>
          </a:xfrm>
          <a:prstGeom prst="roundRect">
            <a:avLst>
              <a:gd name="adj" fmla="val 71935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09451" y="466576"/>
            <a:ext cx="40653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287214" y="406301"/>
            <a:ext cx="825252" cy="301526"/>
          </a:xfrm>
          <a:prstGeom prst="roundRect">
            <a:avLst>
              <a:gd name="adj" fmla="val 67390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449139" y="466576"/>
            <a:ext cx="51143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5 min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13967" y="415826"/>
            <a:ext cx="883146" cy="282476"/>
          </a:xfrm>
          <a:prstGeom prst="roundRect">
            <a:avLst>
              <a:gd name="adj" fmla="val 71935"/>
            </a:avLst>
          </a:prstGeom>
          <a:solidFill>
            <a:srgbClr val="E8F0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366367" y="466576"/>
            <a:ext cx="58991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Live Play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31750" y="809327"/>
            <a:ext cx="1155506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接力写字 · Writing Relay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31750" y="1301353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Teams line up at the board — teacher calls a character, first student writes it and tags the next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31750" y="1602879"/>
            <a:ext cx="6256437" cy="612577"/>
          </a:xfrm>
          <a:prstGeom prst="roundRect">
            <a:avLst>
              <a:gd name="adj" fmla="val 16586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18976" y="1769418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16183" y="1769418"/>
            <a:ext cx="284937" cy="279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46664" y="1713905"/>
            <a:ext cx="414427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夕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609427" y="1728192"/>
            <a:ext cx="4023583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calls: </a:t>
            </a:r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夕</a:t>
            </a:r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(xī / sunset) — first runner writes it on the board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706517" y="1790105"/>
            <a:ext cx="794445" cy="238125"/>
          </a:xfrm>
          <a:prstGeom prst="roundRect">
            <a:avLst>
              <a:gd name="adj" fmla="val 85333"/>
            </a:avLst>
          </a:prstGeom>
          <a:solidFill>
            <a:srgbClr val="F5E8C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833467" y="1828205"/>
            <a:ext cx="55135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strokes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31750" y="2291655"/>
            <a:ext cx="6256437" cy="612577"/>
          </a:xfrm>
          <a:prstGeom prst="roundRect">
            <a:avLst>
              <a:gd name="adj" fmla="val 16586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18976" y="2458194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16183" y="2458194"/>
            <a:ext cx="284937" cy="279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46664" y="2402681"/>
            <a:ext cx="414427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心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609427" y="2507456"/>
            <a:ext cx="402267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calls: </a:t>
            </a:r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心</a:t>
            </a:r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(xīn / heart) — tag the next runner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705624" y="2478881"/>
            <a:ext cx="795338" cy="238125"/>
          </a:xfrm>
          <a:prstGeom prst="roundRect">
            <a:avLst>
              <a:gd name="adj" fmla="val 85333"/>
            </a:avLst>
          </a:prstGeom>
          <a:solidFill>
            <a:srgbClr val="E8F0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832574" y="2516981"/>
            <a:ext cx="55226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 strokes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31750" y="2980432"/>
            <a:ext cx="6256437" cy="612577"/>
          </a:xfrm>
          <a:prstGeom prst="roundRect">
            <a:avLst>
              <a:gd name="adj" fmla="val 16586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18976" y="3146971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16183" y="3146971"/>
            <a:ext cx="284937" cy="279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046664" y="3091458"/>
            <a:ext cx="414427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目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609427" y="3196233"/>
            <a:ext cx="402373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calls: </a:t>
            </a:r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目</a:t>
            </a:r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(mù / eye) — tag the next runner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706666" y="3167658"/>
            <a:ext cx="794296" cy="238125"/>
          </a:xfrm>
          <a:prstGeom prst="roundRect">
            <a:avLst>
              <a:gd name="adj" fmla="val 85333"/>
            </a:avLst>
          </a:prstGeom>
          <a:solidFill>
            <a:srgbClr val="F9E6E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5833616" y="3205758"/>
            <a:ext cx="55120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 strokes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31750" y="3669209"/>
            <a:ext cx="6256437" cy="612577"/>
          </a:xfrm>
          <a:prstGeom prst="roundRect">
            <a:avLst>
              <a:gd name="adj" fmla="val 16586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18976" y="3835747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16183" y="3835747"/>
            <a:ext cx="284937" cy="279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046664" y="3780234"/>
            <a:ext cx="414427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方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1609427" y="3794522"/>
            <a:ext cx="4022672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calls: </a:t>
            </a:r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方</a:t>
            </a:r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(fāng / square) — last runner writes and finishes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705624" y="3856434"/>
            <a:ext cx="795338" cy="238125"/>
          </a:xfrm>
          <a:prstGeom prst="roundRect">
            <a:avLst>
              <a:gd name="adj" fmla="val 85333"/>
            </a:avLst>
          </a:prstGeom>
          <a:solidFill>
            <a:srgbClr val="F5E8C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5832574" y="3894534"/>
            <a:ext cx="55226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 strokes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865888" y="1602879"/>
            <a:ext cx="4894362" cy="2678906"/>
          </a:xfrm>
          <a:prstGeom prst="roundRect">
            <a:avLst>
              <a:gd name="adj" fmla="val 3793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7078563" y="1764804"/>
            <a:ext cx="455839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RELAY RULES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078563" y="2028230"/>
            <a:ext cx="455839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👥 Teams line up at the board — one column each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078563" y="2313980"/>
            <a:ext cx="455839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📣 Teacher calls a character: 夕 / 心 / 目 / 方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078563" y="2599730"/>
            <a:ext cx="455839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✍️ First student runs up, writes it, tags the next student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7078563" y="2885480"/>
            <a:ext cx="455839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⚡ Fastest correct team wins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7078563" y="3221980"/>
            <a:ext cx="455839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🛠️ Setup Needed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078563" y="3412480"/>
            <a:ext cx="455839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Board space divided into team columns, markers ready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83786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汉字·组词 · ACTIVITY 3 · HOBBY SURVEY INTERVIEW · 37–43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65088"/>
            <a:ext cx="1085404" cy="263426"/>
          </a:xfrm>
          <a:prstGeom prst="roundRect">
            <a:avLst>
              <a:gd name="adj" fmla="val 77137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09451" y="515838"/>
            <a:ext cx="74460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644104" y="406301"/>
            <a:ext cx="386874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Hobby Survey Interview · Act. 11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431750" y="939701"/>
            <a:ext cx="826591" cy="301526"/>
          </a:xfrm>
          <a:prstGeom prst="roundRect">
            <a:avLst>
              <a:gd name="adj" fmla="val 67390"/>
            </a:avLst>
          </a:prstGeom>
          <a:solidFill>
            <a:srgbClr val="F5E8CC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93675" y="999976"/>
            <a:ext cx="51279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6 min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359843" y="939701"/>
            <a:ext cx="785515" cy="301526"/>
          </a:xfrm>
          <a:prstGeom prst="roundRect">
            <a:avLst>
              <a:gd name="adj" fmla="val 67390"/>
            </a:avLst>
          </a:prstGeom>
          <a:solidFill>
            <a:srgbClr val="E8F0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512243" y="990451"/>
            <a:ext cx="4903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31750" y="1393627"/>
            <a:ext cx="5572125" cy="1723430"/>
          </a:xfrm>
          <a:prstGeom prst="roundRect">
            <a:avLst>
              <a:gd name="adj" fmla="val 5895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18976" y="1580852"/>
            <a:ext cx="530162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INSTRUCTIONS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18976" y="1844278"/>
            <a:ext cx="5197673" cy="752475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 pairs, interview your partner across the </a:t>
            </a:r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11-item hobby grid</a:t>
            </a:r>
            <a:endParaRPr lang="en-US" sz="1100" dirty="0"/>
          </a:p>
          <a:p>
            <a:pPr algn="l" marL="101600" indent="-1016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Ask about their </a:t>
            </a:r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sports, TV, and movie</a:t>
            </a:r>
            <a:pPr algn="l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preferences from this unit</a:t>
            </a:r>
            <a:endParaRPr lang="en-US" sz="1100" dirty="0"/>
          </a:p>
          <a:p>
            <a:pPr algn="l" marL="101600" indent="-1016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Mark each item with a response option — </a:t>
            </a:r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directly into the grid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207026" y="1393627"/>
            <a:ext cx="5553224" cy="1723430"/>
          </a:xfrm>
          <a:prstGeom prst="roundRect">
            <a:avLst>
              <a:gd name="adj" fmla="val 5895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384727" y="1571327"/>
            <a:ext cx="530177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RESPONSE OPTIONS · 参考答案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384727" y="1834753"/>
            <a:ext cx="53017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很喜欢 </a:t>
            </a:r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really like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84727" y="2126754"/>
            <a:ext cx="53017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喜欢 </a:t>
            </a:r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like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84727" y="2418755"/>
            <a:ext cx="53017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不太喜欢 </a:t>
            </a:r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don't really like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384727" y="2710755"/>
            <a:ext cx="53017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不喜欢 </a:t>
            </a:r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don't 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1750" y="3269456"/>
            <a:ext cx="3691533" cy="806351"/>
          </a:xfrm>
          <a:prstGeom prst="roundRect">
            <a:avLst>
              <a:gd name="adj" fmla="val 945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558701" y="3358307"/>
            <a:ext cx="350638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58701" y="3501182"/>
            <a:ext cx="35063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All 4 response options and today's vocabulary list stay projected as reference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250234" y="3269456"/>
            <a:ext cx="3691533" cy="806351"/>
          </a:xfrm>
          <a:prstGeom prst="roundRect">
            <a:avLst>
              <a:gd name="adj" fmla="val 945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377184" y="3358307"/>
            <a:ext cx="350638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377184" y="3501182"/>
            <a:ext cx="3506385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one full sentence summarising your partner's overall preference using 但是 — e.g. 他很喜欢运动，但是不太喜欢看电视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068717" y="3269456"/>
            <a:ext cx="3691533" cy="806351"/>
          </a:xfrm>
          <a:prstGeom prst="roundRect">
            <a:avLst>
              <a:gd name="adj" fmla="val 945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8195667" y="3358307"/>
            <a:ext cx="350638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8195667" y="3501182"/>
            <a:ext cx="350638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Every student completes a full 11-item grid for their partner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265187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汉字·组词 · PLENARY · 43–50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301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1750" y="733276"/>
            <a:ext cx="1155506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总结 · Wrap-Up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31750" y="1288852"/>
            <a:ext cx="5572125" cy="1818977"/>
          </a:xfrm>
          <a:prstGeom prst="roundRect">
            <a:avLst>
              <a:gd name="adj" fmla="val 5586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44426" y="1450777"/>
            <a:ext cx="524971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4426" y="1707952"/>
            <a:ext cx="524971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 volunteer writes one character from memory on the board while the class checks stroke order.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4426" y="2133302"/>
            <a:ext cx="5146774" cy="812602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夕心目方 with correct stroke order </a:t>
            </a:r>
            <a:pPr algn="l"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(👍 ✋ 👎)</a:t>
            </a:r>
            <a:endParaRPr lang="en-US" sz="1100" dirty="0"/>
          </a:p>
          <a:p>
            <a:pPr algn="l" marL="101600" indent="-1016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Recognise these 4 characters inside other words </a:t>
            </a:r>
            <a:pPr algn="l"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(👍 ✋ 👎)</a:t>
            </a:r>
            <a:endParaRPr lang="en-US" sz="1100" dirty="0"/>
          </a:p>
          <a:p>
            <a:pPr algn="l" marL="101600" indent="-1016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Build a sport word with a shared base (e.g. ___球) </a:t>
            </a:r>
            <a:pPr algn="l"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(👍 ✋ 👎)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207026" y="1288852"/>
            <a:ext cx="5553224" cy="1818977"/>
          </a:xfrm>
          <a:prstGeom prst="roundRect">
            <a:avLst>
              <a:gd name="adj" fmla="val 5586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410176" y="1441252"/>
            <a:ext cx="524986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EXIT TICKET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10176" y="1698427"/>
            <a:ext cx="5146923" cy="714226"/>
          </a:xfrm>
          <a:prstGeom prst="roundRect">
            <a:avLst>
              <a:gd name="adj" fmla="val 10669"/>
            </a:avLst>
          </a:prstGeom>
          <a:solidFill>
            <a:srgbClr val="E8F0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6438751" y="1698427"/>
            <a:ext cx="0" cy="714226"/>
          </a:xfrm>
          <a:prstGeom prst="line">
            <a:avLst/>
          </a:prstGeom>
          <a:noFill/>
          <a:ln w="57150">
            <a:solidFill>
              <a:srgbClr val="3A7D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19726" y="1825377"/>
            <a:ext cx="488067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TASK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19726" y="2038052"/>
            <a:ext cx="488067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Write 心 and one word that contains 球 — from memory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10176" y="2514154"/>
            <a:ext cx="5249862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Mini whiteboards: </a:t>
            </a:r>
            <a:pPr algn="l" indent="0" marL="0"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 😐 👎</a:t>
            </a:r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against each success criterion before you hand in your exit ticket.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283768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汉字·组词 · PREVIEW · NEXT LESSON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18465" y="762000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COMING UP NEXT · LESSON 8 OF 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18465" y="1063526"/>
            <a:ext cx="11555069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3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Pulling It All Together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18465" y="1673126"/>
            <a:ext cx="1155506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4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Our final Sports lesson — get ready for Test 3.2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225998" y="2174677"/>
            <a:ext cx="1777901" cy="1250752"/>
          </a:xfrm>
          <a:prstGeom prst="roundRect">
            <a:avLst>
              <a:gd name="adj" fmla="val 8123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451107" y="2361902"/>
            <a:ext cx="132768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🗣️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451107" y="2828627"/>
            <a:ext cx="132768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对话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51107" y="3076277"/>
            <a:ext cx="132768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Partner Dialogue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207050" y="2174677"/>
            <a:ext cx="1777901" cy="1250752"/>
          </a:xfrm>
          <a:prstGeom prst="roundRect">
            <a:avLst>
              <a:gd name="adj" fmla="val 8123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432158" y="2361902"/>
            <a:ext cx="132768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🎧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432158" y="2828627"/>
            <a:ext cx="132768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听力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32158" y="3076277"/>
            <a:ext cx="132768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Listening Exercise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188101" y="2174677"/>
            <a:ext cx="1777901" cy="1250752"/>
          </a:xfrm>
          <a:prstGeom prst="roundRect">
            <a:avLst>
              <a:gd name="adj" fmla="val 8123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413209" y="2361902"/>
            <a:ext cx="132768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📝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413209" y="2828627"/>
            <a:ext cx="132768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测验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413209" y="3076277"/>
            <a:ext cx="132768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Test 3.2 Prep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159050" y="3679329"/>
            <a:ext cx="7873901" cy="956667"/>
          </a:xfrm>
          <a:prstGeom prst="roundRect">
            <a:avLst>
              <a:gd name="adj" fmla="val 10620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391207" y="3831729"/>
            <a:ext cx="740958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WHAT'S NEXT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391207" y="4057055"/>
            <a:ext cx="7409587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spcBef>
                <a:spcPts val="500"/>
              </a:spcBef>
              <a:buNone/>
            </a:pPr>
            <a:r>
              <a:rPr lang="en-US" sz="1200" b="1" i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"Next lesson is our final Sports lesson — we'll pull everything together with a partner dialogue, a listening exercise, and get ready for Test 3.2."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31750" y="6562725"/>
            <a:ext cx="16999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2026-07-21T08:50:14Z</dcterms:created>
  <dcterms:modified xsi:type="dcterms:W3CDTF">2026-07-21T08:50:14Z</dcterms:modified>
</cp:coreProperties>
</file>