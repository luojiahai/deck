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2231975"/>
            <a:ext cx="12435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 · 组词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-121920" y="3190726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 Characters · Word-Building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705076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Writing + Vocabulary  ·  轻松学中文 Book 2 · p.75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372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Correct the Teacher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88852"/>
            <a:ext cx="5775275" cy="1526679"/>
          </a:xfrm>
          <a:prstGeom prst="roundRect">
            <a:avLst>
              <a:gd name="adj" fmla="val 665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450777"/>
            <a:ext cx="54569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THE TEACHER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426" y="1688902"/>
            <a:ext cx="5349925" cy="66347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writes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sentences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board with adverb-placement or 但是 errors</a:t>
            </a:r>
            <a:endParaRPr lang="en-US" sz="11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and fix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errors on mini whiteboards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10176" y="1288852"/>
            <a:ext cx="5457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FOCUS (LESSON 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10176" y="1526977"/>
            <a:ext cx="5350073" cy="593527"/>
          </a:xfrm>
          <a:prstGeom prst="roundRect">
            <a:avLst>
              <a:gd name="adj" fmla="val 128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101" y="1638002"/>
            <a:ext cx="5126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Frequency Adverbs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2101" y="1847552"/>
            <a:ext cx="51267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placement in a sentence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10176" y="2222004"/>
            <a:ext cx="5350073" cy="593527"/>
          </a:xfrm>
          <a:prstGeom prst="roundRect">
            <a:avLst>
              <a:gd name="adj" fmla="val 128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101" y="2333030"/>
            <a:ext cx="5126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 Experience Sentences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72101" y="2542580"/>
            <a:ext cx="51267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Contrasting two experiences or preferences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750" y="2942481"/>
            <a:ext cx="11328499" cy="653951"/>
          </a:xfrm>
          <a:prstGeom prst="roundRect">
            <a:avLst>
              <a:gd name="adj" fmla="val 11652"/>
            </a:avLst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0325" y="2942481"/>
            <a:ext cx="0" cy="653951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601" y="3069431"/>
            <a:ext cx="111342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"You've done a lot of speaking and grammar work this unit. Today we slow down and focus on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writing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four brand-new characters, and how characters combine to build the sport words you already know."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89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LEARNING INTENTION &amp; SC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26952"/>
            <a:ext cx="11328499" cy="1012775"/>
          </a:xfrm>
          <a:prstGeom prst="roundRect">
            <a:avLst>
              <a:gd name="adj" fmla="val 7524"/>
            </a:avLst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0325" y="1326952"/>
            <a:ext cx="0" cy="101277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1479352"/>
            <a:ext cx="11082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2051" y="1692027"/>
            <a:ext cx="110823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four new simple characters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build sport words by combining characters around a shared base.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466677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451" y="2568178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9552" y="2568178"/>
            <a:ext cx="3691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夕, 心, 目, 方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stroke 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750" y="2980730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3082230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552" y="3082230"/>
            <a:ext cx="53831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recognise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these 4 characters when I see them inside other 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3494782"/>
            <a:ext cx="11328499" cy="412552"/>
          </a:xfrm>
          <a:prstGeom prst="roundRect">
            <a:avLst>
              <a:gd name="adj" fmla="val 184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3596283"/>
            <a:ext cx="20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9552" y="3596283"/>
            <a:ext cx="56653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a sport word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adding a character to a shared base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(e.g. ___球)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6592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SIMPLE CHARACTERS · ACT. 9 (P.75)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CHARACTERS TODAY · 今天学的字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695176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 Simple Characters · 四个简单的汉字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50" y="1174552"/>
            <a:ext cx="2717750" cy="2091928"/>
          </a:xfrm>
          <a:prstGeom prst="roundRect">
            <a:avLst>
              <a:gd name="adj" fmla="val 6071"/>
            </a:avLst>
          </a:prstGeom>
          <a:solidFill>
            <a:srgbClr val="F5E8CC"/>
          </a:solidFill>
          <a:ln w="19050">
            <a:solidFill>
              <a:srgbClr val="E8CD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3493" y="1371302"/>
            <a:ext cx="247426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夕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53493" y="2082403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493" y="2282428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sunset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493" y="2533204"/>
            <a:ext cx="24742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493" y="2745879"/>
            <a:ext cx="24742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Simple, standalone character — taught for character literacy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01901" y="1174552"/>
            <a:ext cx="2717899" cy="2091928"/>
          </a:xfrm>
          <a:prstGeom prst="roundRect">
            <a:avLst>
              <a:gd name="adj" fmla="val 6071"/>
            </a:avLst>
          </a:prstGeom>
          <a:solidFill>
            <a:srgbClr val="E8F0F1"/>
          </a:solidFill>
          <a:ln w="19050">
            <a:solidFill>
              <a:srgbClr val="6BAF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3642" y="1371302"/>
            <a:ext cx="2474416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423642" y="2082403"/>
            <a:ext cx="2474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3642" y="2282428"/>
            <a:ext cx="2474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3642" y="2533204"/>
            <a:ext cx="2474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3642" y="2745879"/>
            <a:ext cx="2474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 reappears as a building block in later words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174552"/>
            <a:ext cx="2717750" cy="2091928"/>
          </a:xfrm>
          <a:prstGeom prst="roundRect">
            <a:avLst>
              <a:gd name="adj" fmla="val 6071"/>
            </a:avLst>
          </a:prstGeom>
          <a:solidFill>
            <a:srgbClr val="F9E6E3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3943" y="1371302"/>
            <a:ext cx="2474265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293943" y="2082403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3943" y="2282428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eye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3943" y="2533204"/>
            <a:ext cx="24742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93943" y="2745879"/>
            <a:ext cx="24742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Simple, standalone character — taught for character literacy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42350" y="1174552"/>
            <a:ext cx="2717899" cy="2091928"/>
          </a:xfrm>
          <a:prstGeom prst="roundRect">
            <a:avLst>
              <a:gd name="adj" fmla="val 6071"/>
            </a:avLst>
          </a:prstGeom>
          <a:solidFill>
            <a:srgbClr val="F5E8CC"/>
          </a:solidFill>
          <a:ln w="19050">
            <a:solidFill>
              <a:srgbClr val="E8CD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64092" y="1371302"/>
            <a:ext cx="2474416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9164092" y="2082403"/>
            <a:ext cx="2474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fāng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64092" y="2282428"/>
            <a:ext cx="2474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square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64092" y="2533204"/>
            <a:ext cx="2474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64092" y="2745879"/>
            <a:ext cx="2474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 reappears as a building block in later words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597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STROKE ORDER · 笔顺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 GUIDE · 笔顺示意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669727"/>
            <a:ext cx="115550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Follow the stroke order — then copy each character 3 times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1750" y="1076027"/>
            <a:ext cx="11328499" cy="784027"/>
          </a:xfrm>
          <a:prstGeom prst="roundRect">
            <a:avLst>
              <a:gd name="adj" fmla="val 129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076027"/>
            <a:ext cx="11328499" cy="784027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夕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① 丿(slanting stroke) → ② 横撇/横钩 → ③ 丿(final stroke, completes 夕)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 (fewest today) · Simple, standalone character — taught for character literacy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750" y="1948904"/>
            <a:ext cx="11328499" cy="784027"/>
          </a:xfrm>
          <a:prstGeom prst="roundRect">
            <a:avLst>
              <a:gd name="adj" fmla="val 129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1750" y="1948904"/>
            <a:ext cx="11328499" cy="784027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① 点 (dot, left) → ② 卧钩 (lying hook) → ③ 点 (dot, middle) → ④ 点 (dot, right)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 · Often reappears as a building block in later words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821781"/>
            <a:ext cx="11328499" cy="784027"/>
          </a:xfrm>
          <a:prstGeom prst="roundRect">
            <a:avLst>
              <a:gd name="adj" fmla="val 129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2821781"/>
            <a:ext cx="11328499" cy="784027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mù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① 竖 (vertical, left) → ② 横折 (horizontal-turn, top+right) → ③–④ 横 (two inner horizontals) → ⑤ 横 (bottom horizontal, closes box)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 (most today) · Simple, standalone character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750" y="3694658"/>
            <a:ext cx="11328499" cy="784027"/>
          </a:xfrm>
          <a:prstGeom prst="roundRect">
            <a:avLst>
              <a:gd name="adj" fmla="val 129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750" y="3694658"/>
            <a:ext cx="11328499" cy="784027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fāng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order: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① 点 (dot) → ② 横 (horizontal) → ③ 横折钩 (horizontal-turn-hook) → ④ 撇 (falling stroke)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 · Often reappears as a building block in later 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750" y="4580186"/>
            <a:ext cx="6092577" cy="425351"/>
          </a:xfrm>
          <a:prstGeom prst="roundRect">
            <a:avLst>
              <a:gd name="adj" fmla="val 17915"/>
            </a:avLst>
          </a:prstGeom>
          <a:solidFill>
            <a:srgbClr val="E8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976" y="4678561"/>
            <a:ext cx="5832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 Copy each character 3 times — follow stroke order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strokes stay on projector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937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I DO · WORD-BUILDING PATTERN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206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组词公式 · Word-Building Pattern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2254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shared character + new character = new word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539776"/>
            <a:ext cx="774799" cy="631627"/>
          </a:xfrm>
          <a:prstGeom prst="roundRect">
            <a:avLst>
              <a:gd name="adj" fmla="val 16085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660327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08050" y="1712714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9627" y="1539776"/>
            <a:ext cx="774799" cy="631627"/>
          </a:xfrm>
          <a:prstGeom prst="roundRect">
            <a:avLst>
              <a:gd name="adj" fmla="val 16085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87277" y="1660327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15927" y="1731764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5277" y="1703189"/>
            <a:ext cx="113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 </a:t>
            </a:r>
            <a:r>
              <a:rPr lang="en-US" sz="10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basketball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1750" y="2285702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 FAMILY · BALL SPORTS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750" y="2561927"/>
            <a:ext cx="11328499" cy="463451"/>
          </a:xfrm>
          <a:prstGeom prst="roundRect">
            <a:avLst>
              <a:gd name="adj" fmla="val 164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976" y="2660303"/>
            <a:ext cx="1230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 + 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网球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03037" y="2703165"/>
            <a:ext cx="3773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101578"/>
            <a:ext cx="11328499" cy="463451"/>
          </a:xfrm>
          <a:prstGeom prst="roundRect">
            <a:avLst>
              <a:gd name="adj" fmla="val 164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976" y="3199954"/>
            <a:ext cx="16194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羽毛 + 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羽毛球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26961" y="3242816"/>
            <a:ext cx="6589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badminton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750" y="3679329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 FAMILY · REVIEW FROM LESSON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3955554"/>
            <a:ext cx="11328499" cy="463451"/>
          </a:xfrm>
          <a:prstGeom prst="roundRect">
            <a:avLst>
              <a:gd name="adj" fmla="val 164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8976" y="4053929"/>
            <a:ext cx="1230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视 = 电视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94827" y="4096792"/>
            <a:ext cx="5897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television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750" y="4495205"/>
            <a:ext cx="11328499" cy="463451"/>
          </a:xfrm>
          <a:prstGeom prst="roundRect">
            <a:avLst>
              <a:gd name="adj" fmla="val 164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976" y="4593580"/>
            <a:ext cx="1230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影 = 电影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212413" y="4636443"/>
            <a:ext cx="367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movie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8685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95102"/>
            <a:ext cx="2970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5371" y="1288852"/>
            <a:ext cx="1064270" cy="212527"/>
          </a:xfrm>
          <a:prstGeom prst="roundRect">
            <a:avLst>
              <a:gd name="adj" fmla="val 95611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72321" y="1314152"/>
            <a:ext cx="8265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1628329"/>
            <a:ext cx="11328499" cy="822275"/>
          </a:xfrm>
          <a:prstGeom prst="roundRect">
            <a:avLst>
              <a:gd name="adj" fmla="val 12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426" y="17902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1378" y="1790254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1626" y="1790254"/>
            <a:ext cx="106548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correct stroke order — one stroke at a time as I count.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1626" y="2126754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2564904"/>
            <a:ext cx="11328499" cy="822275"/>
          </a:xfrm>
          <a:prstGeom prst="roundRect">
            <a:avLst>
              <a:gd name="adj" fmla="val 1235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426" y="272682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1378" y="2726829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1626" y="2726829"/>
            <a:ext cx="106548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 Thumbs up if you remember.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1626" y="3063329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3501479"/>
            <a:ext cx="11328499" cy="803225"/>
          </a:xfrm>
          <a:prstGeom prst="roundRect">
            <a:avLst>
              <a:gd name="adj" fmla="val 126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4426" y="366340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1378" y="3663404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1626" y="3663404"/>
            <a:ext cx="10654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gap: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羽毛___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badminton.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1626" y="3980855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731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I DO · CFU ANSWERS ↳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88852"/>
            <a:ext cx="11328499" cy="965002"/>
          </a:xfrm>
          <a:prstGeom prst="roundRect">
            <a:avLst>
              <a:gd name="adj" fmla="val 105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4253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1378" y="1425327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1626" y="1425327"/>
            <a:ext cx="10654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心 with correct stroke 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1626" y="1663452"/>
            <a:ext cx="10654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 = 点、卧钩、点、点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1626" y="1955453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dot → lying hook → dot → dot — write in the air first, then on paper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50" y="2355354"/>
            <a:ext cx="11328499" cy="965002"/>
          </a:xfrm>
          <a:prstGeom prst="roundRect">
            <a:avLst>
              <a:gd name="adj" fmla="val 105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249182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1378" y="2491829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1626" y="2491829"/>
            <a:ext cx="10654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目 mean?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1626" y="2729954"/>
            <a:ext cx="10654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 = eye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1626" y="3021955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mù — recognise this character inside other words too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750" y="3421856"/>
            <a:ext cx="11328499" cy="965002"/>
          </a:xfrm>
          <a:prstGeom prst="roundRect">
            <a:avLst>
              <a:gd name="adj" fmla="val 1052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426" y="355833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1378" y="3558332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1626" y="3558332"/>
            <a:ext cx="10654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gap: 羽毛___ = badminton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1626" y="3796457"/>
            <a:ext cx="10654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羽毛球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1626" y="4088457"/>
            <a:ext cx="106548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yǔmáoqiú — 羽毛 (feather) + 球 (ball)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128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ACTIVITY 1 · CHARACTER WRITING · 20–26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46038"/>
            <a:ext cx="1063972" cy="263426"/>
          </a:xfrm>
          <a:prstGeom prst="roundRect">
            <a:avLst>
              <a:gd name="adj" fmla="val 7713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96788"/>
            <a:ext cx="722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22673" y="406301"/>
            <a:ext cx="44782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Character Tracing &amp; Writing · Act. 9 (p.75)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1750" y="863501"/>
            <a:ext cx="826591" cy="301526"/>
          </a:xfrm>
          <a:prstGeom prst="roundRect">
            <a:avLst>
              <a:gd name="adj" fmla="val 6739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23776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9843" y="863501"/>
            <a:ext cx="712291" cy="301526"/>
          </a:xfrm>
          <a:prstGeom prst="roundRect">
            <a:avLst>
              <a:gd name="adj" fmla="val 67390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2243" y="914251"/>
            <a:ext cx="4156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279327"/>
            <a:ext cx="5499199" cy="2139851"/>
          </a:xfrm>
          <a:prstGeom prst="roundRect">
            <a:avLst>
              <a:gd name="adj" fmla="val 47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1750" y="1279327"/>
            <a:ext cx="5499199" cy="2139851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夕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xī · sunset · 3 strokes — copy ×3: ▢▢▢</a:t>
            </a:r>
            <a:endParaRPr lang="en-US" sz="12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xīn · heart · 4 strokes — copy ×3: ▢▢▢</a:t>
            </a:r>
            <a:endParaRPr lang="en-US" sz="12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mù · eye · 5 strokes — copy ×3: ▢▢▢</a:t>
            </a:r>
            <a:endParaRPr lang="en-US" sz="12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fāng · square · 4 strokes — copy ×3: ▢▢▢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08650" y="1279327"/>
            <a:ext cx="5651599" cy="2139851"/>
          </a:xfrm>
          <a:prstGeom prst="roundRect">
            <a:avLst>
              <a:gd name="adj" fmla="val 47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1326" y="1441252"/>
            <a:ext cx="53307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 · 说明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1326" y="1723727"/>
            <a:ext cx="5226248" cy="11525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each character on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paper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following teacher-modelled stroke order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each character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independently 3 times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say the pinyin aloud as you write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your stroke order against the guide — it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stays projected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3533477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8701" y="3622328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8701" y="3765203"/>
            <a:ext cx="3506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Numbered stroke-order diagrams stay projected throughout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50234" y="3533477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77184" y="3622328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77184" y="3765203"/>
            <a:ext cx="3506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5th repetition from memory with the diagram covered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8717" y="3533477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95667" y="3622328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95667" y="3765203"/>
            <a:ext cx="3506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every character — visual check as teacher circulates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0238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ACTIVITY 2 · WORD-BUILDING WORKSHEET · 26–32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65088"/>
            <a:ext cx="1084808" cy="263426"/>
          </a:xfrm>
          <a:prstGeom prst="roundRect">
            <a:avLst>
              <a:gd name="adj" fmla="val 7713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515838"/>
            <a:ext cx="7439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3509" y="406301"/>
            <a:ext cx="4085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Word-Building Worksheet · Act. 12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1750" y="939701"/>
            <a:ext cx="826591" cy="301526"/>
          </a:xfrm>
          <a:prstGeom prst="roundRect">
            <a:avLst>
              <a:gd name="adj" fmla="val 6739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9976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9843" y="939701"/>
            <a:ext cx="785515" cy="301526"/>
          </a:xfrm>
          <a:prstGeom prst="roundRect">
            <a:avLst>
              <a:gd name="adj" fmla="val 67390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2243" y="990451"/>
            <a:ext cx="4903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393627"/>
            <a:ext cx="5572125" cy="1390352"/>
          </a:xfrm>
          <a:prstGeom prst="roundRect">
            <a:avLst>
              <a:gd name="adj" fmla="val 73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580852"/>
            <a:ext cx="53016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8976" y="1844278"/>
            <a:ext cx="5197673" cy="7524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You're given base characters: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球, 电, 打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the correct character to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each sport/TV word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word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your worksheet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7026" y="1393627"/>
            <a:ext cx="5553224" cy="1390352"/>
          </a:xfrm>
          <a:prstGeom prst="roundRect">
            <a:avLst>
              <a:gd name="adj" fmla="val 730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84727" y="1571327"/>
            <a:ext cx="530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PROMPTS · 例子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4727" y="1834753"/>
            <a:ext cx="5301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篮___ 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篮球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4727" y="2177653"/>
            <a:ext cx="5301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___视 </a:t>
            </a: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r>
              <a:rPr lang="en-US" sz="15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电视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1750" y="2936379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8701" y="3025229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8701" y="3168104"/>
            <a:ext cx="3506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possible missing characters provided at the top of the worksheet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0234" y="2936379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77184" y="3025229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77184" y="3168104"/>
            <a:ext cx="3506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one more word from this unit that also contains 球 or 电, without it being given as a prompt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68717" y="2936379"/>
            <a:ext cx="3691533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95667" y="3025229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95667" y="3168104"/>
            <a:ext cx="3506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swap worksheets with a neighbour to peer-check answers before the class 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6676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GAME · WRITING RELAY · 32–37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15826"/>
            <a:ext cx="753963" cy="282476"/>
          </a:xfrm>
          <a:prstGeom prst="roundRect">
            <a:avLst>
              <a:gd name="adj" fmla="val 7193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466576"/>
            <a:ext cx="406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7214" y="406301"/>
            <a:ext cx="825252" cy="301526"/>
          </a:xfrm>
          <a:prstGeom prst="roundRect">
            <a:avLst>
              <a:gd name="adj" fmla="val 6739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49139" y="466576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3967" y="415826"/>
            <a:ext cx="883146" cy="282476"/>
          </a:xfrm>
          <a:prstGeom prst="roundRect">
            <a:avLst>
              <a:gd name="adj" fmla="val 71935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66367" y="466576"/>
            <a:ext cx="5899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 Play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80932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接力写字 · Writing Relay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1750" y="1301353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line up at the board — teacher calls a character, first student writes it and tags the 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1602879"/>
            <a:ext cx="6256437" cy="612577"/>
          </a:xfrm>
          <a:prstGeom prst="roundRect">
            <a:avLst>
              <a:gd name="adj" fmla="val 165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176941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183" y="1769418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6664" y="1713905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9427" y="1728192"/>
            <a:ext cx="40235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calls: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夕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(xī / sunset) — first runner writes it on the 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06517" y="1790105"/>
            <a:ext cx="794445" cy="238125"/>
          </a:xfrm>
          <a:prstGeom prst="roundRect">
            <a:avLst>
              <a:gd name="adj" fmla="val 85333"/>
            </a:avLst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33467" y="1828205"/>
            <a:ext cx="5513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1750" y="2291655"/>
            <a:ext cx="6256437" cy="612577"/>
          </a:xfrm>
          <a:prstGeom prst="roundRect">
            <a:avLst>
              <a:gd name="adj" fmla="val 165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8976" y="245819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6183" y="2458194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6664" y="2402681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9427" y="2507456"/>
            <a:ext cx="40226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calls: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(xīn / heart) — tag the next runner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05624" y="2478881"/>
            <a:ext cx="795338" cy="238125"/>
          </a:xfrm>
          <a:prstGeom prst="roundRect">
            <a:avLst>
              <a:gd name="adj" fmla="val 85333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32574" y="2516981"/>
            <a:ext cx="5522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750" y="2980432"/>
            <a:ext cx="6256437" cy="612577"/>
          </a:xfrm>
          <a:prstGeom prst="roundRect">
            <a:avLst>
              <a:gd name="adj" fmla="val 165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8976" y="314697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6183" y="3146971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6664" y="3091458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9427" y="3196233"/>
            <a:ext cx="40237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calls: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(mù / eye) — tag the next runner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06666" y="3167658"/>
            <a:ext cx="794296" cy="238125"/>
          </a:xfrm>
          <a:prstGeom prst="roundRect">
            <a:avLst>
              <a:gd name="adj" fmla="val 85333"/>
            </a:avLst>
          </a:prstGeom>
          <a:solidFill>
            <a:srgbClr val="F9E6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33616" y="3205758"/>
            <a:ext cx="5512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1750" y="3669209"/>
            <a:ext cx="6256437" cy="612577"/>
          </a:xfrm>
          <a:prstGeom prst="roundRect">
            <a:avLst>
              <a:gd name="adj" fmla="val 165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976" y="383574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183" y="383574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6664" y="3780234"/>
            <a:ext cx="4144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609427" y="3794522"/>
            <a:ext cx="402267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calls: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(fāng / square) — last runner writes and finishes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05624" y="3856434"/>
            <a:ext cx="795338" cy="238125"/>
          </a:xfrm>
          <a:prstGeom prst="roundRect">
            <a:avLst>
              <a:gd name="adj" fmla="val 85333"/>
            </a:avLst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32574" y="3894534"/>
            <a:ext cx="5522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65888" y="1602879"/>
            <a:ext cx="4894362" cy="2678906"/>
          </a:xfrm>
          <a:prstGeom prst="roundRect">
            <a:avLst>
              <a:gd name="adj" fmla="val 37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8563" y="1764804"/>
            <a:ext cx="4558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RELAY RULES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78563" y="2028230"/>
            <a:ext cx="4558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👥 Teams line up at the board — one column each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78563" y="2313980"/>
            <a:ext cx="4558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 Teacher calls a character: 夕 / 心 / 目 / 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78563" y="2599730"/>
            <a:ext cx="4558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First student runs up, writes it, tags the next student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78563" y="2885480"/>
            <a:ext cx="45583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 Fastest correct team wins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78563" y="3221980"/>
            <a:ext cx="4558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🛠️ Setup Needed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78563" y="3412480"/>
            <a:ext cx="4558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Board space divided into team columns, markers ready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378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ACTIVITY 3 · HOBBY SURVEY INTERVIEW · 37–43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65088"/>
            <a:ext cx="1085404" cy="263426"/>
          </a:xfrm>
          <a:prstGeom prst="roundRect">
            <a:avLst>
              <a:gd name="adj" fmla="val 7713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515838"/>
            <a:ext cx="74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4104" y="406301"/>
            <a:ext cx="38687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Hobby Survey Interview · Act. 11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1750" y="939701"/>
            <a:ext cx="826591" cy="301526"/>
          </a:xfrm>
          <a:prstGeom prst="roundRect">
            <a:avLst>
              <a:gd name="adj" fmla="val 6739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9976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9843" y="939701"/>
            <a:ext cx="785515" cy="301526"/>
          </a:xfrm>
          <a:prstGeom prst="roundRect">
            <a:avLst>
              <a:gd name="adj" fmla="val 67390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2243" y="990451"/>
            <a:ext cx="4903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393627"/>
            <a:ext cx="5572125" cy="1723430"/>
          </a:xfrm>
          <a:prstGeom prst="roundRect">
            <a:avLst>
              <a:gd name="adj" fmla="val 58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580852"/>
            <a:ext cx="53016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8976" y="1844278"/>
            <a:ext cx="5197673" cy="7524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interview your partner across the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11-item hobby grid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about their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sports, TV, and movie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preferences from this unit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 each item with a response option —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directly into the grid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7026" y="1393627"/>
            <a:ext cx="5553224" cy="1723430"/>
          </a:xfrm>
          <a:prstGeom prst="roundRect">
            <a:avLst>
              <a:gd name="adj" fmla="val 589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84727" y="1571327"/>
            <a:ext cx="530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RESPONSE OPTIONS · 参考答案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4727" y="1834753"/>
            <a:ext cx="5301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很喜欢 </a:t>
            </a: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really 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4727" y="2126754"/>
            <a:ext cx="5301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 </a:t>
            </a: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4727" y="2418755"/>
            <a:ext cx="5301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 </a:t>
            </a: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don't really 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4727" y="2710755"/>
            <a:ext cx="5301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 </a:t>
            </a: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don't like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3269456"/>
            <a:ext cx="3691533" cy="806351"/>
          </a:xfrm>
          <a:prstGeom prst="roundRect">
            <a:avLst>
              <a:gd name="adj" fmla="val 94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701" y="3358307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8701" y="3501182"/>
            <a:ext cx="35063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4 response options and today's vocabulary list stay projected as reference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0234" y="3269456"/>
            <a:ext cx="3691533" cy="806351"/>
          </a:xfrm>
          <a:prstGeom prst="roundRect">
            <a:avLst>
              <a:gd name="adj" fmla="val 94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77184" y="3358307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77184" y="3501182"/>
            <a:ext cx="350638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full sentence summarising your partner's overall preference using 但是 — e.g. 他很喜欢运动，但是不太喜欢看电视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68717" y="3269456"/>
            <a:ext cx="3691533" cy="806351"/>
          </a:xfrm>
          <a:prstGeom prst="roundRect">
            <a:avLst>
              <a:gd name="adj" fmla="val 94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95667" y="3358307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95667" y="3501182"/>
            <a:ext cx="3506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completes a full 11-item grid for their partner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6518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332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288852"/>
            <a:ext cx="5572125" cy="1818977"/>
          </a:xfrm>
          <a:prstGeom prst="roundRect">
            <a:avLst>
              <a:gd name="adj" fmla="val 55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450777"/>
            <a:ext cx="52497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426" y="1707952"/>
            <a:ext cx="52497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volunteer writes one character from memory on the board while the class checks stroke order.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4426" y="2133302"/>
            <a:ext cx="5146774" cy="8126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夕心目方 with correct stroke order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(👍 ✋ 👎)</a:t>
            </a:r>
            <a:endParaRPr lang="en-US" sz="11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Recognise these 4 characters inside other words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(👍 ✋ 👎)</a:t>
            </a:r>
            <a:endParaRPr lang="en-US" sz="110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a sport word with a shared base (e.g. ___球) 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(👍 ✋ 👎)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07026" y="1288852"/>
            <a:ext cx="5553224" cy="1818977"/>
          </a:xfrm>
          <a:prstGeom prst="roundRect">
            <a:avLst>
              <a:gd name="adj" fmla="val 5586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10176" y="1441252"/>
            <a:ext cx="52498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0176" y="1698427"/>
            <a:ext cx="5146923" cy="714226"/>
          </a:xfrm>
          <a:prstGeom prst="roundRect">
            <a:avLst>
              <a:gd name="adj" fmla="val 10669"/>
            </a:avLst>
          </a:prstGeom>
          <a:solidFill>
            <a:srgbClr val="E8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38751" y="1698427"/>
            <a:ext cx="0" cy="714226"/>
          </a:xfrm>
          <a:prstGeom prst="line">
            <a:avLst/>
          </a:prstGeom>
          <a:noFill/>
          <a:ln w="57150">
            <a:solidFill>
              <a:srgbClr val="3A7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9726" y="1825377"/>
            <a:ext cx="48806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19726" y="2038052"/>
            <a:ext cx="48806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心 and one word that contains 球 — from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0176" y="2514154"/>
            <a:ext cx="524986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whiteboards: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😐 👎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success criterion before you hand in your exit ticket.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8376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汉字·组词 · 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8465" y="76200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LESSON 8 OF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8465" y="1063526"/>
            <a:ext cx="115550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Pulling It All Together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8465" y="1673126"/>
            <a:ext cx="115550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Our final Sports lesson — get ready for Test 3.2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25998" y="2174677"/>
            <a:ext cx="1777901" cy="1250752"/>
          </a:xfrm>
          <a:prstGeom prst="roundRect">
            <a:avLst>
              <a:gd name="adj" fmla="val 8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1107" y="2361902"/>
            <a:ext cx="132768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51107" y="2828627"/>
            <a:ext cx="13276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1107" y="3076277"/>
            <a:ext cx="1327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Dialogue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07050" y="2174677"/>
            <a:ext cx="1777901" cy="1250752"/>
          </a:xfrm>
          <a:prstGeom prst="roundRect">
            <a:avLst>
              <a:gd name="adj" fmla="val 8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2158" y="2361902"/>
            <a:ext cx="132768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32158" y="2828627"/>
            <a:ext cx="13276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2158" y="3076277"/>
            <a:ext cx="1327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Exercise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88101" y="2174677"/>
            <a:ext cx="1777901" cy="1250752"/>
          </a:xfrm>
          <a:prstGeom prst="roundRect">
            <a:avLst>
              <a:gd name="adj" fmla="val 812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13209" y="2361902"/>
            <a:ext cx="132768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13209" y="2828627"/>
            <a:ext cx="13276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13209" y="3076277"/>
            <a:ext cx="13276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3.2 Prep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59050" y="3679329"/>
            <a:ext cx="7873901" cy="956667"/>
          </a:xfrm>
          <a:prstGeom prst="roundRect">
            <a:avLst>
              <a:gd name="adj" fmla="val 1062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91207" y="3831729"/>
            <a:ext cx="74095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1207" y="4057055"/>
            <a:ext cx="740958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500"/>
              </a:spcBef>
              <a:buNone/>
            </a:pPr>
            <a:r>
              <a:rPr lang="en-US" sz="1200" b="1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"Next lesson is our final Sports lesson — we'll pull everything together with a partner dialogue, a listening exercise, and get ready for Test 3.2."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2026-07-21T08:50:14Z</dcterms:created>
  <dcterms:modified xsi:type="dcterms:W3CDTF">2026-07-21T08:50:14Z</dcterms:modified>
</cp:coreProperties>
</file>