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0828" y="5188545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60901" y="5188545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88163" y="5188545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33000" y="4826000"/>
            <a:ext cx="2567432" cy="255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0" dirty="0">
                <a:solidFill>
                  <a:srgbClr val="C8943E">
                    <a:alpha val="4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球</a:t>
            </a:r>
            <a:endParaRPr lang="en-US" sz="20000" dirty="0"/>
          </a:p>
        </p:txBody>
      </p:sp>
      <p:sp>
        <p:nvSpPr>
          <p:cNvPr id="6" name="Text 4"/>
          <p:cNvSpPr/>
          <p:nvPr/>
        </p:nvSpPr>
        <p:spPr>
          <a:xfrm>
            <a:off x="3804741" y="1580555"/>
            <a:ext cx="4609850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spc="20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7 OF 8 · Y8 UNIT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804741" y="1917105"/>
            <a:ext cx="4609850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000" dirty="0">
                <a:solidFill>
                  <a:srgbClr val="C8943E">
                    <a:alpha val="15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球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3804741" y="3359745"/>
            <a:ext cx="4609850" cy="1034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汉字·组词</a:t>
            </a:r>
            <a:endParaRPr lang="en-US" sz="8000" dirty="0"/>
          </a:p>
        </p:txBody>
      </p:sp>
      <p:sp>
        <p:nvSpPr>
          <p:cNvPr id="9" name="Text 7"/>
          <p:cNvSpPr/>
          <p:nvPr/>
        </p:nvSpPr>
        <p:spPr>
          <a:xfrm>
            <a:off x="3804741" y="4426545"/>
            <a:ext cx="4609850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spc="64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Simple Characters · Word-Building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804741" y="5125045"/>
            <a:ext cx="79111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98628" y="5125045"/>
            <a:ext cx="43730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38701" y="5125045"/>
            <a:ext cx="1124494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Writing + Vocabulary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065963" y="5125045"/>
            <a:ext cx="134862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2 · p.75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19324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708150"/>
            <a:ext cx="5207000" cy="16065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23000" y="2089150"/>
            <a:ext cx="5207000" cy="5715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3000" y="2736850"/>
            <a:ext cx="5207000" cy="5715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2000" y="3492500"/>
            <a:ext cx="10668000" cy="59690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5B667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811756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52674" y="187325"/>
            <a:ext cx="85015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762000" y="81280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62000" y="1028700"/>
            <a:ext cx="10695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Correct the Teacher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971550" y="2032000"/>
            <a:ext cx="48153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7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THE TEACHER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3950" y="2298700"/>
            <a:ext cx="46629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writes 2 sentences on the board with adverb-placement or 但是 errors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23950" y="2794000"/>
            <a:ext cx="466293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find and fix the errors on mini whiteboards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23000" y="1822450"/>
            <a:ext cx="5234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7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GRAMMAR FOCUS (LESSON 6)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369050" y="2197100"/>
            <a:ext cx="49423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Frequency Adverbs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69050" y="2419350"/>
            <a:ext cx="49423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placement in a sentence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369050" y="2844800"/>
            <a:ext cx="49423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但是 Experience Sentences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69050" y="3067050"/>
            <a:ext cx="49423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Contrasting two experiences or preferences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762000" y="3492500"/>
            <a:ext cx="10695432" cy="615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"You've done a lot of speaking and grammar work this unit. Today we slow down and focus on writing — four brand-new characters, and how characters combine to build the sport words you already know."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19324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857500"/>
            <a:ext cx="8693150" cy="97155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409575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448945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488315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811756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52674" y="187325"/>
            <a:ext cx="109790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SC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889000" y="189865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89000" y="2127250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123950" y="3009900"/>
            <a:ext cx="8282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23950" y="3168650"/>
            <a:ext cx="8282432" cy="526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write four new simple characters and build sport words by combining characters around a shared base.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9000" y="409575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244600" y="4083050"/>
            <a:ext cx="353302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夕, 心, 目, 方 with correct stroke order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9000" y="448945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244600" y="4476750"/>
            <a:ext cx="497090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recognise these 4 characters when I see them inside other words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89000" y="488315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244600" y="4870450"/>
            <a:ext cx="538464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build a sport word by adding a character to a shared base (e.g. ___球)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19324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000" y="1454150"/>
            <a:ext cx="2679700" cy="484505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20850" y="3168650"/>
            <a:ext cx="254000" cy="127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0100" y="1454150"/>
            <a:ext cx="2679700" cy="484505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52950" y="3168650"/>
            <a:ext cx="254000" cy="127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1454150"/>
            <a:ext cx="2679700" cy="484505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85050" y="3168650"/>
            <a:ext cx="254000" cy="127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04300" y="1454150"/>
            <a:ext cx="2679700" cy="484505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217150" y="3168650"/>
            <a:ext cx="254000" cy="127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8000" y="190500"/>
            <a:ext cx="811756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552674" y="187325"/>
            <a:ext cx="1525139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Simple Characters · Act. 9 (p.75)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08000" y="762000"/>
            <a:ext cx="11203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10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CHARACTERS TODAY · 今天学的字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508000" y="920750"/>
            <a:ext cx="11203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 Simple Characters · 四个简单的汉字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57177" y="1568450"/>
            <a:ext cx="430955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C8943E">
                    <a:alpha val="35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strokes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403350" y="1644650"/>
            <a:ext cx="916432" cy="907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夕</a:t>
            </a:r>
            <a:endParaRPr lang="en-US" sz="7000" dirty="0"/>
          </a:p>
        </p:txBody>
      </p:sp>
      <p:sp>
        <p:nvSpPr>
          <p:cNvPr id="20" name="Text 18"/>
          <p:cNvSpPr/>
          <p:nvPr/>
        </p:nvSpPr>
        <p:spPr>
          <a:xfrm>
            <a:off x="1769666" y="2597150"/>
            <a:ext cx="18370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spc="52" kern="0" dirty="0">
                <a:solidFill>
                  <a:srgbClr val="C8943E">
                    <a:alpha val="75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xī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41277" y="2870200"/>
            <a:ext cx="440480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sunset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587202" y="3232150"/>
            <a:ext cx="548628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STROKES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57784" y="3403600"/>
            <a:ext cx="1407565" cy="3026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8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Simple, standalone character</a:t>
            </a:r>
            <a:endParaRPr lang="en-US" sz="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8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taught for character literacy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489277" y="1568450"/>
            <a:ext cx="430955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3A7D8C">
                    <a:alpha val="35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4235450" y="1644650"/>
            <a:ext cx="916432" cy="907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心</a:t>
            </a:r>
            <a:endParaRPr lang="en-US" sz="7000" dirty="0"/>
          </a:p>
        </p:txBody>
      </p:sp>
      <p:sp>
        <p:nvSpPr>
          <p:cNvPr id="26" name="Text 24"/>
          <p:cNvSpPr/>
          <p:nvPr/>
        </p:nvSpPr>
        <p:spPr>
          <a:xfrm>
            <a:off x="4545608" y="2597150"/>
            <a:ext cx="296116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spc="52" kern="0" dirty="0">
                <a:solidFill>
                  <a:srgbClr val="3A7D8C">
                    <a:alpha val="75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xīn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11774" y="2870200"/>
            <a:ext cx="363784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heart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419302" y="3232150"/>
            <a:ext cx="548628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4009628" y="3403600"/>
            <a:ext cx="1368076" cy="3026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8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Often reappears as a</a:t>
            </a:r>
            <a:endParaRPr lang="en-US" sz="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8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building block in later words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321377" y="1568450"/>
            <a:ext cx="430955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D4756B">
                    <a:alpha val="35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strokes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7067550" y="1644650"/>
            <a:ext cx="916432" cy="907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目</a:t>
            </a:r>
            <a:endParaRPr lang="en-US" sz="7000" dirty="0"/>
          </a:p>
        </p:txBody>
      </p:sp>
      <p:sp>
        <p:nvSpPr>
          <p:cNvPr id="32" name="Text 30"/>
          <p:cNvSpPr/>
          <p:nvPr/>
        </p:nvSpPr>
        <p:spPr>
          <a:xfrm>
            <a:off x="7373243" y="2597150"/>
            <a:ext cx="305046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spc="52" kern="0" dirty="0">
                <a:solidFill>
                  <a:srgbClr val="D4756B">
                    <a:alpha val="75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mù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403207" y="2870200"/>
            <a:ext cx="245019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eye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251402" y="3232150"/>
            <a:ext cx="548628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STROKES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6821984" y="3403600"/>
            <a:ext cx="1407565" cy="3026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8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Simple, standalone character</a:t>
            </a:r>
            <a:endParaRPr lang="en-US" sz="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8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taught for character literacy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1153477" y="1568450"/>
            <a:ext cx="430955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C8943E">
                    <a:alpha val="35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9899650" y="1644650"/>
            <a:ext cx="916432" cy="907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方</a:t>
            </a:r>
            <a:endParaRPr lang="en-US" sz="7000" dirty="0"/>
          </a:p>
        </p:txBody>
      </p:sp>
      <p:sp>
        <p:nvSpPr>
          <p:cNvPr id="38" name="Text 36"/>
          <p:cNvSpPr/>
          <p:nvPr/>
        </p:nvSpPr>
        <p:spPr>
          <a:xfrm>
            <a:off x="10151566" y="2597150"/>
            <a:ext cx="412500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spc="52" kern="0" dirty="0">
                <a:solidFill>
                  <a:srgbClr val="C8943E">
                    <a:alpha val="75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fāng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130334" y="2870200"/>
            <a:ext cx="455065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square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083502" y="3232150"/>
            <a:ext cx="548628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673828" y="3403600"/>
            <a:ext cx="1368076" cy="3026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8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Often reappears as a</a:t>
            </a:r>
            <a:endParaRPr lang="en-US" sz="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8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building block in later words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19324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000" y="1612900"/>
            <a:ext cx="11176000" cy="6794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4350" y="1619250"/>
            <a:ext cx="9207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62100" y="1720850"/>
            <a:ext cx="342900" cy="3429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95500" y="1720850"/>
            <a:ext cx="342900" cy="3429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28900" y="1720850"/>
            <a:ext cx="342900" cy="3429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85300" y="1660525"/>
            <a:ext cx="2292350" cy="5842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000" y="2393950"/>
            <a:ext cx="11176000" cy="6794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4350" y="2400300"/>
            <a:ext cx="9207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62100" y="2501900"/>
            <a:ext cx="342900" cy="3429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95500" y="2501900"/>
            <a:ext cx="342900" cy="3429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28900" y="2501900"/>
            <a:ext cx="342900" cy="3429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62300" y="2501900"/>
            <a:ext cx="342900" cy="3429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85300" y="2441575"/>
            <a:ext cx="2292350" cy="5842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8000" y="3175000"/>
            <a:ext cx="11176000" cy="6794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4350" y="3181350"/>
            <a:ext cx="9207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62100" y="3282950"/>
            <a:ext cx="342900" cy="3429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95500" y="3282950"/>
            <a:ext cx="342900" cy="3429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3282950"/>
            <a:ext cx="342900" cy="3429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3282950"/>
            <a:ext cx="342900" cy="3429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85300" y="3222625"/>
            <a:ext cx="2292350" cy="5842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8000" y="3956050"/>
            <a:ext cx="11176000" cy="6794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4350" y="3962400"/>
            <a:ext cx="9207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62100" y="4064000"/>
            <a:ext cx="342900" cy="3429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95500" y="4064000"/>
            <a:ext cx="342900" cy="3429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4064000"/>
            <a:ext cx="342900" cy="3429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62300" y="4064000"/>
            <a:ext cx="342900" cy="3429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85300" y="4003675"/>
            <a:ext cx="2292350" cy="5842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8000" y="6007100"/>
            <a:ext cx="11176000" cy="3175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8000" y="190500"/>
            <a:ext cx="811756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552674" y="187325"/>
            <a:ext cx="93429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Stroke Order · 笔顺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508000" y="749300"/>
            <a:ext cx="11203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10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STROKE ORDER GUIDE · 笔顺示意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508000" y="1022350"/>
            <a:ext cx="11203432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Follow the stroke order — then copy each character 3 times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806450" y="1708150"/>
            <a:ext cx="35763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夕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930870" y="2063750"/>
            <a:ext cx="10869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spc="3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xī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1562100" y="1720850"/>
            <a:ext cx="370332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丿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698625" y="2082800"/>
            <a:ext cx="97282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1943100" y="1870075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095500" y="1720850"/>
            <a:ext cx="370332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夂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2197100" y="2082800"/>
            <a:ext cx="167132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①②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2476500" y="1870075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628900" y="1720850"/>
            <a:ext cx="370332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夕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2732187" y="2082800"/>
            <a:ext cx="16365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③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9518650" y="1749425"/>
            <a:ext cx="2059432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STROKES (FEWEST TODAY)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9518650" y="1889125"/>
            <a:ext cx="2059432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Simple, standalone character — taught for character literacy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806450" y="2489200"/>
            <a:ext cx="35763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心</a:t>
            </a:r>
            <a:endParaRPr lang="en-US" sz="2600" dirty="0"/>
          </a:p>
        </p:txBody>
      </p:sp>
      <p:sp>
        <p:nvSpPr>
          <p:cNvPr id="51" name="Text 49"/>
          <p:cNvSpPr/>
          <p:nvPr/>
        </p:nvSpPr>
        <p:spPr>
          <a:xfrm>
            <a:off x="899914" y="2844800"/>
            <a:ext cx="17060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spc="3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xīn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1562100" y="2501900"/>
            <a:ext cx="370332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丶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698625" y="2863850"/>
            <a:ext cx="97282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1943100" y="2651125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095500" y="2501900"/>
            <a:ext cx="370332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忄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2197100" y="2863850"/>
            <a:ext cx="167132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①②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2476500" y="2651125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2628900" y="2501900"/>
            <a:ext cx="370332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心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2695575" y="2863850"/>
            <a:ext cx="236982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①②③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3009900" y="2651125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3162300" y="2501900"/>
            <a:ext cx="370332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心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3265587" y="2863850"/>
            <a:ext cx="16365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④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9518650" y="2530475"/>
            <a:ext cx="2059432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9518650" y="2670175"/>
            <a:ext cx="2059432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Often reappears as a building block in later words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806450" y="3270250"/>
            <a:ext cx="35763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目</a:t>
            </a:r>
            <a:endParaRPr lang="en-US" sz="2600" dirty="0"/>
          </a:p>
        </p:txBody>
      </p:sp>
      <p:sp>
        <p:nvSpPr>
          <p:cNvPr id="66" name="Text 64"/>
          <p:cNvSpPr/>
          <p:nvPr/>
        </p:nvSpPr>
        <p:spPr>
          <a:xfrm>
            <a:off x="894655" y="3625850"/>
            <a:ext cx="18112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spc="3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mù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562100" y="3282950"/>
            <a:ext cx="370332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丨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1698625" y="3644900"/>
            <a:ext cx="97282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</a:t>
            </a:r>
            <a:endParaRPr lang="en-US" sz="600" dirty="0"/>
          </a:p>
        </p:txBody>
      </p:sp>
      <p:sp>
        <p:nvSpPr>
          <p:cNvPr id="69" name="Text 67"/>
          <p:cNvSpPr/>
          <p:nvPr/>
        </p:nvSpPr>
        <p:spPr>
          <a:xfrm>
            <a:off x="1943100" y="3432175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2095500" y="3282950"/>
            <a:ext cx="370332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冂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2197100" y="3644900"/>
            <a:ext cx="167132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①②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2476500" y="3432175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2628900" y="3282950"/>
            <a:ext cx="370332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日</a:t>
            </a:r>
            <a:endParaRPr lang="en-US" sz="1400" dirty="0"/>
          </a:p>
        </p:txBody>
      </p:sp>
      <p:sp>
        <p:nvSpPr>
          <p:cNvPr id="74" name="Text 72"/>
          <p:cNvSpPr/>
          <p:nvPr/>
        </p:nvSpPr>
        <p:spPr>
          <a:xfrm>
            <a:off x="2698750" y="3644900"/>
            <a:ext cx="230533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①—④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3009900" y="3432175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3162300" y="3282950"/>
            <a:ext cx="370332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目</a:t>
            </a:r>
            <a:endParaRPr lang="en-US" sz="1800" dirty="0"/>
          </a:p>
        </p:txBody>
      </p:sp>
      <p:sp>
        <p:nvSpPr>
          <p:cNvPr id="77" name="Text 75"/>
          <p:cNvSpPr/>
          <p:nvPr/>
        </p:nvSpPr>
        <p:spPr>
          <a:xfrm>
            <a:off x="3265587" y="3644900"/>
            <a:ext cx="16365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⑤</a:t>
            </a:r>
            <a:endParaRPr lang="en-US" sz="600" dirty="0"/>
          </a:p>
        </p:txBody>
      </p:sp>
      <p:sp>
        <p:nvSpPr>
          <p:cNvPr id="78" name="Text 76"/>
          <p:cNvSpPr/>
          <p:nvPr/>
        </p:nvSpPr>
        <p:spPr>
          <a:xfrm>
            <a:off x="9518650" y="3311525"/>
            <a:ext cx="2059432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STROKES (MOST TODAY)</a:t>
            </a:r>
            <a:endParaRPr lang="en-US" sz="600" dirty="0"/>
          </a:p>
        </p:txBody>
      </p:sp>
      <p:sp>
        <p:nvSpPr>
          <p:cNvPr id="79" name="Text 77"/>
          <p:cNvSpPr/>
          <p:nvPr/>
        </p:nvSpPr>
        <p:spPr>
          <a:xfrm>
            <a:off x="9518650" y="3451225"/>
            <a:ext cx="2059432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Simple, standalone character — taught for character literacy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806450" y="4051300"/>
            <a:ext cx="35763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方</a:t>
            </a:r>
            <a:endParaRPr lang="en-US" sz="2600" dirty="0"/>
          </a:p>
        </p:txBody>
      </p:sp>
      <p:sp>
        <p:nvSpPr>
          <p:cNvPr id="81" name="Text 79"/>
          <p:cNvSpPr/>
          <p:nvPr/>
        </p:nvSpPr>
        <p:spPr>
          <a:xfrm>
            <a:off x="866874" y="4406900"/>
            <a:ext cx="23678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spc="3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fāng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1562100" y="4064000"/>
            <a:ext cx="370332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丶</a:t>
            </a:r>
            <a:endParaRPr lang="en-US" sz="1200" dirty="0"/>
          </a:p>
        </p:txBody>
      </p:sp>
      <p:sp>
        <p:nvSpPr>
          <p:cNvPr id="83" name="Text 81"/>
          <p:cNvSpPr/>
          <p:nvPr/>
        </p:nvSpPr>
        <p:spPr>
          <a:xfrm>
            <a:off x="1698625" y="4425950"/>
            <a:ext cx="97282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</a:t>
            </a:r>
            <a:endParaRPr lang="en-US" sz="600" dirty="0"/>
          </a:p>
        </p:txBody>
      </p:sp>
      <p:sp>
        <p:nvSpPr>
          <p:cNvPr id="84" name="Text 82"/>
          <p:cNvSpPr/>
          <p:nvPr/>
        </p:nvSpPr>
        <p:spPr>
          <a:xfrm>
            <a:off x="1943100" y="4213225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2095500" y="4064000"/>
            <a:ext cx="370332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亠</a:t>
            </a:r>
            <a:endParaRPr lang="en-US" sz="1400" dirty="0"/>
          </a:p>
        </p:txBody>
      </p:sp>
      <p:sp>
        <p:nvSpPr>
          <p:cNvPr id="86" name="Text 84"/>
          <p:cNvSpPr/>
          <p:nvPr/>
        </p:nvSpPr>
        <p:spPr>
          <a:xfrm>
            <a:off x="2197100" y="4425950"/>
            <a:ext cx="167132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①②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2476500" y="4213225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2628900" y="4064000"/>
            <a:ext cx="370332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方</a:t>
            </a:r>
            <a:endParaRPr lang="en-US" sz="1500" dirty="0"/>
          </a:p>
        </p:txBody>
      </p:sp>
      <p:sp>
        <p:nvSpPr>
          <p:cNvPr id="89" name="Text 87"/>
          <p:cNvSpPr/>
          <p:nvPr/>
        </p:nvSpPr>
        <p:spPr>
          <a:xfrm>
            <a:off x="2695575" y="4425950"/>
            <a:ext cx="236982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①②③</a:t>
            </a:r>
            <a:endParaRPr lang="en-US" sz="600" dirty="0"/>
          </a:p>
        </p:txBody>
      </p:sp>
      <p:sp>
        <p:nvSpPr>
          <p:cNvPr id="90" name="Text 88"/>
          <p:cNvSpPr/>
          <p:nvPr/>
        </p:nvSpPr>
        <p:spPr>
          <a:xfrm>
            <a:off x="3009900" y="4213225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3162300" y="4064000"/>
            <a:ext cx="370332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方</a:t>
            </a:r>
            <a:endParaRPr lang="en-US" sz="1800" dirty="0"/>
          </a:p>
        </p:txBody>
      </p:sp>
      <p:sp>
        <p:nvSpPr>
          <p:cNvPr id="92" name="Text 90"/>
          <p:cNvSpPr/>
          <p:nvPr/>
        </p:nvSpPr>
        <p:spPr>
          <a:xfrm>
            <a:off x="3265587" y="4425950"/>
            <a:ext cx="16365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④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9518650" y="4092575"/>
            <a:ext cx="2059432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9518650" y="4232275"/>
            <a:ext cx="2059432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Often reappears as a building block in later words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3654127" y="6099175"/>
            <a:ext cx="129604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· strokes stay on projector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19324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362200"/>
            <a:ext cx="774700" cy="647700"/>
          </a:xfrm>
          <a:prstGeom prst="roundRect">
            <a:avLst/>
          </a:prstGeom>
          <a:solidFill>
            <a:srgbClr val="EDE7D7"/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61356" y="2362200"/>
            <a:ext cx="774700" cy="647700"/>
          </a:xfrm>
          <a:prstGeom prst="roundRect">
            <a:avLst/>
          </a:prstGeom>
          <a:solidFill>
            <a:srgbClr val="EDE7D7"/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511550"/>
            <a:ext cx="10414000" cy="4445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4032250"/>
            <a:ext cx="10414000" cy="4445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787900"/>
            <a:ext cx="10414000" cy="4445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9000" y="5308600"/>
            <a:ext cx="10414000" cy="4445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000" y="190500"/>
            <a:ext cx="811756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552674" y="187325"/>
            <a:ext cx="1351506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Word-Building Pattern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89000" y="128270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89000" y="1511300"/>
            <a:ext cx="104414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组词公式 · Word-Building Pattern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89000" y="2000250"/>
            <a:ext cx="10441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shared character + new character = new word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9000" y="2362200"/>
            <a:ext cx="802132" cy="665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752600" y="2540000"/>
            <a:ext cx="147288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961356" y="2362200"/>
            <a:ext cx="802132" cy="665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球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824956" y="2568575"/>
            <a:ext cx="1925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078956" y="2428875"/>
            <a:ext cx="1415205" cy="532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篮球basketball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89000" y="3314700"/>
            <a:ext cx="10441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7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球 FAMILY · BALL SPORTS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047750" y="3594100"/>
            <a:ext cx="1209921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 + 球 = 网球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815439" y="3651250"/>
            <a:ext cx="356243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tennis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7750" y="4114800"/>
            <a:ext cx="1590921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羽毛 + 球 = 羽毛球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553402" y="4171950"/>
            <a:ext cx="618280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badminton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9000" y="4591050"/>
            <a:ext cx="10441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7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 FAMILY · REVIEW FROM LESSON 5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047750" y="4870450"/>
            <a:ext cx="1209921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 + 视 = 电视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0628809" y="4927600"/>
            <a:ext cx="542873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television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47750" y="5391150"/>
            <a:ext cx="1209921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 + 影 = 电影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815638" y="5448300"/>
            <a:ext cx="356045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movie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19324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41812" y="2352873"/>
            <a:ext cx="772616" cy="1587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2740223"/>
            <a:ext cx="10414000" cy="8191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3150" y="2898973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3711773"/>
            <a:ext cx="10414000" cy="8191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3150" y="3870523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9000" y="4683323"/>
            <a:ext cx="10414000" cy="793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3150" y="4842073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000" y="190500"/>
            <a:ext cx="811756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552674" y="187325"/>
            <a:ext cx="111417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889000" y="1558727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89000" y="1787327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889000" y="2320727"/>
            <a:ext cx="10441432" cy="209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answer on your mini whiteboard WHITEBOARD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73150" y="2898973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79550" y="2898973"/>
            <a:ext cx="96667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心 with correct stroke order — one stroke at a time as I count.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79550" y="3229173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73150" y="3870523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79550" y="3870523"/>
            <a:ext cx="96667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目 mean? Thumbs up if you remember.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79550" y="4200723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73150" y="4842073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79550" y="4842073"/>
            <a:ext cx="96667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the gap: 羽毛___ = badminton.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79550" y="5146873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19324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438400"/>
            <a:ext cx="10414000" cy="9398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2571750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505200"/>
            <a:ext cx="10414000" cy="9398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3150" y="3638550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572000"/>
            <a:ext cx="10414000" cy="9398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3150" y="4705350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000" y="190500"/>
            <a:ext cx="811756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552674" y="187325"/>
            <a:ext cx="104482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↳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89000" y="152400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89000" y="1752600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73150" y="2571750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79550" y="2571750"/>
            <a:ext cx="96667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心 with correct stroke order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79550" y="2825750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心 = 点、卧钩、点、点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79550" y="3086100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dot → lying hook → dot → dot — write in the air first, then on paper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73150" y="3638550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79550" y="3638550"/>
            <a:ext cx="96667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目 mean?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79550" y="3892550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目 = eye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79550" y="4152900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mù — recognise this character inside other words too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73150" y="4705350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79550" y="4705350"/>
            <a:ext cx="96667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the gap: 羽毛___ = badminton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79550" y="4959350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羽毛球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79550" y="5219700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yǔmáoqiú — 羽毛 (feather) + 球 (ball)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19324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1500" y="815975"/>
            <a:ext cx="801588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" y="1212850"/>
            <a:ext cx="596999" cy="2349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44699" y="1235075"/>
            <a:ext cx="501551" cy="1905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1500" y="1587500"/>
            <a:ext cx="5448300" cy="19812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850" y="1720850"/>
            <a:ext cx="2546350" cy="8128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70000" y="2235200"/>
            <a:ext cx="215900" cy="215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17650" y="2235200"/>
            <a:ext cx="215900" cy="215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65300" y="2235200"/>
            <a:ext cx="215900" cy="215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40100" y="1720850"/>
            <a:ext cx="2546350" cy="8128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5250" y="2235200"/>
            <a:ext cx="215900" cy="215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52900" y="2235200"/>
            <a:ext cx="215900" cy="215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00550" y="2235200"/>
            <a:ext cx="215900" cy="215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4850" y="2622550"/>
            <a:ext cx="2546350" cy="8128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70000" y="3136900"/>
            <a:ext cx="215900" cy="215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7650" y="3136900"/>
            <a:ext cx="215900" cy="215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65300" y="3136900"/>
            <a:ext cx="215900" cy="215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40100" y="2622550"/>
            <a:ext cx="2546350" cy="8128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05250" y="3136900"/>
            <a:ext cx="215900" cy="215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52900" y="3136900"/>
            <a:ext cx="215900" cy="215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00550" y="3136900"/>
            <a:ext cx="215900" cy="215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1587500"/>
            <a:ext cx="5448300" cy="19812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71500" y="3848100"/>
            <a:ext cx="3632200" cy="387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9900" y="3848100"/>
            <a:ext cx="3632200" cy="387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88300" y="3848100"/>
            <a:ext cx="3632200" cy="387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8000" y="190500"/>
            <a:ext cx="811756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552674" y="187325"/>
            <a:ext cx="1982339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Character Writing · 20–26 min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71500" y="815975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1500088" y="736600"/>
            <a:ext cx="5566716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Character Tracing &amp; Writing · Act. 9 (p.75)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571500" y="1212850"/>
            <a:ext cx="624431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1244699" y="1235075"/>
            <a:ext cx="528983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812800" y="1962150"/>
            <a:ext cx="40843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夕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1270000" y="1803400"/>
            <a:ext cx="190068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xī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270000" y="1949450"/>
            <a:ext cx="190068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sunset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270000" y="2127250"/>
            <a:ext cx="1900682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STROKES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3448050" y="1962150"/>
            <a:ext cx="40843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心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3905250" y="1803400"/>
            <a:ext cx="190068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xīn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3905250" y="1949450"/>
            <a:ext cx="190068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heart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905250" y="2127250"/>
            <a:ext cx="1900682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812800" y="2863850"/>
            <a:ext cx="40843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目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1270000" y="2705100"/>
            <a:ext cx="190068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mù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270000" y="2851150"/>
            <a:ext cx="190068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eye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270000" y="3028950"/>
            <a:ext cx="1900682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STROKES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3448050" y="2863850"/>
            <a:ext cx="40843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方</a:t>
            </a:r>
            <a:endParaRPr lang="en-US" sz="2600" dirty="0"/>
          </a:p>
        </p:txBody>
      </p:sp>
      <p:sp>
        <p:nvSpPr>
          <p:cNvPr id="49" name="Text 47"/>
          <p:cNvSpPr/>
          <p:nvPr/>
        </p:nvSpPr>
        <p:spPr>
          <a:xfrm>
            <a:off x="3905250" y="2705100"/>
            <a:ext cx="190068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fāng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3905250" y="2851150"/>
            <a:ext cx="190068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square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3905250" y="3028950"/>
            <a:ext cx="1900682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356350" y="1841500"/>
            <a:ext cx="5107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 · 说明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6483350" y="2076450"/>
            <a:ext cx="49804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Trace each character on grid paper, following teacher-modelled stroke order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6483350" y="2365375"/>
            <a:ext cx="4980432" cy="418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each character independently 3 times — say the pinyin aloud as you write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483350" y="2854325"/>
            <a:ext cx="49804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your stroke order against the guide — it stays projected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60400" y="3911600"/>
            <a:ext cx="3481832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4368800" y="3911600"/>
            <a:ext cx="3481832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8077200" y="3911600"/>
            <a:ext cx="3481832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19324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63600"/>
            <a:ext cx="801588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34620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374775"/>
            <a:ext cx="556915" cy="1905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771650"/>
            <a:ext cx="5359400" cy="1590675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7600" y="1771650"/>
            <a:ext cx="5359400" cy="14097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0000" y="2292350"/>
            <a:ext cx="5054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0000" y="2686050"/>
            <a:ext cx="5054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000" y="3540125"/>
            <a:ext cx="3589834" cy="520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1034" y="3540125"/>
            <a:ext cx="3589834" cy="520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67067" y="3540125"/>
            <a:ext cx="3589834" cy="520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8000" y="190500"/>
            <a:ext cx="811756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552674" y="187325"/>
            <a:ext cx="235044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Word-Building Worksheet · 26–32 min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35000" y="863600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563588" y="762000"/>
            <a:ext cx="4977059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Word-Building Worksheet · Act. 12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35000" y="134620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331913" y="1374775"/>
            <a:ext cx="584347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19150" y="2063750"/>
            <a:ext cx="50185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946150" y="2324100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You're given base characters: 球, 电, 打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46150" y="2600325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the correct character to complete each sport/TV word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46150" y="2876550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full word on your worksheet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350000" y="2032000"/>
            <a:ext cx="50820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 PROMPTS · 例子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350000" y="2343150"/>
            <a:ext cx="486120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篮___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947400" y="2368550"/>
            <a:ext cx="4846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→篮球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50000" y="2736850"/>
            <a:ext cx="486120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___视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947400" y="2762250"/>
            <a:ext cx="4846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→电视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23900" y="3603625"/>
            <a:ext cx="34394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4389934" y="3603625"/>
            <a:ext cx="34394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055967" y="3603625"/>
            <a:ext cx="34394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19324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749300"/>
            <a:ext cx="556220" cy="20955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2820" y="736600"/>
            <a:ext cx="596999" cy="2349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1420" y="749300"/>
            <a:ext cx="647700" cy="2095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778000"/>
            <a:ext cx="8331200" cy="5461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150" y="1911350"/>
            <a:ext cx="279400" cy="2794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09446" y="1933575"/>
            <a:ext cx="672604" cy="2349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000" y="2413000"/>
            <a:ext cx="8331200" cy="5461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9150" y="2546350"/>
            <a:ext cx="279400" cy="2794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09446" y="2568575"/>
            <a:ext cx="672604" cy="2349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000" y="3048000"/>
            <a:ext cx="8331200" cy="5461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9150" y="3181350"/>
            <a:ext cx="279400" cy="2794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09446" y="3203575"/>
            <a:ext cx="672604" cy="23495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5000" y="3683000"/>
            <a:ext cx="8331200" cy="5461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9150" y="3816350"/>
            <a:ext cx="279400" cy="2794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09446" y="3838575"/>
            <a:ext cx="672604" cy="2349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0" y="1778000"/>
            <a:ext cx="2413000" cy="2045692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0" y="3912592"/>
            <a:ext cx="2413000" cy="7366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8000" y="190500"/>
            <a:ext cx="811756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552674" y="187325"/>
            <a:ext cx="1638050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Writing Relay · 32–37 min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35000" y="749300"/>
            <a:ext cx="58365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292820" y="736600"/>
            <a:ext cx="624431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991420" y="749300"/>
            <a:ext cx="67513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Live Play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35000" y="1022350"/>
            <a:ext cx="10949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接力写字 · Writing Relay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35000" y="1454150"/>
            <a:ext cx="10949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Teams line up at the board — teacher calls a character, first student writes it and tags the next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19150" y="1911350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238250" y="1898650"/>
            <a:ext cx="4465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夕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797050" y="1971675"/>
            <a:ext cx="6200128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calls: 夕 (xī / sunset) — first runner writes it on the board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109446" y="1933575"/>
            <a:ext cx="700036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strokes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819150" y="2546350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238250" y="2533650"/>
            <a:ext cx="4465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心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1797050" y="2606675"/>
            <a:ext cx="6200128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calls: 心 (xīn / heart) — tag the next runner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109446" y="2568575"/>
            <a:ext cx="700036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819150" y="3181350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238250" y="3168650"/>
            <a:ext cx="4465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目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1797050" y="3241675"/>
            <a:ext cx="6200128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calls: 目 (mù / eye) — tag the next runner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109446" y="3203575"/>
            <a:ext cx="700036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strokes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819150" y="3816350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238250" y="3803650"/>
            <a:ext cx="4465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方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1797050" y="3876675"/>
            <a:ext cx="6200128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calls: 方 (fāng / square) — last runner writes and finishes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8109446" y="3838575"/>
            <a:ext cx="700036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9315450" y="2019300"/>
            <a:ext cx="20975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7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RELAY RULES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9315450" y="2241550"/>
            <a:ext cx="160782" cy="17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👥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9512300" y="2241550"/>
            <a:ext cx="1900682" cy="35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Teams line up at the board — one column each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9315450" y="2642791"/>
            <a:ext cx="160782" cy="17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📣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512300" y="2642791"/>
            <a:ext cx="1900682" cy="35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a character: 夕 / 心 / 目 / 方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315450" y="3044031"/>
            <a:ext cx="160782" cy="17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12300" y="3044031"/>
            <a:ext cx="1900682" cy="35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student runs up, writes it, tags the next student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9315450" y="3445272"/>
            <a:ext cx="160782" cy="17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⚡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9512300" y="3445272"/>
            <a:ext cx="1443581" cy="1871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Fastest correct team wins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9334500" y="4150717"/>
            <a:ext cx="2052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🛠️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9613900" y="4026892"/>
            <a:ext cx="17800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 Needed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613900" y="4230092"/>
            <a:ext cx="17800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Board space divided into team columns, markers ready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19324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63600"/>
            <a:ext cx="801588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34620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374775"/>
            <a:ext cx="556915" cy="1905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771650"/>
            <a:ext cx="5359400" cy="1590675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7600" y="1771650"/>
            <a:ext cx="5359400" cy="19431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0000" y="2292350"/>
            <a:ext cx="50546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0000" y="2622550"/>
            <a:ext cx="50546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0000" y="2952750"/>
            <a:ext cx="50546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0000" y="3282950"/>
            <a:ext cx="50546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000" y="3892550"/>
            <a:ext cx="3589834" cy="520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01034" y="3892550"/>
            <a:ext cx="3589834" cy="520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67067" y="3892550"/>
            <a:ext cx="3589834" cy="520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8000" y="190500"/>
            <a:ext cx="811756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552674" y="187325"/>
            <a:ext cx="227513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Hobby Survey Interview · 37–43 min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35000" y="863600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563588" y="762000"/>
            <a:ext cx="468456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Hobby Survey Interview · Act. 11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35000" y="134620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331913" y="1374775"/>
            <a:ext cx="584347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819150" y="2063750"/>
            <a:ext cx="50185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46150" y="2324100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pairs, interview your partner across the 11-item hobby grid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46150" y="2600325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 about their sports, TV, and movie preferences from this unit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46150" y="2876550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Mark each item with a response option — write directly into the grid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350000" y="2032000"/>
            <a:ext cx="50820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RESPONSE OPTIONS · 参考答案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350000" y="2330450"/>
            <a:ext cx="4465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很喜欢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982920" y="2330450"/>
            <a:ext cx="44911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really like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350000" y="2660650"/>
            <a:ext cx="3068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1248132" y="2660650"/>
            <a:ext cx="183900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like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350000" y="2990850"/>
            <a:ext cx="5862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724257" y="2990850"/>
            <a:ext cx="707775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don't really like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350000" y="3321050"/>
            <a:ext cx="4465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不喜欢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989568" y="3321050"/>
            <a:ext cx="442464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don't like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723900" y="3956050"/>
            <a:ext cx="34394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389934" y="3956050"/>
            <a:ext cx="34394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8055967" y="3956050"/>
            <a:ext cx="34394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19324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3023890"/>
            <a:ext cx="5105400" cy="189607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8550" y="3795415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52550" y="3795415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6550" y="3795415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8550" y="4100215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52550" y="4100215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06550" y="4100215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8550" y="4405015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52550" y="4405015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06550" y="4405015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7600" y="3023890"/>
            <a:ext cx="5105400" cy="189607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7150" y="3538240"/>
            <a:ext cx="4686300" cy="908050"/>
          </a:xfrm>
          <a:prstGeom prst="rect">
            <a:avLst/>
          </a:prstGeom>
          <a:solidFill>
            <a:srgbClr val="EDE7D7"/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8000" y="190500"/>
            <a:ext cx="811756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552674" y="187325"/>
            <a:ext cx="98300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89000" y="211584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89000" y="2344440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098550" y="3315990"/>
            <a:ext cx="4713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98550" y="3538240"/>
            <a:ext cx="4713732" cy="1611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volunteer writes one character from memory on the board while the class checks stroke order.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098550" y="379541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352550" y="379541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606550" y="379541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98550" y="410021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352550" y="410021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606550" y="410021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98550" y="440501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352550" y="440501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606550" y="440501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07150" y="3315990"/>
            <a:ext cx="4713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591300" y="3665240"/>
            <a:ext cx="43771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6591300" y="3849390"/>
            <a:ext cx="4377182" cy="48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心 and one word that contains 球 — from memory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7150" y="4573290"/>
            <a:ext cx="4713732" cy="180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whiteboards: 👍 😐 👎 against each success criterion before you hand in your exit ticket.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19324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19450" y="2916535"/>
            <a:ext cx="1816100" cy="12636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87950" y="2916535"/>
            <a:ext cx="1816100" cy="12636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56450" y="2916535"/>
            <a:ext cx="1816100" cy="12636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98700" y="4459585"/>
            <a:ext cx="7594600" cy="877491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811756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52674" y="187325"/>
            <a:ext cx="107359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Next Lesson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5024735" y="1698625"/>
            <a:ext cx="216996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spc="13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LESSON 8 OF 8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197449" y="1933575"/>
            <a:ext cx="3824434" cy="39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Pulling It All Together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57502" y="2364085"/>
            <a:ext cx="3304429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Our final Sports lesson — get ready for Test 3.2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29000" y="3100685"/>
            <a:ext cx="1424432" cy="46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29000" y="3640435"/>
            <a:ext cx="14244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对话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29000" y="3862685"/>
            <a:ext cx="1424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Dialogue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397500" y="3100685"/>
            <a:ext cx="1424432" cy="46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🎧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397500" y="3640435"/>
            <a:ext cx="14244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听力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397500" y="3862685"/>
            <a:ext cx="1424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Listening Exercise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366000" y="3100685"/>
            <a:ext cx="1424432" cy="46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366000" y="3640435"/>
            <a:ext cx="14244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测验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66000" y="3862685"/>
            <a:ext cx="1424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Test 3.2 Prep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3500" y="4599285"/>
            <a:ext cx="7012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NEXT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2603500" y="4770735"/>
            <a:ext cx="7012432" cy="4449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b="1" i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"Next lesson is our final Sports lesson — we'll pull everything together with a partner dialogue, a listening exercise, and get ready for Test 3.2."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deck.liyu.dev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Editable classroom lesson slides</dc:subject>
  <dc:creator>deck.liyu.dev</dc:creator>
  <cp:lastModifiedBy>deck.liyu.dev</cp:lastModifiedBy>
  <cp:revision>1</cp:revision>
  <dcterms:created xsi:type="dcterms:W3CDTF">2026-07-20T00:32:13Z</dcterms:created>
  <dcterms:modified xsi:type="dcterms:W3CDTF">2026-07-20T00:32:13Z</dcterms:modified>
</cp:coreProperties>
</file>