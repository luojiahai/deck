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332288" y="4970066"/>
            <a:ext cx="25400" cy="254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72360" y="4970066"/>
            <a:ext cx="25400" cy="254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4760" y="4970066"/>
            <a:ext cx="25400" cy="254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33000" y="4826000"/>
            <a:ext cx="2567432" cy="2558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0" dirty="0">
                <a:solidFill>
                  <a:srgbClr val="C8943E">
                    <a:alpha val="4000"/>
                  </a:srgbClr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球</a:t>
            </a:r>
            <a:endParaRPr lang="en-US" sz="20000" dirty="0"/>
          </a:p>
        </p:txBody>
      </p:sp>
      <p:sp>
        <p:nvSpPr>
          <p:cNvPr id="6" name="Text 4"/>
          <p:cNvSpPr/>
          <p:nvPr/>
        </p:nvSpPr>
        <p:spPr>
          <a:xfrm>
            <a:off x="3416201" y="1798935"/>
            <a:ext cx="5387030" cy="20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spc="200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LESSON 5 OF 8 · Y8 UNIT 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416201" y="2135485"/>
            <a:ext cx="5387030" cy="780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6000" dirty="0">
                <a:solidFill>
                  <a:srgbClr val="C8943E">
                    <a:alpha val="15000"/>
                  </a:srgbClr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球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3416201" y="3407966"/>
            <a:ext cx="5387030" cy="780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6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电视·电影·周末</a:t>
            </a:r>
            <a:endParaRPr lang="en-US" sz="6000" dirty="0"/>
          </a:p>
        </p:txBody>
      </p:sp>
      <p:sp>
        <p:nvSpPr>
          <p:cNvPr id="9" name="Text 7"/>
          <p:cNvSpPr/>
          <p:nvPr/>
        </p:nvSpPr>
        <p:spPr>
          <a:xfrm>
            <a:off x="3416201" y="4220766"/>
            <a:ext cx="5387030" cy="297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spc="60" kern="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TV, Movies &amp; Weekends + 不太喜欢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416201" y="4906566"/>
            <a:ext cx="791119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spc="48" kern="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Year 8 Chinese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510088" y="4906566"/>
            <a:ext cx="437305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spc="48" kern="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50 mins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250160" y="4906566"/>
            <a:ext cx="11196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spc="48" kern="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Speaking + Listening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6672560" y="4906566"/>
            <a:ext cx="2130671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spc="48" kern="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轻松学中文 Book 2 · p.74 · CD Track 39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175371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2000" y="1708150"/>
            <a:ext cx="5207000" cy="139700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23000" y="2089150"/>
            <a:ext cx="5207000" cy="514350"/>
          </a:xfrm>
          <a:prstGeom prst="rect">
            <a:avLst/>
          </a:prstGeom>
          <a:solidFill>
            <a:srgbClr val="EDE7D7"/>
          </a:solidFill>
          <a:ln w="31750">
            <a:solidFill>
              <a:srgbClr val="1E2A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114109" y="2190750"/>
            <a:ext cx="812800" cy="311150"/>
          </a:xfrm>
          <a:prstGeom prst="rect">
            <a:avLst/>
          </a:prstGeom>
          <a:solidFill>
            <a:srgbClr val="000000">
              <a:alpha val="0"/>
            </a:srgbClr>
          </a:solidFill>
          <a:ln w="19050">
            <a:solidFill>
              <a:srgbClr val="C8943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62000" y="3282950"/>
            <a:ext cx="10668000" cy="596900"/>
          </a:xfrm>
          <a:prstGeom prst="rect">
            <a:avLst/>
          </a:prstGeom>
          <a:solidFill>
            <a:srgbClr val="C8943E">
              <a:alpha val="12000"/>
            </a:srgbClr>
          </a:solidFill>
          <a:ln w="31750">
            <a:solidFill>
              <a:srgbClr val="5B667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8000" y="190500"/>
            <a:ext cx="1567803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L5 · TV · MOVIES · 不太喜欢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2308721" y="187325"/>
            <a:ext cx="850154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Review · 0–8 min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762000" y="812800"/>
            <a:ext cx="106954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0–8 MIN · REVIEW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762000" y="1028700"/>
            <a:ext cx="10695432" cy="49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回顾 · Duration Q&amp;A (L1–4)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971550" y="2032000"/>
            <a:ext cx="4815332" cy="183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spc="72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PAIR DIALOGUE RECREATION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123950" y="2298700"/>
            <a:ext cx="4662932" cy="2278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 pairs, recreate yesterday's duration Q&amp;A from memory — no notes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123950" y="2584450"/>
            <a:ext cx="4662932" cy="2278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Swap roles, then repeat the dialogue with a different sport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223000" y="1822450"/>
            <a:ext cx="5234432" cy="183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spc="72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REVIEW QUESTION PATTERN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223000" y="2089150"/>
            <a:ext cx="5234432" cy="532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你每天/每个星期打几个小时 + sport？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62000" y="3282950"/>
            <a:ext cx="10695432" cy="615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"So far every sentence has been about liking something. Today you'll learn to say you don't really like something — and talk about what you do instead, like watching TV or movies."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08000" y="6638925"/>
            <a:ext cx="134872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175371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89000" y="2489200"/>
            <a:ext cx="8693150" cy="971550"/>
          </a:xfrm>
          <a:prstGeom prst="rect">
            <a:avLst/>
          </a:prstGeom>
          <a:solidFill>
            <a:srgbClr val="C8943E">
              <a:alpha val="12000"/>
            </a:srgbClr>
          </a:solidFill>
          <a:ln w="31750">
            <a:solidFill>
              <a:srgbClr val="1E2A3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9000" y="3702050"/>
            <a:ext cx="254000" cy="254000"/>
          </a:xfrm>
          <a:prstGeom prst="round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89000" y="4083050"/>
            <a:ext cx="254000" cy="254000"/>
          </a:xfrm>
          <a:prstGeom prst="round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89000" y="4464050"/>
            <a:ext cx="254000" cy="254000"/>
          </a:xfrm>
          <a:prstGeom prst="round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89000" y="4895850"/>
            <a:ext cx="10414000" cy="584200"/>
          </a:xfrm>
          <a:prstGeom prst="roundRect">
            <a:avLst/>
          </a:prstGeom>
          <a:solidFill>
            <a:srgbClr val="3A7D8C">
              <a:alpha val="10000"/>
            </a:srgbClr>
          </a:solidFill>
          <a:ln w="12700">
            <a:solidFill>
              <a:srgbClr val="3A7D8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8000" y="190500"/>
            <a:ext cx="1567803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L5 · TV · MOVIES · 不太喜欢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2308721" y="187325"/>
            <a:ext cx="1648468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 &amp; SC · 8–10 min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889000" y="1555750"/>
            <a:ext cx="104414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8–10 MIN · DISPLAY ON PROJECTOR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889000" y="1784350"/>
            <a:ext cx="10441432" cy="49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今日目标 · Today's Goal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1123950" y="2641600"/>
            <a:ext cx="8282432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b="1" spc="65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23950" y="2800350"/>
            <a:ext cx="8282432" cy="526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are learning to talk about TV, movies, and weekends, and to use 不太 to say we don't really like something.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89000" y="3702050"/>
            <a:ext cx="281432" cy="272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244600" y="3689350"/>
            <a:ext cx="4394049" cy="23736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say 电视, 电影, 节目, 周末 in Chinese (拼音说出电视/电影相关词汇)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89000" y="4083050"/>
            <a:ext cx="281432" cy="272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244600" y="4070350"/>
            <a:ext cx="3577380" cy="24371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use 不太喜欢 to say I don't really like something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89000" y="4464050"/>
            <a:ext cx="281432" cy="272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1244600" y="4451350"/>
            <a:ext cx="3488480" cy="24371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use 但是 to contrast two ideas in one sentence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1079500" y="5057775"/>
            <a:ext cx="205232" cy="278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🗣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358900" y="5010150"/>
            <a:ext cx="4395240" cy="221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Ask the class: "Who does NOT like sport very much?"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358900" y="5213350"/>
            <a:ext cx="4395240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 few honest hands will likely go up — today gives you the exact words to say that in Chinese.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508000" y="6638925"/>
            <a:ext cx="134872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175371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5000" y="1485900"/>
            <a:ext cx="1589286" cy="2413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5B667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24286" y="1485900"/>
            <a:ext cx="1587798" cy="2413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5B667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812084" y="1485900"/>
            <a:ext cx="2182316" cy="2413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5B667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5000" y="1727200"/>
            <a:ext cx="1589286" cy="346075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224286" y="1727200"/>
            <a:ext cx="1587798" cy="346075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3A7D8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812084" y="1727200"/>
            <a:ext cx="2182316" cy="346075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5B667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5000" y="2073275"/>
            <a:ext cx="1589286" cy="342900"/>
          </a:xfrm>
          <a:prstGeom prst="rect">
            <a:avLst/>
          </a:prstGeom>
          <a:solidFill>
            <a:srgbClr val="F6F2E8"/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224286" y="2073275"/>
            <a:ext cx="1587798" cy="342900"/>
          </a:xfrm>
          <a:prstGeom prst="rect">
            <a:avLst/>
          </a:prstGeom>
          <a:solidFill>
            <a:srgbClr val="F6F2E8"/>
          </a:solidFill>
          <a:ln w="6350">
            <a:solidFill>
              <a:srgbClr val="3A7D8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812084" y="2073275"/>
            <a:ext cx="2182316" cy="342900"/>
          </a:xfrm>
          <a:prstGeom prst="rect">
            <a:avLst/>
          </a:prstGeom>
          <a:solidFill>
            <a:srgbClr val="F6F2E8"/>
          </a:solidFill>
          <a:ln w="6350">
            <a:solidFill>
              <a:srgbClr val="5B667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5000" y="2416175"/>
            <a:ext cx="1589286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24286" y="2416175"/>
            <a:ext cx="1587798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3A7D8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12084" y="2416175"/>
            <a:ext cx="2182316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5B667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35000" y="2759075"/>
            <a:ext cx="1589286" cy="342900"/>
          </a:xfrm>
          <a:prstGeom prst="rect">
            <a:avLst/>
          </a:prstGeom>
          <a:solidFill>
            <a:srgbClr val="F6F2E8"/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24286" y="2759075"/>
            <a:ext cx="1587798" cy="342900"/>
          </a:xfrm>
          <a:prstGeom prst="rect">
            <a:avLst/>
          </a:prstGeom>
          <a:solidFill>
            <a:srgbClr val="F6F2E8"/>
          </a:solidFill>
          <a:ln w="6350">
            <a:solidFill>
              <a:srgbClr val="3A7D8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812084" y="2759075"/>
            <a:ext cx="2182316" cy="342900"/>
          </a:xfrm>
          <a:prstGeom prst="rect">
            <a:avLst/>
          </a:prstGeom>
          <a:solidFill>
            <a:srgbClr val="F6F2E8"/>
          </a:solidFill>
          <a:ln w="6350">
            <a:solidFill>
              <a:srgbClr val="5B667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5000" y="3101975"/>
            <a:ext cx="1589286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24286" y="3101975"/>
            <a:ext cx="1587798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3A7D8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812084" y="3101975"/>
            <a:ext cx="2182316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5B667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35000" y="3444875"/>
            <a:ext cx="1589286" cy="342900"/>
          </a:xfrm>
          <a:prstGeom prst="rect">
            <a:avLst/>
          </a:prstGeom>
          <a:solidFill>
            <a:srgbClr val="F6F2E8"/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24286" y="3444875"/>
            <a:ext cx="1587798" cy="342900"/>
          </a:xfrm>
          <a:prstGeom prst="rect">
            <a:avLst/>
          </a:prstGeom>
          <a:solidFill>
            <a:srgbClr val="F6F2E8"/>
          </a:solidFill>
          <a:ln w="6350">
            <a:solidFill>
              <a:srgbClr val="3A7D8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12084" y="3444875"/>
            <a:ext cx="2182316" cy="342900"/>
          </a:xfrm>
          <a:prstGeom prst="rect">
            <a:avLst/>
          </a:prstGeom>
          <a:solidFill>
            <a:srgbClr val="F6F2E8"/>
          </a:solidFill>
          <a:ln w="6350">
            <a:solidFill>
              <a:srgbClr val="5B667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5000" y="3787775"/>
            <a:ext cx="1589286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224286" y="3787775"/>
            <a:ext cx="1587798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3A7D8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12084" y="3787775"/>
            <a:ext cx="2182316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5B667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197600" y="1485900"/>
            <a:ext cx="1304727" cy="2413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5B667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502327" y="1485900"/>
            <a:ext cx="1394520" cy="2413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5B6677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896846" y="1485900"/>
            <a:ext cx="2660154" cy="2413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5B6677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97600" y="1727200"/>
            <a:ext cx="1304727" cy="403622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502327" y="1727200"/>
            <a:ext cx="1394520" cy="403622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3A7D8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896846" y="1727200"/>
            <a:ext cx="2660154" cy="403622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5B6677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197600" y="2130822"/>
            <a:ext cx="1304727" cy="399951"/>
          </a:xfrm>
          <a:prstGeom prst="rect">
            <a:avLst/>
          </a:prstGeom>
          <a:solidFill>
            <a:srgbClr val="F6F2E8"/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502327" y="2130822"/>
            <a:ext cx="1394520" cy="399951"/>
          </a:xfrm>
          <a:prstGeom prst="rect">
            <a:avLst/>
          </a:prstGeom>
          <a:solidFill>
            <a:srgbClr val="F6F2E8"/>
          </a:solidFill>
          <a:ln w="6350">
            <a:solidFill>
              <a:srgbClr val="3A7D8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896846" y="2130822"/>
            <a:ext cx="2660154" cy="399951"/>
          </a:xfrm>
          <a:prstGeom prst="rect">
            <a:avLst/>
          </a:prstGeom>
          <a:solidFill>
            <a:srgbClr val="F6F2E8"/>
          </a:solidFill>
          <a:ln w="6350">
            <a:solidFill>
              <a:srgbClr val="5B6677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97600" y="2530773"/>
            <a:ext cx="1304727" cy="399951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502327" y="2530773"/>
            <a:ext cx="1394520" cy="399951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3A7D8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896846" y="2530773"/>
            <a:ext cx="2660154" cy="399951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5B6677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197600" y="2930723"/>
            <a:ext cx="1304727" cy="399951"/>
          </a:xfrm>
          <a:prstGeom prst="rect">
            <a:avLst/>
          </a:prstGeom>
          <a:solidFill>
            <a:srgbClr val="F6F2E8"/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502327" y="2930723"/>
            <a:ext cx="1394520" cy="399951"/>
          </a:xfrm>
          <a:prstGeom prst="rect">
            <a:avLst/>
          </a:prstGeom>
          <a:solidFill>
            <a:srgbClr val="F6F2E8"/>
          </a:solidFill>
          <a:ln w="6350">
            <a:solidFill>
              <a:srgbClr val="3A7D8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896846" y="2930723"/>
            <a:ext cx="2660154" cy="399951"/>
          </a:xfrm>
          <a:prstGeom prst="rect">
            <a:avLst/>
          </a:prstGeom>
          <a:solidFill>
            <a:srgbClr val="F6F2E8"/>
          </a:solidFill>
          <a:ln w="6350">
            <a:solidFill>
              <a:srgbClr val="5B6677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197600" y="3330674"/>
            <a:ext cx="1304727" cy="399951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502327" y="3330674"/>
            <a:ext cx="1394520" cy="399951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3A7D8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896846" y="3330674"/>
            <a:ext cx="2660154" cy="399951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5B6677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197600" y="3730625"/>
            <a:ext cx="1304727" cy="400050"/>
          </a:xfrm>
          <a:prstGeom prst="rect">
            <a:avLst/>
          </a:prstGeom>
          <a:solidFill>
            <a:srgbClr val="F6F2E8"/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502327" y="3730625"/>
            <a:ext cx="1394520" cy="400050"/>
          </a:xfrm>
          <a:prstGeom prst="rect">
            <a:avLst/>
          </a:prstGeom>
          <a:solidFill>
            <a:srgbClr val="F6F2E8"/>
          </a:solidFill>
          <a:ln w="6350">
            <a:solidFill>
              <a:srgbClr val="3A7D8C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896846" y="3730625"/>
            <a:ext cx="2660154" cy="400050"/>
          </a:xfrm>
          <a:prstGeom prst="rect">
            <a:avLst/>
          </a:prstGeom>
          <a:solidFill>
            <a:srgbClr val="F6F2E8"/>
          </a:solidFill>
          <a:ln w="6350">
            <a:solidFill>
              <a:srgbClr val="5B6677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35000" y="4248150"/>
            <a:ext cx="10922000" cy="584200"/>
          </a:xfrm>
          <a:prstGeom prst="roundRect">
            <a:avLst/>
          </a:prstGeom>
          <a:solidFill>
            <a:srgbClr val="3A7D8C">
              <a:alpha val="10000"/>
            </a:srgbClr>
          </a:solidFill>
          <a:ln w="12700">
            <a:solidFill>
              <a:srgbClr val="3A7D8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08000" y="190500"/>
            <a:ext cx="1567803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L5 · TV · MOVIES · 不太喜欢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2308721" y="187325"/>
            <a:ext cx="1680714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New Vocabulary · 10–20 min</a:t>
            </a:r>
            <a:endParaRPr lang="en-US" sz="750" dirty="0"/>
          </a:p>
        </p:txBody>
      </p:sp>
      <p:sp>
        <p:nvSpPr>
          <p:cNvPr id="54" name="Text 52"/>
          <p:cNvSpPr/>
          <p:nvPr/>
        </p:nvSpPr>
        <p:spPr>
          <a:xfrm>
            <a:off x="635000" y="762000"/>
            <a:ext cx="109494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I DO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635000" y="965200"/>
            <a:ext cx="10949432" cy="424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New Vocabulary · 词汇</a:t>
            </a:r>
            <a:endParaRPr lang="en-US" sz="2200" dirty="0"/>
          </a:p>
        </p:txBody>
      </p:sp>
      <p:sp>
        <p:nvSpPr>
          <p:cNvPr id="56" name="Text 54"/>
          <p:cNvSpPr/>
          <p:nvPr/>
        </p:nvSpPr>
        <p:spPr>
          <a:xfrm>
            <a:off x="635000" y="1485900"/>
            <a:ext cx="1616718" cy="2595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spc="45" kern="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汉字</a:t>
            </a:r>
            <a:endParaRPr lang="en-US" sz="750" dirty="0"/>
          </a:p>
        </p:txBody>
      </p:sp>
      <p:sp>
        <p:nvSpPr>
          <p:cNvPr id="57" name="Text 55"/>
          <p:cNvSpPr/>
          <p:nvPr/>
        </p:nvSpPr>
        <p:spPr>
          <a:xfrm>
            <a:off x="2224286" y="1485900"/>
            <a:ext cx="1615230" cy="2595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spc="45" kern="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拼音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3812084" y="1485900"/>
            <a:ext cx="2209748" cy="2595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spc="45" kern="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English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635000" y="1727200"/>
            <a:ext cx="1616718" cy="36436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太</a:t>
            </a:r>
            <a:endParaRPr lang="en-US" sz="1300" dirty="0"/>
          </a:p>
        </p:txBody>
      </p:sp>
      <p:sp>
        <p:nvSpPr>
          <p:cNvPr id="60" name="Text 58"/>
          <p:cNvSpPr/>
          <p:nvPr/>
        </p:nvSpPr>
        <p:spPr>
          <a:xfrm>
            <a:off x="2224286" y="1727200"/>
            <a:ext cx="1615230" cy="36436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tài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3812084" y="1727200"/>
            <a:ext cx="2209748" cy="36436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too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635000" y="2073275"/>
            <a:ext cx="1616718" cy="361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但</a:t>
            </a:r>
            <a:endParaRPr lang="en-US" sz="1300" dirty="0"/>
          </a:p>
        </p:txBody>
      </p:sp>
      <p:sp>
        <p:nvSpPr>
          <p:cNvPr id="63" name="Text 61"/>
          <p:cNvSpPr/>
          <p:nvPr/>
        </p:nvSpPr>
        <p:spPr>
          <a:xfrm>
            <a:off x="2224286" y="2073275"/>
            <a:ext cx="1615230" cy="361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dàn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3812084" y="2073275"/>
            <a:ext cx="2209748" cy="361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but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635000" y="2416175"/>
            <a:ext cx="1616718" cy="361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但是</a:t>
            </a:r>
            <a:endParaRPr lang="en-US" sz="1300" dirty="0"/>
          </a:p>
        </p:txBody>
      </p:sp>
      <p:sp>
        <p:nvSpPr>
          <p:cNvPr id="66" name="Text 64"/>
          <p:cNvSpPr/>
          <p:nvPr/>
        </p:nvSpPr>
        <p:spPr>
          <a:xfrm>
            <a:off x="2224286" y="2416175"/>
            <a:ext cx="1615230" cy="361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dànshì</a:t>
            </a:r>
            <a:endParaRPr lang="en-US" sz="900" dirty="0"/>
          </a:p>
        </p:txBody>
      </p:sp>
      <p:sp>
        <p:nvSpPr>
          <p:cNvPr id="67" name="Text 65"/>
          <p:cNvSpPr/>
          <p:nvPr/>
        </p:nvSpPr>
        <p:spPr>
          <a:xfrm>
            <a:off x="3812084" y="2416175"/>
            <a:ext cx="2209748" cy="361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but; however</a:t>
            </a:r>
            <a:endParaRPr lang="en-US" sz="900" dirty="0"/>
          </a:p>
        </p:txBody>
      </p:sp>
      <p:sp>
        <p:nvSpPr>
          <p:cNvPr id="68" name="Text 66"/>
          <p:cNvSpPr/>
          <p:nvPr/>
        </p:nvSpPr>
        <p:spPr>
          <a:xfrm>
            <a:off x="635000" y="2759075"/>
            <a:ext cx="1616718" cy="361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视(視)</a:t>
            </a:r>
            <a:endParaRPr lang="en-US" sz="1300" dirty="0"/>
          </a:p>
        </p:txBody>
      </p:sp>
      <p:sp>
        <p:nvSpPr>
          <p:cNvPr id="69" name="Text 67"/>
          <p:cNvSpPr/>
          <p:nvPr/>
        </p:nvSpPr>
        <p:spPr>
          <a:xfrm>
            <a:off x="2224286" y="2759075"/>
            <a:ext cx="1615230" cy="361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shì</a:t>
            </a:r>
            <a:endParaRPr lang="en-US" sz="900" dirty="0"/>
          </a:p>
        </p:txBody>
      </p:sp>
      <p:sp>
        <p:nvSpPr>
          <p:cNvPr id="70" name="Text 68"/>
          <p:cNvSpPr/>
          <p:nvPr/>
        </p:nvSpPr>
        <p:spPr>
          <a:xfrm>
            <a:off x="3812084" y="2759075"/>
            <a:ext cx="2209748" cy="361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look; view</a:t>
            </a:r>
            <a:endParaRPr lang="en-US" sz="900" dirty="0"/>
          </a:p>
        </p:txBody>
      </p:sp>
      <p:sp>
        <p:nvSpPr>
          <p:cNvPr id="71" name="Text 69"/>
          <p:cNvSpPr/>
          <p:nvPr/>
        </p:nvSpPr>
        <p:spPr>
          <a:xfrm>
            <a:off x="635000" y="3101975"/>
            <a:ext cx="1616718" cy="361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电视</a:t>
            </a:r>
            <a:endParaRPr lang="en-US" sz="1300" dirty="0"/>
          </a:p>
        </p:txBody>
      </p:sp>
      <p:sp>
        <p:nvSpPr>
          <p:cNvPr id="72" name="Text 70"/>
          <p:cNvSpPr/>
          <p:nvPr/>
        </p:nvSpPr>
        <p:spPr>
          <a:xfrm>
            <a:off x="2224286" y="3101975"/>
            <a:ext cx="1615230" cy="361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diànshì</a:t>
            </a:r>
            <a:endParaRPr lang="en-US" sz="900" dirty="0"/>
          </a:p>
        </p:txBody>
      </p:sp>
      <p:sp>
        <p:nvSpPr>
          <p:cNvPr id="73" name="Text 71"/>
          <p:cNvSpPr/>
          <p:nvPr/>
        </p:nvSpPr>
        <p:spPr>
          <a:xfrm>
            <a:off x="3812084" y="3101975"/>
            <a:ext cx="2209748" cy="361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TV</a:t>
            </a:r>
            <a:endParaRPr lang="en-US" sz="900" dirty="0"/>
          </a:p>
        </p:txBody>
      </p:sp>
      <p:sp>
        <p:nvSpPr>
          <p:cNvPr id="74" name="Text 72"/>
          <p:cNvSpPr/>
          <p:nvPr/>
        </p:nvSpPr>
        <p:spPr>
          <a:xfrm>
            <a:off x="635000" y="3444875"/>
            <a:ext cx="1616718" cy="361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影</a:t>
            </a:r>
            <a:endParaRPr lang="en-US" sz="1300" dirty="0"/>
          </a:p>
        </p:txBody>
      </p:sp>
      <p:sp>
        <p:nvSpPr>
          <p:cNvPr id="75" name="Text 73"/>
          <p:cNvSpPr/>
          <p:nvPr/>
        </p:nvSpPr>
        <p:spPr>
          <a:xfrm>
            <a:off x="2224286" y="3444875"/>
            <a:ext cx="1615230" cy="361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yǐng</a:t>
            </a:r>
            <a:endParaRPr lang="en-US" sz="900" dirty="0"/>
          </a:p>
        </p:txBody>
      </p:sp>
      <p:sp>
        <p:nvSpPr>
          <p:cNvPr id="76" name="Text 74"/>
          <p:cNvSpPr/>
          <p:nvPr/>
        </p:nvSpPr>
        <p:spPr>
          <a:xfrm>
            <a:off x="3812084" y="3444875"/>
            <a:ext cx="2209748" cy="361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shadow; film</a:t>
            </a:r>
            <a:endParaRPr lang="en-US" sz="900" dirty="0"/>
          </a:p>
        </p:txBody>
      </p:sp>
      <p:sp>
        <p:nvSpPr>
          <p:cNvPr id="77" name="Text 75"/>
          <p:cNvSpPr/>
          <p:nvPr/>
        </p:nvSpPr>
        <p:spPr>
          <a:xfrm>
            <a:off x="635000" y="3787775"/>
            <a:ext cx="1616718" cy="361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电影</a:t>
            </a:r>
            <a:endParaRPr lang="en-US" sz="1300" dirty="0"/>
          </a:p>
        </p:txBody>
      </p:sp>
      <p:sp>
        <p:nvSpPr>
          <p:cNvPr id="78" name="Text 76"/>
          <p:cNvSpPr/>
          <p:nvPr/>
        </p:nvSpPr>
        <p:spPr>
          <a:xfrm>
            <a:off x="2224286" y="3787775"/>
            <a:ext cx="1615230" cy="361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diànyǐng</a:t>
            </a:r>
            <a:endParaRPr lang="en-US" sz="900" dirty="0"/>
          </a:p>
        </p:txBody>
      </p:sp>
      <p:sp>
        <p:nvSpPr>
          <p:cNvPr id="79" name="Text 77"/>
          <p:cNvSpPr/>
          <p:nvPr/>
        </p:nvSpPr>
        <p:spPr>
          <a:xfrm>
            <a:off x="3812084" y="3787775"/>
            <a:ext cx="2209748" cy="361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movie</a:t>
            </a:r>
            <a:endParaRPr lang="en-US" sz="900" dirty="0"/>
          </a:p>
        </p:txBody>
      </p:sp>
      <p:sp>
        <p:nvSpPr>
          <p:cNvPr id="80" name="Text 78"/>
          <p:cNvSpPr/>
          <p:nvPr/>
        </p:nvSpPr>
        <p:spPr>
          <a:xfrm>
            <a:off x="6197600" y="1485900"/>
            <a:ext cx="1332159" cy="2595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spc="45" kern="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汉字</a:t>
            </a:r>
            <a:endParaRPr lang="en-US" sz="750" dirty="0"/>
          </a:p>
        </p:txBody>
      </p:sp>
      <p:sp>
        <p:nvSpPr>
          <p:cNvPr id="81" name="Text 79"/>
          <p:cNvSpPr/>
          <p:nvPr/>
        </p:nvSpPr>
        <p:spPr>
          <a:xfrm>
            <a:off x="7502327" y="1485900"/>
            <a:ext cx="1421952" cy="2595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spc="45" kern="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拼音</a:t>
            </a:r>
            <a:endParaRPr lang="en-US" sz="750" dirty="0"/>
          </a:p>
        </p:txBody>
      </p:sp>
      <p:sp>
        <p:nvSpPr>
          <p:cNvPr id="82" name="Text 80"/>
          <p:cNvSpPr/>
          <p:nvPr/>
        </p:nvSpPr>
        <p:spPr>
          <a:xfrm>
            <a:off x="8896846" y="1485900"/>
            <a:ext cx="2687586" cy="2595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spc="45" kern="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English</a:t>
            </a:r>
            <a:endParaRPr lang="en-US" sz="750" dirty="0"/>
          </a:p>
        </p:txBody>
      </p:sp>
      <p:sp>
        <p:nvSpPr>
          <p:cNvPr id="83" name="Text 81"/>
          <p:cNvSpPr/>
          <p:nvPr/>
        </p:nvSpPr>
        <p:spPr>
          <a:xfrm>
            <a:off x="6197600" y="1727200"/>
            <a:ext cx="1332159" cy="42191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节(節)</a:t>
            </a:r>
            <a:endParaRPr lang="en-US" sz="1300" dirty="0"/>
          </a:p>
        </p:txBody>
      </p:sp>
      <p:sp>
        <p:nvSpPr>
          <p:cNvPr id="84" name="Text 82"/>
          <p:cNvSpPr/>
          <p:nvPr/>
        </p:nvSpPr>
        <p:spPr>
          <a:xfrm>
            <a:off x="7502327" y="1727200"/>
            <a:ext cx="1421952" cy="42191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jié</a:t>
            </a:r>
            <a:endParaRPr lang="en-US" sz="900" dirty="0"/>
          </a:p>
        </p:txBody>
      </p:sp>
      <p:sp>
        <p:nvSpPr>
          <p:cNvPr id="85" name="Text 83"/>
          <p:cNvSpPr/>
          <p:nvPr/>
        </p:nvSpPr>
        <p:spPr>
          <a:xfrm>
            <a:off x="8896846" y="1727200"/>
            <a:ext cx="2687586" cy="42191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festival; measure word</a:t>
            </a:r>
            <a:endParaRPr lang="en-US" sz="900" dirty="0"/>
          </a:p>
        </p:txBody>
      </p:sp>
      <p:sp>
        <p:nvSpPr>
          <p:cNvPr id="86" name="Text 84"/>
          <p:cNvSpPr/>
          <p:nvPr/>
        </p:nvSpPr>
        <p:spPr>
          <a:xfrm>
            <a:off x="6197600" y="2130822"/>
            <a:ext cx="1332159" cy="41823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节目</a:t>
            </a:r>
            <a:endParaRPr lang="en-US" sz="1300" dirty="0"/>
          </a:p>
        </p:txBody>
      </p:sp>
      <p:sp>
        <p:nvSpPr>
          <p:cNvPr id="87" name="Text 85"/>
          <p:cNvSpPr/>
          <p:nvPr/>
        </p:nvSpPr>
        <p:spPr>
          <a:xfrm>
            <a:off x="7502327" y="2130822"/>
            <a:ext cx="1421952" cy="41823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jiémù</a:t>
            </a:r>
            <a:endParaRPr lang="en-US" sz="900" dirty="0"/>
          </a:p>
        </p:txBody>
      </p:sp>
      <p:sp>
        <p:nvSpPr>
          <p:cNvPr id="88" name="Text 86"/>
          <p:cNvSpPr/>
          <p:nvPr/>
        </p:nvSpPr>
        <p:spPr>
          <a:xfrm>
            <a:off x="8896846" y="2130822"/>
            <a:ext cx="2687586" cy="41823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programme; show</a:t>
            </a:r>
            <a:endParaRPr lang="en-US" sz="900" dirty="0"/>
          </a:p>
        </p:txBody>
      </p:sp>
      <p:sp>
        <p:nvSpPr>
          <p:cNvPr id="89" name="Text 87"/>
          <p:cNvSpPr/>
          <p:nvPr/>
        </p:nvSpPr>
        <p:spPr>
          <a:xfrm>
            <a:off x="6197600" y="2530773"/>
            <a:ext cx="1332159" cy="41823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差不多</a:t>
            </a:r>
            <a:endParaRPr lang="en-US" sz="1300" dirty="0"/>
          </a:p>
        </p:txBody>
      </p:sp>
      <p:sp>
        <p:nvSpPr>
          <p:cNvPr id="90" name="Text 88"/>
          <p:cNvSpPr/>
          <p:nvPr/>
        </p:nvSpPr>
        <p:spPr>
          <a:xfrm>
            <a:off x="7502327" y="2530773"/>
            <a:ext cx="1421952" cy="41823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chàbuduō</a:t>
            </a:r>
            <a:endParaRPr lang="en-US" sz="900" dirty="0"/>
          </a:p>
        </p:txBody>
      </p:sp>
      <p:sp>
        <p:nvSpPr>
          <p:cNvPr id="91" name="Text 89"/>
          <p:cNvSpPr/>
          <p:nvPr/>
        </p:nvSpPr>
        <p:spPr>
          <a:xfrm>
            <a:off x="8896846" y="2530773"/>
            <a:ext cx="2687586" cy="41823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almost; nearly</a:t>
            </a:r>
            <a:endParaRPr lang="en-US" sz="900" dirty="0"/>
          </a:p>
        </p:txBody>
      </p:sp>
      <p:sp>
        <p:nvSpPr>
          <p:cNvPr id="92" name="Text 90"/>
          <p:cNvSpPr/>
          <p:nvPr/>
        </p:nvSpPr>
        <p:spPr>
          <a:xfrm>
            <a:off x="6197600" y="2930723"/>
            <a:ext cx="1332159" cy="41823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周</a:t>
            </a:r>
            <a:endParaRPr lang="en-US" sz="1300" dirty="0"/>
          </a:p>
        </p:txBody>
      </p:sp>
      <p:sp>
        <p:nvSpPr>
          <p:cNvPr id="93" name="Text 91"/>
          <p:cNvSpPr/>
          <p:nvPr/>
        </p:nvSpPr>
        <p:spPr>
          <a:xfrm>
            <a:off x="7502327" y="2930723"/>
            <a:ext cx="1421952" cy="41823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zhōu</a:t>
            </a:r>
            <a:endParaRPr lang="en-US" sz="900" dirty="0"/>
          </a:p>
        </p:txBody>
      </p:sp>
      <p:sp>
        <p:nvSpPr>
          <p:cNvPr id="94" name="Text 92"/>
          <p:cNvSpPr/>
          <p:nvPr/>
        </p:nvSpPr>
        <p:spPr>
          <a:xfrm>
            <a:off x="8896846" y="2930723"/>
            <a:ext cx="2687586" cy="41823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week</a:t>
            </a:r>
            <a:endParaRPr lang="en-US" sz="900" dirty="0"/>
          </a:p>
        </p:txBody>
      </p:sp>
      <p:sp>
        <p:nvSpPr>
          <p:cNvPr id="95" name="Text 93"/>
          <p:cNvSpPr/>
          <p:nvPr/>
        </p:nvSpPr>
        <p:spPr>
          <a:xfrm>
            <a:off x="6197600" y="3330674"/>
            <a:ext cx="1332159" cy="41823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末</a:t>
            </a:r>
            <a:endParaRPr lang="en-US" sz="1300" dirty="0"/>
          </a:p>
        </p:txBody>
      </p:sp>
      <p:sp>
        <p:nvSpPr>
          <p:cNvPr id="96" name="Text 94"/>
          <p:cNvSpPr/>
          <p:nvPr/>
        </p:nvSpPr>
        <p:spPr>
          <a:xfrm>
            <a:off x="7502327" y="3330674"/>
            <a:ext cx="1421952" cy="41823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mò</a:t>
            </a:r>
            <a:endParaRPr lang="en-US" sz="900" dirty="0"/>
          </a:p>
        </p:txBody>
      </p:sp>
      <p:sp>
        <p:nvSpPr>
          <p:cNvPr id="97" name="Text 95"/>
          <p:cNvSpPr/>
          <p:nvPr/>
        </p:nvSpPr>
        <p:spPr>
          <a:xfrm>
            <a:off x="8896846" y="3330674"/>
            <a:ext cx="2687586" cy="41823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end</a:t>
            </a:r>
            <a:endParaRPr lang="en-US" sz="900" dirty="0"/>
          </a:p>
        </p:txBody>
      </p:sp>
      <p:sp>
        <p:nvSpPr>
          <p:cNvPr id="98" name="Text 96"/>
          <p:cNvSpPr/>
          <p:nvPr/>
        </p:nvSpPr>
        <p:spPr>
          <a:xfrm>
            <a:off x="6197600" y="3730625"/>
            <a:ext cx="1332159" cy="4183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周末</a:t>
            </a:r>
            <a:endParaRPr lang="en-US" sz="1300" dirty="0"/>
          </a:p>
        </p:txBody>
      </p:sp>
      <p:sp>
        <p:nvSpPr>
          <p:cNvPr id="99" name="Text 97"/>
          <p:cNvSpPr/>
          <p:nvPr/>
        </p:nvSpPr>
        <p:spPr>
          <a:xfrm>
            <a:off x="7502327" y="3730625"/>
            <a:ext cx="1421952" cy="4183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zhōumò</a:t>
            </a:r>
            <a:endParaRPr lang="en-US" sz="900" dirty="0"/>
          </a:p>
        </p:txBody>
      </p:sp>
      <p:sp>
        <p:nvSpPr>
          <p:cNvPr id="100" name="Text 98"/>
          <p:cNvSpPr/>
          <p:nvPr/>
        </p:nvSpPr>
        <p:spPr>
          <a:xfrm>
            <a:off x="8896846" y="3730625"/>
            <a:ext cx="2687586" cy="4183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weekend</a:t>
            </a:r>
            <a:endParaRPr lang="en-US" sz="900" dirty="0"/>
          </a:p>
        </p:txBody>
      </p:sp>
      <p:sp>
        <p:nvSpPr>
          <p:cNvPr id="101" name="Text 99"/>
          <p:cNvSpPr/>
          <p:nvPr/>
        </p:nvSpPr>
        <p:spPr>
          <a:xfrm>
            <a:off x="825500" y="4410075"/>
            <a:ext cx="205232" cy="278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📺</a:t>
            </a:r>
            <a:endParaRPr lang="en-US" sz="1400" dirty="0"/>
          </a:p>
        </p:txBody>
      </p:sp>
      <p:sp>
        <p:nvSpPr>
          <p:cNvPr id="102" name="Text 100"/>
          <p:cNvSpPr/>
          <p:nvPr/>
        </p:nvSpPr>
        <p:spPr>
          <a:xfrm>
            <a:off x="1104900" y="4362450"/>
            <a:ext cx="3893987" cy="221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电 (electric) appears in both 电视 and 电影</a:t>
            </a:r>
            <a:endParaRPr lang="en-US" sz="1100" dirty="0"/>
          </a:p>
        </p:txBody>
      </p:sp>
      <p:sp>
        <p:nvSpPr>
          <p:cNvPr id="103" name="Text 101"/>
          <p:cNvSpPr/>
          <p:nvPr/>
        </p:nvSpPr>
        <p:spPr>
          <a:xfrm>
            <a:off x="1104900" y="4565650"/>
            <a:ext cx="3893987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"electric-view" = TV · "electric-shadow" = movie — a nice literal-translation hook.</a:t>
            </a:r>
            <a:endParaRPr lang="en-US" sz="800" dirty="0"/>
          </a:p>
        </p:txBody>
      </p:sp>
      <p:sp>
        <p:nvSpPr>
          <p:cNvPr id="104" name="Text 102"/>
          <p:cNvSpPr/>
          <p:nvPr/>
        </p:nvSpPr>
        <p:spPr>
          <a:xfrm>
            <a:off x="508000" y="6638925"/>
            <a:ext cx="134872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175371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89000" y="2282825"/>
            <a:ext cx="10414000" cy="501650"/>
          </a:xfrm>
          <a:prstGeom prst="rect">
            <a:avLst/>
          </a:prstGeom>
          <a:solidFill>
            <a:srgbClr val="EDE7D7"/>
          </a:solidFill>
          <a:ln w="31750">
            <a:solidFill>
              <a:srgbClr val="1E2A3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073374" y="2384425"/>
            <a:ext cx="762000" cy="298450"/>
          </a:xfrm>
          <a:prstGeom prst="rect">
            <a:avLst/>
          </a:prstGeom>
          <a:solidFill>
            <a:srgbClr val="000000">
              <a:alpha val="0"/>
            </a:srgbClr>
          </a:solidFill>
          <a:ln w="19050">
            <a:solidFill>
              <a:srgbClr val="C8943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026098" y="2384425"/>
            <a:ext cx="762000" cy="298450"/>
          </a:xfrm>
          <a:prstGeom prst="rect">
            <a:avLst/>
          </a:prstGeom>
          <a:solidFill>
            <a:srgbClr val="000000">
              <a:alpha val="0"/>
            </a:srgbClr>
          </a:solidFill>
          <a:ln w="19050">
            <a:solidFill>
              <a:srgbClr val="C8943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89000" y="2873375"/>
            <a:ext cx="10414000" cy="501650"/>
          </a:xfrm>
          <a:prstGeom prst="rect">
            <a:avLst/>
          </a:prstGeom>
          <a:solidFill>
            <a:srgbClr val="EDE7D7"/>
          </a:solidFill>
          <a:ln w="31750">
            <a:solidFill>
              <a:srgbClr val="1E2A3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835374" y="2974975"/>
            <a:ext cx="762000" cy="298450"/>
          </a:xfrm>
          <a:prstGeom prst="rect">
            <a:avLst/>
          </a:prstGeom>
          <a:solidFill>
            <a:srgbClr val="000000">
              <a:alpha val="0"/>
            </a:srgbClr>
          </a:solidFill>
          <a:ln w="19050">
            <a:solidFill>
              <a:srgbClr val="C8943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89000" y="3540125"/>
            <a:ext cx="10414000" cy="44450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89000" y="4060825"/>
            <a:ext cx="10414000" cy="44450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89000" y="4581525"/>
            <a:ext cx="10414000" cy="444500"/>
          </a:xfrm>
          <a:prstGeom prst="roundRect">
            <a:avLst/>
          </a:prstGeom>
          <a:solidFill>
            <a:srgbClr val="D4756B">
              <a:alpha val="10000"/>
            </a:srgbClr>
          </a:solidFill>
          <a:ln w="6350">
            <a:solidFill>
              <a:srgbClr val="D4756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111750" y="4784725"/>
            <a:ext cx="861219" cy="133350"/>
          </a:xfrm>
          <a:prstGeom prst="roundRect">
            <a:avLst/>
          </a:prstGeom>
          <a:solidFill>
            <a:srgbClr val="D4756B">
              <a:alpha val="15000"/>
            </a:srgbClr>
          </a:solidFill>
          <a:ln w="12700">
            <a:solidFill>
              <a:srgbClr val="D4756B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89000" y="5165725"/>
            <a:ext cx="10414000" cy="584200"/>
          </a:xfrm>
          <a:prstGeom prst="roundRect">
            <a:avLst/>
          </a:prstGeom>
          <a:solidFill>
            <a:srgbClr val="C8943E">
              <a:alpha val="12000"/>
            </a:srgbClr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8000" y="190500"/>
            <a:ext cx="1567803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L5 · TV · MOVIES · 不太喜欢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2308721" y="187325"/>
            <a:ext cx="1468088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Key Pattern · 10–20 min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889000" y="1285875"/>
            <a:ext cx="104414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I DO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89000" y="1501775"/>
            <a:ext cx="10441432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Key Sentence Pattern · 关键句型</a:t>
            </a:r>
            <a:endParaRPr lang="en-US" sz="2300" dirty="0"/>
          </a:p>
        </p:txBody>
      </p:sp>
      <p:sp>
        <p:nvSpPr>
          <p:cNvPr id="20" name="Text 18"/>
          <p:cNvSpPr/>
          <p:nvPr/>
        </p:nvSpPr>
        <p:spPr>
          <a:xfrm>
            <a:off x="889000" y="1958975"/>
            <a:ext cx="10441432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Softening dislike, and describing regular habits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889000" y="2282825"/>
            <a:ext cx="10441432" cy="519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我不太喜欢 activity，但是我喜欢 activity。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89000" y="2873375"/>
            <a:ext cx="10441432" cy="519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我差不多每个周末都 verb。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035050" y="3622675"/>
            <a:ext cx="3075432" cy="297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我不太喜欢运动，但是我喜欢游泳。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8850313" y="3679825"/>
            <a:ext cx="2334070" cy="183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don't really like sport, but I like swimming.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035050" y="4143375"/>
            <a:ext cx="2503932" cy="297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我差不多每个周末都看电影。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084568" y="4200525"/>
            <a:ext cx="2099814" cy="183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watch a movie almost every weekend.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35050" y="4664075"/>
            <a:ext cx="4965351" cy="297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我不太喜欢做作业，但是我很喜欢玩电脑游戏！SILLY EXAMPLE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7891363" y="4721225"/>
            <a:ext cx="3293019" cy="183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don't really like homework, but I really like computer games!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079500" y="5327650"/>
            <a:ext cx="205232" cy="278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💡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358900" y="5280025"/>
            <a:ext cx="2438348" cy="221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不太 softens 喜欢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358900" y="5483225"/>
            <a:ext cx="243834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It's not a full "I don't like" — it's "I don't really like."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508000" y="6638925"/>
            <a:ext cx="134872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175371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5000" y="1371600"/>
            <a:ext cx="8051800" cy="27432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E5DFD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900" y="1549400"/>
            <a:ext cx="1282303" cy="222250"/>
          </a:xfrm>
          <a:prstGeom prst="roundRect">
            <a:avLst/>
          </a:prstGeom>
          <a:solidFill>
            <a:srgbClr val="3A7D8C">
              <a:alpha val="10000"/>
            </a:srgbClr>
          </a:solidFill>
          <a:ln w="6350">
            <a:solidFill>
              <a:srgbClr val="3A7D8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50900" y="1885950"/>
            <a:ext cx="203200" cy="2032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50900" y="2200275"/>
            <a:ext cx="203200" cy="203200"/>
          </a:xfrm>
          <a:prstGeom prst="roundRect">
            <a:avLst/>
          </a:prstGeom>
          <a:solidFill>
            <a:srgbClr val="3A7D8C"/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50900" y="2514600"/>
            <a:ext cx="203200" cy="2032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50900" y="2828925"/>
            <a:ext cx="203200" cy="203200"/>
          </a:xfrm>
          <a:prstGeom prst="roundRect">
            <a:avLst/>
          </a:prstGeom>
          <a:solidFill>
            <a:srgbClr val="3A7D8C"/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50900" y="3143250"/>
            <a:ext cx="203200" cy="2032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50900" y="3457575"/>
            <a:ext cx="203200" cy="203200"/>
          </a:xfrm>
          <a:prstGeom prst="roundRect">
            <a:avLst/>
          </a:prstGeom>
          <a:solidFill>
            <a:srgbClr val="3A7D8C"/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50900" y="3790950"/>
            <a:ext cx="139700" cy="1397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248892" y="3790950"/>
            <a:ext cx="139700" cy="1397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40720" y="3790950"/>
            <a:ext cx="139700" cy="1397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890000" y="1371600"/>
            <a:ext cx="2667000" cy="1092200"/>
          </a:xfrm>
          <a:prstGeom prst="roundRect">
            <a:avLst/>
          </a:prstGeom>
          <a:solidFill>
            <a:srgbClr val="EDE7D7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890000" y="2565400"/>
            <a:ext cx="2667000" cy="1584325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8000" y="190500"/>
            <a:ext cx="1567803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L5 · TV · MOVIES · 不太喜欢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2308721" y="187325"/>
            <a:ext cx="1870619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Text 2 · 电视·电影·周末 · I Do / We Do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635000" y="723900"/>
            <a:ext cx="10949432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spc="105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TEXT PRESENTATION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635000" y="908050"/>
            <a:ext cx="10949432" cy="380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Text 2 · 课文二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850900" y="1549400"/>
            <a:ext cx="1309735" cy="240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42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🎧 CD Track 39 · p.74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2222103" y="1568450"/>
            <a:ext cx="408432" cy="20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5B6677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课文二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50900" y="1885950"/>
            <a:ext cx="230632" cy="221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A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143000" y="1873250"/>
            <a:ext cx="3729482" cy="25641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2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我不太喜欢运动，但是我喜欢游泳。你喜欢运动吗？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850900" y="2200275"/>
            <a:ext cx="230632" cy="221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B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143000" y="2187575"/>
            <a:ext cx="3043682" cy="25641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2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我很喜欢运动。我还喜欢看电视、看电影。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850900" y="2514600"/>
            <a:ext cx="230632" cy="221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A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1143000" y="2501900"/>
            <a:ext cx="1773682" cy="25641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2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你喜欢看什么电视节目？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850900" y="2828925"/>
            <a:ext cx="230632" cy="221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B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1143000" y="2816225"/>
            <a:ext cx="1456182" cy="25641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2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我喜欢看体育节目。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850900" y="3143250"/>
            <a:ext cx="230632" cy="221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A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143000" y="3130550"/>
            <a:ext cx="1297432" cy="25641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2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你经常看电影吗？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850900" y="3457575"/>
            <a:ext cx="230632" cy="221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B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1143000" y="3444875"/>
            <a:ext cx="1799082" cy="25641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2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我差不多每个周末都看。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850900" y="3790950"/>
            <a:ext cx="167132" cy="1579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600" dirty="0"/>
          </a:p>
        </p:txBody>
      </p:sp>
      <p:sp>
        <p:nvSpPr>
          <p:cNvPr id="38" name="Text 36"/>
          <p:cNvSpPr/>
          <p:nvPr/>
        </p:nvSpPr>
        <p:spPr>
          <a:xfrm>
            <a:off x="2083792" y="3784600"/>
            <a:ext cx="1290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2248892" y="3790950"/>
            <a:ext cx="167132" cy="1579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3375620" y="3784600"/>
            <a:ext cx="1290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3540720" y="3790950"/>
            <a:ext cx="167132" cy="1579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9036050" y="1504950"/>
            <a:ext cx="2402332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b="1" spc="65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GRAMMAR SPOTLIGHT</a:t>
            </a:r>
            <a:endParaRPr lang="en-US" sz="650" dirty="0"/>
          </a:p>
        </p:txBody>
      </p:sp>
      <p:sp>
        <p:nvSpPr>
          <p:cNvPr id="43" name="Text 41"/>
          <p:cNvSpPr/>
          <p:nvPr/>
        </p:nvSpPr>
        <p:spPr>
          <a:xfrm>
            <a:off x="9036050" y="1701800"/>
            <a:ext cx="510032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不太喜欢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9569450" y="1720850"/>
            <a:ext cx="75311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don't really like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9036050" y="1911350"/>
            <a:ext cx="268732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但是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9328150" y="1930400"/>
            <a:ext cx="190349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but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9036050" y="2120900"/>
            <a:ext cx="389382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差不多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9448800" y="2139950"/>
            <a:ext cx="732084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almost / nearly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9048750" y="2711450"/>
            <a:ext cx="2376932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b="1" spc="78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COMPREHENSION QUESTIONS</a:t>
            </a:r>
            <a:endParaRPr lang="en-US" sz="650" dirty="0"/>
          </a:p>
        </p:txBody>
      </p:sp>
      <p:sp>
        <p:nvSpPr>
          <p:cNvPr id="50" name="Text 48"/>
          <p:cNvSpPr/>
          <p:nvPr/>
        </p:nvSpPr>
        <p:spPr>
          <a:xfrm>
            <a:off x="9048750" y="2921000"/>
            <a:ext cx="191540" cy="19926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9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Q1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9276358" y="2921000"/>
            <a:ext cx="2149324" cy="380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9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Does speaker A like sport? What's the one exception?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9048750" y="3371850"/>
            <a:ext cx="191540" cy="19926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9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Q2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9276358" y="3371850"/>
            <a:ext cx="2149324" cy="380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9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What kind of TV programme does B like?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9048750" y="3822700"/>
            <a:ext cx="191540" cy="19926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9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Q3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9276358" y="3822700"/>
            <a:ext cx="1862880" cy="19926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9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How often does B watch movies?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508000" y="6638925"/>
            <a:ext cx="134872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175371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541812" y="2457648"/>
            <a:ext cx="772616" cy="158750"/>
          </a:xfrm>
          <a:prstGeom prst="roundRect">
            <a:avLst/>
          </a:prstGeom>
          <a:solidFill>
            <a:srgbClr val="3A7D8C">
              <a:alpha val="10000"/>
            </a:srgbClr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9000" y="2819598"/>
            <a:ext cx="10414000" cy="73660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73150" y="2965648"/>
            <a:ext cx="279400" cy="2794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89000" y="3695898"/>
            <a:ext cx="10414000" cy="76835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73150" y="3841948"/>
            <a:ext cx="279400" cy="2794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89000" y="4603948"/>
            <a:ext cx="10414000" cy="76835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73150" y="4749998"/>
            <a:ext cx="279400" cy="2794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8000" y="190500"/>
            <a:ext cx="1567803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L5 · TV · MOVIES · 不太喜欢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2308721" y="187325"/>
            <a:ext cx="1114175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CFU Checkpoints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889000" y="1663502"/>
            <a:ext cx="104414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CHECK FOR UNDERSTANDING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89000" y="1892102"/>
            <a:ext cx="104414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理解检查 · CFU</a:t>
            </a:r>
            <a:endParaRPr lang="en-US" sz="2500" dirty="0"/>
          </a:p>
        </p:txBody>
      </p:sp>
      <p:sp>
        <p:nvSpPr>
          <p:cNvPr id="17" name="Text 15"/>
          <p:cNvSpPr/>
          <p:nvPr/>
        </p:nvSpPr>
        <p:spPr>
          <a:xfrm>
            <a:off x="889000" y="2425502"/>
            <a:ext cx="10441432" cy="20918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your answer on your mini whiteboard WHITEBOARD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073150" y="2965648"/>
            <a:ext cx="306832" cy="297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479550" y="2965648"/>
            <a:ext cx="9666732" cy="240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Quick translate: "I don't really like basketball." Write it.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479550" y="3238698"/>
            <a:ext cx="9666732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i="1" dirty="0">
                <a:solidFill>
                  <a:srgbClr val="8B94A3">
                    <a:alpha val="3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 on next slide →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1073150" y="3841948"/>
            <a:ext cx="306832" cy="297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479550" y="3841948"/>
            <a:ext cx="9666732" cy="272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Thumbs up if 但是 means "and."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479550" y="4146748"/>
            <a:ext cx="9666732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i="1" dirty="0">
                <a:solidFill>
                  <a:srgbClr val="8B94A3">
                    <a:alpha val="3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 on next slide →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1073150" y="4749998"/>
            <a:ext cx="306832" cy="297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479550" y="4749998"/>
            <a:ext cx="9666732" cy="272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Error correction: 我喜欢不太运动。 What's wrong?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479550" y="5054798"/>
            <a:ext cx="9666732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i="1" dirty="0">
                <a:solidFill>
                  <a:srgbClr val="8B94A3">
                    <a:alpha val="3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 on next slide →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08000" y="6638925"/>
            <a:ext cx="134872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175371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89000" y="2533650"/>
            <a:ext cx="10414000" cy="87630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73150" y="2654300"/>
            <a:ext cx="279400" cy="2794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89000" y="3524250"/>
            <a:ext cx="10414000" cy="87630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73150" y="3644900"/>
            <a:ext cx="279400" cy="2794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89000" y="4514850"/>
            <a:ext cx="10414000" cy="87630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73150" y="4635500"/>
            <a:ext cx="279400" cy="2794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8000" y="190500"/>
            <a:ext cx="1567803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L5 · TV · MOVIES · 不太喜欢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2308721" y="187325"/>
            <a:ext cx="1044821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CFU Answers ↳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889000" y="1644650"/>
            <a:ext cx="104414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ANSWERS REVEALED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89000" y="1873250"/>
            <a:ext cx="104414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答案 · Answers</a:t>
            </a:r>
            <a:endParaRPr lang="en-US" sz="2500" dirty="0"/>
          </a:p>
        </p:txBody>
      </p:sp>
      <p:sp>
        <p:nvSpPr>
          <p:cNvPr id="16" name="Text 14"/>
          <p:cNvSpPr/>
          <p:nvPr/>
        </p:nvSpPr>
        <p:spPr>
          <a:xfrm>
            <a:off x="1073150" y="2654300"/>
            <a:ext cx="306832" cy="297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79550" y="2654300"/>
            <a:ext cx="9666732" cy="20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Quick translate: "I don't really like basketball."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479550" y="2889250"/>
            <a:ext cx="9666732" cy="240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我不太喜欢打篮球。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479550" y="3136900"/>
            <a:ext cx="96667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don't really like basketball.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073150" y="3644900"/>
            <a:ext cx="306832" cy="297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479550" y="3644900"/>
            <a:ext cx="9666732" cy="20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Does 但是 mean "and"?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479550" y="3879850"/>
            <a:ext cx="9666732" cy="240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No — 但是 means "but"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479550" y="4127500"/>
            <a:ext cx="96667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但是 expresses contrast, not addition.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073150" y="4635500"/>
            <a:ext cx="306832" cy="297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479550" y="4635500"/>
            <a:ext cx="9666732" cy="20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Error correction: 我喜欢不太运动。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479550" y="4870450"/>
            <a:ext cx="9666732" cy="240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Word order — should be 我不太喜欢运动。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479550" y="5118100"/>
            <a:ext cx="96667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不太 goes right before 喜欢, not after the verb it's connected to.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508000" y="6638925"/>
            <a:ext cx="134872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175371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5000" y="863600"/>
            <a:ext cx="801588" cy="203200"/>
          </a:xfrm>
          <a:prstGeom prst="roundRect">
            <a:avLst/>
          </a:prstGeom>
          <a:solidFill>
            <a:srgbClr val="3A7D8C"/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5000" y="1346200"/>
            <a:ext cx="620713" cy="247650"/>
          </a:xfrm>
          <a:prstGeom prst="roundRect">
            <a:avLst/>
          </a:prstGeom>
          <a:solidFill>
            <a:srgbClr val="C8943E">
              <a:alpha val="12000"/>
            </a:srgbClr>
          </a:solidFill>
          <a:ln w="6350">
            <a:solidFill>
              <a:srgbClr val="C8943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31913" y="1374775"/>
            <a:ext cx="501551" cy="190500"/>
          </a:xfrm>
          <a:prstGeom prst="roundRect">
            <a:avLst/>
          </a:prstGeom>
          <a:solidFill>
            <a:srgbClr val="3A7D8C">
              <a:alpha val="10000"/>
            </a:srgbClr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5000" y="1771650"/>
            <a:ext cx="5359400" cy="171450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197600" y="1771650"/>
            <a:ext cx="5359400" cy="2476500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EDE7D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37300" y="2266950"/>
            <a:ext cx="2476500" cy="24130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940800" y="2266950"/>
            <a:ext cx="2476500" cy="24130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37300" y="2533650"/>
            <a:ext cx="2476500" cy="24130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940800" y="2533650"/>
            <a:ext cx="2476500" cy="24130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37300" y="2800350"/>
            <a:ext cx="2476500" cy="24130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940800" y="2800350"/>
            <a:ext cx="2476500" cy="24130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37300" y="3067050"/>
            <a:ext cx="2476500" cy="24130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940800" y="3067050"/>
            <a:ext cx="2476500" cy="24130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37300" y="3333750"/>
            <a:ext cx="2476500" cy="24130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940800" y="3333750"/>
            <a:ext cx="2476500" cy="24130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37300" y="3600450"/>
            <a:ext cx="2476500" cy="24130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940800" y="3600450"/>
            <a:ext cx="2476500" cy="24130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337300" y="3867150"/>
            <a:ext cx="2476500" cy="24130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35000" y="4400550"/>
            <a:ext cx="3572867" cy="5461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309467" y="4400550"/>
            <a:ext cx="3572966" cy="5461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84034" y="4400550"/>
            <a:ext cx="3572966" cy="5461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08000" y="190500"/>
            <a:ext cx="1567803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L5 · TV · MOVIES · 不太喜欢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308721" y="187325"/>
            <a:ext cx="1993650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1 · Choral Vocab Drill · 20–26 min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635000" y="863600"/>
            <a:ext cx="829020" cy="221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70" kern="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1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1563588" y="762000"/>
            <a:ext cx="2698302" cy="424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Choral Vocab Drill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635000" y="1346200"/>
            <a:ext cx="648145" cy="26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6 min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1331913" y="1374775"/>
            <a:ext cx="528983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56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DO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819150" y="2063750"/>
            <a:ext cx="5018532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spc="68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INSTRUCTIONS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946150" y="2324100"/>
            <a:ext cx="4891532" cy="4183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shows each Text 2 word on the projector in random order — class chorally says pinyin + English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946150" y="2800350"/>
            <a:ext cx="4891532" cy="4183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Second pass: teacher says English, students call out the Chinese aloud (no writing)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6337300" y="2019300"/>
            <a:ext cx="5107432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spc="68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WORD BANK · 词库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6337300" y="2298700"/>
            <a:ext cx="148082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太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8684022" y="2298700"/>
            <a:ext cx="157210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6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too</a:t>
            </a:r>
            <a:endParaRPr lang="en-US" sz="650" dirty="0"/>
          </a:p>
        </p:txBody>
      </p:sp>
      <p:sp>
        <p:nvSpPr>
          <p:cNvPr id="39" name="Text 37"/>
          <p:cNvSpPr/>
          <p:nvPr/>
        </p:nvSpPr>
        <p:spPr>
          <a:xfrm>
            <a:off x="8940800" y="2298700"/>
            <a:ext cx="148082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但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11284942" y="2298700"/>
            <a:ext cx="159790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6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but</a:t>
            </a:r>
            <a:endParaRPr lang="en-US" sz="650" dirty="0"/>
          </a:p>
        </p:txBody>
      </p:sp>
      <p:sp>
        <p:nvSpPr>
          <p:cNvPr id="41" name="Text 39"/>
          <p:cNvSpPr/>
          <p:nvPr/>
        </p:nvSpPr>
        <p:spPr>
          <a:xfrm>
            <a:off x="6337300" y="2565400"/>
            <a:ext cx="268732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但是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8307586" y="2565400"/>
            <a:ext cx="533646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6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but; however</a:t>
            </a:r>
            <a:endParaRPr lang="en-US" sz="650" dirty="0"/>
          </a:p>
        </p:txBody>
      </p:sp>
      <p:sp>
        <p:nvSpPr>
          <p:cNvPr id="43" name="Text 41"/>
          <p:cNvSpPr/>
          <p:nvPr/>
        </p:nvSpPr>
        <p:spPr>
          <a:xfrm>
            <a:off x="8940800" y="2565400"/>
            <a:ext cx="365173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视(視)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11027966" y="2565400"/>
            <a:ext cx="416766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6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look; view</a:t>
            </a:r>
            <a:endParaRPr lang="en-US" sz="650" dirty="0"/>
          </a:p>
        </p:txBody>
      </p:sp>
      <p:sp>
        <p:nvSpPr>
          <p:cNvPr id="45" name="Text 43"/>
          <p:cNvSpPr/>
          <p:nvPr/>
        </p:nvSpPr>
        <p:spPr>
          <a:xfrm>
            <a:off x="6337300" y="2832100"/>
            <a:ext cx="268732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电视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8716764" y="2832100"/>
            <a:ext cx="124468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6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TV</a:t>
            </a:r>
            <a:endParaRPr lang="en-US" sz="650" dirty="0"/>
          </a:p>
        </p:txBody>
      </p:sp>
      <p:sp>
        <p:nvSpPr>
          <p:cNvPr id="47" name="Text 45"/>
          <p:cNvSpPr/>
          <p:nvPr/>
        </p:nvSpPr>
        <p:spPr>
          <a:xfrm>
            <a:off x="8940800" y="2832100"/>
            <a:ext cx="148082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影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10924282" y="2832100"/>
            <a:ext cx="520450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6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shadow; film</a:t>
            </a:r>
            <a:endParaRPr lang="en-US" sz="650" dirty="0"/>
          </a:p>
        </p:txBody>
      </p:sp>
      <p:sp>
        <p:nvSpPr>
          <p:cNvPr id="49" name="Text 47"/>
          <p:cNvSpPr/>
          <p:nvPr/>
        </p:nvSpPr>
        <p:spPr>
          <a:xfrm>
            <a:off x="6337300" y="3098800"/>
            <a:ext cx="268732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电影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8576469" y="3098800"/>
            <a:ext cx="264763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6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movie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8940800" y="3098800"/>
            <a:ext cx="365173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节(節)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10920512" y="3098800"/>
            <a:ext cx="524220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6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festival; m.w.</a:t>
            </a:r>
            <a:endParaRPr lang="en-US" sz="650" dirty="0"/>
          </a:p>
        </p:txBody>
      </p:sp>
      <p:sp>
        <p:nvSpPr>
          <p:cNvPr id="53" name="Text 51"/>
          <p:cNvSpPr/>
          <p:nvPr/>
        </p:nvSpPr>
        <p:spPr>
          <a:xfrm>
            <a:off x="6337300" y="3365500"/>
            <a:ext cx="268732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节目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8360470" y="3365500"/>
            <a:ext cx="480762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6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programme</a:t>
            </a:r>
            <a:endParaRPr lang="en-US" sz="650" dirty="0"/>
          </a:p>
        </p:txBody>
      </p:sp>
      <p:sp>
        <p:nvSpPr>
          <p:cNvPr id="55" name="Text 53"/>
          <p:cNvSpPr/>
          <p:nvPr/>
        </p:nvSpPr>
        <p:spPr>
          <a:xfrm>
            <a:off x="8940800" y="3365500"/>
            <a:ext cx="389382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差不多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10871498" y="3365500"/>
            <a:ext cx="573234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6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almost; nearly</a:t>
            </a:r>
            <a:endParaRPr lang="en-US" sz="650" dirty="0"/>
          </a:p>
        </p:txBody>
      </p:sp>
      <p:sp>
        <p:nvSpPr>
          <p:cNvPr id="57" name="Text 55"/>
          <p:cNvSpPr/>
          <p:nvPr/>
        </p:nvSpPr>
        <p:spPr>
          <a:xfrm>
            <a:off x="6337300" y="3632200"/>
            <a:ext cx="148082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周</a:t>
            </a:r>
            <a:endParaRPr lang="en-US" sz="950" dirty="0"/>
          </a:p>
        </p:txBody>
      </p:sp>
      <p:sp>
        <p:nvSpPr>
          <p:cNvPr id="58" name="Text 56"/>
          <p:cNvSpPr/>
          <p:nvPr/>
        </p:nvSpPr>
        <p:spPr>
          <a:xfrm>
            <a:off x="8611096" y="3632200"/>
            <a:ext cx="230136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6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week</a:t>
            </a:r>
            <a:endParaRPr lang="en-US" sz="650" dirty="0"/>
          </a:p>
        </p:txBody>
      </p:sp>
      <p:sp>
        <p:nvSpPr>
          <p:cNvPr id="59" name="Text 57"/>
          <p:cNvSpPr/>
          <p:nvPr/>
        </p:nvSpPr>
        <p:spPr>
          <a:xfrm>
            <a:off x="8940800" y="3632200"/>
            <a:ext cx="148082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末</a:t>
            </a:r>
            <a:endParaRPr lang="en-US" sz="950" dirty="0"/>
          </a:p>
        </p:txBody>
      </p:sp>
      <p:sp>
        <p:nvSpPr>
          <p:cNvPr id="60" name="Text 58"/>
          <p:cNvSpPr/>
          <p:nvPr/>
        </p:nvSpPr>
        <p:spPr>
          <a:xfrm>
            <a:off x="11269960" y="3632200"/>
            <a:ext cx="174772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6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end</a:t>
            </a:r>
            <a:endParaRPr lang="en-US" sz="650" dirty="0"/>
          </a:p>
        </p:txBody>
      </p:sp>
      <p:sp>
        <p:nvSpPr>
          <p:cNvPr id="61" name="Text 59"/>
          <p:cNvSpPr/>
          <p:nvPr/>
        </p:nvSpPr>
        <p:spPr>
          <a:xfrm>
            <a:off x="6337300" y="3898900"/>
            <a:ext cx="268732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周末</a:t>
            </a:r>
            <a:endParaRPr lang="en-US" sz="950" dirty="0"/>
          </a:p>
        </p:txBody>
      </p:sp>
      <p:sp>
        <p:nvSpPr>
          <p:cNvPr id="62" name="Text 60"/>
          <p:cNvSpPr/>
          <p:nvPr/>
        </p:nvSpPr>
        <p:spPr>
          <a:xfrm>
            <a:off x="8465741" y="3898900"/>
            <a:ext cx="375491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6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weekend</a:t>
            </a:r>
            <a:endParaRPr lang="en-US" sz="650" dirty="0"/>
          </a:p>
        </p:txBody>
      </p:sp>
      <p:sp>
        <p:nvSpPr>
          <p:cNvPr id="63" name="Text 61"/>
          <p:cNvSpPr/>
          <p:nvPr/>
        </p:nvSpPr>
        <p:spPr>
          <a:xfrm>
            <a:off x="736600" y="4476750"/>
            <a:ext cx="3397099" cy="11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spc="55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600" dirty="0"/>
          </a:p>
        </p:txBody>
      </p:sp>
      <p:sp>
        <p:nvSpPr>
          <p:cNvPr id="64" name="Text 62"/>
          <p:cNvSpPr/>
          <p:nvPr/>
        </p:nvSpPr>
        <p:spPr>
          <a:xfrm>
            <a:off x="4411067" y="4476750"/>
            <a:ext cx="3397198" cy="11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spc="55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600" dirty="0"/>
          </a:p>
        </p:txBody>
      </p:sp>
      <p:sp>
        <p:nvSpPr>
          <p:cNvPr id="65" name="Text 63"/>
          <p:cNvSpPr/>
          <p:nvPr/>
        </p:nvSpPr>
        <p:spPr>
          <a:xfrm>
            <a:off x="8085634" y="4476750"/>
            <a:ext cx="3397198" cy="11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spc="55" kern="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600" dirty="0"/>
          </a:p>
        </p:txBody>
      </p:sp>
      <p:sp>
        <p:nvSpPr>
          <p:cNvPr id="66" name="Text 64"/>
          <p:cNvSpPr/>
          <p:nvPr/>
        </p:nvSpPr>
        <p:spPr>
          <a:xfrm>
            <a:off x="508000" y="6638925"/>
            <a:ext cx="134872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175371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5000" y="850900"/>
            <a:ext cx="801588" cy="203200"/>
          </a:xfrm>
          <a:prstGeom prst="roundRect">
            <a:avLst/>
          </a:prstGeom>
          <a:solidFill>
            <a:srgbClr val="3A7D8C"/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5000" y="1320800"/>
            <a:ext cx="620713" cy="247650"/>
          </a:xfrm>
          <a:prstGeom prst="roundRect">
            <a:avLst/>
          </a:prstGeom>
          <a:solidFill>
            <a:srgbClr val="C8943E">
              <a:alpha val="12000"/>
            </a:srgbClr>
          </a:solidFill>
          <a:ln w="6350">
            <a:solidFill>
              <a:srgbClr val="C8943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31913" y="1349375"/>
            <a:ext cx="1031180" cy="190500"/>
          </a:xfrm>
          <a:prstGeom prst="roundRect">
            <a:avLst/>
          </a:prstGeom>
          <a:solidFill>
            <a:srgbClr val="3A7D8C">
              <a:alpha val="10000"/>
            </a:srgbClr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5000" y="1746250"/>
            <a:ext cx="5359400" cy="1514475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197600" y="1746250"/>
            <a:ext cx="5359400" cy="1188641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EDE7D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5000" y="3413125"/>
            <a:ext cx="3572867" cy="5461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09467" y="3413125"/>
            <a:ext cx="3572966" cy="5461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984034" y="3413125"/>
            <a:ext cx="3572966" cy="5461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8000" y="190500"/>
            <a:ext cx="1567803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L5 · TV · MOVIES · 不太喜欢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2308721" y="187325"/>
            <a:ext cx="1819918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2 · Pair Role-Play · 26–33 min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35000" y="850900"/>
            <a:ext cx="829020" cy="221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70" kern="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2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1563588" y="762000"/>
            <a:ext cx="4460526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Pair Role-Play with Substitution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635000" y="1320800"/>
            <a:ext cx="648145" cy="26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7 min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331913" y="1349375"/>
            <a:ext cx="1058612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56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DO → YOU DO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819150" y="2038350"/>
            <a:ext cx="5018532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spc="68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INSTRUCTIONS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946150" y="2298700"/>
            <a:ext cx="4891532" cy="21831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 pairs, perform the Text 2 dialogue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946150" y="2574925"/>
            <a:ext cx="4891532" cy="4183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Then repeat it, swapping in your own real preferences — a different sport you don't love, a different thing you like instead, a different TV programme type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350000" y="2006600"/>
            <a:ext cx="5082032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spc="68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CUE CARDS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6350000" y="2266950"/>
            <a:ext cx="5082032" cy="2620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60000"/>
              </a:lnSpc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A: 我不太喜欢____，但是我喜欢____。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350000" y="2599630"/>
            <a:ext cx="5082032" cy="2011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60000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Word bank support: 体育节目 — otherwise stick to 体育节目 for the TV programme type.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36600" y="3489325"/>
            <a:ext cx="3397099" cy="11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spc="55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600" dirty="0"/>
          </a:p>
        </p:txBody>
      </p:sp>
      <p:sp>
        <p:nvSpPr>
          <p:cNvPr id="27" name="Text 25"/>
          <p:cNvSpPr/>
          <p:nvPr/>
        </p:nvSpPr>
        <p:spPr>
          <a:xfrm>
            <a:off x="4411067" y="3489325"/>
            <a:ext cx="3397198" cy="11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spc="55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085634" y="3489325"/>
            <a:ext cx="3397198" cy="11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spc="55" kern="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600" dirty="0"/>
          </a:p>
        </p:txBody>
      </p:sp>
      <p:sp>
        <p:nvSpPr>
          <p:cNvPr id="29" name="Text 27"/>
          <p:cNvSpPr/>
          <p:nvPr/>
        </p:nvSpPr>
        <p:spPr>
          <a:xfrm>
            <a:off x="508000" y="6638925"/>
            <a:ext cx="134872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175371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5000" y="863600"/>
            <a:ext cx="801588" cy="203200"/>
          </a:xfrm>
          <a:prstGeom prst="roundRect">
            <a:avLst/>
          </a:prstGeom>
          <a:solidFill>
            <a:srgbClr val="3A7D8C"/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5000" y="1346200"/>
            <a:ext cx="620713" cy="247650"/>
          </a:xfrm>
          <a:prstGeom prst="roundRect">
            <a:avLst/>
          </a:prstGeom>
          <a:solidFill>
            <a:srgbClr val="C8943E">
              <a:alpha val="12000"/>
            </a:srgbClr>
          </a:solidFill>
          <a:ln w="6350">
            <a:solidFill>
              <a:srgbClr val="C8943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31913" y="1374775"/>
            <a:ext cx="556915" cy="190500"/>
          </a:xfrm>
          <a:prstGeom prst="roundRect">
            <a:avLst/>
          </a:prstGeom>
          <a:solidFill>
            <a:srgbClr val="3A7D8C">
              <a:alpha val="10000"/>
            </a:srgbClr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5000" y="1771650"/>
            <a:ext cx="5359400" cy="1514475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197600" y="1771650"/>
            <a:ext cx="5359400" cy="1587500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EDE7D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75400" y="2425700"/>
            <a:ext cx="5003800" cy="501650"/>
          </a:xfrm>
          <a:prstGeom prst="rect">
            <a:avLst/>
          </a:prstGeom>
          <a:solidFill>
            <a:srgbClr val="EDE7D7"/>
          </a:solidFill>
          <a:ln w="31750">
            <a:solidFill>
              <a:srgbClr val="1E2A3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512050" y="2527300"/>
            <a:ext cx="762000" cy="298450"/>
          </a:xfrm>
          <a:prstGeom prst="rect">
            <a:avLst/>
          </a:prstGeom>
          <a:solidFill>
            <a:srgbClr val="000000">
              <a:alpha val="0"/>
            </a:srgbClr>
          </a:solidFill>
          <a:ln w="19050">
            <a:solidFill>
              <a:srgbClr val="C8943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417050" y="2527300"/>
            <a:ext cx="762000" cy="298450"/>
          </a:xfrm>
          <a:prstGeom prst="rect">
            <a:avLst/>
          </a:prstGeom>
          <a:solidFill>
            <a:srgbClr val="000000">
              <a:alpha val="0"/>
            </a:srgbClr>
          </a:solidFill>
          <a:ln w="19050">
            <a:solidFill>
              <a:srgbClr val="C8943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5000" y="3511550"/>
            <a:ext cx="3572867" cy="41275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09467" y="3511550"/>
            <a:ext cx="3572966" cy="41275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84034" y="3511550"/>
            <a:ext cx="3572966" cy="41275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8000" y="190500"/>
            <a:ext cx="1567803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L5 · TV · MOVIES · 不太喜欢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2308721" y="187325"/>
            <a:ext cx="1660573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3 · Chain Drill · 33–38 min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635000" y="863600"/>
            <a:ext cx="829020" cy="221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70" kern="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3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563588" y="762000"/>
            <a:ext cx="2809724" cy="424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不太喜欢 Chain Drill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635000" y="1346200"/>
            <a:ext cx="648145" cy="26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5 min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331913" y="1374775"/>
            <a:ext cx="584347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56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DO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819150" y="2063750"/>
            <a:ext cx="5018532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spc="68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INSTRUCTIONS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946150" y="2324100"/>
            <a:ext cx="4891532" cy="4183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Going around the room, each student says one thing they 不太喜欢 and one thing they like instead, using 但是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946150" y="2800350"/>
            <a:ext cx="4891532" cy="21831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No repeats allowed — students must listen to what's already been said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375400" y="2057400"/>
            <a:ext cx="5031232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spc="68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SENTENCE FRAME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6375400" y="2425700"/>
            <a:ext cx="5031232" cy="519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我不太喜欢____，但是我喜欢____。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375400" y="3028950"/>
            <a:ext cx="50312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No repeats — listen carefully to the whole chain before your turn.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736600" y="3587750"/>
            <a:ext cx="3397099" cy="11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spc="55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4411067" y="3587750"/>
            <a:ext cx="3397198" cy="11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spc="55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600" dirty="0"/>
          </a:p>
        </p:txBody>
      </p:sp>
      <p:sp>
        <p:nvSpPr>
          <p:cNvPr id="31" name="Text 29"/>
          <p:cNvSpPr/>
          <p:nvPr/>
        </p:nvSpPr>
        <p:spPr>
          <a:xfrm>
            <a:off x="8085634" y="3587750"/>
            <a:ext cx="3397198" cy="11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spc="55" kern="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508000" y="6638925"/>
            <a:ext cx="134872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175371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5000" y="863600"/>
            <a:ext cx="539651" cy="203200"/>
          </a:xfrm>
          <a:prstGeom prst="roundRect">
            <a:avLst/>
          </a:prstGeom>
          <a:solidFill>
            <a:srgbClr val="D4756B"/>
          </a:solidFill>
          <a:ln w="12700">
            <a:solidFill>
              <a:srgbClr val="D4756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5000" y="1346200"/>
            <a:ext cx="620713" cy="247650"/>
          </a:xfrm>
          <a:prstGeom prst="roundRect">
            <a:avLst/>
          </a:prstGeom>
          <a:solidFill>
            <a:srgbClr val="C8943E">
              <a:alpha val="12000"/>
            </a:srgbClr>
          </a:solidFill>
          <a:ln w="6350">
            <a:solidFill>
              <a:srgbClr val="C8943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31913" y="1374775"/>
            <a:ext cx="956965" cy="190500"/>
          </a:xfrm>
          <a:prstGeom prst="roundRect">
            <a:avLst/>
          </a:prstGeom>
          <a:solidFill>
            <a:srgbClr val="D4756B">
              <a:alpha val="10000"/>
            </a:srgbClr>
          </a:solidFill>
          <a:ln w="12700">
            <a:solidFill>
              <a:srgbClr val="D4756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5000" y="1771650"/>
            <a:ext cx="5359400" cy="2016125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197600" y="1771650"/>
            <a:ext cx="5359400" cy="2114550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EDE7D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62700" y="2305050"/>
            <a:ext cx="5029200" cy="336550"/>
          </a:xfrm>
          <a:prstGeom prst="roundRect">
            <a:avLst/>
          </a:prstGeom>
          <a:solidFill>
            <a:srgbClr val="FEFCF7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62700" y="2717800"/>
            <a:ext cx="5029200" cy="336550"/>
          </a:xfrm>
          <a:prstGeom prst="roundRect">
            <a:avLst/>
          </a:prstGeom>
          <a:solidFill>
            <a:srgbClr val="FEFCF7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2700" y="3130550"/>
            <a:ext cx="5029200" cy="336550"/>
          </a:xfrm>
          <a:prstGeom prst="roundRect">
            <a:avLst/>
          </a:prstGeom>
          <a:solidFill>
            <a:srgbClr val="FEFCF7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5000" y="4038600"/>
            <a:ext cx="3572867" cy="5461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09467" y="4038600"/>
            <a:ext cx="3572966" cy="5461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84034" y="4038600"/>
            <a:ext cx="3572966" cy="5461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8000" y="190500"/>
            <a:ext cx="1567803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L5 · TV · MOVIES · 不太喜欢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2308721" y="187325"/>
            <a:ext cx="1932630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Game · Two Truths, One Lie · 38–43 min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635000" y="863600"/>
            <a:ext cx="567083" cy="221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70" kern="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GAME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301651" y="762000"/>
            <a:ext cx="4284710" cy="424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Two Truths, One Lie · 两真一假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635000" y="1346200"/>
            <a:ext cx="648145" cy="26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5 min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331913" y="1374775"/>
            <a:ext cx="984397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56" kern="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GROUPS OF 3–4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819150" y="2063750"/>
            <a:ext cx="5018532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spc="68" kern="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HOW TO PLAY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946150" y="2324100"/>
            <a:ext cx="4891532" cy="21831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 small groups of 3–4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946150" y="2613025"/>
            <a:ext cx="4891532" cy="4183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Each student says three sentences about their own likes/dislikes using 喜欢 / 不太喜欢 — two true, one false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946150" y="3101975"/>
            <a:ext cx="4891532" cy="4183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The group guesses which is the lie by asking follow-up questions in Chinese where possible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362700" y="2044700"/>
            <a:ext cx="5056632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spc="68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WHAT IT MIGHT SOUND LIKE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6470650" y="2413000"/>
            <a:ext cx="87360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606778" y="2374900"/>
            <a:ext cx="2262632" cy="215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我不太喜欢运动，但是我喜欢游泳。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470650" y="2825750"/>
            <a:ext cx="87360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606778" y="2787650"/>
            <a:ext cx="2681732" cy="215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我很喜欢运动。我还喜欢看电视、看电影。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470650" y="3238500"/>
            <a:ext cx="87360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6606778" y="3200400"/>
            <a:ext cx="1843532" cy="215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我差不多每个周末都看电影。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362700" y="3568700"/>
            <a:ext cx="50566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60000"/>
              </a:lnSpc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The group discusses which one is false — asking follow-up questions in Chinese where possible.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736600" y="4114800"/>
            <a:ext cx="3397099" cy="11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spc="55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SETUP</a:t>
            </a:r>
            <a:endParaRPr lang="en-US" sz="600" dirty="0"/>
          </a:p>
        </p:txBody>
      </p:sp>
      <p:sp>
        <p:nvSpPr>
          <p:cNvPr id="36" name="Text 34"/>
          <p:cNvSpPr/>
          <p:nvPr/>
        </p:nvSpPr>
        <p:spPr>
          <a:xfrm>
            <a:off x="4411067" y="4114800"/>
            <a:ext cx="3397198" cy="11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spc="55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GROUP SIZE</a:t>
            </a:r>
            <a:endParaRPr lang="en-US" sz="600" dirty="0"/>
          </a:p>
        </p:txBody>
      </p:sp>
      <p:sp>
        <p:nvSpPr>
          <p:cNvPr id="37" name="Text 35"/>
          <p:cNvSpPr/>
          <p:nvPr/>
        </p:nvSpPr>
        <p:spPr>
          <a:xfrm>
            <a:off x="8085634" y="4114800"/>
            <a:ext cx="3397198" cy="11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spc="55" kern="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600" dirty="0"/>
          </a:p>
        </p:txBody>
      </p:sp>
      <p:sp>
        <p:nvSpPr>
          <p:cNvPr id="38" name="Text 36"/>
          <p:cNvSpPr/>
          <p:nvPr/>
        </p:nvSpPr>
        <p:spPr>
          <a:xfrm>
            <a:off x="508000" y="6638925"/>
            <a:ext cx="134872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175371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89000" y="2959795"/>
            <a:ext cx="5105400" cy="2049661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8550" y="3537645"/>
            <a:ext cx="215900" cy="215900"/>
          </a:xfrm>
          <a:prstGeom prst="roundRect">
            <a:avLst/>
          </a:prstGeom>
          <a:solidFill>
            <a:srgbClr val="3A7D8C">
              <a:alpha val="10000"/>
            </a:srgbClr>
          </a:solidFill>
          <a:ln w="6350">
            <a:solidFill>
              <a:srgbClr val="3A7D8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52550" y="3537645"/>
            <a:ext cx="215900" cy="215900"/>
          </a:xfrm>
          <a:prstGeom prst="roundRect">
            <a:avLst/>
          </a:prstGeom>
          <a:solidFill>
            <a:srgbClr val="C8943E">
              <a:alpha val="12000"/>
            </a:srgbClr>
          </a:solidFill>
          <a:ln w="6350">
            <a:solidFill>
              <a:srgbClr val="C8943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06550" y="3537645"/>
            <a:ext cx="215900" cy="215900"/>
          </a:xfrm>
          <a:prstGeom prst="roundRect">
            <a:avLst/>
          </a:prstGeom>
          <a:solidFill>
            <a:srgbClr val="D4756B">
              <a:alpha val="10000"/>
            </a:srgbClr>
          </a:solidFill>
          <a:ln w="6350">
            <a:solidFill>
              <a:srgbClr val="D4756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98550" y="3855145"/>
            <a:ext cx="215900" cy="215900"/>
          </a:xfrm>
          <a:prstGeom prst="roundRect">
            <a:avLst/>
          </a:prstGeom>
          <a:solidFill>
            <a:srgbClr val="3A7D8C">
              <a:alpha val="10000"/>
            </a:srgbClr>
          </a:solidFill>
          <a:ln w="6350">
            <a:solidFill>
              <a:srgbClr val="3A7D8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352550" y="3855145"/>
            <a:ext cx="215900" cy="215900"/>
          </a:xfrm>
          <a:prstGeom prst="roundRect">
            <a:avLst/>
          </a:prstGeom>
          <a:solidFill>
            <a:srgbClr val="C8943E">
              <a:alpha val="12000"/>
            </a:srgbClr>
          </a:solidFill>
          <a:ln w="6350">
            <a:solidFill>
              <a:srgbClr val="C8943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06550" y="3855145"/>
            <a:ext cx="215900" cy="215900"/>
          </a:xfrm>
          <a:prstGeom prst="roundRect">
            <a:avLst/>
          </a:prstGeom>
          <a:solidFill>
            <a:srgbClr val="D4756B">
              <a:alpha val="10000"/>
            </a:srgbClr>
          </a:solidFill>
          <a:ln w="6350">
            <a:solidFill>
              <a:srgbClr val="D475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8550" y="4172645"/>
            <a:ext cx="215900" cy="215900"/>
          </a:xfrm>
          <a:prstGeom prst="roundRect">
            <a:avLst/>
          </a:prstGeom>
          <a:solidFill>
            <a:srgbClr val="3A7D8C">
              <a:alpha val="10000"/>
            </a:srgbClr>
          </a:solidFill>
          <a:ln w="6350">
            <a:solidFill>
              <a:srgbClr val="3A7D8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352550" y="4172645"/>
            <a:ext cx="215900" cy="215900"/>
          </a:xfrm>
          <a:prstGeom prst="roundRect">
            <a:avLst/>
          </a:prstGeom>
          <a:solidFill>
            <a:srgbClr val="C8943E">
              <a:alpha val="12000"/>
            </a:srgbClr>
          </a:solidFill>
          <a:ln w="6350">
            <a:solidFill>
              <a:srgbClr val="C8943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606550" y="4172645"/>
            <a:ext cx="215900" cy="215900"/>
          </a:xfrm>
          <a:prstGeom prst="roundRect">
            <a:avLst/>
          </a:prstGeom>
          <a:solidFill>
            <a:srgbClr val="D4756B">
              <a:alpha val="10000"/>
            </a:srgbClr>
          </a:solidFill>
          <a:ln w="6350">
            <a:solidFill>
              <a:srgbClr val="D4756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97600" y="2959795"/>
            <a:ext cx="5105400" cy="2049661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7150" y="3537645"/>
            <a:ext cx="4686300" cy="673100"/>
          </a:xfrm>
          <a:prstGeom prst="rect">
            <a:avLst/>
          </a:prstGeom>
          <a:solidFill>
            <a:srgbClr val="EDE7D7"/>
          </a:solidFill>
          <a:ln w="31750">
            <a:solidFill>
              <a:srgbClr val="1E2A3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8000" y="190500"/>
            <a:ext cx="1567803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L5 · TV · MOVIES · 不太喜欢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2308721" y="187325"/>
            <a:ext cx="983008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Plenary · 43–50 min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89000" y="2026345"/>
            <a:ext cx="104414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PLENARY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889000" y="2254945"/>
            <a:ext cx="10441432" cy="49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总结 · Wrap-Up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1098550" y="3251895"/>
            <a:ext cx="4713732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spc="68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REVISIT SUCCESS CRITERIA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098550" y="3537645"/>
            <a:ext cx="243332" cy="234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👍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352550" y="3537645"/>
            <a:ext cx="243332" cy="234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😐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606550" y="3537645"/>
            <a:ext cx="243332" cy="234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👎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098550" y="3855145"/>
            <a:ext cx="243332" cy="234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👍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352550" y="3855145"/>
            <a:ext cx="243332" cy="234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😐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606550" y="3855145"/>
            <a:ext cx="243332" cy="234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👎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1098550" y="4172645"/>
            <a:ext cx="243332" cy="234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👍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1352550" y="4172645"/>
            <a:ext cx="243332" cy="234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😐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606550" y="4172645"/>
            <a:ext cx="243332" cy="234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👎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407150" y="3251895"/>
            <a:ext cx="4713732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spc="68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EXIT TICKET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6591300" y="3664645"/>
            <a:ext cx="4377182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b="1" spc="65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TASK</a:t>
            </a:r>
            <a:endParaRPr lang="en-US" sz="650" dirty="0"/>
          </a:p>
        </p:txBody>
      </p:sp>
      <p:sp>
        <p:nvSpPr>
          <p:cNvPr id="34" name="Text 32"/>
          <p:cNvSpPr/>
          <p:nvPr/>
        </p:nvSpPr>
        <p:spPr>
          <a:xfrm>
            <a:off x="6591300" y="3848795"/>
            <a:ext cx="4377182" cy="253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Write one sentence using 不太喜欢……但是……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407150" y="4337745"/>
            <a:ext cx="4713732" cy="50584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60000"/>
              </a:lnSpc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 student volunteer reads each Success Criterion aloud; class responds with a matching example sentence.</a:t>
            </a:r>
            <a:endParaRPr lang="en-US" sz="800" dirty="0"/>
          </a:p>
          <a:p>
            <a:pPr algn="l" indent="0" marL="0">
              <a:lnSpc>
                <a:spcPct val="160000"/>
              </a:lnSpc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Self-assessment: show of hands — 👍/😐/👎 against each criterion.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508000" y="6638925"/>
            <a:ext cx="134872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175371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898900" y="2823766"/>
            <a:ext cx="2120900" cy="139700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172200" y="2823766"/>
            <a:ext cx="2120900" cy="139700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333776" y="4500166"/>
            <a:ext cx="3524448" cy="958850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EDE7D7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8000" y="190500"/>
            <a:ext cx="1567803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L5 · TV · MOVIES · 不太喜欢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2308721" y="187325"/>
            <a:ext cx="1073595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Preview · Next Lesson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5403949" y="1576685"/>
            <a:ext cx="1411534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spc="135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COMING UP NEXT · L6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4554736" y="1811635"/>
            <a:ext cx="3109861" cy="427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差不多 · 经常 · 常常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093295" y="2271316"/>
            <a:ext cx="2032742" cy="240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Comparing frequency words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133850" y="3007916"/>
            <a:ext cx="1678432" cy="469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🔤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4133850" y="3547666"/>
            <a:ext cx="1678432" cy="215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词汇辨析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133850" y="3769916"/>
            <a:ext cx="1678432" cy="2849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Drill the difference between 差不多, 经常 and 常常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407150" y="3007916"/>
            <a:ext cx="1678432" cy="469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🔄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407150" y="3547666"/>
            <a:ext cx="1678432" cy="215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句型转换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07150" y="3769916"/>
            <a:ext cx="1678432" cy="2849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Turning 常常 sentences into 差不多每天都 sentences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4638576" y="4639866"/>
            <a:ext cx="2942280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50" b="1" spc="65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COMING UP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4638576" y="4811316"/>
            <a:ext cx="2942280" cy="329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常常…… → 差不多每天都……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4638576" y="5160566"/>
            <a:ext cx="2942280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Same frequency, different phrasing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08000" y="6638925"/>
            <a:ext cx="134872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erif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deck.liyu.dev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Editable classroom lesson slides</dc:subject>
  <dc:creator>deck.liyu.dev</dc:creator>
  <cp:lastModifiedBy>deck.liyu.dev</cp:lastModifiedBy>
  <cp:revision>1</cp:revision>
  <dcterms:created xsi:type="dcterms:W3CDTF">2026-07-20T00:32:14Z</dcterms:created>
  <dcterms:modified xsi:type="dcterms:W3CDTF">2026-07-20T00:32:14Z</dcterms:modified>
</cp:coreProperties>
</file>