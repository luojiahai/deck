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2158901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Y8 UNIT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21920" y="2485876"/>
            <a:ext cx="1243584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</a:t>
            </a:r>
            <a:pPr algn="ctr" indent="0" marL="0">
              <a:spcBef>
                <a:spcPts val="1000"/>
              </a:spcBef>
              <a:buNone/>
            </a:pPr>
            <a:r>
              <a:rPr lang="en-US" sz="4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spcBef>
                <a:spcPts val="1000"/>
              </a:spcBef>
              <a:buNone/>
            </a:pPr>
            <a:r>
              <a:rPr lang="en-US" sz="4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</a:t>
            </a:r>
            <a:pPr algn="ctr" indent="0" marL="0">
              <a:spcBef>
                <a:spcPts val="1000"/>
              </a:spcBef>
              <a:buNone/>
            </a:pPr>
            <a:r>
              <a:rPr lang="en-US" sz="4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spcBef>
                <a:spcPts val="1000"/>
              </a:spcBef>
              <a:buNone/>
            </a:pPr>
            <a:r>
              <a:rPr lang="en-US" sz="4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周末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-121920" y="3276451"/>
            <a:ext cx="12435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TV, Movies &amp; Weekends + 不太喜欢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-121920" y="3746302"/>
            <a:ext cx="124358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Speaking + Listening  ·  轻松学中文 Book 2 · p.74 · CD Track 39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561975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Duration Q&amp;A (L1–4)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181100"/>
            <a:ext cx="5537299" cy="1012627"/>
          </a:xfrm>
          <a:prstGeom prst="roundRect">
            <a:avLst>
              <a:gd name="adj" fmla="val 100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317575"/>
            <a:ext cx="52141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DIALOGUE RECREATION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4426" y="1581001"/>
            <a:ext cx="5111948" cy="4762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</a:t>
            </a:r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recreate yesterday's duration Q&amp;A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memory — no notes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roles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repeat the dialogue with a </a:t>
            </a:r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different sport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22950" y="1181100"/>
            <a:ext cx="5648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QUESTION PATTERN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2950" y="1444526"/>
            <a:ext cx="5537299" cy="4506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6763" y="1444526"/>
            <a:ext cx="0" cy="4506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2975" y="1546027"/>
            <a:ext cx="52885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你每天/每个星期打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几个小时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sport？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750" y="2346127"/>
            <a:ext cx="11328499" cy="615851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5563" y="2346127"/>
            <a:ext cx="0" cy="615851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526" y="2473077"/>
            <a:ext cx="1109206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"So far every sentence has been about liking something. Today you'll learn to say you </a:t>
            </a:r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don't</a:t>
            </a:r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really like something — and talk about what you do instead, like watching TV or movies."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LEARNING INTENTION &amp; SC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776710"/>
            <a:ext cx="11555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204653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2640211"/>
            <a:ext cx="11328499" cy="673001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2640211"/>
            <a:ext cx="0" cy="673001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526" y="2767161"/>
            <a:ext cx="11092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2526" y="2938611"/>
            <a:ext cx="110920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talk about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TV, movies, and weekends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to use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不太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we don't really like something.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3440162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1851" y="3440162"/>
            <a:ext cx="4630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pPr algn="l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电视, 电影, 节目, 周末</a:t>
            </a:r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(拼音说出电视/电影相关词汇)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1750" y="3729038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1851" y="3729038"/>
            <a:ext cx="383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pPr algn="l" indent="0" marL="0">
              <a:buNone/>
            </a:pPr>
            <a:r>
              <a:rPr lang="en-US" sz="11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不太喜欢</a:t>
            </a:r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I don't really like something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750" y="4017913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1851" y="4017913"/>
            <a:ext cx="37942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pPr algn="l" indent="0" marL="0">
              <a:buNone/>
            </a:pPr>
            <a:r>
              <a:rPr lang="en-US" sz="11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contrast two ideas in one sentence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1750" y="4344888"/>
            <a:ext cx="11328499" cy="609302"/>
          </a:xfrm>
          <a:prstGeom prst="roundRect">
            <a:avLst>
              <a:gd name="adj" fmla="val 16675"/>
            </a:avLst>
          </a:prstGeom>
          <a:solidFill>
            <a:srgbClr val="3A7D8C">
              <a:alpha val="10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501" y="4516189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5477" y="4465439"/>
            <a:ext cx="47953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the class: "Who does NOT like sport very much?"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5477" y="4690765"/>
            <a:ext cx="47953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few honest hands will likely go up — today gives you the exact words to say that in Chinese.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6381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43000"/>
            <a:ext cx="5562600" cy="1654076"/>
          </a:xfrm>
          <a:prstGeom prst="roundRect">
            <a:avLst>
              <a:gd name="adj" fmla="val 614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143000"/>
            <a:ext cx="5562600" cy="1654076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tài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dàn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dànshì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but; however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视(視)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look; view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电视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diànshì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yǐng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shadow; film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电影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diànyǐng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movie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7501" y="1143000"/>
            <a:ext cx="5562749" cy="1654076"/>
          </a:xfrm>
          <a:prstGeom prst="roundRect">
            <a:avLst>
              <a:gd name="adj" fmla="val 614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7501" y="1143000"/>
            <a:ext cx="5562749" cy="1654076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节(節)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jié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festival; measure word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节目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jiémù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programme; show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chàbuduō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almost; nearly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zhōu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week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末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mò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周末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zhōumò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weekend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750" y="2911376"/>
            <a:ext cx="11328499" cy="618827"/>
          </a:xfrm>
          <a:prstGeom prst="roundRect">
            <a:avLst>
              <a:gd name="adj" fmla="val 16418"/>
            </a:avLst>
          </a:prstGeom>
          <a:solidFill>
            <a:srgbClr val="3A7D8C">
              <a:alpha val="10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501" y="3087439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5477" y="3031927"/>
            <a:ext cx="42122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</a:t>
            </a:r>
            <a:pPr algn="l" indent="0" marL="0">
              <a:buNone/>
            </a:pPr>
            <a:r>
              <a:rPr lang="en-US" sz="10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(electric) appears in both </a:t>
            </a:r>
            <a:pPr algn="l" indent="0" marL="0">
              <a:buNone/>
            </a:pP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电视</a:t>
            </a:r>
            <a:pPr algn="l" indent="0" marL="0">
              <a:buNone/>
            </a:pPr>
            <a:r>
              <a:rPr lang="en-US" sz="10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buNone/>
            </a:pP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5477" y="3266777"/>
            <a:ext cx="4212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"electric-view" = TV · "electric-shadow" = movie — a nice literal-translation hook.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I DO · KEY PATTERN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227832"/>
            <a:ext cx="11555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396008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Sentence Pattern · 关键句型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1821359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Softening dislike, and describing regular habits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1750" y="2097584"/>
            <a:ext cx="11328499" cy="4506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5563" y="2097584"/>
            <a:ext cx="0" cy="4506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775" y="2199084"/>
            <a:ext cx="111955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activity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，但是我喜欢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activity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2637086"/>
            <a:ext cx="11328499" cy="4506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5563" y="2637086"/>
            <a:ext cx="0" cy="4506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775" y="2738586"/>
            <a:ext cx="111955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我差不多每个周末都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verb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750" y="3202037"/>
            <a:ext cx="11328499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426" y="3338513"/>
            <a:ext cx="11121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我不太喜欢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运动，</a:t>
            </a:r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我喜欢游泳。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really like sport, but I like swimming.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750" y="3760738"/>
            <a:ext cx="11328499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426" y="3897213"/>
            <a:ext cx="11121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我差不多每个周末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都看电影。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watch a movie almost every weekend.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750" y="4319439"/>
            <a:ext cx="11328499" cy="450652"/>
          </a:xfrm>
          <a:prstGeom prst="roundRect">
            <a:avLst>
              <a:gd name="adj" fmla="val 16909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3200" y="4439989"/>
            <a:ext cx="112053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我不太喜欢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做作业，</a:t>
            </a:r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我很喜欢玩电脑游戏！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really like homework, but I really like computer games!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750" y="4884390"/>
            <a:ext cx="11328499" cy="618827"/>
          </a:xfrm>
          <a:prstGeom prst="roundRect">
            <a:avLst>
              <a:gd name="adj" fmla="val 16418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501" y="5060454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5477" y="5004941"/>
            <a:ext cx="27869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不太 softens 喜欢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5477" y="5230267"/>
            <a:ext cx="2786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It's not a full "I don't like" — it's "I don't really like."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TEXT 2 · 电视·电影·周末 · I DO / WE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PRESENTATION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1750" y="539651"/>
            <a:ext cx="115550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2 · 课文二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8483798" cy="5378648"/>
          </a:xfrm>
          <a:prstGeom prst="roundRect">
            <a:avLst>
              <a:gd name="adj" fmla="val 28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107877"/>
            <a:ext cx="1426369" cy="257175"/>
          </a:xfrm>
          <a:prstGeom prst="roundRect">
            <a:avLst>
              <a:gd name="adj" fmla="val 69136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0901" y="1155502"/>
            <a:ext cx="11764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 CD Track 39 · p.74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72295" y="1145977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426" y="1441252"/>
            <a:ext cx="805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</a:t>
            </a:r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不太喜欢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运动，</a:t>
            </a:r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我喜欢游泳。你喜欢运动吗？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我很喜欢运动。我还喜欢看电视、看电影。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你喜欢看什么电视节目？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我喜欢看体育节目。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你经常看电影吗？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</a:t>
            </a:r>
            <a:pPr algn="l" indent="0" marL="0"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</a:t>
            </a:r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每个周末都看。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426" y="2914352"/>
            <a:ext cx="82196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 Listen, read aloud once  →  2 Choral read together  →  3 Pair read (roles A/B)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093250" y="971401"/>
            <a:ext cx="2667000" cy="1139726"/>
          </a:xfrm>
          <a:prstGeom prst="roundRect">
            <a:avLst>
              <a:gd name="adj" fmla="val 89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96400" y="1098352"/>
            <a:ext cx="2305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SPOTLIGHT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296400" y="1307902"/>
            <a:ext cx="2305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不太喜欢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don't really like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96400" y="1546027"/>
            <a:ext cx="2305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296400" y="1784152"/>
            <a:ext cx="2305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</a:t>
            </a:r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almost / nearly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93250" y="2238077"/>
            <a:ext cx="2667000" cy="1457176"/>
          </a:xfrm>
          <a:prstGeom prst="roundRect">
            <a:avLst>
              <a:gd name="adj" fmla="val 697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05925" y="2374553"/>
            <a:ext cx="2286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COMPREHENSION QUESTIONS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305925" y="2596753"/>
            <a:ext cx="22864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Does speaker A like sport? What's the one exception?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05925" y="2996803"/>
            <a:ext cx="22864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</a:t>
            </a:r>
            <a:pPr algn="l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 kind of TV programme does B like?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05925" y="3396853"/>
            <a:ext cx="22864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</a:t>
            </a:r>
            <a:pPr algn="l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How often does B watch movies?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I DO · CFU CHECKPOINTS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940123"/>
            <a:ext cx="11555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2121098"/>
            <a:ext cx="1155506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31750" y="2597348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 </a:t>
            </a:r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[Whiteboard]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750" y="2905274"/>
            <a:ext cx="11328499" cy="552301"/>
          </a:xfrm>
          <a:prstGeom prst="roundRect">
            <a:avLst>
              <a:gd name="adj" fmla="val 1839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304174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2475" y="3081338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0727" y="3041749"/>
            <a:ext cx="43578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"I don't really like basketball." Write it.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750" y="3571875"/>
            <a:ext cx="11328499" cy="552301"/>
          </a:xfrm>
          <a:prstGeom prst="roundRect">
            <a:avLst>
              <a:gd name="adj" fmla="val 1839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370835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9825" y="3747939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0727" y="3708350"/>
            <a:ext cx="25577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"and."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750" y="4238476"/>
            <a:ext cx="11328499" cy="552301"/>
          </a:xfrm>
          <a:prstGeom prst="roundRect">
            <a:avLst>
              <a:gd name="adj" fmla="val 1839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426" y="4374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9527" y="4414540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0727" y="4374952"/>
            <a:ext cx="40194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我喜欢不太运动。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What's wrong?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I DO · CFU ANSWERS 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605260"/>
            <a:ext cx="11555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786235"/>
            <a:ext cx="1155506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31750" y="2338685"/>
            <a:ext cx="11328499" cy="869752"/>
          </a:xfrm>
          <a:prstGeom prst="roundRect">
            <a:avLst>
              <a:gd name="adj" fmla="val 116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247516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2475" y="2514749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0727" y="2475161"/>
            <a:ext cx="29072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"I don't really like basketball."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0727" y="2694236"/>
            <a:ext cx="2907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我不太喜欢打篮球。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0727" y="2929086"/>
            <a:ext cx="29072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really like basketball.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1750" y="3297287"/>
            <a:ext cx="11328499" cy="869752"/>
          </a:xfrm>
          <a:prstGeom prst="roundRect">
            <a:avLst>
              <a:gd name="adj" fmla="val 116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343376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9825" y="3473351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0727" y="3433763"/>
            <a:ext cx="19042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但是 mean "and"?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0727" y="3652838"/>
            <a:ext cx="19042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No — 但是 means "but"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0727" y="3887688"/>
            <a:ext cx="1904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 expresses contrast, not addition.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1750" y="4255889"/>
            <a:ext cx="11328499" cy="869752"/>
          </a:xfrm>
          <a:prstGeom prst="roundRect">
            <a:avLst>
              <a:gd name="adj" fmla="val 116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426" y="439236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9527" y="4431953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0727" y="4392364"/>
            <a:ext cx="32408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我喜欢不太运动。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0727" y="4611439"/>
            <a:ext cx="32408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Word order — should be 我不太喜欢运动。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0727" y="4846290"/>
            <a:ext cx="3240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不太 goes right before 喜欢, not after the verb it's connected to.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ACTIVITY 1 · CHORAL VOCAB DRILL · 20–26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61963"/>
            <a:ext cx="804714" cy="219075"/>
          </a:xfrm>
          <a:prstGeom prst="roundRect">
            <a:avLst>
              <a:gd name="adj" fmla="val 8116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500063"/>
            <a:ext cx="561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63414" y="381000"/>
            <a:ext cx="21352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Choral Vocab Drill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1750" y="876300"/>
            <a:ext cx="676275" cy="247650"/>
          </a:xfrm>
          <a:prstGeom prst="roundRect">
            <a:avLst>
              <a:gd name="adj" fmla="val 71795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923925"/>
            <a:ext cx="411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09526" y="876300"/>
            <a:ext cx="610046" cy="247650"/>
          </a:xfrm>
          <a:prstGeom prst="roundRect">
            <a:avLst>
              <a:gd name="adj" fmla="val 71795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46002" y="923925"/>
            <a:ext cx="343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238250"/>
            <a:ext cx="5562600" cy="1920478"/>
          </a:xfrm>
          <a:prstGeom prst="roundRect">
            <a:avLst>
              <a:gd name="adj" fmla="val 52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1374725"/>
            <a:ext cx="523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4426" y="1628626"/>
            <a:ext cx="5137249" cy="838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each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word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projector in random order — class chorally says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+ English</a:t>
            </a:r>
            <a:endParaRPr lang="en-US" sz="1050" dirty="0"/>
          </a:p>
          <a:p>
            <a:pPr algn="l" marL="88900" indent="-88900">
              <a:buSzPct val="100000"/>
              <a:buChar char="•"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Second pass: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says English, students call out the Chinese aloud (no writing)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7501" y="1238250"/>
            <a:ext cx="5562749" cy="1920478"/>
          </a:xfrm>
          <a:prstGeom prst="roundRect">
            <a:avLst>
              <a:gd name="adj" fmla="val 529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7501" y="1238250"/>
            <a:ext cx="5562749" cy="1920478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8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too </a:t>
            </a:r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but</a:t>
            </a:r>
            <a:endParaRPr lang="en-US" sz="8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but; however</a:t>
            </a:r>
            <a:endParaRPr lang="en-US" sz="8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视(視)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look; view </a:t>
            </a:r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电视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TV</a:t>
            </a:r>
            <a:endParaRPr lang="en-US" sz="8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shadow; film </a:t>
            </a:r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电影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movie</a:t>
            </a:r>
            <a:endParaRPr lang="en-US" sz="8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节(節)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festival; m.w.</a:t>
            </a:r>
            <a:endParaRPr lang="en-US" sz="8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节目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programme </a:t>
            </a:r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almost; nearly</a:t>
            </a:r>
            <a:endParaRPr lang="en-US" sz="8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week </a:t>
            </a:r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末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end </a:t>
            </a:r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周末</a:t>
            </a:r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weekend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1750" y="3349228"/>
            <a:ext cx="3716834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6050" y="3425428"/>
            <a:ext cx="3557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6050" y="3584079"/>
            <a:ext cx="3557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stays visible for the whole activity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37434" y="3349228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51734" y="3425428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51734" y="3584079"/>
            <a:ext cx="355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电视 and 电影, students volunteer one more 电-word they can guess the meaning of by pattern (e.g. 电脑 — computer)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43267" y="3349228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57567" y="3425428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157567" y="3584079"/>
            <a:ext cx="355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choral response, every word, both directions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ACTIVITY 2 · PAIR ROLE-PLAY · 26–33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42913"/>
            <a:ext cx="823168" cy="219075"/>
          </a:xfrm>
          <a:prstGeom prst="roundRect">
            <a:avLst>
              <a:gd name="adj" fmla="val 8116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81012"/>
            <a:ext cx="5806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81869" y="381000"/>
            <a:ext cx="3267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Pair Role-Play with Substitution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1750" y="838200"/>
            <a:ext cx="670322" cy="247650"/>
          </a:xfrm>
          <a:prstGeom prst="roundRect">
            <a:avLst>
              <a:gd name="adj" fmla="val 71795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885825"/>
            <a:ext cx="405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03573" y="838200"/>
            <a:ext cx="1160562" cy="247650"/>
          </a:xfrm>
          <a:prstGeom prst="roundRect">
            <a:avLst>
              <a:gd name="adj" fmla="val 71795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40048" y="885825"/>
            <a:ext cx="905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200150"/>
            <a:ext cx="5562600" cy="1365052"/>
          </a:xfrm>
          <a:prstGeom prst="roundRect">
            <a:avLst>
              <a:gd name="adj" fmla="val 74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1336625"/>
            <a:ext cx="523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4426" y="1590526"/>
            <a:ext cx="5137249" cy="838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perform the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dialogue</a:t>
            </a:r>
            <a:endParaRPr lang="en-US" sz="1050" dirty="0"/>
          </a:p>
          <a:p>
            <a:pPr algn="l" marL="88900" indent="-88900"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 it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swapping in your own real preferences — a different sport you don't love, a different thing you like instead, a different TV programme type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7501" y="1200150"/>
            <a:ext cx="5562749" cy="1365052"/>
          </a:xfrm>
          <a:prstGeom prst="roundRect">
            <a:avLst>
              <a:gd name="adj" fmla="val 744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651" y="1327100"/>
            <a:ext cx="52595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CUE CARDS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651" y="1581001"/>
            <a:ext cx="5259577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我不太喜欢____，但是我喜欢____。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651" y="1930003"/>
            <a:ext cx="5259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support: </a:t>
            </a:r>
            <a:pPr algn="l" indent="0" marL="0">
              <a:lnSpc>
                <a:spcPts val="1425"/>
              </a:lnSpc>
              <a:spcBef>
                <a:spcPts val="800"/>
              </a:spcBef>
              <a:buNone/>
            </a:pP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体育节目</a:t>
            </a:r>
            <a:pPr algn="l" indent="0" marL="0">
              <a:lnSpc>
                <a:spcPts val="1425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otherwise stick to 体育节目 for the TV programme type.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1750" y="2755702"/>
            <a:ext cx="3716834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6050" y="2831902"/>
            <a:ext cx="3557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46050" y="2990552"/>
            <a:ext cx="35579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Cue cards with sentence frames and a word bank support students who need 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37434" y="2755702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51734" y="2831902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351734" y="2990552"/>
            <a:ext cx="355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extend B's final answer with a duration or frequency detail — 我差不多每个周末都看两个小时电影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43267" y="2755702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57567" y="2831902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157567" y="2990552"/>
            <a:ext cx="355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performs both roles (swap A/B halfway); 2–3 pairs perform for the class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ACTIVITY 3 · CHAIN DRILL · 33–38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61963"/>
            <a:ext cx="823764" cy="219075"/>
          </a:xfrm>
          <a:prstGeom prst="roundRect">
            <a:avLst>
              <a:gd name="adj" fmla="val 8116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500063"/>
            <a:ext cx="5812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82464" y="381000"/>
            <a:ext cx="24269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 Chain Drill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1750" y="876300"/>
            <a:ext cx="675084" cy="247650"/>
          </a:xfrm>
          <a:prstGeom prst="roundRect">
            <a:avLst>
              <a:gd name="adj" fmla="val 71795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923925"/>
            <a:ext cx="4101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08336" y="876300"/>
            <a:ext cx="649932" cy="247650"/>
          </a:xfrm>
          <a:prstGeom prst="roundRect">
            <a:avLst>
              <a:gd name="adj" fmla="val 71795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44811" y="923925"/>
            <a:ext cx="3845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238250"/>
            <a:ext cx="5562600" cy="1202829"/>
          </a:xfrm>
          <a:prstGeom prst="roundRect">
            <a:avLst>
              <a:gd name="adj" fmla="val 84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1374725"/>
            <a:ext cx="523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4426" y="1628626"/>
            <a:ext cx="5137249" cy="6477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Going around the room, each student says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thing they 不太喜欢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thing they like instead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using 但是</a:t>
            </a:r>
            <a:endParaRPr lang="en-US" sz="1050" dirty="0"/>
          </a:p>
          <a:p>
            <a:pPr algn="l" marL="88900" indent="-88900">
              <a:buSzPct val="100000"/>
              <a:buChar char="•"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repeats allowed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students must listen to what's already been said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7501" y="1238250"/>
            <a:ext cx="5562749" cy="1202829"/>
          </a:xfrm>
          <a:prstGeom prst="roundRect">
            <a:avLst>
              <a:gd name="adj" fmla="val 844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651" y="1365200"/>
            <a:ext cx="52595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651" y="1619101"/>
            <a:ext cx="5156448" cy="43160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24464" y="1619101"/>
            <a:ext cx="0" cy="4316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0676" y="1720602"/>
            <a:ext cx="4900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，但是我喜欢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651" y="2152204"/>
            <a:ext cx="52595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repeats — listen carefully to the whole chain before your turn.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750" y="2631579"/>
            <a:ext cx="3716834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6050" y="2707779"/>
            <a:ext cx="3557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46050" y="2866430"/>
            <a:ext cx="35579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all sports/hobbies taught so far (Lessons 1–5) stays projected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37434" y="2631579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51734" y="2707779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51734" y="2866430"/>
            <a:ext cx="355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who repeat quickly must add a reason or duration on the spot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3267" y="2631579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157567" y="2707779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157567" y="2866430"/>
            <a:ext cx="355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in the room produces one full sentence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GAME · TWO TRUTHS, ONE LIE · 38–43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61963"/>
            <a:ext cx="581620" cy="219075"/>
          </a:xfrm>
          <a:prstGeom prst="roundRect">
            <a:avLst>
              <a:gd name="adj" fmla="val 8116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500063"/>
            <a:ext cx="334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321" y="381000"/>
            <a:ext cx="38175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Two Truths, One Lie · 两真一假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1750" y="876300"/>
            <a:ext cx="675084" cy="247650"/>
          </a:xfrm>
          <a:prstGeom prst="roundRect">
            <a:avLst>
              <a:gd name="adj" fmla="val 71795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923925"/>
            <a:ext cx="4101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08336" y="876300"/>
            <a:ext cx="1037481" cy="247650"/>
          </a:xfrm>
          <a:prstGeom prst="roundRect">
            <a:avLst>
              <a:gd name="adj" fmla="val 71795"/>
            </a:avLst>
          </a:prstGeom>
          <a:solidFill>
            <a:srgbClr val="D4756B">
              <a:alpha val="10000"/>
            </a:srgbClr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44811" y="923925"/>
            <a:ext cx="779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 of 3–4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238250"/>
            <a:ext cx="5562600" cy="2224980"/>
          </a:xfrm>
          <a:prstGeom prst="roundRect">
            <a:avLst>
              <a:gd name="adj" fmla="val 456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1374725"/>
            <a:ext cx="523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4426" y="1628626"/>
            <a:ext cx="5137249" cy="11049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small groups of 3–4</a:t>
            </a:r>
            <a:endParaRPr lang="en-US" sz="1050" dirty="0"/>
          </a:p>
          <a:p>
            <a:pPr algn="l" marL="88900" indent="-88900"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says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 sentences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their own likes/dislikes using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喜欢 / 不太喜欢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two true, one false</a:t>
            </a:r>
            <a:endParaRPr lang="en-US" sz="1050" dirty="0"/>
          </a:p>
          <a:p>
            <a:pPr algn="l" marL="88900" indent="-88900"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group 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guesses which is the lie</a:t>
            </a:r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by asking follow-up questions in Chinese where possible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7501" y="1238250"/>
            <a:ext cx="5562749" cy="2224980"/>
          </a:xfrm>
          <a:prstGeom prst="roundRect">
            <a:avLst>
              <a:gd name="adj" fmla="val 4566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651" y="1365200"/>
            <a:ext cx="52595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IT MIGHT SOUND LIKE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651" y="1619101"/>
            <a:ext cx="5156448" cy="453926"/>
          </a:xfrm>
          <a:prstGeom prst="roundRect">
            <a:avLst>
              <a:gd name="adj" fmla="val 2238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13327" y="1755577"/>
            <a:ext cx="48257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我不太喜欢运动，但是我喜欢游泳。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651" y="2136428"/>
            <a:ext cx="5156448" cy="453926"/>
          </a:xfrm>
          <a:prstGeom prst="roundRect">
            <a:avLst>
              <a:gd name="adj" fmla="val 2238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13327" y="2272903"/>
            <a:ext cx="48257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我很喜欢运动。我还喜欢看电视、看电影。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651" y="2653754"/>
            <a:ext cx="5156448" cy="453926"/>
          </a:xfrm>
          <a:prstGeom prst="roundRect">
            <a:avLst>
              <a:gd name="adj" fmla="val 2238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13327" y="2790230"/>
            <a:ext cx="48257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我差不多每个周末都看电影。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651" y="3183880"/>
            <a:ext cx="52595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group discusses which one is false — asking follow-up questions in Chinese where possible.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1750" y="3653730"/>
            <a:ext cx="3716834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6050" y="3729930"/>
            <a:ext cx="3557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6050" y="3888581"/>
            <a:ext cx="3557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None needed — purely oral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37434" y="3653730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51734" y="3729930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 SIZE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51734" y="3888581"/>
            <a:ext cx="355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 of 3–4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43267" y="3653730"/>
            <a:ext cx="3716982" cy="615851"/>
          </a:xfrm>
          <a:prstGeom prst="roundRect">
            <a:avLst>
              <a:gd name="adj" fmla="val 103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57567" y="3729930"/>
            <a:ext cx="35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57567" y="3888581"/>
            <a:ext cx="355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in each group produces three sentences and asks/answers follow-up questions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2078534"/>
            <a:ext cx="11555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2259509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2853184"/>
            <a:ext cx="5562600" cy="1799332"/>
          </a:xfrm>
          <a:prstGeom prst="roundRect">
            <a:avLst>
              <a:gd name="adj" fmla="val 56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2989659"/>
            <a:ext cx="523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4426" y="3269010"/>
            <a:ext cx="5239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Say 电视, 电影, 节目, 周末 in Chinese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426" y="3599111"/>
            <a:ext cx="5239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Use 不太喜欢 to say I don't really like something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4426" y="3929211"/>
            <a:ext cx="5239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</a:t>
            </a:r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Use 但是 to contrast two ideas in one sentence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97501" y="2853184"/>
            <a:ext cx="5562749" cy="1799332"/>
          </a:xfrm>
          <a:prstGeom prst="roundRect">
            <a:avLst>
              <a:gd name="adj" fmla="val 56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10176" y="2989659"/>
            <a:ext cx="52401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10176" y="3269010"/>
            <a:ext cx="5137398" cy="6347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33989" y="3269010"/>
            <a:ext cx="0" cy="6347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0201" y="3370511"/>
            <a:ext cx="4880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TASK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610201" y="3554611"/>
            <a:ext cx="48806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using 不太喜欢……但是……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0176" y="4030712"/>
            <a:ext cx="5240146" cy="485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student volunteer reads each Success Criterion aloud; class responds with a matching example sentence.
</a:t>
            </a:r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Self-assessment: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show of hands — 👍/😐/👎 against each criterion.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TV · MOVIES · 不太喜欢 · PREVIEW · NEXT LESSON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30563" y="1384548"/>
            <a:ext cx="1730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82541" y="1673423"/>
            <a:ext cx="362691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 · 经常 · 常常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34278" y="2305199"/>
            <a:ext cx="21234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Comparing frequency words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67249" y="2768650"/>
            <a:ext cx="2539901" cy="1279327"/>
          </a:xfrm>
          <a:prstGeom prst="roundRect">
            <a:avLst>
              <a:gd name="adj" fmla="val 794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8779" y="2905125"/>
            <a:ext cx="215684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8779" y="3371850"/>
            <a:ext cx="2156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词汇辨析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8779" y="3606701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Drill the difference between 差不多, 经常 and 常常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84850" y="2768650"/>
            <a:ext cx="2539901" cy="1279327"/>
          </a:xfrm>
          <a:prstGeom prst="roundRect">
            <a:avLst>
              <a:gd name="adj" fmla="val 794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76380" y="2905125"/>
            <a:ext cx="215684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76380" y="3371850"/>
            <a:ext cx="2156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句型转换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6380" y="3606701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Turning 常常 sentences into 差不多每天都 sentences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08872" y="4352627"/>
            <a:ext cx="3574107" cy="993725"/>
          </a:xfrm>
          <a:prstGeom prst="roundRect">
            <a:avLst>
              <a:gd name="adj" fmla="val 1022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09834" y="4505027"/>
            <a:ext cx="2972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09834" y="4689128"/>
            <a:ext cx="29721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常常…… → 差不多每天都……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09834" y="5032028"/>
            <a:ext cx="29721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frequency, different phrasing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2026-07-21T08:50:13Z</dcterms:created>
  <dcterms:modified xsi:type="dcterms:W3CDTF">2026-07-21T08:50:13Z</dcterms:modified>
</cp:coreProperties>
</file>