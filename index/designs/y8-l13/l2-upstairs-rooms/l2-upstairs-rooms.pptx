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</p:sldIdLst>
  <p:notesMasterIdLst>
    <p:notesMasterId r:id="rId2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notesMaster" Target="notesMasters/notesMaster1.xml"/><Relationship Id="rId29" Type="http://schemas.openxmlformats.org/officeDocument/2006/relationships/presProps" Target="presProps.xml"/><Relationship Id="rId30" Type="http://schemas.openxmlformats.org/officeDocument/2006/relationships/viewProps" Target="viewProps.xml"/><Relationship Id="rId31" Type="http://schemas.openxmlformats.org/officeDocument/2006/relationships/theme" Target="theme/theme1.xml"/><Relationship Id="rId3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png"/><Relationship Id="rId3" Type="http://schemas.openxmlformats.org/officeDocument/2006/relationships/image" Target="../media/image-18-3.png"/><Relationship Id="rId4" Type="http://schemas.openxmlformats.org/officeDocument/2006/relationships/image" Target="../media/image-1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2F4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542925"/>
          </a:xfrm>
          <a:prstGeom prst="rect">
            <a:avLst/>
          </a:prstGeom>
          <a:solidFill>
            <a:srgbClr val="F2F4F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538163"/>
            <a:ext cx="12192000" cy="0"/>
          </a:xfrm>
          <a:prstGeom prst="line">
            <a:avLst/>
          </a:prstGeom>
          <a:noFill/>
          <a:ln w="9525">
            <a:solidFill>
              <a:srgbClr val="D5DBD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7950" y="176213"/>
            <a:ext cx="1202749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B05B3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LESSON 2 OF 6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972568" y="166688"/>
            <a:ext cx="104639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4B545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第十三课 · 房子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290697" y="176213"/>
            <a:ext cx="401220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6E778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 / 26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7950" y="0"/>
            <a:ext cx="11176099" cy="31700"/>
          </a:xfrm>
          <a:prstGeom prst="rect">
            <a:avLst/>
          </a:prstGeom>
          <a:solidFill>
            <a:srgbClr val="3D5A7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09600" y="2273201"/>
            <a:ext cx="1119225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B05B3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轻松学中文 2 · P.122 · CD 63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09600" y="2600176"/>
            <a:ext cx="11192256" cy="9051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128"/>
              </a:lnSpc>
              <a:spcBef>
                <a:spcPts val="1000"/>
              </a:spcBef>
              <a:buNone/>
            </a:pPr>
            <a:r>
              <a:rPr lang="en-US" sz="6600" b="1" dirty="0">
                <a:solidFill>
                  <a:srgbClr val="262B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楼上有什么？</a:t>
            </a:r>
            <a:endParaRPr lang="en-US" sz="6600" dirty="0"/>
          </a:p>
        </p:txBody>
      </p:sp>
      <p:sp>
        <p:nvSpPr>
          <p:cNvPr id="10" name="Text 8"/>
          <p:cNvSpPr/>
          <p:nvPr/>
        </p:nvSpPr>
        <p:spPr>
          <a:xfrm>
            <a:off x="609600" y="3581549"/>
            <a:ext cx="111922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600"/>
              </a:lnSpc>
              <a:spcBef>
                <a:spcPts val="600"/>
              </a:spcBef>
              <a:buNone/>
            </a:pPr>
            <a:r>
              <a:rPr lang="en-US" sz="3000" b="1" dirty="0">
                <a:solidFill>
                  <a:srgbClr val="3D5A73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Rooms Upstairs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609600" y="4267349"/>
            <a:ext cx="11192256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spcBef>
                <a:spcPts val="1800"/>
              </a:spcBef>
              <a:buNone/>
            </a:pPr>
            <a:r>
              <a:rPr lang="en-US" sz="1800" dirty="0">
                <a:solidFill>
                  <a:srgbClr val="4B545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Year 8 · Book 2 · Unit 5 · Lesson 13 · 50 minutes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2F4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542925"/>
          </a:xfrm>
          <a:prstGeom prst="rect">
            <a:avLst/>
          </a:prstGeom>
          <a:solidFill>
            <a:srgbClr val="F2F4F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538163"/>
            <a:ext cx="12192000" cy="0"/>
          </a:xfrm>
          <a:prstGeom prst="line">
            <a:avLst/>
          </a:prstGeom>
          <a:noFill/>
          <a:ln w="9525">
            <a:solidFill>
              <a:srgbClr val="D5DBD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7950" y="176213"/>
            <a:ext cx="1468407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B05B3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0–8 MIN · REVIEW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2233017" y="166688"/>
            <a:ext cx="1073259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4B545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复习 · Lesson 1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265545" y="176213"/>
            <a:ext cx="426875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6E778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2 / 26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7950" y="0"/>
            <a:ext cx="11176099" cy="31700"/>
          </a:xfrm>
          <a:prstGeom prst="rect">
            <a:avLst/>
          </a:prstGeom>
          <a:solidFill>
            <a:srgbClr val="3D5A7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09600" y="1525786"/>
            <a:ext cx="1119225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B05B3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认字快闪 · CHARACTERS ONLY · 一起读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09600" y="1852761"/>
            <a:ext cx="3522166" cy="1460302"/>
          </a:xfrm>
          <a:prstGeom prst="roundRect">
            <a:avLst>
              <a:gd name="adj" fmla="val 7827"/>
            </a:avLst>
          </a:prstGeom>
          <a:solidFill>
            <a:srgbClr val="E6EAEB"/>
          </a:solidFill>
          <a:ln w="9525">
            <a:solidFill>
              <a:srgbClr val="D5DBD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713583" y="2192387"/>
            <a:ext cx="3314200" cy="781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262B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房子</a:t>
            </a:r>
            <a:endParaRPr lang="en-US" sz="4400" dirty="0"/>
          </a:p>
        </p:txBody>
      </p:sp>
      <p:sp>
        <p:nvSpPr>
          <p:cNvPr id="11" name="Text 9"/>
          <p:cNvSpPr/>
          <p:nvPr/>
        </p:nvSpPr>
        <p:spPr>
          <a:xfrm>
            <a:off x="4334917" y="1852761"/>
            <a:ext cx="3522166" cy="1460302"/>
          </a:xfrm>
          <a:prstGeom prst="roundRect">
            <a:avLst>
              <a:gd name="adj" fmla="val 7827"/>
            </a:avLst>
          </a:prstGeom>
          <a:solidFill>
            <a:srgbClr val="E6EAEB"/>
          </a:solidFill>
          <a:ln w="9525">
            <a:solidFill>
              <a:srgbClr val="D5DBD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4438900" y="2192387"/>
            <a:ext cx="3314200" cy="781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262B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房间</a:t>
            </a:r>
            <a:endParaRPr lang="en-US" sz="4400" dirty="0"/>
          </a:p>
        </p:txBody>
      </p:sp>
      <p:sp>
        <p:nvSpPr>
          <p:cNvPr id="13" name="Text 11"/>
          <p:cNvSpPr/>
          <p:nvPr/>
        </p:nvSpPr>
        <p:spPr>
          <a:xfrm>
            <a:off x="8060234" y="1852761"/>
            <a:ext cx="3522166" cy="1460302"/>
          </a:xfrm>
          <a:prstGeom prst="roundRect">
            <a:avLst>
              <a:gd name="adj" fmla="val 7827"/>
            </a:avLst>
          </a:prstGeom>
          <a:solidFill>
            <a:srgbClr val="E6EAEB"/>
          </a:solidFill>
          <a:ln w="9525">
            <a:solidFill>
              <a:srgbClr val="D5DBD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8164217" y="2192387"/>
            <a:ext cx="3314200" cy="781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262B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层</a:t>
            </a:r>
            <a:endParaRPr lang="en-US" sz="4400" dirty="0"/>
          </a:p>
        </p:txBody>
      </p:sp>
      <p:sp>
        <p:nvSpPr>
          <p:cNvPr id="15" name="Text 13"/>
          <p:cNvSpPr/>
          <p:nvPr/>
        </p:nvSpPr>
        <p:spPr>
          <a:xfrm>
            <a:off x="609600" y="3516213"/>
            <a:ext cx="3522166" cy="1460302"/>
          </a:xfrm>
          <a:prstGeom prst="roundRect">
            <a:avLst>
              <a:gd name="adj" fmla="val 7827"/>
            </a:avLst>
          </a:prstGeom>
          <a:solidFill>
            <a:srgbClr val="E6EAEB"/>
          </a:solidFill>
          <a:ln w="9525">
            <a:solidFill>
              <a:srgbClr val="D5DBD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713583" y="3855839"/>
            <a:ext cx="3314200" cy="781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262B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楼</a:t>
            </a:r>
            <a:endParaRPr lang="en-US" sz="4400" dirty="0"/>
          </a:p>
        </p:txBody>
      </p:sp>
      <p:sp>
        <p:nvSpPr>
          <p:cNvPr id="17" name="Text 15"/>
          <p:cNvSpPr/>
          <p:nvPr/>
        </p:nvSpPr>
        <p:spPr>
          <a:xfrm>
            <a:off x="4334917" y="3516213"/>
            <a:ext cx="3522166" cy="1460302"/>
          </a:xfrm>
          <a:prstGeom prst="roundRect">
            <a:avLst>
              <a:gd name="adj" fmla="val 7827"/>
            </a:avLst>
          </a:prstGeom>
          <a:solidFill>
            <a:srgbClr val="E6EAEB"/>
          </a:solidFill>
          <a:ln w="9525">
            <a:solidFill>
              <a:srgbClr val="D5DBD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4438900" y="3855839"/>
            <a:ext cx="3314200" cy="781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262B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楼上</a:t>
            </a:r>
            <a:endParaRPr lang="en-US" sz="4400" dirty="0"/>
          </a:p>
        </p:txBody>
      </p:sp>
      <p:sp>
        <p:nvSpPr>
          <p:cNvPr id="19" name="Text 17"/>
          <p:cNvSpPr/>
          <p:nvPr/>
        </p:nvSpPr>
        <p:spPr>
          <a:xfrm>
            <a:off x="8060234" y="3516213"/>
            <a:ext cx="3522166" cy="1460302"/>
          </a:xfrm>
          <a:prstGeom prst="roundRect">
            <a:avLst>
              <a:gd name="adj" fmla="val 7827"/>
            </a:avLst>
          </a:prstGeom>
          <a:solidFill>
            <a:srgbClr val="E6EAEB"/>
          </a:solidFill>
          <a:ln w="9525">
            <a:solidFill>
              <a:srgbClr val="D5DBD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8164217" y="3855839"/>
            <a:ext cx="3314200" cy="781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262B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楼下</a:t>
            </a:r>
            <a:endParaRPr lang="en-US" sz="4400" dirty="0"/>
          </a:p>
        </p:txBody>
      </p:sp>
      <p:sp>
        <p:nvSpPr>
          <p:cNvPr id="21" name="Text 19"/>
          <p:cNvSpPr/>
          <p:nvPr/>
        </p:nvSpPr>
        <p:spPr>
          <a:xfrm>
            <a:off x="609600" y="5128915"/>
            <a:ext cx="111922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spcBef>
                <a:spcPts val="1200"/>
              </a:spcBef>
              <a:buNone/>
            </a:pPr>
            <a:r>
              <a:rPr lang="en-US" sz="1200" dirty="0">
                <a:solidFill>
                  <a:srgbClr val="6E778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全班一起读两遍。读完马上进下一页——那三句里有错。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2F4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542925"/>
          </a:xfrm>
          <a:prstGeom prst="rect">
            <a:avLst/>
          </a:prstGeom>
          <a:solidFill>
            <a:srgbClr val="F2F4F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538163"/>
            <a:ext cx="12192000" cy="0"/>
          </a:xfrm>
          <a:prstGeom prst="line">
            <a:avLst/>
          </a:prstGeom>
          <a:noFill/>
          <a:ln w="9525">
            <a:solidFill>
              <a:srgbClr val="D5DBD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7950" y="176213"/>
            <a:ext cx="1468407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B05B3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0–8 MIN · REVIEW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2233017" y="166688"/>
            <a:ext cx="75583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4B545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复习 · 改错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265991" y="176213"/>
            <a:ext cx="426419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6E778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3 / 26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7950" y="0"/>
            <a:ext cx="11176099" cy="31700"/>
          </a:xfrm>
          <a:prstGeom prst="rect">
            <a:avLst/>
          </a:prstGeom>
          <a:solidFill>
            <a:srgbClr val="3D5A7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09600" y="1771948"/>
            <a:ext cx="1119225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B05B3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改错 · 三句都有问题 · 先写在小白板上，不要抢答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09600" y="2098923"/>
            <a:ext cx="2844701" cy="657225"/>
          </a:xfrm>
          <a:prstGeom prst="roundRect">
            <a:avLst>
              <a:gd name="adj" fmla="val 9662"/>
            </a:avLst>
          </a:prstGeom>
          <a:solidFill>
            <a:srgbClr val="B05B3B">
              <a:alpha val="13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812750" y="2213223"/>
            <a:ext cx="2487168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8A3C22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我的房间有楼上。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949452" y="2098923"/>
            <a:ext cx="2844701" cy="657225"/>
          </a:xfrm>
          <a:prstGeom prst="roundRect">
            <a:avLst>
              <a:gd name="adj" fmla="val 9662"/>
            </a:avLst>
          </a:prstGeom>
          <a:solidFill>
            <a:srgbClr val="46684C">
              <a:alpha val="11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4152602" y="2213223"/>
            <a:ext cx="2487168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46684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我的房间在楼上。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7073503" y="2313236"/>
            <a:ext cx="14271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6E778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说在哪儿，用「在」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09600" y="3035350"/>
            <a:ext cx="3149501" cy="657225"/>
          </a:xfrm>
          <a:prstGeom prst="roundRect">
            <a:avLst>
              <a:gd name="adj" fmla="val 9662"/>
            </a:avLst>
          </a:prstGeom>
          <a:solidFill>
            <a:srgbClr val="B05B3B">
              <a:alpha val="13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812750" y="3149650"/>
            <a:ext cx="2798064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8A3C22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我家的房子在两层。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4254252" y="3035350"/>
            <a:ext cx="3149501" cy="657225"/>
          </a:xfrm>
          <a:prstGeom prst="roundRect">
            <a:avLst>
              <a:gd name="adj" fmla="val 9662"/>
            </a:avLst>
          </a:prstGeom>
          <a:solidFill>
            <a:srgbClr val="46684C">
              <a:alpha val="11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4457402" y="3149650"/>
            <a:ext cx="2798064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46684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我家的房子有两层。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7683103" y="3249662"/>
            <a:ext cx="14271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6E778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说有什么，用「有」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09600" y="3971776"/>
            <a:ext cx="2539901" cy="657225"/>
          </a:xfrm>
          <a:prstGeom prst="roundRect">
            <a:avLst>
              <a:gd name="adj" fmla="val 9662"/>
            </a:avLst>
          </a:prstGeom>
          <a:solidFill>
            <a:srgbClr val="B05B3B">
              <a:alpha val="13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812750" y="4086076"/>
            <a:ext cx="2176272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8A3C22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楼上有三个层。</a:t>
            </a:r>
            <a:endParaRPr lang="en-US" sz="2400" dirty="0"/>
          </a:p>
        </p:txBody>
      </p:sp>
      <p:sp>
        <p:nvSpPr>
          <p:cNvPr id="21" name="Text 19"/>
          <p:cNvSpPr/>
          <p:nvPr/>
        </p:nvSpPr>
        <p:spPr>
          <a:xfrm>
            <a:off x="3644652" y="3971776"/>
            <a:ext cx="2235101" cy="657225"/>
          </a:xfrm>
          <a:prstGeom prst="roundRect">
            <a:avLst>
              <a:gd name="adj" fmla="val 9662"/>
            </a:avLst>
          </a:prstGeom>
          <a:solidFill>
            <a:srgbClr val="46684C">
              <a:alpha val="11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3847802" y="4086076"/>
            <a:ext cx="1865376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46684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楼上有三层。</a:t>
            </a:r>
            <a:endParaRPr lang="en-US" sz="2400" dirty="0"/>
          </a:p>
        </p:txBody>
      </p:sp>
      <p:sp>
        <p:nvSpPr>
          <p:cNvPr id="23" name="Text 21"/>
          <p:cNvSpPr/>
          <p:nvPr/>
        </p:nvSpPr>
        <p:spPr>
          <a:xfrm>
            <a:off x="6159103" y="4186089"/>
            <a:ext cx="23784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6E778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「层」自己就是量词，不加「个」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09600" y="4882902"/>
            <a:ext cx="111922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spcBef>
                <a:spcPts val="1000"/>
              </a:spcBef>
              <a:buNone/>
            </a:pPr>
            <a:r>
              <a:rPr lang="en-US" sz="1200" dirty="0">
                <a:solidFill>
                  <a:srgbClr val="6E778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第三句是新的——「层」跟「个」不能一起用。今天还有一个量词要学。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2F4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542925"/>
          </a:xfrm>
          <a:prstGeom prst="rect">
            <a:avLst/>
          </a:prstGeom>
          <a:solidFill>
            <a:srgbClr val="F2F4F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538163"/>
            <a:ext cx="12192000" cy="0"/>
          </a:xfrm>
          <a:prstGeom prst="line">
            <a:avLst/>
          </a:prstGeom>
          <a:noFill/>
          <a:ln w="9525">
            <a:solidFill>
              <a:srgbClr val="D5DBD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7950" y="176213"/>
            <a:ext cx="1468407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B05B3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0–8 MIN · REVIEW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2233017" y="166688"/>
            <a:ext cx="173664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4B545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复习 · 课本 p.131 第 13 题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265396" y="176213"/>
            <a:ext cx="427027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6E778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4 / 26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7950" y="0"/>
            <a:ext cx="11176099" cy="31700"/>
          </a:xfrm>
          <a:prstGeom prst="rect">
            <a:avLst/>
          </a:prstGeom>
          <a:solidFill>
            <a:srgbClr val="3D5A7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09600" y="2485132"/>
            <a:ext cx="1119225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B05B3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两人一组 · 说说你每天做什么 · 90 秒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09600" y="2685157"/>
            <a:ext cx="10972800" cy="1713161"/>
          </a:xfrm>
          <a:prstGeom prst="roundRect">
            <a:avLst>
              <a:gd name="adj" fmla="val 6672"/>
            </a:avLst>
          </a:prstGeom>
          <a:solidFill>
            <a:srgbClr val="E6EAEB"/>
          </a:solidFill>
          <a:ln w="19050">
            <a:solidFill>
              <a:srgbClr val="B8C1C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933450" y="2932807"/>
            <a:ext cx="10531602" cy="345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20"/>
              </a:lnSpc>
              <a:buNone/>
            </a:pPr>
            <a:r>
              <a:rPr lang="en-US" sz="1700" dirty="0">
                <a:solidFill>
                  <a:srgbClr val="262B3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用中文说，不要写。轮流说，每人至少四句。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933450" y="3278237"/>
            <a:ext cx="10531602" cy="345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20"/>
              </a:lnSpc>
              <a:buNone/>
            </a:pPr>
            <a:r>
              <a:rPr lang="en-US" sz="1700" dirty="0">
                <a:solidFill>
                  <a:srgbClr val="262B3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去年学过的词都可以用：起床 · 吃早饭 · 上学 · 放学 · 睡觉。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933450" y="3750618"/>
            <a:ext cx="10531602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50"/>
              </a:lnSpc>
              <a:spcBef>
                <a:spcPts val="1000"/>
              </a:spcBef>
              <a:buNone/>
            </a:pPr>
            <a:r>
              <a:rPr lang="en-US" sz="2100" b="1" dirty="0">
                <a:solidFill>
                  <a:srgbClr val="262B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我每天早上六点半起床。我七点一刻吃早饭。我八点……</a:t>
            </a:r>
            <a:endParaRPr lang="en-US" sz="2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2F4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542925"/>
          </a:xfrm>
          <a:prstGeom prst="rect">
            <a:avLst/>
          </a:prstGeom>
          <a:solidFill>
            <a:srgbClr val="F2F4F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538163"/>
            <a:ext cx="12192000" cy="0"/>
          </a:xfrm>
          <a:prstGeom prst="line">
            <a:avLst/>
          </a:prstGeom>
          <a:noFill/>
          <a:ln w="9525">
            <a:solidFill>
              <a:srgbClr val="D5DBD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7950" y="176213"/>
            <a:ext cx="741718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B05B3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8–10 MIN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520577" y="166688"/>
            <a:ext cx="2029477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4B545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学习目标 · Learning Intention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265545" y="176213"/>
            <a:ext cx="426875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6E778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5 / 26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7950" y="0"/>
            <a:ext cx="11176099" cy="31700"/>
          </a:xfrm>
          <a:prstGeom prst="rect">
            <a:avLst/>
          </a:prstGeom>
          <a:solidFill>
            <a:srgbClr val="3D5A7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09600" y="999083"/>
            <a:ext cx="1119225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B05B3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LEARNING INTENTION · 学习目标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09600" y="1199108"/>
            <a:ext cx="10972800" cy="1149251"/>
          </a:xfrm>
          <a:prstGeom prst="roundRect">
            <a:avLst>
              <a:gd name="adj" fmla="val 9946"/>
            </a:avLst>
          </a:prstGeom>
          <a:solidFill>
            <a:srgbClr val="D8DEE0"/>
          </a:solidFill>
          <a:ln w="19050">
            <a:solidFill>
              <a:srgbClr val="3D5A73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933450" y="1408658"/>
            <a:ext cx="10531602" cy="7301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75"/>
              </a:lnSpc>
              <a:buNone/>
            </a:pPr>
            <a:r>
              <a:rPr lang="en-US" sz="2300" b="1" dirty="0">
                <a:solidFill>
                  <a:srgbClr val="262B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We are learning to name the rooms upstairs and count them with the right measure word.</a:t>
            </a:r>
            <a:endParaRPr lang="en-US" sz="2300" dirty="0"/>
          </a:p>
        </p:txBody>
      </p:sp>
      <p:sp>
        <p:nvSpPr>
          <p:cNvPr id="11" name="Text 9"/>
          <p:cNvSpPr/>
          <p:nvPr/>
        </p:nvSpPr>
        <p:spPr>
          <a:xfrm>
            <a:off x="609600" y="2500759"/>
            <a:ext cx="1119225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200"/>
              </a:spcBef>
              <a:buNone/>
            </a:pPr>
            <a:r>
              <a:rPr lang="en-US" sz="1100" b="1" dirty="0">
                <a:solidFill>
                  <a:srgbClr val="B05B3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SUCCESS CRITERIA · 我能……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09600" y="2802285"/>
            <a:ext cx="10972800" cy="925711"/>
          </a:xfrm>
          <a:prstGeom prst="roundRect">
            <a:avLst>
              <a:gd name="adj" fmla="val 6860"/>
            </a:avLst>
          </a:prstGeom>
          <a:solidFill>
            <a:srgbClr val="E6EAEB"/>
          </a:solidFill>
          <a:ln w="9525">
            <a:solidFill>
              <a:srgbClr val="D5DBD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822275" y="2964210"/>
            <a:ext cx="297841" cy="350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60"/>
              </a:lnSpc>
              <a:buNone/>
            </a:pPr>
            <a:r>
              <a:rPr lang="en-US" sz="2300" b="1" dirty="0">
                <a:solidFill>
                  <a:srgbClr val="B05B3B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1</a:t>
            </a:r>
            <a:endParaRPr lang="en-US" sz="2300" dirty="0"/>
          </a:p>
        </p:txBody>
      </p:sp>
      <p:sp>
        <p:nvSpPr>
          <p:cNvPr id="14" name="Text 12"/>
          <p:cNvSpPr/>
          <p:nvPr/>
        </p:nvSpPr>
        <p:spPr>
          <a:xfrm>
            <a:off x="1279327" y="2964210"/>
            <a:ext cx="3026530" cy="2844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262B3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 can name the upstairs rooms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279327" y="3299371"/>
            <a:ext cx="302653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00"/>
              </a:spcBef>
              <a:buNone/>
            </a:pPr>
            <a:r>
              <a:rPr lang="en-US" sz="1500" b="1" dirty="0">
                <a:solidFill>
                  <a:srgbClr val="3D5A73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能说出楼上的房间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609600" y="3880396"/>
            <a:ext cx="10972800" cy="925711"/>
          </a:xfrm>
          <a:prstGeom prst="roundRect">
            <a:avLst>
              <a:gd name="adj" fmla="val 6860"/>
            </a:avLst>
          </a:prstGeom>
          <a:solidFill>
            <a:srgbClr val="E6EAEB"/>
          </a:solidFill>
          <a:ln w="9525">
            <a:solidFill>
              <a:srgbClr val="D5DBD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822275" y="4042321"/>
            <a:ext cx="297841" cy="350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60"/>
              </a:lnSpc>
              <a:buNone/>
            </a:pPr>
            <a:r>
              <a:rPr lang="en-US" sz="2300" b="1" dirty="0">
                <a:solidFill>
                  <a:srgbClr val="B05B3B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2</a:t>
            </a:r>
            <a:endParaRPr lang="en-US" sz="2300" dirty="0"/>
          </a:p>
        </p:txBody>
      </p:sp>
      <p:sp>
        <p:nvSpPr>
          <p:cNvPr id="18" name="Text 16"/>
          <p:cNvSpPr/>
          <p:nvPr/>
        </p:nvSpPr>
        <p:spPr>
          <a:xfrm>
            <a:off x="1279327" y="4042321"/>
            <a:ext cx="5259881" cy="2844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262B3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 can count bedrooms with 间 and bathrooms with 个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279327" y="4377482"/>
            <a:ext cx="5259881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00"/>
              </a:spcBef>
              <a:buNone/>
            </a:pPr>
            <a:r>
              <a:rPr lang="en-US" sz="1500" b="1" dirty="0">
                <a:solidFill>
                  <a:srgbClr val="3D5A73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能用「间」数卧室，用「个」数浴室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609600" y="4958507"/>
            <a:ext cx="10972800" cy="925711"/>
          </a:xfrm>
          <a:prstGeom prst="roundRect">
            <a:avLst>
              <a:gd name="adj" fmla="val 6860"/>
            </a:avLst>
          </a:prstGeom>
          <a:solidFill>
            <a:srgbClr val="E6EAEB"/>
          </a:solidFill>
          <a:ln w="9525">
            <a:solidFill>
              <a:srgbClr val="D5DBD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822275" y="5120432"/>
            <a:ext cx="297841" cy="350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60"/>
              </a:lnSpc>
              <a:buNone/>
            </a:pPr>
            <a:r>
              <a:rPr lang="en-US" sz="2300" b="1" dirty="0">
                <a:solidFill>
                  <a:srgbClr val="B05B3B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3</a:t>
            </a:r>
            <a:endParaRPr lang="en-US" sz="2300" dirty="0"/>
          </a:p>
        </p:txBody>
      </p:sp>
      <p:sp>
        <p:nvSpPr>
          <p:cNvPr id="22" name="Text 20"/>
          <p:cNvSpPr/>
          <p:nvPr/>
        </p:nvSpPr>
        <p:spPr>
          <a:xfrm>
            <a:off x="1279327" y="5120432"/>
            <a:ext cx="6332077" cy="2844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262B3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 can understand someone describing their house when I hear it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279327" y="5455593"/>
            <a:ext cx="6332077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00"/>
              </a:spcBef>
              <a:buNone/>
            </a:pPr>
            <a:r>
              <a:rPr lang="en-US" sz="1500" b="1" dirty="0">
                <a:solidFill>
                  <a:srgbClr val="3D5A73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能听懂别人说他家的房子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2F4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542925"/>
          </a:xfrm>
          <a:prstGeom prst="rect">
            <a:avLst/>
          </a:prstGeom>
          <a:solidFill>
            <a:srgbClr val="F2F4F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538163"/>
            <a:ext cx="12192000" cy="0"/>
          </a:xfrm>
          <a:prstGeom prst="line">
            <a:avLst/>
          </a:prstGeom>
          <a:noFill/>
          <a:ln w="9525">
            <a:solidFill>
              <a:srgbClr val="D5DBD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7950" y="176213"/>
            <a:ext cx="1371404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B05B3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10–20 MIN · I DO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2137916" y="166688"/>
            <a:ext cx="1408748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4B545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生词 1 · Cycle 1 of 2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264801" y="176213"/>
            <a:ext cx="427634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6E778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6 / 26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7950" y="0"/>
            <a:ext cx="11176099" cy="31700"/>
          </a:xfrm>
          <a:prstGeom prst="rect">
            <a:avLst/>
          </a:prstGeom>
          <a:solidFill>
            <a:srgbClr val="3D5A7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09600" y="1155502"/>
            <a:ext cx="1119225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B05B3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NEW WORDS · 跟我读两遍 · REPEAT AFTER ME, TWICE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09600" y="1457027"/>
            <a:ext cx="5308550" cy="4270921"/>
          </a:xfrm>
          <a:prstGeom prst="roundRect">
            <a:avLst>
              <a:gd name="adj" fmla="val 2676"/>
            </a:avLst>
          </a:prstGeom>
          <a:solidFill>
            <a:srgbClr val="E6EAEB"/>
          </a:solidFill>
          <a:ln w="9525">
            <a:solidFill>
              <a:srgbClr val="D5DBD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10" name="Image 0" descr="/var/folders/6c/210dcgxn4gz5sm71vld2cy1h0000gn/T/tmp.nSlWb7DT2s/img/woshi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11301" y="1847552"/>
            <a:ext cx="1905000" cy="190500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2951708" y="3866852"/>
            <a:ext cx="636669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dirty="0">
                <a:solidFill>
                  <a:srgbClr val="3D5A7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wòshì</a:t>
            </a:r>
            <a:endParaRPr lang="en-US" sz="1700" dirty="0"/>
          </a:p>
        </p:txBody>
      </p:sp>
      <p:sp>
        <p:nvSpPr>
          <p:cNvPr id="12" name="Text 9"/>
          <p:cNvSpPr/>
          <p:nvPr/>
        </p:nvSpPr>
        <p:spPr>
          <a:xfrm>
            <a:off x="2654201" y="4285952"/>
            <a:ext cx="1243584" cy="6704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280"/>
              </a:lnSpc>
              <a:buNone/>
            </a:pPr>
            <a:r>
              <a:rPr lang="en-US" sz="4800" b="1" dirty="0">
                <a:solidFill>
                  <a:srgbClr val="262B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卧室</a:t>
            </a:r>
            <a:endParaRPr lang="en-US" sz="4800" dirty="0"/>
          </a:p>
        </p:txBody>
      </p:sp>
      <p:sp>
        <p:nvSpPr>
          <p:cNvPr id="13" name="Text 10"/>
          <p:cNvSpPr/>
          <p:nvPr/>
        </p:nvSpPr>
        <p:spPr>
          <a:xfrm>
            <a:off x="2858393" y="5070723"/>
            <a:ext cx="827032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4B545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bedroom</a:t>
            </a:r>
            <a:endParaRPr lang="en-US" sz="1500" dirty="0"/>
          </a:p>
        </p:txBody>
      </p:sp>
      <p:sp>
        <p:nvSpPr>
          <p:cNvPr id="14" name="Text 11"/>
          <p:cNvSpPr/>
          <p:nvPr/>
        </p:nvSpPr>
        <p:spPr>
          <a:xfrm>
            <a:off x="6273701" y="1457027"/>
            <a:ext cx="5308699" cy="4270921"/>
          </a:xfrm>
          <a:prstGeom prst="roundRect">
            <a:avLst>
              <a:gd name="adj" fmla="val 2676"/>
            </a:avLst>
          </a:prstGeom>
          <a:solidFill>
            <a:srgbClr val="E6EAEB"/>
          </a:solidFill>
          <a:ln w="9525">
            <a:solidFill>
              <a:srgbClr val="D5DBD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15" name="Image 1" descr="/var/folders/6c/210dcgxn4gz5sm71vld2cy1h0000gn/T/tmp.nSlWb7DT2s/img/shufang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75550" y="1847552"/>
            <a:ext cx="1905000" cy="190500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8494514" y="3866852"/>
            <a:ext cx="884262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dirty="0">
                <a:solidFill>
                  <a:srgbClr val="3D5A7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shūfáng</a:t>
            </a:r>
            <a:endParaRPr lang="en-US" sz="1700" dirty="0"/>
          </a:p>
        </p:txBody>
      </p:sp>
      <p:sp>
        <p:nvSpPr>
          <p:cNvPr id="17" name="Text 13"/>
          <p:cNvSpPr/>
          <p:nvPr/>
        </p:nvSpPr>
        <p:spPr>
          <a:xfrm>
            <a:off x="8318450" y="4285952"/>
            <a:ext cx="1243584" cy="6704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280"/>
              </a:lnSpc>
              <a:buNone/>
            </a:pPr>
            <a:r>
              <a:rPr lang="en-US" sz="4800" b="1" dirty="0">
                <a:solidFill>
                  <a:srgbClr val="262B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书房</a:t>
            </a:r>
            <a:endParaRPr lang="en-US" sz="4800" dirty="0"/>
          </a:p>
        </p:txBody>
      </p:sp>
      <p:sp>
        <p:nvSpPr>
          <p:cNvPr id="18" name="Text 14"/>
          <p:cNvSpPr/>
          <p:nvPr/>
        </p:nvSpPr>
        <p:spPr>
          <a:xfrm>
            <a:off x="8411319" y="5070723"/>
            <a:ext cx="105398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4B545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study room</a:t>
            </a:r>
            <a:endParaRPr lang="en-US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2F4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542925"/>
          </a:xfrm>
          <a:prstGeom prst="rect">
            <a:avLst/>
          </a:prstGeom>
          <a:solidFill>
            <a:srgbClr val="F2F4F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538163"/>
            <a:ext cx="12192000" cy="0"/>
          </a:xfrm>
          <a:prstGeom prst="line">
            <a:avLst/>
          </a:prstGeom>
          <a:noFill/>
          <a:ln w="9525">
            <a:solidFill>
              <a:srgbClr val="D5DBD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7950" y="176213"/>
            <a:ext cx="1371404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B05B3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10–20 MIN · I DO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2137916" y="166688"/>
            <a:ext cx="162097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4B545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例句 1 · See them used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271349" y="176213"/>
            <a:ext cx="420954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6E778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7 / 26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7950" y="0"/>
            <a:ext cx="11176099" cy="31700"/>
          </a:xfrm>
          <a:prstGeom prst="rect">
            <a:avLst/>
          </a:prstGeom>
          <a:solidFill>
            <a:srgbClr val="3D5A7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09600" y="1395264"/>
            <a:ext cx="1119225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B05B3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例句 · SEE THEM USED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09600" y="1671489"/>
            <a:ext cx="10972800" cy="1052066"/>
          </a:xfrm>
          <a:prstGeom prst="rect">
            <a:avLst/>
          </a:prstGeom>
          <a:solidFill>
            <a:srgbClr val="E6EAE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Shape 8"/>
          <p:cNvSpPr/>
          <p:nvPr/>
        </p:nvSpPr>
        <p:spPr>
          <a:xfrm>
            <a:off x="633412" y="1671489"/>
            <a:ext cx="0" cy="1052066"/>
          </a:xfrm>
          <a:prstGeom prst="line">
            <a:avLst/>
          </a:prstGeom>
          <a:noFill/>
          <a:ln w="47625">
            <a:solidFill>
              <a:srgbClr val="3D5A7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85825" y="1823889"/>
            <a:ext cx="10677335" cy="445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510"/>
              </a:lnSpc>
              <a:buNone/>
            </a:pPr>
            <a:r>
              <a:rPr lang="en-US" sz="2600" dirty="0">
                <a:solidFill>
                  <a:srgbClr val="262B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我家有三间</a:t>
            </a:r>
            <a:r>
              <a:rPr lang="en-US" sz="2600" b="1" dirty="0">
                <a:solidFill>
                  <a:srgbClr val="B05B3B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卧室</a:t>
            </a:r>
            <a:r>
              <a:rPr lang="en-US" sz="2600" dirty="0">
                <a:solidFill>
                  <a:srgbClr val="262B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。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885825" y="2333030"/>
            <a:ext cx="10677335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500"/>
              </a:spcBef>
              <a:buNone/>
            </a:pPr>
            <a:r>
              <a:rPr lang="en-US" sz="1350" dirty="0">
                <a:solidFill>
                  <a:srgbClr val="4B545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My house has three bedrooms.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609600" y="2875955"/>
            <a:ext cx="10972800" cy="1052066"/>
          </a:xfrm>
          <a:prstGeom prst="rect">
            <a:avLst/>
          </a:prstGeom>
          <a:solidFill>
            <a:srgbClr val="E6EAE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Shape 12"/>
          <p:cNvSpPr/>
          <p:nvPr/>
        </p:nvSpPr>
        <p:spPr>
          <a:xfrm>
            <a:off x="633412" y="2875955"/>
            <a:ext cx="0" cy="1052066"/>
          </a:xfrm>
          <a:prstGeom prst="line">
            <a:avLst/>
          </a:prstGeom>
          <a:noFill/>
          <a:ln w="47625">
            <a:solidFill>
              <a:srgbClr val="3D5A7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85825" y="3028355"/>
            <a:ext cx="10677335" cy="445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510"/>
              </a:lnSpc>
              <a:buNone/>
            </a:pPr>
            <a:r>
              <a:rPr lang="en-US" sz="2600" dirty="0">
                <a:solidFill>
                  <a:srgbClr val="262B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我爸爸的</a:t>
            </a:r>
            <a:r>
              <a:rPr lang="en-US" sz="2600" b="1" dirty="0">
                <a:solidFill>
                  <a:srgbClr val="B05B3B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书房</a:t>
            </a:r>
            <a:r>
              <a:rPr lang="en-US" sz="2600" dirty="0">
                <a:solidFill>
                  <a:srgbClr val="262B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在楼上。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885825" y="3537496"/>
            <a:ext cx="10677335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500"/>
              </a:spcBef>
              <a:buNone/>
            </a:pPr>
            <a:r>
              <a:rPr lang="en-US" sz="1350" dirty="0">
                <a:solidFill>
                  <a:srgbClr val="4B545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My dad's study is upstairs.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609600" y="4080421"/>
            <a:ext cx="10972800" cy="1052066"/>
          </a:xfrm>
          <a:prstGeom prst="rect">
            <a:avLst/>
          </a:prstGeom>
          <a:solidFill>
            <a:srgbClr val="B05B3B">
              <a:alpha val="13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Shape 16"/>
          <p:cNvSpPr/>
          <p:nvPr/>
        </p:nvSpPr>
        <p:spPr>
          <a:xfrm>
            <a:off x="633412" y="4080421"/>
            <a:ext cx="0" cy="1052066"/>
          </a:xfrm>
          <a:prstGeom prst="line">
            <a:avLst/>
          </a:prstGeom>
          <a:noFill/>
          <a:ln w="47625">
            <a:solidFill>
              <a:srgbClr val="B05B3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85825" y="4232821"/>
            <a:ext cx="10677335" cy="445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510"/>
              </a:lnSpc>
              <a:buNone/>
            </a:pPr>
            <a:r>
              <a:rPr lang="en-US" sz="2600" dirty="0">
                <a:solidFill>
                  <a:srgbClr val="262B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楼上有三间</a:t>
            </a:r>
            <a:r>
              <a:rPr lang="en-US" sz="2600" b="1" dirty="0">
                <a:solidFill>
                  <a:srgbClr val="B05B3B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卧室</a:t>
            </a:r>
            <a:r>
              <a:rPr lang="en-US" sz="2600" dirty="0">
                <a:solidFill>
                  <a:srgbClr val="262B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和一个</a:t>
            </a:r>
            <a:r>
              <a:rPr lang="en-US" sz="2600" b="1" dirty="0">
                <a:solidFill>
                  <a:srgbClr val="B05B3B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书房</a:t>
            </a:r>
            <a:r>
              <a:rPr lang="en-US" sz="2600" dirty="0">
                <a:solidFill>
                  <a:srgbClr val="262B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。</a:t>
            </a:r>
            <a:endParaRPr lang="en-US" sz="2600" dirty="0"/>
          </a:p>
        </p:txBody>
      </p:sp>
      <p:sp>
        <p:nvSpPr>
          <p:cNvPr id="20" name="Text 18"/>
          <p:cNvSpPr/>
          <p:nvPr/>
        </p:nvSpPr>
        <p:spPr>
          <a:xfrm>
            <a:off x="885825" y="4741962"/>
            <a:ext cx="10677335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500"/>
              </a:spcBef>
              <a:buNone/>
            </a:pPr>
            <a:r>
              <a:rPr lang="en-US" sz="1350" dirty="0">
                <a:solidFill>
                  <a:srgbClr val="4B545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Upstairs there are three bedrooms and a study.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609600" y="5259437"/>
            <a:ext cx="111922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spcBef>
                <a:spcPts val="1000"/>
              </a:spcBef>
              <a:buNone/>
            </a:pPr>
            <a:r>
              <a:rPr lang="en-US" sz="1200" dirty="0">
                <a:solidFill>
                  <a:srgbClr val="6E778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问：你家有书房吗？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2F4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542925"/>
          </a:xfrm>
          <a:prstGeom prst="rect">
            <a:avLst/>
          </a:prstGeom>
          <a:solidFill>
            <a:srgbClr val="F2F4F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538163"/>
            <a:ext cx="12192000" cy="0"/>
          </a:xfrm>
          <a:prstGeom prst="line">
            <a:avLst/>
          </a:prstGeom>
          <a:noFill/>
          <a:ln w="9525">
            <a:solidFill>
              <a:srgbClr val="D5DBD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7950" y="176213"/>
            <a:ext cx="1371404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B05B3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10–20 MIN · I DO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2137916" y="166688"/>
            <a:ext cx="178583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4B545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写一句 1 · Write your own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265247" y="176213"/>
            <a:ext cx="427178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6E778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8 / 26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7950" y="0"/>
            <a:ext cx="11176099" cy="31700"/>
          </a:xfrm>
          <a:prstGeom prst="rect">
            <a:avLst/>
          </a:prstGeom>
          <a:solidFill>
            <a:srgbClr val="3D5A7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09600" y="1786533"/>
            <a:ext cx="1119225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B05B3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写一句 · WRITE ONE SENTENCE · 60–90 秒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09600" y="1986558"/>
            <a:ext cx="10972800" cy="1981200"/>
          </a:xfrm>
          <a:prstGeom prst="roundRect">
            <a:avLst>
              <a:gd name="adj" fmla="val 5769"/>
            </a:avLst>
          </a:prstGeom>
          <a:solidFill>
            <a:srgbClr val="D8DEE0"/>
          </a:solidFill>
          <a:ln w="19050">
            <a:solidFill>
              <a:srgbClr val="8F6C12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958751" y="2310408"/>
            <a:ext cx="10479988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250"/>
              </a:lnSpc>
              <a:buNone/>
            </a:pPr>
            <a:r>
              <a:rPr lang="en-US" sz="3000" b="1" dirty="0">
                <a:solidFill>
                  <a:srgbClr val="262B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我家有 ________ 间卧室。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958751" y="2977158"/>
            <a:ext cx="10479988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250"/>
              </a:lnSpc>
              <a:buNone/>
            </a:pPr>
            <a:r>
              <a:rPr lang="en-US" sz="3000" b="1" dirty="0">
                <a:solidFill>
                  <a:srgbClr val="262B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我家的书房在 ________ 。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609600" y="4145459"/>
            <a:ext cx="10972800" cy="951458"/>
          </a:xfrm>
          <a:prstGeom prst="roundRect">
            <a:avLst>
              <a:gd name="adj" fmla="val 6674"/>
            </a:avLst>
          </a:prstGeom>
          <a:solidFill>
            <a:srgbClr val="46684C">
              <a:alpha val="11000"/>
            </a:srgbClr>
          </a:solidFill>
          <a:ln w="19050">
            <a:solidFill>
              <a:srgbClr val="46684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857250" y="4342209"/>
            <a:ext cx="1068705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1100" b="1" dirty="0">
                <a:solidFill>
                  <a:srgbClr val="4668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EXTENSION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857250" y="4605635"/>
            <a:ext cx="10687050" cy="2945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20"/>
              </a:lnSpc>
              <a:buNone/>
            </a:pPr>
            <a:r>
              <a:rPr lang="en-US" sz="1600" dirty="0">
                <a:solidFill>
                  <a:srgbClr val="262B3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两句连起来，用「可是」或者「还有」：</a:t>
            </a:r>
            <a:r>
              <a:rPr lang="en-US" sz="1600" b="1" dirty="0">
                <a:solidFill>
                  <a:srgbClr val="4668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我家有四间卧室，可是我们没有书房。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2F4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542925"/>
          </a:xfrm>
          <a:prstGeom prst="rect">
            <a:avLst/>
          </a:prstGeom>
          <a:solidFill>
            <a:srgbClr val="F2F4F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538163"/>
            <a:ext cx="12192000" cy="0"/>
          </a:xfrm>
          <a:prstGeom prst="line">
            <a:avLst/>
          </a:prstGeom>
          <a:noFill/>
          <a:ln w="9525">
            <a:solidFill>
              <a:srgbClr val="D5DBD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7950" y="176213"/>
            <a:ext cx="1371404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B05B3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10–20 MIN · I DO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2137916" y="166688"/>
            <a:ext cx="1463397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4B545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生词 2 · Cycle 2 of 2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264652" y="176213"/>
            <a:ext cx="427786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6E778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9 / 26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7950" y="0"/>
            <a:ext cx="11176099" cy="31700"/>
          </a:xfrm>
          <a:prstGeom prst="rect">
            <a:avLst/>
          </a:prstGeom>
          <a:solidFill>
            <a:srgbClr val="3D5A7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09600" y="1155502"/>
            <a:ext cx="1119225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B05B3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NEW WORDS · 跟我读两遍 · REPEAT AFTER ME, TWICE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09600" y="1457027"/>
            <a:ext cx="5308550" cy="4270921"/>
          </a:xfrm>
          <a:prstGeom prst="roundRect">
            <a:avLst>
              <a:gd name="adj" fmla="val 2676"/>
            </a:avLst>
          </a:prstGeom>
          <a:solidFill>
            <a:srgbClr val="E6EAEB"/>
          </a:solidFill>
          <a:ln w="9525">
            <a:solidFill>
              <a:srgbClr val="D5DBD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10" name="Image 0" descr="/var/folders/6c/210dcgxn4gz5sm71vld2cy1h0000gn/T/tmp.nSlWb7DT2s/img/yushi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11301" y="1847552"/>
            <a:ext cx="1905000" cy="190500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2979093" y="3866852"/>
            <a:ext cx="580957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dirty="0">
                <a:solidFill>
                  <a:srgbClr val="3D5A7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yùshì</a:t>
            </a:r>
            <a:endParaRPr lang="en-US" sz="1700" dirty="0"/>
          </a:p>
        </p:txBody>
      </p:sp>
      <p:sp>
        <p:nvSpPr>
          <p:cNvPr id="12" name="Text 9"/>
          <p:cNvSpPr/>
          <p:nvPr/>
        </p:nvSpPr>
        <p:spPr>
          <a:xfrm>
            <a:off x="2654201" y="4285952"/>
            <a:ext cx="1243584" cy="6704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280"/>
              </a:lnSpc>
              <a:buNone/>
            </a:pPr>
            <a:r>
              <a:rPr lang="en-US" sz="4800" b="1" dirty="0">
                <a:solidFill>
                  <a:srgbClr val="262B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浴室</a:t>
            </a:r>
            <a:endParaRPr lang="en-US" sz="4800" dirty="0"/>
          </a:p>
        </p:txBody>
      </p:sp>
      <p:sp>
        <p:nvSpPr>
          <p:cNvPr id="13" name="Text 10"/>
          <p:cNvSpPr/>
          <p:nvPr/>
        </p:nvSpPr>
        <p:spPr>
          <a:xfrm>
            <a:off x="2825055" y="5070723"/>
            <a:ext cx="89504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4B545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bathroom</a:t>
            </a:r>
            <a:endParaRPr lang="en-US" sz="1500" dirty="0"/>
          </a:p>
        </p:txBody>
      </p:sp>
      <p:sp>
        <p:nvSpPr>
          <p:cNvPr id="14" name="Text 11"/>
          <p:cNvSpPr/>
          <p:nvPr/>
        </p:nvSpPr>
        <p:spPr>
          <a:xfrm>
            <a:off x="6273701" y="1457027"/>
            <a:ext cx="5308699" cy="4270921"/>
          </a:xfrm>
          <a:prstGeom prst="roundRect">
            <a:avLst>
              <a:gd name="adj" fmla="val 2676"/>
            </a:avLst>
          </a:prstGeom>
          <a:solidFill>
            <a:srgbClr val="E6EAEB"/>
          </a:solidFill>
          <a:ln w="9525">
            <a:solidFill>
              <a:srgbClr val="D5DBD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15" name="Image 1" descr="/var/folders/6c/210dcgxn4gz5sm71vld2cy1h0000gn/T/tmp.nSlWb7DT2s/img/xiza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75550" y="1847552"/>
            <a:ext cx="1905000" cy="190500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8647212" y="3866852"/>
            <a:ext cx="572911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dirty="0">
                <a:solidFill>
                  <a:srgbClr val="3D5A7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xǐzǎo</a:t>
            </a:r>
            <a:endParaRPr lang="en-US" sz="1700" dirty="0"/>
          </a:p>
        </p:txBody>
      </p:sp>
      <p:sp>
        <p:nvSpPr>
          <p:cNvPr id="17" name="Text 13"/>
          <p:cNvSpPr/>
          <p:nvPr/>
        </p:nvSpPr>
        <p:spPr>
          <a:xfrm>
            <a:off x="8318450" y="4285952"/>
            <a:ext cx="1243584" cy="6704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280"/>
              </a:lnSpc>
              <a:buNone/>
            </a:pPr>
            <a:r>
              <a:rPr lang="en-US" sz="4800" b="1" dirty="0">
                <a:solidFill>
                  <a:srgbClr val="262B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洗澡</a:t>
            </a:r>
            <a:endParaRPr lang="en-US" sz="4800" dirty="0"/>
          </a:p>
        </p:txBody>
      </p:sp>
      <p:sp>
        <p:nvSpPr>
          <p:cNvPr id="18" name="Text 14"/>
          <p:cNvSpPr/>
          <p:nvPr/>
        </p:nvSpPr>
        <p:spPr>
          <a:xfrm>
            <a:off x="7820174" y="5070723"/>
            <a:ext cx="2259916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4B545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to bathe; have a shower</a:t>
            </a:r>
            <a:endParaRPr lang="en-US" sz="15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2F4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542925"/>
          </a:xfrm>
          <a:prstGeom prst="rect">
            <a:avLst/>
          </a:prstGeom>
          <a:solidFill>
            <a:srgbClr val="F2F4F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538163"/>
            <a:ext cx="12192000" cy="0"/>
          </a:xfrm>
          <a:prstGeom prst="line">
            <a:avLst/>
          </a:prstGeom>
          <a:noFill/>
          <a:ln w="9525">
            <a:solidFill>
              <a:srgbClr val="D5DBD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7950" y="176213"/>
            <a:ext cx="1371404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B05B3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10–20 MIN · I DO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2137916" y="166688"/>
            <a:ext cx="1330264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4B545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生词 2 · 一样的意思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208544" y="176213"/>
            <a:ext cx="485016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6E778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10 / 26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7950" y="0"/>
            <a:ext cx="11176099" cy="31700"/>
          </a:xfrm>
          <a:prstGeom prst="rect">
            <a:avLst/>
          </a:prstGeom>
          <a:solidFill>
            <a:srgbClr val="3D5A7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09600" y="1492002"/>
            <a:ext cx="1119225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B05B3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两个词，一个意思 · 课本 P.122 就是这样写的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09600" y="1692027"/>
            <a:ext cx="10972800" cy="971550"/>
          </a:xfrm>
          <a:prstGeom prst="roundRect">
            <a:avLst>
              <a:gd name="adj" fmla="val 11765"/>
            </a:avLst>
          </a:prstGeom>
          <a:solidFill>
            <a:srgbClr val="D8DEE0"/>
          </a:solidFill>
          <a:ln w="19050">
            <a:solidFill>
              <a:srgbClr val="3D5A73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830199" y="1901577"/>
            <a:ext cx="10531602" cy="552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3100" b="1" dirty="0">
                <a:solidFill>
                  <a:srgbClr val="262B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浴室 ＝ 洗澡间</a:t>
            </a:r>
            <a:endParaRPr lang="en-US" sz="3100" dirty="0"/>
          </a:p>
        </p:txBody>
      </p:sp>
      <p:sp>
        <p:nvSpPr>
          <p:cNvPr id="11" name="Text 9"/>
          <p:cNvSpPr/>
          <p:nvPr/>
        </p:nvSpPr>
        <p:spPr>
          <a:xfrm>
            <a:off x="609600" y="2790527"/>
            <a:ext cx="10972800" cy="1046411"/>
          </a:xfrm>
          <a:prstGeom prst="roundRect">
            <a:avLst>
              <a:gd name="adj" fmla="val 6068"/>
            </a:avLst>
          </a:prstGeom>
          <a:solidFill>
            <a:srgbClr val="E6EAEB"/>
          </a:solidFill>
          <a:ln w="9525">
            <a:solidFill>
              <a:srgbClr val="D5DBD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822275" y="2952452"/>
            <a:ext cx="297841" cy="350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60"/>
              </a:lnSpc>
              <a:buNone/>
            </a:pPr>
            <a:r>
              <a:rPr lang="en-US" sz="2300" b="1" dirty="0">
                <a:solidFill>
                  <a:srgbClr val="B05B3B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1</a:t>
            </a:r>
            <a:endParaRPr lang="en-US" sz="2300" dirty="0"/>
          </a:p>
        </p:txBody>
      </p:sp>
      <p:sp>
        <p:nvSpPr>
          <p:cNvPr id="13" name="Text 11"/>
          <p:cNvSpPr/>
          <p:nvPr/>
        </p:nvSpPr>
        <p:spPr>
          <a:xfrm>
            <a:off x="1279327" y="2952452"/>
            <a:ext cx="2989945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50"/>
              </a:lnSpc>
              <a:buNone/>
            </a:pPr>
            <a:r>
              <a:rPr lang="en-US" sz="2100" b="1" dirty="0">
                <a:solidFill>
                  <a:srgbClr val="262B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我家有两个浴室。</a:t>
            </a:r>
            <a:endParaRPr lang="en-US" sz="2100" dirty="0"/>
          </a:p>
        </p:txBody>
      </p:sp>
      <p:sp>
        <p:nvSpPr>
          <p:cNvPr id="14" name="Text 12"/>
          <p:cNvSpPr/>
          <p:nvPr/>
        </p:nvSpPr>
        <p:spPr>
          <a:xfrm>
            <a:off x="1279327" y="3390602"/>
            <a:ext cx="2989945" cy="2844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40"/>
              </a:lnSpc>
              <a:spcBef>
                <a:spcPts val="300"/>
              </a:spcBef>
              <a:buNone/>
            </a:pPr>
            <a:r>
              <a:rPr lang="en-US" sz="1600" dirty="0">
                <a:solidFill>
                  <a:srgbClr val="262B3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My house has two bathrooms.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09600" y="3989338"/>
            <a:ext cx="10972800" cy="1046411"/>
          </a:xfrm>
          <a:prstGeom prst="roundRect">
            <a:avLst>
              <a:gd name="adj" fmla="val 6068"/>
            </a:avLst>
          </a:prstGeom>
          <a:solidFill>
            <a:srgbClr val="E6EAEB"/>
          </a:solidFill>
          <a:ln w="9525">
            <a:solidFill>
              <a:srgbClr val="D5DBD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822275" y="4151263"/>
            <a:ext cx="297841" cy="350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60"/>
              </a:lnSpc>
              <a:buNone/>
            </a:pPr>
            <a:r>
              <a:rPr lang="en-US" sz="2300" b="1" dirty="0">
                <a:solidFill>
                  <a:srgbClr val="B05B3B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2</a:t>
            </a:r>
            <a:endParaRPr lang="en-US" sz="2300" dirty="0"/>
          </a:p>
        </p:txBody>
      </p:sp>
      <p:sp>
        <p:nvSpPr>
          <p:cNvPr id="17" name="Text 15"/>
          <p:cNvSpPr/>
          <p:nvPr/>
        </p:nvSpPr>
        <p:spPr>
          <a:xfrm>
            <a:off x="1279327" y="4151263"/>
            <a:ext cx="3168923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50"/>
              </a:lnSpc>
              <a:buNone/>
            </a:pPr>
            <a:r>
              <a:rPr lang="en-US" sz="2100" b="1" dirty="0">
                <a:solidFill>
                  <a:srgbClr val="262B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我家有两个洗澡间。</a:t>
            </a:r>
            <a:endParaRPr lang="en-US" sz="2100" dirty="0"/>
          </a:p>
        </p:txBody>
      </p:sp>
      <p:sp>
        <p:nvSpPr>
          <p:cNvPr id="18" name="Text 16"/>
          <p:cNvSpPr/>
          <p:nvPr/>
        </p:nvSpPr>
        <p:spPr>
          <a:xfrm>
            <a:off x="1279327" y="4589413"/>
            <a:ext cx="3168923" cy="2844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40"/>
              </a:lnSpc>
              <a:spcBef>
                <a:spcPts val="300"/>
              </a:spcBef>
              <a:buNone/>
            </a:pPr>
            <a:r>
              <a:rPr lang="en-US" sz="1600" dirty="0">
                <a:solidFill>
                  <a:srgbClr val="262B3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Same sentence, the other word.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09600" y="5162699"/>
            <a:ext cx="111922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spcBef>
                <a:spcPts val="1000"/>
              </a:spcBef>
              <a:buNone/>
            </a:pPr>
            <a:r>
              <a:rPr lang="en-US" sz="1200" dirty="0">
                <a:solidFill>
                  <a:srgbClr val="6E778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课本写的是「浴室(洗澡间)」——两个都对，说哪个都行。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2F4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542925"/>
          </a:xfrm>
          <a:prstGeom prst="rect">
            <a:avLst/>
          </a:prstGeom>
          <a:solidFill>
            <a:srgbClr val="F2F4F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538163"/>
            <a:ext cx="12192000" cy="0"/>
          </a:xfrm>
          <a:prstGeom prst="line">
            <a:avLst/>
          </a:prstGeom>
          <a:noFill/>
          <a:ln w="9525">
            <a:solidFill>
              <a:srgbClr val="D5DBD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7950" y="176213"/>
            <a:ext cx="1371404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B05B3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10–20 MIN · I DO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2137916" y="166688"/>
            <a:ext cx="1648295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4B545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例句 2 · See them used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232952" y="176213"/>
            <a:ext cx="460120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6E778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11 / 26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7950" y="0"/>
            <a:ext cx="11176099" cy="31700"/>
          </a:xfrm>
          <a:prstGeom prst="rect">
            <a:avLst/>
          </a:prstGeom>
          <a:solidFill>
            <a:srgbClr val="3D5A7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09600" y="1395264"/>
            <a:ext cx="1119225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B05B3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例句 · SEE THEM USED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09600" y="1671489"/>
            <a:ext cx="10972800" cy="1052066"/>
          </a:xfrm>
          <a:prstGeom prst="rect">
            <a:avLst/>
          </a:prstGeom>
          <a:solidFill>
            <a:srgbClr val="E6EAE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Shape 8"/>
          <p:cNvSpPr/>
          <p:nvPr/>
        </p:nvSpPr>
        <p:spPr>
          <a:xfrm>
            <a:off x="633412" y="1671489"/>
            <a:ext cx="0" cy="1052066"/>
          </a:xfrm>
          <a:prstGeom prst="line">
            <a:avLst/>
          </a:prstGeom>
          <a:noFill/>
          <a:ln w="47625">
            <a:solidFill>
              <a:srgbClr val="3D5A7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85825" y="1823889"/>
            <a:ext cx="10677335" cy="445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510"/>
              </a:lnSpc>
              <a:buNone/>
            </a:pPr>
            <a:r>
              <a:rPr lang="en-US" sz="2600" dirty="0">
                <a:solidFill>
                  <a:srgbClr val="262B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我家有两个</a:t>
            </a:r>
            <a:r>
              <a:rPr lang="en-US" sz="2600" b="1" dirty="0">
                <a:solidFill>
                  <a:srgbClr val="B05B3B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浴室</a:t>
            </a:r>
            <a:r>
              <a:rPr lang="en-US" sz="2600" dirty="0">
                <a:solidFill>
                  <a:srgbClr val="262B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。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885825" y="2333030"/>
            <a:ext cx="10677335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500"/>
              </a:spcBef>
              <a:buNone/>
            </a:pPr>
            <a:r>
              <a:rPr lang="en-US" sz="1350" dirty="0">
                <a:solidFill>
                  <a:srgbClr val="4B545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My house has two bathrooms.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609600" y="2875955"/>
            <a:ext cx="10972800" cy="1052066"/>
          </a:xfrm>
          <a:prstGeom prst="rect">
            <a:avLst/>
          </a:prstGeom>
          <a:solidFill>
            <a:srgbClr val="E6EAE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Shape 12"/>
          <p:cNvSpPr/>
          <p:nvPr/>
        </p:nvSpPr>
        <p:spPr>
          <a:xfrm>
            <a:off x="633412" y="2875955"/>
            <a:ext cx="0" cy="1052066"/>
          </a:xfrm>
          <a:prstGeom prst="line">
            <a:avLst/>
          </a:prstGeom>
          <a:noFill/>
          <a:ln w="47625">
            <a:solidFill>
              <a:srgbClr val="3D5A7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85825" y="3028355"/>
            <a:ext cx="10677335" cy="445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510"/>
              </a:lnSpc>
              <a:buNone/>
            </a:pPr>
            <a:r>
              <a:rPr lang="en-US" sz="2600" dirty="0">
                <a:solidFill>
                  <a:srgbClr val="262B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我每天晚上</a:t>
            </a:r>
            <a:r>
              <a:rPr lang="en-US" sz="2600" b="1" dirty="0">
                <a:solidFill>
                  <a:srgbClr val="B05B3B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洗澡</a:t>
            </a:r>
            <a:r>
              <a:rPr lang="en-US" sz="2600" dirty="0">
                <a:solidFill>
                  <a:srgbClr val="262B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。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885825" y="3537496"/>
            <a:ext cx="10677335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500"/>
              </a:spcBef>
              <a:buNone/>
            </a:pPr>
            <a:r>
              <a:rPr lang="en-US" sz="1350" dirty="0">
                <a:solidFill>
                  <a:srgbClr val="4B545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 have a shower every evening.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609600" y="4080421"/>
            <a:ext cx="10972800" cy="1052066"/>
          </a:xfrm>
          <a:prstGeom prst="rect">
            <a:avLst/>
          </a:prstGeom>
          <a:solidFill>
            <a:srgbClr val="B05B3B">
              <a:alpha val="13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Shape 16"/>
          <p:cNvSpPr/>
          <p:nvPr/>
        </p:nvSpPr>
        <p:spPr>
          <a:xfrm>
            <a:off x="633412" y="4080421"/>
            <a:ext cx="0" cy="1052066"/>
          </a:xfrm>
          <a:prstGeom prst="line">
            <a:avLst/>
          </a:prstGeom>
          <a:noFill/>
          <a:ln w="47625">
            <a:solidFill>
              <a:srgbClr val="B05B3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85825" y="4232821"/>
            <a:ext cx="10677335" cy="445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510"/>
              </a:lnSpc>
              <a:buNone/>
            </a:pPr>
            <a:r>
              <a:rPr lang="en-US" sz="2600" dirty="0">
                <a:solidFill>
                  <a:srgbClr val="262B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我在</a:t>
            </a:r>
            <a:r>
              <a:rPr lang="en-US" sz="2600" b="1" dirty="0">
                <a:solidFill>
                  <a:srgbClr val="B05B3B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浴室洗澡</a:t>
            </a:r>
            <a:r>
              <a:rPr lang="en-US" sz="2600" dirty="0">
                <a:solidFill>
                  <a:srgbClr val="262B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。</a:t>
            </a:r>
            <a:endParaRPr lang="en-US" sz="2600" dirty="0"/>
          </a:p>
        </p:txBody>
      </p:sp>
      <p:sp>
        <p:nvSpPr>
          <p:cNvPr id="20" name="Text 18"/>
          <p:cNvSpPr/>
          <p:nvPr/>
        </p:nvSpPr>
        <p:spPr>
          <a:xfrm>
            <a:off x="885825" y="4741962"/>
            <a:ext cx="10677335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500"/>
              </a:spcBef>
              <a:buNone/>
            </a:pPr>
            <a:r>
              <a:rPr lang="en-US" sz="1350" dirty="0">
                <a:solidFill>
                  <a:srgbClr val="4B545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 shower in the bathroom.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609600" y="5259437"/>
            <a:ext cx="111922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spcBef>
                <a:spcPts val="1000"/>
              </a:spcBef>
              <a:buNone/>
            </a:pPr>
            <a:r>
              <a:rPr lang="en-US" sz="1200" dirty="0">
                <a:solidFill>
                  <a:srgbClr val="6E778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问：你每天什么时候洗澡？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2F4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542925"/>
          </a:xfrm>
          <a:prstGeom prst="rect">
            <a:avLst/>
          </a:prstGeom>
          <a:solidFill>
            <a:srgbClr val="F2F4F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538163"/>
            <a:ext cx="12192000" cy="0"/>
          </a:xfrm>
          <a:prstGeom prst="line">
            <a:avLst/>
          </a:prstGeom>
          <a:noFill/>
          <a:ln w="9525">
            <a:solidFill>
              <a:srgbClr val="D5DBD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7950" y="176213"/>
            <a:ext cx="1371404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B05B3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10–20 MIN · I DO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2137916" y="166688"/>
            <a:ext cx="1813155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4B545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写一句 2 · Write your own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207800" y="176213"/>
            <a:ext cx="485775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6E778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12 / 26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7950" y="0"/>
            <a:ext cx="11176099" cy="31700"/>
          </a:xfrm>
          <a:prstGeom prst="rect">
            <a:avLst/>
          </a:prstGeom>
          <a:solidFill>
            <a:srgbClr val="3D5A7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09600" y="1786533"/>
            <a:ext cx="1119225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B05B3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写一句 · WRITE ONE SENTENCE · 60–90 秒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09600" y="1986558"/>
            <a:ext cx="10972800" cy="1981200"/>
          </a:xfrm>
          <a:prstGeom prst="roundRect">
            <a:avLst>
              <a:gd name="adj" fmla="val 5769"/>
            </a:avLst>
          </a:prstGeom>
          <a:solidFill>
            <a:srgbClr val="D8DEE0"/>
          </a:solidFill>
          <a:ln w="19050">
            <a:solidFill>
              <a:srgbClr val="8F6C12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958751" y="2310408"/>
            <a:ext cx="10479988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250"/>
              </a:lnSpc>
              <a:buNone/>
            </a:pPr>
            <a:r>
              <a:rPr lang="en-US" sz="3000" b="1" dirty="0">
                <a:solidFill>
                  <a:srgbClr val="262B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我家有 ________ 个浴室。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958751" y="2977158"/>
            <a:ext cx="10479988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250"/>
              </a:lnSpc>
              <a:buNone/>
            </a:pPr>
            <a:r>
              <a:rPr lang="en-US" sz="3000" b="1" dirty="0">
                <a:solidFill>
                  <a:srgbClr val="262B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我每天 ________ 洗澡。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609600" y="4145459"/>
            <a:ext cx="10972800" cy="951458"/>
          </a:xfrm>
          <a:prstGeom prst="roundRect">
            <a:avLst>
              <a:gd name="adj" fmla="val 6674"/>
            </a:avLst>
          </a:prstGeom>
          <a:solidFill>
            <a:srgbClr val="46684C">
              <a:alpha val="11000"/>
            </a:srgbClr>
          </a:solidFill>
          <a:ln w="19050">
            <a:solidFill>
              <a:srgbClr val="46684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857250" y="4342209"/>
            <a:ext cx="1068705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1100" b="1" dirty="0">
                <a:solidFill>
                  <a:srgbClr val="4668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EXTENSION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857250" y="4605635"/>
            <a:ext cx="10687050" cy="2945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20"/>
              </a:lnSpc>
              <a:buNone/>
            </a:pPr>
            <a:r>
              <a:rPr lang="en-US" sz="1600" dirty="0">
                <a:solidFill>
                  <a:srgbClr val="262B3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把去年学的时间词用上，两个新词放进同一句：</a:t>
            </a:r>
            <a:r>
              <a:rPr lang="en-US" sz="1600" b="1" dirty="0">
                <a:solidFill>
                  <a:srgbClr val="4668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我每天晚上七点在楼上的浴室洗澡。</a:t>
            </a:r>
            <a:endParaRPr lang="en-US" sz="16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2F4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542925"/>
          </a:xfrm>
          <a:prstGeom prst="rect">
            <a:avLst/>
          </a:prstGeom>
          <a:solidFill>
            <a:srgbClr val="F2F4F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538163"/>
            <a:ext cx="12192000" cy="0"/>
          </a:xfrm>
          <a:prstGeom prst="line">
            <a:avLst/>
          </a:prstGeom>
          <a:noFill/>
          <a:ln w="9525">
            <a:solidFill>
              <a:srgbClr val="D5DBD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7950" y="176213"/>
            <a:ext cx="1371404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B05B3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10–20 MIN · I DO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2137916" y="166688"/>
            <a:ext cx="1379753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4B545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认一认 · checkpoint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208246" y="176213"/>
            <a:ext cx="485320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6E778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13 / 26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7950" y="0"/>
            <a:ext cx="11176099" cy="31700"/>
          </a:xfrm>
          <a:prstGeom prst="rect">
            <a:avLst/>
          </a:prstGeom>
          <a:solidFill>
            <a:srgbClr val="3D5A7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09600" y="2357586"/>
            <a:ext cx="1119225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B05B3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认一认 · CHARACTERS ONLY · 一起读出来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09600" y="2684562"/>
            <a:ext cx="2590800" cy="1460302"/>
          </a:xfrm>
          <a:prstGeom prst="roundRect">
            <a:avLst>
              <a:gd name="adj" fmla="val 7827"/>
            </a:avLst>
          </a:prstGeom>
          <a:solidFill>
            <a:srgbClr val="E6EAEB"/>
          </a:solidFill>
          <a:ln w="9525">
            <a:solidFill>
              <a:srgbClr val="D5DBD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722897" y="3024188"/>
            <a:ext cx="2364206" cy="781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262B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卧室</a:t>
            </a:r>
            <a:endParaRPr lang="en-US" sz="4400" dirty="0"/>
          </a:p>
        </p:txBody>
      </p:sp>
      <p:sp>
        <p:nvSpPr>
          <p:cNvPr id="11" name="Text 9"/>
          <p:cNvSpPr/>
          <p:nvPr/>
        </p:nvSpPr>
        <p:spPr>
          <a:xfrm>
            <a:off x="3403550" y="2684562"/>
            <a:ext cx="2590800" cy="1460302"/>
          </a:xfrm>
          <a:prstGeom prst="roundRect">
            <a:avLst>
              <a:gd name="adj" fmla="val 7827"/>
            </a:avLst>
          </a:prstGeom>
          <a:solidFill>
            <a:srgbClr val="E6EAEB"/>
          </a:solidFill>
          <a:ln w="9525">
            <a:solidFill>
              <a:srgbClr val="D5DBD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3516847" y="3024188"/>
            <a:ext cx="2364206" cy="781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262B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书房</a:t>
            </a:r>
            <a:endParaRPr lang="en-US" sz="4400" dirty="0"/>
          </a:p>
        </p:txBody>
      </p:sp>
      <p:sp>
        <p:nvSpPr>
          <p:cNvPr id="13" name="Text 11"/>
          <p:cNvSpPr/>
          <p:nvPr/>
        </p:nvSpPr>
        <p:spPr>
          <a:xfrm>
            <a:off x="6197501" y="2684562"/>
            <a:ext cx="2590800" cy="1460302"/>
          </a:xfrm>
          <a:prstGeom prst="roundRect">
            <a:avLst>
              <a:gd name="adj" fmla="val 7827"/>
            </a:avLst>
          </a:prstGeom>
          <a:solidFill>
            <a:srgbClr val="E6EAEB"/>
          </a:solidFill>
          <a:ln w="9525">
            <a:solidFill>
              <a:srgbClr val="D5DBD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6310798" y="3024188"/>
            <a:ext cx="2364206" cy="781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262B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浴室</a:t>
            </a:r>
            <a:endParaRPr lang="en-US" sz="4400" dirty="0"/>
          </a:p>
        </p:txBody>
      </p:sp>
      <p:sp>
        <p:nvSpPr>
          <p:cNvPr id="15" name="Text 13"/>
          <p:cNvSpPr/>
          <p:nvPr/>
        </p:nvSpPr>
        <p:spPr>
          <a:xfrm>
            <a:off x="8991451" y="2684562"/>
            <a:ext cx="2590949" cy="1460302"/>
          </a:xfrm>
          <a:prstGeom prst="roundRect">
            <a:avLst>
              <a:gd name="adj" fmla="val 7827"/>
            </a:avLst>
          </a:prstGeom>
          <a:solidFill>
            <a:srgbClr val="E6EAEB"/>
          </a:solidFill>
          <a:ln w="9525">
            <a:solidFill>
              <a:srgbClr val="D5DBD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9104747" y="3024188"/>
            <a:ext cx="2364358" cy="781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262B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洗澡</a:t>
            </a:r>
            <a:endParaRPr lang="en-US" sz="4400" dirty="0"/>
          </a:p>
        </p:txBody>
      </p:sp>
      <p:sp>
        <p:nvSpPr>
          <p:cNvPr id="17" name="Text 15"/>
          <p:cNvSpPr/>
          <p:nvPr/>
        </p:nvSpPr>
        <p:spPr>
          <a:xfrm>
            <a:off x="609600" y="4297263"/>
            <a:ext cx="111922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spcBef>
                <a:spcPts val="1200"/>
              </a:spcBef>
              <a:buNone/>
            </a:pPr>
            <a:r>
              <a:rPr lang="en-US" sz="1200" dirty="0">
                <a:solidFill>
                  <a:srgbClr val="6E778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读不出来就停下来重教。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2F4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542925"/>
          </a:xfrm>
          <a:prstGeom prst="rect">
            <a:avLst/>
          </a:prstGeom>
          <a:solidFill>
            <a:srgbClr val="F2F4F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538163"/>
            <a:ext cx="12192000" cy="0"/>
          </a:xfrm>
          <a:prstGeom prst="line">
            <a:avLst/>
          </a:prstGeom>
          <a:noFill/>
          <a:ln w="9525">
            <a:solidFill>
              <a:srgbClr val="D5DBD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7950" y="176213"/>
            <a:ext cx="1371404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B05B3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10–20 MIN · I DO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2137916" y="166688"/>
            <a:ext cx="75583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4B545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句型 · 量词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207651" y="176213"/>
            <a:ext cx="485927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6E778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14 / 26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7950" y="0"/>
            <a:ext cx="11176099" cy="31700"/>
          </a:xfrm>
          <a:prstGeom prst="rect">
            <a:avLst/>
          </a:prstGeom>
          <a:solidFill>
            <a:srgbClr val="3D5A7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09600" y="892671"/>
            <a:ext cx="1119225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B05B3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量词 · 数房间用哪一个？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09600" y="1092696"/>
            <a:ext cx="10972800" cy="971550"/>
          </a:xfrm>
          <a:prstGeom prst="roundRect">
            <a:avLst>
              <a:gd name="adj" fmla="val 11765"/>
            </a:avLst>
          </a:prstGeom>
          <a:solidFill>
            <a:srgbClr val="D8DEE0"/>
          </a:solidFill>
          <a:ln w="19050">
            <a:solidFill>
              <a:srgbClr val="3D5A73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830199" y="1302246"/>
            <a:ext cx="10531602" cy="552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3100" b="1" dirty="0">
                <a:solidFill>
                  <a:srgbClr val="262B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几 + 间 + 卧室　／　几 + 个 + 浴室</a:t>
            </a:r>
            <a:endParaRPr lang="en-US" sz="3100" dirty="0"/>
          </a:p>
        </p:txBody>
      </p:sp>
      <p:sp>
        <p:nvSpPr>
          <p:cNvPr id="11" name="Text 9"/>
          <p:cNvSpPr/>
          <p:nvPr/>
        </p:nvSpPr>
        <p:spPr>
          <a:xfrm>
            <a:off x="609600" y="2191196"/>
            <a:ext cx="10972800" cy="1046411"/>
          </a:xfrm>
          <a:prstGeom prst="roundRect">
            <a:avLst>
              <a:gd name="adj" fmla="val 6068"/>
            </a:avLst>
          </a:prstGeom>
          <a:solidFill>
            <a:srgbClr val="E6EAEB"/>
          </a:solidFill>
          <a:ln w="9525">
            <a:solidFill>
              <a:srgbClr val="D5DBD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822275" y="2353121"/>
            <a:ext cx="297841" cy="350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60"/>
              </a:lnSpc>
              <a:buNone/>
            </a:pPr>
            <a:r>
              <a:rPr lang="en-US" sz="2300" b="1" dirty="0">
                <a:solidFill>
                  <a:srgbClr val="B05B3B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1</a:t>
            </a:r>
            <a:endParaRPr lang="en-US" sz="2300" dirty="0"/>
          </a:p>
        </p:txBody>
      </p:sp>
      <p:sp>
        <p:nvSpPr>
          <p:cNvPr id="13" name="Text 11"/>
          <p:cNvSpPr/>
          <p:nvPr/>
        </p:nvSpPr>
        <p:spPr>
          <a:xfrm>
            <a:off x="1279327" y="2353121"/>
            <a:ext cx="2176272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50"/>
              </a:lnSpc>
              <a:buNone/>
            </a:pPr>
            <a:r>
              <a:rPr lang="en-US" sz="2100" dirty="0">
                <a:solidFill>
                  <a:srgbClr val="262B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楼上有三</a:t>
            </a:r>
            <a:r>
              <a:rPr lang="en-US" sz="2100" b="1" dirty="0">
                <a:solidFill>
                  <a:srgbClr val="262B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间</a:t>
            </a:r>
            <a:r>
              <a:rPr lang="en-US" sz="2100" dirty="0">
                <a:solidFill>
                  <a:srgbClr val="262B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卧室。</a:t>
            </a:r>
            <a:endParaRPr lang="en-US" sz="2100" dirty="0"/>
          </a:p>
        </p:txBody>
      </p:sp>
      <p:sp>
        <p:nvSpPr>
          <p:cNvPr id="14" name="Text 12"/>
          <p:cNvSpPr/>
          <p:nvPr/>
        </p:nvSpPr>
        <p:spPr>
          <a:xfrm>
            <a:off x="1279327" y="2791271"/>
            <a:ext cx="2176272" cy="2844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40"/>
              </a:lnSpc>
              <a:spcBef>
                <a:spcPts val="300"/>
              </a:spcBef>
              <a:buNone/>
            </a:pPr>
            <a:r>
              <a:rPr lang="en-US" sz="1600" dirty="0">
                <a:solidFill>
                  <a:srgbClr val="262B3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Bedrooms take 间.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09600" y="3390007"/>
            <a:ext cx="10972800" cy="1046411"/>
          </a:xfrm>
          <a:prstGeom prst="roundRect">
            <a:avLst>
              <a:gd name="adj" fmla="val 6068"/>
            </a:avLst>
          </a:prstGeom>
          <a:solidFill>
            <a:srgbClr val="E6EAEB"/>
          </a:solidFill>
          <a:ln w="9525">
            <a:solidFill>
              <a:srgbClr val="D5DBD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822275" y="3551932"/>
            <a:ext cx="297841" cy="350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60"/>
              </a:lnSpc>
              <a:buNone/>
            </a:pPr>
            <a:r>
              <a:rPr lang="en-US" sz="2300" b="1" dirty="0">
                <a:solidFill>
                  <a:srgbClr val="B05B3B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2</a:t>
            </a:r>
            <a:endParaRPr lang="en-US" sz="2300" dirty="0"/>
          </a:p>
        </p:txBody>
      </p:sp>
      <p:sp>
        <p:nvSpPr>
          <p:cNvPr id="17" name="Text 15"/>
          <p:cNvSpPr/>
          <p:nvPr/>
        </p:nvSpPr>
        <p:spPr>
          <a:xfrm>
            <a:off x="1279327" y="3551932"/>
            <a:ext cx="3641187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50"/>
              </a:lnSpc>
              <a:buNone/>
            </a:pPr>
            <a:r>
              <a:rPr lang="en-US" sz="2100" dirty="0">
                <a:solidFill>
                  <a:srgbClr val="262B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楼下有一</a:t>
            </a:r>
            <a:r>
              <a:rPr lang="en-US" sz="2100" b="1" dirty="0">
                <a:solidFill>
                  <a:srgbClr val="262B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间</a:t>
            </a:r>
            <a:r>
              <a:rPr lang="en-US" sz="2100" dirty="0">
                <a:solidFill>
                  <a:srgbClr val="262B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卧室。</a:t>
            </a:r>
            <a:endParaRPr lang="en-US" sz="2100" dirty="0"/>
          </a:p>
        </p:txBody>
      </p:sp>
      <p:sp>
        <p:nvSpPr>
          <p:cNvPr id="18" name="Text 16"/>
          <p:cNvSpPr/>
          <p:nvPr/>
        </p:nvSpPr>
        <p:spPr>
          <a:xfrm>
            <a:off x="1279327" y="3990082"/>
            <a:ext cx="3641187" cy="2844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40"/>
              </a:lnSpc>
              <a:spcBef>
                <a:spcPts val="300"/>
              </a:spcBef>
              <a:buNone/>
            </a:pPr>
            <a:r>
              <a:rPr lang="en-US" sz="1600" dirty="0">
                <a:solidFill>
                  <a:srgbClr val="262B3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Still 间 — it is not about which floor.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09600" y="4588818"/>
            <a:ext cx="10972800" cy="1046411"/>
          </a:xfrm>
          <a:prstGeom prst="roundRect">
            <a:avLst>
              <a:gd name="adj" fmla="val 6068"/>
            </a:avLst>
          </a:prstGeom>
          <a:solidFill>
            <a:srgbClr val="E6EAEB"/>
          </a:solidFill>
          <a:ln w="9525">
            <a:solidFill>
              <a:srgbClr val="D5DBD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822275" y="4750743"/>
            <a:ext cx="297841" cy="350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60"/>
              </a:lnSpc>
              <a:buNone/>
            </a:pPr>
            <a:r>
              <a:rPr lang="en-US" sz="2300" b="1" dirty="0">
                <a:solidFill>
                  <a:srgbClr val="B05B3B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3</a:t>
            </a:r>
            <a:endParaRPr lang="en-US" sz="2300" dirty="0"/>
          </a:p>
        </p:txBody>
      </p:sp>
      <p:sp>
        <p:nvSpPr>
          <p:cNvPr id="21" name="Text 19"/>
          <p:cNvSpPr/>
          <p:nvPr/>
        </p:nvSpPr>
        <p:spPr>
          <a:xfrm>
            <a:off x="1279327" y="4750743"/>
            <a:ext cx="2176272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50"/>
              </a:lnSpc>
              <a:buNone/>
            </a:pPr>
            <a:r>
              <a:rPr lang="en-US" sz="2100" dirty="0">
                <a:solidFill>
                  <a:srgbClr val="262B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我家有两</a:t>
            </a:r>
            <a:r>
              <a:rPr lang="en-US" sz="2100" b="1" dirty="0">
                <a:solidFill>
                  <a:srgbClr val="262B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个</a:t>
            </a:r>
            <a:r>
              <a:rPr lang="en-US" sz="2100" dirty="0">
                <a:solidFill>
                  <a:srgbClr val="262B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浴室。</a:t>
            </a:r>
            <a:endParaRPr lang="en-US" sz="2100" dirty="0"/>
          </a:p>
        </p:txBody>
      </p:sp>
      <p:sp>
        <p:nvSpPr>
          <p:cNvPr id="22" name="Text 20"/>
          <p:cNvSpPr/>
          <p:nvPr/>
        </p:nvSpPr>
        <p:spPr>
          <a:xfrm>
            <a:off x="1279327" y="5188893"/>
            <a:ext cx="2176272" cy="2844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40"/>
              </a:lnSpc>
              <a:spcBef>
                <a:spcPts val="300"/>
              </a:spcBef>
              <a:buNone/>
            </a:pPr>
            <a:r>
              <a:rPr lang="en-US" sz="1600" dirty="0">
                <a:solidFill>
                  <a:srgbClr val="262B3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Bathrooms take 个.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609600" y="5762179"/>
            <a:ext cx="111922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spcBef>
                <a:spcPts val="1000"/>
              </a:spcBef>
              <a:buNone/>
            </a:pPr>
            <a:r>
              <a:rPr lang="en-US" sz="1200" dirty="0">
                <a:solidFill>
                  <a:srgbClr val="6E778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不是看大小，也不是看楼上楼下。</a:t>
            </a:r>
            <a:r>
              <a:rPr lang="en-US" sz="1200" b="1" dirty="0">
                <a:solidFill>
                  <a:srgbClr val="6E778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卧室</a:t>
            </a:r>
            <a:r>
              <a:rPr lang="en-US" sz="1200" dirty="0">
                <a:solidFill>
                  <a:srgbClr val="6E778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用「间」，</a:t>
            </a:r>
            <a:r>
              <a:rPr lang="en-US" sz="1200" b="1" dirty="0">
                <a:solidFill>
                  <a:srgbClr val="6E778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浴室、书房、房间</a:t>
            </a:r>
            <a:r>
              <a:rPr lang="en-US" sz="1200" dirty="0">
                <a:solidFill>
                  <a:srgbClr val="6E778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用「个」。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2F4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542925"/>
          </a:xfrm>
          <a:prstGeom prst="rect">
            <a:avLst/>
          </a:prstGeom>
          <a:solidFill>
            <a:srgbClr val="F2F4F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538163"/>
            <a:ext cx="12192000" cy="0"/>
          </a:xfrm>
          <a:prstGeom prst="line">
            <a:avLst/>
          </a:prstGeom>
          <a:noFill/>
          <a:ln w="9525">
            <a:solidFill>
              <a:srgbClr val="D5DBD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7950" y="176213"/>
            <a:ext cx="1371404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B05B3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10–20 MIN · I DO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2137916" y="166688"/>
            <a:ext cx="1191667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4B545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句型 · 最难的一句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207800" y="176213"/>
            <a:ext cx="485775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6E778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15 / 26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7950" y="0"/>
            <a:ext cx="11176099" cy="31700"/>
          </a:xfrm>
          <a:prstGeom prst="rect">
            <a:avLst/>
          </a:prstGeom>
          <a:solidFill>
            <a:srgbClr val="3D5A7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09600" y="1889522"/>
            <a:ext cx="1119225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B05B3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一句话，两个量词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09600" y="2089547"/>
            <a:ext cx="10972800" cy="1710630"/>
          </a:xfrm>
          <a:prstGeom prst="roundRect">
            <a:avLst>
              <a:gd name="adj" fmla="val 6682"/>
            </a:avLst>
          </a:prstGeom>
          <a:solidFill>
            <a:srgbClr val="D8DEE0"/>
          </a:solidFill>
          <a:ln w="19050">
            <a:solidFill>
              <a:srgbClr val="8F6C12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958751" y="2413397"/>
            <a:ext cx="10479988" cy="10629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185"/>
              </a:lnSpc>
              <a:buNone/>
            </a:pPr>
            <a:r>
              <a:rPr lang="en-US" sz="2700" b="1" dirty="0">
                <a:solidFill>
                  <a:srgbClr val="262B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我家的房子有两层，楼上有三间卧室和一个书房，楼下有一间卧室和一个浴室。</a:t>
            </a:r>
            <a:endParaRPr lang="en-US" sz="2700" dirty="0"/>
          </a:p>
        </p:txBody>
      </p:sp>
      <p:sp>
        <p:nvSpPr>
          <p:cNvPr id="11" name="Text 9"/>
          <p:cNvSpPr/>
          <p:nvPr/>
        </p:nvSpPr>
        <p:spPr>
          <a:xfrm>
            <a:off x="609600" y="3952577"/>
            <a:ext cx="1119225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spcBef>
                <a:spcPts val="1200"/>
              </a:spcBef>
              <a:buNone/>
            </a:pPr>
            <a:r>
              <a:rPr lang="en-US" sz="1800" dirty="0">
                <a:solidFill>
                  <a:srgbClr val="4B545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My house has two storeys; upstairs there are three bedrooms and a study; downstairs there is a bedroom and a bathroom.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609600" y="4765328"/>
            <a:ext cx="111922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spcBef>
                <a:spcPts val="1000"/>
              </a:spcBef>
              <a:buNone/>
            </a:pPr>
            <a:r>
              <a:rPr lang="en-US" sz="1200" dirty="0">
                <a:solidFill>
                  <a:srgbClr val="6E778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「间」出现两次，「个」出现两次——每一个都要对。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2F4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542925"/>
          </a:xfrm>
          <a:prstGeom prst="rect">
            <a:avLst/>
          </a:prstGeom>
          <a:solidFill>
            <a:srgbClr val="F2F4F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538163"/>
            <a:ext cx="12192000" cy="0"/>
          </a:xfrm>
          <a:prstGeom prst="line">
            <a:avLst/>
          </a:prstGeom>
          <a:noFill/>
          <a:ln w="9525">
            <a:solidFill>
              <a:srgbClr val="D5DBD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7950" y="176213"/>
            <a:ext cx="1371404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B05B3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10–20 MIN · I DO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2137916" y="166688"/>
            <a:ext cx="1055043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4B545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检查理解 · CFU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207055" y="176213"/>
            <a:ext cx="486534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6E778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16 / 26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7950" y="0"/>
            <a:ext cx="11176099" cy="31700"/>
          </a:xfrm>
          <a:prstGeom prst="rect">
            <a:avLst/>
          </a:prstGeom>
          <a:solidFill>
            <a:srgbClr val="3D5A7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09600" y="894159"/>
            <a:ext cx="1119225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B05B3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检查理解 · CHECK FOR UNDERSTANDING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09600" y="1094184"/>
            <a:ext cx="10972800" cy="857101"/>
          </a:xfrm>
          <a:prstGeom prst="roundRect">
            <a:avLst>
              <a:gd name="adj" fmla="val 7409"/>
            </a:avLst>
          </a:prstGeom>
          <a:solidFill>
            <a:srgbClr val="E6EAEB"/>
          </a:solidFill>
          <a:ln w="9525">
            <a:solidFill>
              <a:srgbClr val="D5DBD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796826" y="1192560"/>
            <a:ext cx="246075" cy="2894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80"/>
              </a:lnSpc>
              <a:buNone/>
            </a:pPr>
            <a:r>
              <a:rPr lang="en-US" sz="1900" b="1" dirty="0">
                <a:solidFill>
                  <a:srgbClr val="B05B3B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1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1203127" y="1192560"/>
            <a:ext cx="2798064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800" b="1" dirty="0">
                <a:solidFill>
                  <a:srgbClr val="262B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「书房」是卧室的意思吗？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203127" y="1586210"/>
            <a:ext cx="2798064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00"/>
              </a:spcBef>
              <a:buNone/>
            </a:pPr>
            <a:r>
              <a:rPr lang="en-US" sz="1500" b="1" dirty="0">
                <a:solidFill>
                  <a:srgbClr val="3D5A73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对就举大拇指，不对就朝下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609600" y="2027486"/>
            <a:ext cx="10972800" cy="857101"/>
          </a:xfrm>
          <a:prstGeom prst="roundRect">
            <a:avLst>
              <a:gd name="adj" fmla="val 7409"/>
            </a:avLst>
          </a:prstGeom>
          <a:solidFill>
            <a:srgbClr val="E6EAEB"/>
          </a:solidFill>
          <a:ln w="9525">
            <a:solidFill>
              <a:srgbClr val="D5DBD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796826" y="2125861"/>
            <a:ext cx="246075" cy="2894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80"/>
              </a:lnSpc>
              <a:buNone/>
            </a:pPr>
            <a:r>
              <a:rPr lang="en-US" sz="1900" b="1" dirty="0">
                <a:solidFill>
                  <a:srgbClr val="B05B3B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2</a:t>
            </a:r>
            <a:endParaRPr lang="en-US" sz="1900" dirty="0"/>
          </a:p>
        </p:txBody>
      </p:sp>
      <p:sp>
        <p:nvSpPr>
          <p:cNvPr id="15" name="Text 13"/>
          <p:cNvSpPr/>
          <p:nvPr/>
        </p:nvSpPr>
        <p:spPr>
          <a:xfrm>
            <a:off x="1203127" y="2125861"/>
            <a:ext cx="3562552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800" b="1" dirty="0">
                <a:solidFill>
                  <a:srgbClr val="262B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间 还是 个？ 楼上有三 ____ 卧室。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203127" y="2519511"/>
            <a:ext cx="3562552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00"/>
              </a:spcBef>
              <a:buNone/>
            </a:pPr>
            <a:r>
              <a:rPr lang="en-US" sz="1500" b="1" dirty="0">
                <a:solidFill>
                  <a:srgbClr val="3D5A73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写在小白板上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609600" y="2960787"/>
            <a:ext cx="10972800" cy="857101"/>
          </a:xfrm>
          <a:prstGeom prst="roundRect">
            <a:avLst>
              <a:gd name="adj" fmla="val 7409"/>
            </a:avLst>
          </a:prstGeom>
          <a:solidFill>
            <a:srgbClr val="E6EAEB"/>
          </a:solidFill>
          <a:ln w="9525">
            <a:solidFill>
              <a:srgbClr val="D5DBD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796826" y="3059162"/>
            <a:ext cx="246075" cy="2894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80"/>
              </a:lnSpc>
              <a:buNone/>
            </a:pPr>
            <a:r>
              <a:rPr lang="en-US" sz="1900" b="1" dirty="0">
                <a:solidFill>
                  <a:srgbClr val="B05B3B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3</a:t>
            </a:r>
            <a:endParaRPr lang="en-US" sz="1900" dirty="0"/>
          </a:p>
        </p:txBody>
      </p:sp>
      <p:sp>
        <p:nvSpPr>
          <p:cNvPr id="19" name="Text 17"/>
          <p:cNvSpPr/>
          <p:nvPr/>
        </p:nvSpPr>
        <p:spPr>
          <a:xfrm>
            <a:off x="1203127" y="3059162"/>
            <a:ext cx="3562552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800" b="1" dirty="0">
                <a:solidFill>
                  <a:srgbClr val="262B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间 还是 个？ 我家有两 ____ 浴室。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1203127" y="3452813"/>
            <a:ext cx="3562552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00"/>
              </a:spcBef>
              <a:buNone/>
            </a:pPr>
            <a:r>
              <a:rPr lang="en-US" sz="1500" b="1" dirty="0">
                <a:solidFill>
                  <a:srgbClr val="3D5A73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写在小白板上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609600" y="3894088"/>
            <a:ext cx="10972800" cy="857101"/>
          </a:xfrm>
          <a:prstGeom prst="roundRect">
            <a:avLst>
              <a:gd name="adj" fmla="val 7409"/>
            </a:avLst>
          </a:prstGeom>
          <a:solidFill>
            <a:srgbClr val="E6EAEB"/>
          </a:solidFill>
          <a:ln w="9525">
            <a:solidFill>
              <a:srgbClr val="D5DBD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796826" y="3992463"/>
            <a:ext cx="246075" cy="2894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80"/>
              </a:lnSpc>
              <a:buNone/>
            </a:pPr>
            <a:r>
              <a:rPr lang="en-US" sz="1900" b="1" dirty="0">
                <a:solidFill>
                  <a:srgbClr val="B05B3B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4</a:t>
            </a:r>
            <a:endParaRPr lang="en-US" sz="1900" dirty="0"/>
          </a:p>
        </p:txBody>
      </p:sp>
      <p:sp>
        <p:nvSpPr>
          <p:cNvPr id="23" name="Text 21"/>
          <p:cNvSpPr/>
          <p:nvPr/>
        </p:nvSpPr>
        <p:spPr>
          <a:xfrm>
            <a:off x="1203127" y="3992463"/>
            <a:ext cx="3747299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800" b="1" dirty="0">
                <a:solidFill>
                  <a:srgbClr val="262B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这句话对不对？ ✗ 我家有三个卧室。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1203127" y="4386114"/>
            <a:ext cx="3747299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00"/>
              </a:spcBef>
              <a:buNone/>
            </a:pPr>
            <a:r>
              <a:rPr lang="en-US" sz="1500" b="1" dirty="0">
                <a:solidFill>
                  <a:srgbClr val="3D5A73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哪里错了？怎么改？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609600" y="4827389"/>
            <a:ext cx="10972800" cy="857101"/>
          </a:xfrm>
          <a:prstGeom prst="roundRect">
            <a:avLst>
              <a:gd name="adj" fmla="val 7409"/>
            </a:avLst>
          </a:prstGeom>
          <a:solidFill>
            <a:srgbClr val="E6EAEB"/>
          </a:solidFill>
          <a:ln w="9525">
            <a:solidFill>
              <a:srgbClr val="D5DBD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796826" y="4925764"/>
            <a:ext cx="246075" cy="2894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80"/>
              </a:lnSpc>
              <a:buNone/>
            </a:pPr>
            <a:r>
              <a:rPr lang="en-US" sz="1900" b="1" dirty="0">
                <a:solidFill>
                  <a:srgbClr val="B05B3B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5</a:t>
            </a:r>
            <a:endParaRPr lang="en-US" sz="1900" dirty="0"/>
          </a:p>
        </p:txBody>
      </p:sp>
      <p:sp>
        <p:nvSpPr>
          <p:cNvPr id="27" name="Text 25"/>
          <p:cNvSpPr/>
          <p:nvPr/>
        </p:nvSpPr>
        <p:spPr>
          <a:xfrm>
            <a:off x="1203127" y="4925764"/>
            <a:ext cx="3031236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800" b="1" dirty="0">
                <a:solidFill>
                  <a:srgbClr val="262B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屏幕上哪两个词是一个意思？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1203127" y="5319415"/>
            <a:ext cx="3031236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00"/>
              </a:spcBef>
              <a:buNone/>
            </a:pPr>
            <a:r>
              <a:rPr lang="en-US" sz="1500" b="1" dirty="0">
                <a:solidFill>
                  <a:srgbClr val="3D5A73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点名回答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609600" y="5760690"/>
            <a:ext cx="111922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spcBef>
                <a:spcPts val="600"/>
              </a:spcBef>
              <a:buNone/>
            </a:pPr>
            <a:r>
              <a:rPr lang="en-US" sz="1200" dirty="0">
                <a:solidFill>
                  <a:srgbClr val="6E778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答案不上屏——老师现场收（白板／点名）。</a:t>
            </a:r>
            <a:endParaRPr lang="en-US" sz="1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2F4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542925"/>
          </a:xfrm>
          <a:prstGeom prst="rect">
            <a:avLst/>
          </a:prstGeom>
          <a:solidFill>
            <a:srgbClr val="F2F4F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538163"/>
            <a:ext cx="12192000" cy="0"/>
          </a:xfrm>
          <a:prstGeom prst="line">
            <a:avLst/>
          </a:prstGeom>
          <a:noFill/>
          <a:ln w="9525">
            <a:solidFill>
              <a:srgbClr val="D5DBD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7950" y="176213"/>
            <a:ext cx="1371404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B05B3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10–20 MIN · I DO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2137916" y="166688"/>
            <a:ext cx="1442904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4B545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课文一 · p.122 · 楼上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213604" y="176213"/>
            <a:ext cx="479855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6E778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17 / 26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7950" y="0"/>
            <a:ext cx="11176099" cy="31700"/>
          </a:xfrm>
          <a:prstGeom prst="rect">
            <a:avLst/>
          </a:prstGeom>
          <a:solidFill>
            <a:srgbClr val="3D5A7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09600" y="2064395"/>
            <a:ext cx="1119225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B05B3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课文一 · 楼上这半句 · CD 61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09600" y="2264420"/>
            <a:ext cx="10972800" cy="1139726"/>
          </a:xfrm>
          <a:prstGeom prst="roundRect">
            <a:avLst>
              <a:gd name="adj" fmla="val 10029"/>
            </a:avLst>
          </a:prstGeom>
          <a:solidFill>
            <a:srgbClr val="D8DEE0"/>
          </a:solidFill>
          <a:ln w="19050">
            <a:solidFill>
              <a:srgbClr val="8F6C12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958751" y="2588270"/>
            <a:ext cx="10479988" cy="4920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875"/>
              </a:lnSpc>
              <a:buNone/>
            </a:pPr>
            <a:r>
              <a:rPr lang="en-US" sz="2500" b="1" dirty="0">
                <a:solidFill>
                  <a:srgbClr val="262B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楼上有三间卧室、一个书房和一个浴室(洗澡间)。</a:t>
            </a:r>
            <a:endParaRPr lang="en-US" sz="2500" dirty="0"/>
          </a:p>
        </p:txBody>
      </p:sp>
      <p:sp>
        <p:nvSpPr>
          <p:cNvPr id="11" name="Text 9"/>
          <p:cNvSpPr/>
          <p:nvPr/>
        </p:nvSpPr>
        <p:spPr>
          <a:xfrm>
            <a:off x="609600" y="3556546"/>
            <a:ext cx="10972800" cy="1262360"/>
          </a:xfrm>
          <a:prstGeom prst="roundRect">
            <a:avLst>
              <a:gd name="adj" fmla="val 9054"/>
            </a:avLst>
          </a:prstGeom>
          <a:solidFill>
            <a:srgbClr val="E6EAEB"/>
          </a:solidFill>
          <a:ln w="19050">
            <a:solidFill>
              <a:srgbClr val="B8C1C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933450" y="3804196"/>
            <a:ext cx="10531602" cy="345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20"/>
              </a:lnSpc>
              <a:buNone/>
            </a:pPr>
            <a:r>
              <a:rPr lang="en-US" sz="1700" b="1" dirty="0">
                <a:solidFill>
                  <a:srgbClr val="B05B3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用中文回答</a:t>
            </a:r>
            <a:r>
              <a:rPr lang="en-US" sz="1700" dirty="0">
                <a:solidFill>
                  <a:srgbClr val="262B3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· 楼上有几间卧室？ 楼上有书房吗？ 浴室在楼上还是楼下？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933450" y="4225826"/>
            <a:ext cx="10531602" cy="345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20"/>
              </a:lnSpc>
              <a:spcBef>
                <a:spcPts val="600"/>
              </a:spcBef>
              <a:buNone/>
            </a:pPr>
            <a:r>
              <a:rPr lang="en-US" sz="1700" dirty="0">
                <a:solidFill>
                  <a:srgbClr val="262B3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先听，再一起读。读第二遍的时候把拼音关掉。</a:t>
            </a:r>
            <a:endParaRPr lang="en-US" sz="17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2F4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542925"/>
          </a:xfrm>
          <a:prstGeom prst="rect">
            <a:avLst/>
          </a:prstGeom>
          <a:solidFill>
            <a:srgbClr val="F2F4F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538163"/>
            <a:ext cx="12192000" cy="0"/>
          </a:xfrm>
          <a:prstGeom prst="line">
            <a:avLst/>
          </a:prstGeom>
          <a:noFill/>
          <a:ln w="9525">
            <a:solidFill>
              <a:srgbClr val="D5DBD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7950" y="176213"/>
            <a:ext cx="2644893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B05B3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20–43 MIN · FLEXIBLE PRACTICE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386435" y="166688"/>
            <a:ext cx="186401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4B545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词汇总览 · stays on screen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207502" y="176213"/>
            <a:ext cx="486079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6E778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18 / 26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7950" y="0"/>
            <a:ext cx="11176099" cy="31700"/>
          </a:xfrm>
          <a:prstGeom prst="rect">
            <a:avLst/>
          </a:prstGeom>
          <a:solidFill>
            <a:srgbClr val="3D5A7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09600" y="1017984"/>
            <a:ext cx="1119225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B05B3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词汇总览 · 这一课的生词 · STAYS UP WHILE YOU WORK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09600" y="1319510"/>
            <a:ext cx="3539133" cy="2006352"/>
          </a:xfrm>
          <a:prstGeom prst="roundRect">
            <a:avLst>
              <a:gd name="adj" fmla="val 5697"/>
            </a:avLst>
          </a:prstGeom>
          <a:solidFill>
            <a:srgbClr val="E6EAEB"/>
          </a:solidFill>
          <a:ln w="9525">
            <a:solidFill>
              <a:srgbClr val="D5DBD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10" name="Image 0" descr="/var/folders/6c/210dcgxn4gz5sm71vld2cy1h0000gn/T/tmp.nSlWb7DT2s/img/woshi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58417" y="1455986"/>
            <a:ext cx="1041350" cy="104135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960066" y="2598837"/>
            <a:ext cx="854964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300" b="1" dirty="0">
                <a:solidFill>
                  <a:srgbClr val="262B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卧室</a:t>
            </a:r>
            <a:endParaRPr lang="en-US" sz="3300" dirty="0"/>
          </a:p>
        </p:txBody>
      </p:sp>
      <p:sp>
        <p:nvSpPr>
          <p:cNvPr id="12" name="Text 9"/>
          <p:cNvSpPr/>
          <p:nvPr/>
        </p:nvSpPr>
        <p:spPr>
          <a:xfrm>
            <a:off x="4326434" y="1319510"/>
            <a:ext cx="3539133" cy="2006352"/>
          </a:xfrm>
          <a:prstGeom prst="roundRect">
            <a:avLst>
              <a:gd name="adj" fmla="val 5697"/>
            </a:avLst>
          </a:prstGeom>
          <a:solidFill>
            <a:srgbClr val="E6EAEB"/>
          </a:solidFill>
          <a:ln w="9525">
            <a:solidFill>
              <a:srgbClr val="D5DBD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13" name="Image 1" descr="/var/folders/6c/210dcgxn4gz5sm71vld2cy1h0000gn/T/tmp.nSlWb7DT2s/img/shufang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75250" y="1455986"/>
            <a:ext cx="1041350" cy="104135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5676900" y="2598837"/>
            <a:ext cx="854964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300" b="1" dirty="0">
                <a:solidFill>
                  <a:srgbClr val="262B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书房</a:t>
            </a:r>
            <a:endParaRPr lang="en-US" sz="3300" dirty="0"/>
          </a:p>
        </p:txBody>
      </p:sp>
      <p:sp>
        <p:nvSpPr>
          <p:cNvPr id="15" name="Text 11"/>
          <p:cNvSpPr/>
          <p:nvPr/>
        </p:nvSpPr>
        <p:spPr>
          <a:xfrm>
            <a:off x="8043267" y="1319510"/>
            <a:ext cx="3539133" cy="2006352"/>
          </a:xfrm>
          <a:prstGeom prst="roundRect">
            <a:avLst>
              <a:gd name="adj" fmla="val 5697"/>
            </a:avLst>
          </a:prstGeom>
          <a:solidFill>
            <a:srgbClr val="E6EAEB"/>
          </a:solidFill>
          <a:ln w="9525">
            <a:solidFill>
              <a:srgbClr val="D5DBD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16" name="Image 2" descr="/var/folders/6c/210dcgxn4gz5sm71vld2cy1h0000gn/T/tmp.nSlWb7DT2s/img/yushi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92084" y="1455986"/>
            <a:ext cx="1041350" cy="104135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9393734" y="2598837"/>
            <a:ext cx="854964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300" b="1" dirty="0">
                <a:solidFill>
                  <a:srgbClr val="262B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浴室</a:t>
            </a:r>
            <a:endParaRPr lang="en-US" sz="3300" dirty="0"/>
          </a:p>
        </p:txBody>
      </p:sp>
      <p:sp>
        <p:nvSpPr>
          <p:cNvPr id="18" name="Text 13"/>
          <p:cNvSpPr/>
          <p:nvPr/>
        </p:nvSpPr>
        <p:spPr>
          <a:xfrm>
            <a:off x="609600" y="3503563"/>
            <a:ext cx="3539133" cy="2006352"/>
          </a:xfrm>
          <a:prstGeom prst="roundRect">
            <a:avLst>
              <a:gd name="adj" fmla="val 5697"/>
            </a:avLst>
          </a:prstGeom>
          <a:solidFill>
            <a:srgbClr val="E6EAEB"/>
          </a:solidFill>
          <a:ln w="9525">
            <a:solidFill>
              <a:srgbClr val="D5DBD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19" name="Image 3" descr="/var/folders/6c/210dcgxn4gz5sm71vld2cy1h0000gn/T/tmp.nSlWb7DT2s/img/xizao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58417" y="3640038"/>
            <a:ext cx="1041350" cy="1041350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1960066" y="4782889"/>
            <a:ext cx="854964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300" b="1" dirty="0">
                <a:solidFill>
                  <a:srgbClr val="262B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洗澡</a:t>
            </a:r>
            <a:endParaRPr lang="en-US" sz="3300" dirty="0"/>
          </a:p>
        </p:txBody>
      </p:sp>
      <p:sp>
        <p:nvSpPr>
          <p:cNvPr id="21" name="Text 15"/>
          <p:cNvSpPr/>
          <p:nvPr/>
        </p:nvSpPr>
        <p:spPr>
          <a:xfrm>
            <a:off x="609600" y="5636865"/>
            <a:ext cx="111922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spcBef>
                <a:spcPts val="1000"/>
              </a:spcBef>
              <a:buNone/>
            </a:pPr>
            <a:r>
              <a:rPr lang="en-US" sz="1200" dirty="0">
                <a:solidFill>
                  <a:srgbClr val="6E778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这一页留在屏幕上——听力、画图、游戏都看它。</a:t>
            </a:r>
            <a:endParaRPr lang="en-US" sz="12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2F4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542925"/>
          </a:xfrm>
          <a:prstGeom prst="rect">
            <a:avLst/>
          </a:prstGeom>
          <a:solidFill>
            <a:srgbClr val="F2F4F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538163"/>
            <a:ext cx="12192000" cy="0"/>
          </a:xfrm>
          <a:prstGeom prst="line">
            <a:avLst/>
          </a:prstGeom>
          <a:noFill/>
          <a:ln w="9525">
            <a:solidFill>
              <a:srgbClr val="D5DBD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7950" y="176213"/>
            <a:ext cx="2644893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B05B3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20–43 MIN · FLEXIBLE PRACTICE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386435" y="166688"/>
            <a:ext cx="2291947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4B545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活动一 · We Do · 9 分钟 · CD 63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206907" y="176213"/>
            <a:ext cx="486686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6E778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19 / 26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7950" y="0"/>
            <a:ext cx="11176099" cy="31700"/>
          </a:xfrm>
          <a:prstGeom prst="rect">
            <a:avLst/>
          </a:prstGeom>
          <a:solidFill>
            <a:srgbClr val="3D5A7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09600" y="2312343"/>
            <a:ext cx="1119225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B05B3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活动一 · 听一听，画出来 · 课本 P.125 第 4 题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09600" y="2512368"/>
            <a:ext cx="10972800" cy="2058591"/>
          </a:xfrm>
          <a:prstGeom prst="roundRect">
            <a:avLst>
              <a:gd name="adj" fmla="val 5552"/>
            </a:avLst>
          </a:prstGeom>
          <a:solidFill>
            <a:srgbClr val="E6EAEB"/>
          </a:solidFill>
          <a:ln w="19050">
            <a:solidFill>
              <a:srgbClr val="B8C1C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933450" y="2760018"/>
            <a:ext cx="10531602" cy="345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20"/>
              </a:lnSpc>
              <a:buNone/>
            </a:pPr>
            <a:r>
              <a:rPr lang="en-US" sz="1700" b="1" dirty="0">
                <a:solidFill>
                  <a:srgbClr val="B05B3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第一遍</a:t>
            </a:r>
            <a:r>
              <a:rPr lang="en-US" sz="1700" dirty="0">
                <a:solidFill>
                  <a:srgbClr val="262B3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只在课本 p.125 上打勾，不要画。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933450" y="3105448"/>
            <a:ext cx="10531602" cy="345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20"/>
              </a:lnSpc>
              <a:buNone/>
            </a:pPr>
            <a:r>
              <a:rPr lang="en-US" sz="1700" b="1" dirty="0">
                <a:solidFill>
                  <a:srgbClr val="B05B3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第二遍</a:t>
            </a:r>
            <a:r>
              <a:rPr lang="en-US" sz="1700" dirty="0">
                <a:solidFill>
                  <a:srgbClr val="262B3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发格子纸，第一段话画左边，第二段画右边，房间名用汉字写。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933450" y="3450878"/>
            <a:ext cx="10531602" cy="345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20"/>
              </a:lnSpc>
              <a:buNone/>
            </a:pPr>
            <a:r>
              <a:rPr lang="en-US" sz="1700" b="1" dirty="0">
                <a:solidFill>
                  <a:srgbClr val="B05B3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第三遍</a:t>
            </a:r>
            <a:r>
              <a:rPr lang="en-US" sz="1700" dirty="0">
                <a:solidFill>
                  <a:srgbClr val="262B3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老师自己念一个新的，你们画。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933450" y="3923258"/>
            <a:ext cx="10531602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50"/>
              </a:lnSpc>
              <a:spcBef>
                <a:spcPts val="1000"/>
              </a:spcBef>
              <a:buNone/>
            </a:pPr>
            <a:r>
              <a:rPr lang="en-US" sz="2100" b="1" dirty="0">
                <a:solidFill>
                  <a:srgbClr val="262B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这套房子有两层。楼上有四间卧室、一个书房和两个浴室。楼下有一间卧室。</a:t>
            </a:r>
            <a:endParaRPr lang="en-US" sz="21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2F4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542925"/>
          </a:xfrm>
          <a:prstGeom prst="rect">
            <a:avLst/>
          </a:prstGeom>
          <a:solidFill>
            <a:srgbClr val="F2F4F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538163"/>
            <a:ext cx="12192000" cy="0"/>
          </a:xfrm>
          <a:prstGeom prst="line">
            <a:avLst/>
          </a:prstGeom>
          <a:noFill/>
          <a:ln w="9525">
            <a:solidFill>
              <a:srgbClr val="D5DBD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7950" y="176213"/>
            <a:ext cx="2644893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B05B3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20–43 MIN · FLEXIBLE PRACTICE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386435" y="166688"/>
            <a:ext cx="1702945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4B545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听力 · 课本 p.125 第 4 题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183392" y="176213"/>
            <a:ext cx="510671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6E778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20 / 26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7950" y="0"/>
            <a:ext cx="11176099" cy="31700"/>
          </a:xfrm>
          <a:prstGeom prst="rect">
            <a:avLst/>
          </a:prstGeom>
          <a:solidFill>
            <a:srgbClr val="3D5A7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09600" y="1745903"/>
            <a:ext cx="1119225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B05B3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听一听，选一个 · CD 63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09600" y="1945928"/>
            <a:ext cx="5397550" cy="877639"/>
          </a:xfrm>
          <a:prstGeom prst="roundRect">
            <a:avLst>
              <a:gd name="adj" fmla="val 7235"/>
            </a:avLst>
          </a:prstGeom>
          <a:solidFill>
            <a:srgbClr val="E6EAEB"/>
          </a:solidFill>
          <a:ln w="9525">
            <a:solidFill>
              <a:srgbClr val="D5DBD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784175" y="2069753"/>
            <a:ext cx="246075" cy="2894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80"/>
              </a:lnSpc>
              <a:buNone/>
            </a:pPr>
            <a:r>
              <a:rPr lang="en-US" sz="1900" b="1" dirty="0">
                <a:solidFill>
                  <a:srgbClr val="B05B3B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1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1190476" y="2069753"/>
            <a:ext cx="3095449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800" b="1" dirty="0">
                <a:solidFill>
                  <a:srgbClr val="262B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① A　几间卧室？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190476" y="2450753"/>
            <a:ext cx="3095449" cy="2489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60"/>
              </a:lnSpc>
              <a:spcBef>
                <a:spcPts val="300"/>
              </a:spcBef>
              <a:buNone/>
            </a:pPr>
            <a:r>
              <a:rPr lang="en-US" sz="1400" dirty="0">
                <a:solidFill>
                  <a:srgbClr val="262B3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a) 两间　b) 三间，没有书房　c) 一间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09600" y="2925068"/>
            <a:ext cx="5397550" cy="877639"/>
          </a:xfrm>
          <a:prstGeom prst="roundRect">
            <a:avLst>
              <a:gd name="adj" fmla="val 7235"/>
            </a:avLst>
          </a:prstGeom>
          <a:solidFill>
            <a:srgbClr val="E6EAEB"/>
          </a:solidFill>
          <a:ln w="9525">
            <a:solidFill>
              <a:srgbClr val="D5DBD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784175" y="3048893"/>
            <a:ext cx="246075" cy="2894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80"/>
              </a:lnSpc>
              <a:buNone/>
            </a:pPr>
            <a:r>
              <a:rPr lang="en-US" sz="1900" b="1" dirty="0">
                <a:solidFill>
                  <a:srgbClr val="B05B3B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2</a:t>
            </a:r>
            <a:endParaRPr lang="en-US" sz="1900" dirty="0"/>
          </a:p>
        </p:txBody>
      </p:sp>
      <p:sp>
        <p:nvSpPr>
          <p:cNvPr id="15" name="Text 13"/>
          <p:cNvSpPr/>
          <p:nvPr/>
        </p:nvSpPr>
        <p:spPr>
          <a:xfrm>
            <a:off x="1190476" y="3048893"/>
            <a:ext cx="4388522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800" b="1" dirty="0">
                <a:solidFill>
                  <a:srgbClr val="262B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① B　几个浴室？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190476" y="3429893"/>
            <a:ext cx="4388522" cy="2489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60"/>
              </a:lnSpc>
              <a:spcBef>
                <a:spcPts val="300"/>
              </a:spcBef>
              <a:buNone/>
            </a:pPr>
            <a:r>
              <a:rPr lang="en-US" sz="1400" dirty="0">
                <a:solidFill>
                  <a:srgbClr val="262B3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a) 两个浴室，一个洗手间　b) 一个浴室　c) 三个浴室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09600" y="3904208"/>
            <a:ext cx="5397550" cy="877639"/>
          </a:xfrm>
          <a:prstGeom prst="roundRect">
            <a:avLst>
              <a:gd name="adj" fmla="val 7235"/>
            </a:avLst>
          </a:prstGeom>
          <a:solidFill>
            <a:srgbClr val="E6EAEB"/>
          </a:solidFill>
          <a:ln w="9525">
            <a:solidFill>
              <a:srgbClr val="D5DBD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784175" y="4028033"/>
            <a:ext cx="246075" cy="2894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80"/>
              </a:lnSpc>
              <a:buNone/>
            </a:pPr>
            <a:r>
              <a:rPr lang="en-US" sz="1900" b="1" dirty="0">
                <a:solidFill>
                  <a:srgbClr val="B05B3B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3</a:t>
            </a:r>
            <a:endParaRPr lang="en-US" sz="1900" dirty="0"/>
          </a:p>
        </p:txBody>
      </p:sp>
      <p:sp>
        <p:nvSpPr>
          <p:cNvPr id="19" name="Text 17"/>
          <p:cNvSpPr/>
          <p:nvPr/>
        </p:nvSpPr>
        <p:spPr>
          <a:xfrm>
            <a:off x="1190476" y="4028033"/>
            <a:ext cx="3280196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800" b="1" dirty="0">
                <a:solidFill>
                  <a:srgbClr val="262B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① C　客厅大不大？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1190476" y="4409033"/>
            <a:ext cx="3280196" cy="2489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60"/>
              </a:lnSpc>
              <a:spcBef>
                <a:spcPts val="300"/>
              </a:spcBef>
              <a:buNone/>
            </a:pPr>
            <a:r>
              <a:rPr lang="en-US" sz="1400" dirty="0">
                <a:solidFill>
                  <a:srgbClr val="262B3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a) 特别大　b) 餐厅很大　c) 不大也不小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184850" y="1945928"/>
            <a:ext cx="5397550" cy="877639"/>
          </a:xfrm>
          <a:prstGeom prst="roundRect">
            <a:avLst>
              <a:gd name="adj" fmla="val 7235"/>
            </a:avLst>
          </a:prstGeom>
          <a:solidFill>
            <a:srgbClr val="E6EAEB"/>
          </a:solidFill>
          <a:ln w="9525">
            <a:solidFill>
              <a:srgbClr val="D5DBD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6359426" y="2069753"/>
            <a:ext cx="246075" cy="2894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80"/>
              </a:lnSpc>
              <a:buNone/>
            </a:pPr>
            <a:r>
              <a:rPr lang="en-US" sz="1900" b="1" dirty="0">
                <a:solidFill>
                  <a:srgbClr val="B05B3B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4</a:t>
            </a:r>
            <a:endParaRPr lang="en-US" sz="1900" dirty="0"/>
          </a:p>
        </p:txBody>
      </p:sp>
      <p:sp>
        <p:nvSpPr>
          <p:cNvPr id="23" name="Text 21"/>
          <p:cNvSpPr/>
          <p:nvPr/>
        </p:nvSpPr>
        <p:spPr>
          <a:xfrm>
            <a:off x="6765727" y="2069753"/>
            <a:ext cx="2171718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800" b="1" dirty="0">
                <a:solidFill>
                  <a:srgbClr val="262B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② A　几间卧室？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6765727" y="2450753"/>
            <a:ext cx="2171718" cy="2489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60"/>
              </a:lnSpc>
              <a:spcBef>
                <a:spcPts val="300"/>
              </a:spcBef>
              <a:buNone/>
            </a:pPr>
            <a:r>
              <a:rPr lang="en-US" sz="1400" dirty="0">
                <a:solidFill>
                  <a:srgbClr val="262B3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a) 四间　b) 五间　c) 三间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6184850" y="2925068"/>
            <a:ext cx="5397550" cy="877639"/>
          </a:xfrm>
          <a:prstGeom prst="roundRect">
            <a:avLst>
              <a:gd name="adj" fmla="val 7235"/>
            </a:avLst>
          </a:prstGeom>
          <a:solidFill>
            <a:srgbClr val="E6EAEB"/>
          </a:solidFill>
          <a:ln w="9525">
            <a:solidFill>
              <a:srgbClr val="D5DBD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6359426" y="3048893"/>
            <a:ext cx="246075" cy="2894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80"/>
              </a:lnSpc>
              <a:buNone/>
            </a:pPr>
            <a:r>
              <a:rPr lang="en-US" sz="1900" b="1" dirty="0">
                <a:solidFill>
                  <a:srgbClr val="B05B3B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5</a:t>
            </a:r>
            <a:endParaRPr lang="en-US" sz="1900" dirty="0"/>
          </a:p>
        </p:txBody>
      </p:sp>
      <p:sp>
        <p:nvSpPr>
          <p:cNvPr id="27" name="Text 25"/>
          <p:cNvSpPr/>
          <p:nvPr/>
        </p:nvSpPr>
        <p:spPr>
          <a:xfrm>
            <a:off x="6765727" y="3048893"/>
            <a:ext cx="3649688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800" b="1" dirty="0">
                <a:solidFill>
                  <a:srgbClr val="262B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② B　几个浴室？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6765727" y="3429893"/>
            <a:ext cx="3649688" cy="2489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60"/>
              </a:lnSpc>
              <a:spcBef>
                <a:spcPts val="300"/>
              </a:spcBef>
              <a:buNone/>
            </a:pPr>
            <a:r>
              <a:rPr lang="en-US" sz="1400" dirty="0">
                <a:solidFill>
                  <a:srgbClr val="262B3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a) 四个　b) 三个　c) 两个浴室，两个洗手间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6184850" y="3904208"/>
            <a:ext cx="5397550" cy="877639"/>
          </a:xfrm>
          <a:prstGeom prst="roundRect">
            <a:avLst>
              <a:gd name="adj" fmla="val 7235"/>
            </a:avLst>
          </a:prstGeom>
          <a:solidFill>
            <a:srgbClr val="E6EAEB"/>
          </a:solidFill>
          <a:ln w="9525">
            <a:solidFill>
              <a:srgbClr val="D5DBD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Text 28"/>
          <p:cNvSpPr/>
          <p:nvPr/>
        </p:nvSpPr>
        <p:spPr>
          <a:xfrm>
            <a:off x="6359426" y="4028033"/>
            <a:ext cx="246075" cy="2894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80"/>
              </a:lnSpc>
              <a:buNone/>
            </a:pPr>
            <a:r>
              <a:rPr lang="en-US" sz="1900" b="1" dirty="0">
                <a:solidFill>
                  <a:srgbClr val="B05B3B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6</a:t>
            </a:r>
            <a:endParaRPr lang="en-US" sz="1900" dirty="0"/>
          </a:p>
        </p:txBody>
      </p:sp>
      <p:sp>
        <p:nvSpPr>
          <p:cNvPr id="31" name="Text 29"/>
          <p:cNvSpPr/>
          <p:nvPr/>
        </p:nvSpPr>
        <p:spPr>
          <a:xfrm>
            <a:off x="6765727" y="4028033"/>
            <a:ext cx="383443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800" b="1" dirty="0">
                <a:solidFill>
                  <a:srgbClr val="262B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② C　客厅怎么样？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6765727" y="4409033"/>
            <a:ext cx="3834435" cy="2489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60"/>
              </a:lnSpc>
              <a:spcBef>
                <a:spcPts val="300"/>
              </a:spcBef>
              <a:buNone/>
            </a:pPr>
            <a:r>
              <a:rPr lang="en-US" sz="1400" dirty="0">
                <a:solidFill>
                  <a:srgbClr val="262B3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a) 卧室不算大　b) 客厅特别大　c) 客厅不算小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609600" y="4908798"/>
            <a:ext cx="111922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spcBef>
                <a:spcPts val="1000"/>
              </a:spcBef>
              <a:buNone/>
            </a:pPr>
            <a:r>
              <a:rPr lang="en-US" sz="1200" dirty="0">
                <a:solidFill>
                  <a:srgbClr val="6E778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「洗手间」「客厅」「餐厅」是下节课的词——今天只要听出数字和「间／个」。</a:t>
            </a:r>
            <a:endParaRPr lang="en-US" sz="12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2F4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542925"/>
          </a:xfrm>
          <a:prstGeom prst="rect">
            <a:avLst/>
          </a:prstGeom>
          <a:solidFill>
            <a:srgbClr val="F2F4F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538163"/>
            <a:ext cx="12192000" cy="0"/>
          </a:xfrm>
          <a:prstGeom prst="line">
            <a:avLst/>
          </a:prstGeom>
          <a:noFill/>
          <a:ln w="9525">
            <a:solidFill>
              <a:srgbClr val="D5DBD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7950" y="176213"/>
            <a:ext cx="2644893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B05B3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20–43 MIN · FLEXIBLE PRACTICE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386435" y="166688"/>
            <a:ext cx="129626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4B545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活动一 · Extension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207800" y="176213"/>
            <a:ext cx="485775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6E778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21 / 26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7950" y="0"/>
            <a:ext cx="11176099" cy="31700"/>
          </a:xfrm>
          <a:prstGeom prst="rect">
            <a:avLst/>
          </a:prstGeom>
          <a:solidFill>
            <a:srgbClr val="3D5A7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09600" y="2209502"/>
            <a:ext cx="1119225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B05B3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活动一 · 加难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09600" y="2409527"/>
            <a:ext cx="10972800" cy="840730"/>
          </a:xfrm>
          <a:prstGeom prst="roundRect">
            <a:avLst>
              <a:gd name="adj" fmla="val 13595"/>
            </a:avLst>
          </a:prstGeom>
          <a:solidFill>
            <a:srgbClr val="E6EAEB"/>
          </a:solidFill>
          <a:ln w="19050">
            <a:solidFill>
              <a:srgbClr val="B8C1C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933450" y="2657177"/>
            <a:ext cx="10531602" cy="345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20"/>
              </a:lnSpc>
              <a:buNone/>
            </a:pPr>
            <a:r>
              <a:rPr lang="en-US" sz="1700" dirty="0">
                <a:solidFill>
                  <a:srgbClr val="262B3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不要画——把第一段话一个字一个字写下来。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609600" y="3427958"/>
            <a:ext cx="10972800" cy="1245989"/>
          </a:xfrm>
          <a:prstGeom prst="roundRect">
            <a:avLst>
              <a:gd name="adj" fmla="val 5096"/>
            </a:avLst>
          </a:prstGeom>
          <a:solidFill>
            <a:srgbClr val="46684C">
              <a:alpha val="11000"/>
            </a:srgbClr>
          </a:solidFill>
          <a:ln w="19050">
            <a:solidFill>
              <a:srgbClr val="46684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857250" y="3624709"/>
            <a:ext cx="1068705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1100" b="1" dirty="0">
                <a:solidFill>
                  <a:srgbClr val="4668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EXTENSION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857250" y="3888135"/>
            <a:ext cx="10687050" cy="5890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20"/>
              </a:lnSpc>
              <a:buNone/>
            </a:pPr>
            <a:r>
              <a:rPr lang="en-US" sz="1600" dirty="0">
                <a:solidFill>
                  <a:srgbClr val="262B3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写完以后用中文回答：为什么说话的人说「你可以用一间做书房」，而不是「我家有书房」？ 然后自己写第四段房子介绍，四个小句，今天的词全要用上，再加上节课的两个，给同桌画。</a:t>
            </a:r>
            <a:endParaRPr lang="en-US" sz="16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2F4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542925"/>
          </a:xfrm>
          <a:prstGeom prst="rect">
            <a:avLst/>
          </a:prstGeom>
          <a:solidFill>
            <a:srgbClr val="F2F4F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538163"/>
            <a:ext cx="12192000" cy="0"/>
          </a:xfrm>
          <a:prstGeom prst="line">
            <a:avLst/>
          </a:prstGeom>
          <a:noFill/>
          <a:ln w="9525">
            <a:solidFill>
              <a:srgbClr val="D5DBD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7950" y="180975"/>
            <a:ext cx="238637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B05B3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20–43 MIN · FLEXIBLE PRACTICE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132981" y="166688"/>
            <a:ext cx="1536719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4B545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活动二 · You Do · 9 分钟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244709" y="180975"/>
            <a:ext cx="448127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6E778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22 / 26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7950" y="0"/>
            <a:ext cx="11176099" cy="31700"/>
          </a:xfrm>
          <a:prstGeom prst="rect">
            <a:avLst/>
          </a:prstGeom>
          <a:solidFill>
            <a:srgbClr val="3D5A7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09600" y="1605260"/>
            <a:ext cx="1119225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B05B3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活动二 · 两人一组 · 一个人说，一个人画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09600" y="1805285"/>
            <a:ext cx="10972800" cy="2058591"/>
          </a:xfrm>
          <a:prstGeom prst="roundRect">
            <a:avLst>
              <a:gd name="adj" fmla="val 5552"/>
            </a:avLst>
          </a:prstGeom>
          <a:solidFill>
            <a:srgbClr val="E6EAEB"/>
          </a:solidFill>
          <a:ln w="19050">
            <a:solidFill>
              <a:srgbClr val="B8C1C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933450" y="2052935"/>
            <a:ext cx="10531602" cy="345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20"/>
              </a:lnSpc>
              <a:buNone/>
            </a:pPr>
            <a:r>
              <a:rPr lang="en-US" sz="1700" dirty="0">
                <a:solidFill>
                  <a:srgbClr val="262B3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每人在第二张格子纸上设计楼上，先不要给同桌看。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933450" y="2398365"/>
            <a:ext cx="10531602" cy="345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20"/>
              </a:lnSpc>
              <a:buNone/>
            </a:pPr>
            <a:r>
              <a:rPr lang="en-US" sz="1700" dirty="0">
                <a:solidFill>
                  <a:srgbClr val="262B3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中间隔一本书。A 说，B 画，画完对一对。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933450" y="2743795"/>
            <a:ext cx="10531602" cy="345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20"/>
              </a:lnSpc>
              <a:buNone/>
            </a:pPr>
            <a:r>
              <a:rPr lang="en-US" sz="1700" dirty="0">
                <a:solidFill>
                  <a:srgbClr val="262B3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然后交换，再来一次。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933450" y="3216176"/>
            <a:ext cx="10531602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50"/>
              </a:lnSpc>
              <a:spcBef>
                <a:spcPts val="1000"/>
              </a:spcBef>
              <a:buNone/>
            </a:pPr>
            <a:r>
              <a:rPr lang="en-US" sz="2100" b="1" dirty="0">
                <a:solidFill>
                  <a:srgbClr val="262B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A：楼上有三间卧室。　B：（画）有书房吗？　A：有，书房在左边。</a:t>
            </a:r>
            <a:endParaRPr lang="en-US" sz="2100" dirty="0"/>
          </a:p>
        </p:txBody>
      </p:sp>
      <p:sp>
        <p:nvSpPr>
          <p:cNvPr id="14" name="Text 12"/>
          <p:cNvSpPr/>
          <p:nvPr/>
        </p:nvSpPr>
        <p:spPr>
          <a:xfrm>
            <a:off x="609600" y="4041577"/>
            <a:ext cx="10972800" cy="1236464"/>
          </a:xfrm>
          <a:prstGeom prst="roundRect">
            <a:avLst>
              <a:gd name="adj" fmla="val 5136"/>
            </a:avLst>
          </a:prstGeom>
          <a:solidFill>
            <a:srgbClr val="46684C">
              <a:alpha val="11000"/>
            </a:srgbClr>
          </a:solidFill>
          <a:ln w="19050">
            <a:solidFill>
              <a:srgbClr val="46684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857250" y="4238327"/>
            <a:ext cx="106870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1100" b="1" dirty="0">
                <a:solidFill>
                  <a:srgbClr val="4668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EXTENSION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857250" y="4492228"/>
            <a:ext cx="10687050" cy="5890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20"/>
              </a:lnSpc>
              <a:buNone/>
            </a:pPr>
            <a:r>
              <a:rPr lang="en-US" sz="1600" dirty="0">
                <a:solidFill>
                  <a:srgbClr val="262B3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B 不可以问「有没有」这样的问题，只能问 </a:t>
            </a:r>
            <a:r>
              <a:rPr lang="en-US" sz="1600" b="1" dirty="0">
                <a:solidFill>
                  <a:srgbClr val="4668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楼上有什么？</a:t>
            </a:r>
            <a:r>
              <a:rPr lang="en-US" sz="1600" dirty="0">
                <a:solidFill>
                  <a:srgbClr val="262B3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和 </a:t>
            </a:r>
            <a:r>
              <a:rPr lang="en-US" sz="1600" b="1" dirty="0">
                <a:solidFill>
                  <a:srgbClr val="4668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有几间？</a:t>
            </a:r>
            <a:r>
              <a:rPr lang="en-US" sz="1600" dirty="0">
                <a:solidFill>
                  <a:srgbClr val="262B3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——A 就必须自己说出完整的句子。交换以后，A 的房子里要有一个</a:t>
            </a:r>
            <a:r>
              <a:rPr lang="en-US" sz="1600" b="1" dirty="0">
                <a:solidFill>
                  <a:srgbClr val="4668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不在楼上</a:t>
            </a:r>
            <a:r>
              <a:rPr lang="en-US" sz="1600" dirty="0">
                <a:solidFill>
                  <a:srgbClr val="262B3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的房间。最后两个人都用第三人称写三句：</a:t>
            </a:r>
            <a:r>
              <a:rPr lang="en-US" sz="1600" b="1" dirty="0">
                <a:solidFill>
                  <a:srgbClr val="46684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他家的房子有两层，楼上有……</a:t>
            </a:r>
            <a:endParaRPr lang="en-US" sz="16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2F4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542925"/>
          </a:xfrm>
          <a:prstGeom prst="rect">
            <a:avLst/>
          </a:prstGeom>
          <a:solidFill>
            <a:srgbClr val="F2F4F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538163"/>
            <a:ext cx="12192000" cy="0"/>
          </a:xfrm>
          <a:prstGeom prst="line">
            <a:avLst/>
          </a:prstGeom>
          <a:noFill/>
          <a:ln w="9525">
            <a:solidFill>
              <a:srgbClr val="D5DBD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7950" y="176213"/>
            <a:ext cx="2644893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B05B3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20–43 MIN · FLEXIBLE PRACTICE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386435" y="166688"/>
            <a:ext cx="1500438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4B545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练习册 · p.147 第 8 题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183094" y="176213"/>
            <a:ext cx="510975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6E778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23 / 26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7950" y="0"/>
            <a:ext cx="11176099" cy="31700"/>
          </a:xfrm>
          <a:prstGeom prst="rect">
            <a:avLst/>
          </a:prstGeom>
          <a:solidFill>
            <a:srgbClr val="3D5A7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09600" y="2485132"/>
            <a:ext cx="1119225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B05B3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练习册 P.147 · 词语接龙 · 三分钟，能写几个写几个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09600" y="2685157"/>
            <a:ext cx="10972800" cy="1713161"/>
          </a:xfrm>
          <a:prstGeom prst="roundRect">
            <a:avLst>
              <a:gd name="adj" fmla="val 6672"/>
            </a:avLst>
          </a:prstGeom>
          <a:solidFill>
            <a:srgbClr val="E6EAEB"/>
          </a:solidFill>
          <a:ln w="19050">
            <a:solidFill>
              <a:srgbClr val="B8C1C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933450" y="2932807"/>
            <a:ext cx="10531602" cy="345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20"/>
              </a:lnSpc>
              <a:buNone/>
            </a:pPr>
            <a:r>
              <a:rPr lang="en-US" sz="1700" dirty="0">
                <a:solidFill>
                  <a:srgbClr val="262B3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上一个词的最后一个字，就是下一个词的第一个字。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933450" y="3278237"/>
            <a:ext cx="10531602" cy="345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20"/>
              </a:lnSpc>
              <a:buNone/>
            </a:pPr>
            <a:r>
              <a:rPr lang="en-US" sz="1700" dirty="0">
                <a:solidFill>
                  <a:srgbClr val="262B3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十八条，不用写完——写得越多越好。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933450" y="3750618"/>
            <a:ext cx="10531602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50"/>
              </a:lnSpc>
              <a:spcBef>
                <a:spcPts val="1000"/>
              </a:spcBef>
              <a:buNone/>
            </a:pPr>
            <a:r>
              <a:rPr lang="en-US" sz="2100" b="1" dirty="0">
                <a:solidFill>
                  <a:srgbClr val="262B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客房 → 房子　·　炒面 → ________　·　中餐 → ________　·　非常 → ________</a:t>
            </a:r>
            <a:endParaRPr lang="en-US" sz="21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2F4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542925"/>
          </a:xfrm>
          <a:prstGeom prst="rect">
            <a:avLst/>
          </a:prstGeom>
          <a:solidFill>
            <a:srgbClr val="F2F4F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538163"/>
            <a:ext cx="12192000" cy="0"/>
          </a:xfrm>
          <a:prstGeom prst="line">
            <a:avLst/>
          </a:prstGeom>
          <a:noFill/>
          <a:ln w="9525">
            <a:solidFill>
              <a:srgbClr val="D5DBD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7950" y="176213"/>
            <a:ext cx="2644893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B05B3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20–43 MIN · FLEXIBLE PRACTICE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386435" y="166688"/>
            <a:ext cx="1909551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4B545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写汉字 · 练习册 pp.144–145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182499" y="176213"/>
            <a:ext cx="511582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6E778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24 / 26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7950" y="0"/>
            <a:ext cx="11176099" cy="31700"/>
          </a:xfrm>
          <a:prstGeom prst="rect">
            <a:avLst/>
          </a:prstGeom>
          <a:solidFill>
            <a:srgbClr val="3D5A7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09600" y="1179761"/>
            <a:ext cx="1119225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B05B3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笔顺 · 每个字写三遍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09600" y="1379786"/>
            <a:ext cx="10972800" cy="742950"/>
          </a:xfrm>
          <a:prstGeom prst="roundRect">
            <a:avLst>
              <a:gd name="adj" fmla="val 8547"/>
            </a:avLst>
          </a:prstGeom>
          <a:solidFill>
            <a:srgbClr val="E6EAEB"/>
          </a:solidFill>
          <a:ln w="9525">
            <a:solidFill>
              <a:srgbClr val="D5DBD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822275" y="1465511"/>
            <a:ext cx="569875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62B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卧</a:t>
            </a:r>
            <a:endParaRPr lang="en-US" sz="3200" dirty="0"/>
          </a:p>
        </p:txBody>
      </p:sp>
      <p:sp>
        <p:nvSpPr>
          <p:cNvPr id="11" name="Text 9"/>
          <p:cNvSpPr/>
          <p:nvPr/>
        </p:nvSpPr>
        <p:spPr>
          <a:xfrm>
            <a:off x="1609576" y="1617911"/>
            <a:ext cx="751281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8F6C1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8 画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2574727" y="1617911"/>
            <a:ext cx="2178094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4B545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左边「臣」，右边「卜」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9991874" y="1551236"/>
            <a:ext cx="400050" cy="400050"/>
          </a:xfrm>
          <a:prstGeom prst="roundRect">
            <a:avLst>
              <a:gd name="adj" fmla="val 6349"/>
            </a:avLst>
          </a:prstGeom>
          <a:solidFill>
            <a:srgbClr val="F2F4F4"/>
          </a:solidFill>
          <a:ln w="9525">
            <a:solidFill>
              <a:srgbClr val="B8C1C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10480774" y="1551236"/>
            <a:ext cx="400050" cy="400050"/>
          </a:xfrm>
          <a:prstGeom prst="roundRect">
            <a:avLst>
              <a:gd name="adj" fmla="val 6349"/>
            </a:avLst>
          </a:prstGeom>
          <a:solidFill>
            <a:srgbClr val="F2F4F4"/>
          </a:solidFill>
          <a:ln w="9525">
            <a:solidFill>
              <a:srgbClr val="B8C1C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10969675" y="1551236"/>
            <a:ext cx="400050" cy="400050"/>
          </a:xfrm>
          <a:prstGeom prst="roundRect">
            <a:avLst>
              <a:gd name="adj" fmla="val 6349"/>
            </a:avLst>
          </a:prstGeom>
          <a:solidFill>
            <a:srgbClr val="F2F4F4"/>
          </a:solidFill>
          <a:ln w="9525">
            <a:solidFill>
              <a:srgbClr val="B8C1C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609600" y="2186136"/>
            <a:ext cx="10972800" cy="742950"/>
          </a:xfrm>
          <a:prstGeom prst="roundRect">
            <a:avLst>
              <a:gd name="adj" fmla="val 8547"/>
            </a:avLst>
          </a:prstGeom>
          <a:solidFill>
            <a:srgbClr val="E6EAEB"/>
          </a:solidFill>
          <a:ln w="9525">
            <a:solidFill>
              <a:srgbClr val="D5DBD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822275" y="2271861"/>
            <a:ext cx="569875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62B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室</a:t>
            </a:r>
            <a:endParaRPr lang="en-US" sz="3200" dirty="0"/>
          </a:p>
        </p:txBody>
      </p:sp>
      <p:sp>
        <p:nvSpPr>
          <p:cNvPr id="18" name="Text 16"/>
          <p:cNvSpPr/>
          <p:nvPr/>
        </p:nvSpPr>
        <p:spPr>
          <a:xfrm>
            <a:off x="1609576" y="2424261"/>
            <a:ext cx="751281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8F6C1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9 画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2574727" y="2424261"/>
            <a:ext cx="178203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4B545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宝盖头，下面「至」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9991874" y="2357586"/>
            <a:ext cx="400050" cy="400050"/>
          </a:xfrm>
          <a:prstGeom prst="roundRect">
            <a:avLst>
              <a:gd name="adj" fmla="val 6349"/>
            </a:avLst>
          </a:prstGeom>
          <a:solidFill>
            <a:srgbClr val="F2F4F4"/>
          </a:solidFill>
          <a:ln w="9525">
            <a:solidFill>
              <a:srgbClr val="B8C1C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10480774" y="2357586"/>
            <a:ext cx="400050" cy="400050"/>
          </a:xfrm>
          <a:prstGeom prst="roundRect">
            <a:avLst>
              <a:gd name="adj" fmla="val 6349"/>
            </a:avLst>
          </a:prstGeom>
          <a:solidFill>
            <a:srgbClr val="F2F4F4"/>
          </a:solidFill>
          <a:ln w="9525">
            <a:solidFill>
              <a:srgbClr val="B8C1C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10969675" y="2357586"/>
            <a:ext cx="400050" cy="400050"/>
          </a:xfrm>
          <a:prstGeom prst="roundRect">
            <a:avLst>
              <a:gd name="adj" fmla="val 6349"/>
            </a:avLst>
          </a:prstGeom>
          <a:solidFill>
            <a:srgbClr val="F2F4F4"/>
          </a:solidFill>
          <a:ln w="9525">
            <a:solidFill>
              <a:srgbClr val="B8C1C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609600" y="2992487"/>
            <a:ext cx="10972800" cy="742950"/>
          </a:xfrm>
          <a:prstGeom prst="roundRect">
            <a:avLst>
              <a:gd name="adj" fmla="val 8547"/>
            </a:avLst>
          </a:prstGeom>
          <a:solidFill>
            <a:srgbClr val="E6EAEB"/>
          </a:solidFill>
          <a:ln w="9525">
            <a:solidFill>
              <a:srgbClr val="D5DBD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822275" y="3078212"/>
            <a:ext cx="569875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62B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浴</a:t>
            </a:r>
            <a:endParaRPr lang="en-US" sz="3200" dirty="0"/>
          </a:p>
        </p:txBody>
      </p:sp>
      <p:sp>
        <p:nvSpPr>
          <p:cNvPr id="25" name="Text 23"/>
          <p:cNvSpPr/>
          <p:nvPr/>
        </p:nvSpPr>
        <p:spPr>
          <a:xfrm>
            <a:off x="1609576" y="3230612"/>
            <a:ext cx="751281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8F6C1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10 画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2574727" y="3230612"/>
            <a:ext cx="99007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4B545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三点水在左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9991874" y="3163937"/>
            <a:ext cx="400050" cy="400050"/>
          </a:xfrm>
          <a:prstGeom prst="roundRect">
            <a:avLst>
              <a:gd name="adj" fmla="val 6349"/>
            </a:avLst>
          </a:prstGeom>
          <a:solidFill>
            <a:srgbClr val="F2F4F4"/>
          </a:solidFill>
          <a:ln w="9525">
            <a:solidFill>
              <a:srgbClr val="B8C1C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Text 26"/>
          <p:cNvSpPr/>
          <p:nvPr/>
        </p:nvSpPr>
        <p:spPr>
          <a:xfrm>
            <a:off x="10480774" y="3163937"/>
            <a:ext cx="400050" cy="400050"/>
          </a:xfrm>
          <a:prstGeom prst="roundRect">
            <a:avLst>
              <a:gd name="adj" fmla="val 6349"/>
            </a:avLst>
          </a:prstGeom>
          <a:solidFill>
            <a:srgbClr val="F2F4F4"/>
          </a:solidFill>
          <a:ln w="9525">
            <a:solidFill>
              <a:srgbClr val="B8C1C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Text 27"/>
          <p:cNvSpPr/>
          <p:nvPr/>
        </p:nvSpPr>
        <p:spPr>
          <a:xfrm>
            <a:off x="10969675" y="3163937"/>
            <a:ext cx="400050" cy="400050"/>
          </a:xfrm>
          <a:prstGeom prst="roundRect">
            <a:avLst>
              <a:gd name="adj" fmla="val 6349"/>
            </a:avLst>
          </a:prstGeom>
          <a:solidFill>
            <a:srgbClr val="F2F4F4"/>
          </a:solidFill>
          <a:ln w="9525">
            <a:solidFill>
              <a:srgbClr val="B8C1C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Text 28"/>
          <p:cNvSpPr/>
          <p:nvPr/>
        </p:nvSpPr>
        <p:spPr>
          <a:xfrm>
            <a:off x="609600" y="3798838"/>
            <a:ext cx="10972800" cy="742950"/>
          </a:xfrm>
          <a:prstGeom prst="roundRect">
            <a:avLst>
              <a:gd name="adj" fmla="val 8547"/>
            </a:avLst>
          </a:prstGeom>
          <a:solidFill>
            <a:srgbClr val="E6EAEB"/>
          </a:solidFill>
          <a:ln w="9525">
            <a:solidFill>
              <a:srgbClr val="D5DBD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1" name="Text 29"/>
          <p:cNvSpPr/>
          <p:nvPr/>
        </p:nvSpPr>
        <p:spPr>
          <a:xfrm>
            <a:off x="822275" y="3884563"/>
            <a:ext cx="569875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62B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洗</a:t>
            </a:r>
            <a:endParaRPr lang="en-US" sz="3200" dirty="0"/>
          </a:p>
        </p:txBody>
      </p:sp>
      <p:sp>
        <p:nvSpPr>
          <p:cNvPr id="32" name="Text 30"/>
          <p:cNvSpPr/>
          <p:nvPr/>
        </p:nvSpPr>
        <p:spPr>
          <a:xfrm>
            <a:off x="1609576" y="4036963"/>
            <a:ext cx="751281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8F6C1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9 画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2574727" y="4036963"/>
            <a:ext cx="1386129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4B545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三点水加「先」</a:t>
            </a:r>
            <a:endParaRPr lang="en-US" sz="1500" dirty="0"/>
          </a:p>
        </p:txBody>
      </p:sp>
      <p:sp>
        <p:nvSpPr>
          <p:cNvPr id="34" name="Text 32"/>
          <p:cNvSpPr/>
          <p:nvPr/>
        </p:nvSpPr>
        <p:spPr>
          <a:xfrm>
            <a:off x="9991874" y="3970288"/>
            <a:ext cx="400050" cy="400050"/>
          </a:xfrm>
          <a:prstGeom prst="roundRect">
            <a:avLst>
              <a:gd name="adj" fmla="val 6349"/>
            </a:avLst>
          </a:prstGeom>
          <a:solidFill>
            <a:srgbClr val="F2F4F4"/>
          </a:solidFill>
          <a:ln w="9525">
            <a:solidFill>
              <a:srgbClr val="B8C1C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5" name="Text 33"/>
          <p:cNvSpPr/>
          <p:nvPr/>
        </p:nvSpPr>
        <p:spPr>
          <a:xfrm>
            <a:off x="10480774" y="3970288"/>
            <a:ext cx="400050" cy="400050"/>
          </a:xfrm>
          <a:prstGeom prst="roundRect">
            <a:avLst>
              <a:gd name="adj" fmla="val 6349"/>
            </a:avLst>
          </a:prstGeom>
          <a:solidFill>
            <a:srgbClr val="F2F4F4"/>
          </a:solidFill>
          <a:ln w="9525">
            <a:solidFill>
              <a:srgbClr val="B8C1C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6" name="Text 34"/>
          <p:cNvSpPr/>
          <p:nvPr/>
        </p:nvSpPr>
        <p:spPr>
          <a:xfrm>
            <a:off x="10969675" y="3970288"/>
            <a:ext cx="400050" cy="400050"/>
          </a:xfrm>
          <a:prstGeom prst="roundRect">
            <a:avLst>
              <a:gd name="adj" fmla="val 6349"/>
            </a:avLst>
          </a:prstGeom>
          <a:solidFill>
            <a:srgbClr val="F2F4F4"/>
          </a:solidFill>
          <a:ln w="9525">
            <a:solidFill>
              <a:srgbClr val="B8C1C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7" name="Text 35"/>
          <p:cNvSpPr/>
          <p:nvPr/>
        </p:nvSpPr>
        <p:spPr>
          <a:xfrm>
            <a:off x="609600" y="4605189"/>
            <a:ext cx="10972800" cy="742950"/>
          </a:xfrm>
          <a:prstGeom prst="roundRect">
            <a:avLst>
              <a:gd name="adj" fmla="val 8547"/>
            </a:avLst>
          </a:prstGeom>
          <a:solidFill>
            <a:srgbClr val="E6EAEB"/>
          </a:solidFill>
          <a:ln w="9525">
            <a:solidFill>
              <a:srgbClr val="D5DBD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8" name="Text 36"/>
          <p:cNvSpPr/>
          <p:nvPr/>
        </p:nvSpPr>
        <p:spPr>
          <a:xfrm>
            <a:off x="822275" y="4690914"/>
            <a:ext cx="569875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62B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澡</a:t>
            </a:r>
            <a:endParaRPr lang="en-US" sz="3200" dirty="0"/>
          </a:p>
        </p:txBody>
      </p:sp>
      <p:sp>
        <p:nvSpPr>
          <p:cNvPr id="39" name="Text 37"/>
          <p:cNvSpPr/>
          <p:nvPr/>
        </p:nvSpPr>
        <p:spPr>
          <a:xfrm>
            <a:off x="1609576" y="4843314"/>
            <a:ext cx="751281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8F6C12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16 画</a:t>
            </a:r>
            <a:endParaRPr lang="en-US" sz="1500" dirty="0"/>
          </a:p>
        </p:txBody>
      </p:sp>
      <p:sp>
        <p:nvSpPr>
          <p:cNvPr id="40" name="Text 38"/>
          <p:cNvSpPr/>
          <p:nvPr/>
        </p:nvSpPr>
        <p:spPr>
          <a:xfrm>
            <a:off x="2574727" y="4843314"/>
            <a:ext cx="2376047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4B545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笔画最多的一个——慢慢写</a:t>
            </a:r>
            <a:endParaRPr lang="en-US" sz="1500" dirty="0"/>
          </a:p>
        </p:txBody>
      </p:sp>
      <p:sp>
        <p:nvSpPr>
          <p:cNvPr id="41" name="Text 39"/>
          <p:cNvSpPr/>
          <p:nvPr/>
        </p:nvSpPr>
        <p:spPr>
          <a:xfrm>
            <a:off x="9991874" y="4776639"/>
            <a:ext cx="400050" cy="400050"/>
          </a:xfrm>
          <a:prstGeom prst="roundRect">
            <a:avLst>
              <a:gd name="adj" fmla="val 6349"/>
            </a:avLst>
          </a:prstGeom>
          <a:solidFill>
            <a:srgbClr val="F2F4F4"/>
          </a:solidFill>
          <a:ln w="9525">
            <a:solidFill>
              <a:srgbClr val="B8C1C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2" name="Text 40"/>
          <p:cNvSpPr/>
          <p:nvPr/>
        </p:nvSpPr>
        <p:spPr>
          <a:xfrm>
            <a:off x="10480774" y="4776639"/>
            <a:ext cx="400050" cy="400050"/>
          </a:xfrm>
          <a:prstGeom prst="roundRect">
            <a:avLst>
              <a:gd name="adj" fmla="val 6349"/>
            </a:avLst>
          </a:prstGeom>
          <a:solidFill>
            <a:srgbClr val="F2F4F4"/>
          </a:solidFill>
          <a:ln w="9525">
            <a:solidFill>
              <a:srgbClr val="B8C1C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3" name="Text 41"/>
          <p:cNvSpPr/>
          <p:nvPr/>
        </p:nvSpPr>
        <p:spPr>
          <a:xfrm>
            <a:off x="10969675" y="4776639"/>
            <a:ext cx="400050" cy="400050"/>
          </a:xfrm>
          <a:prstGeom prst="roundRect">
            <a:avLst>
              <a:gd name="adj" fmla="val 6349"/>
            </a:avLst>
          </a:prstGeom>
          <a:solidFill>
            <a:srgbClr val="F2F4F4"/>
          </a:solidFill>
          <a:ln w="9525">
            <a:solidFill>
              <a:srgbClr val="B8C1C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4" name="Text 42"/>
          <p:cNvSpPr/>
          <p:nvPr/>
        </p:nvSpPr>
        <p:spPr>
          <a:xfrm>
            <a:off x="609600" y="5475089"/>
            <a:ext cx="111922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spcBef>
                <a:spcPts val="1000"/>
              </a:spcBef>
              <a:buNone/>
            </a:pPr>
            <a:r>
              <a:rPr lang="en-US" sz="1200" dirty="0">
                <a:solidFill>
                  <a:srgbClr val="6E778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「厅」和「厨」留到下节课。</a:t>
            </a:r>
            <a:endParaRPr lang="en-US" sz="12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2F4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542925"/>
          </a:xfrm>
          <a:prstGeom prst="rect">
            <a:avLst/>
          </a:prstGeom>
          <a:solidFill>
            <a:srgbClr val="F2F4F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538163"/>
            <a:ext cx="12192000" cy="0"/>
          </a:xfrm>
          <a:prstGeom prst="line">
            <a:avLst/>
          </a:prstGeom>
          <a:noFill/>
          <a:ln w="9525">
            <a:solidFill>
              <a:srgbClr val="D5DBD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7950" y="176213"/>
            <a:ext cx="2644893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B05B3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20–43 MIN · FLEXIBLE PRACTICE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386435" y="166688"/>
            <a:ext cx="1359563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4B545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游戏 · 宾果 · 5 分钟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182648" y="176213"/>
            <a:ext cx="511430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6E778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25 / 26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7950" y="0"/>
            <a:ext cx="11176099" cy="31700"/>
          </a:xfrm>
          <a:prstGeom prst="rect">
            <a:avLst/>
          </a:prstGeom>
          <a:solidFill>
            <a:srgbClr val="3D5A7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09600" y="1083915"/>
            <a:ext cx="1119225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B05B3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游戏 · 宾果 BINGO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09600" y="1283940"/>
            <a:ext cx="10972800" cy="925711"/>
          </a:xfrm>
          <a:prstGeom prst="roundRect">
            <a:avLst>
              <a:gd name="adj" fmla="val 6860"/>
            </a:avLst>
          </a:prstGeom>
          <a:solidFill>
            <a:srgbClr val="E6EAEB"/>
          </a:solidFill>
          <a:ln w="9525">
            <a:solidFill>
              <a:srgbClr val="D5DBD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822275" y="1445865"/>
            <a:ext cx="297841" cy="350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60"/>
              </a:lnSpc>
              <a:buNone/>
            </a:pPr>
            <a:r>
              <a:rPr lang="en-US" sz="2300" b="1" dirty="0">
                <a:solidFill>
                  <a:srgbClr val="B05B3B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1</a:t>
            </a:r>
            <a:endParaRPr lang="en-US" sz="2300" dirty="0"/>
          </a:p>
        </p:txBody>
      </p:sp>
      <p:sp>
        <p:nvSpPr>
          <p:cNvPr id="11" name="Text 9"/>
          <p:cNvSpPr/>
          <p:nvPr/>
        </p:nvSpPr>
        <p:spPr>
          <a:xfrm>
            <a:off x="1279327" y="1445865"/>
            <a:ext cx="5440680" cy="2844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262B3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发 3×3 的格子纸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279327" y="1781026"/>
            <a:ext cx="544068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00"/>
              </a:spcBef>
              <a:buNone/>
            </a:pPr>
            <a:r>
              <a:rPr lang="en-US" sz="1500" b="1" dirty="0">
                <a:solidFill>
                  <a:srgbClr val="3D5A73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卧室 · 书房 · 浴室 · 洗澡 · 房间 · 楼上 · 楼下 · 层 · 楼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609600" y="2362051"/>
            <a:ext cx="10972800" cy="925711"/>
          </a:xfrm>
          <a:prstGeom prst="roundRect">
            <a:avLst>
              <a:gd name="adj" fmla="val 6860"/>
            </a:avLst>
          </a:prstGeom>
          <a:solidFill>
            <a:srgbClr val="E6EAEB"/>
          </a:solidFill>
          <a:ln w="9525">
            <a:solidFill>
              <a:srgbClr val="D5DBD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822275" y="2523976"/>
            <a:ext cx="297841" cy="350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60"/>
              </a:lnSpc>
              <a:buNone/>
            </a:pPr>
            <a:r>
              <a:rPr lang="en-US" sz="2300" b="1" dirty="0">
                <a:solidFill>
                  <a:srgbClr val="B05B3B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2</a:t>
            </a:r>
            <a:endParaRPr lang="en-US" sz="2300" dirty="0"/>
          </a:p>
        </p:txBody>
      </p:sp>
      <p:sp>
        <p:nvSpPr>
          <p:cNvPr id="15" name="Text 13"/>
          <p:cNvSpPr/>
          <p:nvPr/>
        </p:nvSpPr>
        <p:spPr>
          <a:xfrm>
            <a:off x="1279327" y="2523976"/>
            <a:ext cx="3351848" cy="2844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262B3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老师不说单词，说整句话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279327" y="2859137"/>
            <a:ext cx="3351848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00"/>
              </a:spcBef>
              <a:buNone/>
            </a:pPr>
            <a:r>
              <a:rPr lang="en-US" sz="1500" dirty="0">
                <a:solidFill>
                  <a:srgbClr val="3D5A73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我每天晚上</a:t>
            </a:r>
            <a:r>
              <a:rPr lang="en-US" sz="1500" b="1" dirty="0">
                <a:solidFill>
                  <a:srgbClr val="3D5A73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洗澡</a:t>
            </a:r>
            <a:r>
              <a:rPr lang="en-US" sz="1500" dirty="0">
                <a:solidFill>
                  <a:srgbClr val="3D5A73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。／ 楼上有三间</a:t>
            </a:r>
            <a:r>
              <a:rPr lang="en-US" sz="1500" b="1" dirty="0">
                <a:solidFill>
                  <a:srgbClr val="3D5A73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卧室</a:t>
            </a:r>
            <a:r>
              <a:rPr lang="en-US" sz="1500" dirty="0">
                <a:solidFill>
                  <a:srgbClr val="3D5A73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。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609600" y="3440162"/>
            <a:ext cx="10972800" cy="925711"/>
          </a:xfrm>
          <a:prstGeom prst="roundRect">
            <a:avLst>
              <a:gd name="adj" fmla="val 6860"/>
            </a:avLst>
          </a:prstGeom>
          <a:solidFill>
            <a:srgbClr val="E6EAEB"/>
          </a:solidFill>
          <a:ln w="9525">
            <a:solidFill>
              <a:srgbClr val="D5DBD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822275" y="3602087"/>
            <a:ext cx="297841" cy="350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60"/>
              </a:lnSpc>
              <a:buNone/>
            </a:pPr>
            <a:r>
              <a:rPr lang="en-US" sz="2300" b="1" dirty="0">
                <a:solidFill>
                  <a:srgbClr val="B05B3B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3</a:t>
            </a:r>
            <a:endParaRPr lang="en-US" sz="2300" dirty="0"/>
          </a:p>
        </p:txBody>
      </p:sp>
      <p:sp>
        <p:nvSpPr>
          <p:cNvPr id="19" name="Text 17"/>
          <p:cNvSpPr/>
          <p:nvPr/>
        </p:nvSpPr>
        <p:spPr>
          <a:xfrm>
            <a:off x="1279327" y="3602087"/>
            <a:ext cx="2720340" cy="2844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262B3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连成一行就喊「我赢了」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279327" y="3937248"/>
            <a:ext cx="272034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00"/>
              </a:spcBef>
              <a:buNone/>
            </a:pPr>
            <a:r>
              <a:rPr lang="en-US" sz="1500" b="1" dirty="0">
                <a:solidFill>
                  <a:srgbClr val="3D5A73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听句子里的那个词，不是听单词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609600" y="4518273"/>
            <a:ext cx="10972800" cy="925711"/>
          </a:xfrm>
          <a:prstGeom prst="roundRect">
            <a:avLst>
              <a:gd name="adj" fmla="val 6860"/>
            </a:avLst>
          </a:prstGeom>
          <a:solidFill>
            <a:srgbClr val="E6EAEB"/>
          </a:solidFill>
          <a:ln w="9525">
            <a:solidFill>
              <a:srgbClr val="D5DBD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822275" y="4680198"/>
            <a:ext cx="297841" cy="350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60"/>
              </a:lnSpc>
              <a:buNone/>
            </a:pPr>
            <a:r>
              <a:rPr lang="en-US" sz="2300" b="1" dirty="0">
                <a:solidFill>
                  <a:srgbClr val="B05B3B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4</a:t>
            </a:r>
            <a:endParaRPr lang="en-US" sz="2300" dirty="0"/>
          </a:p>
        </p:txBody>
      </p:sp>
      <p:sp>
        <p:nvSpPr>
          <p:cNvPr id="23" name="Text 21"/>
          <p:cNvSpPr/>
          <p:nvPr/>
        </p:nvSpPr>
        <p:spPr>
          <a:xfrm>
            <a:off x="1279327" y="4680198"/>
            <a:ext cx="3691890" cy="2844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262B3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加难</a:t>
            </a:r>
            <a:r>
              <a:rPr lang="en-US" sz="1600" dirty="0">
                <a:solidFill>
                  <a:srgbClr val="262B3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：赢的人不能只喊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279327" y="5015359"/>
            <a:ext cx="369189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00"/>
              </a:spcBef>
              <a:buNone/>
            </a:pPr>
            <a:r>
              <a:rPr lang="en-US" sz="1500" b="1" dirty="0">
                <a:solidFill>
                  <a:srgbClr val="3D5A73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要把那一行三个词，一个词说一句完整的话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609600" y="5570934"/>
            <a:ext cx="111922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spcBef>
                <a:spcPts val="1000"/>
              </a:spcBef>
              <a:buNone/>
            </a:pPr>
            <a:r>
              <a:rPr lang="en-US" sz="1200" dirty="0">
                <a:solidFill>
                  <a:srgbClr val="6E778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格子纸打印几种不同排列。</a:t>
            </a:r>
            <a:endParaRPr lang="en-US" sz="12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2F4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542925"/>
          </a:xfrm>
          <a:prstGeom prst="rect">
            <a:avLst/>
          </a:prstGeom>
          <a:solidFill>
            <a:srgbClr val="F2F4F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538163"/>
            <a:ext cx="12192000" cy="0"/>
          </a:xfrm>
          <a:prstGeom prst="line">
            <a:avLst/>
          </a:prstGeom>
          <a:noFill/>
          <a:ln w="9525">
            <a:solidFill>
              <a:srgbClr val="D5DBD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7950" y="176213"/>
            <a:ext cx="1785830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B05B3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43–50 MIN · PLENARY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2544217" y="166688"/>
            <a:ext cx="983998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4B545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小结 · Plenary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181904" y="176213"/>
            <a:ext cx="512189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6E778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26 / 26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7950" y="0"/>
            <a:ext cx="11176099" cy="31700"/>
          </a:xfrm>
          <a:prstGeom prst="rect">
            <a:avLst/>
          </a:prstGeom>
          <a:solidFill>
            <a:srgbClr val="3D5A7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09600" y="2139702"/>
            <a:ext cx="1119225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B05B3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小结 · 43–50 分钟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09600" y="2339727"/>
            <a:ext cx="10972800" cy="2404021"/>
          </a:xfrm>
          <a:prstGeom prst="roundRect">
            <a:avLst>
              <a:gd name="adj" fmla="val 4755"/>
            </a:avLst>
          </a:prstGeom>
          <a:solidFill>
            <a:srgbClr val="E6EAEB"/>
          </a:solidFill>
          <a:ln w="19050">
            <a:solidFill>
              <a:srgbClr val="B8C1C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933450" y="2587377"/>
            <a:ext cx="10531602" cy="345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20"/>
              </a:lnSpc>
              <a:buNone/>
            </a:pPr>
            <a:r>
              <a:rPr lang="en-US" sz="1700" b="1" dirty="0">
                <a:solidFill>
                  <a:srgbClr val="B05B3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回看目标</a:t>
            </a:r>
            <a:r>
              <a:rPr lang="en-US" sz="1700" dirty="0">
                <a:solidFill>
                  <a:srgbClr val="262B3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· 念三条 success criteria，问一句：哪一条最难？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933450" y="2932807"/>
            <a:ext cx="10531602" cy="345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20"/>
              </a:lnSpc>
              <a:buNone/>
            </a:pPr>
            <a:r>
              <a:rPr lang="en-US" sz="1700" b="1" dirty="0">
                <a:solidFill>
                  <a:srgbClr val="B05B3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自评</a:t>
            </a:r>
            <a:r>
              <a:rPr lang="en-US" sz="1700" dirty="0">
                <a:solidFill>
                  <a:srgbClr val="262B3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· 小白板写 👍 / 😐 / 👎，三条一起举起来。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933450" y="3278237"/>
            <a:ext cx="10531602" cy="345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20"/>
              </a:lnSpc>
              <a:buNone/>
            </a:pPr>
            <a:r>
              <a:rPr lang="en-US" sz="1700" b="1" dirty="0">
                <a:solidFill>
                  <a:srgbClr val="B05B3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出门条</a:t>
            </a:r>
            <a:r>
              <a:rPr lang="en-US" sz="1700" dirty="0">
                <a:solidFill>
                  <a:srgbClr val="262B3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· 量词写对才算对。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933450" y="3623667"/>
            <a:ext cx="10531602" cy="345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20"/>
              </a:lnSpc>
              <a:buNone/>
            </a:pPr>
            <a:r>
              <a:rPr lang="en-US" sz="1700" b="1" dirty="0">
                <a:solidFill>
                  <a:srgbClr val="B05B3B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下节课</a:t>
            </a:r>
            <a:r>
              <a:rPr lang="en-US" sz="1700" dirty="0">
                <a:solidFill>
                  <a:srgbClr val="262B3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· 我们下楼——下课以前你就能读完整篇课文一了。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933450" y="4096048"/>
            <a:ext cx="10531602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50"/>
              </a:lnSpc>
              <a:spcBef>
                <a:spcPts val="1000"/>
              </a:spcBef>
              <a:buNone/>
            </a:pPr>
            <a:r>
              <a:rPr lang="en-US" sz="2100" b="1" dirty="0">
                <a:solidFill>
                  <a:srgbClr val="262B30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出门条：写中文——Upstairs there are three bedrooms and one bathroom.</a:t>
            </a:r>
            <a:endParaRPr lang="en-US" sz="2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26</Slides>
  <Notes>26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2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2026-09-15T01:24:01Z</dcterms:created>
  <dcterms:modified xsi:type="dcterms:W3CDTF">2026-09-15T01:24:01Z</dcterms:modified>
</cp:coreProperties>
</file>