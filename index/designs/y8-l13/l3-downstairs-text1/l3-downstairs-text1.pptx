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0866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58714" y="166688"/>
            <a:ext cx="9674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第十三课 · 房子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22397" y="180975"/>
            <a:ext cx="3688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P.122 · CD 61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楼下有什么？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Rooms Downstairs · Text 1 Complete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8 · Book 2 · Unit 5 · Lesson 13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3251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92523" y="166688"/>
            <a:ext cx="9888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Lesson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22397" y="180975"/>
            <a:ext cx="3688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5387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两人一组 · 看 30 秒，然后把它关掉 · 说完交换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3902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56492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15777" y="1564928"/>
            <a:ext cx="1968755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你家有几间卧室？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09600" y="2101155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212181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15777" y="2212181"/>
            <a:ext cx="2429179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我家有 ____ 间卧室。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09600" y="2748409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2859435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15777" y="2859435"/>
            <a:ext cx="1968755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你家有几个浴室？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09600" y="3395663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350668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15777" y="3506688"/>
            <a:ext cx="1444877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 ____ 个。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09600" y="4042916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153942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15777" y="4153942"/>
            <a:ext cx="1722680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你家有书房吗？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09600" y="4690170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6826" y="4801195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15777" y="4801195"/>
            <a:ext cx="2522538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有，在楼上。／ 没有。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09600" y="540097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老师走一圈，听有没有人说成「个卧室」。第二轮不给句型，直接点名。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8169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81720"/>
            <a:ext cx="10972800" cy="784175"/>
          </a:xfrm>
          <a:prstGeom prst="roundRect">
            <a:avLst>
              <a:gd name="adj" fmla="val 14576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591270"/>
            <a:ext cx="10531602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name the rooms downstairs and describe a whole house out loud.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31829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619821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78174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781746"/>
            <a:ext cx="331086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the downstairs rooms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116907"/>
            <a:ext cx="3310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能说出楼下的房间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697932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385985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3859857"/>
            <a:ext cx="427633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what someone is doing in a room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195018"/>
            <a:ext cx="42763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能说某人在哪个房间做什么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776043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493796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4937968"/>
            <a:ext cx="587484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describe a whole house without reading from a script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273129"/>
            <a:ext cx="58748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能不看稿子说整个房子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140" y="176213"/>
            <a:ext cx="4262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nSlWb7DT2s/img/ke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15245" y="3866852"/>
            <a:ext cx="7112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kètīng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756743" y="5070723"/>
            <a:ext cx="10345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living room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nSlWb7DT2s/img/cant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12522" y="3866852"/>
            <a:ext cx="8476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cāntīng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餐厅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380214" y="5070723"/>
            <a:ext cx="11175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dining room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很大。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living room is big.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我们在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餐厅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吃饭。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eat in the dining room.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楼下有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餐厅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Downstairs there's a living room and a dining room.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问：两个词里，哪一个字是一样的？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545" y="176213"/>
            <a:ext cx="426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65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86558"/>
            <a:ext cx="10972800" cy="1981200"/>
          </a:xfrm>
          <a:prstGeom prst="roundRect">
            <a:avLst>
              <a:gd name="adj" fmla="val 5769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1040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我家的客厅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97715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我们在 ________ 吃饭。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145459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3422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0563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别用「很大」——用上节课听力里的 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不算大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或 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不大也不小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，两句连起来：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我家的客厅不算大，可是餐厅很大。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2093" y="176213"/>
            <a:ext cx="4201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nSlWb7DT2s/img/chufa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26246" y="3866852"/>
            <a:ext cx="8926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chúfáng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930872" y="5070723"/>
            <a:ext cx="6793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kitchen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nSlWb7DT2s/img/xishouj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382298" y="3866852"/>
            <a:ext cx="11131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xǐshǒujiān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013650" y="4285952"/>
            <a:ext cx="1865376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洗手间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693646" y="5070723"/>
            <a:ext cx="4780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toilet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991" y="176213"/>
            <a:ext cx="426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不大。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kitchen isn't big.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洗手间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在楼下。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toilet is downstairs.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楼下有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洗手间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Downstairs there's a kitchen and a toilet.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问：「洗手间」和「浴室」一样吗？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545" y="176213"/>
            <a:ext cx="426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65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86558"/>
            <a:ext cx="10972800" cy="1981200"/>
          </a:xfrm>
          <a:prstGeom prst="roundRect">
            <a:avLst>
              <a:gd name="adj" fmla="val 5769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1040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我家的厨房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97715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洗手间在 ________ 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145459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3422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0563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一句话里放进今天四个词，按顺序说，每个后面加上在几楼。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797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288" y="176213"/>
            <a:ext cx="4842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575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2897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03550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16847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餐厅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97501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10798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91451" y="2684562"/>
            <a:ext cx="2590949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04747" y="3024188"/>
            <a:ext cx="236435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洗手间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09600" y="429726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一起读两遍。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2648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33439" y="166688"/>
            <a:ext cx="15713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8314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说某人在哪儿做什么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83171"/>
            <a:ext cx="10972800" cy="990600"/>
          </a:xfrm>
          <a:prstGeom prst="roundRect">
            <a:avLst>
              <a:gd name="adj" fmla="val 11538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292721"/>
            <a:ext cx="105316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 + 在 + 地方 + 做什么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200721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6264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62646"/>
            <a:ext cx="731076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在房间里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打电话。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800796"/>
            <a:ext cx="731076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He's making a phone call in his room — the textbook's own example, p.123.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9532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6145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61457"/>
            <a:ext cx="25970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在厨房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吃饭。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9607"/>
            <a:ext cx="259707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She's eating in the kitchen.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98343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6026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60268"/>
            <a:ext cx="412711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在客厅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看电视。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98418"/>
            <a:ext cx="412711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mum is watching TV in the living room.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7170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「在房间里」和「在房间」都行。「里面、上面、外面」下节课学，今天「里」就够了。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2663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两个小句，每句都有楼层和房间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26655"/>
            <a:ext cx="10972800" cy="1179165"/>
          </a:xfrm>
          <a:prstGeom prst="roundRect">
            <a:avLst>
              <a:gd name="adj" fmla="val 9693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850505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我在楼上的卧室看书，我弟弟在楼下的客厅看电视。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858220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I'm reading in the bedroom upstairs; my little brother is watching TV in the living room downstairs.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32807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地方放在动词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前面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——不是「我看书在客厅」。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415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4184"/>
            <a:ext cx="10972800" cy="857101"/>
          </a:xfrm>
          <a:prstGeom prst="roundRect">
            <a:avLst>
              <a:gd name="adj" fmla="val 74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192560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192560"/>
            <a:ext cx="45123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怎么说 kitchen？ living room？ dining room？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03127" y="1586210"/>
            <a:ext cx="45123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写在小白板上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027486"/>
            <a:ext cx="10972800" cy="857101"/>
          </a:xfrm>
          <a:prstGeom prst="roundRect">
            <a:avLst>
              <a:gd name="adj" fmla="val 74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2125861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03127" y="2125861"/>
            <a:ext cx="41970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「洗手间」和「浴室」是同一个房间吗？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3127" y="2519511"/>
            <a:ext cx="41970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对就举大拇指，不对就朝下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2960787"/>
            <a:ext cx="10972800" cy="857101"/>
          </a:xfrm>
          <a:prstGeom prst="roundRect">
            <a:avLst>
              <a:gd name="adj" fmla="val 74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3059162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03127" y="3059162"/>
            <a:ext cx="37307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「客厅」和「餐厅」共用哪一个字？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03127" y="3452813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写那一个字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3894088"/>
            <a:ext cx="10972800" cy="857101"/>
          </a:xfrm>
          <a:prstGeom prst="roundRect">
            <a:avLst>
              <a:gd name="adj" fmla="val 74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399246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3992463"/>
            <a:ext cx="37307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有人在做饭。他在哪儿？在做什么？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03127" y="4386114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一句完整的话，写在小白板上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4827389"/>
            <a:ext cx="10972800" cy="857101"/>
          </a:xfrm>
          <a:prstGeom prst="roundRect">
            <a:avLst>
              <a:gd name="adj" fmla="val 74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6826" y="4925764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203127" y="4925764"/>
            <a:ext cx="35141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这句话对不对？ ✗ 我在吃饭厨房。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03127" y="5319415"/>
            <a:ext cx="35141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哪里错了？怎么改？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9600" y="576069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2648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33439" y="166688"/>
            <a:ext cx="14187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p.122 · CD 61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8503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整篇 · 现在四个词都会了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85057"/>
            <a:ext cx="10972800" cy="1553170"/>
          </a:xfrm>
          <a:prstGeom prst="roundRect">
            <a:avLst>
              <a:gd name="adj" fmla="val 7359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208907"/>
            <a:ext cx="10479988" cy="905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5"/>
              </a:lnSpc>
              <a:buNone/>
            </a:pPr>
            <a:r>
              <a:rPr lang="en-US" sz="2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我家的房子有两层。楼上有三间卧室、一个书房和一个浴室(洗澡间)，楼下有客厅、餐厅、厨房和洗手间。我的房间在楼上。我特别喜欢我的房间。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3590627"/>
            <a:ext cx="10972800" cy="1607790"/>
          </a:xfrm>
          <a:prstGeom prst="roundRect">
            <a:avLst>
              <a:gd name="adj" fmla="val 7109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3450" y="3838277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用中文回答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这个房子有几层？ 楼下有几个房间？说一说。 说话的人的房间在楼上还是楼下？ 他喜欢他的房间吗？你怎么知道？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460533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spcBef>
                <a:spcPts val="600"/>
              </a:spcBef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放 CD，学生跟着看。一起读。第三遍把拼音关掉再读一次。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640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2596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27486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nSlWb7DT2s/img/ke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970" y="2125861"/>
            <a:ext cx="609600" cy="609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30970" y="2798862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839641" y="2027486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nSlWb7DT2s/img/cant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11" y="2125861"/>
            <a:ext cx="609600" cy="609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1011" y="2798862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餐厅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5069681" y="2027486"/>
            <a:ext cx="2052489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nSlWb7DT2s/img/chufa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051" y="2125861"/>
            <a:ext cx="609600" cy="609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791051" y="2798862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7299871" y="2027486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var/folders/6c/210dcgxn4gz5sm71vld2cy1h0000gn/T/tmp.nSlWb7DT2s/img/xishouji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1241" y="2125861"/>
            <a:ext cx="609600" cy="609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868841" y="2798862"/>
            <a:ext cx="9326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洗手间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9529911" y="2027486"/>
            <a:ext cx="2052489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4" descr="/var/folders/6c/210dcgxn4gz5sm71vld2cy1h0000gn/T/tmp.nSlWb7DT2s/img/wosh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1281" y="2125861"/>
            <a:ext cx="609600" cy="609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251281" y="2798862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卧室</a:t>
            </a:r>
            <a:endParaRPr lang="en-US" sz="2400" dirty="0"/>
          </a:p>
        </p:txBody>
      </p:sp>
      <p:sp>
        <p:nvSpPr>
          <p:cNvPr id="24" name="Text 17"/>
          <p:cNvSpPr/>
          <p:nvPr/>
        </p:nvSpPr>
        <p:spPr>
          <a:xfrm>
            <a:off x="609600" y="3503563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5" descr="/var/folders/6c/210dcgxn4gz5sm71vld2cy1h0000gn/T/tmp.nSlWb7DT2s/img/shufa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0970" y="3601938"/>
            <a:ext cx="609600" cy="609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30970" y="4274939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书房</a:t>
            </a:r>
            <a:endParaRPr lang="en-US" sz="2400" dirty="0"/>
          </a:p>
        </p:txBody>
      </p:sp>
      <p:sp>
        <p:nvSpPr>
          <p:cNvPr id="27" name="Text 19"/>
          <p:cNvSpPr/>
          <p:nvPr/>
        </p:nvSpPr>
        <p:spPr>
          <a:xfrm>
            <a:off x="2839641" y="3503563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6" descr="/var/folders/6c/210dcgxn4gz5sm71vld2cy1h0000gn/T/tmp.nSlWb7DT2s/img/yush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1011" y="3601938"/>
            <a:ext cx="609600" cy="6096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561011" y="4274939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浴室</a:t>
            </a:r>
            <a:endParaRPr lang="en-US" sz="2400" dirty="0"/>
          </a:p>
        </p:txBody>
      </p:sp>
      <p:sp>
        <p:nvSpPr>
          <p:cNvPr id="30" name="Text 21"/>
          <p:cNvSpPr/>
          <p:nvPr/>
        </p:nvSpPr>
        <p:spPr>
          <a:xfrm>
            <a:off x="5069681" y="3503563"/>
            <a:ext cx="2052489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7" descr="/var/folders/6c/210dcgxn4gz5sm71vld2cy1h0000gn/T/tmp.nSlWb7DT2s/img/fangji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1051" y="3601938"/>
            <a:ext cx="609600" cy="6096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791051" y="4274939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房间</a:t>
            </a:r>
            <a:endParaRPr lang="en-US" sz="2400" dirty="0"/>
          </a:p>
        </p:txBody>
      </p:sp>
      <p:sp>
        <p:nvSpPr>
          <p:cNvPr id="33" name="Text 23"/>
          <p:cNvSpPr/>
          <p:nvPr/>
        </p:nvSpPr>
        <p:spPr>
          <a:xfrm>
            <a:off x="7299871" y="3503563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4" name="Image 8" descr="/var/folders/6c/210dcgxn4gz5sm71vld2cy1h0000gn/T/tmp.nSlWb7DT2s/img/fangzi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1241" y="3601938"/>
            <a:ext cx="609600" cy="60960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8021241" y="4274939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房子</a:t>
            </a:r>
            <a:endParaRPr lang="en-US" sz="2400" dirty="0"/>
          </a:p>
        </p:txBody>
      </p:sp>
      <p:sp>
        <p:nvSpPr>
          <p:cNvPr id="36" name="Text 25"/>
          <p:cNvSpPr/>
          <p:nvPr/>
        </p:nvSpPr>
        <p:spPr>
          <a:xfrm>
            <a:off x="9529911" y="3503563"/>
            <a:ext cx="2052489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9" descr="/var/folders/6c/210dcgxn4gz5sm71vld2cy1h0000gn/T/tmp.nSlWb7DT2s/img/loushan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51281" y="3601938"/>
            <a:ext cx="609600" cy="60960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10251281" y="4274939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</a:t>
            </a:r>
            <a:endParaRPr lang="en-US" sz="2400" dirty="0"/>
          </a:p>
        </p:txBody>
      </p:sp>
      <p:sp>
        <p:nvSpPr>
          <p:cNvPr id="39" name="Text 27"/>
          <p:cNvSpPr/>
          <p:nvPr/>
        </p:nvSpPr>
        <p:spPr>
          <a:xfrm>
            <a:off x="609600" y="492889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三节课的词都在这儿——这一页整节课都留在屏幕上。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30907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We Do · 8 分钟 · 课本 p.123 第 2 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800" y="176213"/>
            <a:ext cx="485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看图说话 · 九个人，九个房间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p.123 的剖面图投到屏幕上，放大。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先全班一起，一个人一句，点名回答。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有人只说「他在厨房」，就追一句：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他在厨房做什么？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然后两人一组，九个人再说一遍，轮流。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他在房间里打电话。　她在厨房吃饭。　他在书房看书。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4348" y="176213"/>
            <a:ext cx="4790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09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加难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409527"/>
            <a:ext cx="10972800" cy="840730"/>
          </a:xfrm>
          <a:prstGeom prst="roundRect">
            <a:avLst>
              <a:gd name="adj" fmla="val 1359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6571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不看图，从头到尾把九个人的房间和动作说一遍。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9600" y="3427958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6247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388813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再把九句连成一段话，用「还有」「一边……一边……」连起来，读起来要像在说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一家人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，不是九句分开的话。最后用中文回答：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这家人一共有几个人？你怎么知道？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7915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You Do · 10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246" y="176213"/>
            <a:ext cx="4853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0049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带同桌参观你家 · 角色卡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00523"/>
            <a:ext cx="10972800" cy="2058591"/>
          </a:xfrm>
          <a:prstGeom prst="roundRect">
            <a:avLst>
              <a:gd name="adj" fmla="val 5552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04817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每组一张房子卡：几层、哪个房间在哪一层、一个特别的地方。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39360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带 B 参观，B 没来过，要问清楚东西在哪儿。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73903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至少要问到五个房间。问完交换卡片，再来一次。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211413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B：你家的房子有几层？　A：有两层。　B：厨房在楼上还是楼下？　A：在楼下。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09600" y="4036814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7250" y="423356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7250" y="4496991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的卡片开始前就收走——要靠记。B 不是客人，是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不想买这个房子的人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，要挑两个毛病（这个房子没有书房吗？厨房太小了），A 每次都要用「可是」或「因为」说服他。最后 B 用中文向全班报告买不买、为什么。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482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课本 p.126 第 6 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651" y="176213"/>
            <a:ext cx="4859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773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站起来走动 · 问四个不同的同学 · 答案要写下来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57759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468785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468785"/>
            <a:ext cx="189315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你家的房子有几层？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1945481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056507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203127" y="2056507"/>
            <a:ext cx="168275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你家有几间卧室？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2533204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2644229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203127" y="2644229"/>
            <a:ext cx="126210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客厅在几楼？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3120926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3231952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203127" y="3231952"/>
            <a:ext cx="210340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厨房在楼上还是楼下？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3708648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3819674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3819674"/>
            <a:ext cx="231380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你家有书房吗？有几个？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600" y="4296370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6826" y="4407396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1203127" y="4407396"/>
            <a:ext cx="168275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你的卧室在几楼？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9600" y="4884093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96826" y="4995118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7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203127" y="4995118"/>
            <a:ext cx="378616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你爸爸、妈妈的卧室大还是你的卧室大？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9600" y="549711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七个问题，四个同学——不要问同一个人两次。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9092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课本 p.130 第 10 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4285" y="176213"/>
            <a:ext cx="5097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5387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回到两人一组 · 约时间去他家 · B 要先拒绝三次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3902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56492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15777" y="1564928"/>
            <a:ext cx="2461058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我今晚可以去你家吗？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09600" y="2101155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212181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15777" y="2212181"/>
            <a:ext cx="2707133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对不起，我今晚不在家。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09600" y="2748409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2859435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15777" y="2859435"/>
            <a:ext cx="2461058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我明天上午去，好吗？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09600" y="3395663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350668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15777" y="3506688"/>
            <a:ext cx="3199284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不可以，我上午要去买东西。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09600" y="4042916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153942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15777" y="4153942"/>
            <a:ext cx="1968755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周末去，可以吗？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09600" y="4690170"/>
            <a:ext cx="10972800" cy="583853"/>
          </a:xfrm>
          <a:prstGeom prst="roundRect">
            <a:avLst>
              <a:gd name="adj" fmla="val 108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6826" y="4801195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15777" y="4801195"/>
            <a:ext cx="3691435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可以，你周末来吧，我在家等你。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09600" y="540097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每次拒绝的理由都要不一样——三次以后才可以答应。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4638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写汉字 · 练习册 p.145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5741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笔顺 · 每个字写三遍 · 最后两个字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57438"/>
            <a:ext cx="10972800" cy="962025"/>
          </a:xfrm>
          <a:prstGeom prst="roundRect">
            <a:avLst>
              <a:gd name="adj" fmla="val 660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7725" y="2481263"/>
            <a:ext cx="67355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厅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736675" y="2705100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01826" y="2705100"/>
            <a:ext cx="29700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厂字头，里面一个丁——只有四画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66424" y="2638425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455325" y="2638425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944225" y="2638425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3408313"/>
            <a:ext cx="10972800" cy="962025"/>
          </a:xfrm>
          <a:prstGeom prst="roundRect">
            <a:avLst>
              <a:gd name="adj" fmla="val 660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47725" y="3532138"/>
            <a:ext cx="67355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736675" y="3755975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01826" y="3755975"/>
            <a:ext cx="27721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厂字头，里面是「豆」加「寸」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966424" y="3689300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455325" y="3689300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944225" y="3689300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9600" y="449728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写完这两个，练习册第 1 题就全部写完了。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4234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· pp.145–146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392" y="176213"/>
            <a:ext cx="5106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1234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· 现在两题都能做完了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12368"/>
            <a:ext cx="10972800" cy="2058591"/>
          </a:xfrm>
          <a:prstGeom prst="roundRect">
            <a:avLst>
              <a:gd name="adj" fmla="val 5552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76001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p.145 第 2 题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七个房间全部认得出来了——把号码填上。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10544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p.146 第 5 题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方格组词，今天解锁的：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45087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客厅 · 餐厅 · 厨房 · 洗手间 · 卧室 · 书房 · 浴室 · 房间 · 楼上 · 楼下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92325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 + 厅 → 客厅　·　厨 + 房 → 厨房　·　洗 + 手 + 间 → 洗手间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7953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二十个问题 · 5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838" y="176213"/>
            <a:ext cx="5102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8391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猜房间 20 QUESTIONS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83940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445865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445865"/>
            <a:ext cx="294485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一个同学想一个房间，不说出来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9327" y="1781026"/>
            <a:ext cx="29448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从屏幕上十三个词里选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362051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52397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523976"/>
            <a:ext cx="369189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全班用中文问是非题，最多二十个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3691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这个房间在楼上吗？你在这个房间吃饭吗？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116586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猜到了就说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9327" y="3937248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是不是厨房？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518273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68019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680198"/>
            <a:ext cx="294485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用英文问一次，就扣掉一个问题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79327" y="5015359"/>
            <a:ext cx="29448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问完二十个还没猜到，答案公布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57093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加难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：猜对的人当下一个答题的，全班只有十个问题——问题要问得准。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243" y="176213"/>
            <a:ext cx="5108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24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特别问第三条：谁不看东西说了整整一分钟？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三条目标，举手表决。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口头的，在门口说，一人一句。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不再数房间了——学怎么说东西在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哪儿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：上面、下面、里面、外面。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出门条：说一个你家在楼上的房间，和一个在楼下的，要说完整的句子。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19092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机动 · 练习册 p.150 第 12 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392" y="176213"/>
            <a:ext cx="5106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48513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时间有多的话 · 写一写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85157"/>
            <a:ext cx="10972800" cy="1713161"/>
          </a:xfrm>
          <a:prstGeom prst="roundRect">
            <a:avLst>
              <a:gd name="adj" fmla="val 6672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四层楼的公寓，八个住户，每个人在做一件事。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跟 p.123 第 2 题一样，只是写下来，而且要说清楚住在几楼。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75061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小明住在四楼。他正在看电视。大力也住在 ________ 。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2026-09-15T01:25:11Z</dcterms:created>
  <dcterms:modified xsi:type="dcterms:W3CDTF">2026-09-15T01:25:11Z</dcterms:modified>
</cp:coreProperties>
</file>