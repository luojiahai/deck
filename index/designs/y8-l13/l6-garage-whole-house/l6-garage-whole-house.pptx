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45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4354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第十三课 · 房子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16593" y="176213"/>
            <a:ext cx="3748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PP.125, 129, 131 · CD 65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停两辆车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The Garage, and Your Whole House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13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22017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听力 · 课本 p.130 第 11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322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听一听，打勾 · CD 65 · 放两遍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472261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这一段话把前五节课的词几乎全用上了。对答案的时候不要只说「打勾了」——用整句回答：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厨房在哪儿？→ 厨房在楼下。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一个问题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888" y="176213"/>
            <a:ext cx="400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48513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刚才那段话最后提到一个「车库」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5157"/>
            <a:ext cx="10972800" cy="1713161"/>
          </a:xfrm>
          <a:prstGeom prst="roundRect">
            <a:avLst>
              <a:gd name="adj" fmla="val 667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车库是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做什么用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现在还说不出来——二十分钟以后就说得出来了。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75061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我家的车库可以 ________ 两 ________ 车。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292" y="176213"/>
            <a:ext cx="400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990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99108"/>
            <a:ext cx="10972800" cy="1149251"/>
          </a:xfrm>
          <a:prstGeom prst="roundRect">
            <a:avLst>
              <a:gd name="adj" fmla="val 994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408658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describe a whole house — inside and out — in a presentation to the class.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5007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802285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642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64210"/>
            <a:ext cx="400187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how many cars a garage holds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99371"/>
            <a:ext cx="4001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能说车库可以停几辆车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80396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423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42321"/>
            <a:ext cx="611105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the right measure word for rooms, storeys and cars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7482"/>
            <a:ext cx="611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能用对量词：间、个、层、辆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58507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04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0432"/>
            <a:ext cx="600964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present a description of a house without reading it out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55593"/>
            <a:ext cx="60096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能不看稿子，向全班介绍一个房子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最后两个词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55293" y="3866852"/>
            <a:ext cx="4253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tíng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959001" y="42859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1992809" y="5070723"/>
            <a:ext cx="25928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stop; (of cars) be parked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nSlWb7DT2s/img/lia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68494" y="3866852"/>
            <a:ext cx="5293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liàng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962900" y="4285952"/>
            <a:ext cx="1968755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辆（輛）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7713315" y="4931122"/>
            <a:ext cx="24779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 word for vehicles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096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697" y="176213"/>
            <a:ext cx="401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我家的车库可以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辆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garage holds two cars — the last line of Text 2.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在房前。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car is parked in front of the house.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我家有两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辆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车，都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在车库里面。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have two cars, both parked in the garage.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问：你家有几辆车？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45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7245" y="176213"/>
            <a:ext cx="3945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5769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 ________ 辆车。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车停在 ________ 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两个小句加一个原因：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我家有三辆车，可是车库只可以停两辆，所以一辆停在房前。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74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现在整段都会了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143" y="176213"/>
            <a:ext cx="4007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5387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整段 · 不放拼音 · 两人读，然后交换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3902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56492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15777" y="1564928"/>
            <a:ext cx="2461058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你家住什么样的房子？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09600" y="2101155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21218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15777" y="2212181"/>
            <a:ext cx="1476604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我家住洋房。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09600" y="2748409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2859435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15777" y="2859435"/>
            <a:ext cx="1722680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你家有花园吗？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09600" y="3395663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50668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15777" y="3506688"/>
            <a:ext cx="3445359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有两个，房前一个，房后一个。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09600" y="4042916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153942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15777" y="4153942"/>
            <a:ext cx="1722680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你家有车库吗？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09600" y="4690170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6826" y="4801195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15777" y="4801195"/>
            <a:ext cx="3445359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有。我家的车库可以停两辆车。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09600" y="540097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读第二遍的时候把课本合上，黑板上只留四个问句。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四个量词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量词 · 单元测验直接考这个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1765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间 卧室　个 浴室　层 房子　辆 车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21762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楼上有三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间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卧室。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217627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Bedrooms take 间.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353644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我家有两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浴室和一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书房。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353644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Most other rooms take 个.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244982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我家的房子有两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层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244982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层 counts itself — no 个.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「辆」只用在车上：两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辆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车、三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辆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公共汽车。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440" y="176213"/>
            <a:ext cx="4586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8952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一句话，四个量词全用上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89547"/>
            <a:ext cx="10972800" cy="1710630"/>
          </a:xfrm>
          <a:prstGeom prst="roundRect">
            <a:avLst>
              <a:gd name="adj" fmla="val 6682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13397"/>
            <a:ext cx="10479988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我家住洋房，房子有两层，楼上有四间卧室和两个浴室，房后有一个大花园和一个车库，车库可以停两辆车。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952577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live in a western-style house of two storeys; upstairs there are four bedrooms and two bathrooms; behind the house there's a big garden and a garage that holds two cars.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76532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层 · 间 · 个 · 辆 —— 一个都不能错。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9533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7034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70372"/>
            <a:ext cx="10972800" cy="866626"/>
          </a:xfrm>
          <a:prstGeom prst="roundRect">
            <a:avLst>
              <a:gd name="adj" fmla="val 73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16874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168747"/>
            <a:ext cx="43420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间、个、层 还是 辆？ 我家有三 ____ 车。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3127" y="1562398"/>
            <a:ext cx="43420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013198"/>
            <a:ext cx="10972800" cy="866626"/>
          </a:xfrm>
          <a:prstGeom prst="roundRect">
            <a:avLst>
              <a:gd name="adj" fmla="val 73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11157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111573"/>
            <a:ext cx="45752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间、个、层 还是 辆？ 楼下有一 ____ 卧室。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3127" y="2505224"/>
            <a:ext cx="45752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2956024"/>
            <a:ext cx="10972800" cy="866626"/>
          </a:xfrm>
          <a:prstGeom prst="roundRect">
            <a:avLst>
              <a:gd name="adj" fmla="val 73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054400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054400"/>
            <a:ext cx="42137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这句话对不对？ ✗ 我家的房子有两个层。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03127" y="3448050"/>
            <a:ext cx="421379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哪里错了？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3898850"/>
            <a:ext cx="10972800" cy="866626"/>
          </a:xfrm>
          <a:prstGeom prst="roundRect">
            <a:avLst>
              <a:gd name="adj" fmla="val 73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99722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3997226"/>
            <a:ext cx="40390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翻译：</a:t>
            </a:r>
            <a:r>
              <a:rPr lang="en-US" sz="1800" b="1" i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Our garage holds three cars.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03127" y="4390876"/>
            <a:ext cx="403906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写整句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4841677"/>
            <a:ext cx="10972800" cy="866626"/>
          </a:xfrm>
          <a:prstGeom prst="roundRect">
            <a:avLst>
              <a:gd name="adj" fmla="val 73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4940052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203127" y="4940052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这一课里，哪两个房间用「间」不用「个」？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03127" y="5333702"/>
            <a:ext cx="46634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点名回答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578450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9180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整节课留在屏幕上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8931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90836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fangz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315" y="1776561"/>
            <a:ext cx="507950" cy="5079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02965" y="2335262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房子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2193429" y="1690836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nSlWb7DT2s/img/fangj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144" y="1776561"/>
            <a:ext cx="507950" cy="5079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86794" y="2335262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房间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3777258" y="1690836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nSlWb7DT2s/img/ce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973" y="1776561"/>
            <a:ext cx="507950" cy="5079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91323" y="2335262"/>
            <a:ext cx="2462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层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5361087" y="1690836"/>
            <a:ext cx="1469678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nSlWb7DT2s/img/lo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950" y="1776561"/>
            <a:ext cx="507950" cy="5079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75152" y="2335262"/>
            <a:ext cx="2462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6945064" y="1690836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var/folders/6c/210dcgxn4gz5sm71vld2cy1h0000gn/T/tmp.nSlWb7DT2s/img/lousha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5779" y="1776561"/>
            <a:ext cx="507950" cy="5079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38430" y="2335262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8528893" y="1690836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5" descr="/var/folders/6c/210dcgxn4gz5sm71vld2cy1h0000gn/T/tmp.nSlWb7DT2s/img/louxi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608" y="1776561"/>
            <a:ext cx="507950" cy="5079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022259" y="2335262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</a:t>
            </a:r>
            <a:endParaRPr lang="en-US" sz="1900" dirty="0"/>
          </a:p>
        </p:txBody>
      </p:sp>
      <p:sp>
        <p:nvSpPr>
          <p:cNvPr id="27" name="Text 19"/>
          <p:cNvSpPr/>
          <p:nvPr/>
        </p:nvSpPr>
        <p:spPr>
          <a:xfrm>
            <a:off x="10112722" y="1690836"/>
            <a:ext cx="1469678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6" descr="/var/folders/6c/210dcgxn4gz5sm71vld2cy1h0000gn/T/tmp.nSlWb7DT2s/img/wosh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3586" y="1776561"/>
            <a:ext cx="507950" cy="50795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606236" y="2335262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卧室</a:t>
            </a:r>
            <a:endParaRPr lang="en-US" sz="1900" dirty="0"/>
          </a:p>
        </p:txBody>
      </p:sp>
      <p:sp>
        <p:nvSpPr>
          <p:cNvPr id="30" name="Text 21"/>
          <p:cNvSpPr/>
          <p:nvPr/>
        </p:nvSpPr>
        <p:spPr>
          <a:xfrm>
            <a:off x="609600" y="2878187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7" descr="/var/folders/6c/210dcgxn4gz5sm71vld2cy1h0000gn/T/tmp.nSlWb7DT2s/img/shufa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315" y="2963912"/>
            <a:ext cx="507950" cy="50795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102965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书房</a:t>
            </a:r>
            <a:endParaRPr lang="en-US" sz="1900" dirty="0"/>
          </a:p>
        </p:txBody>
      </p:sp>
      <p:sp>
        <p:nvSpPr>
          <p:cNvPr id="33" name="Text 23"/>
          <p:cNvSpPr/>
          <p:nvPr/>
        </p:nvSpPr>
        <p:spPr>
          <a:xfrm>
            <a:off x="2193429" y="2878187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8" descr="/var/folders/6c/210dcgxn4gz5sm71vld2cy1h0000gn/T/tmp.nSlWb7DT2s/img/yushi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74144" y="2963912"/>
            <a:ext cx="507950" cy="50795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2686794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浴室</a:t>
            </a:r>
            <a:endParaRPr lang="en-US" sz="1900" dirty="0"/>
          </a:p>
        </p:txBody>
      </p:sp>
      <p:sp>
        <p:nvSpPr>
          <p:cNvPr id="36" name="Text 25"/>
          <p:cNvSpPr/>
          <p:nvPr/>
        </p:nvSpPr>
        <p:spPr>
          <a:xfrm>
            <a:off x="3777258" y="2878187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9" descr="/var/folders/6c/210dcgxn4gz5sm71vld2cy1h0000gn/T/tmp.nSlWb7DT2s/img/xiza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7973" y="2963912"/>
            <a:ext cx="507950" cy="50795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4270623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洗澡</a:t>
            </a:r>
            <a:endParaRPr lang="en-US" sz="1900" dirty="0"/>
          </a:p>
        </p:txBody>
      </p:sp>
      <p:sp>
        <p:nvSpPr>
          <p:cNvPr id="39" name="Text 27"/>
          <p:cNvSpPr/>
          <p:nvPr/>
        </p:nvSpPr>
        <p:spPr>
          <a:xfrm>
            <a:off x="5361087" y="2878187"/>
            <a:ext cx="1469678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10" descr="/var/folders/6c/210dcgxn4gz5sm71vld2cy1h0000gn/T/tmp.nSlWb7DT2s/img/ketin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41950" y="2963912"/>
            <a:ext cx="507950" cy="50795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5854601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</a:t>
            </a:r>
            <a:endParaRPr lang="en-US" sz="1900" dirty="0"/>
          </a:p>
        </p:txBody>
      </p:sp>
      <p:sp>
        <p:nvSpPr>
          <p:cNvPr id="42" name="Text 29"/>
          <p:cNvSpPr/>
          <p:nvPr/>
        </p:nvSpPr>
        <p:spPr>
          <a:xfrm>
            <a:off x="6945064" y="2878187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3" name="Image 11" descr="/var/folders/6c/210dcgxn4gz5sm71vld2cy1h0000gn/T/tmp.nSlWb7DT2s/img/canting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5779" y="2963912"/>
            <a:ext cx="507950" cy="507950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7438430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</a:t>
            </a:r>
            <a:endParaRPr lang="en-US" sz="1900" dirty="0"/>
          </a:p>
        </p:txBody>
      </p:sp>
      <p:sp>
        <p:nvSpPr>
          <p:cNvPr id="45" name="Text 31"/>
          <p:cNvSpPr/>
          <p:nvPr/>
        </p:nvSpPr>
        <p:spPr>
          <a:xfrm>
            <a:off x="8528893" y="2878187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6" name="Image 12" descr="/var/folders/6c/210dcgxn4gz5sm71vld2cy1h0000gn/T/tmp.nSlWb7DT2s/img/chufang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09608" y="2963912"/>
            <a:ext cx="507950" cy="507950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9022259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</a:t>
            </a:r>
            <a:endParaRPr lang="en-US" sz="1900" dirty="0"/>
          </a:p>
        </p:txBody>
      </p:sp>
      <p:sp>
        <p:nvSpPr>
          <p:cNvPr id="48" name="Text 33"/>
          <p:cNvSpPr/>
          <p:nvPr/>
        </p:nvSpPr>
        <p:spPr>
          <a:xfrm>
            <a:off x="10112722" y="2878187"/>
            <a:ext cx="1469678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9" name="Image 13" descr="/var/folders/6c/210dcgxn4gz5sm71vld2cy1h0000gn/T/tmp.nSlWb7DT2s/img/xishoujia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93586" y="2963912"/>
            <a:ext cx="507950" cy="507950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10485537" y="3522613"/>
            <a:ext cx="738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洗手间</a:t>
            </a:r>
            <a:endParaRPr lang="en-US" sz="1900" dirty="0"/>
          </a:p>
        </p:txBody>
      </p:sp>
      <p:sp>
        <p:nvSpPr>
          <p:cNvPr id="51" name="Text 35"/>
          <p:cNvSpPr/>
          <p:nvPr/>
        </p:nvSpPr>
        <p:spPr>
          <a:xfrm>
            <a:off x="609600" y="4065538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2" name="Image 14" descr="/var/folders/6c/210dcgxn4gz5sm71vld2cy1h0000gn/T/tmp.nSlWb7DT2s/img/yangfang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0315" y="4151263"/>
            <a:ext cx="507950" cy="507950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1102965" y="4709964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洋房</a:t>
            </a:r>
            <a:endParaRPr lang="en-US" sz="1900" dirty="0"/>
          </a:p>
        </p:txBody>
      </p:sp>
      <p:sp>
        <p:nvSpPr>
          <p:cNvPr id="54" name="Text 37"/>
          <p:cNvSpPr/>
          <p:nvPr/>
        </p:nvSpPr>
        <p:spPr>
          <a:xfrm>
            <a:off x="2193429" y="4065538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5" name="Image 15" descr="/var/folders/6c/210dcgxn4gz5sm71vld2cy1h0000gn/T/tmp.nSlWb7DT2s/img/huayuan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74144" y="4151263"/>
            <a:ext cx="507950" cy="507950"/>
          </a:xfrm>
          <a:prstGeom prst="rect">
            <a:avLst/>
          </a:prstGeom>
        </p:spPr>
      </p:pic>
      <p:sp>
        <p:nvSpPr>
          <p:cNvPr id="56" name="Text 38"/>
          <p:cNvSpPr/>
          <p:nvPr/>
        </p:nvSpPr>
        <p:spPr>
          <a:xfrm>
            <a:off x="2686794" y="4709964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花园</a:t>
            </a:r>
            <a:endParaRPr lang="en-US" sz="1900" dirty="0"/>
          </a:p>
        </p:txBody>
      </p:sp>
      <p:sp>
        <p:nvSpPr>
          <p:cNvPr id="57" name="Text 39"/>
          <p:cNvSpPr/>
          <p:nvPr/>
        </p:nvSpPr>
        <p:spPr>
          <a:xfrm>
            <a:off x="3777258" y="4065538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8" name="Image 16" descr="/var/folders/6c/210dcgxn4gz5sm71vld2cy1h0000gn/T/tmp.nSlWb7DT2s/img/cheku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57973" y="4151263"/>
            <a:ext cx="507950" cy="507950"/>
          </a:xfrm>
          <a:prstGeom prst="rect">
            <a:avLst/>
          </a:prstGeom>
        </p:spPr>
      </p:pic>
      <p:sp>
        <p:nvSpPr>
          <p:cNvPr id="59" name="Text 40"/>
          <p:cNvSpPr/>
          <p:nvPr/>
        </p:nvSpPr>
        <p:spPr>
          <a:xfrm>
            <a:off x="4270623" y="4709964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车库</a:t>
            </a:r>
            <a:endParaRPr lang="en-US" sz="1900" dirty="0"/>
          </a:p>
        </p:txBody>
      </p:sp>
      <p:sp>
        <p:nvSpPr>
          <p:cNvPr id="60" name="Text 41"/>
          <p:cNvSpPr/>
          <p:nvPr/>
        </p:nvSpPr>
        <p:spPr>
          <a:xfrm>
            <a:off x="5361087" y="4065538"/>
            <a:ext cx="1469678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1" name="Image 17" descr="/var/folders/6c/210dcgxn4gz5sm71vld2cy1h0000gn/T/tmp.nSlWb7DT2s/img/ting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41950" y="4151263"/>
            <a:ext cx="507950" cy="507950"/>
          </a:xfrm>
          <a:prstGeom prst="rect">
            <a:avLst/>
          </a:prstGeom>
        </p:spPr>
      </p:pic>
      <p:sp>
        <p:nvSpPr>
          <p:cNvPr id="62" name="Text 42"/>
          <p:cNvSpPr/>
          <p:nvPr/>
        </p:nvSpPr>
        <p:spPr>
          <a:xfrm>
            <a:off x="5975152" y="4709964"/>
            <a:ext cx="2462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</a:t>
            </a:r>
            <a:endParaRPr lang="en-US" sz="1900" dirty="0"/>
          </a:p>
        </p:txBody>
      </p:sp>
      <p:sp>
        <p:nvSpPr>
          <p:cNvPr id="63" name="Text 43"/>
          <p:cNvSpPr/>
          <p:nvPr/>
        </p:nvSpPr>
        <p:spPr>
          <a:xfrm>
            <a:off x="6945064" y="4065538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4" name="Image 18" descr="/var/folders/6c/210dcgxn4gz5sm71vld2cy1h0000gn/T/tmp.nSlWb7DT2s/img/liang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25779" y="4151263"/>
            <a:ext cx="507950" cy="507950"/>
          </a:xfrm>
          <a:prstGeom prst="rect">
            <a:avLst/>
          </a:prstGeom>
        </p:spPr>
      </p:pic>
      <p:sp>
        <p:nvSpPr>
          <p:cNvPr id="65" name="Text 44"/>
          <p:cNvSpPr/>
          <p:nvPr/>
        </p:nvSpPr>
        <p:spPr>
          <a:xfrm>
            <a:off x="7559129" y="4709964"/>
            <a:ext cx="2462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辆</a:t>
            </a:r>
            <a:endParaRPr lang="en-US" sz="1900" dirty="0"/>
          </a:p>
        </p:txBody>
      </p:sp>
      <p:sp>
        <p:nvSpPr>
          <p:cNvPr id="66" name="Text 45"/>
          <p:cNvSpPr/>
          <p:nvPr/>
        </p:nvSpPr>
        <p:spPr>
          <a:xfrm>
            <a:off x="609600" y="526553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六节课的词。活动一、活动二只能看这一页——没有别的参考。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31174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7 分钟 · 课本 p.131 第 12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142" y="176213"/>
            <a:ext cx="4589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分类比赛 · 四人一组，一套字卡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二十五张字卡，分到桌上的类里：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房子 · 蔬菜 · 水果 · 饭菜 · 运动 · 爱好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分完以后，从总览页再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自己加三个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到「房子」那一堆。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分对最多的一组赢。「房子」那一堆全班一个一个对。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每组要用中文说清楚其中两张为什么放那儿。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为什么把「浴室」放在「房子」？　因为浴室是房子里面的房间。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567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练习册 · 两分钟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547" y="176213"/>
            <a:ext cx="459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123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· 同一件事，写下来 · 两分钟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12368"/>
            <a:ext cx="10972800" cy="2058591"/>
          </a:xfrm>
          <a:prstGeom prst="roundRect">
            <a:avLst>
              <a:gd name="adj" fmla="val 555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7600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给一个词，自己再加三个同类的。刚刚分过的那一堆直接用。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1054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p.146 第 3 题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苹果 · 客厅 · 晴天 · 炒菜 · 冰水 · 黄瓜 · 跑步 · 油画儿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4508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p.152 第 18 题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浴室 · 橘子 · 跑步 · 西红柿 · 冷开水 · 油画儿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92325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　________　________　________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You Do · 10 分钟 · 课本 p.125 第 5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设计一个房子 · 课本给的要求，一个都不能少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两间卧室 · 一个客房 · 一个浴室 · 一个洗手间 · 一个书房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一个客厅、一个餐厅 · 一个正门、一个后门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再加一个 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花园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和一个 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车库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，还要说车库可以停几辆车。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上半张纸画剖面图，房间名用汉字标；下半张写介绍，从课本那句开头。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这是我家的房子。我家的房子有两层。我家有一个正门和一个后门。楼上有……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952" y="176213"/>
            <a:ext cx="460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09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09527"/>
            <a:ext cx="10972800" cy="840730"/>
          </a:xfrm>
          <a:prstGeom prst="roundRect">
            <a:avLst>
              <a:gd name="adj" fmla="val 1359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6571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写成一段话，至少八句，不要写成一张房间清单。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600" y="3427958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6247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388813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用「还有」「可是」「除了……还有……」连起来。里面要有一句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比较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（房后的花园比房前的大），还要有一句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说理由的想法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（我特别喜欢我的房间，因为它在楼上）。写完把纸翻过来——等一下上台，图和稿子都不能看。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336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另一个选择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9500" y="176213"/>
            <a:ext cx="4534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48513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不想自己设计的，做这个 · 练习册 P.153 第 20 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5157"/>
            <a:ext cx="10972800" cy="1713161"/>
          </a:xfrm>
          <a:prstGeom prst="roundRect">
            <a:avLst>
              <a:gd name="adj" fmla="val 667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画好的三层房子，照着描述就行，开头也给好了。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写的要求一样，只是不用从白纸开始。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75061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我家的房子有三层。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24519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上台说 · 6 分钟 · 课本 p.129 第 9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398" y="176213"/>
            <a:ext cx="4596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231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四五个同学上台 · 举着图 · 说一分钟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2343"/>
            <a:ext cx="10972800" cy="2458641"/>
          </a:xfrm>
          <a:prstGeom prst="roundRect">
            <a:avLst>
              <a:gd name="adj" fmla="val 4649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5999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老师先用课本 p.129 的例子示范一次。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0542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每个人说完，全班有两个同学用中文提问。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5085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：手上什么都不拿，屏幕也不放，回答三个问题，其中一个是老师临时问的。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723233"/>
            <a:ext cx="105316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我家住洋房。我家的房子有两层。楼上有一间主人房，还有一个洗澡间。我的房间也在楼上。楼下有……我们家有一个前花园和一个车库。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上台说 · 全班提问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803" y="176213"/>
            <a:ext cx="460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8312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每个人说完，全班问两个 · 只能用中文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83147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19417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2194173"/>
            <a:ext cx="168275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你的卧室在几楼？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670870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781895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03127" y="2781895"/>
            <a:ext cx="189315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车库可以停几辆车？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258592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336961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03127" y="3369618"/>
            <a:ext cx="336551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你家有几个花园？在房前还是房后？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3846314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957340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203127" y="3957340"/>
            <a:ext cx="29448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你最喜欢哪一个房间？为什么？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3127" y="4292501"/>
            <a:ext cx="29448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这一句要用「因为」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9600" y="477172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问题投在屏幕上，谁都可以问。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六节课的词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11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第十三课 · 十九个词 · 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78161"/>
            <a:ext cx="2031950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2527" y="1652736"/>
            <a:ext cx="184609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44701" y="1478161"/>
            <a:ext cx="2032099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37626" y="1652736"/>
            <a:ext cx="184624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房间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79950" y="1478161"/>
            <a:ext cx="2031950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72877" y="1652736"/>
            <a:ext cx="184609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层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051" y="1478161"/>
            <a:ext cx="2032099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07976" y="1652736"/>
            <a:ext cx="184624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550301" y="1478161"/>
            <a:ext cx="2031950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43228" y="1652736"/>
            <a:ext cx="184609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09600" y="2497187"/>
            <a:ext cx="2031950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2527" y="2671763"/>
            <a:ext cx="184609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844701" y="2497187"/>
            <a:ext cx="2032099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37626" y="2671763"/>
            <a:ext cx="184624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卧室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079950" y="2497187"/>
            <a:ext cx="2031950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72877" y="2671763"/>
            <a:ext cx="184609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书房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315051" y="2497187"/>
            <a:ext cx="2032099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07976" y="2671763"/>
            <a:ext cx="184624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浴室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550301" y="2497187"/>
            <a:ext cx="2031950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643228" y="2671763"/>
            <a:ext cx="184609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洗澡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09600" y="3516213"/>
            <a:ext cx="2031950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02527" y="3690789"/>
            <a:ext cx="184609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2844701" y="3516213"/>
            <a:ext cx="2032099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937626" y="3690789"/>
            <a:ext cx="184624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079950" y="3516213"/>
            <a:ext cx="2031950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172877" y="3690789"/>
            <a:ext cx="184609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315051" y="3516213"/>
            <a:ext cx="2032099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407976" y="3690789"/>
            <a:ext cx="184624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洗手间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9550301" y="3516213"/>
            <a:ext cx="2031950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643228" y="3690789"/>
            <a:ext cx="184609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洋房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09600" y="4535239"/>
            <a:ext cx="2031950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02527" y="4709815"/>
            <a:ext cx="184609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花园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2844701" y="4535239"/>
            <a:ext cx="2032099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937626" y="4709815"/>
            <a:ext cx="184624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车库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5079950" y="4535239"/>
            <a:ext cx="2031950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172877" y="4709815"/>
            <a:ext cx="184609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7315051" y="4535239"/>
            <a:ext cx="2032099" cy="815876"/>
          </a:xfrm>
          <a:prstGeom prst="roundRect">
            <a:avLst>
              <a:gd name="adj" fmla="val 140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407976" y="4709815"/>
            <a:ext cx="184624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辆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609600" y="550351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全班一起读一遍。这是第十三课的全部生词。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6688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 · 这一次回看的是整整六节课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66912"/>
            <a:ext cx="10972800" cy="3149501"/>
          </a:xfrm>
          <a:prstGeom prst="roundRect">
            <a:avLst>
              <a:gd name="adj" fmla="val 3629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21456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先念今天的三条，再把六节课的学习目标放一页，从头念到尾。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55999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小白板分六栏，一节课一栏，写 👍 / 😐 / 👎，一起举起来。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90542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😐 最多的那一栏，就是下一课复习环节的开头。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25085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写在纸条上，出门交。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359628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进第十四课——家具。房间你全会说了，现在把它们填满。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3450" y="4068663"/>
            <a:ext cx="105316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出门条：写两句关于你家的话，一句用「有」，一句用「在」，两句里至少用到这一课的三个词。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2026-09-15T01:28:34Z</dcterms:created>
  <dcterms:modified xsi:type="dcterms:W3CDTF">2026-09-15T01:28:34Z</dcterms:modified>
</cp:coreProperties>
</file>