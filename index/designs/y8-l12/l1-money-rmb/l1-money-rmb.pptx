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792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49500" y="166688"/>
            <a:ext cx="1059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Y8 · Lesson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1101" y="1640532"/>
            <a:ext cx="111406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1101" y="2053233"/>
            <a:ext cx="11140642" cy="123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90"/>
              </a:lnSpc>
              <a:spcBef>
                <a:spcPts val="1300"/>
              </a:spcBef>
              <a:spcAft>
                <a:spcPts val="500"/>
              </a:spcAft>
              <a:buNone/>
            </a:pPr>
            <a:r>
              <a:rPr lang="en-US" sz="9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人民币</a:t>
            </a:r>
            <a:endParaRPr lang="en-US" sz="9500" dirty="0"/>
          </a:p>
        </p:txBody>
      </p:sp>
      <p:sp>
        <p:nvSpPr>
          <p:cNvPr id="10" name="Text 8"/>
          <p:cNvSpPr/>
          <p:nvPr/>
        </p:nvSpPr>
        <p:spPr>
          <a:xfrm>
            <a:off x="711101" y="3347293"/>
            <a:ext cx="1114064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Talking About Money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11101" y="4175968"/>
            <a:ext cx="111406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50 minutes · 课本 p.110–111</a:t>
            </a:r>
            <a:endParaRPr lang="en-US" sz="1500" dirty="0"/>
          </a:p>
        </p:txBody>
      </p:sp>
      <p:pic>
        <p:nvPicPr>
          <p:cNvPr id="12" name="Image 0" descr="/var/folders/6c/210dcgxn4gz5sm71vld2cy1h0000gn/T/tmp.sLz7wO9Bv9/img/q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01" y="4747468"/>
            <a:ext cx="952500" cy="952500"/>
          </a:xfrm>
          <a:prstGeom prst="rect">
            <a:avLst/>
          </a:prstGeom>
        </p:spPr>
      </p:pic>
      <p:pic>
        <p:nvPicPr>
          <p:cNvPr id="13" name="Image 1" descr="/var/folders/6c/210dcgxn4gz5sm71vld2cy1h0000gn/T/tmp.sLz7wO9Bv9/img/ku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02" y="4747468"/>
            <a:ext cx="952500" cy="952500"/>
          </a:xfrm>
          <a:prstGeom prst="rect">
            <a:avLst/>
          </a:prstGeom>
        </p:spPr>
      </p:pic>
      <p:pic>
        <p:nvPicPr>
          <p:cNvPr id="14" name="Image 2" descr="/var/folders/6c/210dcgxn4gz5sm71vld2cy1h0000gn/T/tmp.sLz7wO9Bv9/img/ma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502" y="4747468"/>
            <a:ext cx="952500" cy="952500"/>
          </a:xfrm>
          <a:prstGeom prst="rect">
            <a:avLst/>
          </a:prstGeom>
        </p:spPr>
      </p:pic>
      <p:pic>
        <p:nvPicPr>
          <p:cNvPr id="15" name="Image 3" descr="/var/folders/6c/210dcgxn4gz5sm71vld2cy1h0000gn/T/tmp.sLz7wO9Bv9/img/ji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703" y="4747468"/>
            <a:ext cx="952500" cy="952500"/>
          </a:xfrm>
          <a:prstGeom prst="rect">
            <a:avLst/>
          </a:prstGeom>
        </p:spPr>
      </p:pic>
      <p:pic>
        <p:nvPicPr>
          <p:cNvPr id="16" name="Image 4" descr="/var/folders/6c/210dcgxn4gz5sm71vld2cy1h0000gn/T/tmp.sLz7wO9Bv9/img/f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904" y="4747468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581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复习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28813" y="166688"/>
            <a:ext cx="13398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Lesson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91544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FIVE ON WHITEBOARDS — HOLD THEM UP TOGETHER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23929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五题 · FROM LESSON 11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8701" y="162981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5002" y="1563142"/>
            <a:ext cx="2681023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你午饭一般吃什么？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65002" y="1957536"/>
            <a:ext cx="26810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in Chinese.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8701" y="2341662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5002" y="2274987"/>
            <a:ext cx="3736065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我晚饭吃米饭 ______ 面条。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65002" y="2669381"/>
            <a:ext cx="37360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word in the gap.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8701" y="305350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5002" y="2986832"/>
            <a:ext cx="3438224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你想吃中餐 ______ 西餐？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65002" y="3381226"/>
            <a:ext cx="3438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word in the gap.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8701" y="3765352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5002" y="3698677"/>
            <a:ext cx="4182826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“It is likely to rain this afternoon.”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65002" y="4093071"/>
            <a:ext cx="4182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 into Chinese.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8701" y="447719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5002" y="4410521"/>
            <a:ext cx="3276704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你们家常去饭店吃饭吗？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965002" y="4804916"/>
            <a:ext cx="327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in a full sentence.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8701" y="5033516"/>
            <a:ext cx="11074598" cy="1391543"/>
          </a:xfrm>
          <a:prstGeom prst="roundRect">
            <a:avLst>
              <a:gd name="adj" fmla="val 5476"/>
            </a:avLst>
          </a:prstGeom>
          <a:solidFill>
            <a:srgbClr val="B96A12">
              <a:alpha val="14000"/>
            </a:srgbClr>
          </a:solidFill>
          <a:ln w="952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5927" y="5182642"/>
            <a:ext cx="62675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CONNECTION · 接上节课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5927" y="5382667"/>
            <a:ext cx="62675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can say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where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 eat and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 eat.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5927" y="5658892"/>
            <a:ext cx="6267560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今天学的是最有用的一部分 —— 钱。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45927" y="6047333"/>
            <a:ext cx="626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Today we add the part everybody actually needs at a market or a restaurant.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298377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22227"/>
            <a:ext cx="11074598" cy="1307902"/>
          </a:xfrm>
          <a:prstGeom prst="roundRect">
            <a:avLst>
              <a:gd name="adj" fmla="val 9710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365" y="1818977"/>
            <a:ext cx="10739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read and say amounts of money in Chinese renminbi.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58701" y="3133279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8701" y="3457129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927" y="3593604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77677" y="3593604"/>
            <a:ext cx="300467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the six money words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7677" y="3928765"/>
            <a:ext cx="30046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钱、块、元、毛、角、分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8701" y="4452491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5927" y="4588966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7677" y="4588966"/>
            <a:ext cx="452954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read an amount aloud and write it down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7677" y="4924127"/>
            <a:ext cx="45295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三十块五毛五分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58701" y="5447854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5927" y="5584329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77677" y="5584329"/>
            <a:ext cx="617389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explain when Chinese uses 块/毛 and when it uses 元/角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7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599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83841"/>
            <a:ext cx="5334149" cy="4296668"/>
          </a:xfrm>
          <a:prstGeom prst="roundRect">
            <a:avLst>
              <a:gd name="adj" fmla="val 295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q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00" y="1972717"/>
            <a:ext cx="1587401" cy="15874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30128" y="3648968"/>
            <a:ext cx="60312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qián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832050" y="4128343"/>
            <a:ext cx="803199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钱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2889052" y="5043934"/>
            <a:ext cx="6869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money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141613" y="5437584"/>
            <a:ext cx="17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錢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99150" y="1683841"/>
            <a:ext cx="5334149" cy="4296668"/>
          </a:xfrm>
          <a:prstGeom prst="roundRect">
            <a:avLst>
              <a:gd name="adj" fmla="val 295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1" descr="/var/folders/6c/210dcgxn4gz5sm71vld2cy1h0000gn/T/tmp.sLz7wO9Bv9/img/ku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1972717"/>
            <a:ext cx="1587401" cy="158740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77573" y="3648968"/>
            <a:ext cx="5888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kuài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572500" y="4128343"/>
            <a:ext cx="803199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块</a:t>
            </a:r>
            <a:endParaRPr lang="en-US" sz="6200" dirty="0"/>
          </a:p>
        </p:txBody>
      </p:sp>
      <p:sp>
        <p:nvSpPr>
          <p:cNvPr id="19" name="Text 15"/>
          <p:cNvSpPr/>
          <p:nvPr/>
        </p:nvSpPr>
        <p:spPr>
          <a:xfrm>
            <a:off x="8102352" y="5043934"/>
            <a:ext cx="17621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yuan （spoken）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882063" y="5437584"/>
            <a:ext cx="17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塊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7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727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96641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7276" y="1696641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1823591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shì shí kuài qián.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001" y="2128391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这是十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块钱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9001" y="2648396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ten yuan.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01" y="3162598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7276" y="3162598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001" y="3289548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yǒu wǔ kuài qián.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001" y="3594348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我有五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块钱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9001" y="4114354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have five yuan.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701" y="4628555"/>
            <a:ext cx="11074598" cy="13390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276" y="4628555"/>
            <a:ext cx="0" cy="1339007"/>
          </a:xfrm>
          <a:prstGeom prst="line">
            <a:avLst/>
          </a:prstGeom>
          <a:noFill/>
          <a:ln w="57150">
            <a:solidFill>
              <a:srgbClr val="B93F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001" y="4755505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Yí ge hànbǎobāo èrshí kuài qián.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001" y="5060305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一个汉堡包二十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块钱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9001" y="5580311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hamburger is twenty yuan.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7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07481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398663"/>
            <a:ext cx="11074598" cy="1545431"/>
          </a:xfrm>
          <a:prstGeom prst="roundRect">
            <a:avLst>
              <a:gd name="adj" fmla="val 8218"/>
            </a:avLst>
          </a:prstGeom>
          <a:solidFill>
            <a:srgbClr val="E8E2C8"/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9752" y="2646313"/>
            <a:ext cx="10661547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70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 ______ 块钱。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69752" y="3429744"/>
            <a:ext cx="10661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Mini whiteboards. One sentence.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701" y="4071045"/>
            <a:ext cx="11074598" cy="1194643"/>
          </a:xfrm>
          <a:prstGeom prst="roundRect">
            <a:avLst>
              <a:gd name="adj" fmla="val 6378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8251" y="4229695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251" y="4493121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questions with a price in each, using two different Lesson 11 foods.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251" y="4769346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一个热狗多少块钱？一个比萨饼呢？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391" y="176213"/>
            <a:ext cx="4198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1864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842492"/>
            <a:ext cx="5334149" cy="3979218"/>
          </a:xfrm>
          <a:prstGeom prst="roundRect">
            <a:avLst>
              <a:gd name="adj" fmla="val 31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yu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00" y="2131368"/>
            <a:ext cx="1587401" cy="15874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98428" y="3807619"/>
            <a:ext cx="66778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yuán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832050" y="4286994"/>
            <a:ext cx="803199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元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2373362" y="5202585"/>
            <a:ext cx="17387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yuan （written）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299150" y="1842492"/>
            <a:ext cx="5334149" cy="3979218"/>
          </a:xfrm>
          <a:prstGeom prst="roundRect">
            <a:avLst>
              <a:gd name="adj" fmla="val 31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sLz7wO9Bv9/img/m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2131368"/>
            <a:ext cx="1587401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70875" y="3807619"/>
            <a:ext cx="6023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máo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572500" y="4286994"/>
            <a:ext cx="803199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</a:t>
            </a:r>
            <a:endParaRPr lang="en-US" sz="6200" dirty="0"/>
          </a:p>
        </p:txBody>
      </p:sp>
      <p:sp>
        <p:nvSpPr>
          <p:cNvPr id="18" name="Text 14"/>
          <p:cNvSpPr/>
          <p:nvPr/>
        </p:nvSpPr>
        <p:spPr>
          <a:xfrm>
            <a:off x="7858571" y="5202585"/>
            <a:ext cx="22594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1/10 yuan （spoken）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727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96641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7276" y="1696641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1823591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Wǔ kuài = wǔ yuán.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001" y="2128391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五块 = 五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元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9001" y="2648396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Five kuai = five yuan.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01" y="3162598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7276" y="3162598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001" y="3289548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Yí ge píngguǒ sān máo qián.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001" y="3594348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一个苹果三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钱。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9001" y="4114354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apple is three mao.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701" y="4628555"/>
            <a:ext cx="11074598" cy="13390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276" y="4628555"/>
            <a:ext cx="0" cy="1339007"/>
          </a:xfrm>
          <a:prstGeom prst="line">
            <a:avLst/>
          </a:prstGeom>
          <a:noFill/>
          <a:ln w="57150">
            <a:solidFill>
              <a:srgbClr val="B93F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001" y="4755505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Shí yuán wǔ máo.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001" y="5060305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元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9001" y="5580311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Ten yuan fifty.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843" y="176213"/>
            <a:ext cx="4265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07481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398663"/>
            <a:ext cx="11074598" cy="1545431"/>
          </a:xfrm>
          <a:prstGeom prst="roundRect">
            <a:avLst>
              <a:gd name="adj" fmla="val 8218"/>
            </a:avLst>
          </a:prstGeom>
          <a:solidFill>
            <a:srgbClr val="E8E2C8"/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9752" y="2646313"/>
            <a:ext cx="10661547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70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 元 ______ 毛。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69752" y="3429744"/>
            <a:ext cx="10661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any amount — then read it aloud the </a:t>
            </a:r>
            <a:r>
              <a:rPr lang="en-US" sz="1500" b="1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spoken</a:t>
            </a: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way.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701" y="4071045"/>
            <a:ext cx="11074598" cy="1194643"/>
          </a:xfrm>
          <a:prstGeom prst="roundRect">
            <a:avLst>
              <a:gd name="adj" fmla="val 6378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8251" y="4229695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251" y="4493121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three prices: one in 块毛, one in 元角, one written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ways.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251" y="4769346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十二块五毛 = 十二元五角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734" y="176213"/>
            <a:ext cx="483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1864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842492"/>
            <a:ext cx="5334149" cy="3979218"/>
          </a:xfrm>
          <a:prstGeom prst="roundRect">
            <a:avLst>
              <a:gd name="adj" fmla="val 31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j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00" y="2131368"/>
            <a:ext cx="1587401" cy="15874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72395" y="3807619"/>
            <a:ext cx="51674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jiǎo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832050" y="4286994"/>
            <a:ext cx="803199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角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2129582" y="5202585"/>
            <a:ext cx="22362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1/10 yuan （written）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299150" y="1842492"/>
            <a:ext cx="5334149" cy="3979218"/>
          </a:xfrm>
          <a:prstGeom prst="roundRect">
            <a:avLst>
              <a:gd name="adj" fmla="val 31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sLz7wO9Bv9/img/f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2131368"/>
            <a:ext cx="1587401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43652" y="3807619"/>
            <a:ext cx="453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fēn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572500" y="4286994"/>
            <a:ext cx="803199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endParaRPr lang="en-US" sz="6200" dirty="0"/>
          </a:p>
        </p:txBody>
      </p:sp>
      <p:sp>
        <p:nvSpPr>
          <p:cNvPr id="18" name="Text 14"/>
          <p:cNvSpPr/>
          <p:nvPr/>
        </p:nvSpPr>
        <p:spPr>
          <a:xfrm>
            <a:off x="8416975" y="5202585"/>
            <a:ext cx="11204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1/100 yuan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727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96641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7276" y="1696641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1823591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Sān máo = sān jiǎo.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001" y="2128391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三毛 = 三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角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9001" y="2648396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mao = three jiao.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01" y="3162598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7276" y="3162598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001" y="3289548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Yì fēn qián.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001" y="3594348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钱。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9001" y="4114354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fen.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701" y="4628555"/>
            <a:ext cx="11074598" cy="13390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276" y="4628555"/>
            <a:ext cx="0" cy="1339007"/>
          </a:xfrm>
          <a:prstGeom prst="line">
            <a:avLst/>
          </a:prstGeom>
          <a:noFill/>
          <a:ln w="57150">
            <a:solidFill>
              <a:srgbClr val="B93F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001" y="4755505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Yí kuài wǔ jiǎo wǔ fēn.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001" y="5060305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一块五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角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9001" y="5580311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yuan fifty-five.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07481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398663"/>
            <a:ext cx="11074598" cy="1545431"/>
          </a:xfrm>
          <a:prstGeom prst="roundRect">
            <a:avLst>
              <a:gd name="adj" fmla="val 8218"/>
            </a:avLst>
          </a:prstGeom>
          <a:solidFill>
            <a:srgbClr val="E8E2C8"/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9752" y="2646313"/>
            <a:ext cx="10661547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70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 块 ______ 毛 ______ 分。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69752" y="3429744"/>
            <a:ext cx="10661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amount. Then say it aloud to your partner.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701" y="4071045"/>
            <a:ext cx="11074598" cy="1194643"/>
          </a:xfrm>
          <a:prstGeom prst="roundRect">
            <a:avLst>
              <a:gd name="adj" fmla="val 6378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8251" y="4229695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251" y="4493121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the same amount again using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元角分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then say it once more the spoken way.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251" y="4769346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一块五毛五分 = 一元五角五分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Checkpoint · 六个字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354759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THEM BACK — NO PINYIN, NO ENGLISH. THEN BACKWARDS.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678609"/>
            <a:ext cx="3589883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0241" y="2903934"/>
            <a:ext cx="3486802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钱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4300984" y="2678609"/>
            <a:ext cx="3589883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52525" y="2903934"/>
            <a:ext cx="3486802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块</a:t>
            </a:r>
            <a:endParaRPr lang="en-US" sz="4700" dirty="0"/>
          </a:p>
        </p:txBody>
      </p:sp>
      <p:sp>
        <p:nvSpPr>
          <p:cNvPr id="13" name="Text 11"/>
          <p:cNvSpPr/>
          <p:nvPr/>
        </p:nvSpPr>
        <p:spPr>
          <a:xfrm>
            <a:off x="8043267" y="2678609"/>
            <a:ext cx="3590032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94806" y="2903934"/>
            <a:ext cx="3486954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元</a:t>
            </a:r>
            <a:endParaRPr lang="en-US" sz="4700" dirty="0"/>
          </a:p>
        </p:txBody>
      </p:sp>
      <p:sp>
        <p:nvSpPr>
          <p:cNvPr id="15" name="Text 13"/>
          <p:cNvSpPr/>
          <p:nvPr/>
        </p:nvSpPr>
        <p:spPr>
          <a:xfrm>
            <a:off x="558701" y="3908375"/>
            <a:ext cx="3589883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0241" y="4133701"/>
            <a:ext cx="3486802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</a:t>
            </a:r>
            <a:endParaRPr lang="en-US" sz="4700" dirty="0"/>
          </a:p>
        </p:txBody>
      </p:sp>
      <p:sp>
        <p:nvSpPr>
          <p:cNvPr id="17" name="Text 15"/>
          <p:cNvSpPr/>
          <p:nvPr/>
        </p:nvSpPr>
        <p:spPr>
          <a:xfrm>
            <a:off x="4300984" y="3908375"/>
            <a:ext cx="3589883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52525" y="4133701"/>
            <a:ext cx="3486802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角</a:t>
            </a:r>
            <a:endParaRPr lang="en-US" sz="4700" dirty="0"/>
          </a:p>
        </p:txBody>
      </p:sp>
      <p:sp>
        <p:nvSpPr>
          <p:cNvPr id="19" name="Text 17"/>
          <p:cNvSpPr/>
          <p:nvPr/>
        </p:nvSpPr>
        <p:spPr>
          <a:xfrm>
            <a:off x="8043267" y="3908375"/>
            <a:ext cx="3590032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94806" y="4133701"/>
            <a:ext cx="3486954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endParaRPr lang="en-US" sz="4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290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Reading an amount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693" y="176213"/>
            <a:ext cx="484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870895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THE PATTERN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3194745"/>
            <a:ext cx="11074598" cy="1274713"/>
          </a:xfrm>
          <a:prstGeom prst="roundRect">
            <a:avLst>
              <a:gd name="adj" fmla="val 9963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365" y="3391495"/>
            <a:ext cx="1073927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三十 </a:t>
            </a:r>
            <a:r>
              <a:rPr lang="en-US" sz="3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块</a:t>
            </a: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五 </a:t>
            </a:r>
            <a:r>
              <a:rPr lang="en-US" sz="3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</a:t>
            </a: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五 </a:t>
            </a:r>
            <a:r>
              <a:rPr lang="en-US" sz="3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26365" y="4025057"/>
            <a:ext cx="107392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Largest unit first. No word for “and” — the units do that work.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290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Reading an amount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128986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模仿我说 · WATCH ME BUILD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51951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5002" y="2452836"/>
            <a:ext cx="893674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十块。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65002" y="2847231"/>
            <a:ext cx="893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¥10.00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8701" y="323135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5002" y="3164681"/>
            <a:ext cx="1489508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十块五毛。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65002" y="3559076"/>
            <a:ext cx="14895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¥10.50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8701" y="394320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5002" y="3876526"/>
            <a:ext cx="2383030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三十块五毛五分。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65002" y="4270921"/>
            <a:ext cx="2383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¥30.55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8701" y="465504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5002" y="4588371"/>
            <a:ext cx="5510814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一百二十块五毛 —— 用「元角」怎么说？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65002" y="4982766"/>
            <a:ext cx="55108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¥120.50 — now say it the written way.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080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p.111 NOTE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998464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P.111 · NOTE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322314"/>
            <a:ext cx="5435650" cy="1965722"/>
          </a:xfrm>
          <a:prstGeom prst="roundRect">
            <a:avLst>
              <a:gd name="adj" fmla="val 6461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5452" y="2493764"/>
            <a:ext cx="5142991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 · Spoken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55452" y="2922836"/>
            <a:ext cx="5142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people actually say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5452" y="3278386"/>
            <a:ext cx="5142991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块</a:t>
            </a:r>
            <a:r>
              <a:rPr lang="en-US" sz="2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· </a:t>
            </a: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</a:t>
            </a:r>
            <a:r>
              <a:rPr lang="en-US" sz="2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· 分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5452" y="3722936"/>
            <a:ext cx="5142991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</a:t>
            </a: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块</a:t>
            </a:r>
            <a:r>
              <a:rPr lang="en-US" sz="2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· 三</a:t>
            </a: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97501" y="2322314"/>
            <a:ext cx="5435798" cy="1965722"/>
          </a:xfrm>
          <a:prstGeom prst="roundRect">
            <a:avLst>
              <a:gd name="adj" fmla="val 6461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94252" y="2493764"/>
            <a:ext cx="5143143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 · Written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94252" y="2922836"/>
            <a:ext cx="51431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Price tags, receipts, the notes themselves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4252" y="3278386"/>
            <a:ext cx="5143143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元</a:t>
            </a:r>
            <a:r>
              <a:rPr lang="en-US" sz="2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· </a:t>
            </a: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角</a:t>
            </a:r>
            <a:r>
              <a:rPr lang="en-US" sz="2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· 分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94252" y="3722936"/>
            <a:ext cx="5143143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</a:t>
            </a: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元</a:t>
            </a:r>
            <a:r>
              <a:rPr lang="en-US" sz="2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· 三</a:t>
            </a: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8701" y="4288036"/>
            <a:ext cx="11074598" cy="1053852"/>
          </a:xfrm>
          <a:prstGeom prst="roundRect">
            <a:avLst>
              <a:gd name="adj" fmla="val 7231"/>
            </a:avLst>
          </a:prstGeom>
          <a:solidFill>
            <a:srgbClr val="4C7A2C">
              <a:alpha val="12000"/>
            </a:srgbClr>
          </a:solidFill>
          <a:ln w="952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45927" y="4437162"/>
            <a:ext cx="57096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 DOESN'T CHANGE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5927" y="4637187"/>
            <a:ext cx="570967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 is the same in both. It is only the top two units that swap.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5927" y="4964162"/>
            <a:ext cx="57096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五块 = 五元　·　三毛 = 三角　·　五分 = 五分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CFU · 检查理解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646" y="176213"/>
            <a:ext cx="478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37816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61666"/>
            <a:ext cx="3775770" cy="301526"/>
          </a:xfrm>
          <a:prstGeom prst="roundRect">
            <a:avLst>
              <a:gd name="adj" fmla="val 2103848"/>
            </a:avLst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712416"/>
            <a:ext cx="3618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NO ANSWERS ON SCREEN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064693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5927" y="2201168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77677" y="2201168"/>
            <a:ext cx="167303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「三毛」= 几角？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8701" y="2741265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927" y="2877741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77677" y="2877741"/>
            <a:ext cx="407792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¥25.60 in characters — both ways.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701" y="3417838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5927" y="3554313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77677" y="3554313"/>
            <a:ext cx="273081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 this aloud: 一百零五块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7677" y="3889474"/>
            <a:ext cx="27308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Did you hear the 零?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58701" y="4413200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5927" y="4549676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77677" y="4549676"/>
            <a:ext cx="245954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is wrong with this?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77677" y="4884837"/>
            <a:ext cx="2459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五钱块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58701" y="5408563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5927" y="5545038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77677" y="5545038"/>
            <a:ext cx="13244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一块 = 几毛？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76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20–27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39132" y="166688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720727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 FOR THE WHOLE ACTIVITY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3044577"/>
            <a:ext cx="1729383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q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943" y="3181052"/>
            <a:ext cx="812750" cy="8127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26493" y="4057204"/>
            <a:ext cx="401675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钱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2427684" y="3044577"/>
            <a:ext cx="1729383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sLz7wO9Bv9/img/ku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26" y="3181052"/>
            <a:ext cx="812750" cy="812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95476" y="4057204"/>
            <a:ext cx="401675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块</a:t>
            </a:r>
            <a:endParaRPr lang="en-US" sz="3100" dirty="0"/>
          </a:p>
        </p:txBody>
      </p:sp>
      <p:sp>
        <p:nvSpPr>
          <p:cNvPr id="15" name="Text 11"/>
          <p:cNvSpPr/>
          <p:nvPr/>
        </p:nvSpPr>
        <p:spPr>
          <a:xfrm>
            <a:off x="4296668" y="3044577"/>
            <a:ext cx="1729383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sLz7wO9Bv9/img/yu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910" y="3181052"/>
            <a:ext cx="812750" cy="812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64460" y="4057204"/>
            <a:ext cx="401675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元</a:t>
            </a:r>
            <a:endParaRPr lang="en-US" sz="3100" dirty="0"/>
          </a:p>
        </p:txBody>
      </p:sp>
      <p:sp>
        <p:nvSpPr>
          <p:cNvPr id="18" name="Text 13"/>
          <p:cNvSpPr/>
          <p:nvPr/>
        </p:nvSpPr>
        <p:spPr>
          <a:xfrm>
            <a:off x="6165652" y="3044577"/>
            <a:ext cx="1729532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sLz7wO9Bv9/img/m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042" y="3181052"/>
            <a:ext cx="812750" cy="812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33443" y="4057204"/>
            <a:ext cx="401675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</a:t>
            </a:r>
            <a:endParaRPr lang="en-US" sz="3100" dirty="0"/>
          </a:p>
        </p:txBody>
      </p:sp>
      <p:sp>
        <p:nvSpPr>
          <p:cNvPr id="21" name="Text 15"/>
          <p:cNvSpPr/>
          <p:nvPr/>
        </p:nvSpPr>
        <p:spPr>
          <a:xfrm>
            <a:off x="8034784" y="3044577"/>
            <a:ext cx="1729383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sLz7wO9Bv9/img/jia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026" y="3181052"/>
            <a:ext cx="812750" cy="8127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702576" y="4057204"/>
            <a:ext cx="401675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角</a:t>
            </a:r>
            <a:endParaRPr lang="en-US" sz="3100" dirty="0"/>
          </a:p>
        </p:txBody>
      </p:sp>
      <p:sp>
        <p:nvSpPr>
          <p:cNvPr id="24" name="Text 17"/>
          <p:cNvSpPr/>
          <p:nvPr/>
        </p:nvSpPr>
        <p:spPr>
          <a:xfrm>
            <a:off x="9903768" y="3044577"/>
            <a:ext cx="1729383" cy="1575048"/>
          </a:xfrm>
          <a:prstGeom prst="roundRect">
            <a:avLst>
              <a:gd name="adj" fmla="val 8063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var/folders/6c/210dcgxn4gz5sm71vld2cy1h0000gn/T/tmp.sLz7wO9Bv9/img/f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2009" y="3181052"/>
            <a:ext cx="812750" cy="8127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571559" y="4057204"/>
            <a:ext cx="401675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endParaRPr lang="en-US" sz="3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76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20–27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39132" y="166688"/>
            <a:ext cx="1787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课本 p.111 Ex.1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097" y="176213"/>
            <a:ext cx="485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95679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认一认 · 课本 P.111 EX.1 — SAY EACH ONE CHORALLY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280642"/>
            <a:ext cx="3598366" cy="1481733"/>
          </a:xfrm>
          <a:prstGeom prst="roundRect">
            <a:avLst>
              <a:gd name="adj" fmla="val 857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j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1434" y="2417118"/>
            <a:ext cx="812750" cy="8127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95884" y="3293269"/>
            <a:ext cx="15544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一毛（角）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296668" y="2280642"/>
            <a:ext cx="3598515" cy="1481733"/>
          </a:xfrm>
          <a:prstGeom prst="roundRect">
            <a:avLst>
              <a:gd name="adj" fmla="val 857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sLz7wO9Bv9/img/m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550" y="2417118"/>
            <a:ext cx="812750" cy="812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33851" y="3293269"/>
            <a:ext cx="15544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五毛（角）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034784" y="2280642"/>
            <a:ext cx="3598366" cy="1481733"/>
          </a:xfrm>
          <a:prstGeom prst="roundRect">
            <a:avLst>
              <a:gd name="adj" fmla="val 857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sLz7wO9Bv9/img/ku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518" y="2417118"/>
            <a:ext cx="812750" cy="812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71967" y="3293269"/>
            <a:ext cx="15544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一块（元）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558701" y="3901976"/>
            <a:ext cx="3598366" cy="1481733"/>
          </a:xfrm>
          <a:prstGeom prst="roundRect">
            <a:avLst>
              <a:gd name="adj" fmla="val 857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sLz7wO9Bv9/img/f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1434" y="4038451"/>
            <a:ext cx="812750" cy="812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53084" y="4914602"/>
            <a:ext cx="6217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一分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4296668" y="3901976"/>
            <a:ext cx="3598515" cy="1481733"/>
          </a:xfrm>
          <a:prstGeom prst="roundRect">
            <a:avLst>
              <a:gd name="adj" fmla="val 857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sLz7wO9Bv9/img/renminb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550" y="4038451"/>
            <a:ext cx="812750" cy="8127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38651" y="4914602"/>
            <a:ext cx="93268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一百块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8034784" y="3901976"/>
            <a:ext cx="3598366" cy="1481733"/>
          </a:xfrm>
          <a:prstGeom prst="roundRect">
            <a:avLst>
              <a:gd name="adj" fmla="val 857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var/folders/6c/210dcgxn4gz5sm71vld2cy1h0000gn/T/tmp.sLz7wO9Bv9/img/qi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518" y="4038451"/>
            <a:ext cx="812750" cy="8127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681567" y="4914602"/>
            <a:ext cx="310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钱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76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20–27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39132" y="166688"/>
            <a:ext cx="1787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课本 p.111 Ex.1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582" y="176213"/>
            <a:ext cx="509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885950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卡片对练 · CARD PAIRS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209800"/>
            <a:ext cx="1386632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260550"/>
            <a:ext cx="1181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7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612827"/>
            <a:ext cx="11074598" cy="1519982"/>
          </a:xfrm>
          <a:prstGeom prst="roundRect">
            <a:avLst>
              <a:gd name="adj" fmla="val 8355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796927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Shuffle your card set. One holds a card up, the other says it. 30 seconds each way.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3194149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 round: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put two or three cards down together — the partner says the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552" y="3591371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五十块 + 二十块 + 五毛 → 七十块五毛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58701" y="4259759"/>
            <a:ext cx="11074598" cy="1194643"/>
          </a:xfrm>
          <a:prstGeom prst="roundRect">
            <a:avLst>
              <a:gd name="adj" fmla="val 6378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8251" y="4418409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251" y="4681835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Say each total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twice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once as 块/毛, once as 元/角 — then say what it could buy.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8251" y="4958060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七十块五毛。七十元五角。这些钱可以吃七个汉堡包。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652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27–37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6047" y="166688"/>
            <a:ext cx="20423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练习册 p.129 Ex.2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467445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听写价钱 · LISTEN AND WRITE THE AMOUNT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791295"/>
            <a:ext cx="2187178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842046"/>
            <a:ext cx="1997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10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194322"/>
            <a:ext cx="11074598" cy="2356991"/>
          </a:xfrm>
          <a:prstGeom prst="roundRect">
            <a:avLst>
              <a:gd name="adj" fmla="val 5388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378422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Teacher reads an amount in Chinese. Write the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Hold it up.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2775645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Twice each for the first four, once after that.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552" y="3172867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五块 · 十二块 · 三毛 · 一块五毛 · 二十块八毛 · 九十九块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3552" y="3612654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一百块 · 三十块五毛五分 · 六块二毛 · 四十五块 · 二百块 · 一百零八块五毛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93552" y="4052441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flip it: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练习册 p.129 Ex.2 — seven pictures of notes. Write each amount in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characters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701" y="4678263"/>
            <a:ext cx="11074598" cy="1194643"/>
          </a:xfrm>
          <a:prstGeom prst="roundRect">
            <a:avLst>
              <a:gd name="adj" fmla="val 6378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8251" y="4836914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251" y="5100340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all seven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ways, then one sentence each for two of them saying what that money could buy.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8251" y="5376565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一百块可以买十个热狗。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41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37–43 MIN · 游戏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8895" y="166688"/>
            <a:ext cx="1015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拍价钱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838" y="176213"/>
            <a:ext cx="510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916757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拍价钱 · SLAP THE 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240607"/>
            <a:ext cx="2575917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291358"/>
            <a:ext cx="23942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AT THE BOARD · 6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643634"/>
            <a:ext cx="11074598" cy="1519982"/>
          </a:xfrm>
          <a:prstGeom prst="roundRect">
            <a:avLst>
              <a:gd name="adj" fmla="val 8355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827734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Nine amounts written large on the board, in characters.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3224957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五毛 · 一块 · 五块 · 十块 · 二十块 · 五十块 · 一百块 · 三块五 · 十二块八毛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3664744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Teacher calls an amount — first to slap it scores. Winner stays 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8701" y="4290566"/>
            <a:ext cx="11074598" cy="1133177"/>
          </a:xfrm>
          <a:prstGeom prst="roundRect">
            <a:avLst>
              <a:gd name="adj" fmla="val 6724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8251" y="4449217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251" y="4712643"/>
            <a:ext cx="108686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Call a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sum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instead of an amount （五块加五块 → slap 十块）, or call it in 元/角 so the student has to slap the 块/毛 version.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49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小结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16187" y="166688"/>
            <a:ext cx="5188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8993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913781"/>
            <a:ext cx="11074598" cy="1053852"/>
          </a:xfrm>
          <a:prstGeom prst="roundRect">
            <a:avLst>
              <a:gd name="adj" fmla="val 7231"/>
            </a:avLst>
          </a:prstGeom>
          <a:solidFill>
            <a:srgbClr val="4C7A2C">
              <a:alpha val="12000"/>
            </a:srgbClr>
          </a:solidFill>
          <a:ln w="952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5927" y="2062907"/>
            <a:ext cx="6217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SELF-ASSESSMENT · 自评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5927" y="2262932"/>
            <a:ext cx="62179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Thumbs on each success criterion —  /  /</a:t>
            </a:r>
            <a:endParaRPr lang="en-US" sz="1500" dirty="0"/>
          </a:p>
        </p:txBody>
      </p:sp>
      <p:pic>
        <p:nvPicPr>
          <p:cNvPr id="12" name="Image 0" descr="/var/folders/6c/210dcgxn4gz5sm71vld2cy1h0000gn/T/tmp.sLz7wO9Bv9/img/rate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1779" y="2266206"/>
            <a:ext cx="253901" cy="253901"/>
          </a:xfrm>
          <a:prstGeom prst="rect">
            <a:avLst/>
          </a:prstGeom>
        </p:spPr>
      </p:pic>
      <p:pic>
        <p:nvPicPr>
          <p:cNvPr id="13" name="Image 1" descr="/var/folders/6c/210dcgxn4gz5sm71vld2cy1h0000gn/T/tmp.sLz7wO9Bv9/img/rate-m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619" y="2266206"/>
            <a:ext cx="253901" cy="253901"/>
          </a:xfrm>
          <a:prstGeom prst="rect">
            <a:avLst/>
          </a:prstGeom>
        </p:spPr>
      </p:pic>
      <p:pic>
        <p:nvPicPr>
          <p:cNvPr id="14" name="Image 2" descr="/var/folders/6c/210dcgxn4gz5sm71vld2cy1h0000gn/T/tmp.sLz7wO9Bv9/img/rate-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459" y="2266206"/>
            <a:ext cx="253901" cy="2539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5927" y="2589907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Watch criterion 3 — the 块/元 split is the one that fades before next lesson.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58701" y="3107234"/>
            <a:ext cx="11074598" cy="1391543"/>
          </a:xfrm>
          <a:prstGeom prst="roundRect">
            <a:avLst>
              <a:gd name="adj" fmla="val 5476"/>
            </a:avLst>
          </a:prstGeom>
          <a:solidFill>
            <a:srgbClr val="B93F2C">
              <a:alpha val="11000"/>
            </a:srgbClr>
          </a:solidFill>
          <a:ln w="952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745927" y="3256359"/>
            <a:ext cx="68145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45927" y="3456384"/>
            <a:ext cx="681451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¥32.50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Chinese characters — then write it again the other way.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45927" y="3732609"/>
            <a:ext cx="6814512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三十二块五毛　/　三十二元五角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745927" y="4121051"/>
            <a:ext cx="6814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a half-slip. Collected at the door.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58701" y="4638377"/>
            <a:ext cx="11074598" cy="1112193"/>
          </a:xfrm>
          <a:prstGeom prst="roundRect">
            <a:avLst>
              <a:gd name="adj" fmla="val 6851"/>
            </a:avLst>
          </a:prstGeom>
          <a:solidFill>
            <a:srgbClr val="B96A12">
              <a:alpha val="14000"/>
            </a:srgbClr>
          </a:solidFill>
          <a:ln w="952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745927" y="4787503"/>
            <a:ext cx="2034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NEXT LESSON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45927" y="4987528"/>
            <a:ext cx="203418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to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price.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45927" y="5263753"/>
            <a:ext cx="2034183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这些苹果怎么卖？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2026-09-14T23:06:07Z</dcterms:created>
  <dcterms:modified xsi:type="dcterms:W3CDTF">2026-09-14T23:06:07Z</dcterms:modified>
</cp:coreProperties>
</file>