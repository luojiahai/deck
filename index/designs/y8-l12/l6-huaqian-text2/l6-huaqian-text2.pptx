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204570"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LESSON 6 OF 6</a:t>
            </a:r>
            <a:endParaRPr lang="en-US" sz="1000" dirty="0"/>
          </a:p>
        </p:txBody>
      </p:sp>
      <p:sp>
        <p:nvSpPr>
          <p:cNvPr id="5" name="Text 3"/>
          <p:cNvSpPr/>
          <p:nvPr/>
        </p:nvSpPr>
        <p:spPr>
          <a:xfrm>
            <a:off x="1974354" y="166688"/>
            <a:ext cx="1059597"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Y8 · Lesson 12</a:t>
            </a:r>
            <a:endParaRPr lang="en-US" sz="1100" dirty="0"/>
          </a:p>
        </p:txBody>
      </p:sp>
      <p:sp>
        <p:nvSpPr>
          <p:cNvPr id="6" name="Text 4"/>
          <p:cNvSpPr/>
          <p:nvPr/>
        </p:nvSpPr>
        <p:spPr>
          <a:xfrm>
            <a:off x="11291441" y="176213"/>
            <a:ext cx="400461"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711101" y="1640532"/>
            <a:ext cx="11140642" cy="247650"/>
          </a:xfrm>
          <a:prstGeom prst="rect">
            <a:avLst/>
          </a:prstGeom>
          <a:noFill/>
          <a:ln/>
        </p:spPr>
        <p:txBody>
          <a:bodyPr wrap="square" lIns="0" tIns="0" rIns="0" bIns="0" rtlCol="0" anchor="t"/>
          <a:lstStyle/>
          <a:p>
            <a:pPr algn="l" indent="0" marL="0">
              <a:buNone/>
            </a:pPr>
            <a:r>
              <a:rPr lang="en-US" sz="1400" b="1" dirty="0">
                <a:solidFill>
                  <a:srgbClr val="B96A12"/>
                </a:solidFill>
                <a:latin typeface="Noto Sans" pitchFamily="34" charset="0"/>
                <a:ea typeface="Noto Sans" pitchFamily="34" charset="-122"/>
                <a:cs typeface="Noto Sans" pitchFamily="34" charset="-120"/>
              </a:rPr>
              <a:t>轻松学中文 2 · UNIT 4 · LESSON 12</a:t>
            </a:r>
            <a:endParaRPr lang="en-US" sz="1400" dirty="0"/>
          </a:p>
        </p:txBody>
      </p:sp>
      <p:sp>
        <p:nvSpPr>
          <p:cNvPr id="9" name="Text 7"/>
          <p:cNvSpPr/>
          <p:nvPr/>
        </p:nvSpPr>
        <p:spPr>
          <a:xfrm>
            <a:off x="711101" y="2053233"/>
            <a:ext cx="11140642" cy="1230660"/>
          </a:xfrm>
          <a:prstGeom prst="rect">
            <a:avLst/>
          </a:prstGeom>
          <a:noFill/>
          <a:ln/>
        </p:spPr>
        <p:txBody>
          <a:bodyPr wrap="square" lIns="0" tIns="0" rIns="0" bIns="0" rtlCol="0" anchor="t"/>
          <a:lstStyle/>
          <a:p>
            <a:pPr algn="l" indent="0" marL="0">
              <a:lnSpc>
                <a:spcPts val="9690"/>
              </a:lnSpc>
              <a:spcBef>
                <a:spcPts val="1300"/>
              </a:spcBef>
              <a:spcAft>
                <a:spcPts val="500"/>
              </a:spcAft>
              <a:buNone/>
            </a:pPr>
            <a:r>
              <a:rPr lang="en-US" sz="9500" b="1" dirty="0">
                <a:solidFill>
                  <a:srgbClr val="24321C"/>
                </a:solidFill>
                <a:latin typeface="Noto Serif SC" pitchFamily="34" charset="0"/>
                <a:ea typeface="Noto Serif SC" pitchFamily="34" charset="-122"/>
                <a:cs typeface="Noto Serif SC" pitchFamily="34" charset="-120"/>
              </a:rPr>
              <a:t>不算太贵</a:t>
            </a:r>
            <a:endParaRPr lang="en-US" sz="9500" dirty="0"/>
          </a:p>
        </p:txBody>
      </p:sp>
      <p:sp>
        <p:nvSpPr>
          <p:cNvPr id="10" name="Text 8"/>
          <p:cNvSpPr/>
          <p:nvPr/>
        </p:nvSpPr>
        <p:spPr>
          <a:xfrm>
            <a:off x="711101" y="3347293"/>
            <a:ext cx="11140642" cy="600075"/>
          </a:xfrm>
          <a:prstGeom prst="rect">
            <a:avLst/>
          </a:prstGeom>
          <a:noFill/>
          <a:ln/>
        </p:spPr>
        <p:txBody>
          <a:bodyPr wrap="square" lIns="0" tIns="0" rIns="0" bIns="0" rtlCol="0" anchor="t"/>
          <a:lstStyle/>
          <a:p>
            <a:pPr algn="l" indent="0" marL="0">
              <a:buNone/>
            </a:pPr>
            <a:r>
              <a:rPr lang="en-US" sz="3400" b="1" dirty="0">
                <a:solidFill>
                  <a:srgbClr val="4C7A2C"/>
                </a:solidFill>
                <a:latin typeface="Noto Serif SC" pitchFamily="34" charset="0"/>
                <a:ea typeface="Noto Serif SC" pitchFamily="34" charset="-122"/>
                <a:cs typeface="Noto Serif SC" pitchFamily="34" charset="-120"/>
              </a:rPr>
              <a:t>The Whole Meal Out</a:t>
            </a:r>
            <a:endParaRPr lang="en-US" sz="3400" dirty="0"/>
          </a:p>
        </p:txBody>
      </p:sp>
      <p:sp>
        <p:nvSpPr>
          <p:cNvPr id="11" name="Text 9"/>
          <p:cNvSpPr/>
          <p:nvPr/>
        </p:nvSpPr>
        <p:spPr>
          <a:xfrm>
            <a:off x="711101" y="4175968"/>
            <a:ext cx="11140642" cy="266700"/>
          </a:xfrm>
          <a:prstGeom prst="rect">
            <a:avLst/>
          </a:prstGeom>
          <a:noFill/>
          <a:ln/>
        </p:spPr>
        <p:txBody>
          <a:bodyPr wrap="square" lIns="0" tIns="0" rIns="0" bIns="0" rtlCol="0" anchor="t"/>
          <a:lstStyle/>
          <a:p>
            <a:pPr algn="l" indent="0" marL="0">
              <a:spcBef>
                <a:spcPts val="1800"/>
              </a:spcBef>
              <a:buNone/>
            </a:pPr>
            <a:r>
              <a:rPr lang="en-US" sz="1500" dirty="0">
                <a:solidFill>
                  <a:srgbClr val="4E5A42"/>
                </a:solidFill>
                <a:latin typeface="Noto Sans" pitchFamily="34" charset="0"/>
                <a:ea typeface="Noto Sans" pitchFamily="34" charset="-122"/>
                <a:cs typeface="Noto Sans" pitchFamily="34" charset="-120"/>
              </a:rPr>
              <a:t>Lesson 6 of 6 · 50 minutes · 课本 p.115、p.119–121</a:t>
            </a:r>
            <a:endParaRPr lang="en-US" sz="1500" dirty="0"/>
          </a:p>
        </p:txBody>
      </p:sp>
      <p:pic>
        <p:nvPicPr>
          <p:cNvPr id="12" name="Image 0" descr="/var/folders/6c/210dcgxn4gz5sm71vld2cy1h0000gn/T/tmp.sLz7wO9Bv9/img/hua.png">    </p:cNvPr>
          <p:cNvPicPr>
            <a:picLocks noChangeAspect="1"/>
          </p:cNvPicPr>
          <p:nvPr/>
        </p:nvPicPr>
        <p:blipFill>
          <a:blip r:embed="rId1"/>
          <a:stretch>
            <a:fillRect/>
          </a:stretch>
        </p:blipFill>
        <p:spPr>
          <a:xfrm>
            <a:off x="711101" y="4747468"/>
            <a:ext cx="952500" cy="952500"/>
          </a:xfrm>
          <a:prstGeom prst="rect">
            <a:avLst/>
          </a:prstGeom>
        </p:spPr>
      </p:pic>
      <p:pic>
        <p:nvPicPr>
          <p:cNvPr id="13" name="Image 1" descr="/var/folders/6c/210dcgxn4gz5sm71vld2cy1h0000gn/T/tmp.sLz7wO9Bv9/img/bai.png">    </p:cNvPr>
          <p:cNvPicPr>
            <a:picLocks noChangeAspect="1"/>
          </p:cNvPicPr>
          <p:nvPr/>
        </p:nvPicPr>
        <p:blipFill>
          <a:blip r:embed="rId2"/>
          <a:stretch>
            <a:fillRect/>
          </a:stretch>
        </p:blipFill>
        <p:spPr>
          <a:xfrm>
            <a:off x="1841302" y="4747468"/>
            <a:ext cx="952500" cy="952500"/>
          </a:xfrm>
          <a:prstGeom prst="rect">
            <a:avLst/>
          </a:prstGeom>
        </p:spPr>
      </p:pic>
      <p:pic>
        <p:nvPicPr>
          <p:cNvPr id="14" name="Image 2" descr="/var/folders/6c/210dcgxn4gz5sm71vld2cy1h0000gn/T/tmp.sLz7wO9Bv9/img/suan.png">    </p:cNvPr>
          <p:cNvPicPr>
            <a:picLocks noChangeAspect="1"/>
          </p:cNvPicPr>
          <p:nvPr/>
        </p:nvPicPr>
        <p:blipFill>
          <a:blip r:embed="rId3"/>
          <a:stretch>
            <a:fillRect/>
          </a:stretch>
        </p:blipFill>
        <p:spPr>
          <a:xfrm>
            <a:off x="2971502" y="4747468"/>
            <a:ext cx="952500" cy="952500"/>
          </a:xfrm>
          <a:prstGeom prst="rect">
            <a:avLst/>
          </a:prstGeom>
        </p:spPr>
      </p:pic>
      <p:pic>
        <p:nvPicPr>
          <p:cNvPr id="15" name="Image 3" descr="/var/folders/6c/210dcgxn4gz5sm71vld2cy1h0000gn/T/tmp.sLz7wO9Bv9/img/gui.png">    </p:cNvPr>
          <p:cNvPicPr>
            <a:picLocks noChangeAspect="1"/>
          </p:cNvPicPr>
          <p:nvPr/>
        </p:nvPicPr>
        <p:blipFill>
          <a:blip r:embed="rId4"/>
          <a:stretch>
            <a:fillRect/>
          </a:stretch>
        </p:blipFill>
        <p:spPr>
          <a:xfrm>
            <a:off x="4101703" y="4747468"/>
            <a:ext cx="952500" cy="952500"/>
          </a:xfrm>
          <a:prstGeom prst="rect">
            <a:avLst/>
          </a:prstGeom>
        </p:spPr>
      </p:pic>
      <p:pic>
        <p:nvPicPr>
          <p:cNvPr id="16" name="Image 4" descr="/var/folders/6c/210dcgxn4gz5sm71vld2cy1h0000gn/T/tmp.sLz7wO9Bv9/img/fandian.png">    </p:cNvPr>
          <p:cNvPicPr>
            <a:picLocks noChangeAspect="1"/>
          </p:cNvPicPr>
          <p:nvPr/>
        </p:nvPicPr>
        <p:blipFill>
          <a:blip r:embed="rId5"/>
          <a:stretch>
            <a:fillRect/>
          </a:stretch>
        </p:blipFill>
        <p:spPr>
          <a:xfrm>
            <a:off x="5231904" y="4747468"/>
            <a:ext cx="952500" cy="952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158118"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0–8 MIN · 复习</a:t>
            </a:r>
            <a:endParaRPr lang="en-US" sz="1000" dirty="0"/>
          </a:p>
        </p:txBody>
      </p:sp>
      <p:sp>
        <p:nvSpPr>
          <p:cNvPr id="5" name="Text 3"/>
          <p:cNvSpPr/>
          <p:nvPr/>
        </p:nvSpPr>
        <p:spPr>
          <a:xfrm>
            <a:off x="1928813" y="166688"/>
            <a:ext cx="1564195"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Review · Lessons 1–5</a:t>
            </a:r>
            <a:endParaRPr lang="en-US" sz="1100" dirty="0"/>
          </a:p>
        </p:txBody>
      </p:sp>
      <p:sp>
        <p:nvSpPr>
          <p:cNvPr id="6" name="Text 4"/>
          <p:cNvSpPr/>
          <p:nvPr/>
        </p:nvSpPr>
        <p:spPr>
          <a:xfrm>
            <a:off x="11266438" y="176213"/>
            <a:ext cx="425964"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908423"/>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复习 · 六题 · ONE FROM EVERY LESSON SO FAR</a:t>
            </a:r>
            <a:endParaRPr lang="en-US" sz="1200" dirty="0"/>
          </a:p>
        </p:txBody>
      </p:sp>
      <p:sp>
        <p:nvSpPr>
          <p:cNvPr id="9" name="Text 7"/>
          <p:cNvSpPr/>
          <p:nvPr/>
        </p:nvSpPr>
        <p:spPr>
          <a:xfrm>
            <a:off x="558701" y="2232273"/>
            <a:ext cx="2111276" cy="301526"/>
          </a:xfrm>
          <a:prstGeom prst="roundRect">
            <a:avLst>
              <a:gd name="adj" fmla="val 2103848"/>
            </a:avLst>
          </a:prstGeom>
          <a:solidFill>
            <a:srgbClr val="B96A12">
              <a:alpha val="14000"/>
            </a:srgbClr>
          </a:solidFill>
          <a:ln/>
        </p:spPr>
        <p:txBody>
          <a:bodyPr wrap="square" rtlCol="0" anchor="ctr"/>
          <a:lstStyle/>
          <a:p>
            <a:pPr indent="0" marL="0">
              <a:buNone/>
            </a:pPr>
            <a:endParaRPr lang="en-US" dirty="0"/>
          </a:p>
        </p:txBody>
      </p:sp>
      <p:sp>
        <p:nvSpPr>
          <p:cNvPr id="10" name="Text 8"/>
          <p:cNvSpPr/>
          <p:nvPr/>
        </p:nvSpPr>
        <p:spPr>
          <a:xfrm>
            <a:off x="673001" y="2283023"/>
            <a:ext cx="1920329" cy="200025"/>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WHITEBOARDS · 5 MIN</a:t>
            </a:r>
            <a:endParaRPr lang="en-US" sz="1100" dirty="0"/>
          </a:p>
        </p:txBody>
      </p:sp>
      <p:sp>
        <p:nvSpPr>
          <p:cNvPr id="11" name="Text 9"/>
          <p:cNvSpPr/>
          <p:nvPr/>
        </p:nvSpPr>
        <p:spPr>
          <a:xfrm>
            <a:off x="558701" y="2635300"/>
            <a:ext cx="11074598" cy="2796778"/>
          </a:xfrm>
          <a:prstGeom prst="roundRect">
            <a:avLst>
              <a:gd name="adj" fmla="val 4541"/>
            </a:avLst>
          </a:prstGeom>
          <a:solidFill>
            <a:srgbClr val="F2EFDE"/>
          </a:solidFill>
          <a:ln w="19050">
            <a:solidFill>
              <a:srgbClr val="CFC7A6"/>
            </a:solidFill>
          </a:ln>
        </p:spPr>
        <p:txBody>
          <a:bodyPr wrap="square" rtlCol="0" anchor="ctr"/>
          <a:lstStyle/>
          <a:p>
            <a:pPr indent="0" marL="0">
              <a:buNone/>
            </a:pPr>
            <a:endParaRPr lang="en-US" dirty="0"/>
          </a:p>
        </p:txBody>
      </p:sp>
      <p:sp>
        <p:nvSpPr>
          <p:cNvPr id="12" name="Text 10"/>
          <p:cNvSpPr/>
          <p:nvPr/>
        </p:nvSpPr>
        <p:spPr>
          <a:xfrm>
            <a:off x="793552" y="2819400"/>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① Write </a:t>
            </a:r>
            <a:r>
              <a:rPr lang="en-US" sz="1600" b="1" dirty="0">
                <a:solidFill>
                  <a:srgbClr val="B93F2C"/>
                </a:solidFill>
                <a:latin typeface="Noto Sans" pitchFamily="34" charset="0"/>
                <a:ea typeface="Noto Sans" pitchFamily="34" charset="-122"/>
                <a:cs typeface="Noto Sans" pitchFamily="34" charset="-120"/>
              </a:rPr>
              <a:t>¥45.60</a:t>
            </a:r>
            <a:r>
              <a:rPr lang="en-US" sz="1600" dirty="0">
                <a:solidFill>
                  <a:srgbClr val="24321C"/>
                </a:solidFill>
                <a:latin typeface="Noto Sans" pitchFamily="34" charset="0"/>
                <a:ea typeface="Noto Sans" pitchFamily="34" charset="-122"/>
                <a:cs typeface="Noto Sans" pitchFamily="34" charset="-120"/>
              </a:rPr>
              <a:t> in characters.</a:t>
            </a:r>
            <a:endParaRPr lang="en-US" sz="1600" dirty="0"/>
          </a:p>
        </p:txBody>
      </p:sp>
      <p:sp>
        <p:nvSpPr>
          <p:cNvPr id="13" name="Text 11"/>
          <p:cNvSpPr/>
          <p:nvPr/>
        </p:nvSpPr>
        <p:spPr>
          <a:xfrm>
            <a:off x="793552" y="3216622"/>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② 这些苹果怎么卖？　—— 回答它</a:t>
            </a:r>
            <a:endParaRPr lang="en-US" sz="2100" dirty="0"/>
          </a:p>
        </p:txBody>
      </p:sp>
      <p:sp>
        <p:nvSpPr>
          <p:cNvPr id="14" name="Text 12"/>
          <p:cNvSpPr/>
          <p:nvPr/>
        </p:nvSpPr>
        <p:spPr>
          <a:xfrm>
            <a:off x="793552" y="3656409"/>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③ Translate: “May I use RMB?”</a:t>
            </a:r>
            <a:endParaRPr lang="en-US" sz="1600" dirty="0"/>
          </a:p>
        </p:txBody>
      </p:sp>
      <p:sp>
        <p:nvSpPr>
          <p:cNvPr id="15" name="Text 13"/>
          <p:cNvSpPr/>
          <p:nvPr/>
        </p:nvSpPr>
        <p:spPr>
          <a:xfrm>
            <a:off x="793552" y="4053632"/>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④ 他们的饭菜做 ______ 特别好吃。</a:t>
            </a:r>
            <a:endParaRPr lang="en-US" sz="2100" dirty="0"/>
          </a:p>
        </p:txBody>
      </p:sp>
      <p:sp>
        <p:nvSpPr>
          <p:cNvPr id="16" name="Text 14"/>
          <p:cNvSpPr/>
          <p:nvPr/>
        </p:nvSpPr>
        <p:spPr>
          <a:xfrm>
            <a:off x="793552" y="4493419"/>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⑤ 你一星期吃几次快餐？　—— 完整句子</a:t>
            </a:r>
            <a:endParaRPr lang="en-US" sz="2100" dirty="0"/>
          </a:p>
        </p:txBody>
      </p:sp>
      <p:sp>
        <p:nvSpPr>
          <p:cNvPr id="17" name="Text 15"/>
          <p:cNvSpPr/>
          <p:nvPr/>
        </p:nvSpPr>
        <p:spPr>
          <a:xfrm>
            <a:off x="793552" y="4933206"/>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⑥ Write the four simple characters: corpse, household, leather, man.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158118"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0–8 MIN · 复习</a:t>
            </a:r>
            <a:endParaRPr lang="en-US" sz="1000" dirty="0"/>
          </a:p>
        </p:txBody>
      </p:sp>
      <p:sp>
        <p:nvSpPr>
          <p:cNvPr id="5" name="Text 3"/>
          <p:cNvSpPr/>
          <p:nvPr/>
        </p:nvSpPr>
        <p:spPr>
          <a:xfrm>
            <a:off x="1928813" y="166688"/>
            <a:ext cx="1765033"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Review · 课本 p.119 Ex.14</a:t>
            </a:r>
            <a:endParaRPr lang="en-US" sz="1100" dirty="0"/>
          </a:p>
        </p:txBody>
      </p:sp>
      <p:sp>
        <p:nvSpPr>
          <p:cNvPr id="6" name="Text 4"/>
          <p:cNvSpPr/>
          <p:nvPr/>
        </p:nvSpPr>
        <p:spPr>
          <a:xfrm>
            <a:off x="11266736" y="176213"/>
            <a:ext cx="425660"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3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138214"/>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复习 · 听一听，打勾 · 课本 P.119 EX.14 · CD 60</a:t>
            </a:r>
            <a:endParaRPr lang="en-US" sz="1200" dirty="0"/>
          </a:p>
        </p:txBody>
      </p:sp>
      <p:sp>
        <p:nvSpPr>
          <p:cNvPr id="9" name="Text 7"/>
          <p:cNvSpPr/>
          <p:nvPr/>
        </p:nvSpPr>
        <p:spPr>
          <a:xfrm>
            <a:off x="558701" y="2462064"/>
            <a:ext cx="1485156" cy="301526"/>
          </a:xfrm>
          <a:prstGeom prst="roundRect">
            <a:avLst>
              <a:gd name="adj" fmla="val 2103848"/>
            </a:avLst>
          </a:prstGeom>
          <a:solidFill>
            <a:srgbClr val="B96A12">
              <a:alpha val="14000"/>
            </a:srgbClr>
          </a:solidFill>
          <a:ln/>
        </p:spPr>
        <p:txBody>
          <a:bodyPr wrap="square" rtlCol="0" anchor="ctr"/>
          <a:lstStyle/>
          <a:p>
            <a:pPr indent="0" marL="0">
              <a:buNone/>
            </a:pPr>
            <a:endParaRPr lang="en-US" dirty="0"/>
          </a:p>
        </p:txBody>
      </p:sp>
      <p:sp>
        <p:nvSpPr>
          <p:cNvPr id="10" name="Text 8"/>
          <p:cNvSpPr/>
          <p:nvPr/>
        </p:nvSpPr>
        <p:spPr>
          <a:xfrm>
            <a:off x="673001" y="2512814"/>
            <a:ext cx="1281687" cy="200025"/>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BOOKS · 3 MIN</a:t>
            </a:r>
            <a:endParaRPr lang="en-US" sz="1100" dirty="0"/>
          </a:p>
        </p:txBody>
      </p:sp>
      <p:sp>
        <p:nvSpPr>
          <p:cNvPr id="11" name="Text 9"/>
          <p:cNvSpPr/>
          <p:nvPr/>
        </p:nvSpPr>
        <p:spPr>
          <a:xfrm>
            <a:off x="558701" y="2865090"/>
            <a:ext cx="11074598" cy="1562546"/>
          </a:xfrm>
          <a:prstGeom prst="roundRect">
            <a:avLst>
              <a:gd name="adj" fmla="val 8128"/>
            </a:avLst>
          </a:prstGeom>
          <a:solidFill>
            <a:srgbClr val="F2EFDE"/>
          </a:solidFill>
          <a:ln w="19050">
            <a:solidFill>
              <a:srgbClr val="CFC7A6"/>
            </a:solidFill>
          </a:ln>
        </p:spPr>
        <p:txBody>
          <a:bodyPr wrap="square" rtlCol="0" anchor="ctr"/>
          <a:lstStyle/>
          <a:p>
            <a:pPr indent="0" marL="0">
              <a:buNone/>
            </a:pPr>
            <a:endParaRPr lang="en-US" dirty="0"/>
          </a:p>
        </p:txBody>
      </p:sp>
      <p:sp>
        <p:nvSpPr>
          <p:cNvPr id="12" name="Text 10"/>
          <p:cNvSpPr/>
          <p:nvPr/>
        </p:nvSpPr>
        <p:spPr>
          <a:xfrm>
            <a:off x="793552" y="3049191"/>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Six items, three options each. Played twice, ticked in the book, checked chorally.</a:t>
            </a:r>
            <a:endParaRPr lang="en-US" sz="1600" dirty="0"/>
          </a:p>
        </p:txBody>
      </p:sp>
      <p:sp>
        <p:nvSpPr>
          <p:cNvPr id="13" name="Text 11"/>
          <p:cNvSpPr/>
          <p:nvPr/>
        </p:nvSpPr>
        <p:spPr>
          <a:xfrm>
            <a:off x="793552" y="3446413"/>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① 黄瓜／苹果／西瓜　② 快餐／中餐／早餐　③ 买水果／打篮球／看电视</a:t>
            </a:r>
            <a:endParaRPr lang="en-US" sz="2100" dirty="0"/>
          </a:p>
        </p:txBody>
      </p:sp>
      <p:sp>
        <p:nvSpPr>
          <p:cNvPr id="14" name="Text 12"/>
          <p:cNvSpPr/>
          <p:nvPr/>
        </p:nvSpPr>
        <p:spPr>
          <a:xfrm>
            <a:off x="793552" y="3886200"/>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④ 周末／吃饭／朋友　⑤ 天气／爱好／家人　⑥ 炒菜／包子／米饭</a:t>
            </a:r>
            <a:endParaRPr lang="en-US" sz="2100" dirty="0"/>
          </a:p>
        </p:txBody>
      </p:sp>
      <p:sp>
        <p:nvSpPr>
          <p:cNvPr id="15" name="Text 13"/>
          <p:cNvSpPr/>
          <p:nvPr/>
        </p:nvSpPr>
        <p:spPr>
          <a:xfrm>
            <a:off x="558701" y="4427637"/>
            <a:ext cx="11074598" cy="774502"/>
          </a:xfrm>
          <a:prstGeom prst="roundRect">
            <a:avLst>
              <a:gd name="adj" fmla="val 9839"/>
            </a:avLst>
          </a:prstGeom>
          <a:solidFill>
            <a:srgbClr val="B96A12">
              <a:alpha val="14000"/>
            </a:srgbClr>
          </a:solidFill>
          <a:ln w="9525">
            <a:solidFill>
              <a:srgbClr val="B96A12"/>
            </a:solidFill>
          </a:ln>
        </p:spPr>
        <p:txBody>
          <a:bodyPr wrap="square" rtlCol="0" anchor="ctr"/>
          <a:lstStyle/>
          <a:p>
            <a:pPr indent="0" marL="0">
              <a:buNone/>
            </a:pPr>
            <a:endParaRPr lang="en-US" dirty="0"/>
          </a:p>
        </p:txBody>
      </p:sp>
      <p:sp>
        <p:nvSpPr>
          <p:cNvPr id="16" name="Text 14"/>
          <p:cNvSpPr/>
          <p:nvPr/>
        </p:nvSpPr>
        <p:spPr>
          <a:xfrm>
            <a:off x="745927" y="4576763"/>
            <a:ext cx="9908747" cy="200025"/>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CONNECTION · 接上节课</a:t>
            </a:r>
            <a:endParaRPr lang="en-US" sz="1100" dirty="0"/>
          </a:p>
        </p:txBody>
      </p:sp>
      <p:sp>
        <p:nvSpPr>
          <p:cNvPr id="17" name="Text 15"/>
          <p:cNvSpPr/>
          <p:nvPr/>
        </p:nvSpPr>
        <p:spPr>
          <a:xfrm>
            <a:off x="745927" y="4776788"/>
            <a:ext cx="9908747"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Everything in this lesson happens in </a:t>
            </a:r>
            <a:r>
              <a:rPr lang="en-US" sz="1500" b="1" dirty="0">
                <a:solidFill>
                  <a:srgbClr val="24321C"/>
                </a:solidFill>
                <a:latin typeface="Noto Sans" pitchFamily="34" charset="0"/>
                <a:ea typeface="Noto Sans" pitchFamily="34" charset="-122"/>
                <a:cs typeface="Noto Sans" pitchFamily="34" charset="-120"/>
              </a:rPr>
              <a:t>one</a:t>
            </a:r>
            <a:r>
              <a:rPr lang="en-US" sz="1500" dirty="0">
                <a:solidFill>
                  <a:srgbClr val="24321C"/>
                </a:solidFill>
                <a:latin typeface="Noto Sans" pitchFamily="34" charset="0"/>
                <a:ea typeface="Noto Sans" pitchFamily="34" charset="-122"/>
                <a:cs typeface="Noto Sans" pitchFamily="34" charset="-120"/>
              </a:rPr>
              <a:t> conversation —— and it ends with the bill. That's the last piece.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741718"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8–10 MIN</a:t>
            </a:r>
            <a:endParaRPr lang="en-US" sz="1000" dirty="0"/>
          </a:p>
        </p:txBody>
      </p:sp>
      <p:sp>
        <p:nvSpPr>
          <p:cNvPr id="5" name="Text 3"/>
          <p:cNvSpPr/>
          <p:nvPr/>
        </p:nvSpPr>
        <p:spPr>
          <a:xfrm>
            <a:off x="1520577" y="166688"/>
            <a:ext cx="581260"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学习目标</a:t>
            </a:r>
            <a:endParaRPr lang="en-US" sz="1100" dirty="0"/>
          </a:p>
        </p:txBody>
      </p:sp>
      <p:sp>
        <p:nvSpPr>
          <p:cNvPr id="6" name="Text 4"/>
          <p:cNvSpPr/>
          <p:nvPr/>
        </p:nvSpPr>
        <p:spPr>
          <a:xfrm>
            <a:off x="11266140" y="176213"/>
            <a:ext cx="426268"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4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624905"/>
            <a:ext cx="11296090" cy="209550"/>
          </a:xfrm>
          <a:prstGeom prst="rect">
            <a:avLst/>
          </a:prstGeom>
          <a:noFill/>
          <a:ln/>
        </p:spPr>
        <p:txBody>
          <a:bodyPr wrap="square" lIns="0" tIns="0" rIns="0" bIns="0" rtlCol="0" anchor="t"/>
          <a:lstStyle/>
          <a:p>
            <a:pPr algn="l" indent="0" marL="0">
              <a:spcAft>
                <a:spcPts val="600"/>
              </a:spcAft>
              <a:buNone/>
            </a:pPr>
            <a:r>
              <a:rPr lang="en-US" sz="1200" b="1" dirty="0">
                <a:solidFill>
                  <a:srgbClr val="4C7A2C"/>
                </a:solidFill>
                <a:latin typeface="Noto Sans" pitchFamily="34" charset="0"/>
                <a:ea typeface="Noto Sans" pitchFamily="34" charset="-122"/>
                <a:cs typeface="Noto Sans" pitchFamily="34" charset="-120"/>
              </a:rPr>
              <a:t>LEARNING INTENTION · 学习目标</a:t>
            </a:r>
            <a:endParaRPr lang="en-US" sz="1200" dirty="0"/>
          </a:p>
        </p:txBody>
      </p:sp>
      <p:sp>
        <p:nvSpPr>
          <p:cNvPr id="9" name="Text 7"/>
          <p:cNvSpPr/>
          <p:nvPr/>
        </p:nvSpPr>
        <p:spPr>
          <a:xfrm>
            <a:off x="558701" y="1910655"/>
            <a:ext cx="11074598" cy="685502"/>
          </a:xfrm>
          <a:prstGeom prst="roundRect">
            <a:avLst>
              <a:gd name="adj" fmla="val 18527"/>
            </a:avLst>
          </a:prstGeom>
          <a:solidFill>
            <a:srgbClr val="E8E2C8"/>
          </a:solidFill>
          <a:ln w="19050">
            <a:solidFill>
              <a:srgbClr val="B93F2C"/>
            </a:solidFill>
          </a:ln>
        </p:spPr>
        <p:txBody>
          <a:bodyPr wrap="square" rtlCol="0" anchor="ctr"/>
          <a:lstStyle/>
          <a:p>
            <a:pPr indent="0" marL="0">
              <a:buNone/>
            </a:pPr>
            <a:endParaRPr lang="en-US" dirty="0"/>
          </a:p>
        </p:txBody>
      </p:sp>
      <p:sp>
        <p:nvSpPr>
          <p:cNvPr id="10" name="Text 8"/>
          <p:cNvSpPr/>
          <p:nvPr/>
        </p:nvSpPr>
        <p:spPr>
          <a:xfrm>
            <a:off x="687503" y="2069306"/>
            <a:ext cx="10816995" cy="368201"/>
          </a:xfrm>
          <a:prstGeom prst="rect">
            <a:avLst/>
          </a:prstGeom>
          <a:noFill/>
          <a:ln/>
        </p:spPr>
        <p:txBody>
          <a:bodyPr wrap="square" lIns="0" tIns="0" rIns="0" bIns="0" rtlCol="0" anchor="t"/>
          <a:lstStyle/>
          <a:p>
            <a:pPr algn="ctr" indent="0" marL="0">
              <a:lnSpc>
                <a:spcPts val="2900"/>
              </a:lnSpc>
              <a:buNone/>
            </a:pPr>
            <a:r>
              <a:rPr lang="en-US" sz="2500" b="1" dirty="0">
                <a:solidFill>
                  <a:srgbClr val="24321C"/>
                </a:solidFill>
                <a:latin typeface="Noto Serif SC" pitchFamily="34" charset="0"/>
                <a:ea typeface="Noto Serif SC" pitchFamily="34" charset="-122"/>
                <a:cs typeface="Noto Serif SC" pitchFamily="34" charset="-120"/>
              </a:rPr>
              <a:t>We are learning to say how much a meal cost and whether it was worth it.</a:t>
            </a:r>
            <a:endParaRPr lang="en-US" sz="2500" dirty="0"/>
          </a:p>
        </p:txBody>
      </p:sp>
      <p:sp>
        <p:nvSpPr>
          <p:cNvPr id="11" name="Text 9"/>
          <p:cNvSpPr/>
          <p:nvPr/>
        </p:nvSpPr>
        <p:spPr>
          <a:xfrm>
            <a:off x="558701" y="2723108"/>
            <a:ext cx="11296090" cy="209550"/>
          </a:xfrm>
          <a:prstGeom prst="rect">
            <a:avLst/>
          </a:prstGeom>
          <a:noFill/>
          <a:ln/>
        </p:spPr>
        <p:txBody>
          <a:bodyPr wrap="square" lIns="0" tIns="0" rIns="0" bIns="0" rtlCol="0" anchor="t"/>
          <a:lstStyle/>
          <a:p>
            <a:pPr algn="l" indent="0" marL="0">
              <a:spcAft>
                <a:spcPts val="600"/>
              </a:spcAft>
              <a:buNone/>
            </a:pPr>
            <a:r>
              <a:rPr lang="en-US" sz="1200" b="1" dirty="0">
                <a:solidFill>
                  <a:srgbClr val="4C7A2C"/>
                </a:solidFill>
                <a:latin typeface="Noto Sans" pitchFamily="34" charset="0"/>
                <a:ea typeface="Noto Sans" pitchFamily="34" charset="-122"/>
                <a:cs typeface="Noto Sans" pitchFamily="34" charset="-120"/>
              </a:rPr>
              <a:t>SUCCESS CRITERIA · 我能……</a:t>
            </a:r>
            <a:endParaRPr lang="en-US" sz="1200" dirty="0"/>
          </a:p>
        </p:txBody>
      </p:sp>
      <p:sp>
        <p:nvSpPr>
          <p:cNvPr id="12" name="Text 10"/>
          <p:cNvSpPr/>
          <p:nvPr/>
        </p:nvSpPr>
        <p:spPr>
          <a:xfrm>
            <a:off x="558701" y="3008858"/>
            <a:ext cx="11074598" cy="755452"/>
          </a:xfrm>
          <a:prstGeom prst="roundRect">
            <a:avLst>
              <a:gd name="adj" fmla="val 10087"/>
            </a:avLst>
          </a:prstGeom>
          <a:solidFill>
            <a:srgbClr val="F2EFDE"/>
          </a:solidFill>
          <a:ln w="9525">
            <a:solidFill>
              <a:srgbClr val="E1DBC0"/>
            </a:solidFill>
          </a:ln>
        </p:spPr>
        <p:txBody>
          <a:bodyPr wrap="square" rtlCol="0" anchor="ctr"/>
          <a:lstStyle/>
          <a:p>
            <a:pPr indent="0" marL="0">
              <a:buNone/>
            </a:pPr>
            <a:endParaRPr lang="en-US" dirty="0"/>
          </a:p>
        </p:txBody>
      </p:sp>
      <p:sp>
        <p:nvSpPr>
          <p:cNvPr id="13" name="Text 11"/>
          <p:cNvSpPr/>
          <p:nvPr/>
        </p:nvSpPr>
        <p:spPr>
          <a:xfrm>
            <a:off x="733276" y="3107234"/>
            <a:ext cx="246075" cy="277416"/>
          </a:xfrm>
          <a:prstGeom prst="rect">
            <a:avLst/>
          </a:prstGeom>
          <a:noFill/>
          <a:ln/>
        </p:spPr>
        <p:txBody>
          <a:bodyPr wrap="square" lIns="0" tIns="0" rIns="0" bIns="0" rtlCol="0" anchor="t"/>
          <a:lstStyle/>
          <a:p>
            <a:pPr algn="l" indent="0" marL="0">
              <a:lnSpc>
                <a:spcPts val="2185"/>
              </a:lnSpc>
              <a:buNone/>
            </a:pPr>
            <a:r>
              <a:rPr lang="en-US" sz="1900" b="1" dirty="0">
                <a:solidFill>
                  <a:srgbClr val="4C7A2C"/>
                </a:solidFill>
                <a:latin typeface="Noto Serif SC" pitchFamily="34" charset="0"/>
                <a:ea typeface="Noto Serif SC" pitchFamily="34" charset="-122"/>
                <a:cs typeface="Noto Serif SC" pitchFamily="34" charset="-120"/>
              </a:rPr>
              <a:t>1</a:t>
            </a:r>
            <a:endParaRPr lang="en-US" sz="1900" dirty="0"/>
          </a:p>
        </p:txBody>
      </p:sp>
      <p:sp>
        <p:nvSpPr>
          <p:cNvPr id="14" name="Text 12"/>
          <p:cNvSpPr/>
          <p:nvPr/>
        </p:nvSpPr>
        <p:spPr>
          <a:xfrm>
            <a:off x="1126927" y="3107234"/>
            <a:ext cx="3218259" cy="247650"/>
          </a:xfrm>
          <a:prstGeom prst="rect">
            <a:avLst/>
          </a:prstGeom>
          <a:noFill/>
          <a:ln/>
        </p:spPr>
        <p:txBody>
          <a:bodyPr wrap="square" lIns="0" tIns="0" rIns="0" bIns="0" rtlCol="0" anchor="t"/>
          <a:lstStyle/>
          <a:p>
            <a:pPr algn="l" indent="0" marL="0">
              <a:lnSpc>
                <a:spcPts val="1950"/>
              </a:lnSpc>
              <a:buNone/>
            </a:pPr>
            <a:r>
              <a:rPr lang="en-US" sz="1500" dirty="0">
                <a:solidFill>
                  <a:srgbClr val="24321C"/>
                </a:solidFill>
                <a:latin typeface="Noto Sans" pitchFamily="34" charset="0"/>
                <a:ea typeface="Noto Sans" pitchFamily="34" charset="-122"/>
                <a:cs typeface="Noto Sans" pitchFamily="34" charset="-120"/>
              </a:rPr>
              <a:t>I can say and write the new words</a:t>
            </a:r>
            <a:endParaRPr lang="en-US" sz="1500" dirty="0"/>
          </a:p>
        </p:txBody>
      </p:sp>
      <p:sp>
        <p:nvSpPr>
          <p:cNvPr id="15" name="Text 13"/>
          <p:cNvSpPr/>
          <p:nvPr/>
        </p:nvSpPr>
        <p:spPr>
          <a:xfrm>
            <a:off x="1126927" y="3380184"/>
            <a:ext cx="3218259" cy="285750"/>
          </a:xfrm>
          <a:prstGeom prst="rect">
            <a:avLst/>
          </a:prstGeom>
          <a:noFill/>
          <a:ln/>
        </p:spPr>
        <p:txBody>
          <a:bodyPr wrap="square" lIns="0" tIns="0" rIns="0" bIns="0" rtlCol="0" anchor="t"/>
          <a:lstStyle/>
          <a:p>
            <a:pPr algn="l" indent="0" marL="0">
              <a:spcBef>
                <a:spcPts val="200"/>
              </a:spcBef>
              <a:buNone/>
            </a:pPr>
            <a:r>
              <a:rPr lang="en-US" sz="1600" b="1" dirty="0">
                <a:solidFill>
                  <a:srgbClr val="B93F2C"/>
                </a:solidFill>
                <a:latin typeface="Noto Serif SC" pitchFamily="34" charset="0"/>
                <a:ea typeface="Noto Serif SC" pitchFamily="34" charset="-122"/>
                <a:cs typeface="Noto Serif SC" pitchFamily="34" charset="-120"/>
              </a:rPr>
              <a:t>花、百、算、贵</a:t>
            </a:r>
            <a:endParaRPr lang="en-US" sz="1600" dirty="0"/>
          </a:p>
        </p:txBody>
      </p:sp>
      <p:sp>
        <p:nvSpPr>
          <p:cNvPr id="16" name="Text 14"/>
          <p:cNvSpPr/>
          <p:nvPr/>
        </p:nvSpPr>
        <p:spPr>
          <a:xfrm>
            <a:off x="558701" y="3846761"/>
            <a:ext cx="11074598" cy="755452"/>
          </a:xfrm>
          <a:prstGeom prst="roundRect">
            <a:avLst>
              <a:gd name="adj" fmla="val 10087"/>
            </a:avLst>
          </a:prstGeom>
          <a:solidFill>
            <a:srgbClr val="F2EFDE"/>
          </a:solidFill>
          <a:ln w="9525">
            <a:solidFill>
              <a:srgbClr val="E1DBC0"/>
            </a:solidFill>
          </a:ln>
        </p:spPr>
        <p:txBody>
          <a:bodyPr wrap="square" rtlCol="0" anchor="ctr"/>
          <a:lstStyle/>
          <a:p>
            <a:pPr indent="0" marL="0">
              <a:buNone/>
            </a:pPr>
            <a:endParaRPr lang="en-US" dirty="0"/>
          </a:p>
        </p:txBody>
      </p:sp>
      <p:sp>
        <p:nvSpPr>
          <p:cNvPr id="17" name="Text 15"/>
          <p:cNvSpPr/>
          <p:nvPr/>
        </p:nvSpPr>
        <p:spPr>
          <a:xfrm>
            <a:off x="733276" y="3945136"/>
            <a:ext cx="246075" cy="277416"/>
          </a:xfrm>
          <a:prstGeom prst="rect">
            <a:avLst/>
          </a:prstGeom>
          <a:noFill/>
          <a:ln/>
        </p:spPr>
        <p:txBody>
          <a:bodyPr wrap="square" lIns="0" tIns="0" rIns="0" bIns="0" rtlCol="0" anchor="t"/>
          <a:lstStyle/>
          <a:p>
            <a:pPr algn="l" indent="0" marL="0">
              <a:lnSpc>
                <a:spcPts val="2185"/>
              </a:lnSpc>
              <a:buNone/>
            </a:pPr>
            <a:r>
              <a:rPr lang="en-US" sz="1900" b="1" dirty="0">
                <a:solidFill>
                  <a:srgbClr val="4C7A2C"/>
                </a:solidFill>
                <a:latin typeface="Noto Serif SC" pitchFamily="34" charset="0"/>
                <a:ea typeface="Noto Serif SC" pitchFamily="34" charset="-122"/>
                <a:cs typeface="Noto Serif SC" pitchFamily="34" charset="-120"/>
              </a:rPr>
              <a:t>2</a:t>
            </a:r>
            <a:endParaRPr lang="en-US" sz="1900" dirty="0"/>
          </a:p>
        </p:txBody>
      </p:sp>
      <p:sp>
        <p:nvSpPr>
          <p:cNvPr id="18" name="Text 16"/>
          <p:cNvSpPr/>
          <p:nvPr/>
        </p:nvSpPr>
        <p:spPr>
          <a:xfrm>
            <a:off x="1126927" y="3945136"/>
            <a:ext cx="2561704" cy="247650"/>
          </a:xfrm>
          <a:prstGeom prst="rect">
            <a:avLst/>
          </a:prstGeom>
          <a:noFill/>
          <a:ln/>
        </p:spPr>
        <p:txBody>
          <a:bodyPr wrap="square" lIns="0" tIns="0" rIns="0" bIns="0" rtlCol="0" anchor="t"/>
          <a:lstStyle/>
          <a:p>
            <a:pPr algn="l" indent="0" marL="0">
              <a:lnSpc>
                <a:spcPts val="1950"/>
              </a:lnSpc>
              <a:buNone/>
            </a:pPr>
            <a:r>
              <a:rPr lang="en-US" sz="1500" dirty="0">
                <a:solidFill>
                  <a:srgbClr val="24321C"/>
                </a:solidFill>
                <a:latin typeface="Noto Sans" pitchFamily="34" charset="0"/>
                <a:ea typeface="Noto Sans" pitchFamily="34" charset="-122"/>
                <a:cs typeface="Noto Sans" pitchFamily="34" charset="-120"/>
              </a:rPr>
              <a:t>I can say how much I spent</a:t>
            </a:r>
            <a:endParaRPr lang="en-US" sz="1500" dirty="0"/>
          </a:p>
        </p:txBody>
      </p:sp>
      <p:sp>
        <p:nvSpPr>
          <p:cNvPr id="19" name="Text 17"/>
          <p:cNvSpPr/>
          <p:nvPr/>
        </p:nvSpPr>
        <p:spPr>
          <a:xfrm>
            <a:off x="1126927" y="4218087"/>
            <a:ext cx="2561704" cy="285750"/>
          </a:xfrm>
          <a:prstGeom prst="rect">
            <a:avLst/>
          </a:prstGeom>
          <a:noFill/>
          <a:ln/>
        </p:spPr>
        <p:txBody>
          <a:bodyPr wrap="square" lIns="0" tIns="0" rIns="0" bIns="0" rtlCol="0" anchor="t"/>
          <a:lstStyle/>
          <a:p>
            <a:pPr algn="l" indent="0" marL="0">
              <a:spcBef>
                <a:spcPts val="200"/>
              </a:spcBef>
              <a:buNone/>
            </a:pPr>
            <a:r>
              <a:rPr lang="en-US" sz="1600" b="1" dirty="0">
                <a:solidFill>
                  <a:srgbClr val="B93F2C"/>
                </a:solidFill>
                <a:latin typeface="Noto Serif SC" pitchFamily="34" charset="0"/>
                <a:ea typeface="Noto Serif SC" pitchFamily="34" charset="-122"/>
                <a:cs typeface="Noto Serif SC" pitchFamily="34" charset="-120"/>
              </a:rPr>
              <a:t>我们一共花了两百块</a:t>
            </a:r>
            <a:endParaRPr lang="en-US" sz="1600" dirty="0"/>
          </a:p>
        </p:txBody>
      </p:sp>
      <p:sp>
        <p:nvSpPr>
          <p:cNvPr id="20" name="Text 18"/>
          <p:cNvSpPr/>
          <p:nvPr/>
        </p:nvSpPr>
        <p:spPr>
          <a:xfrm>
            <a:off x="558701" y="4684663"/>
            <a:ext cx="11074598" cy="474166"/>
          </a:xfrm>
          <a:prstGeom prst="roundRect">
            <a:avLst>
              <a:gd name="adj" fmla="val 16070"/>
            </a:avLst>
          </a:prstGeom>
          <a:solidFill>
            <a:srgbClr val="F2EFDE"/>
          </a:solidFill>
          <a:ln w="9525">
            <a:solidFill>
              <a:srgbClr val="E1DBC0"/>
            </a:solidFill>
          </a:ln>
        </p:spPr>
        <p:txBody>
          <a:bodyPr wrap="square" rtlCol="0" anchor="ctr"/>
          <a:lstStyle/>
          <a:p>
            <a:pPr indent="0" marL="0">
              <a:buNone/>
            </a:pPr>
            <a:endParaRPr lang="en-US" dirty="0"/>
          </a:p>
        </p:txBody>
      </p:sp>
      <p:sp>
        <p:nvSpPr>
          <p:cNvPr id="21" name="Text 19"/>
          <p:cNvSpPr/>
          <p:nvPr/>
        </p:nvSpPr>
        <p:spPr>
          <a:xfrm>
            <a:off x="733276" y="4783038"/>
            <a:ext cx="246075" cy="277416"/>
          </a:xfrm>
          <a:prstGeom prst="rect">
            <a:avLst/>
          </a:prstGeom>
          <a:noFill/>
          <a:ln/>
        </p:spPr>
        <p:txBody>
          <a:bodyPr wrap="square" lIns="0" tIns="0" rIns="0" bIns="0" rtlCol="0" anchor="t"/>
          <a:lstStyle/>
          <a:p>
            <a:pPr algn="l" indent="0" marL="0">
              <a:lnSpc>
                <a:spcPts val="2185"/>
              </a:lnSpc>
              <a:buNone/>
            </a:pPr>
            <a:r>
              <a:rPr lang="en-US" sz="1900" b="1" dirty="0">
                <a:solidFill>
                  <a:srgbClr val="4C7A2C"/>
                </a:solidFill>
                <a:latin typeface="Noto Serif SC" pitchFamily="34" charset="0"/>
                <a:ea typeface="Noto Serif SC" pitchFamily="34" charset="-122"/>
                <a:cs typeface="Noto Serif SC" pitchFamily="34" charset="-120"/>
              </a:rPr>
              <a:t>3</a:t>
            </a:r>
            <a:endParaRPr lang="en-US" sz="1900" dirty="0"/>
          </a:p>
        </p:txBody>
      </p:sp>
      <p:sp>
        <p:nvSpPr>
          <p:cNvPr id="22" name="Text 20"/>
          <p:cNvSpPr/>
          <p:nvPr/>
        </p:nvSpPr>
        <p:spPr>
          <a:xfrm>
            <a:off x="1126927" y="4783038"/>
            <a:ext cx="3286268" cy="247650"/>
          </a:xfrm>
          <a:prstGeom prst="rect">
            <a:avLst/>
          </a:prstGeom>
          <a:noFill/>
          <a:ln/>
        </p:spPr>
        <p:txBody>
          <a:bodyPr wrap="square" lIns="0" tIns="0" rIns="0" bIns="0" rtlCol="0" anchor="t"/>
          <a:lstStyle/>
          <a:p>
            <a:pPr algn="l" indent="0" marL="0">
              <a:lnSpc>
                <a:spcPts val="1950"/>
              </a:lnSpc>
              <a:buNone/>
            </a:pPr>
            <a:r>
              <a:rPr lang="en-US" sz="1500" dirty="0">
                <a:solidFill>
                  <a:srgbClr val="24321C"/>
                </a:solidFill>
                <a:latin typeface="Noto Sans" pitchFamily="34" charset="0"/>
                <a:ea typeface="Noto Sans" pitchFamily="34" charset="-122"/>
                <a:cs typeface="Noto Sans" pitchFamily="34" charset="-120"/>
              </a:rPr>
              <a:t>I can hedge with 不算太贵 and 左右</a:t>
            </a:r>
            <a:endParaRPr lang="en-US" sz="1500" dirty="0"/>
          </a:p>
        </p:txBody>
      </p:sp>
      <p:sp>
        <p:nvSpPr>
          <p:cNvPr id="23" name="Text 21"/>
          <p:cNvSpPr/>
          <p:nvPr/>
        </p:nvSpPr>
        <p:spPr>
          <a:xfrm>
            <a:off x="558701" y="5241280"/>
            <a:ext cx="11074598" cy="474166"/>
          </a:xfrm>
          <a:prstGeom prst="roundRect">
            <a:avLst>
              <a:gd name="adj" fmla="val 16070"/>
            </a:avLst>
          </a:prstGeom>
          <a:solidFill>
            <a:srgbClr val="F2EFDE"/>
          </a:solidFill>
          <a:ln w="9525">
            <a:solidFill>
              <a:srgbClr val="E1DBC0"/>
            </a:solidFill>
          </a:ln>
        </p:spPr>
        <p:txBody>
          <a:bodyPr wrap="square" rtlCol="0" anchor="ctr"/>
          <a:lstStyle/>
          <a:p>
            <a:pPr indent="0" marL="0">
              <a:buNone/>
            </a:pPr>
            <a:endParaRPr lang="en-US" dirty="0"/>
          </a:p>
        </p:txBody>
      </p:sp>
      <p:sp>
        <p:nvSpPr>
          <p:cNvPr id="24" name="Text 22"/>
          <p:cNvSpPr/>
          <p:nvPr/>
        </p:nvSpPr>
        <p:spPr>
          <a:xfrm>
            <a:off x="733276" y="5339655"/>
            <a:ext cx="246075" cy="277416"/>
          </a:xfrm>
          <a:prstGeom prst="rect">
            <a:avLst/>
          </a:prstGeom>
          <a:noFill/>
          <a:ln/>
        </p:spPr>
        <p:txBody>
          <a:bodyPr wrap="square" lIns="0" tIns="0" rIns="0" bIns="0" rtlCol="0" anchor="t"/>
          <a:lstStyle/>
          <a:p>
            <a:pPr algn="l" indent="0" marL="0">
              <a:lnSpc>
                <a:spcPts val="2185"/>
              </a:lnSpc>
              <a:buNone/>
            </a:pPr>
            <a:r>
              <a:rPr lang="en-US" sz="1900" b="1" dirty="0">
                <a:solidFill>
                  <a:srgbClr val="4C7A2C"/>
                </a:solidFill>
                <a:latin typeface="Noto Serif SC" pitchFamily="34" charset="0"/>
                <a:ea typeface="Noto Serif SC" pitchFamily="34" charset="-122"/>
                <a:cs typeface="Noto Serif SC" pitchFamily="34" charset="-120"/>
              </a:rPr>
              <a:t>4</a:t>
            </a:r>
            <a:endParaRPr lang="en-US" sz="1900" dirty="0"/>
          </a:p>
        </p:txBody>
      </p:sp>
      <p:sp>
        <p:nvSpPr>
          <p:cNvPr id="25" name="Text 23"/>
          <p:cNvSpPr/>
          <p:nvPr/>
        </p:nvSpPr>
        <p:spPr>
          <a:xfrm>
            <a:off x="1126927" y="5339655"/>
            <a:ext cx="6277276" cy="247650"/>
          </a:xfrm>
          <a:prstGeom prst="rect">
            <a:avLst/>
          </a:prstGeom>
          <a:noFill/>
          <a:ln/>
        </p:spPr>
        <p:txBody>
          <a:bodyPr wrap="square" lIns="0" tIns="0" rIns="0" bIns="0" rtlCol="0" anchor="t"/>
          <a:lstStyle/>
          <a:p>
            <a:pPr algn="l" indent="0" marL="0">
              <a:lnSpc>
                <a:spcPts val="1950"/>
              </a:lnSpc>
              <a:buNone/>
            </a:pPr>
            <a:r>
              <a:rPr lang="en-US" sz="1500" dirty="0">
                <a:solidFill>
                  <a:srgbClr val="24321C"/>
                </a:solidFill>
                <a:latin typeface="Noto Sans" pitchFamily="34" charset="0"/>
                <a:ea typeface="Noto Sans" pitchFamily="34" charset="-122"/>
                <a:cs typeface="Noto Sans" pitchFamily="34" charset="-120"/>
              </a:rPr>
              <a:t>I can describe an eating-out experience in four or more sentences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7475"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1 of 2</a:t>
            </a:r>
            <a:endParaRPr lang="en-US" sz="1100" dirty="0"/>
          </a:p>
        </p:txBody>
      </p:sp>
      <p:sp>
        <p:nvSpPr>
          <p:cNvPr id="6" name="Text 4"/>
          <p:cNvSpPr/>
          <p:nvPr/>
        </p:nvSpPr>
        <p:spPr>
          <a:xfrm>
            <a:off x="11266438" y="176213"/>
            <a:ext cx="425964"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5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518642"/>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NEW WORDS · 跟我读两遍 · REPEAT AFTER ME, TWICE</a:t>
            </a:r>
            <a:endParaRPr lang="en-US" sz="1200" dirty="0"/>
          </a:p>
        </p:txBody>
      </p:sp>
      <p:sp>
        <p:nvSpPr>
          <p:cNvPr id="9" name="Text 7"/>
          <p:cNvSpPr/>
          <p:nvPr/>
        </p:nvSpPr>
        <p:spPr>
          <a:xfrm>
            <a:off x="558701" y="1842492"/>
            <a:ext cx="5334149" cy="3979218"/>
          </a:xfrm>
          <a:prstGeom prst="roundRect">
            <a:avLst>
              <a:gd name="adj" fmla="val 3192"/>
            </a:avLst>
          </a:prstGeom>
          <a:solidFill>
            <a:srgbClr val="F2EFDE"/>
          </a:solidFill>
          <a:ln w="9525">
            <a:solidFill>
              <a:srgbClr val="E1DBC0"/>
            </a:solidFill>
          </a:ln>
        </p:spPr>
        <p:txBody>
          <a:bodyPr wrap="square" rtlCol="0" anchor="ctr"/>
          <a:lstStyle/>
          <a:p>
            <a:pPr indent="0" marL="0">
              <a:buNone/>
            </a:pPr>
            <a:endParaRPr lang="en-US" dirty="0"/>
          </a:p>
        </p:txBody>
      </p:sp>
      <p:pic>
        <p:nvPicPr>
          <p:cNvPr id="10" name="Image 0" descr="/var/folders/6c/210dcgxn4gz5sm71vld2cy1h0000gn/T/tmp.sLz7wO9Bv9/img/hua.png">    </p:cNvPr>
          <p:cNvPicPr>
            <a:picLocks noChangeAspect="1"/>
          </p:cNvPicPr>
          <p:nvPr/>
        </p:nvPicPr>
        <p:blipFill>
          <a:blip r:embed="rId1"/>
          <a:stretch>
            <a:fillRect/>
          </a:stretch>
        </p:blipFill>
        <p:spPr>
          <a:xfrm>
            <a:off x="2432000" y="2131368"/>
            <a:ext cx="1587401" cy="1587401"/>
          </a:xfrm>
          <a:prstGeom prst="rect">
            <a:avLst/>
          </a:prstGeom>
        </p:spPr>
      </p:pic>
      <p:sp>
        <p:nvSpPr>
          <p:cNvPr id="11" name="Text 8"/>
          <p:cNvSpPr/>
          <p:nvPr/>
        </p:nvSpPr>
        <p:spPr>
          <a:xfrm>
            <a:off x="2975818" y="3807619"/>
            <a:ext cx="509760" cy="390525"/>
          </a:xfrm>
          <a:prstGeom prst="rect">
            <a:avLst/>
          </a:prstGeom>
          <a:noFill/>
          <a:ln/>
        </p:spPr>
        <p:txBody>
          <a:bodyPr wrap="square" lIns="0" tIns="0" rIns="0" bIns="0" rtlCol="0" anchor="t"/>
          <a:lstStyle/>
          <a:p>
            <a:pPr algn="l" indent="0" marL="0">
              <a:buNone/>
            </a:pPr>
            <a:r>
              <a:rPr lang="en-US" sz="2200" dirty="0">
                <a:solidFill>
                  <a:srgbClr val="4C7A2C"/>
                </a:solidFill>
                <a:latin typeface="Noto Sans" pitchFamily="34" charset="0"/>
                <a:ea typeface="Noto Sans" pitchFamily="34" charset="-122"/>
                <a:cs typeface="Noto Sans" pitchFamily="34" charset="-120"/>
              </a:rPr>
              <a:t>huā</a:t>
            </a:r>
            <a:endParaRPr lang="en-US" sz="2200" dirty="0"/>
          </a:p>
        </p:txBody>
      </p:sp>
      <p:sp>
        <p:nvSpPr>
          <p:cNvPr id="12" name="Text 9"/>
          <p:cNvSpPr/>
          <p:nvPr/>
        </p:nvSpPr>
        <p:spPr>
          <a:xfrm>
            <a:off x="2832050" y="4286994"/>
            <a:ext cx="803199" cy="826740"/>
          </a:xfrm>
          <a:prstGeom prst="rect">
            <a:avLst/>
          </a:prstGeom>
          <a:noFill/>
          <a:ln/>
        </p:spPr>
        <p:txBody>
          <a:bodyPr wrap="square" lIns="0" tIns="0" rIns="0" bIns="0" rtlCol="0" anchor="t"/>
          <a:lstStyle/>
          <a:p>
            <a:pPr algn="l" indent="0" marL="0">
              <a:lnSpc>
                <a:spcPts val="6510"/>
              </a:lnSpc>
              <a:buNone/>
            </a:pPr>
            <a:r>
              <a:rPr lang="en-US" sz="6200" b="1" dirty="0">
                <a:solidFill>
                  <a:srgbClr val="24321C"/>
                </a:solidFill>
                <a:latin typeface="Noto Serif SC" pitchFamily="34" charset="0"/>
                <a:ea typeface="Noto Serif SC" pitchFamily="34" charset="-122"/>
                <a:cs typeface="Noto Serif SC" pitchFamily="34" charset="-120"/>
              </a:rPr>
              <a:t>花</a:t>
            </a:r>
            <a:endParaRPr lang="en-US" sz="6200" dirty="0"/>
          </a:p>
        </p:txBody>
      </p:sp>
      <p:sp>
        <p:nvSpPr>
          <p:cNvPr id="13" name="Text 10"/>
          <p:cNvSpPr/>
          <p:nvPr/>
        </p:nvSpPr>
        <p:spPr>
          <a:xfrm>
            <a:off x="2917329" y="5202585"/>
            <a:ext cx="629230" cy="304800"/>
          </a:xfrm>
          <a:prstGeom prst="rect">
            <a:avLst/>
          </a:prstGeom>
          <a:noFill/>
          <a:ln/>
        </p:spPr>
        <p:txBody>
          <a:bodyPr wrap="square" lIns="0" tIns="0" rIns="0" bIns="0" rtlCol="0" anchor="t"/>
          <a:lstStyle/>
          <a:p>
            <a:pPr algn="l" indent="0" marL="0">
              <a:buNone/>
            </a:pPr>
            <a:r>
              <a:rPr lang="en-US" sz="1700" dirty="0">
                <a:solidFill>
                  <a:srgbClr val="4E5A42"/>
                </a:solidFill>
                <a:latin typeface="Noto Sans" pitchFamily="34" charset="0"/>
                <a:ea typeface="Noto Sans" pitchFamily="34" charset="-122"/>
                <a:cs typeface="Noto Sans" pitchFamily="34" charset="-120"/>
              </a:rPr>
              <a:t>spend</a:t>
            </a:r>
            <a:endParaRPr lang="en-US" sz="1700" dirty="0"/>
          </a:p>
        </p:txBody>
      </p:sp>
      <p:sp>
        <p:nvSpPr>
          <p:cNvPr id="14" name="Text 11"/>
          <p:cNvSpPr/>
          <p:nvPr/>
        </p:nvSpPr>
        <p:spPr>
          <a:xfrm>
            <a:off x="6299150" y="1842492"/>
            <a:ext cx="5334149" cy="3979218"/>
          </a:xfrm>
          <a:prstGeom prst="roundRect">
            <a:avLst>
              <a:gd name="adj" fmla="val 3192"/>
            </a:avLst>
          </a:prstGeom>
          <a:solidFill>
            <a:srgbClr val="F2EFDE"/>
          </a:solidFill>
          <a:ln w="9525">
            <a:solidFill>
              <a:srgbClr val="E1DBC0"/>
            </a:solidFill>
          </a:ln>
        </p:spPr>
        <p:txBody>
          <a:bodyPr wrap="square" rtlCol="0" anchor="ctr"/>
          <a:lstStyle/>
          <a:p>
            <a:pPr indent="0" marL="0">
              <a:buNone/>
            </a:pPr>
            <a:endParaRPr lang="en-US" dirty="0"/>
          </a:p>
        </p:txBody>
      </p:sp>
      <p:pic>
        <p:nvPicPr>
          <p:cNvPr id="15" name="Image 1" descr="/var/folders/6c/210dcgxn4gz5sm71vld2cy1h0000gn/T/tmp.sLz7wO9Bv9/img/bai.png">    </p:cNvPr>
          <p:cNvPicPr>
            <a:picLocks noChangeAspect="1"/>
          </p:cNvPicPr>
          <p:nvPr/>
        </p:nvPicPr>
        <p:blipFill>
          <a:blip r:embed="rId2"/>
          <a:stretch>
            <a:fillRect/>
          </a:stretch>
        </p:blipFill>
        <p:spPr>
          <a:xfrm>
            <a:off x="8172450" y="2131368"/>
            <a:ext cx="1587401" cy="1587401"/>
          </a:xfrm>
          <a:prstGeom prst="rect">
            <a:avLst/>
          </a:prstGeom>
        </p:spPr>
      </p:pic>
      <p:sp>
        <p:nvSpPr>
          <p:cNvPr id="16" name="Text 12"/>
          <p:cNvSpPr/>
          <p:nvPr/>
        </p:nvSpPr>
        <p:spPr>
          <a:xfrm>
            <a:off x="8755410" y="3807619"/>
            <a:ext cx="429911" cy="390525"/>
          </a:xfrm>
          <a:prstGeom prst="rect">
            <a:avLst/>
          </a:prstGeom>
          <a:noFill/>
          <a:ln/>
        </p:spPr>
        <p:txBody>
          <a:bodyPr wrap="square" lIns="0" tIns="0" rIns="0" bIns="0" rtlCol="0" anchor="t"/>
          <a:lstStyle/>
          <a:p>
            <a:pPr algn="l" indent="0" marL="0">
              <a:buNone/>
            </a:pPr>
            <a:r>
              <a:rPr lang="en-US" sz="2200" dirty="0">
                <a:solidFill>
                  <a:srgbClr val="4C7A2C"/>
                </a:solidFill>
                <a:latin typeface="Noto Sans" pitchFamily="34" charset="0"/>
                <a:ea typeface="Noto Sans" pitchFamily="34" charset="-122"/>
                <a:cs typeface="Noto Sans" pitchFamily="34" charset="-120"/>
              </a:rPr>
              <a:t>bǎi</a:t>
            </a:r>
            <a:endParaRPr lang="en-US" sz="2200" dirty="0"/>
          </a:p>
        </p:txBody>
      </p:sp>
      <p:sp>
        <p:nvSpPr>
          <p:cNvPr id="17" name="Text 13"/>
          <p:cNvSpPr/>
          <p:nvPr/>
        </p:nvSpPr>
        <p:spPr>
          <a:xfrm>
            <a:off x="8572500" y="4286994"/>
            <a:ext cx="803199" cy="826740"/>
          </a:xfrm>
          <a:prstGeom prst="rect">
            <a:avLst/>
          </a:prstGeom>
          <a:noFill/>
          <a:ln/>
        </p:spPr>
        <p:txBody>
          <a:bodyPr wrap="square" lIns="0" tIns="0" rIns="0" bIns="0" rtlCol="0" anchor="t"/>
          <a:lstStyle/>
          <a:p>
            <a:pPr algn="l" indent="0" marL="0">
              <a:lnSpc>
                <a:spcPts val="6510"/>
              </a:lnSpc>
              <a:buNone/>
            </a:pPr>
            <a:r>
              <a:rPr lang="en-US" sz="6200" b="1" dirty="0">
                <a:solidFill>
                  <a:srgbClr val="24321C"/>
                </a:solidFill>
                <a:latin typeface="Noto Serif SC" pitchFamily="34" charset="0"/>
                <a:ea typeface="Noto Serif SC" pitchFamily="34" charset="-122"/>
                <a:cs typeface="Noto Serif SC" pitchFamily="34" charset="-120"/>
              </a:rPr>
              <a:t>百</a:t>
            </a:r>
            <a:endParaRPr lang="en-US" sz="6200" dirty="0"/>
          </a:p>
        </p:txBody>
      </p:sp>
      <p:sp>
        <p:nvSpPr>
          <p:cNvPr id="18" name="Text 14"/>
          <p:cNvSpPr/>
          <p:nvPr/>
        </p:nvSpPr>
        <p:spPr>
          <a:xfrm>
            <a:off x="8549432" y="5202585"/>
            <a:ext cx="850258" cy="304800"/>
          </a:xfrm>
          <a:prstGeom prst="rect">
            <a:avLst/>
          </a:prstGeom>
          <a:noFill/>
          <a:ln/>
        </p:spPr>
        <p:txBody>
          <a:bodyPr wrap="square" lIns="0" tIns="0" rIns="0" bIns="0" rtlCol="0" anchor="t"/>
          <a:lstStyle/>
          <a:p>
            <a:pPr algn="l" indent="0" marL="0">
              <a:buNone/>
            </a:pPr>
            <a:r>
              <a:rPr lang="en-US" sz="1700" dirty="0">
                <a:solidFill>
                  <a:srgbClr val="4E5A42"/>
                </a:solidFill>
                <a:latin typeface="Noto Sans" pitchFamily="34" charset="0"/>
                <a:ea typeface="Noto Sans" pitchFamily="34" charset="-122"/>
                <a:cs typeface="Noto Sans" pitchFamily="34" charset="-120"/>
              </a:rPr>
              <a:t>hundred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7475"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1 of 2</a:t>
            </a:r>
            <a:endParaRPr lang="en-US" sz="1100" dirty="0"/>
          </a:p>
        </p:txBody>
      </p:sp>
      <p:sp>
        <p:nvSpPr>
          <p:cNvPr id="6" name="Text 4"/>
          <p:cNvSpPr/>
          <p:nvPr/>
        </p:nvSpPr>
        <p:spPr>
          <a:xfrm>
            <a:off x="11265545" y="176213"/>
            <a:ext cx="426875"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6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138214"/>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这个字你见过 · YOU HAVE MET THIS CHARACTER BEFORE</a:t>
            </a:r>
            <a:endParaRPr lang="en-US" sz="1200" dirty="0"/>
          </a:p>
        </p:txBody>
      </p:sp>
      <p:sp>
        <p:nvSpPr>
          <p:cNvPr id="9" name="Text 7"/>
          <p:cNvSpPr/>
          <p:nvPr/>
        </p:nvSpPr>
        <p:spPr>
          <a:xfrm>
            <a:off x="558701" y="2462064"/>
            <a:ext cx="5435650" cy="1965722"/>
          </a:xfrm>
          <a:prstGeom prst="roundRect">
            <a:avLst>
              <a:gd name="adj" fmla="val 6461"/>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0" name="Text 8"/>
          <p:cNvSpPr/>
          <p:nvPr/>
        </p:nvSpPr>
        <p:spPr>
          <a:xfrm>
            <a:off x="755452" y="2633514"/>
            <a:ext cx="5142991" cy="390971"/>
          </a:xfrm>
          <a:prstGeom prst="rect">
            <a:avLst/>
          </a:prstGeom>
          <a:noFill/>
          <a:ln/>
        </p:spPr>
        <p:txBody>
          <a:bodyPr wrap="square" lIns="0" tIns="0" rIns="0" bIns="0" rtlCol="0" anchor="t"/>
          <a:lstStyle/>
          <a:p>
            <a:pPr algn="l" indent="0" marL="0">
              <a:lnSpc>
                <a:spcPts val="3080"/>
              </a:lnSpc>
              <a:spcAft>
                <a:spcPts val="300"/>
              </a:spcAft>
              <a:buNone/>
            </a:pPr>
            <a:r>
              <a:rPr lang="en-US" sz="2800" b="1" dirty="0">
                <a:solidFill>
                  <a:srgbClr val="4C7A2C"/>
                </a:solidFill>
                <a:latin typeface="Noto Serif SC" pitchFamily="34" charset="0"/>
                <a:ea typeface="Noto Serif SC" pitchFamily="34" charset="-122"/>
                <a:cs typeface="Noto Serif SC" pitchFamily="34" charset="-120"/>
              </a:rPr>
              <a:t>第十课</a:t>
            </a:r>
            <a:endParaRPr lang="en-US" sz="2800" dirty="0"/>
          </a:p>
        </p:txBody>
      </p:sp>
      <p:sp>
        <p:nvSpPr>
          <p:cNvPr id="11" name="Text 9"/>
          <p:cNvSpPr/>
          <p:nvPr/>
        </p:nvSpPr>
        <p:spPr>
          <a:xfrm>
            <a:off x="755452" y="3062585"/>
            <a:ext cx="5142991" cy="228600"/>
          </a:xfrm>
          <a:prstGeom prst="rect">
            <a:avLst/>
          </a:prstGeom>
          <a:noFill/>
          <a:ln/>
        </p:spPr>
        <p:txBody>
          <a:bodyPr wrap="square" lIns="0" tIns="0" rIns="0" bIns="0" rtlCol="0" anchor="t"/>
          <a:lstStyle/>
          <a:p>
            <a:pPr algn="l" indent="0" marL="0">
              <a:spcAft>
                <a:spcPts val="1000"/>
              </a:spcAft>
              <a:buNone/>
            </a:pPr>
            <a:r>
              <a:rPr lang="en-US" sz="1300" dirty="0">
                <a:solidFill>
                  <a:srgbClr val="4E5A42"/>
                </a:solidFill>
                <a:latin typeface="Noto Sans" pitchFamily="34" charset="0"/>
                <a:ea typeface="Noto Sans" pitchFamily="34" charset="-122"/>
                <a:cs typeface="Noto Sans" pitchFamily="34" charset="-120"/>
              </a:rPr>
              <a:t>Lesson 10 — a flower</a:t>
            </a:r>
            <a:endParaRPr lang="en-US" sz="1300" dirty="0"/>
          </a:p>
        </p:txBody>
      </p:sp>
      <p:sp>
        <p:nvSpPr>
          <p:cNvPr id="12" name="Text 10"/>
          <p:cNvSpPr/>
          <p:nvPr/>
        </p:nvSpPr>
        <p:spPr>
          <a:xfrm>
            <a:off x="755452" y="3418136"/>
            <a:ext cx="5142991" cy="368350"/>
          </a:xfrm>
          <a:prstGeom prst="rect">
            <a:avLst/>
          </a:prstGeom>
          <a:noFill/>
          <a:ln/>
        </p:spPr>
        <p:txBody>
          <a:bodyPr wrap="square" lIns="0" tIns="0" rIns="0" bIns="0" rtlCol="0" anchor="t"/>
          <a:lstStyle/>
          <a:p>
            <a:pPr algn="l" indent="0" marL="0">
              <a:lnSpc>
                <a:spcPts val="2900"/>
              </a:lnSpc>
              <a:spcBef>
                <a:spcPts val="600"/>
              </a:spcBef>
              <a:buNone/>
            </a:pPr>
            <a:r>
              <a:rPr lang="en-US" sz="2000" dirty="0">
                <a:solidFill>
                  <a:srgbClr val="24321C"/>
                </a:solidFill>
                <a:latin typeface="Noto Serif SC" pitchFamily="34" charset="0"/>
                <a:ea typeface="Noto Serif SC" pitchFamily="34" charset="-122"/>
                <a:cs typeface="Noto Serif SC" pitchFamily="34" charset="-120"/>
              </a:rPr>
              <a:t>菜</a:t>
            </a:r>
            <a:r>
              <a:rPr lang="en-US" sz="2000" b="1" dirty="0">
                <a:solidFill>
                  <a:srgbClr val="B96A12"/>
                </a:solidFill>
                <a:latin typeface="Noto Serif SC" pitchFamily="34" charset="0"/>
                <a:ea typeface="Noto Serif SC" pitchFamily="34" charset="-122"/>
                <a:cs typeface="Noto Serif SC" pitchFamily="34" charset="-120"/>
              </a:rPr>
              <a:t>花</a:t>
            </a:r>
            <a:r>
              <a:rPr lang="en-US" sz="2000" dirty="0">
                <a:solidFill>
                  <a:srgbClr val="24321C"/>
                </a:solidFill>
                <a:latin typeface="Noto Serif SC" pitchFamily="34" charset="0"/>
                <a:ea typeface="Noto Serif SC" pitchFamily="34" charset="-122"/>
                <a:cs typeface="Noto Serif SC" pitchFamily="34" charset="-120"/>
              </a:rPr>
              <a:t>儿 càihuār</a:t>
            </a:r>
            <a:endParaRPr lang="en-US" sz="2000" dirty="0"/>
          </a:p>
        </p:txBody>
      </p:sp>
      <p:sp>
        <p:nvSpPr>
          <p:cNvPr id="13" name="Text 11"/>
          <p:cNvSpPr/>
          <p:nvPr/>
        </p:nvSpPr>
        <p:spPr>
          <a:xfrm>
            <a:off x="755452" y="3862685"/>
            <a:ext cx="5142991" cy="368350"/>
          </a:xfrm>
          <a:prstGeom prst="rect">
            <a:avLst/>
          </a:prstGeom>
          <a:noFill/>
          <a:ln/>
        </p:spPr>
        <p:txBody>
          <a:bodyPr wrap="square" lIns="0" tIns="0" rIns="0" bIns="0" rtlCol="0" anchor="t"/>
          <a:lstStyle/>
          <a:p>
            <a:pPr algn="l" indent="0" marL="0">
              <a:lnSpc>
                <a:spcPts val="2900"/>
              </a:lnSpc>
              <a:spcBef>
                <a:spcPts val="600"/>
              </a:spcBef>
              <a:buNone/>
            </a:pPr>
            <a:r>
              <a:rPr lang="en-US" sz="2000" b="1" dirty="0">
                <a:solidFill>
                  <a:srgbClr val="24321C"/>
                </a:solidFill>
                <a:latin typeface="Noto Serif SC" pitchFamily="34" charset="0"/>
                <a:ea typeface="Noto Serif SC" pitchFamily="34" charset="-122"/>
                <a:cs typeface="Noto Serif SC" pitchFamily="34" charset="-120"/>
              </a:rPr>
              <a:t>cauliflower</a:t>
            </a:r>
            <a:endParaRPr lang="en-US" sz="2000" dirty="0"/>
          </a:p>
        </p:txBody>
      </p:sp>
      <p:sp>
        <p:nvSpPr>
          <p:cNvPr id="14" name="Text 12"/>
          <p:cNvSpPr/>
          <p:nvPr/>
        </p:nvSpPr>
        <p:spPr>
          <a:xfrm>
            <a:off x="6197501" y="2462064"/>
            <a:ext cx="5435798" cy="1965722"/>
          </a:xfrm>
          <a:prstGeom prst="roundRect">
            <a:avLst>
              <a:gd name="adj" fmla="val 6461"/>
            </a:avLst>
          </a:prstGeom>
          <a:solidFill>
            <a:srgbClr val="B93F2C">
              <a:alpha val="11000"/>
            </a:srgbClr>
          </a:solidFill>
          <a:ln w="19050">
            <a:solidFill>
              <a:srgbClr val="B93F2C"/>
            </a:solidFill>
          </a:ln>
        </p:spPr>
        <p:txBody>
          <a:bodyPr wrap="square" rtlCol="0" anchor="ctr"/>
          <a:lstStyle/>
          <a:p>
            <a:pPr indent="0" marL="0">
              <a:buNone/>
            </a:pPr>
            <a:endParaRPr lang="en-US" dirty="0"/>
          </a:p>
        </p:txBody>
      </p:sp>
      <p:sp>
        <p:nvSpPr>
          <p:cNvPr id="15" name="Text 13"/>
          <p:cNvSpPr/>
          <p:nvPr/>
        </p:nvSpPr>
        <p:spPr>
          <a:xfrm>
            <a:off x="6394252" y="2633514"/>
            <a:ext cx="5143143" cy="390971"/>
          </a:xfrm>
          <a:prstGeom prst="rect">
            <a:avLst/>
          </a:prstGeom>
          <a:noFill/>
          <a:ln/>
        </p:spPr>
        <p:txBody>
          <a:bodyPr wrap="square" lIns="0" tIns="0" rIns="0" bIns="0" rtlCol="0" anchor="t"/>
          <a:lstStyle/>
          <a:p>
            <a:pPr algn="l" indent="0" marL="0">
              <a:lnSpc>
                <a:spcPts val="3080"/>
              </a:lnSpc>
              <a:spcAft>
                <a:spcPts val="300"/>
              </a:spcAft>
              <a:buNone/>
            </a:pPr>
            <a:r>
              <a:rPr lang="en-US" sz="2800" b="1" dirty="0">
                <a:solidFill>
                  <a:srgbClr val="B93F2C"/>
                </a:solidFill>
                <a:latin typeface="Noto Serif SC" pitchFamily="34" charset="0"/>
                <a:ea typeface="Noto Serif SC" pitchFamily="34" charset="-122"/>
                <a:cs typeface="Noto Serif SC" pitchFamily="34" charset="-120"/>
              </a:rPr>
              <a:t>今天</a:t>
            </a:r>
            <a:endParaRPr lang="en-US" sz="2800" dirty="0"/>
          </a:p>
        </p:txBody>
      </p:sp>
      <p:sp>
        <p:nvSpPr>
          <p:cNvPr id="16" name="Text 14"/>
          <p:cNvSpPr/>
          <p:nvPr/>
        </p:nvSpPr>
        <p:spPr>
          <a:xfrm>
            <a:off x="6394252" y="3062585"/>
            <a:ext cx="5143143" cy="228600"/>
          </a:xfrm>
          <a:prstGeom prst="rect">
            <a:avLst/>
          </a:prstGeom>
          <a:noFill/>
          <a:ln/>
        </p:spPr>
        <p:txBody>
          <a:bodyPr wrap="square" lIns="0" tIns="0" rIns="0" bIns="0" rtlCol="0" anchor="t"/>
          <a:lstStyle/>
          <a:p>
            <a:pPr algn="l" indent="0" marL="0">
              <a:spcAft>
                <a:spcPts val="1000"/>
              </a:spcAft>
              <a:buNone/>
            </a:pPr>
            <a:r>
              <a:rPr lang="en-US" sz="1300" dirty="0">
                <a:solidFill>
                  <a:srgbClr val="4E5A42"/>
                </a:solidFill>
                <a:latin typeface="Noto Sans" pitchFamily="34" charset="0"/>
                <a:ea typeface="Noto Sans" pitchFamily="34" charset="-122"/>
                <a:cs typeface="Noto Sans" pitchFamily="34" charset="-120"/>
              </a:rPr>
              <a:t>Today — to spend</a:t>
            </a:r>
            <a:endParaRPr lang="en-US" sz="1300" dirty="0"/>
          </a:p>
        </p:txBody>
      </p:sp>
      <p:sp>
        <p:nvSpPr>
          <p:cNvPr id="17" name="Text 15"/>
          <p:cNvSpPr/>
          <p:nvPr/>
        </p:nvSpPr>
        <p:spPr>
          <a:xfrm>
            <a:off x="6394252" y="3418136"/>
            <a:ext cx="5143143" cy="368350"/>
          </a:xfrm>
          <a:prstGeom prst="rect">
            <a:avLst/>
          </a:prstGeom>
          <a:noFill/>
          <a:ln/>
        </p:spPr>
        <p:txBody>
          <a:bodyPr wrap="square" lIns="0" tIns="0" rIns="0" bIns="0" rtlCol="0" anchor="t"/>
          <a:lstStyle/>
          <a:p>
            <a:pPr algn="l" indent="0" marL="0">
              <a:lnSpc>
                <a:spcPts val="2900"/>
              </a:lnSpc>
              <a:spcBef>
                <a:spcPts val="600"/>
              </a:spcBef>
              <a:buNone/>
            </a:pPr>
            <a:r>
              <a:rPr lang="en-US" sz="2000" dirty="0">
                <a:solidFill>
                  <a:srgbClr val="24321C"/>
                </a:solidFill>
                <a:latin typeface="Noto Serif SC" pitchFamily="34" charset="0"/>
                <a:ea typeface="Noto Serif SC" pitchFamily="34" charset="-122"/>
                <a:cs typeface="Noto Serif SC" pitchFamily="34" charset="-120"/>
              </a:rPr>
              <a:t>我</a:t>
            </a:r>
            <a:r>
              <a:rPr lang="en-US" sz="2000" b="1" dirty="0">
                <a:solidFill>
                  <a:srgbClr val="B96A12"/>
                </a:solidFill>
                <a:latin typeface="Noto Serif SC" pitchFamily="34" charset="0"/>
                <a:ea typeface="Noto Serif SC" pitchFamily="34" charset="-122"/>
                <a:cs typeface="Noto Serif SC" pitchFamily="34" charset="-120"/>
              </a:rPr>
              <a:t>花</a:t>
            </a:r>
            <a:r>
              <a:rPr lang="en-US" sz="2000" dirty="0">
                <a:solidFill>
                  <a:srgbClr val="24321C"/>
                </a:solidFill>
                <a:latin typeface="Noto Serif SC" pitchFamily="34" charset="0"/>
                <a:ea typeface="Noto Serif SC" pitchFamily="34" charset="-122"/>
                <a:cs typeface="Noto Serif SC" pitchFamily="34" charset="-120"/>
              </a:rPr>
              <a:t>了五十块</a:t>
            </a:r>
            <a:endParaRPr lang="en-US" sz="2000" dirty="0"/>
          </a:p>
        </p:txBody>
      </p:sp>
      <p:sp>
        <p:nvSpPr>
          <p:cNvPr id="18" name="Text 16"/>
          <p:cNvSpPr/>
          <p:nvPr/>
        </p:nvSpPr>
        <p:spPr>
          <a:xfrm>
            <a:off x="6394252" y="3862685"/>
            <a:ext cx="5143143" cy="368350"/>
          </a:xfrm>
          <a:prstGeom prst="rect">
            <a:avLst/>
          </a:prstGeom>
          <a:noFill/>
          <a:ln/>
        </p:spPr>
        <p:txBody>
          <a:bodyPr wrap="square" lIns="0" tIns="0" rIns="0" bIns="0" rtlCol="0" anchor="t"/>
          <a:lstStyle/>
          <a:p>
            <a:pPr algn="l" indent="0" marL="0">
              <a:lnSpc>
                <a:spcPts val="2900"/>
              </a:lnSpc>
              <a:spcBef>
                <a:spcPts val="600"/>
              </a:spcBef>
              <a:buNone/>
            </a:pPr>
            <a:r>
              <a:rPr lang="en-US" sz="2000" b="1" dirty="0">
                <a:solidFill>
                  <a:srgbClr val="24321C"/>
                </a:solidFill>
                <a:latin typeface="Noto Serif SC" pitchFamily="34" charset="0"/>
                <a:ea typeface="Noto Serif SC" pitchFamily="34" charset="-122"/>
                <a:cs typeface="Noto Serif SC" pitchFamily="34" charset="-120"/>
              </a:rPr>
              <a:t>I spent fifty yuan</a:t>
            </a:r>
            <a:endParaRPr lang="en-US" sz="2000" dirty="0"/>
          </a:p>
        </p:txBody>
      </p:sp>
      <p:sp>
        <p:nvSpPr>
          <p:cNvPr id="19" name="Text 17"/>
          <p:cNvSpPr/>
          <p:nvPr/>
        </p:nvSpPr>
        <p:spPr>
          <a:xfrm>
            <a:off x="558701" y="4427786"/>
            <a:ext cx="11074598" cy="774502"/>
          </a:xfrm>
          <a:prstGeom prst="roundRect">
            <a:avLst>
              <a:gd name="adj" fmla="val 9839"/>
            </a:avLst>
          </a:prstGeom>
          <a:solidFill>
            <a:srgbClr val="4C7A2C">
              <a:alpha val="12000"/>
            </a:srgbClr>
          </a:solidFill>
          <a:ln w="9525">
            <a:solidFill>
              <a:srgbClr val="4C7A2C"/>
            </a:solidFill>
          </a:ln>
        </p:spPr>
        <p:txBody>
          <a:bodyPr wrap="square" rtlCol="0" anchor="ctr"/>
          <a:lstStyle/>
          <a:p>
            <a:pPr indent="0" marL="0">
              <a:buNone/>
            </a:pPr>
            <a:endParaRPr lang="en-US" dirty="0"/>
          </a:p>
        </p:txBody>
      </p:sp>
      <p:sp>
        <p:nvSpPr>
          <p:cNvPr id="20" name="Text 18"/>
          <p:cNvSpPr/>
          <p:nvPr/>
        </p:nvSpPr>
        <p:spPr>
          <a:xfrm>
            <a:off x="745927" y="4576911"/>
            <a:ext cx="8528539" cy="200025"/>
          </a:xfrm>
          <a:prstGeom prst="rect">
            <a:avLst/>
          </a:prstGeom>
          <a:noFill/>
          <a:ln/>
        </p:spPr>
        <p:txBody>
          <a:bodyPr wrap="square" lIns="0" tIns="0" rIns="0" bIns="0" rtlCol="0" anchor="t"/>
          <a:lstStyle/>
          <a:p>
            <a:pPr algn="l" indent="0" marL="0">
              <a:buNone/>
            </a:pPr>
            <a:r>
              <a:rPr lang="en-US" sz="1100" b="1" dirty="0">
                <a:solidFill>
                  <a:srgbClr val="4C7A2C"/>
                </a:solidFill>
                <a:latin typeface="Noto Sans" pitchFamily="34" charset="0"/>
                <a:ea typeface="Noto Sans" pitchFamily="34" charset="-122"/>
                <a:cs typeface="Noto Sans" pitchFamily="34" charset="-120"/>
              </a:rPr>
              <a:t>同一个字，两个意思</a:t>
            </a:r>
            <a:endParaRPr lang="en-US" sz="1100" dirty="0"/>
          </a:p>
        </p:txBody>
      </p:sp>
      <p:sp>
        <p:nvSpPr>
          <p:cNvPr id="21" name="Text 19"/>
          <p:cNvSpPr/>
          <p:nvPr/>
        </p:nvSpPr>
        <p:spPr>
          <a:xfrm>
            <a:off x="745927" y="4776936"/>
            <a:ext cx="8528539"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Same character, second meaning. Nothing new to write —— only something new to </a:t>
            </a:r>
            <a:r>
              <a:rPr lang="en-US" sz="1500" b="1" dirty="0">
                <a:solidFill>
                  <a:srgbClr val="24321C"/>
                </a:solidFill>
                <a:latin typeface="Noto Sans" pitchFamily="34" charset="0"/>
                <a:ea typeface="Noto Sans" pitchFamily="34" charset="-122"/>
                <a:cs typeface="Noto Sans" pitchFamily="34" charset="-120"/>
              </a:rPr>
              <a:t>mean</a:t>
            </a:r>
            <a:r>
              <a:rPr lang="en-US" sz="1500" dirty="0">
                <a:solidFill>
                  <a:srgbClr val="24321C"/>
                </a:solidFill>
                <a:latin typeface="Noto Sans" pitchFamily="34" charset="0"/>
                <a:ea typeface="Noto Sans" pitchFamily="34" charset="-122"/>
                <a:cs typeface="Noto Sans" pitchFamily="34" charset="-120"/>
              </a:rPr>
              <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7475"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1 of 2</a:t>
            </a:r>
            <a:endParaRPr lang="en-US" sz="1100" dirty="0"/>
          </a:p>
        </p:txBody>
      </p:sp>
      <p:sp>
        <p:nvSpPr>
          <p:cNvPr id="6" name="Text 4"/>
          <p:cNvSpPr/>
          <p:nvPr/>
        </p:nvSpPr>
        <p:spPr>
          <a:xfrm>
            <a:off x="11272093" y="176213"/>
            <a:ext cx="420195"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7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372791"/>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例句 · SEE THEM USED</a:t>
            </a:r>
            <a:endParaRPr lang="en-US" sz="1200" dirty="0"/>
          </a:p>
        </p:txBody>
      </p:sp>
      <p:sp>
        <p:nvSpPr>
          <p:cNvPr id="9" name="Text 7"/>
          <p:cNvSpPr/>
          <p:nvPr/>
        </p:nvSpPr>
        <p:spPr>
          <a:xfrm>
            <a:off x="558701" y="1696641"/>
            <a:ext cx="11074598" cy="1339007"/>
          </a:xfrm>
          <a:prstGeom prst="rect">
            <a:avLst/>
          </a:prstGeom>
          <a:solidFill>
            <a:srgbClr val="F2EFDE"/>
          </a:solidFill>
          <a:ln/>
        </p:spPr>
        <p:txBody>
          <a:bodyPr wrap="square" rtlCol="0" anchor="ctr"/>
          <a:lstStyle/>
          <a:p>
            <a:pPr indent="0" marL="0">
              <a:buNone/>
            </a:pPr>
            <a:endParaRPr lang="en-US" dirty="0"/>
          </a:p>
        </p:txBody>
      </p:sp>
      <p:sp>
        <p:nvSpPr>
          <p:cNvPr id="10" name="Shape 8"/>
          <p:cNvSpPr/>
          <p:nvPr/>
        </p:nvSpPr>
        <p:spPr>
          <a:xfrm>
            <a:off x="587276" y="1696641"/>
            <a:ext cx="0" cy="1339007"/>
          </a:xfrm>
          <a:prstGeom prst="line">
            <a:avLst/>
          </a:prstGeom>
          <a:noFill/>
          <a:ln w="57150">
            <a:solidFill>
              <a:srgbClr val="4C7A2C"/>
            </a:solidFill>
            <a:prstDash val="solid"/>
          </a:ln>
        </p:spPr>
      </p:sp>
      <p:sp>
        <p:nvSpPr>
          <p:cNvPr id="11" name="Text 9"/>
          <p:cNvSpPr/>
          <p:nvPr/>
        </p:nvSpPr>
        <p:spPr>
          <a:xfrm>
            <a:off x="819001" y="1823591"/>
            <a:ext cx="10823371" cy="266700"/>
          </a:xfrm>
          <a:prstGeom prst="rect">
            <a:avLst/>
          </a:prstGeom>
          <a:noFill/>
          <a:ln/>
        </p:spPr>
        <p:txBody>
          <a:bodyPr wrap="square" lIns="0" tIns="0" rIns="0" bIns="0" rtlCol="0" anchor="t"/>
          <a:lstStyle/>
          <a:p>
            <a:pPr algn="l" indent="0" marL="0">
              <a:spcAft>
                <a:spcPts val="300"/>
              </a:spcAft>
              <a:buNone/>
            </a:pPr>
            <a:r>
              <a:rPr lang="en-US" sz="1500" dirty="0">
                <a:solidFill>
                  <a:srgbClr val="4C7A2C"/>
                </a:solidFill>
                <a:latin typeface="Noto Sans" pitchFamily="34" charset="0"/>
                <a:ea typeface="Noto Sans" pitchFamily="34" charset="-122"/>
                <a:cs typeface="Noto Sans" pitchFamily="34" charset="-120"/>
              </a:rPr>
              <a:t>Wǒ huā le wǔshí kuài qián.</a:t>
            </a:r>
            <a:endParaRPr lang="en-US" sz="1500" dirty="0"/>
          </a:p>
        </p:txBody>
      </p:sp>
      <p:sp>
        <p:nvSpPr>
          <p:cNvPr id="12" name="Text 10"/>
          <p:cNvSpPr/>
          <p:nvPr/>
        </p:nvSpPr>
        <p:spPr>
          <a:xfrm>
            <a:off x="819001" y="2128391"/>
            <a:ext cx="10823371" cy="469255"/>
          </a:xfrm>
          <a:prstGeom prst="rect">
            <a:avLst/>
          </a:prstGeom>
          <a:noFill/>
          <a:ln/>
        </p:spPr>
        <p:txBody>
          <a:bodyPr wrap="square" lIns="0" tIns="0" rIns="0" bIns="0" rtlCol="0" anchor="t"/>
          <a:lstStyle/>
          <a:p>
            <a:pPr algn="l" indent="0" marL="0">
              <a:lnSpc>
                <a:spcPts val="3696"/>
              </a:lnSpc>
              <a:buNone/>
            </a:pPr>
            <a:r>
              <a:rPr lang="en-US" sz="2800" dirty="0">
                <a:solidFill>
                  <a:srgbClr val="24321C"/>
                </a:solidFill>
                <a:latin typeface="Noto Serif SC" pitchFamily="34" charset="0"/>
                <a:ea typeface="Noto Serif SC" pitchFamily="34" charset="-122"/>
                <a:cs typeface="Noto Serif SC" pitchFamily="34" charset="-120"/>
              </a:rPr>
              <a:t>我</a:t>
            </a:r>
            <a:r>
              <a:rPr lang="en-US" sz="2800" b="1" dirty="0">
                <a:solidFill>
                  <a:srgbClr val="B93F2C"/>
                </a:solidFill>
                <a:latin typeface="Noto Serif SC" pitchFamily="34" charset="0"/>
                <a:ea typeface="Noto Serif SC" pitchFamily="34" charset="-122"/>
                <a:cs typeface="Noto Serif SC" pitchFamily="34" charset="-120"/>
              </a:rPr>
              <a:t>花</a:t>
            </a:r>
            <a:r>
              <a:rPr lang="en-US" sz="2800" dirty="0">
                <a:solidFill>
                  <a:srgbClr val="24321C"/>
                </a:solidFill>
                <a:latin typeface="Noto Serif SC" pitchFamily="34" charset="0"/>
                <a:ea typeface="Noto Serif SC" pitchFamily="34" charset="-122"/>
                <a:cs typeface="Noto Serif SC" pitchFamily="34" charset="-120"/>
              </a:rPr>
              <a:t>了五十块钱。</a:t>
            </a:r>
            <a:endParaRPr lang="en-US" sz="2800" dirty="0"/>
          </a:p>
        </p:txBody>
      </p:sp>
      <p:sp>
        <p:nvSpPr>
          <p:cNvPr id="13" name="Text 11"/>
          <p:cNvSpPr/>
          <p:nvPr/>
        </p:nvSpPr>
        <p:spPr>
          <a:xfrm>
            <a:off x="819001" y="2648396"/>
            <a:ext cx="10823371" cy="247650"/>
          </a:xfrm>
          <a:prstGeom prst="rect">
            <a:avLst/>
          </a:prstGeom>
          <a:noFill/>
          <a:ln/>
        </p:spPr>
        <p:txBody>
          <a:bodyPr wrap="square" lIns="0" tIns="0" rIns="0" bIns="0" rtlCol="0" anchor="t"/>
          <a:lstStyle/>
          <a:p>
            <a:pPr algn="l" indent="0" marL="0">
              <a:spcBef>
                <a:spcPts val="400"/>
              </a:spcBef>
              <a:buNone/>
            </a:pPr>
            <a:r>
              <a:rPr lang="en-US" sz="1400" dirty="0">
                <a:solidFill>
                  <a:srgbClr val="4E5A42"/>
                </a:solidFill>
                <a:latin typeface="Noto Sans" pitchFamily="34" charset="0"/>
                <a:ea typeface="Noto Sans" pitchFamily="34" charset="-122"/>
                <a:cs typeface="Noto Sans" pitchFamily="34" charset="-120"/>
              </a:rPr>
              <a:t>I spent fifty yuan.</a:t>
            </a:r>
            <a:endParaRPr lang="en-US" sz="1400" dirty="0"/>
          </a:p>
        </p:txBody>
      </p:sp>
      <p:sp>
        <p:nvSpPr>
          <p:cNvPr id="14" name="Text 12"/>
          <p:cNvSpPr/>
          <p:nvPr/>
        </p:nvSpPr>
        <p:spPr>
          <a:xfrm>
            <a:off x="558701" y="3162598"/>
            <a:ext cx="11074598" cy="1339007"/>
          </a:xfrm>
          <a:prstGeom prst="rect">
            <a:avLst/>
          </a:prstGeom>
          <a:solidFill>
            <a:srgbClr val="F2EFDE"/>
          </a:solidFill>
          <a:ln/>
        </p:spPr>
        <p:txBody>
          <a:bodyPr wrap="square" rtlCol="0" anchor="ctr"/>
          <a:lstStyle/>
          <a:p>
            <a:pPr indent="0" marL="0">
              <a:buNone/>
            </a:pPr>
            <a:endParaRPr lang="en-US" dirty="0"/>
          </a:p>
        </p:txBody>
      </p:sp>
      <p:sp>
        <p:nvSpPr>
          <p:cNvPr id="15" name="Shape 13"/>
          <p:cNvSpPr/>
          <p:nvPr/>
        </p:nvSpPr>
        <p:spPr>
          <a:xfrm>
            <a:off x="587276" y="3162598"/>
            <a:ext cx="0" cy="1339007"/>
          </a:xfrm>
          <a:prstGeom prst="line">
            <a:avLst/>
          </a:prstGeom>
          <a:noFill/>
          <a:ln w="57150">
            <a:solidFill>
              <a:srgbClr val="4C7A2C"/>
            </a:solidFill>
            <a:prstDash val="solid"/>
          </a:ln>
        </p:spPr>
      </p:sp>
      <p:sp>
        <p:nvSpPr>
          <p:cNvPr id="16" name="Text 14"/>
          <p:cNvSpPr/>
          <p:nvPr/>
        </p:nvSpPr>
        <p:spPr>
          <a:xfrm>
            <a:off x="819001" y="3289548"/>
            <a:ext cx="10823371" cy="266700"/>
          </a:xfrm>
          <a:prstGeom prst="rect">
            <a:avLst/>
          </a:prstGeom>
          <a:noFill/>
          <a:ln/>
        </p:spPr>
        <p:txBody>
          <a:bodyPr wrap="square" lIns="0" tIns="0" rIns="0" bIns="0" rtlCol="0" anchor="t"/>
          <a:lstStyle/>
          <a:p>
            <a:pPr algn="l" indent="0" marL="0">
              <a:spcAft>
                <a:spcPts val="300"/>
              </a:spcAft>
              <a:buNone/>
            </a:pPr>
            <a:r>
              <a:rPr lang="en-US" sz="1500" dirty="0">
                <a:solidFill>
                  <a:srgbClr val="4C7A2C"/>
                </a:solidFill>
                <a:latin typeface="Noto Sans" pitchFamily="34" charset="0"/>
                <a:ea typeface="Noto Sans" pitchFamily="34" charset="-122"/>
                <a:cs typeface="Noto Sans" pitchFamily="34" charset="-120"/>
              </a:rPr>
              <a:t>Yí ge bǐsàbǐng liùshí kuài, liǎng bǎi kuài kěyǐ mǎi sān ge.</a:t>
            </a:r>
            <a:endParaRPr lang="en-US" sz="1500" dirty="0"/>
          </a:p>
        </p:txBody>
      </p:sp>
      <p:sp>
        <p:nvSpPr>
          <p:cNvPr id="17" name="Text 15"/>
          <p:cNvSpPr/>
          <p:nvPr/>
        </p:nvSpPr>
        <p:spPr>
          <a:xfrm>
            <a:off x="819001" y="3594348"/>
            <a:ext cx="10823371" cy="469255"/>
          </a:xfrm>
          <a:prstGeom prst="rect">
            <a:avLst/>
          </a:prstGeom>
          <a:noFill/>
          <a:ln/>
        </p:spPr>
        <p:txBody>
          <a:bodyPr wrap="square" lIns="0" tIns="0" rIns="0" bIns="0" rtlCol="0" anchor="t"/>
          <a:lstStyle/>
          <a:p>
            <a:pPr algn="l" indent="0" marL="0">
              <a:lnSpc>
                <a:spcPts val="3696"/>
              </a:lnSpc>
              <a:buNone/>
            </a:pPr>
            <a:r>
              <a:rPr lang="en-US" sz="2800" dirty="0">
                <a:solidFill>
                  <a:srgbClr val="24321C"/>
                </a:solidFill>
                <a:latin typeface="Noto Serif SC" pitchFamily="34" charset="0"/>
                <a:ea typeface="Noto Serif SC" pitchFamily="34" charset="-122"/>
                <a:cs typeface="Noto Serif SC" pitchFamily="34" charset="-120"/>
              </a:rPr>
              <a:t>一个比萨饼六十块，两</a:t>
            </a:r>
            <a:r>
              <a:rPr lang="en-US" sz="2800" b="1" dirty="0">
                <a:solidFill>
                  <a:srgbClr val="B93F2C"/>
                </a:solidFill>
                <a:latin typeface="Noto Serif SC" pitchFamily="34" charset="0"/>
                <a:ea typeface="Noto Serif SC" pitchFamily="34" charset="-122"/>
                <a:cs typeface="Noto Serif SC" pitchFamily="34" charset="-120"/>
              </a:rPr>
              <a:t>百</a:t>
            </a:r>
            <a:r>
              <a:rPr lang="en-US" sz="2800" dirty="0">
                <a:solidFill>
                  <a:srgbClr val="24321C"/>
                </a:solidFill>
                <a:latin typeface="Noto Serif SC" pitchFamily="34" charset="0"/>
                <a:ea typeface="Noto Serif SC" pitchFamily="34" charset="-122"/>
                <a:cs typeface="Noto Serif SC" pitchFamily="34" charset="-120"/>
              </a:rPr>
              <a:t>块可以买三个。</a:t>
            </a:r>
            <a:endParaRPr lang="en-US" sz="2800" dirty="0"/>
          </a:p>
        </p:txBody>
      </p:sp>
      <p:sp>
        <p:nvSpPr>
          <p:cNvPr id="18" name="Text 16"/>
          <p:cNvSpPr/>
          <p:nvPr/>
        </p:nvSpPr>
        <p:spPr>
          <a:xfrm>
            <a:off x="819001" y="4114354"/>
            <a:ext cx="10823371" cy="247650"/>
          </a:xfrm>
          <a:prstGeom prst="rect">
            <a:avLst/>
          </a:prstGeom>
          <a:noFill/>
          <a:ln/>
        </p:spPr>
        <p:txBody>
          <a:bodyPr wrap="square" lIns="0" tIns="0" rIns="0" bIns="0" rtlCol="0" anchor="t"/>
          <a:lstStyle/>
          <a:p>
            <a:pPr algn="l" indent="0" marL="0">
              <a:spcBef>
                <a:spcPts val="400"/>
              </a:spcBef>
              <a:buNone/>
            </a:pPr>
            <a:r>
              <a:rPr lang="en-US" sz="1400" dirty="0">
                <a:solidFill>
                  <a:srgbClr val="4E5A42"/>
                </a:solidFill>
                <a:latin typeface="Noto Sans" pitchFamily="34" charset="0"/>
                <a:ea typeface="Noto Sans" pitchFamily="34" charset="-122"/>
                <a:cs typeface="Noto Sans" pitchFamily="34" charset="-120"/>
              </a:rPr>
              <a:t>A pizza is sixty; two hundred buys three.</a:t>
            </a:r>
            <a:endParaRPr lang="en-US" sz="1400" dirty="0"/>
          </a:p>
        </p:txBody>
      </p:sp>
      <p:sp>
        <p:nvSpPr>
          <p:cNvPr id="19" name="Text 17"/>
          <p:cNvSpPr/>
          <p:nvPr/>
        </p:nvSpPr>
        <p:spPr>
          <a:xfrm>
            <a:off x="558701" y="4628555"/>
            <a:ext cx="11074598" cy="1339007"/>
          </a:xfrm>
          <a:prstGeom prst="rect">
            <a:avLst/>
          </a:prstGeom>
          <a:solidFill>
            <a:srgbClr val="B93F2C">
              <a:alpha val="11000"/>
            </a:srgbClr>
          </a:solidFill>
          <a:ln/>
        </p:spPr>
        <p:txBody>
          <a:bodyPr wrap="square" rtlCol="0" anchor="ctr"/>
          <a:lstStyle/>
          <a:p>
            <a:pPr indent="0" marL="0">
              <a:buNone/>
            </a:pPr>
            <a:endParaRPr lang="en-US" dirty="0"/>
          </a:p>
        </p:txBody>
      </p:sp>
      <p:sp>
        <p:nvSpPr>
          <p:cNvPr id="20" name="Shape 18"/>
          <p:cNvSpPr/>
          <p:nvPr/>
        </p:nvSpPr>
        <p:spPr>
          <a:xfrm>
            <a:off x="587276" y="4628555"/>
            <a:ext cx="0" cy="1339007"/>
          </a:xfrm>
          <a:prstGeom prst="line">
            <a:avLst/>
          </a:prstGeom>
          <a:noFill/>
          <a:ln w="57150">
            <a:solidFill>
              <a:srgbClr val="B93F2C"/>
            </a:solidFill>
            <a:prstDash val="solid"/>
          </a:ln>
        </p:spPr>
      </p:sp>
      <p:sp>
        <p:nvSpPr>
          <p:cNvPr id="21" name="Text 19"/>
          <p:cNvSpPr/>
          <p:nvPr/>
        </p:nvSpPr>
        <p:spPr>
          <a:xfrm>
            <a:off x="819001" y="4755505"/>
            <a:ext cx="10823371" cy="266700"/>
          </a:xfrm>
          <a:prstGeom prst="rect">
            <a:avLst/>
          </a:prstGeom>
          <a:noFill/>
          <a:ln/>
        </p:spPr>
        <p:txBody>
          <a:bodyPr wrap="square" lIns="0" tIns="0" rIns="0" bIns="0" rtlCol="0" anchor="t"/>
          <a:lstStyle/>
          <a:p>
            <a:pPr algn="l" indent="0" marL="0">
              <a:spcAft>
                <a:spcPts val="300"/>
              </a:spcAft>
              <a:buNone/>
            </a:pPr>
            <a:r>
              <a:rPr lang="en-US" sz="1500" dirty="0">
                <a:solidFill>
                  <a:srgbClr val="4C7A2C"/>
                </a:solidFill>
                <a:latin typeface="Noto Sans" pitchFamily="34" charset="0"/>
                <a:ea typeface="Noto Sans" pitchFamily="34" charset="-122"/>
                <a:cs typeface="Noto Sans" pitchFamily="34" charset="-120"/>
              </a:rPr>
              <a:t>Wǒmen yígòng huā le liǎng bǎi kuài.</a:t>
            </a:r>
            <a:endParaRPr lang="en-US" sz="1500" dirty="0"/>
          </a:p>
        </p:txBody>
      </p:sp>
      <p:sp>
        <p:nvSpPr>
          <p:cNvPr id="22" name="Text 20"/>
          <p:cNvSpPr/>
          <p:nvPr/>
        </p:nvSpPr>
        <p:spPr>
          <a:xfrm>
            <a:off x="819001" y="5060305"/>
            <a:ext cx="10823371" cy="469255"/>
          </a:xfrm>
          <a:prstGeom prst="rect">
            <a:avLst/>
          </a:prstGeom>
          <a:noFill/>
          <a:ln/>
        </p:spPr>
        <p:txBody>
          <a:bodyPr wrap="square" lIns="0" tIns="0" rIns="0" bIns="0" rtlCol="0" anchor="t"/>
          <a:lstStyle/>
          <a:p>
            <a:pPr algn="l" indent="0" marL="0">
              <a:lnSpc>
                <a:spcPts val="3696"/>
              </a:lnSpc>
              <a:buNone/>
            </a:pPr>
            <a:r>
              <a:rPr lang="en-US" sz="2800" dirty="0">
                <a:solidFill>
                  <a:srgbClr val="24321C"/>
                </a:solidFill>
                <a:latin typeface="Noto Serif SC" pitchFamily="34" charset="0"/>
                <a:ea typeface="Noto Serif SC" pitchFamily="34" charset="-122"/>
                <a:cs typeface="Noto Serif SC" pitchFamily="34" charset="-120"/>
              </a:rPr>
              <a:t>我们一共</a:t>
            </a:r>
            <a:r>
              <a:rPr lang="en-US" sz="2800" b="1" dirty="0">
                <a:solidFill>
                  <a:srgbClr val="B93F2C"/>
                </a:solidFill>
                <a:latin typeface="Noto Serif SC" pitchFamily="34" charset="0"/>
                <a:ea typeface="Noto Serif SC" pitchFamily="34" charset="-122"/>
                <a:cs typeface="Noto Serif SC" pitchFamily="34" charset="-120"/>
              </a:rPr>
              <a:t>花</a:t>
            </a:r>
            <a:r>
              <a:rPr lang="en-US" sz="2800" dirty="0">
                <a:solidFill>
                  <a:srgbClr val="24321C"/>
                </a:solidFill>
                <a:latin typeface="Noto Serif SC" pitchFamily="34" charset="0"/>
                <a:ea typeface="Noto Serif SC" pitchFamily="34" charset="-122"/>
                <a:cs typeface="Noto Serif SC" pitchFamily="34" charset="-120"/>
              </a:rPr>
              <a:t>了两</a:t>
            </a:r>
            <a:r>
              <a:rPr lang="en-US" sz="2800" b="1" dirty="0">
                <a:solidFill>
                  <a:srgbClr val="B93F2C"/>
                </a:solidFill>
                <a:latin typeface="Noto Serif SC" pitchFamily="34" charset="0"/>
                <a:ea typeface="Noto Serif SC" pitchFamily="34" charset="-122"/>
                <a:cs typeface="Noto Serif SC" pitchFamily="34" charset="-120"/>
              </a:rPr>
              <a:t>百</a:t>
            </a:r>
            <a:r>
              <a:rPr lang="en-US" sz="2800" dirty="0">
                <a:solidFill>
                  <a:srgbClr val="24321C"/>
                </a:solidFill>
                <a:latin typeface="Noto Serif SC" pitchFamily="34" charset="0"/>
                <a:ea typeface="Noto Serif SC" pitchFamily="34" charset="-122"/>
                <a:cs typeface="Noto Serif SC" pitchFamily="34" charset="-120"/>
              </a:rPr>
              <a:t>块。</a:t>
            </a:r>
            <a:endParaRPr lang="en-US" sz="2800" dirty="0"/>
          </a:p>
        </p:txBody>
      </p:sp>
      <p:sp>
        <p:nvSpPr>
          <p:cNvPr id="23" name="Text 21"/>
          <p:cNvSpPr/>
          <p:nvPr/>
        </p:nvSpPr>
        <p:spPr>
          <a:xfrm>
            <a:off x="819001" y="5580311"/>
            <a:ext cx="10823371" cy="247650"/>
          </a:xfrm>
          <a:prstGeom prst="rect">
            <a:avLst/>
          </a:prstGeom>
          <a:noFill/>
          <a:ln/>
        </p:spPr>
        <p:txBody>
          <a:bodyPr wrap="square" lIns="0" tIns="0" rIns="0" bIns="0" rtlCol="0" anchor="t"/>
          <a:lstStyle/>
          <a:p>
            <a:pPr algn="l" indent="0" marL="0">
              <a:spcBef>
                <a:spcPts val="400"/>
              </a:spcBef>
              <a:buNone/>
            </a:pPr>
            <a:r>
              <a:rPr lang="en-US" sz="1400" dirty="0">
                <a:solidFill>
                  <a:srgbClr val="4E5A42"/>
                </a:solidFill>
                <a:latin typeface="Noto Sans" pitchFamily="34" charset="0"/>
                <a:ea typeface="Noto Sans" pitchFamily="34" charset="-122"/>
                <a:cs typeface="Noto Sans" pitchFamily="34" charset="-120"/>
              </a:rPr>
              <a:t>We spent two hundred altogether.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7475"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1 of 2</a:t>
            </a:r>
            <a:endParaRPr lang="en-US" sz="1100" dirty="0"/>
          </a:p>
        </p:txBody>
      </p:sp>
      <p:sp>
        <p:nvSpPr>
          <p:cNvPr id="6" name="Text 4"/>
          <p:cNvSpPr/>
          <p:nvPr/>
        </p:nvSpPr>
        <p:spPr>
          <a:xfrm>
            <a:off x="11265991" y="176213"/>
            <a:ext cx="426419"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8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243584"/>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写一句 · WRITE YOUR OWN</a:t>
            </a:r>
            <a:endParaRPr lang="en-US" sz="1200" dirty="0"/>
          </a:p>
        </p:txBody>
      </p:sp>
      <p:sp>
        <p:nvSpPr>
          <p:cNvPr id="9" name="Text 7"/>
          <p:cNvSpPr/>
          <p:nvPr/>
        </p:nvSpPr>
        <p:spPr>
          <a:xfrm>
            <a:off x="558701" y="2567434"/>
            <a:ext cx="11074598" cy="1545431"/>
          </a:xfrm>
          <a:prstGeom prst="roundRect">
            <a:avLst>
              <a:gd name="adj" fmla="val 8218"/>
            </a:avLst>
          </a:prstGeom>
          <a:solidFill>
            <a:srgbClr val="E8E2C8"/>
          </a:solidFill>
          <a:ln w="19050">
            <a:solidFill>
              <a:srgbClr val="B96A12"/>
            </a:solidFill>
          </a:ln>
        </p:spPr>
        <p:txBody>
          <a:bodyPr wrap="square" rtlCol="0" anchor="ctr"/>
          <a:lstStyle/>
          <a:p>
            <a:pPr indent="0" marL="0">
              <a:buNone/>
            </a:pPr>
            <a:endParaRPr lang="en-US" dirty="0"/>
          </a:p>
        </p:txBody>
      </p:sp>
      <p:sp>
        <p:nvSpPr>
          <p:cNvPr id="10" name="Text 8"/>
          <p:cNvSpPr/>
          <p:nvPr/>
        </p:nvSpPr>
        <p:spPr>
          <a:xfrm>
            <a:off x="869752" y="2815084"/>
            <a:ext cx="10661547" cy="669131"/>
          </a:xfrm>
          <a:prstGeom prst="rect">
            <a:avLst/>
          </a:prstGeom>
          <a:noFill/>
          <a:ln/>
        </p:spPr>
        <p:txBody>
          <a:bodyPr wrap="square" lIns="0" tIns="0" rIns="0" bIns="0" rtlCol="0" anchor="t"/>
          <a:lstStyle/>
          <a:p>
            <a:pPr algn="l" indent="0" marL="0">
              <a:lnSpc>
                <a:spcPts val="5270"/>
              </a:lnSpc>
              <a:buNone/>
            </a:pPr>
            <a:r>
              <a:rPr lang="en-US" sz="3100" b="1" dirty="0">
                <a:solidFill>
                  <a:srgbClr val="24321C"/>
                </a:solidFill>
                <a:latin typeface="Noto Serif SC" pitchFamily="34" charset="0"/>
                <a:ea typeface="Noto Serif SC" pitchFamily="34" charset="-122"/>
                <a:cs typeface="Noto Serif SC" pitchFamily="34" charset="-120"/>
              </a:rPr>
              <a:t>上个星期我花了 ______ 块钱买 ______ 。</a:t>
            </a:r>
            <a:endParaRPr lang="en-US" sz="3100" dirty="0"/>
          </a:p>
        </p:txBody>
      </p:sp>
      <p:sp>
        <p:nvSpPr>
          <p:cNvPr id="11" name="Text 9"/>
          <p:cNvSpPr/>
          <p:nvPr/>
        </p:nvSpPr>
        <p:spPr>
          <a:xfrm>
            <a:off x="869752" y="3598515"/>
            <a:ext cx="10661547" cy="266700"/>
          </a:xfrm>
          <a:prstGeom prst="rect">
            <a:avLst/>
          </a:prstGeom>
          <a:noFill/>
          <a:ln/>
        </p:spPr>
        <p:txBody>
          <a:bodyPr wrap="square" lIns="0" tIns="0" rIns="0" bIns="0" rtlCol="0" anchor="t"/>
          <a:lstStyle/>
          <a:p>
            <a:pPr algn="l" indent="0" marL="0">
              <a:spcBef>
                <a:spcPts val="900"/>
              </a:spcBef>
              <a:buNone/>
            </a:pPr>
            <a:r>
              <a:rPr lang="en-US" sz="1500" dirty="0">
                <a:solidFill>
                  <a:srgbClr val="4E5A42"/>
                </a:solidFill>
                <a:latin typeface="Noto Sans" pitchFamily="34" charset="0"/>
                <a:ea typeface="Noto Sans" pitchFamily="34" charset="-122"/>
                <a:cs typeface="Noto Sans" pitchFamily="34" charset="-120"/>
              </a:rPr>
              <a:t>60 seconds. A real amount.</a:t>
            </a:r>
            <a:endParaRPr lang="en-US" sz="1500" dirty="0"/>
          </a:p>
        </p:txBody>
      </p:sp>
      <p:sp>
        <p:nvSpPr>
          <p:cNvPr id="12" name="Text 10"/>
          <p:cNvSpPr/>
          <p:nvPr/>
        </p:nvSpPr>
        <p:spPr>
          <a:xfrm>
            <a:off x="558701" y="4239816"/>
            <a:ext cx="11074598" cy="856952"/>
          </a:xfrm>
          <a:prstGeom prst="roundRect">
            <a:avLst>
              <a:gd name="adj" fmla="val 8892"/>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3" name="Text 11"/>
          <p:cNvSpPr/>
          <p:nvPr/>
        </p:nvSpPr>
        <p:spPr>
          <a:xfrm>
            <a:off x="768251" y="4398466"/>
            <a:ext cx="10868608" cy="200025"/>
          </a:xfrm>
          <a:prstGeom prst="rect">
            <a:avLst/>
          </a:prstGeom>
          <a:noFill/>
          <a:ln/>
        </p:spPr>
        <p:txBody>
          <a:bodyPr wrap="square" lIns="0" tIns="0" rIns="0" bIns="0" rtlCol="0" anchor="t"/>
          <a:lstStyle/>
          <a:p>
            <a:pPr algn="l" indent="0" marL="0">
              <a:spcAft>
                <a:spcPts val="500"/>
              </a:spcAft>
              <a:buNone/>
            </a:pPr>
            <a:r>
              <a:rPr lang="en-US" sz="1100" b="1" dirty="0">
                <a:solidFill>
                  <a:srgbClr val="4C7A2C"/>
                </a:solidFill>
                <a:latin typeface="Noto Sans" pitchFamily="34" charset="0"/>
                <a:ea typeface="Noto Sans" pitchFamily="34" charset="-122"/>
                <a:cs typeface="Noto Sans" pitchFamily="34" charset="-120"/>
              </a:rPr>
              <a:t>EXTENSION · 加油题</a:t>
            </a:r>
            <a:endParaRPr lang="en-US" sz="1100" dirty="0"/>
          </a:p>
        </p:txBody>
      </p:sp>
      <p:sp>
        <p:nvSpPr>
          <p:cNvPr id="14" name="Text 12"/>
          <p:cNvSpPr/>
          <p:nvPr/>
        </p:nvSpPr>
        <p:spPr>
          <a:xfrm>
            <a:off x="768251" y="4661892"/>
            <a:ext cx="10868608"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Two sentences —— one with </a:t>
            </a:r>
            <a:r>
              <a:rPr lang="en-US" sz="1500" b="1" dirty="0">
                <a:solidFill>
                  <a:srgbClr val="4C7A2C"/>
                </a:solidFill>
                <a:latin typeface="Noto Sans" pitchFamily="34" charset="0"/>
                <a:ea typeface="Noto Sans" pitchFamily="34" charset="-122"/>
                <a:cs typeface="Noto Sans" pitchFamily="34" charset="-120"/>
              </a:rPr>
              <a:t>大概</a:t>
            </a:r>
            <a:r>
              <a:rPr lang="en-US" sz="1500" dirty="0">
                <a:solidFill>
                  <a:srgbClr val="24321C"/>
                </a:solidFill>
                <a:latin typeface="Noto Sans" pitchFamily="34" charset="0"/>
                <a:ea typeface="Noto Sans" pitchFamily="34" charset="-122"/>
                <a:cs typeface="Noto Sans" pitchFamily="34" charset="-120"/>
              </a:rPr>
              <a:t>, one with </a:t>
            </a:r>
            <a:r>
              <a:rPr lang="en-US" sz="1500" b="1" dirty="0">
                <a:solidFill>
                  <a:srgbClr val="4C7A2C"/>
                </a:solidFill>
                <a:latin typeface="Noto Sans" pitchFamily="34" charset="0"/>
                <a:ea typeface="Noto Sans" pitchFamily="34" charset="-122"/>
                <a:cs typeface="Noto Sans" pitchFamily="34" charset="-120"/>
              </a:rPr>
              <a:t>一共</a:t>
            </a:r>
            <a:r>
              <a:rPr lang="en-US" sz="1500" dirty="0">
                <a:solidFill>
                  <a:srgbClr val="24321C"/>
                </a:solidFill>
                <a:latin typeface="Noto Sans" pitchFamily="34" charset="0"/>
                <a:ea typeface="Noto Sans" pitchFamily="34" charset="-122"/>
                <a:cs typeface="Noto Sans" pitchFamily="34" charset="-120"/>
              </a:rPr>
              <a:t>. Both need 花 and a three-digit price.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324800"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2 of 2</a:t>
            </a:r>
            <a:endParaRPr lang="en-US" sz="1100" dirty="0"/>
          </a:p>
        </p:txBody>
      </p:sp>
      <p:sp>
        <p:nvSpPr>
          <p:cNvPr id="6" name="Text 4"/>
          <p:cNvSpPr/>
          <p:nvPr/>
        </p:nvSpPr>
        <p:spPr>
          <a:xfrm>
            <a:off x="11265545" y="176213"/>
            <a:ext cx="426875"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9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359991"/>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NEW WORDS · 跟我读两遍 · REPEAT AFTER ME, TWICE</a:t>
            </a:r>
            <a:endParaRPr lang="en-US" sz="1200" dirty="0"/>
          </a:p>
        </p:txBody>
      </p:sp>
      <p:sp>
        <p:nvSpPr>
          <p:cNvPr id="9" name="Text 7"/>
          <p:cNvSpPr/>
          <p:nvPr/>
        </p:nvSpPr>
        <p:spPr>
          <a:xfrm>
            <a:off x="558701" y="1683841"/>
            <a:ext cx="5334149" cy="4296668"/>
          </a:xfrm>
          <a:prstGeom prst="roundRect">
            <a:avLst>
              <a:gd name="adj" fmla="val 2956"/>
            </a:avLst>
          </a:prstGeom>
          <a:solidFill>
            <a:srgbClr val="F2EFDE"/>
          </a:solidFill>
          <a:ln w="9525">
            <a:solidFill>
              <a:srgbClr val="E1DBC0"/>
            </a:solidFill>
          </a:ln>
        </p:spPr>
        <p:txBody>
          <a:bodyPr wrap="square" rtlCol="0" anchor="ctr"/>
          <a:lstStyle/>
          <a:p>
            <a:pPr indent="0" marL="0">
              <a:buNone/>
            </a:pPr>
            <a:endParaRPr lang="en-US" dirty="0"/>
          </a:p>
        </p:txBody>
      </p:sp>
      <p:pic>
        <p:nvPicPr>
          <p:cNvPr id="10" name="Image 0" descr="/var/folders/6c/210dcgxn4gz5sm71vld2cy1h0000gn/T/tmp.sLz7wO9Bv9/img/suan.png">    </p:cNvPr>
          <p:cNvPicPr>
            <a:picLocks noChangeAspect="1"/>
          </p:cNvPicPr>
          <p:nvPr/>
        </p:nvPicPr>
        <p:blipFill>
          <a:blip r:embed="rId1"/>
          <a:stretch>
            <a:fillRect/>
          </a:stretch>
        </p:blipFill>
        <p:spPr>
          <a:xfrm>
            <a:off x="2432000" y="1972717"/>
            <a:ext cx="1587401" cy="1587401"/>
          </a:xfrm>
          <a:prstGeom prst="rect">
            <a:avLst/>
          </a:prstGeom>
        </p:spPr>
      </p:pic>
      <p:sp>
        <p:nvSpPr>
          <p:cNvPr id="11" name="Text 8"/>
          <p:cNvSpPr/>
          <p:nvPr/>
        </p:nvSpPr>
        <p:spPr>
          <a:xfrm>
            <a:off x="2898279" y="3648968"/>
            <a:ext cx="668092" cy="390525"/>
          </a:xfrm>
          <a:prstGeom prst="rect">
            <a:avLst/>
          </a:prstGeom>
          <a:noFill/>
          <a:ln/>
        </p:spPr>
        <p:txBody>
          <a:bodyPr wrap="square" lIns="0" tIns="0" rIns="0" bIns="0" rtlCol="0" anchor="t"/>
          <a:lstStyle/>
          <a:p>
            <a:pPr algn="l" indent="0" marL="0">
              <a:buNone/>
            </a:pPr>
            <a:r>
              <a:rPr lang="en-US" sz="2200" dirty="0">
                <a:solidFill>
                  <a:srgbClr val="4C7A2C"/>
                </a:solidFill>
                <a:latin typeface="Noto Sans" pitchFamily="34" charset="0"/>
                <a:ea typeface="Noto Sans" pitchFamily="34" charset="-122"/>
                <a:cs typeface="Noto Sans" pitchFamily="34" charset="-120"/>
              </a:rPr>
              <a:t>suàn</a:t>
            </a:r>
            <a:endParaRPr lang="en-US" sz="2200" dirty="0"/>
          </a:p>
        </p:txBody>
      </p:sp>
      <p:sp>
        <p:nvSpPr>
          <p:cNvPr id="12" name="Text 9"/>
          <p:cNvSpPr/>
          <p:nvPr/>
        </p:nvSpPr>
        <p:spPr>
          <a:xfrm>
            <a:off x="2832050" y="4128343"/>
            <a:ext cx="803199" cy="826740"/>
          </a:xfrm>
          <a:prstGeom prst="rect">
            <a:avLst/>
          </a:prstGeom>
          <a:noFill/>
          <a:ln/>
        </p:spPr>
        <p:txBody>
          <a:bodyPr wrap="square" lIns="0" tIns="0" rIns="0" bIns="0" rtlCol="0" anchor="t"/>
          <a:lstStyle/>
          <a:p>
            <a:pPr algn="l" indent="0" marL="0">
              <a:lnSpc>
                <a:spcPts val="6510"/>
              </a:lnSpc>
              <a:buNone/>
            </a:pPr>
            <a:r>
              <a:rPr lang="en-US" sz="6200" b="1" dirty="0">
                <a:solidFill>
                  <a:srgbClr val="24321C"/>
                </a:solidFill>
                <a:latin typeface="Noto Serif SC" pitchFamily="34" charset="0"/>
                <a:ea typeface="Noto Serif SC" pitchFamily="34" charset="-122"/>
                <a:cs typeface="Noto Serif SC" pitchFamily="34" charset="-120"/>
              </a:rPr>
              <a:t>算</a:t>
            </a:r>
            <a:endParaRPr lang="en-US" sz="6200" dirty="0"/>
          </a:p>
        </p:txBody>
      </p:sp>
      <p:sp>
        <p:nvSpPr>
          <p:cNvPr id="13" name="Text 10"/>
          <p:cNvSpPr/>
          <p:nvPr/>
        </p:nvSpPr>
        <p:spPr>
          <a:xfrm>
            <a:off x="2224534" y="5043934"/>
            <a:ext cx="2042380" cy="304800"/>
          </a:xfrm>
          <a:prstGeom prst="rect">
            <a:avLst/>
          </a:prstGeom>
          <a:noFill/>
          <a:ln/>
        </p:spPr>
        <p:txBody>
          <a:bodyPr wrap="square" lIns="0" tIns="0" rIns="0" bIns="0" rtlCol="0" anchor="t"/>
          <a:lstStyle/>
          <a:p>
            <a:pPr algn="l" indent="0" marL="0">
              <a:buNone/>
            </a:pPr>
            <a:r>
              <a:rPr lang="en-US" sz="1700" dirty="0">
                <a:solidFill>
                  <a:srgbClr val="4E5A42"/>
                </a:solidFill>
                <a:latin typeface="Noto Sans" pitchFamily="34" charset="0"/>
                <a:ea typeface="Noto Sans" pitchFamily="34" charset="-122"/>
                <a:cs typeface="Noto Sans" pitchFamily="34" charset="-120"/>
              </a:rPr>
              <a:t>regard as; count as</a:t>
            </a:r>
            <a:endParaRPr lang="en-US" sz="1700" dirty="0"/>
          </a:p>
        </p:txBody>
      </p:sp>
      <p:sp>
        <p:nvSpPr>
          <p:cNvPr id="14" name="Text 11"/>
          <p:cNvSpPr/>
          <p:nvPr/>
        </p:nvSpPr>
        <p:spPr>
          <a:xfrm>
            <a:off x="6299150" y="1683841"/>
            <a:ext cx="5334149" cy="4296668"/>
          </a:xfrm>
          <a:prstGeom prst="roundRect">
            <a:avLst>
              <a:gd name="adj" fmla="val 2956"/>
            </a:avLst>
          </a:prstGeom>
          <a:solidFill>
            <a:srgbClr val="F2EFDE"/>
          </a:solidFill>
          <a:ln w="9525">
            <a:solidFill>
              <a:srgbClr val="E1DBC0"/>
            </a:solidFill>
          </a:ln>
        </p:spPr>
        <p:txBody>
          <a:bodyPr wrap="square" rtlCol="0" anchor="ctr"/>
          <a:lstStyle/>
          <a:p>
            <a:pPr indent="0" marL="0">
              <a:buNone/>
            </a:pPr>
            <a:endParaRPr lang="en-US" dirty="0"/>
          </a:p>
        </p:txBody>
      </p:sp>
      <p:pic>
        <p:nvPicPr>
          <p:cNvPr id="15" name="Image 1" descr="/var/folders/6c/210dcgxn4gz5sm71vld2cy1h0000gn/T/tmp.sLz7wO9Bv9/img/gui.png">    </p:cNvPr>
          <p:cNvPicPr>
            <a:picLocks noChangeAspect="1"/>
          </p:cNvPicPr>
          <p:nvPr/>
        </p:nvPicPr>
        <p:blipFill>
          <a:blip r:embed="rId2"/>
          <a:stretch>
            <a:fillRect/>
          </a:stretch>
        </p:blipFill>
        <p:spPr>
          <a:xfrm>
            <a:off x="8172450" y="1972717"/>
            <a:ext cx="1587401" cy="1587401"/>
          </a:xfrm>
          <a:prstGeom prst="rect">
            <a:avLst/>
          </a:prstGeom>
        </p:spPr>
      </p:pic>
      <p:sp>
        <p:nvSpPr>
          <p:cNvPr id="16" name="Text 12"/>
          <p:cNvSpPr/>
          <p:nvPr/>
        </p:nvSpPr>
        <p:spPr>
          <a:xfrm>
            <a:off x="8751391" y="3648968"/>
            <a:ext cx="438108" cy="390525"/>
          </a:xfrm>
          <a:prstGeom prst="rect">
            <a:avLst/>
          </a:prstGeom>
          <a:noFill/>
          <a:ln/>
        </p:spPr>
        <p:txBody>
          <a:bodyPr wrap="square" lIns="0" tIns="0" rIns="0" bIns="0" rtlCol="0" anchor="t"/>
          <a:lstStyle/>
          <a:p>
            <a:pPr algn="l" indent="0" marL="0">
              <a:buNone/>
            </a:pPr>
            <a:r>
              <a:rPr lang="en-US" sz="2200" dirty="0">
                <a:solidFill>
                  <a:srgbClr val="4C7A2C"/>
                </a:solidFill>
                <a:latin typeface="Noto Sans" pitchFamily="34" charset="0"/>
                <a:ea typeface="Noto Sans" pitchFamily="34" charset="-122"/>
                <a:cs typeface="Noto Sans" pitchFamily="34" charset="-120"/>
              </a:rPr>
              <a:t>guì</a:t>
            </a:r>
            <a:endParaRPr lang="en-US" sz="2200" dirty="0"/>
          </a:p>
        </p:txBody>
      </p:sp>
      <p:sp>
        <p:nvSpPr>
          <p:cNvPr id="17" name="Text 13"/>
          <p:cNvSpPr/>
          <p:nvPr/>
        </p:nvSpPr>
        <p:spPr>
          <a:xfrm>
            <a:off x="8572500" y="4128343"/>
            <a:ext cx="803199" cy="826740"/>
          </a:xfrm>
          <a:prstGeom prst="rect">
            <a:avLst/>
          </a:prstGeom>
          <a:noFill/>
          <a:ln/>
        </p:spPr>
        <p:txBody>
          <a:bodyPr wrap="square" lIns="0" tIns="0" rIns="0" bIns="0" rtlCol="0" anchor="t"/>
          <a:lstStyle/>
          <a:p>
            <a:pPr algn="l" indent="0" marL="0">
              <a:lnSpc>
                <a:spcPts val="6510"/>
              </a:lnSpc>
              <a:buNone/>
            </a:pPr>
            <a:r>
              <a:rPr lang="en-US" sz="6200" b="1" dirty="0">
                <a:solidFill>
                  <a:srgbClr val="24321C"/>
                </a:solidFill>
                <a:latin typeface="Noto Serif SC" pitchFamily="34" charset="0"/>
                <a:ea typeface="Noto Serif SC" pitchFamily="34" charset="-122"/>
                <a:cs typeface="Noto Serif SC" pitchFamily="34" charset="-120"/>
              </a:rPr>
              <a:t>贵</a:t>
            </a:r>
            <a:endParaRPr lang="en-US" sz="6200" dirty="0"/>
          </a:p>
        </p:txBody>
      </p:sp>
      <p:sp>
        <p:nvSpPr>
          <p:cNvPr id="18" name="Text 14"/>
          <p:cNvSpPr/>
          <p:nvPr/>
        </p:nvSpPr>
        <p:spPr>
          <a:xfrm>
            <a:off x="8460581" y="5043934"/>
            <a:ext cx="1031513" cy="304800"/>
          </a:xfrm>
          <a:prstGeom prst="rect">
            <a:avLst/>
          </a:prstGeom>
          <a:noFill/>
          <a:ln/>
        </p:spPr>
        <p:txBody>
          <a:bodyPr wrap="square" lIns="0" tIns="0" rIns="0" bIns="0" rtlCol="0" anchor="t"/>
          <a:lstStyle/>
          <a:p>
            <a:pPr algn="l" indent="0" marL="0">
              <a:buNone/>
            </a:pPr>
            <a:r>
              <a:rPr lang="en-US" sz="1700" dirty="0">
                <a:solidFill>
                  <a:srgbClr val="4E5A42"/>
                </a:solidFill>
                <a:latin typeface="Noto Sans" pitchFamily="34" charset="0"/>
                <a:ea typeface="Noto Sans" pitchFamily="34" charset="-122"/>
                <a:cs typeface="Noto Sans" pitchFamily="34" charset="-120"/>
              </a:rPr>
              <a:t>expensive</a:t>
            </a:r>
            <a:endParaRPr lang="en-US" sz="1700" dirty="0"/>
          </a:p>
        </p:txBody>
      </p:sp>
      <p:sp>
        <p:nvSpPr>
          <p:cNvPr id="19" name="Text 15"/>
          <p:cNvSpPr/>
          <p:nvPr/>
        </p:nvSpPr>
        <p:spPr>
          <a:xfrm>
            <a:off x="8882063" y="5437584"/>
            <a:ext cx="171691"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貴</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324800"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2 of 2</a:t>
            </a:r>
            <a:endParaRPr lang="en-US" sz="1100" dirty="0"/>
          </a:p>
        </p:txBody>
      </p:sp>
      <p:sp>
        <p:nvSpPr>
          <p:cNvPr id="6" name="Text 4"/>
          <p:cNvSpPr/>
          <p:nvPr/>
        </p:nvSpPr>
        <p:spPr>
          <a:xfrm>
            <a:off x="11209288" y="176213"/>
            <a:ext cx="484257"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10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372791"/>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例句 · SEE THEM USED</a:t>
            </a:r>
            <a:endParaRPr lang="en-US" sz="1200" dirty="0"/>
          </a:p>
        </p:txBody>
      </p:sp>
      <p:sp>
        <p:nvSpPr>
          <p:cNvPr id="9" name="Text 7"/>
          <p:cNvSpPr/>
          <p:nvPr/>
        </p:nvSpPr>
        <p:spPr>
          <a:xfrm>
            <a:off x="558701" y="1696641"/>
            <a:ext cx="11074598" cy="1339007"/>
          </a:xfrm>
          <a:prstGeom prst="rect">
            <a:avLst/>
          </a:prstGeom>
          <a:solidFill>
            <a:srgbClr val="F2EFDE"/>
          </a:solidFill>
          <a:ln/>
        </p:spPr>
        <p:txBody>
          <a:bodyPr wrap="square" rtlCol="0" anchor="ctr"/>
          <a:lstStyle/>
          <a:p>
            <a:pPr indent="0" marL="0">
              <a:buNone/>
            </a:pPr>
            <a:endParaRPr lang="en-US" dirty="0"/>
          </a:p>
        </p:txBody>
      </p:sp>
      <p:sp>
        <p:nvSpPr>
          <p:cNvPr id="10" name="Shape 8"/>
          <p:cNvSpPr/>
          <p:nvPr/>
        </p:nvSpPr>
        <p:spPr>
          <a:xfrm>
            <a:off x="587276" y="1696641"/>
            <a:ext cx="0" cy="1339007"/>
          </a:xfrm>
          <a:prstGeom prst="line">
            <a:avLst/>
          </a:prstGeom>
          <a:noFill/>
          <a:ln w="57150">
            <a:solidFill>
              <a:srgbClr val="4C7A2C"/>
            </a:solidFill>
            <a:prstDash val="solid"/>
          </a:ln>
        </p:spPr>
      </p:sp>
      <p:sp>
        <p:nvSpPr>
          <p:cNvPr id="11" name="Text 9"/>
          <p:cNvSpPr/>
          <p:nvPr/>
        </p:nvSpPr>
        <p:spPr>
          <a:xfrm>
            <a:off x="819001" y="1823591"/>
            <a:ext cx="10823371" cy="266700"/>
          </a:xfrm>
          <a:prstGeom prst="rect">
            <a:avLst/>
          </a:prstGeom>
          <a:noFill/>
          <a:ln/>
        </p:spPr>
        <p:txBody>
          <a:bodyPr wrap="square" lIns="0" tIns="0" rIns="0" bIns="0" rtlCol="0" anchor="t"/>
          <a:lstStyle/>
          <a:p>
            <a:pPr algn="l" indent="0" marL="0">
              <a:spcAft>
                <a:spcPts val="300"/>
              </a:spcAft>
              <a:buNone/>
            </a:pPr>
            <a:r>
              <a:rPr lang="en-US" sz="1500" dirty="0">
                <a:solidFill>
                  <a:srgbClr val="4C7A2C"/>
                </a:solidFill>
                <a:latin typeface="Noto Sans" pitchFamily="34" charset="0"/>
                <a:ea typeface="Noto Sans" pitchFamily="34" charset="-122"/>
                <a:cs typeface="Noto Sans" pitchFamily="34" charset="-120"/>
              </a:rPr>
              <a:t>Zhè jiàn yīfu hěn guì.</a:t>
            </a:r>
            <a:endParaRPr lang="en-US" sz="1500" dirty="0"/>
          </a:p>
        </p:txBody>
      </p:sp>
      <p:sp>
        <p:nvSpPr>
          <p:cNvPr id="12" name="Text 10"/>
          <p:cNvSpPr/>
          <p:nvPr/>
        </p:nvSpPr>
        <p:spPr>
          <a:xfrm>
            <a:off x="819001" y="2128391"/>
            <a:ext cx="10823371" cy="469255"/>
          </a:xfrm>
          <a:prstGeom prst="rect">
            <a:avLst/>
          </a:prstGeom>
          <a:noFill/>
          <a:ln/>
        </p:spPr>
        <p:txBody>
          <a:bodyPr wrap="square" lIns="0" tIns="0" rIns="0" bIns="0" rtlCol="0" anchor="t"/>
          <a:lstStyle/>
          <a:p>
            <a:pPr algn="l" indent="0" marL="0">
              <a:lnSpc>
                <a:spcPts val="3696"/>
              </a:lnSpc>
              <a:buNone/>
            </a:pPr>
            <a:r>
              <a:rPr lang="en-US" sz="2800" dirty="0">
                <a:solidFill>
                  <a:srgbClr val="24321C"/>
                </a:solidFill>
                <a:latin typeface="Noto Serif SC" pitchFamily="34" charset="0"/>
                <a:ea typeface="Noto Serif SC" pitchFamily="34" charset="-122"/>
                <a:cs typeface="Noto Serif SC" pitchFamily="34" charset="-120"/>
              </a:rPr>
              <a:t>这件衣服很</a:t>
            </a:r>
            <a:r>
              <a:rPr lang="en-US" sz="2800" b="1" dirty="0">
                <a:solidFill>
                  <a:srgbClr val="B93F2C"/>
                </a:solidFill>
                <a:latin typeface="Noto Serif SC" pitchFamily="34" charset="0"/>
                <a:ea typeface="Noto Serif SC" pitchFamily="34" charset="-122"/>
                <a:cs typeface="Noto Serif SC" pitchFamily="34" charset="-120"/>
              </a:rPr>
              <a:t>贵</a:t>
            </a:r>
            <a:r>
              <a:rPr lang="en-US" sz="2800" dirty="0">
                <a:solidFill>
                  <a:srgbClr val="24321C"/>
                </a:solidFill>
                <a:latin typeface="Noto Serif SC" pitchFamily="34" charset="0"/>
                <a:ea typeface="Noto Serif SC" pitchFamily="34" charset="-122"/>
                <a:cs typeface="Noto Serif SC" pitchFamily="34" charset="-120"/>
              </a:rPr>
              <a:t>。</a:t>
            </a:r>
            <a:endParaRPr lang="en-US" sz="2800" dirty="0"/>
          </a:p>
        </p:txBody>
      </p:sp>
      <p:sp>
        <p:nvSpPr>
          <p:cNvPr id="13" name="Text 11"/>
          <p:cNvSpPr/>
          <p:nvPr/>
        </p:nvSpPr>
        <p:spPr>
          <a:xfrm>
            <a:off x="819001" y="2648396"/>
            <a:ext cx="10823371" cy="247650"/>
          </a:xfrm>
          <a:prstGeom prst="rect">
            <a:avLst/>
          </a:prstGeom>
          <a:noFill/>
          <a:ln/>
        </p:spPr>
        <p:txBody>
          <a:bodyPr wrap="square" lIns="0" tIns="0" rIns="0" bIns="0" rtlCol="0" anchor="t"/>
          <a:lstStyle/>
          <a:p>
            <a:pPr algn="l" indent="0" marL="0">
              <a:spcBef>
                <a:spcPts val="400"/>
              </a:spcBef>
              <a:buNone/>
            </a:pPr>
            <a:r>
              <a:rPr lang="en-US" sz="1400" dirty="0">
                <a:solidFill>
                  <a:srgbClr val="4E5A42"/>
                </a:solidFill>
                <a:latin typeface="Noto Sans" pitchFamily="34" charset="0"/>
                <a:ea typeface="Noto Sans" pitchFamily="34" charset="-122"/>
                <a:cs typeface="Noto Sans" pitchFamily="34" charset="-120"/>
              </a:rPr>
              <a:t>These clothes are expensive.</a:t>
            </a:r>
            <a:endParaRPr lang="en-US" sz="1400" dirty="0"/>
          </a:p>
        </p:txBody>
      </p:sp>
      <p:sp>
        <p:nvSpPr>
          <p:cNvPr id="14" name="Text 12"/>
          <p:cNvSpPr/>
          <p:nvPr/>
        </p:nvSpPr>
        <p:spPr>
          <a:xfrm>
            <a:off x="558701" y="3162598"/>
            <a:ext cx="11074598" cy="1339007"/>
          </a:xfrm>
          <a:prstGeom prst="rect">
            <a:avLst/>
          </a:prstGeom>
          <a:solidFill>
            <a:srgbClr val="F2EFDE"/>
          </a:solidFill>
          <a:ln/>
        </p:spPr>
        <p:txBody>
          <a:bodyPr wrap="square" rtlCol="0" anchor="ctr"/>
          <a:lstStyle/>
          <a:p>
            <a:pPr indent="0" marL="0">
              <a:buNone/>
            </a:pPr>
            <a:endParaRPr lang="en-US" dirty="0"/>
          </a:p>
        </p:txBody>
      </p:sp>
      <p:sp>
        <p:nvSpPr>
          <p:cNvPr id="15" name="Shape 13"/>
          <p:cNvSpPr/>
          <p:nvPr/>
        </p:nvSpPr>
        <p:spPr>
          <a:xfrm>
            <a:off x="587276" y="3162598"/>
            <a:ext cx="0" cy="1339007"/>
          </a:xfrm>
          <a:prstGeom prst="line">
            <a:avLst/>
          </a:prstGeom>
          <a:noFill/>
          <a:ln w="57150">
            <a:solidFill>
              <a:srgbClr val="4C7A2C"/>
            </a:solidFill>
            <a:prstDash val="solid"/>
          </a:ln>
        </p:spPr>
      </p:sp>
      <p:sp>
        <p:nvSpPr>
          <p:cNvPr id="16" name="Text 14"/>
          <p:cNvSpPr/>
          <p:nvPr/>
        </p:nvSpPr>
        <p:spPr>
          <a:xfrm>
            <a:off x="819001" y="3289548"/>
            <a:ext cx="10823371" cy="266700"/>
          </a:xfrm>
          <a:prstGeom prst="rect">
            <a:avLst/>
          </a:prstGeom>
          <a:noFill/>
          <a:ln/>
        </p:spPr>
        <p:txBody>
          <a:bodyPr wrap="square" lIns="0" tIns="0" rIns="0" bIns="0" rtlCol="0" anchor="t"/>
          <a:lstStyle/>
          <a:p>
            <a:pPr algn="l" indent="0" marL="0">
              <a:spcAft>
                <a:spcPts val="300"/>
              </a:spcAft>
              <a:buNone/>
            </a:pPr>
            <a:r>
              <a:rPr lang="en-US" sz="1500" dirty="0">
                <a:solidFill>
                  <a:srgbClr val="4C7A2C"/>
                </a:solidFill>
                <a:latin typeface="Noto Sans" pitchFamily="34" charset="0"/>
                <a:ea typeface="Noto Sans" pitchFamily="34" charset="-122"/>
                <a:cs typeface="Noto Sans" pitchFamily="34" charset="-120"/>
              </a:rPr>
              <a:t>Sān bǎi kuài bú suàn guì.</a:t>
            </a:r>
            <a:endParaRPr lang="en-US" sz="1500" dirty="0"/>
          </a:p>
        </p:txBody>
      </p:sp>
      <p:sp>
        <p:nvSpPr>
          <p:cNvPr id="17" name="Text 15"/>
          <p:cNvSpPr/>
          <p:nvPr/>
        </p:nvSpPr>
        <p:spPr>
          <a:xfrm>
            <a:off x="819001" y="3594348"/>
            <a:ext cx="10823371" cy="469255"/>
          </a:xfrm>
          <a:prstGeom prst="rect">
            <a:avLst/>
          </a:prstGeom>
          <a:noFill/>
          <a:ln/>
        </p:spPr>
        <p:txBody>
          <a:bodyPr wrap="square" lIns="0" tIns="0" rIns="0" bIns="0" rtlCol="0" anchor="t"/>
          <a:lstStyle/>
          <a:p>
            <a:pPr algn="l" indent="0" marL="0">
              <a:lnSpc>
                <a:spcPts val="3696"/>
              </a:lnSpc>
              <a:buNone/>
            </a:pPr>
            <a:r>
              <a:rPr lang="en-US" sz="2800" dirty="0">
                <a:solidFill>
                  <a:srgbClr val="24321C"/>
                </a:solidFill>
                <a:latin typeface="Noto Serif SC" pitchFamily="34" charset="0"/>
                <a:ea typeface="Noto Serif SC" pitchFamily="34" charset="-122"/>
                <a:cs typeface="Noto Serif SC" pitchFamily="34" charset="-120"/>
              </a:rPr>
              <a:t>三百块不</a:t>
            </a:r>
            <a:r>
              <a:rPr lang="en-US" sz="2800" b="1" dirty="0">
                <a:solidFill>
                  <a:srgbClr val="B93F2C"/>
                </a:solidFill>
                <a:latin typeface="Noto Serif SC" pitchFamily="34" charset="0"/>
                <a:ea typeface="Noto Serif SC" pitchFamily="34" charset="-122"/>
                <a:cs typeface="Noto Serif SC" pitchFamily="34" charset="-120"/>
              </a:rPr>
              <a:t>算贵</a:t>
            </a:r>
            <a:r>
              <a:rPr lang="en-US" sz="2800" dirty="0">
                <a:solidFill>
                  <a:srgbClr val="24321C"/>
                </a:solidFill>
                <a:latin typeface="Noto Serif SC" pitchFamily="34" charset="0"/>
                <a:ea typeface="Noto Serif SC" pitchFamily="34" charset="-122"/>
                <a:cs typeface="Noto Serif SC" pitchFamily="34" charset="-120"/>
              </a:rPr>
              <a:t>。</a:t>
            </a:r>
            <a:endParaRPr lang="en-US" sz="2800" dirty="0"/>
          </a:p>
        </p:txBody>
      </p:sp>
      <p:sp>
        <p:nvSpPr>
          <p:cNvPr id="18" name="Text 16"/>
          <p:cNvSpPr/>
          <p:nvPr/>
        </p:nvSpPr>
        <p:spPr>
          <a:xfrm>
            <a:off x="819001" y="4114354"/>
            <a:ext cx="10823371" cy="247650"/>
          </a:xfrm>
          <a:prstGeom prst="rect">
            <a:avLst/>
          </a:prstGeom>
          <a:noFill/>
          <a:ln/>
        </p:spPr>
        <p:txBody>
          <a:bodyPr wrap="square" lIns="0" tIns="0" rIns="0" bIns="0" rtlCol="0" anchor="t"/>
          <a:lstStyle/>
          <a:p>
            <a:pPr algn="l" indent="0" marL="0">
              <a:spcBef>
                <a:spcPts val="400"/>
              </a:spcBef>
              <a:buNone/>
            </a:pPr>
            <a:r>
              <a:rPr lang="en-US" sz="1400" dirty="0">
                <a:solidFill>
                  <a:srgbClr val="4E5A42"/>
                </a:solidFill>
                <a:latin typeface="Noto Sans" pitchFamily="34" charset="0"/>
                <a:ea typeface="Noto Sans" pitchFamily="34" charset="-122"/>
                <a:cs typeface="Noto Sans" pitchFamily="34" charset="-120"/>
              </a:rPr>
              <a:t>Three hundred isn't what you'd call expensive.</a:t>
            </a:r>
            <a:endParaRPr lang="en-US" sz="1400" dirty="0"/>
          </a:p>
        </p:txBody>
      </p:sp>
      <p:sp>
        <p:nvSpPr>
          <p:cNvPr id="19" name="Text 17"/>
          <p:cNvSpPr/>
          <p:nvPr/>
        </p:nvSpPr>
        <p:spPr>
          <a:xfrm>
            <a:off x="558701" y="4628555"/>
            <a:ext cx="11074598" cy="1339007"/>
          </a:xfrm>
          <a:prstGeom prst="rect">
            <a:avLst/>
          </a:prstGeom>
          <a:solidFill>
            <a:srgbClr val="B93F2C">
              <a:alpha val="11000"/>
            </a:srgbClr>
          </a:solidFill>
          <a:ln/>
        </p:spPr>
        <p:txBody>
          <a:bodyPr wrap="square" rtlCol="0" anchor="ctr"/>
          <a:lstStyle/>
          <a:p>
            <a:pPr indent="0" marL="0">
              <a:buNone/>
            </a:pPr>
            <a:endParaRPr lang="en-US" dirty="0"/>
          </a:p>
        </p:txBody>
      </p:sp>
      <p:sp>
        <p:nvSpPr>
          <p:cNvPr id="20" name="Shape 18"/>
          <p:cNvSpPr/>
          <p:nvPr/>
        </p:nvSpPr>
        <p:spPr>
          <a:xfrm>
            <a:off x="587276" y="4628555"/>
            <a:ext cx="0" cy="1339007"/>
          </a:xfrm>
          <a:prstGeom prst="line">
            <a:avLst/>
          </a:prstGeom>
          <a:noFill/>
          <a:ln w="57150">
            <a:solidFill>
              <a:srgbClr val="B93F2C"/>
            </a:solidFill>
            <a:prstDash val="solid"/>
          </a:ln>
        </p:spPr>
      </p:sp>
      <p:sp>
        <p:nvSpPr>
          <p:cNvPr id="21" name="Text 19"/>
          <p:cNvSpPr/>
          <p:nvPr/>
        </p:nvSpPr>
        <p:spPr>
          <a:xfrm>
            <a:off x="819001" y="4755505"/>
            <a:ext cx="10823371" cy="266700"/>
          </a:xfrm>
          <a:prstGeom prst="rect">
            <a:avLst/>
          </a:prstGeom>
          <a:noFill/>
          <a:ln/>
        </p:spPr>
        <p:txBody>
          <a:bodyPr wrap="square" lIns="0" tIns="0" rIns="0" bIns="0" rtlCol="0" anchor="t"/>
          <a:lstStyle/>
          <a:p>
            <a:pPr algn="l" indent="0" marL="0">
              <a:spcAft>
                <a:spcPts val="300"/>
              </a:spcAft>
              <a:buNone/>
            </a:pPr>
            <a:r>
              <a:rPr lang="en-US" sz="1500" dirty="0">
                <a:solidFill>
                  <a:srgbClr val="4C7A2C"/>
                </a:solidFill>
                <a:latin typeface="Noto Sans" pitchFamily="34" charset="0"/>
                <a:ea typeface="Noto Sans" pitchFamily="34" charset="-122"/>
                <a:cs typeface="Noto Sans" pitchFamily="34" charset="-120"/>
              </a:rPr>
              <a:t>Wǒmen měi cì dàgài huā liǎng bǎi kuài, bú suàn tài guì.</a:t>
            </a:r>
            <a:endParaRPr lang="en-US" sz="1500" dirty="0"/>
          </a:p>
        </p:txBody>
      </p:sp>
      <p:sp>
        <p:nvSpPr>
          <p:cNvPr id="22" name="Text 20"/>
          <p:cNvSpPr/>
          <p:nvPr/>
        </p:nvSpPr>
        <p:spPr>
          <a:xfrm>
            <a:off x="819001" y="5060305"/>
            <a:ext cx="10823371" cy="469255"/>
          </a:xfrm>
          <a:prstGeom prst="rect">
            <a:avLst/>
          </a:prstGeom>
          <a:noFill/>
          <a:ln/>
        </p:spPr>
        <p:txBody>
          <a:bodyPr wrap="square" lIns="0" tIns="0" rIns="0" bIns="0" rtlCol="0" anchor="t"/>
          <a:lstStyle/>
          <a:p>
            <a:pPr algn="l" indent="0" marL="0">
              <a:lnSpc>
                <a:spcPts val="3696"/>
              </a:lnSpc>
              <a:buNone/>
            </a:pPr>
            <a:r>
              <a:rPr lang="en-US" sz="2800" dirty="0">
                <a:solidFill>
                  <a:srgbClr val="24321C"/>
                </a:solidFill>
                <a:latin typeface="Noto Serif SC" pitchFamily="34" charset="0"/>
                <a:ea typeface="Noto Serif SC" pitchFamily="34" charset="-122"/>
                <a:cs typeface="Noto Serif SC" pitchFamily="34" charset="-120"/>
              </a:rPr>
              <a:t>我们每次大概花两百块，不</a:t>
            </a:r>
            <a:r>
              <a:rPr lang="en-US" sz="2800" b="1" dirty="0">
                <a:solidFill>
                  <a:srgbClr val="B93F2C"/>
                </a:solidFill>
                <a:latin typeface="Noto Serif SC" pitchFamily="34" charset="0"/>
                <a:ea typeface="Noto Serif SC" pitchFamily="34" charset="-122"/>
                <a:cs typeface="Noto Serif SC" pitchFamily="34" charset="-120"/>
              </a:rPr>
              <a:t>算</a:t>
            </a:r>
            <a:r>
              <a:rPr lang="en-US" sz="2800" dirty="0">
                <a:solidFill>
                  <a:srgbClr val="24321C"/>
                </a:solidFill>
                <a:latin typeface="Noto Serif SC" pitchFamily="34" charset="0"/>
                <a:ea typeface="Noto Serif SC" pitchFamily="34" charset="-122"/>
                <a:cs typeface="Noto Serif SC" pitchFamily="34" charset="-120"/>
              </a:rPr>
              <a:t>太</a:t>
            </a:r>
            <a:r>
              <a:rPr lang="en-US" sz="2800" b="1" dirty="0">
                <a:solidFill>
                  <a:srgbClr val="B93F2C"/>
                </a:solidFill>
                <a:latin typeface="Noto Serif SC" pitchFamily="34" charset="0"/>
                <a:ea typeface="Noto Serif SC" pitchFamily="34" charset="-122"/>
                <a:cs typeface="Noto Serif SC" pitchFamily="34" charset="-120"/>
              </a:rPr>
              <a:t>贵</a:t>
            </a:r>
            <a:r>
              <a:rPr lang="en-US" sz="2800" dirty="0">
                <a:solidFill>
                  <a:srgbClr val="24321C"/>
                </a:solidFill>
                <a:latin typeface="Noto Serif SC" pitchFamily="34" charset="0"/>
                <a:ea typeface="Noto Serif SC" pitchFamily="34" charset="-122"/>
                <a:cs typeface="Noto Serif SC" pitchFamily="34" charset="-120"/>
              </a:rPr>
              <a:t>。</a:t>
            </a:r>
            <a:endParaRPr lang="en-US" sz="2800" dirty="0"/>
          </a:p>
        </p:txBody>
      </p:sp>
      <p:sp>
        <p:nvSpPr>
          <p:cNvPr id="23" name="Text 21"/>
          <p:cNvSpPr/>
          <p:nvPr/>
        </p:nvSpPr>
        <p:spPr>
          <a:xfrm>
            <a:off x="819001" y="5580311"/>
            <a:ext cx="10823371" cy="247650"/>
          </a:xfrm>
          <a:prstGeom prst="rect">
            <a:avLst/>
          </a:prstGeom>
          <a:noFill/>
          <a:ln/>
        </p:spPr>
        <p:txBody>
          <a:bodyPr wrap="square" lIns="0" tIns="0" rIns="0" bIns="0" rtlCol="0" anchor="t"/>
          <a:lstStyle/>
          <a:p>
            <a:pPr algn="l" indent="0" marL="0">
              <a:spcBef>
                <a:spcPts val="400"/>
              </a:spcBef>
              <a:buNone/>
            </a:pPr>
            <a:r>
              <a:rPr lang="en-US" sz="1400" dirty="0">
                <a:solidFill>
                  <a:srgbClr val="4E5A42"/>
                </a:solidFill>
                <a:latin typeface="Noto Sans" pitchFamily="34" charset="0"/>
                <a:ea typeface="Noto Sans" pitchFamily="34" charset="-122"/>
                <a:cs typeface="Noto Sans" pitchFamily="34" charset="-120"/>
              </a:rPr>
              <a:t>We spend roughly two hundred each time — not too expensive.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324800"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生词 · Cycle 2 of 2</a:t>
            </a:r>
            <a:endParaRPr lang="en-US" sz="1100" dirty="0"/>
          </a:p>
        </p:txBody>
      </p:sp>
      <p:sp>
        <p:nvSpPr>
          <p:cNvPr id="6" name="Text 4"/>
          <p:cNvSpPr/>
          <p:nvPr/>
        </p:nvSpPr>
        <p:spPr>
          <a:xfrm>
            <a:off x="11233696" y="176213"/>
            <a:ext cx="459361"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11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740247"/>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写一句 · WRITE YOUR OWN</a:t>
            </a:r>
            <a:endParaRPr lang="en-US" sz="1200" dirty="0"/>
          </a:p>
        </p:txBody>
      </p:sp>
      <p:sp>
        <p:nvSpPr>
          <p:cNvPr id="9" name="Text 7"/>
          <p:cNvSpPr/>
          <p:nvPr/>
        </p:nvSpPr>
        <p:spPr>
          <a:xfrm>
            <a:off x="558701" y="2064097"/>
            <a:ext cx="11074598" cy="2214563"/>
          </a:xfrm>
          <a:prstGeom prst="roundRect">
            <a:avLst>
              <a:gd name="adj" fmla="val 5735"/>
            </a:avLst>
          </a:prstGeom>
          <a:solidFill>
            <a:srgbClr val="E8E2C8"/>
          </a:solidFill>
          <a:ln w="19050">
            <a:solidFill>
              <a:srgbClr val="B96A12"/>
            </a:solidFill>
          </a:ln>
        </p:spPr>
        <p:txBody>
          <a:bodyPr wrap="square" rtlCol="0" anchor="ctr"/>
          <a:lstStyle/>
          <a:p>
            <a:pPr indent="0" marL="0">
              <a:buNone/>
            </a:pPr>
            <a:endParaRPr lang="en-US" dirty="0"/>
          </a:p>
        </p:txBody>
      </p:sp>
      <p:sp>
        <p:nvSpPr>
          <p:cNvPr id="10" name="Text 8"/>
          <p:cNvSpPr/>
          <p:nvPr/>
        </p:nvSpPr>
        <p:spPr>
          <a:xfrm>
            <a:off x="869752" y="2311747"/>
            <a:ext cx="10661547" cy="669131"/>
          </a:xfrm>
          <a:prstGeom prst="rect">
            <a:avLst/>
          </a:prstGeom>
          <a:noFill/>
          <a:ln/>
        </p:spPr>
        <p:txBody>
          <a:bodyPr wrap="square" lIns="0" tIns="0" rIns="0" bIns="0" rtlCol="0" anchor="t"/>
          <a:lstStyle/>
          <a:p>
            <a:pPr algn="l" indent="0" marL="0">
              <a:lnSpc>
                <a:spcPts val="5270"/>
              </a:lnSpc>
              <a:buNone/>
            </a:pPr>
            <a:r>
              <a:rPr lang="en-US" sz="3100" b="1" dirty="0">
                <a:solidFill>
                  <a:srgbClr val="24321C"/>
                </a:solidFill>
                <a:latin typeface="Noto Serif SC" pitchFamily="34" charset="0"/>
                <a:ea typeface="Noto Serif SC" pitchFamily="34" charset="-122"/>
                <a:cs typeface="Noto Serif SC" pitchFamily="34" charset="-120"/>
              </a:rPr>
              <a:t>______ 块钱，不算太贵。</a:t>
            </a:r>
            <a:endParaRPr lang="en-US" sz="3100" dirty="0"/>
          </a:p>
        </p:txBody>
      </p:sp>
      <p:sp>
        <p:nvSpPr>
          <p:cNvPr id="11" name="Text 9"/>
          <p:cNvSpPr/>
          <p:nvPr/>
        </p:nvSpPr>
        <p:spPr>
          <a:xfrm>
            <a:off x="869752" y="2980879"/>
            <a:ext cx="10661547" cy="669131"/>
          </a:xfrm>
          <a:prstGeom prst="rect">
            <a:avLst/>
          </a:prstGeom>
          <a:noFill/>
          <a:ln/>
        </p:spPr>
        <p:txBody>
          <a:bodyPr wrap="square" lIns="0" tIns="0" rIns="0" bIns="0" rtlCol="0" anchor="t"/>
          <a:lstStyle/>
          <a:p>
            <a:pPr algn="l" indent="0" marL="0">
              <a:lnSpc>
                <a:spcPts val="5270"/>
              </a:lnSpc>
              <a:buNone/>
            </a:pPr>
            <a:r>
              <a:rPr lang="en-US" sz="3100" b="1" dirty="0">
                <a:solidFill>
                  <a:srgbClr val="24321C"/>
                </a:solidFill>
                <a:latin typeface="Noto Serif SC" pitchFamily="34" charset="0"/>
                <a:ea typeface="Noto Serif SC" pitchFamily="34" charset="-122"/>
                <a:cs typeface="Noto Serif SC" pitchFamily="34" charset="-120"/>
              </a:rPr>
              <a:t>______ 块钱，太贵了。</a:t>
            </a:r>
            <a:endParaRPr lang="en-US" sz="3100" dirty="0"/>
          </a:p>
        </p:txBody>
      </p:sp>
      <p:sp>
        <p:nvSpPr>
          <p:cNvPr id="12" name="Text 10"/>
          <p:cNvSpPr/>
          <p:nvPr/>
        </p:nvSpPr>
        <p:spPr>
          <a:xfrm>
            <a:off x="869752" y="3764310"/>
            <a:ext cx="10661547" cy="266700"/>
          </a:xfrm>
          <a:prstGeom prst="rect">
            <a:avLst/>
          </a:prstGeom>
          <a:noFill/>
          <a:ln/>
        </p:spPr>
        <p:txBody>
          <a:bodyPr wrap="square" lIns="0" tIns="0" rIns="0" bIns="0" rtlCol="0" anchor="t"/>
          <a:lstStyle/>
          <a:p>
            <a:pPr algn="l" indent="0" marL="0">
              <a:spcBef>
                <a:spcPts val="900"/>
              </a:spcBef>
              <a:buNone/>
            </a:pPr>
            <a:r>
              <a:rPr lang="en-US" sz="1500" dirty="0">
                <a:solidFill>
                  <a:srgbClr val="4E5A42"/>
                </a:solidFill>
                <a:latin typeface="Noto Sans" pitchFamily="34" charset="0"/>
                <a:ea typeface="Noto Sans" pitchFamily="34" charset="-122"/>
                <a:cs typeface="Noto Sans" pitchFamily="34" charset="-120"/>
              </a:rPr>
              <a:t>One of each. 90 seconds.</a:t>
            </a:r>
            <a:endParaRPr lang="en-US" sz="1500" dirty="0"/>
          </a:p>
        </p:txBody>
      </p:sp>
      <p:sp>
        <p:nvSpPr>
          <p:cNvPr id="13" name="Text 11"/>
          <p:cNvSpPr/>
          <p:nvPr/>
        </p:nvSpPr>
        <p:spPr>
          <a:xfrm>
            <a:off x="558701" y="4405610"/>
            <a:ext cx="11074598" cy="1194643"/>
          </a:xfrm>
          <a:prstGeom prst="roundRect">
            <a:avLst>
              <a:gd name="adj" fmla="val 6378"/>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4" name="Text 12"/>
          <p:cNvSpPr/>
          <p:nvPr/>
        </p:nvSpPr>
        <p:spPr>
          <a:xfrm>
            <a:off x="768251" y="4564261"/>
            <a:ext cx="10868608" cy="200025"/>
          </a:xfrm>
          <a:prstGeom prst="rect">
            <a:avLst/>
          </a:prstGeom>
          <a:noFill/>
          <a:ln/>
        </p:spPr>
        <p:txBody>
          <a:bodyPr wrap="square" lIns="0" tIns="0" rIns="0" bIns="0" rtlCol="0" anchor="t"/>
          <a:lstStyle/>
          <a:p>
            <a:pPr algn="l" indent="0" marL="0">
              <a:spcAft>
                <a:spcPts val="500"/>
              </a:spcAft>
              <a:buNone/>
            </a:pPr>
            <a:r>
              <a:rPr lang="en-US" sz="1100" b="1" dirty="0">
                <a:solidFill>
                  <a:srgbClr val="4C7A2C"/>
                </a:solidFill>
                <a:latin typeface="Noto Sans" pitchFamily="34" charset="0"/>
                <a:ea typeface="Noto Sans" pitchFamily="34" charset="-122"/>
                <a:cs typeface="Noto Sans" pitchFamily="34" charset="-120"/>
              </a:rPr>
              <a:t>EXTENSION · 加油题</a:t>
            </a:r>
            <a:endParaRPr lang="en-US" sz="1100" dirty="0"/>
          </a:p>
        </p:txBody>
      </p:sp>
      <p:sp>
        <p:nvSpPr>
          <p:cNvPr id="15" name="Text 13"/>
          <p:cNvSpPr/>
          <p:nvPr/>
        </p:nvSpPr>
        <p:spPr>
          <a:xfrm>
            <a:off x="768251" y="4827687"/>
            <a:ext cx="10868608"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One sentence with </a:t>
            </a:r>
            <a:r>
              <a:rPr lang="en-US" sz="1500" b="1" dirty="0">
                <a:solidFill>
                  <a:srgbClr val="4C7A2C"/>
                </a:solidFill>
                <a:latin typeface="Noto Sans" pitchFamily="34" charset="0"/>
                <a:ea typeface="Noto Sans" pitchFamily="34" charset="-122"/>
                <a:cs typeface="Noto Sans" pitchFamily="34" charset="-120"/>
              </a:rPr>
              <a:t>可是</a:t>
            </a:r>
            <a:r>
              <a:rPr lang="en-US" sz="1500" dirty="0">
                <a:solidFill>
                  <a:srgbClr val="24321C"/>
                </a:solidFill>
                <a:latin typeface="Noto Sans" pitchFamily="34" charset="0"/>
                <a:ea typeface="Noto Sans" pitchFamily="34" charset="-122"/>
                <a:cs typeface="Noto Sans" pitchFamily="34" charset="-120"/>
              </a:rPr>
              <a:t> —— expensive on one side, delicious on the other.</a:t>
            </a:r>
            <a:endParaRPr lang="en-US" sz="1500" dirty="0"/>
          </a:p>
        </p:txBody>
      </p:sp>
      <p:sp>
        <p:nvSpPr>
          <p:cNvPr id="16" name="Text 14"/>
          <p:cNvSpPr/>
          <p:nvPr/>
        </p:nvSpPr>
        <p:spPr>
          <a:xfrm>
            <a:off x="768251" y="5103912"/>
            <a:ext cx="10868608" cy="337691"/>
          </a:xfrm>
          <a:prstGeom prst="rect">
            <a:avLst/>
          </a:prstGeom>
          <a:noFill/>
          <a:ln/>
        </p:spPr>
        <p:txBody>
          <a:bodyPr wrap="square" lIns="0" tIns="0" rIns="0" bIns="0" rtlCol="0" anchor="t"/>
          <a:lstStyle/>
          <a:p>
            <a:pPr algn="l" indent="0" marL="0">
              <a:lnSpc>
                <a:spcPts val="2660"/>
              </a:lnSpc>
              <a:buNone/>
            </a:pPr>
            <a:r>
              <a:rPr lang="en-US" sz="1900" b="1" dirty="0">
                <a:solidFill>
                  <a:srgbClr val="24321C"/>
                </a:solidFill>
                <a:latin typeface="Noto Serif SC" pitchFamily="34" charset="0"/>
                <a:ea typeface="Noto Serif SC" pitchFamily="34" charset="-122"/>
                <a:cs typeface="Noto Serif SC" pitchFamily="34" charset="-120"/>
              </a:rPr>
              <a:t>这家饭店特别贵，可是他们的炒面做得特别好吃。</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404497"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Checkpoint · 四个字</a:t>
            </a:r>
            <a:endParaRPr lang="en-US" sz="1100" dirty="0"/>
          </a:p>
        </p:txBody>
      </p:sp>
      <p:sp>
        <p:nvSpPr>
          <p:cNvPr id="6" name="Text 4"/>
          <p:cNvSpPr/>
          <p:nvPr/>
        </p:nvSpPr>
        <p:spPr>
          <a:xfrm>
            <a:off x="11208544" y="176213"/>
            <a:ext cx="485016"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12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969568"/>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认字 · READ THEM BACK — NO PINYIN, NO ENGLISH</a:t>
            </a:r>
            <a:endParaRPr lang="en-US" sz="1200" dirty="0"/>
          </a:p>
        </p:txBody>
      </p:sp>
      <p:sp>
        <p:nvSpPr>
          <p:cNvPr id="9" name="Text 7"/>
          <p:cNvSpPr/>
          <p:nvPr/>
        </p:nvSpPr>
        <p:spPr>
          <a:xfrm>
            <a:off x="558701" y="3293418"/>
            <a:ext cx="2654350"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0" name="Text 8"/>
          <p:cNvSpPr/>
          <p:nvPr/>
        </p:nvSpPr>
        <p:spPr>
          <a:xfrm>
            <a:off x="619597" y="3518743"/>
            <a:ext cx="2532558"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花</a:t>
            </a:r>
            <a:endParaRPr lang="en-US" sz="4700" dirty="0"/>
          </a:p>
        </p:txBody>
      </p:sp>
      <p:sp>
        <p:nvSpPr>
          <p:cNvPr id="11" name="Text 9"/>
          <p:cNvSpPr/>
          <p:nvPr/>
        </p:nvSpPr>
        <p:spPr>
          <a:xfrm>
            <a:off x="3365450" y="3293418"/>
            <a:ext cx="2654350"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2" name="Text 10"/>
          <p:cNvSpPr/>
          <p:nvPr/>
        </p:nvSpPr>
        <p:spPr>
          <a:xfrm>
            <a:off x="3426346" y="3518743"/>
            <a:ext cx="2532558"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百</a:t>
            </a:r>
            <a:endParaRPr lang="en-US" sz="4700" dirty="0"/>
          </a:p>
        </p:txBody>
      </p:sp>
      <p:sp>
        <p:nvSpPr>
          <p:cNvPr id="13" name="Text 11"/>
          <p:cNvSpPr/>
          <p:nvPr/>
        </p:nvSpPr>
        <p:spPr>
          <a:xfrm>
            <a:off x="6172200" y="3293418"/>
            <a:ext cx="2654350"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4" name="Text 12"/>
          <p:cNvSpPr/>
          <p:nvPr/>
        </p:nvSpPr>
        <p:spPr>
          <a:xfrm>
            <a:off x="6233096" y="3518743"/>
            <a:ext cx="2532558"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算</a:t>
            </a:r>
            <a:endParaRPr lang="en-US" sz="4700" dirty="0"/>
          </a:p>
        </p:txBody>
      </p:sp>
      <p:sp>
        <p:nvSpPr>
          <p:cNvPr id="15" name="Text 13"/>
          <p:cNvSpPr/>
          <p:nvPr/>
        </p:nvSpPr>
        <p:spPr>
          <a:xfrm>
            <a:off x="8978950" y="3293418"/>
            <a:ext cx="2654350"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6" name="Text 14"/>
          <p:cNvSpPr/>
          <p:nvPr/>
        </p:nvSpPr>
        <p:spPr>
          <a:xfrm>
            <a:off x="9039846" y="3518743"/>
            <a:ext cx="2532558"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贵</a:t>
            </a:r>
            <a:endParaRPr lang="en-US" sz="4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046238"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句型 · Hedging</a:t>
            </a:r>
            <a:endParaRPr lang="en-US" sz="1100" dirty="0"/>
          </a:p>
        </p:txBody>
      </p:sp>
      <p:sp>
        <p:nvSpPr>
          <p:cNvPr id="6" name="Text 4"/>
          <p:cNvSpPr/>
          <p:nvPr/>
        </p:nvSpPr>
        <p:spPr>
          <a:xfrm>
            <a:off x="11208990" y="176213"/>
            <a:ext cx="484561"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13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685627"/>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句型 · 三个说法，一句话里都有</a:t>
            </a:r>
            <a:endParaRPr lang="en-US" sz="1200" dirty="0"/>
          </a:p>
        </p:txBody>
      </p:sp>
      <p:sp>
        <p:nvSpPr>
          <p:cNvPr id="9" name="Text 7"/>
          <p:cNvSpPr/>
          <p:nvPr/>
        </p:nvSpPr>
        <p:spPr>
          <a:xfrm>
            <a:off x="558701" y="2009477"/>
            <a:ext cx="11074598" cy="1274713"/>
          </a:xfrm>
          <a:prstGeom prst="roundRect">
            <a:avLst>
              <a:gd name="adj" fmla="val 9963"/>
            </a:avLst>
          </a:prstGeom>
          <a:solidFill>
            <a:srgbClr val="E8E2C8"/>
          </a:solidFill>
          <a:ln w="19050">
            <a:solidFill>
              <a:srgbClr val="B93F2C"/>
            </a:solidFill>
          </a:ln>
        </p:spPr>
        <p:txBody>
          <a:bodyPr wrap="square" rtlCol="0" anchor="ctr"/>
          <a:lstStyle/>
          <a:p>
            <a:pPr indent="0" marL="0">
              <a:buNone/>
            </a:pPr>
            <a:endParaRPr lang="en-US" dirty="0"/>
          </a:p>
        </p:txBody>
      </p:sp>
      <p:sp>
        <p:nvSpPr>
          <p:cNvPr id="10" name="Text 8"/>
          <p:cNvSpPr/>
          <p:nvPr/>
        </p:nvSpPr>
        <p:spPr>
          <a:xfrm>
            <a:off x="726365" y="2206228"/>
            <a:ext cx="10739271" cy="544711"/>
          </a:xfrm>
          <a:prstGeom prst="rect">
            <a:avLst/>
          </a:prstGeom>
          <a:noFill/>
          <a:ln/>
        </p:spPr>
        <p:txBody>
          <a:bodyPr wrap="square" lIns="0" tIns="0" rIns="0" bIns="0" rtlCol="0" anchor="t"/>
          <a:lstStyle/>
          <a:p>
            <a:pPr algn="ctr" indent="0" marL="0">
              <a:lnSpc>
                <a:spcPts val="4290"/>
              </a:lnSpc>
              <a:buNone/>
            </a:pPr>
            <a:r>
              <a:rPr lang="en-US" sz="3300" dirty="0">
                <a:solidFill>
                  <a:srgbClr val="24321C"/>
                </a:solidFill>
                <a:latin typeface="Noto Serif SC" pitchFamily="34" charset="0"/>
                <a:ea typeface="Noto Serif SC" pitchFamily="34" charset="-122"/>
                <a:cs typeface="Noto Serif SC" pitchFamily="34" charset="-120"/>
              </a:rPr>
              <a:t>五百块 </a:t>
            </a:r>
            <a:r>
              <a:rPr lang="en-US" sz="3300" b="1" dirty="0">
                <a:solidFill>
                  <a:srgbClr val="B93F2C"/>
                </a:solidFill>
                <a:latin typeface="Noto Serif SC" pitchFamily="34" charset="0"/>
                <a:ea typeface="Noto Serif SC" pitchFamily="34" charset="-122"/>
                <a:cs typeface="Noto Serif SC" pitchFamily="34" charset="-120"/>
              </a:rPr>
              <a:t>左右</a:t>
            </a:r>
            <a:r>
              <a:rPr lang="en-US" sz="3300" dirty="0">
                <a:solidFill>
                  <a:srgbClr val="24321C"/>
                </a:solidFill>
                <a:latin typeface="Noto Serif SC" pitchFamily="34" charset="0"/>
                <a:ea typeface="Noto Serif SC" pitchFamily="34" charset="-122"/>
                <a:cs typeface="Noto Serif SC" pitchFamily="34" charset="-120"/>
              </a:rPr>
              <a:t> ，</a:t>
            </a:r>
            <a:r>
              <a:rPr lang="en-US" sz="3300" b="1" dirty="0">
                <a:solidFill>
                  <a:srgbClr val="B93F2C"/>
                </a:solidFill>
                <a:latin typeface="Noto Serif SC" pitchFamily="34" charset="0"/>
                <a:ea typeface="Noto Serif SC" pitchFamily="34" charset="-122"/>
                <a:cs typeface="Noto Serif SC" pitchFamily="34" charset="-120"/>
              </a:rPr>
              <a:t>不算太</a:t>
            </a:r>
            <a:r>
              <a:rPr lang="en-US" sz="3300" dirty="0">
                <a:solidFill>
                  <a:srgbClr val="24321C"/>
                </a:solidFill>
                <a:latin typeface="Noto Serif SC" pitchFamily="34" charset="0"/>
                <a:ea typeface="Noto Serif SC" pitchFamily="34" charset="-122"/>
                <a:cs typeface="Noto Serif SC" pitchFamily="34" charset="-120"/>
              </a:rPr>
              <a:t> 贵。</a:t>
            </a:r>
            <a:endParaRPr lang="en-US" sz="3300" dirty="0"/>
          </a:p>
        </p:txBody>
      </p:sp>
      <p:sp>
        <p:nvSpPr>
          <p:cNvPr id="11" name="Text 9"/>
          <p:cNvSpPr/>
          <p:nvPr/>
        </p:nvSpPr>
        <p:spPr>
          <a:xfrm>
            <a:off x="726365" y="2839789"/>
            <a:ext cx="10739271" cy="247650"/>
          </a:xfrm>
          <a:prstGeom prst="rect">
            <a:avLst/>
          </a:prstGeom>
          <a:noFill/>
          <a:ln/>
        </p:spPr>
        <p:txBody>
          <a:bodyPr wrap="square" lIns="0" tIns="0" rIns="0" bIns="0" rtlCol="0" anchor="t"/>
          <a:lstStyle/>
          <a:p>
            <a:pPr algn="ctr" indent="0" marL="0">
              <a:spcBef>
                <a:spcPts val="700"/>
              </a:spcBef>
              <a:buNone/>
            </a:pPr>
            <a:r>
              <a:rPr lang="en-US" sz="1400" dirty="0">
                <a:solidFill>
                  <a:srgbClr val="4E5A42"/>
                </a:solidFill>
                <a:latin typeface="Noto Sans" pitchFamily="34" charset="0"/>
                <a:ea typeface="Noto Sans" pitchFamily="34" charset="-122"/>
                <a:cs typeface="Noto Sans" pitchFamily="34" charset="-120"/>
              </a:rPr>
              <a:t>课文二的最后一句</a:t>
            </a:r>
            <a:endParaRPr lang="en-US" sz="1400" dirty="0"/>
          </a:p>
        </p:txBody>
      </p:sp>
      <p:sp>
        <p:nvSpPr>
          <p:cNvPr id="12" name="Text 10"/>
          <p:cNvSpPr/>
          <p:nvPr/>
        </p:nvSpPr>
        <p:spPr>
          <a:xfrm>
            <a:off x="558701" y="3284190"/>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三个位置 · WHERE EACH ONE SITS</a:t>
            </a:r>
            <a:endParaRPr lang="en-US" sz="1200" dirty="0"/>
          </a:p>
        </p:txBody>
      </p:sp>
      <p:sp>
        <p:nvSpPr>
          <p:cNvPr id="13" name="Text 11"/>
          <p:cNvSpPr/>
          <p:nvPr/>
        </p:nvSpPr>
        <p:spPr>
          <a:xfrm>
            <a:off x="558701" y="3674715"/>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1</a:t>
            </a:r>
            <a:endParaRPr lang="en-US" sz="1700" dirty="0"/>
          </a:p>
        </p:txBody>
      </p:sp>
      <p:sp>
        <p:nvSpPr>
          <p:cNvPr id="14" name="Text 12"/>
          <p:cNvSpPr/>
          <p:nvPr/>
        </p:nvSpPr>
        <p:spPr>
          <a:xfrm>
            <a:off x="965002" y="3608040"/>
            <a:ext cx="3265319" cy="394395"/>
          </a:xfrm>
          <a:prstGeom prst="rect">
            <a:avLst/>
          </a:prstGeom>
          <a:noFill/>
          <a:ln/>
        </p:spPr>
        <p:txBody>
          <a:bodyPr wrap="square" lIns="0" tIns="0" rIns="0" bIns="0" rtlCol="0" anchor="t"/>
          <a:lstStyle/>
          <a:p>
            <a:pPr algn="l" indent="0" marL="0">
              <a:lnSpc>
                <a:spcPts val="3105"/>
              </a:lnSpc>
              <a:buNone/>
            </a:pPr>
            <a:r>
              <a:rPr lang="en-US" sz="2300" b="1" dirty="0">
                <a:solidFill>
                  <a:srgbClr val="B93F2C"/>
                </a:solidFill>
                <a:latin typeface="Noto Serif SC" pitchFamily="34" charset="0"/>
                <a:ea typeface="Noto Serif SC" pitchFamily="34" charset="-122"/>
                <a:cs typeface="Noto Serif SC" pitchFamily="34" charset="-120"/>
              </a:rPr>
              <a:t>大概</a:t>
            </a:r>
            <a:r>
              <a:rPr lang="en-US" sz="2300" dirty="0">
                <a:solidFill>
                  <a:srgbClr val="24321C"/>
                </a:solidFill>
                <a:latin typeface="Noto Serif SC" pitchFamily="34" charset="0"/>
                <a:ea typeface="Noto Serif SC" pitchFamily="34" charset="-122"/>
                <a:cs typeface="Noto Serif SC" pitchFamily="34" charset="-120"/>
              </a:rPr>
              <a:t> ＋ 数目</a:t>
            </a:r>
            <a:endParaRPr lang="en-US" sz="2300" dirty="0"/>
          </a:p>
        </p:txBody>
      </p:sp>
      <p:sp>
        <p:nvSpPr>
          <p:cNvPr id="15" name="Text 13"/>
          <p:cNvSpPr/>
          <p:nvPr/>
        </p:nvSpPr>
        <p:spPr>
          <a:xfrm>
            <a:off x="965002" y="4002435"/>
            <a:ext cx="3265319"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goes BEFORE the amount — 大概五百块</a:t>
            </a:r>
            <a:endParaRPr lang="en-US" sz="1300" dirty="0"/>
          </a:p>
        </p:txBody>
      </p:sp>
      <p:sp>
        <p:nvSpPr>
          <p:cNvPr id="16" name="Text 14"/>
          <p:cNvSpPr/>
          <p:nvPr/>
        </p:nvSpPr>
        <p:spPr>
          <a:xfrm>
            <a:off x="558701" y="4386560"/>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2</a:t>
            </a:r>
            <a:endParaRPr lang="en-US" sz="1700" dirty="0"/>
          </a:p>
        </p:txBody>
      </p:sp>
      <p:sp>
        <p:nvSpPr>
          <p:cNvPr id="17" name="Text 15"/>
          <p:cNvSpPr/>
          <p:nvPr/>
        </p:nvSpPr>
        <p:spPr>
          <a:xfrm>
            <a:off x="965002" y="4319885"/>
            <a:ext cx="2315325" cy="394395"/>
          </a:xfrm>
          <a:prstGeom prst="rect">
            <a:avLst/>
          </a:prstGeom>
          <a:noFill/>
          <a:ln/>
        </p:spPr>
        <p:txBody>
          <a:bodyPr wrap="square" lIns="0" tIns="0" rIns="0" bIns="0" rtlCol="0" anchor="t"/>
          <a:lstStyle/>
          <a:p>
            <a:pPr algn="l" indent="0" marL="0">
              <a:lnSpc>
                <a:spcPts val="3105"/>
              </a:lnSpc>
              <a:buNone/>
            </a:pPr>
            <a:r>
              <a:rPr lang="en-US" sz="2300" dirty="0">
                <a:solidFill>
                  <a:srgbClr val="24321C"/>
                </a:solidFill>
                <a:latin typeface="Noto Serif SC" pitchFamily="34" charset="0"/>
                <a:ea typeface="Noto Serif SC" pitchFamily="34" charset="-122"/>
                <a:cs typeface="Noto Serif SC" pitchFamily="34" charset="-120"/>
              </a:rPr>
              <a:t>数目 ＋ </a:t>
            </a:r>
            <a:r>
              <a:rPr lang="en-US" sz="2300" b="1" dirty="0">
                <a:solidFill>
                  <a:srgbClr val="B93F2C"/>
                </a:solidFill>
                <a:latin typeface="Noto Serif SC" pitchFamily="34" charset="0"/>
                <a:ea typeface="Noto Serif SC" pitchFamily="34" charset="-122"/>
                <a:cs typeface="Noto Serif SC" pitchFamily="34" charset="-120"/>
              </a:rPr>
              <a:t>左右</a:t>
            </a:r>
            <a:endParaRPr lang="en-US" sz="2300" dirty="0"/>
          </a:p>
        </p:txBody>
      </p:sp>
      <p:sp>
        <p:nvSpPr>
          <p:cNvPr id="18" name="Text 16"/>
          <p:cNvSpPr/>
          <p:nvPr/>
        </p:nvSpPr>
        <p:spPr>
          <a:xfrm>
            <a:off x="965002" y="4714280"/>
            <a:ext cx="2315325"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goes AFTER it — 五百块左右</a:t>
            </a:r>
            <a:endParaRPr lang="en-US" sz="1300" dirty="0"/>
          </a:p>
        </p:txBody>
      </p:sp>
      <p:sp>
        <p:nvSpPr>
          <p:cNvPr id="19" name="Text 17"/>
          <p:cNvSpPr/>
          <p:nvPr/>
        </p:nvSpPr>
        <p:spPr>
          <a:xfrm>
            <a:off x="558701" y="5098405"/>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3</a:t>
            </a:r>
            <a:endParaRPr lang="en-US" sz="1700" dirty="0"/>
          </a:p>
        </p:txBody>
      </p:sp>
      <p:sp>
        <p:nvSpPr>
          <p:cNvPr id="20" name="Text 18"/>
          <p:cNvSpPr/>
          <p:nvPr/>
        </p:nvSpPr>
        <p:spPr>
          <a:xfrm>
            <a:off x="965002" y="5031730"/>
            <a:ext cx="3376743" cy="394395"/>
          </a:xfrm>
          <a:prstGeom prst="rect">
            <a:avLst/>
          </a:prstGeom>
          <a:noFill/>
          <a:ln/>
        </p:spPr>
        <p:txBody>
          <a:bodyPr wrap="square" lIns="0" tIns="0" rIns="0" bIns="0" rtlCol="0" anchor="t"/>
          <a:lstStyle/>
          <a:p>
            <a:pPr algn="l" indent="0" marL="0">
              <a:lnSpc>
                <a:spcPts val="3105"/>
              </a:lnSpc>
              <a:buNone/>
            </a:pPr>
            <a:r>
              <a:rPr lang="en-US" sz="2300" b="1" dirty="0">
                <a:solidFill>
                  <a:srgbClr val="B93F2C"/>
                </a:solidFill>
                <a:latin typeface="Noto Serif SC" pitchFamily="34" charset="0"/>
                <a:ea typeface="Noto Serif SC" pitchFamily="34" charset="-122"/>
                <a:cs typeface="Noto Serif SC" pitchFamily="34" charset="-120"/>
              </a:rPr>
              <a:t>不算太</a:t>
            </a:r>
            <a:r>
              <a:rPr lang="en-US" sz="2300" dirty="0">
                <a:solidFill>
                  <a:srgbClr val="24321C"/>
                </a:solidFill>
                <a:latin typeface="Noto Serif SC" pitchFamily="34" charset="0"/>
                <a:ea typeface="Noto Serif SC" pitchFamily="34" charset="-122"/>
                <a:cs typeface="Noto Serif SC" pitchFamily="34" charset="-120"/>
              </a:rPr>
              <a:t> ＋ 形容词</a:t>
            </a:r>
            <a:endParaRPr lang="en-US" sz="2300" dirty="0"/>
          </a:p>
        </p:txBody>
      </p:sp>
      <p:sp>
        <p:nvSpPr>
          <p:cNvPr id="21" name="Text 19"/>
          <p:cNvSpPr/>
          <p:nvPr/>
        </p:nvSpPr>
        <p:spPr>
          <a:xfrm>
            <a:off x="965002" y="5426125"/>
            <a:ext cx="3376743"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softens a verdict — 不算太贵、不算太好吃</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046238"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句型 · Hedging</a:t>
            </a:r>
            <a:endParaRPr lang="en-US" sz="1100" dirty="0"/>
          </a:p>
        </p:txBody>
      </p:sp>
      <p:sp>
        <p:nvSpPr>
          <p:cNvPr id="6" name="Text 4"/>
          <p:cNvSpPr/>
          <p:nvPr/>
        </p:nvSpPr>
        <p:spPr>
          <a:xfrm>
            <a:off x="11208395" y="176213"/>
            <a:ext cx="485168"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14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471886"/>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模仿我说 · WATCH ME BUILD IT</a:t>
            </a:r>
            <a:endParaRPr lang="en-US" sz="1200" dirty="0"/>
          </a:p>
        </p:txBody>
      </p:sp>
      <p:sp>
        <p:nvSpPr>
          <p:cNvPr id="9" name="Text 7"/>
          <p:cNvSpPr/>
          <p:nvPr/>
        </p:nvSpPr>
        <p:spPr>
          <a:xfrm>
            <a:off x="558701" y="2862411"/>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1</a:t>
            </a:r>
            <a:endParaRPr lang="en-US" sz="1700" dirty="0"/>
          </a:p>
        </p:txBody>
      </p:sp>
      <p:sp>
        <p:nvSpPr>
          <p:cNvPr id="10" name="Text 8"/>
          <p:cNvSpPr/>
          <p:nvPr/>
        </p:nvSpPr>
        <p:spPr>
          <a:xfrm>
            <a:off x="965002" y="2795736"/>
            <a:ext cx="1787348"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大概一百块。</a:t>
            </a:r>
            <a:endParaRPr lang="en-US" sz="2300" dirty="0"/>
          </a:p>
        </p:txBody>
      </p:sp>
      <p:sp>
        <p:nvSpPr>
          <p:cNvPr id="11" name="Text 9"/>
          <p:cNvSpPr/>
          <p:nvPr/>
        </p:nvSpPr>
        <p:spPr>
          <a:xfrm>
            <a:off x="558701" y="3345656"/>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2</a:t>
            </a:r>
            <a:endParaRPr lang="en-US" sz="1700" dirty="0"/>
          </a:p>
        </p:txBody>
      </p:sp>
      <p:sp>
        <p:nvSpPr>
          <p:cNvPr id="12" name="Text 10"/>
          <p:cNvSpPr/>
          <p:nvPr/>
        </p:nvSpPr>
        <p:spPr>
          <a:xfrm>
            <a:off x="965002" y="3278981"/>
            <a:ext cx="1787348"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一百块左右。</a:t>
            </a:r>
            <a:endParaRPr lang="en-US" sz="2300" dirty="0"/>
          </a:p>
        </p:txBody>
      </p:sp>
      <p:sp>
        <p:nvSpPr>
          <p:cNvPr id="13" name="Text 11"/>
          <p:cNvSpPr/>
          <p:nvPr/>
        </p:nvSpPr>
        <p:spPr>
          <a:xfrm>
            <a:off x="558701" y="3828901"/>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3</a:t>
            </a:r>
            <a:endParaRPr lang="en-US" sz="1700" dirty="0"/>
          </a:p>
        </p:txBody>
      </p:sp>
      <p:sp>
        <p:nvSpPr>
          <p:cNvPr id="14" name="Text 12"/>
          <p:cNvSpPr/>
          <p:nvPr/>
        </p:nvSpPr>
        <p:spPr>
          <a:xfrm>
            <a:off x="965002" y="3762226"/>
            <a:ext cx="1489508"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不算太贵。</a:t>
            </a:r>
            <a:endParaRPr lang="en-US" sz="2300" dirty="0"/>
          </a:p>
        </p:txBody>
      </p:sp>
      <p:sp>
        <p:nvSpPr>
          <p:cNvPr id="15" name="Text 13"/>
          <p:cNvSpPr/>
          <p:nvPr/>
        </p:nvSpPr>
        <p:spPr>
          <a:xfrm>
            <a:off x="558701" y="4312146"/>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4</a:t>
            </a:r>
            <a:endParaRPr lang="en-US" sz="1700" dirty="0"/>
          </a:p>
        </p:txBody>
      </p:sp>
      <p:sp>
        <p:nvSpPr>
          <p:cNvPr id="16" name="Text 14"/>
          <p:cNvSpPr/>
          <p:nvPr/>
        </p:nvSpPr>
        <p:spPr>
          <a:xfrm>
            <a:off x="965002" y="4245471"/>
            <a:ext cx="10425794" cy="394395"/>
          </a:xfrm>
          <a:prstGeom prst="rect">
            <a:avLst/>
          </a:prstGeom>
          <a:noFill/>
          <a:ln/>
        </p:spPr>
        <p:txBody>
          <a:bodyPr wrap="square" lIns="0" tIns="0" rIns="0" bIns="0" rtlCol="0" anchor="t"/>
          <a:lstStyle/>
          <a:p>
            <a:pPr algn="l" indent="0" marL="0">
              <a:lnSpc>
                <a:spcPts val="3105"/>
              </a:lnSpc>
              <a:buNone/>
            </a:pPr>
            <a:r>
              <a:rPr lang="en-US" sz="2300" b="1" dirty="0">
                <a:solidFill>
                  <a:srgbClr val="4C7A2C"/>
                </a:solidFill>
                <a:latin typeface="Noto Serif SC" pitchFamily="34" charset="0"/>
                <a:ea typeface="Noto Serif SC" pitchFamily="34" charset="-122"/>
                <a:cs typeface="Noto Serif SC" pitchFamily="34" charset="-120"/>
              </a:rPr>
              <a:t>我们每次吃饭大概要花五百块左右，不算太贵，因为他们的饭菜做得特别好吃。</a:t>
            </a:r>
            <a:endParaRPr lang="en-US" sz="2300" dirty="0"/>
          </a:p>
        </p:txBody>
      </p:sp>
      <p:sp>
        <p:nvSpPr>
          <p:cNvPr id="17" name="Text 15"/>
          <p:cNvSpPr/>
          <p:nvPr/>
        </p:nvSpPr>
        <p:spPr>
          <a:xfrm>
            <a:off x="965002" y="4639866"/>
            <a:ext cx="10425794"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Three hedges, a reason clause, and a 得 complement.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055043"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CFU · 检查理解</a:t>
            </a:r>
            <a:endParaRPr lang="en-US" sz="1100" dirty="0"/>
          </a:p>
        </p:txBody>
      </p:sp>
      <p:sp>
        <p:nvSpPr>
          <p:cNvPr id="6" name="Text 4"/>
          <p:cNvSpPr/>
          <p:nvPr/>
        </p:nvSpPr>
        <p:spPr>
          <a:xfrm>
            <a:off x="11208544" y="176213"/>
            <a:ext cx="485016"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15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178421"/>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检查理解 · CHECK FOR UNDERSTANDING</a:t>
            </a:r>
            <a:endParaRPr lang="en-US" sz="1200" dirty="0"/>
          </a:p>
        </p:txBody>
      </p:sp>
      <p:sp>
        <p:nvSpPr>
          <p:cNvPr id="9" name="Text 7"/>
          <p:cNvSpPr/>
          <p:nvPr/>
        </p:nvSpPr>
        <p:spPr>
          <a:xfrm>
            <a:off x="558701" y="1502271"/>
            <a:ext cx="3775770" cy="301526"/>
          </a:xfrm>
          <a:prstGeom prst="roundRect">
            <a:avLst>
              <a:gd name="adj" fmla="val 2103848"/>
            </a:avLst>
          </a:prstGeom>
          <a:solidFill>
            <a:srgbClr val="B93F2C">
              <a:alpha val="11000"/>
            </a:srgbClr>
          </a:solidFill>
          <a:ln/>
        </p:spPr>
        <p:txBody>
          <a:bodyPr wrap="square" rtlCol="0" anchor="ctr"/>
          <a:lstStyle/>
          <a:p>
            <a:pPr indent="0" marL="0">
              <a:buNone/>
            </a:pPr>
            <a:endParaRPr lang="en-US" dirty="0"/>
          </a:p>
        </p:txBody>
      </p:sp>
      <p:sp>
        <p:nvSpPr>
          <p:cNvPr id="10" name="Text 8"/>
          <p:cNvSpPr/>
          <p:nvPr/>
        </p:nvSpPr>
        <p:spPr>
          <a:xfrm>
            <a:off x="673001" y="1553021"/>
            <a:ext cx="3618113" cy="200025"/>
          </a:xfrm>
          <a:prstGeom prst="rect">
            <a:avLst/>
          </a:prstGeom>
          <a:noFill/>
          <a:ln/>
        </p:spPr>
        <p:txBody>
          <a:bodyPr wrap="square" lIns="0" tIns="0" rIns="0" bIns="0" rtlCol="0" anchor="t"/>
          <a:lstStyle/>
          <a:p>
            <a:pPr algn="l" indent="0" marL="0">
              <a:buNone/>
            </a:pPr>
            <a:r>
              <a:rPr lang="en-US" sz="1100" b="1" dirty="0">
                <a:solidFill>
                  <a:srgbClr val="B93F2C"/>
                </a:solidFill>
                <a:latin typeface="Noto Sans" pitchFamily="34" charset="0"/>
                <a:ea typeface="Noto Sans" pitchFamily="34" charset="-122"/>
                <a:cs typeface="Noto Sans" pitchFamily="34" charset="-120"/>
              </a:rPr>
              <a:t>WHITEBOARDS · NO ANSWERS ON SCREEN</a:t>
            </a:r>
            <a:endParaRPr lang="en-US" sz="1100" dirty="0"/>
          </a:p>
        </p:txBody>
      </p:sp>
      <p:sp>
        <p:nvSpPr>
          <p:cNvPr id="11" name="Text 9"/>
          <p:cNvSpPr/>
          <p:nvPr/>
        </p:nvSpPr>
        <p:spPr>
          <a:xfrm>
            <a:off x="558701" y="1905298"/>
            <a:ext cx="11074598" cy="912912"/>
          </a:xfrm>
          <a:prstGeom prst="roundRect">
            <a:avLst>
              <a:gd name="adj" fmla="val 8347"/>
            </a:avLst>
          </a:prstGeom>
          <a:solidFill>
            <a:srgbClr val="F2EFDE"/>
          </a:solidFill>
          <a:ln w="9525">
            <a:solidFill>
              <a:srgbClr val="E1DBC0"/>
            </a:solidFill>
          </a:ln>
        </p:spPr>
        <p:txBody>
          <a:bodyPr wrap="square" rtlCol="0" anchor="ctr"/>
          <a:lstStyle/>
          <a:p>
            <a:pPr indent="0" marL="0">
              <a:buNone/>
            </a:pPr>
            <a:endParaRPr lang="en-US" dirty="0"/>
          </a:p>
        </p:txBody>
      </p:sp>
      <p:sp>
        <p:nvSpPr>
          <p:cNvPr id="12" name="Text 10"/>
          <p:cNvSpPr/>
          <p:nvPr/>
        </p:nvSpPr>
        <p:spPr>
          <a:xfrm>
            <a:off x="745927" y="2041773"/>
            <a:ext cx="284937" cy="321171"/>
          </a:xfrm>
          <a:prstGeom prst="rect">
            <a:avLst/>
          </a:prstGeom>
          <a:noFill/>
          <a:ln/>
        </p:spPr>
        <p:txBody>
          <a:bodyPr wrap="square" lIns="0" tIns="0" rIns="0" bIns="0" rtlCol="0" anchor="t"/>
          <a:lstStyle/>
          <a:p>
            <a:pPr algn="l" indent="0" marL="0">
              <a:lnSpc>
                <a:spcPts val="2530"/>
              </a:lnSpc>
              <a:buNone/>
            </a:pPr>
            <a:r>
              <a:rPr lang="en-US" sz="2200" b="1" dirty="0">
                <a:solidFill>
                  <a:srgbClr val="4C7A2C"/>
                </a:solidFill>
                <a:latin typeface="Noto Serif SC" pitchFamily="34" charset="0"/>
                <a:ea typeface="Noto Serif SC" pitchFamily="34" charset="-122"/>
                <a:cs typeface="Noto Serif SC" pitchFamily="34" charset="-120"/>
              </a:rPr>
              <a:t>1</a:t>
            </a:r>
            <a:endParaRPr lang="en-US" sz="2200" dirty="0"/>
          </a:p>
        </p:txBody>
      </p:sp>
      <p:sp>
        <p:nvSpPr>
          <p:cNvPr id="13" name="Text 11"/>
          <p:cNvSpPr/>
          <p:nvPr/>
        </p:nvSpPr>
        <p:spPr>
          <a:xfrm>
            <a:off x="1177677" y="2041773"/>
            <a:ext cx="2647322" cy="284411"/>
          </a:xfrm>
          <a:prstGeom prst="rect">
            <a:avLst/>
          </a:prstGeom>
          <a:noFill/>
          <a:ln/>
        </p:spPr>
        <p:txBody>
          <a:bodyPr wrap="square" lIns="0" tIns="0" rIns="0" bIns="0" rtlCol="0" anchor="t"/>
          <a:lstStyle/>
          <a:p>
            <a:pPr algn="l" indent="0" marL="0">
              <a:lnSpc>
                <a:spcPts val="2240"/>
              </a:lnSpc>
              <a:buNone/>
            </a:pPr>
            <a:r>
              <a:rPr lang="en-US" sz="1600" dirty="0">
                <a:solidFill>
                  <a:srgbClr val="24321C"/>
                </a:solidFill>
                <a:latin typeface="Noto Sans" pitchFamily="34" charset="0"/>
                <a:ea typeface="Noto Sans" pitchFamily="34" charset="-122"/>
                <a:cs typeface="Noto Sans" pitchFamily="34" charset="-120"/>
              </a:rPr>
              <a:t>Put 大概 in the right place.</a:t>
            </a:r>
            <a:endParaRPr lang="en-US" sz="1600" dirty="0"/>
          </a:p>
        </p:txBody>
      </p:sp>
      <p:sp>
        <p:nvSpPr>
          <p:cNvPr id="14" name="Text 12"/>
          <p:cNvSpPr/>
          <p:nvPr/>
        </p:nvSpPr>
        <p:spPr>
          <a:xfrm>
            <a:off x="1177677" y="2376934"/>
            <a:ext cx="2647322" cy="304800"/>
          </a:xfrm>
          <a:prstGeom prst="rect">
            <a:avLst/>
          </a:prstGeom>
          <a:noFill/>
          <a:ln/>
        </p:spPr>
        <p:txBody>
          <a:bodyPr wrap="square" lIns="0" tIns="0" rIns="0" bIns="0" rtlCol="0" anchor="t"/>
          <a:lstStyle/>
          <a:p>
            <a:pPr algn="l" indent="0" marL="0">
              <a:spcBef>
                <a:spcPts val="400"/>
              </a:spcBef>
              <a:buNone/>
            </a:pPr>
            <a:r>
              <a:rPr lang="en-US" sz="1700" b="1" dirty="0">
                <a:solidFill>
                  <a:srgbClr val="B93F2C"/>
                </a:solidFill>
                <a:latin typeface="Noto Serif SC" pitchFamily="34" charset="0"/>
                <a:ea typeface="Noto Serif SC" pitchFamily="34" charset="-122"/>
                <a:cs typeface="Noto Serif SC" pitchFamily="34" charset="-120"/>
              </a:rPr>
              <a:t>______ 五十块 ______ 。</a:t>
            </a:r>
            <a:endParaRPr lang="en-US" sz="1700" dirty="0"/>
          </a:p>
        </p:txBody>
      </p:sp>
      <p:sp>
        <p:nvSpPr>
          <p:cNvPr id="15" name="Text 13"/>
          <p:cNvSpPr/>
          <p:nvPr/>
        </p:nvSpPr>
        <p:spPr>
          <a:xfrm>
            <a:off x="558701" y="2900660"/>
            <a:ext cx="11074598" cy="594122"/>
          </a:xfrm>
          <a:prstGeom prst="roundRect">
            <a:avLst>
              <a:gd name="adj" fmla="val 12826"/>
            </a:avLst>
          </a:prstGeom>
          <a:solidFill>
            <a:srgbClr val="F2EFDE"/>
          </a:solidFill>
          <a:ln w="9525">
            <a:solidFill>
              <a:srgbClr val="E1DBC0"/>
            </a:solidFill>
          </a:ln>
        </p:spPr>
        <p:txBody>
          <a:bodyPr wrap="square" rtlCol="0" anchor="ctr"/>
          <a:lstStyle/>
          <a:p>
            <a:pPr indent="0" marL="0">
              <a:buNone/>
            </a:pPr>
            <a:endParaRPr lang="en-US" dirty="0"/>
          </a:p>
        </p:txBody>
      </p:sp>
      <p:sp>
        <p:nvSpPr>
          <p:cNvPr id="16" name="Text 14"/>
          <p:cNvSpPr/>
          <p:nvPr/>
        </p:nvSpPr>
        <p:spPr>
          <a:xfrm>
            <a:off x="745927" y="3037136"/>
            <a:ext cx="284937" cy="321171"/>
          </a:xfrm>
          <a:prstGeom prst="rect">
            <a:avLst/>
          </a:prstGeom>
          <a:noFill/>
          <a:ln/>
        </p:spPr>
        <p:txBody>
          <a:bodyPr wrap="square" lIns="0" tIns="0" rIns="0" bIns="0" rtlCol="0" anchor="t"/>
          <a:lstStyle/>
          <a:p>
            <a:pPr algn="l" indent="0" marL="0">
              <a:lnSpc>
                <a:spcPts val="2530"/>
              </a:lnSpc>
              <a:buNone/>
            </a:pPr>
            <a:r>
              <a:rPr lang="en-US" sz="2200" b="1" dirty="0">
                <a:solidFill>
                  <a:srgbClr val="4C7A2C"/>
                </a:solidFill>
                <a:latin typeface="Noto Serif SC" pitchFamily="34" charset="0"/>
                <a:ea typeface="Noto Serif SC" pitchFamily="34" charset="-122"/>
                <a:cs typeface="Noto Serif SC" pitchFamily="34" charset="-120"/>
              </a:rPr>
              <a:t>2</a:t>
            </a:r>
            <a:endParaRPr lang="en-US" sz="2200" dirty="0"/>
          </a:p>
        </p:txBody>
      </p:sp>
      <p:sp>
        <p:nvSpPr>
          <p:cNvPr id="17" name="Text 15"/>
          <p:cNvSpPr/>
          <p:nvPr/>
        </p:nvSpPr>
        <p:spPr>
          <a:xfrm>
            <a:off x="1177677" y="3037136"/>
            <a:ext cx="3404068" cy="284411"/>
          </a:xfrm>
          <a:prstGeom prst="rect">
            <a:avLst/>
          </a:prstGeom>
          <a:noFill/>
          <a:ln/>
        </p:spPr>
        <p:txBody>
          <a:bodyPr wrap="square" lIns="0" tIns="0" rIns="0" bIns="0" rtlCol="0" anchor="t"/>
          <a:lstStyle/>
          <a:p>
            <a:pPr algn="l" indent="0" marL="0">
              <a:lnSpc>
                <a:spcPts val="2240"/>
              </a:lnSpc>
              <a:buNone/>
            </a:pPr>
            <a:r>
              <a:rPr lang="en-US" sz="1600" dirty="0">
                <a:solidFill>
                  <a:srgbClr val="24321C"/>
                </a:solidFill>
                <a:latin typeface="Noto Sans" pitchFamily="34" charset="0"/>
                <a:ea typeface="Noto Sans" pitchFamily="34" charset="-122"/>
                <a:cs typeface="Noto Sans" pitchFamily="34" charset="-120"/>
              </a:rPr>
              <a:t>Translate: “It isn't too expensive.”</a:t>
            </a:r>
            <a:endParaRPr lang="en-US" sz="1600" dirty="0"/>
          </a:p>
        </p:txBody>
      </p:sp>
      <p:sp>
        <p:nvSpPr>
          <p:cNvPr id="18" name="Text 16"/>
          <p:cNvSpPr/>
          <p:nvPr/>
        </p:nvSpPr>
        <p:spPr>
          <a:xfrm>
            <a:off x="558701" y="3577233"/>
            <a:ext cx="11074598" cy="912912"/>
          </a:xfrm>
          <a:prstGeom prst="roundRect">
            <a:avLst>
              <a:gd name="adj" fmla="val 8347"/>
            </a:avLst>
          </a:prstGeom>
          <a:solidFill>
            <a:srgbClr val="F2EFDE"/>
          </a:solidFill>
          <a:ln w="9525">
            <a:solidFill>
              <a:srgbClr val="E1DBC0"/>
            </a:solidFill>
          </a:ln>
        </p:spPr>
        <p:txBody>
          <a:bodyPr wrap="square" rtlCol="0" anchor="ctr"/>
          <a:lstStyle/>
          <a:p>
            <a:pPr indent="0" marL="0">
              <a:buNone/>
            </a:pPr>
            <a:endParaRPr lang="en-US" dirty="0"/>
          </a:p>
        </p:txBody>
      </p:sp>
      <p:sp>
        <p:nvSpPr>
          <p:cNvPr id="19" name="Text 17"/>
          <p:cNvSpPr/>
          <p:nvPr/>
        </p:nvSpPr>
        <p:spPr>
          <a:xfrm>
            <a:off x="745927" y="3713708"/>
            <a:ext cx="284937" cy="321171"/>
          </a:xfrm>
          <a:prstGeom prst="rect">
            <a:avLst/>
          </a:prstGeom>
          <a:noFill/>
          <a:ln/>
        </p:spPr>
        <p:txBody>
          <a:bodyPr wrap="square" lIns="0" tIns="0" rIns="0" bIns="0" rtlCol="0" anchor="t"/>
          <a:lstStyle/>
          <a:p>
            <a:pPr algn="l" indent="0" marL="0">
              <a:lnSpc>
                <a:spcPts val="2530"/>
              </a:lnSpc>
              <a:buNone/>
            </a:pPr>
            <a:r>
              <a:rPr lang="en-US" sz="2200" b="1" dirty="0">
                <a:solidFill>
                  <a:srgbClr val="4C7A2C"/>
                </a:solidFill>
                <a:latin typeface="Noto Serif SC" pitchFamily="34" charset="0"/>
                <a:ea typeface="Noto Serif SC" pitchFamily="34" charset="-122"/>
                <a:cs typeface="Noto Serif SC" pitchFamily="34" charset="-120"/>
              </a:rPr>
              <a:t>3</a:t>
            </a:r>
            <a:endParaRPr lang="en-US" sz="2200" dirty="0"/>
          </a:p>
        </p:txBody>
      </p:sp>
      <p:sp>
        <p:nvSpPr>
          <p:cNvPr id="20" name="Text 18"/>
          <p:cNvSpPr/>
          <p:nvPr/>
        </p:nvSpPr>
        <p:spPr>
          <a:xfrm>
            <a:off x="1177677" y="3713708"/>
            <a:ext cx="2877913" cy="284411"/>
          </a:xfrm>
          <a:prstGeom prst="rect">
            <a:avLst/>
          </a:prstGeom>
          <a:noFill/>
          <a:ln/>
        </p:spPr>
        <p:txBody>
          <a:bodyPr wrap="square" lIns="0" tIns="0" rIns="0" bIns="0" rtlCol="0" anchor="t"/>
          <a:lstStyle/>
          <a:p>
            <a:pPr algn="l" indent="0" marL="0">
              <a:lnSpc>
                <a:spcPts val="2240"/>
              </a:lnSpc>
              <a:buNone/>
            </a:pPr>
            <a:r>
              <a:rPr lang="en-US" sz="1600" dirty="0">
                <a:solidFill>
                  <a:srgbClr val="24321C"/>
                </a:solidFill>
                <a:latin typeface="Noto Sans" pitchFamily="34" charset="0"/>
                <a:ea typeface="Noto Sans" pitchFamily="34" charset="-122"/>
                <a:cs typeface="Noto Sans" pitchFamily="34" charset="-120"/>
              </a:rPr>
              <a:t>花 —— which meaning here?</a:t>
            </a:r>
            <a:endParaRPr lang="en-US" sz="1600" dirty="0"/>
          </a:p>
        </p:txBody>
      </p:sp>
      <p:sp>
        <p:nvSpPr>
          <p:cNvPr id="21" name="Text 19"/>
          <p:cNvSpPr/>
          <p:nvPr/>
        </p:nvSpPr>
        <p:spPr>
          <a:xfrm>
            <a:off x="1177677" y="4048869"/>
            <a:ext cx="2877913" cy="304800"/>
          </a:xfrm>
          <a:prstGeom prst="rect">
            <a:avLst/>
          </a:prstGeom>
          <a:noFill/>
          <a:ln/>
        </p:spPr>
        <p:txBody>
          <a:bodyPr wrap="square" lIns="0" tIns="0" rIns="0" bIns="0" rtlCol="0" anchor="t"/>
          <a:lstStyle/>
          <a:p>
            <a:pPr algn="l" indent="0" marL="0">
              <a:spcBef>
                <a:spcPts val="400"/>
              </a:spcBef>
              <a:buNone/>
            </a:pPr>
            <a:r>
              <a:rPr lang="en-US" sz="1700" b="1" dirty="0">
                <a:solidFill>
                  <a:srgbClr val="B93F2C"/>
                </a:solidFill>
                <a:latin typeface="Noto Serif SC" pitchFamily="34" charset="0"/>
                <a:ea typeface="Noto Serif SC" pitchFamily="34" charset="-122"/>
                <a:cs typeface="Noto Serif SC" pitchFamily="34" charset="-120"/>
              </a:rPr>
              <a:t>我花了一百块。</a:t>
            </a:r>
            <a:endParaRPr lang="en-US" sz="1700" dirty="0"/>
          </a:p>
        </p:txBody>
      </p:sp>
      <p:sp>
        <p:nvSpPr>
          <p:cNvPr id="22" name="Text 20"/>
          <p:cNvSpPr/>
          <p:nvPr/>
        </p:nvSpPr>
        <p:spPr>
          <a:xfrm>
            <a:off x="558701" y="4572595"/>
            <a:ext cx="11074598" cy="594122"/>
          </a:xfrm>
          <a:prstGeom prst="roundRect">
            <a:avLst>
              <a:gd name="adj" fmla="val 12826"/>
            </a:avLst>
          </a:prstGeom>
          <a:solidFill>
            <a:srgbClr val="F2EFDE"/>
          </a:solidFill>
          <a:ln w="9525">
            <a:solidFill>
              <a:srgbClr val="E1DBC0"/>
            </a:solidFill>
          </a:ln>
        </p:spPr>
        <p:txBody>
          <a:bodyPr wrap="square" rtlCol="0" anchor="ctr"/>
          <a:lstStyle/>
          <a:p>
            <a:pPr indent="0" marL="0">
              <a:buNone/>
            </a:pPr>
            <a:endParaRPr lang="en-US" dirty="0"/>
          </a:p>
        </p:txBody>
      </p:sp>
      <p:sp>
        <p:nvSpPr>
          <p:cNvPr id="23" name="Text 21"/>
          <p:cNvSpPr/>
          <p:nvPr/>
        </p:nvSpPr>
        <p:spPr>
          <a:xfrm>
            <a:off x="745927" y="4709071"/>
            <a:ext cx="284937" cy="321171"/>
          </a:xfrm>
          <a:prstGeom prst="rect">
            <a:avLst/>
          </a:prstGeom>
          <a:noFill/>
          <a:ln/>
        </p:spPr>
        <p:txBody>
          <a:bodyPr wrap="square" lIns="0" tIns="0" rIns="0" bIns="0" rtlCol="0" anchor="t"/>
          <a:lstStyle/>
          <a:p>
            <a:pPr algn="l" indent="0" marL="0">
              <a:lnSpc>
                <a:spcPts val="2530"/>
              </a:lnSpc>
              <a:buNone/>
            </a:pPr>
            <a:r>
              <a:rPr lang="en-US" sz="2200" b="1" dirty="0">
                <a:solidFill>
                  <a:srgbClr val="4C7A2C"/>
                </a:solidFill>
                <a:latin typeface="Noto Serif SC" pitchFamily="34" charset="0"/>
                <a:ea typeface="Noto Serif SC" pitchFamily="34" charset="-122"/>
                <a:cs typeface="Noto Serif SC" pitchFamily="34" charset="-120"/>
              </a:rPr>
              <a:t>4</a:t>
            </a:r>
            <a:endParaRPr lang="en-US" sz="2200" dirty="0"/>
          </a:p>
        </p:txBody>
      </p:sp>
      <p:sp>
        <p:nvSpPr>
          <p:cNvPr id="24" name="Text 22"/>
          <p:cNvSpPr/>
          <p:nvPr/>
        </p:nvSpPr>
        <p:spPr>
          <a:xfrm>
            <a:off x="1177677" y="4709071"/>
            <a:ext cx="2425080" cy="284411"/>
          </a:xfrm>
          <a:prstGeom prst="rect">
            <a:avLst/>
          </a:prstGeom>
          <a:noFill/>
          <a:ln/>
        </p:spPr>
        <p:txBody>
          <a:bodyPr wrap="square" lIns="0" tIns="0" rIns="0" bIns="0" rtlCol="0" anchor="t"/>
          <a:lstStyle/>
          <a:p>
            <a:pPr algn="l" indent="0" marL="0">
              <a:lnSpc>
                <a:spcPts val="2240"/>
              </a:lnSpc>
              <a:buNone/>
            </a:pPr>
            <a:r>
              <a:rPr lang="en-US" sz="1600" dirty="0">
                <a:solidFill>
                  <a:srgbClr val="24321C"/>
                </a:solidFill>
                <a:latin typeface="Noto Sans" pitchFamily="34" charset="0"/>
                <a:ea typeface="Noto Sans" pitchFamily="34" charset="-122"/>
                <a:cs typeface="Noto Sans" pitchFamily="34" charset="-120"/>
              </a:rPr>
              <a:t>Write </a:t>
            </a:r>
            <a:r>
              <a:rPr lang="en-US" sz="1600" b="1" dirty="0">
                <a:solidFill>
                  <a:srgbClr val="24321C"/>
                </a:solidFill>
                <a:latin typeface="Noto Sans" pitchFamily="34" charset="0"/>
                <a:ea typeface="Noto Sans" pitchFamily="34" charset="-122"/>
                <a:cs typeface="Noto Sans" pitchFamily="34" charset="-120"/>
              </a:rPr>
              <a:t>360</a:t>
            </a:r>
            <a:r>
              <a:rPr lang="en-US" sz="1600" dirty="0">
                <a:solidFill>
                  <a:srgbClr val="24321C"/>
                </a:solidFill>
                <a:latin typeface="Noto Sans" pitchFamily="34" charset="0"/>
                <a:ea typeface="Noto Sans" pitchFamily="34" charset="-122"/>
                <a:cs typeface="Noto Sans" pitchFamily="34" charset="-120"/>
              </a:rPr>
              <a:t> in characters.</a:t>
            </a:r>
            <a:endParaRPr lang="en-US" sz="1600" dirty="0"/>
          </a:p>
        </p:txBody>
      </p:sp>
      <p:sp>
        <p:nvSpPr>
          <p:cNvPr id="25" name="Text 23"/>
          <p:cNvSpPr/>
          <p:nvPr/>
        </p:nvSpPr>
        <p:spPr>
          <a:xfrm>
            <a:off x="558701" y="5249168"/>
            <a:ext cx="11074598" cy="912912"/>
          </a:xfrm>
          <a:prstGeom prst="roundRect">
            <a:avLst>
              <a:gd name="adj" fmla="val 8347"/>
            </a:avLst>
          </a:prstGeom>
          <a:solidFill>
            <a:srgbClr val="F2EFDE"/>
          </a:solidFill>
          <a:ln w="9525">
            <a:solidFill>
              <a:srgbClr val="E1DBC0"/>
            </a:solidFill>
          </a:ln>
        </p:spPr>
        <p:txBody>
          <a:bodyPr wrap="square" rtlCol="0" anchor="ctr"/>
          <a:lstStyle/>
          <a:p>
            <a:pPr indent="0" marL="0">
              <a:buNone/>
            </a:pPr>
            <a:endParaRPr lang="en-US" dirty="0"/>
          </a:p>
        </p:txBody>
      </p:sp>
      <p:sp>
        <p:nvSpPr>
          <p:cNvPr id="26" name="Text 24"/>
          <p:cNvSpPr/>
          <p:nvPr/>
        </p:nvSpPr>
        <p:spPr>
          <a:xfrm>
            <a:off x="745927" y="5385643"/>
            <a:ext cx="284937" cy="321171"/>
          </a:xfrm>
          <a:prstGeom prst="rect">
            <a:avLst/>
          </a:prstGeom>
          <a:noFill/>
          <a:ln/>
        </p:spPr>
        <p:txBody>
          <a:bodyPr wrap="square" lIns="0" tIns="0" rIns="0" bIns="0" rtlCol="0" anchor="t"/>
          <a:lstStyle/>
          <a:p>
            <a:pPr algn="l" indent="0" marL="0">
              <a:lnSpc>
                <a:spcPts val="2530"/>
              </a:lnSpc>
              <a:buNone/>
            </a:pPr>
            <a:r>
              <a:rPr lang="en-US" sz="2200" b="1" dirty="0">
                <a:solidFill>
                  <a:srgbClr val="4C7A2C"/>
                </a:solidFill>
                <a:latin typeface="Noto Serif SC" pitchFamily="34" charset="0"/>
                <a:ea typeface="Noto Serif SC" pitchFamily="34" charset="-122"/>
                <a:cs typeface="Noto Serif SC" pitchFamily="34" charset="-120"/>
              </a:rPr>
              <a:t>5</a:t>
            </a:r>
            <a:endParaRPr lang="en-US" sz="2200" dirty="0"/>
          </a:p>
        </p:txBody>
      </p:sp>
      <p:sp>
        <p:nvSpPr>
          <p:cNvPr id="27" name="Text 25"/>
          <p:cNvSpPr/>
          <p:nvPr/>
        </p:nvSpPr>
        <p:spPr>
          <a:xfrm>
            <a:off x="1177677" y="5385643"/>
            <a:ext cx="3624792" cy="284411"/>
          </a:xfrm>
          <a:prstGeom prst="rect">
            <a:avLst/>
          </a:prstGeom>
          <a:noFill/>
          <a:ln/>
        </p:spPr>
        <p:txBody>
          <a:bodyPr wrap="square" lIns="0" tIns="0" rIns="0" bIns="0" rtlCol="0" anchor="t"/>
          <a:lstStyle/>
          <a:p>
            <a:pPr algn="l" indent="0" marL="0">
              <a:lnSpc>
                <a:spcPts val="2240"/>
              </a:lnSpc>
              <a:buNone/>
            </a:pPr>
            <a:r>
              <a:rPr lang="en-US" sz="1600" dirty="0">
                <a:solidFill>
                  <a:srgbClr val="24321C"/>
                </a:solidFill>
                <a:latin typeface="Noto Sans" pitchFamily="34" charset="0"/>
                <a:ea typeface="Noto Sans" pitchFamily="34" charset="-122"/>
                <a:cs typeface="Noto Sans" pitchFamily="34" charset="-120"/>
              </a:rPr>
              <a:t>What is missing from this sentence?</a:t>
            </a:r>
            <a:endParaRPr lang="en-US" sz="1600" dirty="0"/>
          </a:p>
        </p:txBody>
      </p:sp>
      <p:sp>
        <p:nvSpPr>
          <p:cNvPr id="28" name="Text 26"/>
          <p:cNvSpPr/>
          <p:nvPr/>
        </p:nvSpPr>
        <p:spPr>
          <a:xfrm>
            <a:off x="1177677" y="5720804"/>
            <a:ext cx="3624792" cy="304800"/>
          </a:xfrm>
          <a:prstGeom prst="rect">
            <a:avLst/>
          </a:prstGeom>
          <a:noFill/>
          <a:ln/>
        </p:spPr>
        <p:txBody>
          <a:bodyPr wrap="square" lIns="0" tIns="0" rIns="0" bIns="0" rtlCol="0" anchor="t"/>
          <a:lstStyle/>
          <a:p>
            <a:pPr algn="l" indent="0" marL="0">
              <a:spcBef>
                <a:spcPts val="400"/>
              </a:spcBef>
              <a:buNone/>
            </a:pPr>
            <a:r>
              <a:rPr lang="en-US" sz="1700" b="1" dirty="0">
                <a:solidFill>
                  <a:srgbClr val="B93F2C"/>
                </a:solidFill>
                <a:latin typeface="Noto Serif SC" pitchFamily="34" charset="0"/>
                <a:ea typeface="Noto Serif SC" pitchFamily="34" charset="-122"/>
                <a:cs typeface="Noto Serif SC" pitchFamily="34" charset="-120"/>
              </a:rPr>
              <a:t>我花了一百块钱买了。</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1251"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课文二 · 课本 p.115</a:t>
            </a:r>
            <a:endParaRPr lang="en-US" sz="1100" dirty="0"/>
          </a:p>
        </p:txBody>
      </p:sp>
      <p:sp>
        <p:nvSpPr>
          <p:cNvPr id="6" name="Text 4"/>
          <p:cNvSpPr/>
          <p:nvPr/>
        </p:nvSpPr>
        <p:spPr>
          <a:xfrm>
            <a:off x="11207800" y="176213"/>
            <a:ext cx="485775"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16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055912"/>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课文二 · TEXT 2 · CD 59 —— 前半，齐读</a:t>
            </a:r>
            <a:endParaRPr lang="en-US" sz="1200" dirty="0"/>
          </a:p>
        </p:txBody>
      </p:sp>
      <p:sp>
        <p:nvSpPr>
          <p:cNvPr id="9" name="Text 7"/>
          <p:cNvSpPr/>
          <p:nvPr/>
        </p:nvSpPr>
        <p:spPr>
          <a:xfrm>
            <a:off x="558701" y="2379762"/>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10" name="Text 8"/>
          <p:cNvSpPr/>
          <p:nvPr/>
        </p:nvSpPr>
        <p:spPr>
          <a:xfrm>
            <a:off x="1041202" y="2379762"/>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Nǐmen jiā cháng qù fàndiàn chīfàn ma?</a:t>
            </a:r>
            <a:endParaRPr lang="en-US" sz="1300" dirty="0"/>
          </a:p>
        </p:txBody>
      </p:sp>
      <p:sp>
        <p:nvSpPr>
          <p:cNvPr id="11" name="Text 9"/>
          <p:cNvSpPr/>
          <p:nvPr/>
        </p:nvSpPr>
        <p:spPr>
          <a:xfrm>
            <a:off x="1041202" y="2633663"/>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你们家常去饭店吃饭吗？</a:t>
            </a:r>
            <a:endParaRPr lang="en-US" sz="2400" dirty="0"/>
          </a:p>
        </p:txBody>
      </p:sp>
      <p:sp>
        <p:nvSpPr>
          <p:cNvPr id="12" name="Text 10"/>
          <p:cNvSpPr/>
          <p:nvPr/>
        </p:nvSpPr>
        <p:spPr>
          <a:xfrm>
            <a:off x="558701" y="3131344"/>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13" name="Text 11"/>
          <p:cNvSpPr/>
          <p:nvPr/>
        </p:nvSpPr>
        <p:spPr>
          <a:xfrm>
            <a:off x="1041202" y="3131344"/>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Chàbuduō měi liǎng xīngqī qù yí cì.</a:t>
            </a:r>
            <a:endParaRPr lang="en-US" sz="1300" dirty="0"/>
          </a:p>
        </p:txBody>
      </p:sp>
      <p:sp>
        <p:nvSpPr>
          <p:cNvPr id="14" name="Text 12"/>
          <p:cNvSpPr/>
          <p:nvPr/>
        </p:nvSpPr>
        <p:spPr>
          <a:xfrm>
            <a:off x="1041202" y="3385245"/>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差不多每两星期去一次。</a:t>
            </a:r>
            <a:endParaRPr lang="en-US" sz="2400" dirty="0"/>
          </a:p>
        </p:txBody>
      </p:sp>
      <p:sp>
        <p:nvSpPr>
          <p:cNvPr id="15" name="Text 13"/>
          <p:cNvSpPr/>
          <p:nvPr/>
        </p:nvSpPr>
        <p:spPr>
          <a:xfrm>
            <a:off x="558701" y="3882926"/>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16" name="Text 14"/>
          <p:cNvSpPr/>
          <p:nvPr/>
        </p:nvSpPr>
        <p:spPr>
          <a:xfrm>
            <a:off x="1041202" y="3882926"/>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Nǐmen jīngcháng qù nǎ jiā fàndiàn chīfàn?</a:t>
            </a:r>
            <a:endParaRPr lang="en-US" sz="1300" dirty="0"/>
          </a:p>
        </p:txBody>
      </p:sp>
      <p:sp>
        <p:nvSpPr>
          <p:cNvPr id="17" name="Text 15"/>
          <p:cNvSpPr/>
          <p:nvPr/>
        </p:nvSpPr>
        <p:spPr>
          <a:xfrm>
            <a:off x="1041202" y="4136827"/>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你们经常去哪家饭店吃饭？</a:t>
            </a:r>
            <a:endParaRPr lang="en-US" sz="2400" dirty="0"/>
          </a:p>
        </p:txBody>
      </p:sp>
      <p:sp>
        <p:nvSpPr>
          <p:cNvPr id="18" name="Text 16"/>
          <p:cNvSpPr/>
          <p:nvPr/>
        </p:nvSpPr>
        <p:spPr>
          <a:xfrm>
            <a:off x="558701" y="4634508"/>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19" name="Text 17"/>
          <p:cNvSpPr/>
          <p:nvPr/>
        </p:nvSpPr>
        <p:spPr>
          <a:xfrm>
            <a:off x="1041202" y="4634508"/>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Wǒmen jīngcháng qù yì jiā Shànghǎi fàndiàn chīfàn. Tāmen de fàncài zuò de tèbié hǎochī.</a:t>
            </a:r>
            <a:endParaRPr lang="en-US" sz="1300" dirty="0"/>
          </a:p>
        </p:txBody>
      </p:sp>
      <p:sp>
        <p:nvSpPr>
          <p:cNvPr id="20" name="Text 18"/>
          <p:cNvSpPr/>
          <p:nvPr/>
        </p:nvSpPr>
        <p:spPr>
          <a:xfrm>
            <a:off x="1041202" y="4888409"/>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我们经常去一家上海饭店吃饭。他们的饭菜做得特别好吃。</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1251"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课文二 · 课本 p.115</a:t>
            </a:r>
            <a:endParaRPr lang="en-US" sz="1100" dirty="0"/>
          </a:p>
        </p:txBody>
      </p:sp>
      <p:sp>
        <p:nvSpPr>
          <p:cNvPr id="6" name="Text 4"/>
          <p:cNvSpPr/>
          <p:nvPr/>
        </p:nvSpPr>
        <p:spPr>
          <a:xfrm>
            <a:off x="11214348" y="176213"/>
            <a:ext cx="479096"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17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055912"/>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课文二 · TEXT 2 · CD 59 —— 后半，然后两人一组</a:t>
            </a:r>
            <a:endParaRPr lang="en-US" sz="1200" dirty="0"/>
          </a:p>
        </p:txBody>
      </p:sp>
      <p:sp>
        <p:nvSpPr>
          <p:cNvPr id="9" name="Text 7"/>
          <p:cNvSpPr/>
          <p:nvPr/>
        </p:nvSpPr>
        <p:spPr>
          <a:xfrm>
            <a:off x="558701" y="2379762"/>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10" name="Text 8"/>
          <p:cNvSpPr/>
          <p:nvPr/>
        </p:nvSpPr>
        <p:spPr>
          <a:xfrm>
            <a:off x="1041202" y="2379762"/>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Nǐmen shàng ge zhōumò qù le ma?</a:t>
            </a:r>
            <a:endParaRPr lang="en-US" sz="1300" dirty="0"/>
          </a:p>
        </p:txBody>
      </p:sp>
      <p:sp>
        <p:nvSpPr>
          <p:cNvPr id="11" name="Text 9"/>
          <p:cNvSpPr/>
          <p:nvPr/>
        </p:nvSpPr>
        <p:spPr>
          <a:xfrm>
            <a:off x="1041202" y="2633663"/>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你们上个周末去了吗？</a:t>
            </a:r>
            <a:endParaRPr lang="en-US" sz="2400" dirty="0"/>
          </a:p>
        </p:txBody>
      </p:sp>
      <p:sp>
        <p:nvSpPr>
          <p:cNvPr id="12" name="Text 10"/>
          <p:cNvSpPr/>
          <p:nvPr/>
        </p:nvSpPr>
        <p:spPr>
          <a:xfrm>
            <a:off x="558701" y="3131344"/>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13" name="Text 11"/>
          <p:cNvSpPr/>
          <p:nvPr/>
        </p:nvSpPr>
        <p:spPr>
          <a:xfrm>
            <a:off x="1041202" y="3131344"/>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Qù le.</a:t>
            </a:r>
            <a:endParaRPr lang="en-US" sz="1300" dirty="0"/>
          </a:p>
        </p:txBody>
      </p:sp>
      <p:sp>
        <p:nvSpPr>
          <p:cNvPr id="14" name="Text 12"/>
          <p:cNvSpPr/>
          <p:nvPr/>
        </p:nvSpPr>
        <p:spPr>
          <a:xfrm>
            <a:off x="1041202" y="3385245"/>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去了。</a:t>
            </a:r>
            <a:endParaRPr lang="en-US" sz="2400" dirty="0"/>
          </a:p>
        </p:txBody>
      </p:sp>
      <p:sp>
        <p:nvSpPr>
          <p:cNvPr id="15" name="Text 13"/>
          <p:cNvSpPr/>
          <p:nvPr/>
        </p:nvSpPr>
        <p:spPr>
          <a:xfrm>
            <a:off x="558701" y="3882926"/>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16" name="Text 14"/>
          <p:cNvSpPr/>
          <p:nvPr/>
        </p:nvSpPr>
        <p:spPr>
          <a:xfrm>
            <a:off x="1041202" y="3882926"/>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Nǐmen měi cì chīfàn dàgài yào huā duōshao qián?</a:t>
            </a:r>
            <a:endParaRPr lang="en-US" sz="1300" dirty="0"/>
          </a:p>
        </p:txBody>
      </p:sp>
      <p:sp>
        <p:nvSpPr>
          <p:cNvPr id="17" name="Text 15"/>
          <p:cNvSpPr/>
          <p:nvPr/>
        </p:nvSpPr>
        <p:spPr>
          <a:xfrm>
            <a:off x="1041202" y="4136827"/>
            <a:ext cx="10803940" cy="396180"/>
          </a:xfrm>
          <a:prstGeom prst="rect">
            <a:avLst/>
          </a:prstGeom>
          <a:noFill/>
          <a:ln/>
        </p:spPr>
        <p:txBody>
          <a:bodyPr wrap="square" lIns="0" tIns="0" rIns="0" bIns="0" rtlCol="0" anchor="t"/>
          <a:lstStyle/>
          <a:p>
            <a:pPr algn="l" indent="0" marL="0">
              <a:lnSpc>
                <a:spcPts val="3120"/>
              </a:lnSpc>
              <a:buNone/>
            </a:pPr>
            <a:r>
              <a:rPr lang="en-US" sz="2400" dirty="0">
                <a:solidFill>
                  <a:srgbClr val="24321C"/>
                </a:solidFill>
                <a:latin typeface="Noto Serif SC" pitchFamily="34" charset="0"/>
                <a:ea typeface="Noto Serif SC" pitchFamily="34" charset="-122"/>
                <a:cs typeface="Noto Serif SC" pitchFamily="34" charset="-120"/>
              </a:rPr>
              <a:t>你们每次吃饭大概要</a:t>
            </a:r>
            <a:r>
              <a:rPr lang="en-US" sz="2400" b="1" dirty="0">
                <a:solidFill>
                  <a:srgbClr val="B93F2C"/>
                </a:solidFill>
                <a:latin typeface="Noto Serif SC" pitchFamily="34" charset="0"/>
                <a:ea typeface="Noto Serif SC" pitchFamily="34" charset="-122"/>
                <a:cs typeface="Noto Serif SC" pitchFamily="34" charset="-120"/>
              </a:rPr>
              <a:t>花</a:t>
            </a:r>
            <a:r>
              <a:rPr lang="en-US" sz="2400" dirty="0">
                <a:solidFill>
                  <a:srgbClr val="24321C"/>
                </a:solidFill>
                <a:latin typeface="Noto Serif SC" pitchFamily="34" charset="0"/>
                <a:ea typeface="Noto Serif SC" pitchFamily="34" charset="-122"/>
                <a:cs typeface="Noto Serif SC" pitchFamily="34" charset="-120"/>
              </a:rPr>
              <a:t>多少钱？</a:t>
            </a:r>
            <a:endParaRPr lang="en-US" sz="2400" dirty="0"/>
          </a:p>
        </p:txBody>
      </p:sp>
      <p:sp>
        <p:nvSpPr>
          <p:cNvPr id="18" name="Text 16"/>
          <p:cNvSpPr/>
          <p:nvPr/>
        </p:nvSpPr>
        <p:spPr>
          <a:xfrm>
            <a:off x="558701" y="4634508"/>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19" name="Text 17"/>
          <p:cNvSpPr/>
          <p:nvPr/>
        </p:nvSpPr>
        <p:spPr>
          <a:xfrm>
            <a:off x="1041202" y="4634508"/>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Wǔ bǎi kuài zuǒyòu, bú suàn tài guì.</a:t>
            </a:r>
            <a:endParaRPr lang="en-US" sz="1300" dirty="0"/>
          </a:p>
        </p:txBody>
      </p:sp>
      <p:sp>
        <p:nvSpPr>
          <p:cNvPr id="20" name="Text 18"/>
          <p:cNvSpPr/>
          <p:nvPr/>
        </p:nvSpPr>
        <p:spPr>
          <a:xfrm>
            <a:off x="1041202" y="4888409"/>
            <a:ext cx="10803940" cy="396180"/>
          </a:xfrm>
          <a:prstGeom prst="rect">
            <a:avLst/>
          </a:prstGeom>
          <a:noFill/>
          <a:ln/>
        </p:spPr>
        <p:txBody>
          <a:bodyPr wrap="square" lIns="0" tIns="0" rIns="0" bIns="0" rtlCol="0" anchor="t"/>
          <a:lstStyle/>
          <a:p>
            <a:pPr algn="l" indent="0" marL="0">
              <a:lnSpc>
                <a:spcPts val="3120"/>
              </a:lnSpc>
              <a:buNone/>
            </a:pPr>
            <a:r>
              <a:rPr lang="en-US" sz="2400" dirty="0">
                <a:solidFill>
                  <a:srgbClr val="24321C"/>
                </a:solidFill>
                <a:latin typeface="Noto Serif SC" pitchFamily="34" charset="0"/>
                <a:ea typeface="Noto Serif SC" pitchFamily="34" charset="-122"/>
                <a:cs typeface="Noto Serif SC" pitchFamily="34" charset="-120"/>
              </a:rPr>
              <a:t>五</a:t>
            </a:r>
            <a:r>
              <a:rPr lang="en-US" sz="2400" b="1" dirty="0">
                <a:solidFill>
                  <a:srgbClr val="B93F2C"/>
                </a:solidFill>
                <a:latin typeface="Noto Serif SC" pitchFamily="34" charset="0"/>
                <a:ea typeface="Noto Serif SC" pitchFamily="34" charset="-122"/>
                <a:cs typeface="Noto Serif SC" pitchFamily="34" charset="-120"/>
              </a:rPr>
              <a:t>百</a:t>
            </a:r>
            <a:r>
              <a:rPr lang="en-US" sz="2400" dirty="0">
                <a:solidFill>
                  <a:srgbClr val="24321C"/>
                </a:solidFill>
                <a:latin typeface="Noto Serif SC" pitchFamily="34" charset="0"/>
                <a:ea typeface="Noto Serif SC" pitchFamily="34" charset="-122"/>
                <a:cs typeface="Noto Serif SC" pitchFamily="34" charset="-120"/>
              </a:rPr>
              <a:t>块左右，不</a:t>
            </a:r>
            <a:r>
              <a:rPr lang="en-US" sz="2400" b="1" dirty="0">
                <a:solidFill>
                  <a:srgbClr val="B93F2C"/>
                </a:solidFill>
                <a:latin typeface="Noto Serif SC" pitchFamily="34" charset="0"/>
                <a:ea typeface="Noto Serif SC" pitchFamily="34" charset="-122"/>
                <a:cs typeface="Noto Serif SC" pitchFamily="34" charset="-120"/>
              </a:rPr>
              <a:t>算</a:t>
            </a:r>
            <a:r>
              <a:rPr lang="en-US" sz="2400" dirty="0">
                <a:solidFill>
                  <a:srgbClr val="24321C"/>
                </a:solidFill>
                <a:latin typeface="Noto Serif SC" pitchFamily="34" charset="0"/>
                <a:ea typeface="Noto Serif SC" pitchFamily="34" charset="-122"/>
                <a:cs typeface="Noto Serif SC" pitchFamily="34" charset="-120"/>
              </a:rPr>
              <a:t>太</a:t>
            </a:r>
            <a:r>
              <a:rPr lang="en-US" sz="2400" b="1" dirty="0">
                <a:solidFill>
                  <a:srgbClr val="B93F2C"/>
                </a:solidFill>
                <a:latin typeface="Noto Serif SC" pitchFamily="34" charset="0"/>
                <a:ea typeface="Noto Serif SC" pitchFamily="34" charset="-122"/>
                <a:cs typeface="Noto Serif SC" pitchFamily="34" charset="-120"/>
              </a:rPr>
              <a:t>贵</a:t>
            </a:r>
            <a:r>
              <a:rPr lang="en-US" sz="2400" dirty="0">
                <a:solidFill>
                  <a:srgbClr val="24321C"/>
                </a:solidFill>
                <a:latin typeface="Noto Serif SC" pitchFamily="34" charset="0"/>
                <a:ea typeface="Noto Serif SC" pitchFamily="34" charset="-122"/>
                <a:cs typeface="Noto Serif SC" pitchFamily="34" charset="-120"/>
              </a:rPr>
              <a: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71404"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10–20 MIN · I DO</a:t>
            </a:r>
            <a:endParaRPr lang="en-US" sz="1000" dirty="0"/>
          </a:p>
        </p:txBody>
      </p:sp>
      <p:sp>
        <p:nvSpPr>
          <p:cNvPr id="5" name="Text 3"/>
          <p:cNvSpPr/>
          <p:nvPr/>
        </p:nvSpPr>
        <p:spPr>
          <a:xfrm>
            <a:off x="2137916" y="166688"/>
            <a:ext cx="1291251"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课文二 · 课本 p.115</a:t>
            </a:r>
            <a:endParaRPr lang="en-US" sz="1100" dirty="0"/>
          </a:p>
        </p:txBody>
      </p:sp>
      <p:sp>
        <p:nvSpPr>
          <p:cNvPr id="6" name="Text 4"/>
          <p:cNvSpPr/>
          <p:nvPr/>
        </p:nvSpPr>
        <p:spPr>
          <a:xfrm>
            <a:off x="11208246" y="176213"/>
            <a:ext cx="485320"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18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770733"/>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听懂了吗 · COMPREHENSION —— 用中文回答</a:t>
            </a:r>
            <a:endParaRPr lang="en-US" sz="1200" dirty="0"/>
          </a:p>
        </p:txBody>
      </p:sp>
      <p:sp>
        <p:nvSpPr>
          <p:cNvPr id="9" name="Text 7"/>
          <p:cNvSpPr/>
          <p:nvPr/>
        </p:nvSpPr>
        <p:spPr>
          <a:xfrm>
            <a:off x="558701" y="3275558"/>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1</a:t>
            </a:r>
            <a:endParaRPr lang="en-US" sz="1700" dirty="0"/>
          </a:p>
        </p:txBody>
      </p:sp>
      <p:sp>
        <p:nvSpPr>
          <p:cNvPr id="10" name="Text 8"/>
          <p:cNvSpPr/>
          <p:nvPr/>
        </p:nvSpPr>
        <p:spPr>
          <a:xfrm>
            <a:off x="965002" y="3208883"/>
            <a:ext cx="3574545"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他们多长时间去一次饭店？</a:t>
            </a:r>
            <a:endParaRPr lang="en-US" sz="2300" dirty="0"/>
          </a:p>
        </p:txBody>
      </p:sp>
      <p:sp>
        <p:nvSpPr>
          <p:cNvPr id="11" name="Text 9"/>
          <p:cNvSpPr/>
          <p:nvPr/>
        </p:nvSpPr>
        <p:spPr>
          <a:xfrm>
            <a:off x="558701" y="3758803"/>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2</a:t>
            </a:r>
            <a:endParaRPr lang="en-US" sz="1700" dirty="0"/>
          </a:p>
        </p:txBody>
      </p:sp>
      <p:sp>
        <p:nvSpPr>
          <p:cNvPr id="12" name="Text 10"/>
          <p:cNvSpPr/>
          <p:nvPr/>
        </p:nvSpPr>
        <p:spPr>
          <a:xfrm>
            <a:off x="965002" y="3692128"/>
            <a:ext cx="3276704"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那家饭店的饭菜怎么样？</a:t>
            </a:r>
            <a:endParaRPr lang="en-US" sz="2300" dirty="0"/>
          </a:p>
        </p:txBody>
      </p:sp>
      <p:sp>
        <p:nvSpPr>
          <p:cNvPr id="13" name="Text 11"/>
          <p:cNvSpPr/>
          <p:nvPr/>
        </p:nvSpPr>
        <p:spPr>
          <a:xfrm>
            <a:off x="558701" y="4242048"/>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3</a:t>
            </a:r>
            <a:endParaRPr lang="en-US" sz="1700" dirty="0"/>
          </a:p>
        </p:txBody>
      </p:sp>
      <p:sp>
        <p:nvSpPr>
          <p:cNvPr id="14" name="Text 12"/>
          <p:cNvSpPr/>
          <p:nvPr/>
        </p:nvSpPr>
        <p:spPr>
          <a:xfrm>
            <a:off x="965002" y="4175373"/>
            <a:ext cx="3276704" cy="394395"/>
          </a:xfrm>
          <a:prstGeom prst="rect">
            <a:avLst/>
          </a:prstGeom>
          <a:noFill/>
          <a:ln/>
        </p:spPr>
        <p:txBody>
          <a:bodyPr wrap="square" lIns="0" tIns="0" rIns="0" bIns="0" rtlCol="0" anchor="t"/>
          <a:lstStyle/>
          <a:p>
            <a:pPr algn="l" indent="0" marL="0">
              <a:lnSpc>
                <a:spcPts val="3105"/>
              </a:lnSpc>
              <a:buNone/>
            </a:pPr>
            <a:r>
              <a:rPr lang="en-US" sz="2300" b="1" dirty="0">
                <a:solidFill>
                  <a:srgbClr val="4C7A2C"/>
                </a:solidFill>
                <a:latin typeface="Noto Serif SC" pitchFamily="34" charset="0"/>
                <a:ea typeface="Noto Serif SC" pitchFamily="34" charset="-122"/>
                <a:cs typeface="Noto Serif SC" pitchFamily="34" charset="-120"/>
              </a:rPr>
              <a:t>五百块贵不贵？为什么？</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584841"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20–30 MIN · WE DO</a:t>
            </a:r>
            <a:endParaRPr lang="en-US" sz="1000" dirty="0"/>
          </a:p>
        </p:txBody>
      </p:sp>
      <p:sp>
        <p:nvSpPr>
          <p:cNvPr id="5" name="Text 3"/>
          <p:cNvSpPr/>
          <p:nvPr/>
        </p:nvSpPr>
        <p:spPr>
          <a:xfrm>
            <a:off x="2347168" y="166688"/>
            <a:ext cx="1930652"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Activity 1 · 课本 p.120 Ex.16</a:t>
            </a:r>
            <a:endParaRPr lang="en-US" sz="1100" dirty="0"/>
          </a:p>
        </p:txBody>
      </p:sp>
      <p:sp>
        <p:nvSpPr>
          <p:cNvPr id="6" name="Text 4"/>
          <p:cNvSpPr/>
          <p:nvPr/>
        </p:nvSpPr>
        <p:spPr>
          <a:xfrm>
            <a:off x="11207651" y="176213"/>
            <a:ext cx="485927"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19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012627"/>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ACTIVITY 1 · 开店 · 课本 P.120 EX.16</a:t>
            </a:r>
            <a:endParaRPr lang="en-US" sz="1200" dirty="0"/>
          </a:p>
        </p:txBody>
      </p:sp>
      <p:sp>
        <p:nvSpPr>
          <p:cNvPr id="9" name="Text 7"/>
          <p:cNvSpPr/>
          <p:nvPr/>
        </p:nvSpPr>
        <p:spPr>
          <a:xfrm>
            <a:off x="558701" y="1336477"/>
            <a:ext cx="2340471" cy="301526"/>
          </a:xfrm>
          <a:prstGeom prst="roundRect">
            <a:avLst>
              <a:gd name="adj" fmla="val 2103848"/>
            </a:avLst>
          </a:prstGeom>
          <a:solidFill>
            <a:srgbClr val="B96A12">
              <a:alpha val="14000"/>
            </a:srgbClr>
          </a:solidFill>
          <a:ln/>
        </p:spPr>
        <p:txBody>
          <a:bodyPr wrap="square" rtlCol="0" anchor="ctr"/>
          <a:lstStyle/>
          <a:p>
            <a:pPr indent="0" marL="0">
              <a:buNone/>
            </a:pPr>
            <a:endParaRPr lang="en-US" dirty="0"/>
          </a:p>
        </p:txBody>
      </p:sp>
      <p:sp>
        <p:nvSpPr>
          <p:cNvPr id="10" name="Text 8"/>
          <p:cNvSpPr/>
          <p:nvPr/>
        </p:nvSpPr>
        <p:spPr>
          <a:xfrm>
            <a:off x="673001" y="1387227"/>
            <a:ext cx="2154109" cy="200025"/>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GROUPS OF 3–4 · 10 MIN</a:t>
            </a:r>
            <a:endParaRPr lang="en-US" sz="1100" dirty="0"/>
          </a:p>
        </p:txBody>
      </p:sp>
      <p:sp>
        <p:nvSpPr>
          <p:cNvPr id="11" name="Text 9"/>
          <p:cNvSpPr/>
          <p:nvPr/>
        </p:nvSpPr>
        <p:spPr>
          <a:xfrm>
            <a:off x="558701" y="1739503"/>
            <a:ext cx="11074598" cy="2714327"/>
          </a:xfrm>
          <a:prstGeom prst="roundRect">
            <a:avLst>
              <a:gd name="adj" fmla="val 4679"/>
            </a:avLst>
          </a:prstGeom>
          <a:solidFill>
            <a:srgbClr val="F2EFDE"/>
          </a:solidFill>
          <a:ln w="19050">
            <a:solidFill>
              <a:srgbClr val="CFC7A6"/>
            </a:solidFill>
          </a:ln>
        </p:spPr>
        <p:txBody>
          <a:bodyPr wrap="square" rtlCol="0" anchor="ctr"/>
          <a:lstStyle/>
          <a:p>
            <a:pPr indent="0" marL="0">
              <a:buNone/>
            </a:pPr>
            <a:endParaRPr lang="en-US" dirty="0"/>
          </a:p>
        </p:txBody>
      </p:sp>
      <p:sp>
        <p:nvSpPr>
          <p:cNvPr id="12" name="Text 10"/>
          <p:cNvSpPr/>
          <p:nvPr/>
        </p:nvSpPr>
        <p:spPr>
          <a:xfrm>
            <a:off x="793552" y="1923604"/>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Each group opens </a:t>
            </a:r>
            <a:r>
              <a:rPr lang="en-US" sz="1600" b="1" dirty="0">
                <a:solidFill>
                  <a:srgbClr val="B93F2C"/>
                </a:solidFill>
                <a:latin typeface="Noto Sans" pitchFamily="34" charset="0"/>
                <a:ea typeface="Noto Sans" pitchFamily="34" charset="-122"/>
                <a:cs typeface="Noto Sans" pitchFamily="34" charset="-120"/>
              </a:rPr>
              <a:t>either</a:t>
            </a:r>
            <a:r>
              <a:rPr lang="en-US" sz="1600" dirty="0">
                <a:solidFill>
                  <a:srgbClr val="24321C"/>
                </a:solidFill>
                <a:latin typeface="Noto Sans" pitchFamily="34" charset="0"/>
                <a:ea typeface="Noto Sans" pitchFamily="34" charset="-122"/>
                <a:cs typeface="Noto Sans" pitchFamily="34" charset="-120"/>
              </a:rPr>
              <a:t> a fresh market </a:t>
            </a:r>
            <a:r>
              <a:rPr lang="en-US" sz="1600" b="1" dirty="0">
                <a:solidFill>
                  <a:srgbClr val="B93F2C"/>
                </a:solidFill>
                <a:latin typeface="Noto Sans" pitchFamily="34" charset="0"/>
                <a:ea typeface="Noto Sans" pitchFamily="34" charset="-122"/>
                <a:cs typeface="Noto Sans" pitchFamily="34" charset="-120"/>
              </a:rPr>
              <a:t>or</a:t>
            </a:r>
            <a:r>
              <a:rPr lang="en-US" sz="1600" dirty="0">
                <a:solidFill>
                  <a:srgbClr val="24321C"/>
                </a:solidFill>
                <a:latin typeface="Noto Sans" pitchFamily="34" charset="0"/>
                <a:ea typeface="Noto Sans" pitchFamily="34" charset="-122"/>
                <a:cs typeface="Noto Sans" pitchFamily="34" charset="-120"/>
              </a:rPr>
              <a:t> a clothing shop.</a:t>
            </a:r>
            <a:endParaRPr lang="en-US" sz="1600" dirty="0"/>
          </a:p>
        </p:txBody>
      </p:sp>
      <p:sp>
        <p:nvSpPr>
          <p:cNvPr id="13" name="Text 11"/>
          <p:cNvSpPr/>
          <p:nvPr/>
        </p:nvSpPr>
        <p:spPr>
          <a:xfrm>
            <a:off x="793552" y="2320826"/>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菜市场　黄瓜 ¥1.20/斤 · 生菜 ¥1.00/斤 · 西红柿 ¥2.00/斤</a:t>
            </a:r>
            <a:endParaRPr lang="en-US" sz="2100" dirty="0"/>
          </a:p>
        </p:txBody>
      </p:sp>
      <p:sp>
        <p:nvSpPr>
          <p:cNvPr id="14" name="Text 12"/>
          <p:cNvSpPr/>
          <p:nvPr/>
        </p:nvSpPr>
        <p:spPr>
          <a:xfrm>
            <a:off x="793552" y="2760613"/>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苹果 ¥10.00/四个 · 西瓜 ¥1.20/斤 · 橘子 ¥10.00/五个</a:t>
            </a:r>
            <a:endParaRPr lang="en-US" sz="2100" dirty="0"/>
          </a:p>
        </p:txBody>
      </p:sp>
      <p:sp>
        <p:nvSpPr>
          <p:cNvPr id="15" name="Text 13"/>
          <p:cNvSpPr/>
          <p:nvPr/>
        </p:nvSpPr>
        <p:spPr>
          <a:xfrm>
            <a:off x="793552" y="3200400"/>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服装店　牛仔裤 ¥260.00/条 · 衬衫 ¥150.00/件 · 毛衣 ¥220.00/件 · 外套 ¥200.00/件</a:t>
            </a:r>
            <a:endParaRPr lang="en-US" sz="2100" dirty="0"/>
          </a:p>
        </p:txBody>
      </p:sp>
      <p:sp>
        <p:nvSpPr>
          <p:cNvPr id="16" name="Text 14"/>
          <p:cNvSpPr/>
          <p:nvPr/>
        </p:nvSpPr>
        <p:spPr>
          <a:xfrm>
            <a:off x="793552" y="3640187"/>
            <a:ext cx="10816995" cy="629543"/>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At each stall: ask </a:t>
            </a:r>
            <a:r>
              <a:rPr lang="en-US" sz="1600" b="1" dirty="0">
                <a:solidFill>
                  <a:srgbClr val="B93F2C"/>
                </a:solidFill>
                <a:latin typeface="Noto Sans" pitchFamily="34" charset="0"/>
                <a:ea typeface="Noto Sans" pitchFamily="34" charset="-122"/>
                <a:cs typeface="Noto Sans" pitchFamily="34" charset="-120"/>
              </a:rPr>
              <a:t>two</a:t>
            </a:r>
            <a:r>
              <a:rPr lang="en-US" sz="1600" dirty="0">
                <a:solidFill>
                  <a:srgbClr val="24321C"/>
                </a:solidFill>
                <a:latin typeface="Noto Sans" pitchFamily="34" charset="0"/>
                <a:ea typeface="Noto Sans" pitchFamily="34" charset="-122"/>
                <a:cs typeface="Noto Sans" pitchFamily="34" charset="-120"/>
              </a:rPr>
              <a:t> prices, buy at least two things, ask 一共多少钱？, and finish with a verdict —— 贵 or 不算太贵.</a:t>
            </a:r>
            <a:endParaRPr lang="en-US" sz="1600" dirty="0"/>
          </a:p>
        </p:txBody>
      </p:sp>
      <p:sp>
        <p:nvSpPr>
          <p:cNvPr id="17" name="Text 15"/>
          <p:cNvSpPr/>
          <p:nvPr/>
        </p:nvSpPr>
        <p:spPr>
          <a:xfrm>
            <a:off x="558701" y="4580781"/>
            <a:ext cx="11074598" cy="1747093"/>
          </a:xfrm>
          <a:prstGeom prst="roundRect">
            <a:avLst>
              <a:gd name="adj" fmla="val 4362"/>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8" name="Text 16"/>
          <p:cNvSpPr/>
          <p:nvPr/>
        </p:nvSpPr>
        <p:spPr>
          <a:xfrm>
            <a:off x="768251" y="4739432"/>
            <a:ext cx="10868608" cy="200025"/>
          </a:xfrm>
          <a:prstGeom prst="rect">
            <a:avLst/>
          </a:prstGeom>
          <a:noFill/>
          <a:ln/>
        </p:spPr>
        <p:txBody>
          <a:bodyPr wrap="square" lIns="0" tIns="0" rIns="0" bIns="0" rtlCol="0" anchor="t"/>
          <a:lstStyle/>
          <a:p>
            <a:pPr algn="l" indent="0" marL="0">
              <a:spcAft>
                <a:spcPts val="500"/>
              </a:spcAft>
              <a:buNone/>
            </a:pPr>
            <a:r>
              <a:rPr lang="en-US" sz="1100" b="1" dirty="0">
                <a:solidFill>
                  <a:srgbClr val="4C7A2C"/>
                </a:solidFill>
                <a:latin typeface="Noto Sans" pitchFamily="34" charset="0"/>
                <a:ea typeface="Noto Sans" pitchFamily="34" charset="-122"/>
                <a:cs typeface="Noto Sans" pitchFamily="34" charset="-120"/>
              </a:rPr>
              <a:t>EXTENSION · 加油题</a:t>
            </a:r>
            <a:endParaRPr lang="en-US" sz="1100" dirty="0"/>
          </a:p>
        </p:txBody>
      </p:sp>
      <p:sp>
        <p:nvSpPr>
          <p:cNvPr id="19" name="Text 17"/>
          <p:cNvSpPr/>
          <p:nvPr/>
        </p:nvSpPr>
        <p:spPr>
          <a:xfrm>
            <a:off x="768251" y="5002857"/>
            <a:ext cx="10868608" cy="82867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You have </a:t>
            </a:r>
            <a:r>
              <a:rPr lang="en-US" sz="1500" b="1" dirty="0">
                <a:solidFill>
                  <a:srgbClr val="4C7A2C"/>
                </a:solidFill>
                <a:latin typeface="Noto Sans" pitchFamily="34" charset="0"/>
                <a:ea typeface="Noto Sans" pitchFamily="34" charset="-122"/>
                <a:cs typeface="Noto Sans" pitchFamily="34" charset="-120"/>
              </a:rPr>
              <a:t>500 块</a:t>
            </a:r>
            <a:r>
              <a:rPr lang="en-US" sz="1500" dirty="0">
                <a:solidFill>
                  <a:srgbClr val="24321C"/>
                </a:solidFill>
                <a:latin typeface="Noto Sans" pitchFamily="34" charset="0"/>
                <a:ea typeface="Noto Sans" pitchFamily="34" charset="-122"/>
                <a:cs typeface="Noto Sans" pitchFamily="34" charset="-120"/>
              </a:rPr>
              <a:t> and must come back with a full outfit </a:t>
            </a:r>
            <a:r>
              <a:rPr lang="en-US" sz="1500" b="1" dirty="0">
                <a:solidFill>
                  <a:srgbClr val="4C7A2C"/>
                </a:solidFill>
                <a:latin typeface="Noto Sans" pitchFamily="34" charset="0"/>
                <a:ea typeface="Noto Sans" pitchFamily="34" charset="-122"/>
                <a:cs typeface="Noto Sans" pitchFamily="34" charset="-120"/>
              </a:rPr>
              <a:t>and</a:t>
            </a:r>
            <a:r>
              <a:rPr lang="en-US" sz="1500" dirty="0">
                <a:solidFill>
                  <a:srgbClr val="24321C"/>
                </a:solidFill>
                <a:latin typeface="Noto Sans" pitchFamily="34" charset="0"/>
                <a:ea typeface="Noto Sans" pitchFamily="34" charset="-122"/>
                <a:cs typeface="Noto Sans" pitchFamily="34" charset="-120"/>
              </a:rPr>
              <a:t> a family dinner, visiting both a shop and a market. Compare two stalls out loud with 比, justify each buy with 因为……所以, then report: what you bought, 一共花了多少钱, and what you left behind and why.</a:t>
            </a:r>
            <a:endParaRPr lang="en-US" sz="1500" dirty="0"/>
          </a:p>
        </p:txBody>
      </p:sp>
      <p:sp>
        <p:nvSpPr>
          <p:cNvPr id="20" name="Text 18"/>
          <p:cNvSpPr/>
          <p:nvPr/>
        </p:nvSpPr>
        <p:spPr>
          <a:xfrm>
            <a:off x="768251" y="5831532"/>
            <a:ext cx="10868608" cy="337691"/>
          </a:xfrm>
          <a:prstGeom prst="rect">
            <a:avLst/>
          </a:prstGeom>
          <a:noFill/>
          <a:ln/>
        </p:spPr>
        <p:txBody>
          <a:bodyPr wrap="square" lIns="0" tIns="0" rIns="0" bIns="0" rtlCol="0" anchor="t"/>
          <a:lstStyle/>
          <a:p>
            <a:pPr algn="l" indent="0" marL="0">
              <a:lnSpc>
                <a:spcPts val="2660"/>
              </a:lnSpc>
              <a:buNone/>
            </a:pPr>
            <a:r>
              <a:rPr lang="en-US" sz="1900" b="1" dirty="0">
                <a:solidFill>
                  <a:srgbClr val="24321C"/>
                </a:solidFill>
                <a:latin typeface="Noto Serif SC" pitchFamily="34" charset="0"/>
                <a:ea typeface="Noto Serif SC" pitchFamily="34" charset="-122"/>
                <a:cs typeface="Noto Serif SC" pitchFamily="34" charset="-120"/>
              </a:rPr>
              <a:t>这家的衬衫比那家的便宜，所以我买这件。</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584841"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20–30 MIN · WE DO</a:t>
            </a:r>
            <a:endParaRPr lang="en-US" sz="1000" dirty="0"/>
          </a:p>
        </p:txBody>
      </p:sp>
      <p:sp>
        <p:nvSpPr>
          <p:cNvPr id="5" name="Text 3"/>
          <p:cNvSpPr/>
          <p:nvPr/>
        </p:nvSpPr>
        <p:spPr>
          <a:xfrm>
            <a:off x="2347168" y="166688"/>
            <a:ext cx="1099673"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Activity 1 · 示范</a:t>
            </a:r>
            <a:endParaRPr lang="en-US" sz="1100" dirty="0"/>
          </a:p>
        </p:txBody>
      </p:sp>
      <p:sp>
        <p:nvSpPr>
          <p:cNvPr id="6" name="Text 4"/>
          <p:cNvSpPr/>
          <p:nvPr/>
        </p:nvSpPr>
        <p:spPr>
          <a:xfrm>
            <a:off x="11184285" y="176213"/>
            <a:ext cx="509760"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20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304330"/>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示范 · 课本 P.120 —— RUN IT LIKE THIS</a:t>
            </a:r>
            <a:endParaRPr lang="en-US" sz="1200" dirty="0"/>
          </a:p>
        </p:txBody>
      </p:sp>
      <p:sp>
        <p:nvSpPr>
          <p:cNvPr id="9" name="Text 7"/>
          <p:cNvSpPr/>
          <p:nvPr/>
        </p:nvSpPr>
        <p:spPr>
          <a:xfrm>
            <a:off x="558701" y="1628180"/>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10" name="Text 8"/>
          <p:cNvSpPr/>
          <p:nvPr/>
        </p:nvSpPr>
        <p:spPr>
          <a:xfrm>
            <a:off x="1041202" y="1628180"/>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Càihuār zěnme mài?</a:t>
            </a:r>
            <a:endParaRPr lang="en-US" sz="1300" dirty="0"/>
          </a:p>
        </p:txBody>
      </p:sp>
      <p:sp>
        <p:nvSpPr>
          <p:cNvPr id="11" name="Text 9"/>
          <p:cNvSpPr/>
          <p:nvPr/>
        </p:nvSpPr>
        <p:spPr>
          <a:xfrm>
            <a:off x="1041202" y="1882080"/>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菜花儿怎么卖？</a:t>
            </a:r>
            <a:endParaRPr lang="en-US" sz="2400" dirty="0"/>
          </a:p>
        </p:txBody>
      </p:sp>
      <p:sp>
        <p:nvSpPr>
          <p:cNvPr id="12" name="Text 10"/>
          <p:cNvSpPr/>
          <p:nvPr/>
        </p:nvSpPr>
        <p:spPr>
          <a:xfrm>
            <a:off x="558701" y="2379762"/>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13" name="Text 11"/>
          <p:cNvSpPr/>
          <p:nvPr/>
        </p:nvSpPr>
        <p:spPr>
          <a:xfrm>
            <a:off x="1041202" y="2379762"/>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Sān kuài yí ge.</a:t>
            </a:r>
            <a:endParaRPr lang="en-US" sz="1300" dirty="0"/>
          </a:p>
        </p:txBody>
      </p:sp>
      <p:sp>
        <p:nvSpPr>
          <p:cNvPr id="14" name="Text 12"/>
          <p:cNvSpPr/>
          <p:nvPr/>
        </p:nvSpPr>
        <p:spPr>
          <a:xfrm>
            <a:off x="1041202" y="2633663"/>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三块一个。</a:t>
            </a:r>
            <a:endParaRPr lang="en-US" sz="2400" dirty="0"/>
          </a:p>
        </p:txBody>
      </p:sp>
      <p:sp>
        <p:nvSpPr>
          <p:cNvPr id="15" name="Text 13"/>
          <p:cNvSpPr/>
          <p:nvPr/>
        </p:nvSpPr>
        <p:spPr>
          <a:xfrm>
            <a:off x="558701" y="3131344"/>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16" name="Text 14"/>
          <p:cNvSpPr/>
          <p:nvPr/>
        </p:nvSpPr>
        <p:spPr>
          <a:xfrm>
            <a:off x="1041202" y="3131344"/>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Tǔdòu duōshao qián yì jīn?</a:t>
            </a:r>
            <a:endParaRPr lang="en-US" sz="1300" dirty="0"/>
          </a:p>
        </p:txBody>
      </p:sp>
      <p:sp>
        <p:nvSpPr>
          <p:cNvPr id="17" name="Text 15"/>
          <p:cNvSpPr/>
          <p:nvPr/>
        </p:nvSpPr>
        <p:spPr>
          <a:xfrm>
            <a:off x="1041202" y="3385245"/>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土豆多少钱一斤？</a:t>
            </a:r>
            <a:endParaRPr lang="en-US" sz="2400" dirty="0"/>
          </a:p>
        </p:txBody>
      </p:sp>
      <p:sp>
        <p:nvSpPr>
          <p:cNvPr id="18" name="Text 16"/>
          <p:cNvSpPr/>
          <p:nvPr/>
        </p:nvSpPr>
        <p:spPr>
          <a:xfrm>
            <a:off x="558701" y="3882926"/>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19" name="Text 17"/>
          <p:cNvSpPr/>
          <p:nvPr/>
        </p:nvSpPr>
        <p:spPr>
          <a:xfrm>
            <a:off x="1041202" y="3882926"/>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Yí kuài wǔ.</a:t>
            </a:r>
            <a:endParaRPr lang="en-US" sz="1300" dirty="0"/>
          </a:p>
        </p:txBody>
      </p:sp>
      <p:sp>
        <p:nvSpPr>
          <p:cNvPr id="20" name="Text 18"/>
          <p:cNvSpPr/>
          <p:nvPr/>
        </p:nvSpPr>
        <p:spPr>
          <a:xfrm>
            <a:off x="1041202" y="4136827"/>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一块五。</a:t>
            </a:r>
            <a:endParaRPr lang="en-US" sz="2400" dirty="0"/>
          </a:p>
        </p:txBody>
      </p:sp>
      <p:sp>
        <p:nvSpPr>
          <p:cNvPr id="21" name="Text 19"/>
          <p:cNvSpPr/>
          <p:nvPr/>
        </p:nvSpPr>
        <p:spPr>
          <a:xfrm>
            <a:off x="558701" y="4634508"/>
            <a:ext cx="336703" cy="352425"/>
          </a:xfrm>
          <a:prstGeom prst="rect">
            <a:avLst/>
          </a:prstGeom>
          <a:noFill/>
          <a:ln/>
        </p:spPr>
        <p:txBody>
          <a:bodyPr wrap="square" lIns="0" tIns="0" rIns="0" bIns="0" rtlCol="0" anchor="t"/>
          <a:lstStyle/>
          <a:p>
            <a:pPr algn="l" indent="0" marL="0">
              <a:buNone/>
            </a:pPr>
            <a:r>
              <a:rPr lang="en-US" sz="2000" b="1" dirty="0">
                <a:solidFill>
                  <a:srgbClr val="B96A12"/>
                </a:solidFill>
                <a:latin typeface="Noto Serif SC" pitchFamily="34" charset="0"/>
                <a:ea typeface="Noto Serif SC" pitchFamily="34" charset="-122"/>
                <a:cs typeface="Noto Serif SC" pitchFamily="34" charset="-120"/>
              </a:rPr>
              <a:t>A</a:t>
            </a:r>
            <a:endParaRPr lang="en-US" sz="2000" dirty="0"/>
          </a:p>
        </p:txBody>
      </p:sp>
      <p:sp>
        <p:nvSpPr>
          <p:cNvPr id="22" name="Text 20"/>
          <p:cNvSpPr/>
          <p:nvPr/>
        </p:nvSpPr>
        <p:spPr>
          <a:xfrm>
            <a:off x="1041202" y="4634508"/>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Mǎi yí ge càihuār hé yì jīn tǔdòu.</a:t>
            </a:r>
            <a:endParaRPr lang="en-US" sz="1300" dirty="0"/>
          </a:p>
        </p:txBody>
      </p:sp>
      <p:sp>
        <p:nvSpPr>
          <p:cNvPr id="23" name="Text 21"/>
          <p:cNvSpPr/>
          <p:nvPr/>
        </p:nvSpPr>
        <p:spPr>
          <a:xfrm>
            <a:off x="1041202" y="4888409"/>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买一个菜花儿和一斤土豆。</a:t>
            </a:r>
            <a:endParaRPr lang="en-US" sz="2400" dirty="0"/>
          </a:p>
        </p:txBody>
      </p:sp>
      <p:sp>
        <p:nvSpPr>
          <p:cNvPr id="24" name="Text 22"/>
          <p:cNvSpPr/>
          <p:nvPr/>
        </p:nvSpPr>
        <p:spPr>
          <a:xfrm>
            <a:off x="558701" y="5386090"/>
            <a:ext cx="336703" cy="352425"/>
          </a:xfrm>
          <a:prstGeom prst="rect">
            <a:avLst/>
          </a:prstGeom>
          <a:noFill/>
          <a:ln/>
        </p:spPr>
        <p:txBody>
          <a:bodyPr wrap="square" lIns="0" tIns="0" rIns="0" bIns="0" rtlCol="0" anchor="t"/>
          <a:lstStyle/>
          <a:p>
            <a:pPr algn="l" indent="0" marL="0">
              <a:buNone/>
            </a:pPr>
            <a:r>
              <a:rPr lang="en-US" sz="2000" b="1" dirty="0">
                <a:solidFill>
                  <a:srgbClr val="4C7A2C"/>
                </a:solidFill>
                <a:latin typeface="Noto Serif SC" pitchFamily="34" charset="0"/>
                <a:ea typeface="Noto Serif SC" pitchFamily="34" charset="-122"/>
                <a:cs typeface="Noto Serif SC" pitchFamily="34" charset="-120"/>
              </a:rPr>
              <a:t>B</a:t>
            </a:r>
            <a:endParaRPr lang="en-US" sz="2000" dirty="0"/>
          </a:p>
        </p:txBody>
      </p:sp>
      <p:sp>
        <p:nvSpPr>
          <p:cNvPr id="25" name="Text 23"/>
          <p:cNvSpPr/>
          <p:nvPr/>
        </p:nvSpPr>
        <p:spPr>
          <a:xfrm>
            <a:off x="1041202" y="5386090"/>
            <a:ext cx="10803940" cy="228600"/>
          </a:xfrm>
          <a:prstGeom prst="rect">
            <a:avLst/>
          </a:prstGeom>
          <a:noFill/>
          <a:ln/>
        </p:spPr>
        <p:txBody>
          <a:bodyPr wrap="square" lIns="0" tIns="0" rIns="0" bIns="0" rtlCol="0" anchor="t"/>
          <a:lstStyle/>
          <a:p>
            <a:pPr algn="l" indent="0" marL="0">
              <a:spcAft>
                <a:spcPts val="200"/>
              </a:spcAft>
              <a:buNone/>
            </a:pPr>
            <a:r>
              <a:rPr lang="en-US" sz="1300" dirty="0">
                <a:solidFill>
                  <a:srgbClr val="4C7A2C"/>
                </a:solidFill>
                <a:latin typeface="Noto Sans" pitchFamily="34" charset="0"/>
                <a:ea typeface="Noto Sans" pitchFamily="34" charset="-122"/>
                <a:cs typeface="Noto Sans" pitchFamily="34" charset="-120"/>
              </a:rPr>
              <a:t>Yígòng sì kuài wǔ.</a:t>
            </a:r>
            <a:endParaRPr lang="en-US" sz="1300" dirty="0"/>
          </a:p>
        </p:txBody>
      </p:sp>
      <p:sp>
        <p:nvSpPr>
          <p:cNvPr id="26" name="Text 24"/>
          <p:cNvSpPr/>
          <p:nvPr/>
        </p:nvSpPr>
        <p:spPr>
          <a:xfrm>
            <a:off x="1041202" y="5639991"/>
            <a:ext cx="10803940" cy="396180"/>
          </a:xfrm>
          <a:prstGeom prst="rect">
            <a:avLst/>
          </a:prstGeom>
          <a:noFill/>
          <a:ln/>
        </p:spPr>
        <p:txBody>
          <a:bodyPr wrap="square" lIns="0" tIns="0" rIns="0" bIns="0" rtlCol="0" anchor="t"/>
          <a:lstStyle/>
          <a:p>
            <a:pPr algn="l" indent="0" marL="0">
              <a:lnSpc>
                <a:spcPts val="3120"/>
              </a:lnSpc>
              <a:buNone/>
            </a:pPr>
            <a:r>
              <a:rPr lang="en-US" sz="2400" b="1" dirty="0">
                <a:solidFill>
                  <a:srgbClr val="24321C"/>
                </a:solidFill>
                <a:latin typeface="Noto Serif SC" pitchFamily="34" charset="0"/>
                <a:ea typeface="Noto Serif SC" pitchFamily="34" charset="-122"/>
                <a:cs typeface="Noto Serif SC" pitchFamily="34" charset="-120"/>
              </a:rPr>
              <a:t>一共四块五。</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680782"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30–38 MIN · YOU DO</a:t>
            </a:r>
            <a:endParaRPr lang="en-US" sz="1000" dirty="0"/>
          </a:p>
        </p:txBody>
      </p:sp>
      <p:sp>
        <p:nvSpPr>
          <p:cNvPr id="5" name="Text 3"/>
          <p:cNvSpPr/>
          <p:nvPr/>
        </p:nvSpPr>
        <p:spPr>
          <a:xfrm>
            <a:off x="2441228" y="166688"/>
            <a:ext cx="1930652"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Activity 2 · 课本 p.119 Ex.15</a:t>
            </a:r>
            <a:endParaRPr lang="en-US" sz="1100" dirty="0"/>
          </a:p>
        </p:txBody>
      </p:sp>
      <p:sp>
        <p:nvSpPr>
          <p:cNvPr id="6" name="Text 4"/>
          <p:cNvSpPr/>
          <p:nvPr/>
        </p:nvSpPr>
        <p:spPr>
          <a:xfrm>
            <a:off x="11208544" y="176213"/>
            <a:ext cx="485016"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21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611213"/>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ACTIVITY 2 · 说说你的一次外出就餐 · 课本 P.119 EX.15</a:t>
            </a:r>
            <a:endParaRPr lang="en-US" sz="1200" dirty="0"/>
          </a:p>
        </p:txBody>
      </p:sp>
      <p:sp>
        <p:nvSpPr>
          <p:cNvPr id="9" name="Text 7"/>
          <p:cNvSpPr/>
          <p:nvPr/>
        </p:nvSpPr>
        <p:spPr>
          <a:xfrm>
            <a:off x="558701" y="1935063"/>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课本的示范 · THE MODEL — ON SCREEN FOR THREE MINUTES, THEN IT COMES DOWN</a:t>
            </a:r>
            <a:endParaRPr lang="en-US" sz="1200" dirty="0"/>
          </a:p>
        </p:txBody>
      </p:sp>
      <p:sp>
        <p:nvSpPr>
          <p:cNvPr id="10" name="Text 8"/>
          <p:cNvSpPr/>
          <p:nvPr/>
        </p:nvSpPr>
        <p:spPr>
          <a:xfrm>
            <a:off x="558701" y="2325588"/>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1</a:t>
            </a:r>
            <a:endParaRPr lang="en-US" sz="1700" dirty="0"/>
          </a:p>
        </p:txBody>
      </p:sp>
      <p:sp>
        <p:nvSpPr>
          <p:cNvPr id="11" name="Text 9"/>
          <p:cNvSpPr/>
          <p:nvPr/>
        </p:nvSpPr>
        <p:spPr>
          <a:xfrm>
            <a:off x="965002" y="2258913"/>
            <a:ext cx="5064053"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上个星期六我们全家人去饭店吃饭了。</a:t>
            </a:r>
            <a:endParaRPr lang="en-US" sz="2300" dirty="0"/>
          </a:p>
        </p:txBody>
      </p:sp>
      <p:sp>
        <p:nvSpPr>
          <p:cNvPr id="12" name="Text 10"/>
          <p:cNvSpPr/>
          <p:nvPr/>
        </p:nvSpPr>
        <p:spPr>
          <a:xfrm>
            <a:off x="965002" y="2653308"/>
            <a:ext cx="5064053"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when · who</a:t>
            </a:r>
            <a:endParaRPr lang="en-US" sz="1300" dirty="0"/>
          </a:p>
        </p:txBody>
      </p:sp>
      <p:sp>
        <p:nvSpPr>
          <p:cNvPr id="13" name="Text 11"/>
          <p:cNvSpPr/>
          <p:nvPr/>
        </p:nvSpPr>
        <p:spPr>
          <a:xfrm>
            <a:off x="558701" y="3037433"/>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2</a:t>
            </a:r>
            <a:endParaRPr lang="en-US" sz="1700" dirty="0"/>
          </a:p>
        </p:txBody>
      </p:sp>
      <p:sp>
        <p:nvSpPr>
          <p:cNvPr id="14" name="Text 12"/>
          <p:cNvSpPr/>
          <p:nvPr/>
        </p:nvSpPr>
        <p:spPr>
          <a:xfrm>
            <a:off x="965002" y="2970758"/>
            <a:ext cx="3276704"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我们去了一家上海饭店。</a:t>
            </a:r>
            <a:endParaRPr lang="en-US" sz="2300" dirty="0"/>
          </a:p>
        </p:txBody>
      </p:sp>
      <p:sp>
        <p:nvSpPr>
          <p:cNvPr id="15" name="Text 13"/>
          <p:cNvSpPr/>
          <p:nvPr/>
        </p:nvSpPr>
        <p:spPr>
          <a:xfrm>
            <a:off x="965002" y="3365153"/>
            <a:ext cx="3276704"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where</a:t>
            </a:r>
            <a:endParaRPr lang="en-US" sz="1300" dirty="0"/>
          </a:p>
        </p:txBody>
      </p:sp>
      <p:sp>
        <p:nvSpPr>
          <p:cNvPr id="16" name="Text 14"/>
          <p:cNvSpPr/>
          <p:nvPr/>
        </p:nvSpPr>
        <p:spPr>
          <a:xfrm>
            <a:off x="558701" y="3749278"/>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3</a:t>
            </a:r>
            <a:endParaRPr lang="en-US" sz="1700" dirty="0"/>
          </a:p>
        </p:txBody>
      </p:sp>
      <p:sp>
        <p:nvSpPr>
          <p:cNvPr id="17" name="Text 15"/>
          <p:cNvSpPr/>
          <p:nvPr/>
        </p:nvSpPr>
        <p:spPr>
          <a:xfrm>
            <a:off x="965002" y="3682603"/>
            <a:ext cx="5064053"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我们吃了炒菜、炒面、粥、饺子等等。</a:t>
            </a:r>
            <a:endParaRPr lang="en-US" sz="2300" dirty="0"/>
          </a:p>
        </p:txBody>
      </p:sp>
      <p:sp>
        <p:nvSpPr>
          <p:cNvPr id="18" name="Text 16"/>
          <p:cNvSpPr/>
          <p:nvPr/>
        </p:nvSpPr>
        <p:spPr>
          <a:xfrm>
            <a:off x="965002" y="4076998"/>
            <a:ext cx="5064053"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what you ate</a:t>
            </a:r>
            <a:endParaRPr lang="en-US" sz="1300" dirty="0"/>
          </a:p>
        </p:txBody>
      </p:sp>
      <p:sp>
        <p:nvSpPr>
          <p:cNvPr id="19" name="Text 17"/>
          <p:cNvSpPr/>
          <p:nvPr/>
        </p:nvSpPr>
        <p:spPr>
          <a:xfrm>
            <a:off x="558701" y="4461123"/>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4</a:t>
            </a:r>
            <a:endParaRPr lang="en-US" sz="1700" dirty="0"/>
          </a:p>
        </p:txBody>
      </p:sp>
      <p:sp>
        <p:nvSpPr>
          <p:cNvPr id="20" name="Text 18"/>
          <p:cNvSpPr/>
          <p:nvPr/>
        </p:nvSpPr>
        <p:spPr>
          <a:xfrm>
            <a:off x="965002" y="4394448"/>
            <a:ext cx="3276704" cy="394395"/>
          </a:xfrm>
          <a:prstGeom prst="rect">
            <a:avLst/>
          </a:prstGeom>
          <a:noFill/>
          <a:ln/>
        </p:spPr>
        <p:txBody>
          <a:bodyPr wrap="square" lIns="0" tIns="0" rIns="0" bIns="0" rtlCol="0" anchor="t"/>
          <a:lstStyle/>
          <a:p>
            <a:pPr algn="l" indent="0" marL="0">
              <a:lnSpc>
                <a:spcPts val="3105"/>
              </a:lnSpc>
              <a:buNone/>
            </a:pPr>
            <a:r>
              <a:rPr lang="en-US" sz="2300" b="1" dirty="0">
                <a:solidFill>
                  <a:srgbClr val="24321C"/>
                </a:solidFill>
                <a:latin typeface="Noto Serif SC" pitchFamily="34" charset="0"/>
                <a:ea typeface="Noto Serif SC" pitchFamily="34" charset="-122"/>
                <a:cs typeface="Noto Serif SC" pitchFamily="34" charset="-120"/>
              </a:rPr>
              <a:t>我们还喝了可乐和汽水。</a:t>
            </a:r>
            <a:endParaRPr lang="en-US" sz="2300" dirty="0"/>
          </a:p>
        </p:txBody>
      </p:sp>
      <p:sp>
        <p:nvSpPr>
          <p:cNvPr id="21" name="Text 19"/>
          <p:cNvSpPr/>
          <p:nvPr/>
        </p:nvSpPr>
        <p:spPr>
          <a:xfrm>
            <a:off x="965002" y="4788843"/>
            <a:ext cx="3276704"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what you drank</a:t>
            </a:r>
            <a:endParaRPr lang="en-US" sz="1300" dirty="0"/>
          </a:p>
        </p:txBody>
      </p:sp>
      <p:sp>
        <p:nvSpPr>
          <p:cNvPr id="22" name="Text 20"/>
          <p:cNvSpPr/>
          <p:nvPr/>
        </p:nvSpPr>
        <p:spPr>
          <a:xfrm>
            <a:off x="558701" y="5172968"/>
            <a:ext cx="258979" cy="304800"/>
          </a:xfrm>
          <a:prstGeom prst="rect">
            <a:avLst/>
          </a:prstGeom>
          <a:noFill/>
          <a:ln/>
        </p:spPr>
        <p:txBody>
          <a:bodyPr wrap="square" lIns="0" tIns="0" rIns="0" bIns="0" rtlCol="0" anchor="t"/>
          <a:lstStyle/>
          <a:p>
            <a:pPr algn="l" indent="0" marL="0">
              <a:buNone/>
            </a:pPr>
            <a:r>
              <a:rPr lang="en-US" sz="1700" b="1" dirty="0">
                <a:solidFill>
                  <a:srgbClr val="B96A12"/>
                </a:solidFill>
                <a:latin typeface="Noto Serif SC" pitchFamily="34" charset="0"/>
                <a:ea typeface="Noto Serif SC" pitchFamily="34" charset="-122"/>
                <a:cs typeface="Noto Serif SC" pitchFamily="34" charset="-120"/>
              </a:rPr>
              <a:t>5</a:t>
            </a:r>
            <a:endParaRPr lang="en-US" sz="1700" dirty="0"/>
          </a:p>
        </p:txBody>
      </p:sp>
      <p:sp>
        <p:nvSpPr>
          <p:cNvPr id="23" name="Text 21"/>
          <p:cNvSpPr/>
          <p:nvPr/>
        </p:nvSpPr>
        <p:spPr>
          <a:xfrm>
            <a:off x="965002" y="5106293"/>
            <a:ext cx="4468219" cy="394395"/>
          </a:xfrm>
          <a:prstGeom prst="rect">
            <a:avLst/>
          </a:prstGeom>
          <a:noFill/>
          <a:ln/>
        </p:spPr>
        <p:txBody>
          <a:bodyPr wrap="square" lIns="0" tIns="0" rIns="0" bIns="0" rtlCol="0" anchor="t"/>
          <a:lstStyle/>
          <a:p>
            <a:pPr algn="l" indent="0" marL="0">
              <a:lnSpc>
                <a:spcPts val="3105"/>
              </a:lnSpc>
              <a:buNone/>
            </a:pPr>
            <a:r>
              <a:rPr lang="en-US" sz="2300" b="1" dirty="0">
                <a:solidFill>
                  <a:srgbClr val="4C7A2C"/>
                </a:solidFill>
                <a:latin typeface="Noto Serif SC" pitchFamily="34" charset="0"/>
                <a:ea typeface="Noto Serif SC" pitchFamily="34" charset="-122"/>
                <a:cs typeface="Noto Serif SC" pitchFamily="34" charset="-120"/>
              </a:rPr>
              <a:t>我们一共花了两百多块，不算贵。</a:t>
            </a:r>
            <a:endParaRPr lang="en-US" sz="2300" dirty="0"/>
          </a:p>
        </p:txBody>
      </p:sp>
      <p:sp>
        <p:nvSpPr>
          <p:cNvPr id="24" name="Text 22"/>
          <p:cNvSpPr/>
          <p:nvPr/>
        </p:nvSpPr>
        <p:spPr>
          <a:xfrm>
            <a:off x="965002" y="5500688"/>
            <a:ext cx="4468219" cy="228600"/>
          </a:xfrm>
          <a:prstGeom prst="rect">
            <a:avLst/>
          </a:prstGeom>
          <a:noFill/>
          <a:ln/>
        </p:spPr>
        <p:txBody>
          <a:bodyPr wrap="square" lIns="0" tIns="0" rIns="0" bIns="0" rtlCol="0" anchor="t"/>
          <a:lstStyle/>
          <a:p>
            <a:pPr algn="l" indent="0" marL="0">
              <a:buNone/>
            </a:pPr>
            <a:r>
              <a:rPr lang="en-US" sz="1300" dirty="0">
                <a:solidFill>
                  <a:srgbClr val="78805F"/>
                </a:solidFill>
                <a:latin typeface="Noto Sans" pitchFamily="34" charset="0"/>
                <a:ea typeface="Noto Sans" pitchFamily="34" charset="-122"/>
                <a:cs typeface="Noto Sans" pitchFamily="34" charset="-120"/>
              </a:rPr>
              <a:t>what it cost — and the verdict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80975"/>
            <a:ext cx="1519261" cy="171450"/>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30–38 MIN · YOU DO</a:t>
            </a:r>
            <a:endParaRPr lang="en-US" sz="1000" dirty="0"/>
          </a:p>
        </p:txBody>
      </p:sp>
      <p:sp>
        <p:nvSpPr>
          <p:cNvPr id="5" name="Text 3"/>
          <p:cNvSpPr/>
          <p:nvPr/>
        </p:nvSpPr>
        <p:spPr>
          <a:xfrm>
            <a:off x="2282875" y="166688"/>
            <a:ext cx="1819379"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Activity 2 · 课本 p.119 Ex.15</a:t>
            </a:r>
            <a:endParaRPr lang="en-US" sz="1100" dirty="0"/>
          </a:p>
        </p:txBody>
      </p:sp>
      <p:sp>
        <p:nvSpPr>
          <p:cNvPr id="6" name="Text 4"/>
          <p:cNvSpPr/>
          <p:nvPr/>
        </p:nvSpPr>
        <p:spPr>
          <a:xfrm>
            <a:off x="11244709" y="180975"/>
            <a:ext cx="448127" cy="171450"/>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22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637705"/>
            <a:ext cx="11296090" cy="22860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ACTIVITY 2 · 写五句 · A REAL MEAL OUT</a:t>
            </a:r>
            <a:endParaRPr lang="en-US" sz="1200" dirty="0"/>
          </a:p>
        </p:txBody>
      </p:sp>
      <p:sp>
        <p:nvSpPr>
          <p:cNvPr id="9" name="Text 7"/>
          <p:cNvSpPr/>
          <p:nvPr/>
        </p:nvSpPr>
        <p:spPr>
          <a:xfrm>
            <a:off x="558701" y="1980605"/>
            <a:ext cx="1384846" cy="292001"/>
          </a:xfrm>
          <a:prstGeom prst="roundRect">
            <a:avLst>
              <a:gd name="adj" fmla="val 2172475"/>
            </a:avLst>
          </a:prstGeom>
          <a:solidFill>
            <a:srgbClr val="B96A12">
              <a:alpha val="14000"/>
            </a:srgbClr>
          </a:solidFill>
          <a:ln/>
        </p:spPr>
        <p:txBody>
          <a:bodyPr wrap="square" rtlCol="0" anchor="ctr"/>
          <a:lstStyle/>
          <a:p>
            <a:pPr indent="0" marL="0">
              <a:buNone/>
            </a:pPr>
            <a:endParaRPr lang="en-US" dirty="0"/>
          </a:p>
        </p:txBody>
      </p:sp>
      <p:sp>
        <p:nvSpPr>
          <p:cNvPr id="10" name="Text 8"/>
          <p:cNvSpPr/>
          <p:nvPr/>
        </p:nvSpPr>
        <p:spPr>
          <a:xfrm>
            <a:off x="673001" y="2031355"/>
            <a:ext cx="1179371" cy="190500"/>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BOOKS · 8 MIN</a:t>
            </a:r>
            <a:endParaRPr lang="en-US" sz="1100" dirty="0"/>
          </a:p>
        </p:txBody>
      </p:sp>
      <p:sp>
        <p:nvSpPr>
          <p:cNvPr id="11" name="Text 9"/>
          <p:cNvSpPr/>
          <p:nvPr/>
        </p:nvSpPr>
        <p:spPr>
          <a:xfrm>
            <a:off x="558701" y="2374106"/>
            <a:ext cx="11074598" cy="1792188"/>
          </a:xfrm>
          <a:prstGeom prst="roundRect">
            <a:avLst>
              <a:gd name="adj" fmla="val 7086"/>
            </a:avLst>
          </a:prstGeom>
          <a:solidFill>
            <a:srgbClr val="F2EFDE"/>
          </a:solidFill>
          <a:ln w="19050">
            <a:solidFill>
              <a:srgbClr val="CFC7A6"/>
            </a:solidFill>
          </a:ln>
        </p:spPr>
        <p:txBody>
          <a:bodyPr wrap="square" rtlCol="0" anchor="ctr"/>
          <a:lstStyle/>
          <a:p>
            <a:pPr indent="0" marL="0">
              <a:buNone/>
            </a:pPr>
            <a:endParaRPr lang="en-US" dirty="0"/>
          </a:p>
        </p:txBody>
      </p:sp>
      <p:sp>
        <p:nvSpPr>
          <p:cNvPr id="12" name="Text 10"/>
          <p:cNvSpPr/>
          <p:nvPr/>
        </p:nvSpPr>
        <p:spPr>
          <a:xfrm>
            <a:off x="793552" y="2558207"/>
            <a:ext cx="10816995" cy="629543"/>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Five sentences about a meal you really had —— when, where, what you ate, what you drank, what it cost and whether it was worth it.</a:t>
            </a:r>
            <a:endParaRPr lang="en-US" sz="1600" dirty="0"/>
          </a:p>
        </p:txBody>
      </p:sp>
      <p:sp>
        <p:nvSpPr>
          <p:cNvPr id="13" name="Text 11"/>
          <p:cNvSpPr/>
          <p:nvPr/>
        </p:nvSpPr>
        <p:spPr>
          <a:xfrm>
            <a:off x="793552" y="3270200"/>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Every sentence must carry something from this lesson: a </a:t>
            </a:r>
            <a:r>
              <a:rPr lang="en-US" sz="1600" b="1" dirty="0">
                <a:solidFill>
                  <a:srgbClr val="B93F2C"/>
                </a:solidFill>
                <a:latin typeface="Noto Sans" pitchFamily="34" charset="0"/>
                <a:ea typeface="Noto Sans" pitchFamily="34" charset="-122"/>
                <a:cs typeface="Noto Sans" pitchFamily="34" charset="-120"/>
              </a:rPr>
              <a:t>了</a:t>
            </a:r>
            <a:r>
              <a:rPr lang="en-US" sz="1600" dirty="0">
                <a:solidFill>
                  <a:srgbClr val="24321C"/>
                </a:solidFill>
                <a:latin typeface="Noto Sans" pitchFamily="34" charset="0"/>
                <a:ea typeface="Noto Sans" pitchFamily="34" charset="-122"/>
                <a:cs typeface="Noto Sans" pitchFamily="34" charset="-120"/>
              </a:rPr>
              <a:t>, an </a:t>
            </a:r>
            <a:r>
              <a:rPr lang="en-US" sz="1600" b="1" dirty="0">
                <a:solidFill>
                  <a:srgbClr val="B93F2C"/>
                </a:solidFill>
                <a:latin typeface="Noto Sans" pitchFamily="34" charset="0"/>
                <a:ea typeface="Noto Sans" pitchFamily="34" charset="-122"/>
                <a:cs typeface="Noto Sans" pitchFamily="34" charset="-120"/>
              </a:rPr>
              <a:t>等等</a:t>
            </a:r>
            <a:r>
              <a:rPr lang="en-US" sz="1600" dirty="0">
                <a:solidFill>
                  <a:srgbClr val="24321C"/>
                </a:solidFill>
                <a:latin typeface="Noto Sans" pitchFamily="34" charset="0"/>
                <a:ea typeface="Noto Sans" pitchFamily="34" charset="-122"/>
                <a:cs typeface="Noto Sans" pitchFamily="34" charset="-120"/>
              </a:rPr>
              <a:t>, a price, </a:t>
            </a:r>
            <a:r>
              <a:rPr lang="en-US" sz="1600" b="1" dirty="0">
                <a:solidFill>
                  <a:srgbClr val="B93F2C"/>
                </a:solidFill>
                <a:latin typeface="Noto Sans" pitchFamily="34" charset="0"/>
                <a:ea typeface="Noto Sans" pitchFamily="34" charset="-122"/>
                <a:cs typeface="Noto Sans" pitchFamily="34" charset="-120"/>
              </a:rPr>
              <a:t>一共</a:t>
            </a:r>
            <a:r>
              <a:rPr lang="en-US" sz="1600" dirty="0">
                <a:solidFill>
                  <a:srgbClr val="24321C"/>
                </a:solidFill>
                <a:latin typeface="Noto Sans" pitchFamily="34" charset="0"/>
                <a:ea typeface="Noto Sans" pitchFamily="34" charset="-122"/>
                <a:cs typeface="Noto Sans" pitchFamily="34" charset="-120"/>
              </a:rPr>
              <a:t>, </a:t>
            </a:r>
            <a:r>
              <a:rPr lang="en-US" sz="1600" b="1" dirty="0">
                <a:solidFill>
                  <a:srgbClr val="B93F2C"/>
                </a:solidFill>
                <a:latin typeface="Noto Sans" pitchFamily="34" charset="0"/>
                <a:ea typeface="Noto Sans" pitchFamily="34" charset="-122"/>
                <a:cs typeface="Noto Sans" pitchFamily="34" charset="-120"/>
              </a:rPr>
              <a:t>不算太贵</a:t>
            </a:r>
            <a:r>
              <a:rPr lang="en-US" sz="1600" dirty="0">
                <a:solidFill>
                  <a:srgbClr val="24321C"/>
                </a:solidFill>
                <a:latin typeface="Noto Sans" pitchFamily="34" charset="0"/>
                <a:ea typeface="Noto Sans" pitchFamily="34" charset="-122"/>
                <a:cs typeface="Noto Sans" pitchFamily="34" charset="-120"/>
              </a:rPr>
              <a:t>.</a:t>
            </a:r>
            <a:endParaRPr lang="en-US" sz="1600" dirty="0"/>
          </a:p>
        </p:txBody>
      </p:sp>
      <p:sp>
        <p:nvSpPr>
          <p:cNvPr id="14" name="Text 12"/>
          <p:cNvSpPr/>
          <p:nvPr/>
        </p:nvSpPr>
        <p:spPr>
          <a:xfrm>
            <a:off x="793552" y="3667423"/>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Three students read theirs out at the end.</a:t>
            </a:r>
            <a:endParaRPr lang="en-US" sz="1600" dirty="0"/>
          </a:p>
        </p:txBody>
      </p:sp>
      <p:sp>
        <p:nvSpPr>
          <p:cNvPr id="15" name="Text 13"/>
          <p:cNvSpPr/>
          <p:nvPr/>
        </p:nvSpPr>
        <p:spPr>
          <a:xfrm>
            <a:off x="558701" y="4293245"/>
            <a:ext cx="11074598" cy="1409402"/>
          </a:xfrm>
          <a:prstGeom prst="roundRect">
            <a:avLst>
              <a:gd name="adj" fmla="val 5407"/>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6" name="Text 14"/>
          <p:cNvSpPr/>
          <p:nvPr/>
        </p:nvSpPr>
        <p:spPr>
          <a:xfrm>
            <a:off x="768251" y="4451896"/>
            <a:ext cx="10868608" cy="200025"/>
          </a:xfrm>
          <a:prstGeom prst="rect">
            <a:avLst/>
          </a:prstGeom>
          <a:noFill/>
          <a:ln/>
        </p:spPr>
        <p:txBody>
          <a:bodyPr wrap="square" lIns="0" tIns="0" rIns="0" bIns="0" rtlCol="0" anchor="t"/>
          <a:lstStyle/>
          <a:p>
            <a:pPr algn="l" indent="0" marL="0">
              <a:spcAft>
                <a:spcPts val="500"/>
              </a:spcAft>
              <a:buNone/>
            </a:pPr>
            <a:r>
              <a:rPr lang="en-US" sz="1100" b="1" dirty="0">
                <a:solidFill>
                  <a:srgbClr val="4C7A2C"/>
                </a:solidFill>
                <a:latin typeface="Noto Sans" pitchFamily="34" charset="0"/>
                <a:ea typeface="Noto Sans" pitchFamily="34" charset="-122"/>
                <a:cs typeface="Noto Sans" pitchFamily="34" charset="-120"/>
              </a:rPr>
              <a:t>EXTENSION · 加油题</a:t>
            </a:r>
            <a:endParaRPr lang="en-US" sz="1100" dirty="0"/>
          </a:p>
        </p:txBody>
      </p:sp>
      <p:sp>
        <p:nvSpPr>
          <p:cNvPr id="17" name="Text 15"/>
          <p:cNvSpPr/>
          <p:nvPr/>
        </p:nvSpPr>
        <p:spPr>
          <a:xfrm>
            <a:off x="768251" y="4715321"/>
            <a:ext cx="10868608" cy="82867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Write it as the 练习册 p.137 Ex.22 essay instead —— your </a:t>
            </a:r>
            <a:r>
              <a:rPr lang="en-US" sz="1500" b="1" dirty="0">
                <a:solidFill>
                  <a:srgbClr val="4C7A2C"/>
                </a:solidFill>
                <a:latin typeface="Noto Sans" pitchFamily="34" charset="0"/>
                <a:ea typeface="Noto Sans" pitchFamily="34" charset="-122"/>
                <a:cs typeface="Noto Sans" pitchFamily="34" charset="-120"/>
              </a:rPr>
              <a:t>favourite restaurant</a:t>
            </a:r>
            <a:r>
              <a:rPr lang="en-US" sz="1500" dirty="0">
                <a:solidFill>
                  <a:srgbClr val="24321C"/>
                </a:solidFill>
                <a:latin typeface="Noto Sans" pitchFamily="34" charset="0"/>
                <a:ea typeface="Noto Sans" pitchFamily="34" charset="-122"/>
                <a:cs typeface="Noto Sans" pitchFamily="34" charset="-120"/>
              </a:rPr>
              <a:t>: how often you go （次）, what food you like, what you normally eat （一般）, what one meal costs （大概……左右）, and one sentence on why, using 得. Six to eight sentences, nothing on screen.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48936"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38–43 MIN · 游戏</a:t>
            </a:r>
            <a:endParaRPr lang="en-US" sz="1000" dirty="0"/>
          </a:p>
        </p:txBody>
      </p:sp>
      <p:sp>
        <p:nvSpPr>
          <p:cNvPr id="5" name="Text 3"/>
          <p:cNvSpPr/>
          <p:nvPr/>
        </p:nvSpPr>
        <p:spPr>
          <a:xfrm>
            <a:off x="2115889" y="166688"/>
            <a:ext cx="1667119"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Game · 课本 p.121 Ex.17</a:t>
            </a:r>
            <a:endParaRPr lang="en-US" sz="1100" dirty="0"/>
          </a:p>
        </p:txBody>
      </p:sp>
      <p:sp>
        <p:nvSpPr>
          <p:cNvPr id="6" name="Text 4"/>
          <p:cNvSpPr/>
          <p:nvPr/>
        </p:nvSpPr>
        <p:spPr>
          <a:xfrm>
            <a:off x="11183838" y="176213"/>
            <a:ext cx="510216"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23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467445"/>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GAME · 听写比赛 · 课本 P.121 EX.17</a:t>
            </a:r>
            <a:endParaRPr lang="en-US" sz="1200" dirty="0"/>
          </a:p>
        </p:txBody>
      </p:sp>
      <p:sp>
        <p:nvSpPr>
          <p:cNvPr id="9" name="Text 7"/>
          <p:cNvSpPr/>
          <p:nvPr/>
        </p:nvSpPr>
        <p:spPr>
          <a:xfrm>
            <a:off x="558701" y="1791295"/>
            <a:ext cx="1592759" cy="301526"/>
          </a:xfrm>
          <a:prstGeom prst="roundRect">
            <a:avLst>
              <a:gd name="adj" fmla="val 2103848"/>
            </a:avLst>
          </a:prstGeom>
          <a:solidFill>
            <a:srgbClr val="B96A12">
              <a:alpha val="14000"/>
            </a:srgbClr>
          </a:solidFill>
          <a:ln/>
        </p:spPr>
        <p:txBody>
          <a:bodyPr wrap="square" rtlCol="0" anchor="ctr"/>
          <a:lstStyle/>
          <a:p>
            <a:pPr indent="0" marL="0">
              <a:buNone/>
            </a:pPr>
            <a:endParaRPr lang="en-US" dirty="0"/>
          </a:p>
        </p:txBody>
      </p:sp>
      <p:sp>
        <p:nvSpPr>
          <p:cNvPr id="10" name="Text 8"/>
          <p:cNvSpPr/>
          <p:nvPr/>
        </p:nvSpPr>
        <p:spPr>
          <a:xfrm>
            <a:off x="673001" y="1842046"/>
            <a:ext cx="1391442" cy="200025"/>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GROUPS · 5 MIN</a:t>
            </a:r>
            <a:endParaRPr lang="en-US" sz="1100" dirty="0"/>
          </a:p>
        </p:txBody>
      </p:sp>
      <p:sp>
        <p:nvSpPr>
          <p:cNvPr id="11" name="Text 9"/>
          <p:cNvSpPr/>
          <p:nvPr/>
        </p:nvSpPr>
        <p:spPr>
          <a:xfrm>
            <a:off x="558701" y="2194322"/>
            <a:ext cx="11074598" cy="2356991"/>
          </a:xfrm>
          <a:prstGeom prst="roundRect">
            <a:avLst>
              <a:gd name="adj" fmla="val 5388"/>
            </a:avLst>
          </a:prstGeom>
          <a:solidFill>
            <a:srgbClr val="F2EFDE"/>
          </a:solidFill>
          <a:ln w="19050">
            <a:solidFill>
              <a:srgbClr val="CFC7A6"/>
            </a:solidFill>
          </a:ln>
        </p:spPr>
        <p:txBody>
          <a:bodyPr wrap="square" rtlCol="0" anchor="ctr"/>
          <a:lstStyle/>
          <a:p>
            <a:pPr indent="0" marL="0">
              <a:buNone/>
            </a:pPr>
            <a:endParaRPr lang="en-US" dirty="0"/>
          </a:p>
        </p:txBody>
      </p:sp>
      <p:sp>
        <p:nvSpPr>
          <p:cNvPr id="12" name="Text 10"/>
          <p:cNvSpPr/>
          <p:nvPr/>
        </p:nvSpPr>
        <p:spPr>
          <a:xfrm>
            <a:off x="793552" y="2378422"/>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Ninety seconds to memorise. Then the screen goes </a:t>
            </a:r>
            <a:r>
              <a:rPr lang="en-US" sz="1600" b="1" dirty="0">
                <a:solidFill>
                  <a:srgbClr val="B93F2C"/>
                </a:solidFill>
                <a:latin typeface="Noto Sans" pitchFamily="34" charset="0"/>
                <a:ea typeface="Noto Sans" pitchFamily="34" charset="-122"/>
                <a:cs typeface="Noto Sans" pitchFamily="34" charset="-120"/>
              </a:rPr>
              <a:t>off</a:t>
            </a:r>
            <a:r>
              <a:rPr lang="en-US" sz="1600" dirty="0">
                <a:solidFill>
                  <a:srgbClr val="24321C"/>
                </a:solidFill>
                <a:latin typeface="Noto Sans" pitchFamily="34" charset="0"/>
                <a:ea typeface="Noto Sans" pitchFamily="34" charset="-122"/>
                <a:cs typeface="Noto Sans" pitchFamily="34" charset="-120"/>
              </a:rPr>
              <a:t>.</a:t>
            </a:r>
            <a:endParaRPr lang="en-US" sz="1600" dirty="0"/>
          </a:p>
        </p:txBody>
      </p:sp>
      <p:sp>
        <p:nvSpPr>
          <p:cNvPr id="13" name="Text 11"/>
          <p:cNvSpPr/>
          <p:nvPr/>
        </p:nvSpPr>
        <p:spPr>
          <a:xfrm>
            <a:off x="793552" y="2775645"/>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尸　户　革　丁　贝　·　虫　叉　食　果　欠</a:t>
            </a:r>
            <a:endParaRPr lang="en-US" sz="2100" dirty="0"/>
          </a:p>
        </p:txBody>
      </p:sp>
      <p:sp>
        <p:nvSpPr>
          <p:cNvPr id="14" name="Text 12"/>
          <p:cNvSpPr/>
          <p:nvPr/>
        </p:nvSpPr>
        <p:spPr>
          <a:xfrm>
            <a:off x="793552" y="3215432"/>
            <a:ext cx="10816995" cy="357336"/>
          </a:xfrm>
          <a:prstGeom prst="rect">
            <a:avLst/>
          </a:prstGeom>
          <a:noFill/>
          <a:ln/>
        </p:spPr>
        <p:txBody>
          <a:bodyPr wrap="square" lIns="0" tIns="0" rIns="0" bIns="0" rtlCol="0" anchor="t"/>
          <a:lstStyle/>
          <a:p>
            <a:pPr algn="l" indent="0" marL="0">
              <a:lnSpc>
                <a:spcPts val="2814"/>
              </a:lnSpc>
              <a:buNone/>
            </a:pPr>
            <a:r>
              <a:rPr lang="en-US" sz="2100" b="1" dirty="0">
                <a:solidFill>
                  <a:srgbClr val="24321C"/>
                </a:solidFill>
                <a:latin typeface="Noto Serif SC" pitchFamily="34" charset="0"/>
                <a:ea typeface="Noto Serif SC" pitchFamily="34" charset="-122"/>
                <a:cs typeface="Noto Serif SC" pitchFamily="34" charset="-120"/>
              </a:rPr>
              <a:t>平　石　角　页　舌　·　瓜　旦　矢　皿　斗　·　青　立　寸　巾　足</a:t>
            </a:r>
            <a:endParaRPr lang="en-US" sz="2100" dirty="0"/>
          </a:p>
        </p:txBody>
      </p:sp>
      <p:sp>
        <p:nvSpPr>
          <p:cNvPr id="15" name="Text 13"/>
          <p:cNvSpPr/>
          <p:nvPr/>
        </p:nvSpPr>
        <p:spPr>
          <a:xfrm>
            <a:off x="793552" y="3655219"/>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Teacher dictates twelve of them by </a:t>
            </a:r>
            <a:r>
              <a:rPr lang="en-US" sz="1600" b="1" dirty="0">
                <a:solidFill>
                  <a:srgbClr val="B93F2C"/>
                </a:solidFill>
                <a:latin typeface="Noto Sans" pitchFamily="34" charset="0"/>
                <a:ea typeface="Noto Sans" pitchFamily="34" charset="-122"/>
                <a:cs typeface="Noto Sans" pitchFamily="34" charset="-120"/>
              </a:rPr>
              <a:t>English meaning</a:t>
            </a:r>
            <a:r>
              <a:rPr lang="en-US" sz="1600" dirty="0">
                <a:solidFill>
                  <a:srgbClr val="24321C"/>
                </a:solidFill>
                <a:latin typeface="Noto Sans" pitchFamily="34" charset="0"/>
                <a:ea typeface="Noto Sans" pitchFamily="34" charset="-122"/>
                <a:cs typeface="Noto Sans" pitchFamily="34" charset="-120"/>
              </a:rPr>
              <a:t>. Most correct wins.</a:t>
            </a:r>
            <a:endParaRPr lang="en-US" sz="1600" dirty="0"/>
          </a:p>
        </p:txBody>
      </p:sp>
      <p:sp>
        <p:nvSpPr>
          <p:cNvPr id="16" name="Text 14"/>
          <p:cNvSpPr/>
          <p:nvPr/>
        </p:nvSpPr>
        <p:spPr>
          <a:xfrm>
            <a:off x="793552" y="4052441"/>
            <a:ext cx="10816995" cy="314771"/>
          </a:xfrm>
          <a:prstGeom prst="rect">
            <a:avLst/>
          </a:prstGeom>
          <a:noFill/>
          <a:ln/>
        </p:spPr>
        <p:txBody>
          <a:bodyPr wrap="square" lIns="0" tIns="0" rIns="0" bIns="0" rtlCol="0" anchor="t"/>
          <a:lstStyle/>
          <a:p>
            <a:pPr algn="l" indent="0" marL="0">
              <a:lnSpc>
                <a:spcPts val="2480"/>
              </a:lnSpc>
              <a:buNone/>
            </a:pPr>
            <a:r>
              <a:rPr lang="en-US" sz="1600" dirty="0">
                <a:solidFill>
                  <a:srgbClr val="24321C"/>
                </a:solidFill>
                <a:latin typeface="Noto Sans" pitchFamily="34" charset="0"/>
                <a:ea typeface="Noto Sans" pitchFamily="34" charset="-122"/>
                <a:cs typeface="Noto Sans" pitchFamily="34" charset="-120"/>
              </a:rPr>
              <a:t>Then 练习册 p.135 Ex.17 as the written record —— pinyin </a:t>
            </a:r>
            <a:r>
              <a:rPr lang="en-US" sz="1600" b="1" dirty="0">
                <a:solidFill>
                  <a:srgbClr val="B93F2C"/>
                </a:solidFill>
                <a:latin typeface="Noto Sans" pitchFamily="34" charset="0"/>
                <a:ea typeface="Noto Sans" pitchFamily="34" charset="-122"/>
                <a:cs typeface="Noto Sans" pitchFamily="34" charset="-120"/>
              </a:rPr>
              <a:t>and</a:t>
            </a:r>
            <a:r>
              <a:rPr lang="en-US" sz="1600" dirty="0">
                <a:solidFill>
                  <a:srgbClr val="24321C"/>
                </a:solidFill>
                <a:latin typeface="Noto Sans" pitchFamily="34" charset="0"/>
                <a:ea typeface="Noto Sans" pitchFamily="34" charset="-122"/>
                <a:cs typeface="Noto Sans" pitchFamily="34" charset="-120"/>
              </a:rPr>
              <a:t> character, two minutes.</a:t>
            </a:r>
            <a:endParaRPr lang="en-US" sz="1600" dirty="0"/>
          </a:p>
        </p:txBody>
      </p:sp>
      <p:sp>
        <p:nvSpPr>
          <p:cNvPr id="17" name="Text 15"/>
          <p:cNvSpPr/>
          <p:nvPr/>
        </p:nvSpPr>
        <p:spPr>
          <a:xfrm>
            <a:off x="558701" y="4678263"/>
            <a:ext cx="11074598" cy="1194643"/>
          </a:xfrm>
          <a:prstGeom prst="roundRect">
            <a:avLst>
              <a:gd name="adj" fmla="val 6378"/>
            </a:avLst>
          </a:prstGeom>
          <a:solidFill>
            <a:srgbClr val="4C7A2C">
              <a:alpha val="12000"/>
            </a:srgbClr>
          </a:solidFill>
          <a:ln w="19050">
            <a:solidFill>
              <a:srgbClr val="4C7A2C"/>
            </a:solidFill>
          </a:ln>
        </p:spPr>
        <p:txBody>
          <a:bodyPr wrap="square" rtlCol="0" anchor="ctr"/>
          <a:lstStyle/>
          <a:p>
            <a:pPr indent="0" marL="0">
              <a:buNone/>
            </a:pPr>
            <a:endParaRPr lang="en-US" dirty="0"/>
          </a:p>
        </p:txBody>
      </p:sp>
      <p:sp>
        <p:nvSpPr>
          <p:cNvPr id="18" name="Text 16"/>
          <p:cNvSpPr/>
          <p:nvPr/>
        </p:nvSpPr>
        <p:spPr>
          <a:xfrm>
            <a:off x="768251" y="4836914"/>
            <a:ext cx="10868608" cy="200025"/>
          </a:xfrm>
          <a:prstGeom prst="rect">
            <a:avLst/>
          </a:prstGeom>
          <a:noFill/>
          <a:ln/>
        </p:spPr>
        <p:txBody>
          <a:bodyPr wrap="square" lIns="0" tIns="0" rIns="0" bIns="0" rtlCol="0" anchor="t"/>
          <a:lstStyle/>
          <a:p>
            <a:pPr algn="l" indent="0" marL="0">
              <a:spcAft>
                <a:spcPts val="500"/>
              </a:spcAft>
              <a:buNone/>
            </a:pPr>
            <a:r>
              <a:rPr lang="en-US" sz="1100" b="1" dirty="0">
                <a:solidFill>
                  <a:srgbClr val="4C7A2C"/>
                </a:solidFill>
                <a:latin typeface="Noto Sans" pitchFamily="34" charset="0"/>
                <a:ea typeface="Noto Sans" pitchFamily="34" charset="-122"/>
                <a:cs typeface="Noto Sans" pitchFamily="34" charset="-120"/>
              </a:rPr>
              <a:t>EXTENSION · 加油题</a:t>
            </a:r>
            <a:endParaRPr lang="en-US" sz="1100" dirty="0"/>
          </a:p>
        </p:txBody>
      </p:sp>
      <p:sp>
        <p:nvSpPr>
          <p:cNvPr id="19" name="Text 17"/>
          <p:cNvSpPr/>
          <p:nvPr/>
        </p:nvSpPr>
        <p:spPr>
          <a:xfrm>
            <a:off x="768251" y="5100340"/>
            <a:ext cx="10868608"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Dictated by </a:t>
            </a:r>
            <a:r>
              <a:rPr lang="en-US" sz="1500" b="1" dirty="0">
                <a:solidFill>
                  <a:srgbClr val="4C7A2C"/>
                </a:solidFill>
                <a:latin typeface="Noto Sans" pitchFamily="34" charset="0"/>
                <a:ea typeface="Noto Sans" pitchFamily="34" charset="-122"/>
                <a:cs typeface="Noto Sans" pitchFamily="34" charset="-120"/>
              </a:rPr>
              <a:t>pinyin only</a:t>
            </a:r>
            <a:r>
              <a:rPr lang="en-US" sz="1500" dirty="0">
                <a:solidFill>
                  <a:srgbClr val="24321C"/>
                </a:solidFill>
                <a:latin typeface="Noto Sans" pitchFamily="34" charset="0"/>
                <a:ea typeface="Noto Sans" pitchFamily="34" charset="-122"/>
                <a:cs typeface="Noto Sans" pitchFamily="34" charset="-120"/>
              </a:rPr>
              <a:t>, and you must write a </a:t>
            </a:r>
            <a:r>
              <a:rPr lang="en-US" sz="1500" b="1" dirty="0">
                <a:solidFill>
                  <a:srgbClr val="4C7A2C"/>
                </a:solidFill>
                <a:latin typeface="Noto Sans" pitchFamily="34" charset="0"/>
                <a:ea typeface="Noto Sans" pitchFamily="34" charset="-122"/>
                <a:cs typeface="Noto Sans" pitchFamily="34" charset="-120"/>
              </a:rPr>
              <a:t>word</a:t>
            </a:r>
            <a:r>
              <a:rPr lang="en-US" sz="1500" dirty="0">
                <a:solidFill>
                  <a:srgbClr val="24321C"/>
                </a:solidFill>
                <a:latin typeface="Noto Sans" pitchFamily="34" charset="0"/>
                <a:ea typeface="Noto Sans" pitchFamily="34" charset="-122"/>
                <a:cs typeface="Noto Sans" pitchFamily="34" charset="-120"/>
              </a:rPr>
              <a:t> containing the character, not the bare character.</a:t>
            </a:r>
            <a:endParaRPr lang="en-US" sz="1500" dirty="0"/>
          </a:p>
        </p:txBody>
      </p:sp>
      <p:sp>
        <p:nvSpPr>
          <p:cNvPr id="20" name="Text 18"/>
          <p:cNvSpPr/>
          <p:nvPr/>
        </p:nvSpPr>
        <p:spPr>
          <a:xfrm>
            <a:off x="768251" y="5376565"/>
            <a:ext cx="10868608" cy="337691"/>
          </a:xfrm>
          <a:prstGeom prst="rect">
            <a:avLst/>
          </a:prstGeom>
          <a:noFill/>
          <a:ln/>
        </p:spPr>
        <p:txBody>
          <a:bodyPr wrap="square" lIns="0" tIns="0" rIns="0" bIns="0" rtlCol="0" anchor="t"/>
          <a:lstStyle/>
          <a:p>
            <a:pPr algn="l" indent="0" marL="0">
              <a:lnSpc>
                <a:spcPts val="2660"/>
              </a:lnSpc>
              <a:buNone/>
            </a:pPr>
            <a:r>
              <a:rPr lang="en-US" sz="1900" b="1" dirty="0">
                <a:solidFill>
                  <a:srgbClr val="24321C"/>
                </a:solidFill>
                <a:latin typeface="Noto Serif SC" pitchFamily="34" charset="0"/>
                <a:ea typeface="Noto Serif SC" pitchFamily="34" charset="-122"/>
                <a:cs typeface="Noto Serif SC" pitchFamily="34" charset="-120"/>
              </a:rPr>
              <a:t>革 → 皮革　·　户 → 门户　·　足 → 足球</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49240"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43–50 MIN · 小结</a:t>
            </a:r>
            <a:endParaRPr lang="en-US" sz="1000" dirty="0"/>
          </a:p>
        </p:txBody>
      </p:sp>
      <p:sp>
        <p:nvSpPr>
          <p:cNvPr id="5" name="Text 3"/>
          <p:cNvSpPr/>
          <p:nvPr/>
        </p:nvSpPr>
        <p:spPr>
          <a:xfrm>
            <a:off x="2116187" y="166688"/>
            <a:ext cx="1586814"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Plenary · Lessons 1–6</a:t>
            </a:r>
            <a:endParaRPr lang="en-US" sz="1100" dirty="0"/>
          </a:p>
        </p:txBody>
      </p:sp>
      <p:sp>
        <p:nvSpPr>
          <p:cNvPr id="6" name="Text 4"/>
          <p:cNvSpPr/>
          <p:nvPr/>
        </p:nvSpPr>
        <p:spPr>
          <a:xfrm>
            <a:off x="11183243" y="176213"/>
            <a:ext cx="510823"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24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2192834"/>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小结 · 回头看这六节课</a:t>
            </a:r>
            <a:endParaRPr lang="en-US" sz="1200" dirty="0"/>
          </a:p>
        </p:txBody>
      </p:sp>
      <p:sp>
        <p:nvSpPr>
          <p:cNvPr id="9" name="Text 7"/>
          <p:cNvSpPr/>
          <p:nvPr/>
        </p:nvSpPr>
        <p:spPr>
          <a:xfrm>
            <a:off x="558701" y="2516684"/>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六节课，六个句型 · ONE FROM EACH LESSON — READ THEM BACK, THEN SAY A SENTENCE WITH EACH</a:t>
            </a:r>
            <a:endParaRPr lang="en-US" sz="1200" dirty="0"/>
          </a:p>
        </p:txBody>
      </p:sp>
      <p:sp>
        <p:nvSpPr>
          <p:cNvPr id="10" name="Text 8"/>
          <p:cNvSpPr/>
          <p:nvPr/>
        </p:nvSpPr>
        <p:spPr>
          <a:xfrm>
            <a:off x="558701" y="2840534"/>
            <a:ext cx="3589883"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1" name="Text 9"/>
          <p:cNvSpPr/>
          <p:nvPr/>
        </p:nvSpPr>
        <p:spPr>
          <a:xfrm>
            <a:off x="610241" y="3065859"/>
            <a:ext cx="3486802" cy="479971"/>
          </a:xfrm>
          <a:prstGeom prst="rect">
            <a:avLst/>
          </a:prstGeom>
          <a:noFill/>
          <a:ln/>
        </p:spPr>
        <p:txBody>
          <a:bodyPr wrap="square" lIns="0" tIns="0" rIns="0" bIns="0" rtlCol="0" anchor="t"/>
          <a:lstStyle/>
          <a:p>
            <a:pPr algn="ctr" indent="0" marL="0">
              <a:lnSpc>
                <a:spcPts val="3780"/>
              </a:lnSpc>
              <a:buNone/>
            </a:pPr>
            <a:r>
              <a:rPr lang="en-US" sz="3600" b="1" dirty="0">
                <a:solidFill>
                  <a:srgbClr val="24321C"/>
                </a:solidFill>
                <a:latin typeface="Noto Serif SC" pitchFamily="34" charset="0"/>
                <a:ea typeface="Noto Serif SC" pitchFamily="34" charset="-122"/>
                <a:cs typeface="Noto Serif SC" pitchFamily="34" charset="-120"/>
              </a:rPr>
              <a:t>块 毛 分</a:t>
            </a:r>
            <a:endParaRPr lang="en-US" sz="3600" dirty="0"/>
          </a:p>
        </p:txBody>
      </p:sp>
      <p:sp>
        <p:nvSpPr>
          <p:cNvPr id="12" name="Text 10"/>
          <p:cNvSpPr/>
          <p:nvPr/>
        </p:nvSpPr>
        <p:spPr>
          <a:xfrm>
            <a:off x="4300984" y="2840534"/>
            <a:ext cx="3589883"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3" name="Text 11"/>
          <p:cNvSpPr/>
          <p:nvPr/>
        </p:nvSpPr>
        <p:spPr>
          <a:xfrm>
            <a:off x="4352525" y="3065859"/>
            <a:ext cx="3486802"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怎么卖</a:t>
            </a:r>
            <a:endParaRPr lang="en-US" sz="4700" dirty="0"/>
          </a:p>
        </p:txBody>
      </p:sp>
      <p:sp>
        <p:nvSpPr>
          <p:cNvPr id="14" name="Text 12"/>
          <p:cNvSpPr/>
          <p:nvPr/>
        </p:nvSpPr>
        <p:spPr>
          <a:xfrm>
            <a:off x="8043267" y="2840534"/>
            <a:ext cx="3590032"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5" name="Text 13"/>
          <p:cNvSpPr/>
          <p:nvPr/>
        </p:nvSpPr>
        <p:spPr>
          <a:xfrm>
            <a:off x="8094806" y="3065859"/>
            <a:ext cx="3486954"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可以</a:t>
            </a:r>
            <a:endParaRPr lang="en-US" sz="4700" dirty="0"/>
          </a:p>
        </p:txBody>
      </p:sp>
      <p:sp>
        <p:nvSpPr>
          <p:cNvPr id="16" name="Text 14"/>
          <p:cNvSpPr/>
          <p:nvPr/>
        </p:nvSpPr>
        <p:spPr>
          <a:xfrm>
            <a:off x="558701" y="4070300"/>
            <a:ext cx="3589883"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7" name="Text 15"/>
          <p:cNvSpPr/>
          <p:nvPr/>
        </p:nvSpPr>
        <p:spPr>
          <a:xfrm>
            <a:off x="610241" y="4295626"/>
            <a:ext cx="3486802"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得</a:t>
            </a:r>
            <a:endParaRPr lang="en-US" sz="4700" dirty="0"/>
          </a:p>
        </p:txBody>
      </p:sp>
      <p:sp>
        <p:nvSpPr>
          <p:cNvPr id="18" name="Text 16"/>
          <p:cNvSpPr/>
          <p:nvPr/>
        </p:nvSpPr>
        <p:spPr>
          <a:xfrm>
            <a:off x="4300984" y="4070300"/>
            <a:ext cx="3589883"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19" name="Text 17"/>
          <p:cNvSpPr/>
          <p:nvPr/>
        </p:nvSpPr>
        <p:spPr>
          <a:xfrm>
            <a:off x="4352525" y="4295626"/>
            <a:ext cx="3486802" cy="626715"/>
          </a:xfrm>
          <a:prstGeom prst="rect">
            <a:avLst/>
          </a:prstGeom>
          <a:noFill/>
          <a:ln/>
        </p:spPr>
        <p:txBody>
          <a:bodyPr wrap="square" lIns="0" tIns="0" rIns="0" bIns="0" rtlCol="0" anchor="t"/>
          <a:lstStyle/>
          <a:p>
            <a:pPr algn="ctr" indent="0" marL="0">
              <a:lnSpc>
                <a:spcPts val="4935"/>
              </a:lnSpc>
              <a:buNone/>
            </a:pPr>
            <a:r>
              <a:rPr lang="en-US" sz="4700" b="1" dirty="0">
                <a:solidFill>
                  <a:srgbClr val="24321C"/>
                </a:solidFill>
                <a:latin typeface="Noto Serif SC" pitchFamily="34" charset="0"/>
                <a:ea typeface="Noto Serif SC" pitchFamily="34" charset="-122"/>
                <a:cs typeface="Noto Serif SC" pitchFamily="34" charset="-120"/>
              </a:rPr>
              <a:t>几次</a:t>
            </a:r>
            <a:endParaRPr lang="en-US" sz="4700" dirty="0"/>
          </a:p>
        </p:txBody>
      </p:sp>
      <p:sp>
        <p:nvSpPr>
          <p:cNvPr id="20" name="Text 18"/>
          <p:cNvSpPr/>
          <p:nvPr/>
        </p:nvSpPr>
        <p:spPr>
          <a:xfrm>
            <a:off x="8043267" y="4070300"/>
            <a:ext cx="3590032" cy="1077367"/>
          </a:xfrm>
          <a:prstGeom prst="roundRect">
            <a:avLst>
              <a:gd name="adj" fmla="val 11788"/>
            </a:avLst>
          </a:prstGeom>
          <a:solidFill>
            <a:srgbClr val="F2EFDE"/>
          </a:solidFill>
          <a:ln w="9525">
            <a:solidFill>
              <a:srgbClr val="E1DBC0"/>
            </a:solidFill>
          </a:ln>
        </p:spPr>
        <p:txBody>
          <a:bodyPr wrap="square" rtlCol="0" anchor="ctr"/>
          <a:lstStyle/>
          <a:p>
            <a:pPr indent="0" marL="0">
              <a:buNone/>
            </a:pPr>
            <a:endParaRPr lang="en-US" dirty="0"/>
          </a:p>
        </p:txBody>
      </p:sp>
      <p:sp>
        <p:nvSpPr>
          <p:cNvPr id="21" name="Text 19"/>
          <p:cNvSpPr/>
          <p:nvPr/>
        </p:nvSpPr>
        <p:spPr>
          <a:xfrm>
            <a:off x="8094806" y="4295626"/>
            <a:ext cx="3486954" cy="479971"/>
          </a:xfrm>
          <a:prstGeom prst="rect">
            <a:avLst/>
          </a:prstGeom>
          <a:noFill/>
          <a:ln/>
        </p:spPr>
        <p:txBody>
          <a:bodyPr wrap="square" lIns="0" tIns="0" rIns="0" bIns="0" rtlCol="0" anchor="t"/>
          <a:lstStyle/>
          <a:p>
            <a:pPr algn="ctr" indent="0" marL="0">
              <a:lnSpc>
                <a:spcPts val="3780"/>
              </a:lnSpc>
              <a:buNone/>
            </a:pPr>
            <a:r>
              <a:rPr lang="en-US" sz="3600" b="1" dirty="0">
                <a:solidFill>
                  <a:srgbClr val="24321C"/>
                </a:solidFill>
                <a:latin typeface="Noto Serif SC" pitchFamily="34" charset="0"/>
                <a:ea typeface="Noto Serif SC" pitchFamily="34" charset="-122"/>
                <a:cs typeface="Noto Serif SC" pitchFamily="34" charset="-120"/>
              </a:rPr>
              <a:t>不算太贵</a:t>
            </a:r>
            <a:endParaRPr lang="en-U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2"/>
        </a:solidFill>
      </p:bgPr>
    </p:bg>
    <p:spTree>
      <p:nvGrpSpPr>
        <p:cNvPr id="1" name=""/>
        <p:cNvGrpSpPr/>
        <p:nvPr/>
      </p:nvGrpSpPr>
      <p:grpSpPr>
        <a:xfrm>
          <a:off x="0" y="0"/>
          <a:ext cx="0" cy="0"/>
          <a:chOff x="0" y="0"/>
          <a:chExt cx="0" cy="0"/>
        </a:xfrm>
      </p:grpSpPr>
      <p:sp>
        <p:nvSpPr>
          <p:cNvPr id="2" name="Text 0"/>
          <p:cNvSpPr/>
          <p:nvPr/>
        </p:nvSpPr>
        <p:spPr>
          <a:xfrm>
            <a:off x="0" y="0"/>
            <a:ext cx="12192000" cy="542925"/>
          </a:xfrm>
          <a:prstGeom prst="rect">
            <a:avLst/>
          </a:prstGeom>
          <a:solidFill>
            <a:srgbClr val="FBFAF2"/>
          </a:solidFill>
          <a:ln/>
        </p:spPr>
        <p:txBody>
          <a:bodyPr wrap="square" rtlCol="0" anchor="ctr"/>
          <a:lstStyle/>
          <a:p>
            <a:pPr indent="0" marL="0">
              <a:buNone/>
            </a:pPr>
            <a:endParaRPr lang="en-US" dirty="0"/>
          </a:p>
        </p:txBody>
      </p:sp>
      <p:sp>
        <p:nvSpPr>
          <p:cNvPr id="3" name="Shape 1"/>
          <p:cNvSpPr/>
          <p:nvPr/>
        </p:nvSpPr>
        <p:spPr>
          <a:xfrm>
            <a:off x="0" y="538163"/>
            <a:ext cx="12192000" cy="0"/>
          </a:xfrm>
          <a:prstGeom prst="line">
            <a:avLst/>
          </a:prstGeom>
          <a:noFill/>
          <a:ln w="9525">
            <a:solidFill>
              <a:srgbClr val="E1DBC0"/>
            </a:solidFill>
            <a:prstDash val="solid"/>
          </a:ln>
        </p:spPr>
      </p:sp>
      <p:sp>
        <p:nvSpPr>
          <p:cNvPr id="4" name="Text 2"/>
          <p:cNvSpPr/>
          <p:nvPr/>
        </p:nvSpPr>
        <p:spPr>
          <a:xfrm>
            <a:off x="507950" y="176213"/>
            <a:ext cx="1349240" cy="180975"/>
          </a:xfrm>
          <a:prstGeom prst="rect">
            <a:avLst/>
          </a:prstGeom>
          <a:noFill/>
          <a:ln/>
        </p:spPr>
        <p:txBody>
          <a:bodyPr wrap="square" lIns="0" tIns="0" rIns="0" bIns="0" rtlCol="0" anchor="t"/>
          <a:lstStyle/>
          <a:p>
            <a:pPr algn="l" indent="0" marL="0">
              <a:buNone/>
            </a:pPr>
            <a:r>
              <a:rPr lang="en-US" sz="1000" b="1" dirty="0">
                <a:solidFill>
                  <a:srgbClr val="4C7A2C"/>
                </a:solidFill>
                <a:latin typeface="Noto Sans" pitchFamily="34" charset="0"/>
                <a:ea typeface="Noto Sans" pitchFamily="34" charset="-122"/>
                <a:cs typeface="Noto Sans" pitchFamily="34" charset="-120"/>
              </a:rPr>
              <a:t>43–50 MIN · 小结</a:t>
            </a:r>
            <a:endParaRPr lang="en-US" sz="1000" dirty="0"/>
          </a:p>
        </p:txBody>
      </p:sp>
      <p:sp>
        <p:nvSpPr>
          <p:cNvPr id="5" name="Text 3"/>
          <p:cNvSpPr/>
          <p:nvPr/>
        </p:nvSpPr>
        <p:spPr>
          <a:xfrm>
            <a:off x="2116187" y="166688"/>
            <a:ext cx="518868" cy="200025"/>
          </a:xfrm>
          <a:prstGeom prst="rect">
            <a:avLst/>
          </a:prstGeom>
          <a:noFill/>
          <a:ln/>
        </p:spPr>
        <p:txBody>
          <a:bodyPr wrap="square" lIns="0" tIns="0" rIns="0" bIns="0" rtlCol="0" anchor="t"/>
          <a:lstStyle/>
          <a:p>
            <a:pPr algn="l" indent="0" marL="0">
              <a:buNone/>
            </a:pPr>
            <a:r>
              <a:rPr lang="en-US" sz="1100" dirty="0">
                <a:solidFill>
                  <a:srgbClr val="4E5A42"/>
                </a:solidFill>
                <a:latin typeface="Noto Sans" pitchFamily="34" charset="0"/>
                <a:ea typeface="Noto Sans" pitchFamily="34" charset="-122"/>
                <a:cs typeface="Noto Sans" pitchFamily="34" charset="-120"/>
              </a:rPr>
              <a:t>Plenary</a:t>
            </a:r>
            <a:endParaRPr lang="en-US" sz="1100" dirty="0"/>
          </a:p>
        </p:txBody>
      </p:sp>
      <p:sp>
        <p:nvSpPr>
          <p:cNvPr id="6" name="Text 4"/>
          <p:cNvSpPr/>
          <p:nvPr/>
        </p:nvSpPr>
        <p:spPr>
          <a:xfrm>
            <a:off x="11183392" y="176213"/>
            <a:ext cx="510671" cy="180975"/>
          </a:xfrm>
          <a:prstGeom prst="rect">
            <a:avLst/>
          </a:prstGeom>
          <a:noFill/>
          <a:ln/>
        </p:spPr>
        <p:txBody>
          <a:bodyPr wrap="square" lIns="0" tIns="0" rIns="0" bIns="0" rtlCol="0" anchor="t"/>
          <a:lstStyle/>
          <a:p>
            <a:pPr algn="l" indent="0" marL="0">
              <a:buNone/>
            </a:pPr>
            <a:r>
              <a:rPr lang="en-US" sz="1000" dirty="0">
                <a:solidFill>
                  <a:srgbClr val="78805F"/>
                </a:solidFill>
                <a:latin typeface="Noto Sans" pitchFamily="34" charset="0"/>
                <a:ea typeface="Noto Sans" pitchFamily="34" charset="-122"/>
                <a:cs typeface="Noto Sans" pitchFamily="34" charset="-120"/>
              </a:rPr>
              <a:t>25 / 25</a:t>
            </a:r>
            <a:endParaRPr lang="en-US" sz="1000" dirty="0"/>
          </a:p>
        </p:txBody>
      </p:sp>
      <p:sp>
        <p:nvSpPr>
          <p:cNvPr id="7" name="Text 5"/>
          <p:cNvSpPr/>
          <p:nvPr/>
        </p:nvSpPr>
        <p:spPr>
          <a:xfrm>
            <a:off x="507950" y="0"/>
            <a:ext cx="11176099" cy="31700"/>
          </a:xfrm>
          <a:prstGeom prst="rect">
            <a:avLst/>
          </a:prstGeom>
          <a:solidFill>
            <a:srgbClr val="4C7A2C"/>
          </a:solidFill>
          <a:ln/>
        </p:spPr>
        <p:txBody>
          <a:bodyPr wrap="square" rtlCol="0" anchor="ctr"/>
          <a:lstStyle/>
          <a:p>
            <a:pPr indent="0" marL="0">
              <a:buNone/>
            </a:pPr>
            <a:endParaRPr lang="en-US" dirty="0"/>
          </a:p>
        </p:txBody>
      </p:sp>
      <p:sp>
        <p:nvSpPr>
          <p:cNvPr id="8" name="Text 6"/>
          <p:cNvSpPr/>
          <p:nvPr/>
        </p:nvSpPr>
        <p:spPr>
          <a:xfrm>
            <a:off x="558701" y="1758702"/>
            <a:ext cx="11296090" cy="209550"/>
          </a:xfrm>
          <a:prstGeom prst="rect">
            <a:avLst/>
          </a:prstGeom>
          <a:noFill/>
          <a:ln/>
        </p:spPr>
        <p:txBody>
          <a:bodyPr wrap="square" lIns="0" tIns="0" rIns="0" bIns="0" rtlCol="0" anchor="t"/>
          <a:lstStyle/>
          <a:p>
            <a:pPr algn="l" indent="0" marL="0">
              <a:spcAft>
                <a:spcPts val="900"/>
              </a:spcAft>
              <a:buNone/>
            </a:pPr>
            <a:r>
              <a:rPr lang="en-US" sz="1200" b="1" dirty="0">
                <a:solidFill>
                  <a:srgbClr val="4C7A2C"/>
                </a:solidFill>
                <a:latin typeface="Noto Sans" pitchFamily="34" charset="0"/>
                <a:ea typeface="Noto Sans" pitchFamily="34" charset="-122"/>
                <a:cs typeface="Noto Sans" pitchFamily="34" charset="-120"/>
              </a:rPr>
              <a:t>小结 · PLENARY</a:t>
            </a:r>
            <a:endParaRPr lang="en-US" sz="1200" dirty="0"/>
          </a:p>
        </p:txBody>
      </p:sp>
      <p:sp>
        <p:nvSpPr>
          <p:cNvPr id="9" name="Text 7"/>
          <p:cNvSpPr/>
          <p:nvPr/>
        </p:nvSpPr>
        <p:spPr>
          <a:xfrm>
            <a:off x="558701" y="2082552"/>
            <a:ext cx="11074598" cy="1053852"/>
          </a:xfrm>
          <a:prstGeom prst="roundRect">
            <a:avLst>
              <a:gd name="adj" fmla="val 7231"/>
            </a:avLst>
          </a:prstGeom>
          <a:solidFill>
            <a:srgbClr val="4C7A2C">
              <a:alpha val="12000"/>
            </a:srgbClr>
          </a:solidFill>
          <a:ln w="9525">
            <a:solidFill>
              <a:srgbClr val="4C7A2C"/>
            </a:solidFill>
          </a:ln>
        </p:spPr>
        <p:txBody>
          <a:bodyPr wrap="square" rtlCol="0" anchor="ctr"/>
          <a:lstStyle/>
          <a:p>
            <a:pPr indent="0" marL="0">
              <a:buNone/>
            </a:pPr>
            <a:endParaRPr lang="en-US" dirty="0"/>
          </a:p>
        </p:txBody>
      </p:sp>
      <p:sp>
        <p:nvSpPr>
          <p:cNvPr id="10" name="Text 8"/>
          <p:cNvSpPr/>
          <p:nvPr/>
        </p:nvSpPr>
        <p:spPr>
          <a:xfrm>
            <a:off x="745927" y="2231678"/>
            <a:ext cx="8110014" cy="200025"/>
          </a:xfrm>
          <a:prstGeom prst="rect">
            <a:avLst/>
          </a:prstGeom>
          <a:noFill/>
          <a:ln/>
        </p:spPr>
        <p:txBody>
          <a:bodyPr wrap="square" lIns="0" tIns="0" rIns="0" bIns="0" rtlCol="0" anchor="t"/>
          <a:lstStyle/>
          <a:p>
            <a:pPr algn="l" indent="0" marL="0">
              <a:buNone/>
            </a:pPr>
            <a:r>
              <a:rPr lang="en-US" sz="1100" b="1" dirty="0">
                <a:solidFill>
                  <a:srgbClr val="4C7A2C"/>
                </a:solidFill>
                <a:latin typeface="Noto Sans" pitchFamily="34" charset="0"/>
                <a:ea typeface="Noto Sans" pitchFamily="34" charset="-122"/>
                <a:cs typeface="Noto Sans" pitchFamily="34" charset="-120"/>
              </a:rPr>
              <a:t>SELF-ASSESSMENT · 自评</a:t>
            </a:r>
            <a:endParaRPr lang="en-US" sz="1100" dirty="0"/>
          </a:p>
        </p:txBody>
      </p:sp>
      <p:sp>
        <p:nvSpPr>
          <p:cNvPr id="11" name="Text 9"/>
          <p:cNvSpPr/>
          <p:nvPr/>
        </p:nvSpPr>
        <p:spPr>
          <a:xfrm>
            <a:off x="745927" y="2431703"/>
            <a:ext cx="8110014"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Thumbs on today's four criteria ——  /  /</a:t>
            </a:r>
            <a:endParaRPr lang="en-US" sz="1500" dirty="0"/>
          </a:p>
        </p:txBody>
      </p:sp>
      <p:pic>
        <p:nvPicPr>
          <p:cNvPr id="12" name="Image 0" descr="/var/folders/6c/210dcgxn4gz5sm71vld2cy1h0000gn/T/tmp.sLz7wO9Bv9/img/rate-up.png">    </p:cNvPr>
          <p:cNvPicPr>
            <a:picLocks noChangeAspect="1"/>
          </p:cNvPicPr>
          <p:nvPr/>
        </p:nvPicPr>
        <p:blipFill>
          <a:blip r:embed="rId1"/>
          <a:stretch>
            <a:fillRect/>
          </a:stretch>
        </p:blipFill>
        <p:spPr>
          <a:xfrm>
            <a:off x="4175968" y="2434977"/>
            <a:ext cx="253901" cy="253901"/>
          </a:xfrm>
          <a:prstGeom prst="rect">
            <a:avLst/>
          </a:prstGeom>
        </p:spPr>
      </p:pic>
      <p:pic>
        <p:nvPicPr>
          <p:cNvPr id="13" name="Image 1" descr="/var/folders/6c/210dcgxn4gz5sm71vld2cy1h0000gn/T/tmp.sLz7wO9Bv9/img/rate-mid.png">    </p:cNvPr>
          <p:cNvPicPr>
            <a:picLocks noChangeAspect="1"/>
          </p:cNvPicPr>
          <p:nvPr/>
        </p:nvPicPr>
        <p:blipFill>
          <a:blip r:embed="rId2"/>
          <a:stretch>
            <a:fillRect/>
          </a:stretch>
        </p:blipFill>
        <p:spPr>
          <a:xfrm>
            <a:off x="4659809" y="2434977"/>
            <a:ext cx="253901" cy="253901"/>
          </a:xfrm>
          <a:prstGeom prst="rect">
            <a:avLst/>
          </a:prstGeom>
        </p:spPr>
      </p:pic>
      <p:pic>
        <p:nvPicPr>
          <p:cNvPr id="14" name="Image 2" descr="/var/folders/6c/210dcgxn4gz5sm71vld2cy1h0000gn/T/tmp.sLz7wO9Bv9/img/rate-down.png">    </p:cNvPr>
          <p:cNvPicPr>
            <a:picLocks noChangeAspect="1"/>
          </p:cNvPicPr>
          <p:nvPr/>
        </p:nvPicPr>
        <p:blipFill>
          <a:blip r:embed="rId3"/>
          <a:stretch>
            <a:fillRect/>
          </a:stretch>
        </p:blipFill>
        <p:spPr>
          <a:xfrm>
            <a:off x="5143649" y="2434977"/>
            <a:ext cx="253901" cy="253901"/>
          </a:xfrm>
          <a:prstGeom prst="rect">
            <a:avLst/>
          </a:prstGeom>
        </p:spPr>
      </p:pic>
      <p:sp>
        <p:nvSpPr>
          <p:cNvPr id="15" name="Text 10"/>
          <p:cNvSpPr/>
          <p:nvPr/>
        </p:nvSpPr>
        <p:spPr>
          <a:xfrm>
            <a:off x="745927" y="2758678"/>
            <a:ext cx="8110014" cy="228600"/>
          </a:xfrm>
          <a:prstGeom prst="rect">
            <a:avLst/>
          </a:prstGeom>
          <a:noFill/>
          <a:ln/>
        </p:spPr>
        <p:txBody>
          <a:bodyPr wrap="square" lIns="0" tIns="0" rIns="0" bIns="0" rtlCol="0" anchor="t"/>
          <a:lstStyle/>
          <a:p>
            <a:pPr algn="l" indent="0" marL="0">
              <a:spcBef>
                <a:spcPts val="400"/>
              </a:spcBef>
              <a:buNone/>
            </a:pPr>
            <a:r>
              <a:rPr lang="en-US" sz="1300" dirty="0">
                <a:solidFill>
                  <a:srgbClr val="4E5A42"/>
                </a:solidFill>
                <a:latin typeface="Noto Sans" pitchFamily="34" charset="0"/>
                <a:ea typeface="Noto Sans" pitchFamily="34" charset="-122"/>
                <a:cs typeface="Noto Sans" pitchFamily="34" charset="-120"/>
              </a:rPr>
              <a:t>Then one show of hands: which of the six lessons do you most want another go at before the test?</a:t>
            </a:r>
            <a:endParaRPr lang="en-US" sz="1300" dirty="0"/>
          </a:p>
        </p:txBody>
      </p:sp>
      <p:sp>
        <p:nvSpPr>
          <p:cNvPr id="16" name="Text 11"/>
          <p:cNvSpPr/>
          <p:nvPr/>
        </p:nvSpPr>
        <p:spPr>
          <a:xfrm>
            <a:off x="558701" y="3276005"/>
            <a:ext cx="11074598" cy="1391543"/>
          </a:xfrm>
          <a:prstGeom prst="roundRect">
            <a:avLst>
              <a:gd name="adj" fmla="val 5476"/>
            </a:avLst>
          </a:prstGeom>
          <a:solidFill>
            <a:srgbClr val="B93F2C">
              <a:alpha val="11000"/>
            </a:srgbClr>
          </a:solidFill>
          <a:ln w="9525">
            <a:solidFill>
              <a:srgbClr val="B93F2C"/>
            </a:solidFill>
          </a:ln>
        </p:spPr>
        <p:txBody>
          <a:bodyPr wrap="square" rtlCol="0" anchor="ctr"/>
          <a:lstStyle/>
          <a:p>
            <a:pPr indent="0" marL="0">
              <a:buNone/>
            </a:pPr>
            <a:endParaRPr lang="en-US" dirty="0"/>
          </a:p>
        </p:txBody>
      </p:sp>
      <p:sp>
        <p:nvSpPr>
          <p:cNvPr id="17" name="Text 12"/>
          <p:cNvSpPr/>
          <p:nvPr/>
        </p:nvSpPr>
        <p:spPr>
          <a:xfrm>
            <a:off x="745927" y="3425130"/>
            <a:ext cx="6706124" cy="200025"/>
          </a:xfrm>
          <a:prstGeom prst="rect">
            <a:avLst/>
          </a:prstGeom>
          <a:noFill/>
          <a:ln/>
        </p:spPr>
        <p:txBody>
          <a:bodyPr wrap="square" lIns="0" tIns="0" rIns="0" bIns="0" rtlCol="0" anchor="t"/>
          <a:lstStyle/>
          <a:p>
            <a:pPr algn="l" indent="0" marL="0">
              <a:buNone/>
            </a:pPr>
            <a:r>
              <a:rPr lang="en-US" sz="1100" b="1" dirty="0">
                <a:solidFill>
                  <a:srgbClr val="B93F2C"/>
                </a:solidFill>
                <a:latin typeface="Noto Sans" pitchFamily="34" charset="0"/>
                <a:ea typeface="Noto Sans" pitchFamily="34" charset="-122"/>
                <a:cs typeface="Noto Sans" pitchFamily="34" charset="-120"/>
              </a:rPr>
              <a:t>EXIT TICKET · 出门条</a:t>
            </a:r>
            <a:endParaRPr lang="en-US" sz="1100" dirty="0"/>
          </a:p>
        </p:txBody>
      </p:sp>
      <p:sp>
        <p:nvSpPr>
          <p:cNvPr id="18" name="Text 13"/>
          <p:cNvSpPr/>
          <p:nvPr/>
        </p:nvSpPr>
        <p:spPr>
          <a:xfrm>
            <a:off x="745927" y="3625155"/>
            <a:ext cx="6706124"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上次你去饭店吃饭，花了多少钱？贵不贵？</a:t>
            </a:r>
            <a:endParaRPr lang="en-US" sz="1500" dirty="0"/>
          </a:p>
        </p:txBody>
      </p:sp>
      <p:sp>
        <p:nvSpPr>
          <p:cNvPr id="19" name="Text 14"/>
          <p:cNvSpPr/>
          <p:nvPr/>
        </p:nvSpPr>
        <p:spPr>
          <a:xfrm>
            <a:off x="745927" y="3901380"/>
            <a:ext cx="6706124" cy="337691"/>
          </a:xfrm>
          <a:prstGeom prst="rect">
            <a:avLst/>
          </a:prstGeom>
          <a:noFill/>
          <a:ln/>
        </p:spPr>
        <p:txBody>
          <a:bodyPr wrap="square" lIns="0" tIns="0" rIns="0" bIns="0" rtlCol="0" anchor="t"/>
          <a:lstStyle/>
          <a:p>
            <a:pPr algn="l" indent="0" marL="0">
              <a:lnSpc>
                <a:spcPts val="2660"/>
              </a:lnSpc>
              <a:buNone/>
            </a:pPr>
            <a:r>
              <a:rPr lang="en-US" sz="1900" b="1" dirty="0">
                <a:solidFill>
                  <a:srgbClr val="24321C"/>
                </a:solidFill>
                <a:latin typeface="Noto Serif SC" pitchFamily="34" charset="0"/>
                <a:ea typeface="Noto Serif SC" pitchFamily="34" charset="-122"/>
                <a:cs typeface="Noto Serif SC" pitchFamily="34" charset="-120"/>
              </a:rPr>
              <a:t>—— 两句话，要有「一共」和「不算太贵」或者「太贵了」。</a:t>
            </a:r>
            <a:endParaRPr lang="en-US" sz="1900" dirty="0"/>
          </a:p>
        </p:txBody>
      </p:sp>
      <p:sp>
        <p:nvSpPr>
          <p:cNvPr id="20" name="Text 15"/>
          <p:cNvSpPr/>
          <p:nvPr/>
        </p:nvSpPr>
        <p:spPr>
          <a:xfrm>
            <a:off x="745927" y="4289822"/>
            <a:ext cx="6706124" cy="228600"/>
          </a:xfrm>
          <a:prstGeom prst="rect">
            <a:avLst/>
          </a:prstGeom>
          <a:noFill/>
          <a:ln/>
        </p:spPr>
        <p:txBody>
          <a:bodyPr wrap="square" lIns="0" tIns="0" rIns="0" bIns="0" rtlCol="0" anchor="t"/>
          <a:lstStyle/>
          <a:p>
            <a:pPr algn="l" indent="0" marL="0">
              <a:spcBef>
                <a:spcPts val="400"/>
              </a:spcBef>
              <a:buNone/>
            </a:pPr>
            <a:r>
              <a:rPr lang="en-US" sz="1300" dirty="0">
                <a:solidFill>
                  <a:srgbClr val="4E5A42"/>
                </a:solidFill>
                <a:latin typeface="Noto Sans" pitchFamily="34" charset="0"/>
                <a:ea typeface="Noto Sans" pitchFamily="34" charset="-122"/>
                <a:cs typeface="Noto Sans" pitchFamily="34" charset="-120"/>
              </a:rPr>
              <a:t>On a half-slip. Collected at the door.</a:t>
            </a:r>
            <a:endParaRPr lang="en-US" sz="1300" dirty="0"/>
          </a:p>
        </p:txBody>
      </p:sp>
      <p:sp>
        <p:nvSpPr>
          <p:cNvPr id="21" name="Text 16"/>
          <p:cNvSpPr/>
          <p:nvPr/>
        </p:nvSpPr>
        <p:spPr>
          <a:xfrm>
            <a:off x="558701" y="4807148"/>
            <a:ext cx="11074598" cy="774502"/>
          </a:xfrm>
          <a:prstGeom prst="roundRect">
            <a:avLst>
              <a:gd name="adj" fmla="val 9839"/>
            </a:avLst>
          </a:prstGeom>
          <a:solidFill>
            <a:srgbClr val="B96A12">
              <a:alpha val="14000"/>
            </a:srgbClr>
          </a:solidFill>
          <a:ln w="9525">
            <a:solidFill>
              <a:srgbClr val="B96A12"/>
            </a:solidFill>
          </a:ln>
        </p:spPr>
        <p:txBody>
          <a:bodyPr wrap="square" rtlCol="0" anchor="ctr"/>
          <a:lstStyle/>
          <a:p>
            <a:pPr indent="0" marL="0">
              <a:buNone/>
            </a:pPr>
            <a:endParaRPr lang="en-US" dirty="0"/>
          </a:p>
        </p:txBody>
      </p:sp>
      <p:sp>
        <p:nvSpPr>
          <p:cNvPr id="22" name="Text 17"/>
          <p:cNvSpPr/>
          <p:nvPr/>
        </p:nvSpPr>
        <p:spPr>
          <a:xfrm>
            <a:off x="745927" y="4956274"/>
            <a:ext cx="7965951" cy="200025"/>
          </a:xfrm>
          <a:prstGeom prst="rect">
            <a:avLst/>
          </a:prstGeom>
          <a:noFill/>
          <a:ln/>
        </p:spPr>
        <p:txBody>
          <a:bodyPr wrap="square" lIns="0" tIns="0" rIns="0" bIns="0" rtlCol="0" anchor="t"/>
          <a:lstStyle/>
          <a:p>
            <a:pPr algn="l" indent="0" marL="0">
              <a:buNone/>
            </a:pPr>
            <a:r>
              <a:rPr lang="en-US" sz="1100" b="1" dirty="0">
                <a:solidFill>
                  <a:srgbClr val="B96A12"/>
                </a:solidFill>
                <a:latin typeface="Noto Sans" pitchFamily="34" charset="0"/>
                <a:ea typeface="Noto Sans" pitchFamily="34" charset="-122"/>
                <a:cs typeface="Noto Sans" pitchFamily="34" charset="-120"/>
              </a:rPr>
              <a:t>下一课 · NEXT LESSON</a:t>
            </a:r>
            <a:endParaRPr lang="en-US" sz="1100" dirty="0"/>
          </a:p>
        </p:txBody>
      </p:sp>
      <p:sp>
        <p:nvSpPr>
          <p:cNvPr id="23" name="Text 18"/>
          <p:cNvSpPr/>
          <p:nvPr/>
        </p:nvSpPr>
        <p:spPr>
          <a:xfrm>
            <a:off x="745927" y="5156299"/>
            <a:ext cx="7965951" cy="276225"/>
          </a:xfrm>
          <a:prstGeom prst="rect">
            <a:avLst/>
          </a:prstGeom>
          <a:noFill/>
          <a:ln/>
        </p:spPr>
        <p:txBody>
          <a:bodyPr wrap="square" lIns="0" tIns="0" rIns="0" bIns="0" rtlCol="0" anchor="t"/>
          <a:lstStyle/>
          <a:p>
            <a:pPr algn="l" indent="0" marL="0">
              <a:lnSpc>
                <a:spcPts val="2175"/>
              </a:lnSpc>
              <a:buNone/>
            </a:pPr>
            <a:r>
              <a:rPr lang="en-US" sz="1500" dirty="0">
                <a:solidFill>
                  <a:srgbClr val="24321C"/>
                </a:solidFill>
                <a:latin typeface="Noto Sans" pitchFamily="34" charset="0"/>
                <a:ea typeface="Noto Sans" pitchFamily="34" charset="-122"/>
                <a:cs typeface="Noto Sans" pitchFamily="34" charset="-120"/>
              </a:rPr>
              <a:t>That's the whole of Unit 4. Next we start Unit 5 —— 房子, describing where you live.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2026-09-14T23:11:10Z</dcterms:created>
  <dcterms:modified xsi:type="dcterms:W3CDTF">2026-09-14T23:11:10Z</dcterms:modified>
</cp:coreProperties>
</file>