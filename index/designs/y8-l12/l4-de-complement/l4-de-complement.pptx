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42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4056" y="166688"/>
            <a:ext cx="1059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Y8 · Lesson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15700" y="176213"/>
            <a:ext cx="3757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1101" y="1640532"/>
            <a:ext cx="111406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UNIT 4 · LESSON 12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1101" y="2053233"/>
            <a:ext cx="11140642" cy="123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90"/>
              </a:lnSpc>
              <a:spcBef>
                <a:spcPts val="1300"/>
              </a:spcBef>
              <a:spcAft>
                <a:spcPts val="500"/>
              </a:spcAft>
              <a:buNone/>
            </a:pPr>
            <a:r>
              <a:rPr lang="en-US" sz="9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做得特别好吃</a:t>
            </a:r>
            <a:endParaRPr lang="en-US" sz="9500" dirty="0"/>
          </a:p>
        </p:txBody>
      </p:sp>
      <p:sp>
        <p:nvSpPr>
          <p:cNvPr id="10" name="Text 8"/>
          <p:cNvSpPr/>
          <p:nvPr/>
        </p:nvSpPr>
        <p:spPr>
          <a:xfrm>
            <a:off x="711101" y="3347293"/>
            <a:ext cx="1114064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How Well Something Is Done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11101" y="4175968"/>
            <a:ext cx="111406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buNone/>
            </a:pP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50 minutes · 课本 p.115–117</a:t>
            </a:r>
            <a:endParaRPr lang="en-US" sz="1500" dirty="0"/>
          </a:p>
        </p:txBody>
      </p:sp>
      <p:pic>
        <p:nvPicPr>
          <p:cNvPr id="12" name="Image 0" descr="/var/folders/6c/210dcgxn4gz5sm71vld2cy1h0000gn/T/tmp.sLz7wO9Bv9/img/haoc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01" y="4747468"/>
            <a:ext cx="952500" cy="952500"/>
          </a:xfrm>
          <a:prstGeom prst="rect">
            <a:avLst/>
          </a:prstGeom>
        </p:spPr>
      </p:pic>
      <p:pic>
        <p:nvPicPr>
          <p:cNvPr id="13" name="Image 1" descr="/var/folders/6c/210dcgxn4gz5sm71vld2cy1h0000gn/T/tmp.sLz7wO9Bv9/img/teb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02" y="4747468"/>
            <a:ext cx="952500" cy="952500"/>
          </a:xfrm>
          <a:prstGeom prst="rect">
            <a:avLst/>
          </a:prstGeom>
        </p:spPr>
      </p:pic>
      <p:pic>
        <p:nvPicPr>
          <p:cNvPr id="14" name="Image 2" descr="/var/folders/6c/210dcgxn4gz5sm71vld2cy1h0000gn/T/tmp.sLz7wO9Bv9/img/chaomi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502" y="4747468"/>
            <a:ext cx="952500" cy="952500"/>
          </a:xfrm>
          <a:prstGeom prst="rect">
            <a:avLst/>
          </a:prstGeom>
        </p:spPr>
      </p:pic>
      <p:pic>
        <p:nvPicPr>
          <p:cNvPr id="15" name="Image 3" descr="/var/folders/6c/210dcgxn4gz5sm71vld2cy1h0000gn/T/tmp.sLz7wO9Bv9/img/bisab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703" y="4747468"/>
            <a:ext cx="952500" cy="952500"/>
          </a:xfrm>
          <a:prstGeom prst="rect">
            <a:avLst/>
          </a:prstGeom>
        </p:spPr>
      </p:pic>
      <p:pic>
        <p:nvPicPr>
          <p:cNvPr id="16" name="Image 4" descr="/var/folders/6c/210dcgxn4gz5sm71vld2cy1h0000gn/T/tmp.sLz7wO9Bv9/img/fandi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1904" y="4747468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1581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复习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28813" y="166688"/>
            <a:ext cx="13061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Lesson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548" y="176213"/>
            <a:ext cx="40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106960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可以 · FIVE ON WHITEBOARDS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430810"/>
            <a:ext cx="2112615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2481560"/>
            <a:ext cx="19216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WHITEBOARDS · 4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833836"/>
            <a:ext cx="11074598" cy="2399556"/>
          </a:xfrm>
          <a:prstGeom prst="roundRect">
            <a:avLst>
              <a:gd name="adj" fmla="val 5293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3017937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① Translate: “May I use RMB?”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552" y="3415159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② 我 ______ 用英语说吗？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3552" y="3854946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③ 我用可以人民币吗？　—— 哪里错了？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93552" y="4294733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④ Write the character for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hù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household.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3552" y="4691955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⑤ 一共多少钱？　—— 用中文回答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0425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复习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15554" y="166688"/>
            <a:ext cx="17386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练习册 p.131 Ex.8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108895"/>
            <a:ext cx="11296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阅读 · 练习册 P.131 EX.8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451795"/>
            <a:ext cx="11074598" cy="1440210"/>
          </a:xfrm>
          <a:prstGeom prst="roundRect">
            <a:avLst>
              <a:gd name="adj" fmla="val 8818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3552" y="2635895"/>
            <a:ext cx="10816995" cy="1072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个星期天我跟妈妈去市场买菜了。市场上人很多。妈妈先买了两条鱼和一斤猪肉。那天的苹果特别便宜，十块钱九个。妈妈买了二十块钱的苹果。我们还买了八个橙子，花了二十块钱。最后，我们又买了一些青菜。市场离我家很近，我们走路回家了。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58701" y="3892004"/>
            <a:ext cx="11074598" cy="1339602"/>
          </a:xfrm>
          <a:prstGeom prst="roundRect">
            <a:avLst>
              <a:gd name="adj" fmla="val 5688"/>
            </a:avLst>
          </a:prstGeom>
          <a:solidFill>
            <a:srgbClr val="B93F2C">
              <a:alpha val="11000"/>
            </a:srgbClr>
          </a:solidFill>
          <a:ln w="952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5927" y="4041130"/>
            <a:ext cx="83125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对还是错 · TRUE OR FALSE — ON WHITEBOARDS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5927" y="4241155"/>
            <a:ext cx="831252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① 昨天她跟妈妈一起去市场买菜了。 ② 她妈妈买了十八个苹果。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③ 她妈妈没有买蔬菜。 ④ 她们走路回家了。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5927" y="4844355"/>
            <a:ext cx="83125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鱼、猪肉、橙子、便宜 are unknowns. Work around them — that is what the test's reading section asks for.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581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399" y="176213"/>
            <a:ext cx="4015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13898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462832"/>
            <a:ext cx="11074598" cy="1307902"/>
          </a:xfrm>
          <a:prstGeom prst="roundRect">
            <a:avLst>
              <a:gd name="adj" fmla="val 9710"/>
            </a:avLst>
          </a:prstGeom>
          <a:solidFill>
            <a:srgbClr val="E8E2C8"/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6365" y="1659582"/>
            <a:ext cx="107392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say how well something is done, using 得 after the verb.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58701" y="2973884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8701" y="3297734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5927" y="3434209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77677" y="3434209"/>
            <a:ext cx="340482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and write the new words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7677" y="3769370"/>
            <a:ext cx="34048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好吃、特别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58701" y="4293096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5927" y="4429571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77677" y="4429571"/>
            <a:ext cx="236147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the 好吃 scale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7677" y="4764732"/>
            <a:ext cx="236147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特别好吃 → 不好吃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58701" y="5288459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5927" y="5424934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77677" y="5424934"/>
            <a:ext cx="295229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build a sentence with 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77677" y="5760095"/>
            <a:ext cx="29522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他钢琴弹得很好听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70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1 of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548" y="176213"/>
            <a:ext cx="40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51864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842492"/>
            <a:ext cx="5334149" cy="3979218"/>
          </a:xfrm>
          <a:prstGeom prst="roundRect">
            <a:avLst>
              <a:gd name="adj" fmla="val 319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sLz7wO9Bv9/img/haoc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000" y="2131368"/>
            <a:ext cx="1587401" cy="15874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4986" y="3807619"/>
            <a:ext cx="98081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hǎochī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438400" y="4286994"/>
            <a:ext cx="1606245" cy="82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好吃</a:t>
            </a:r>
            <a:endParaRPr lang="en-US" sz="6200" dirty="0"/>
          </a:p>
        </p:txBody>
      </p:sp>
      <p:sp>
        <p:nvSpPr>
          <p:cNvPr id="13" name="Text 10"/>
          <p:cNvSpPr/>
          <p:nvPr/>
        </p:nvSpPr>
        <p:spPr>
          <a:xfrm>
            <a:off x="2771180" y="5202585"/>
            <a:ext cx="927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delicious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299150" y="1842492"/>
            <a:ext cx="5334149" cy="3979218"/>
          </a:xfrm>
          <a:prstGeom prst="roundRect">
            <a:avLst>
              <a:gd name="adj" fmla="val 319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sLz7wO9Bv9/img/teb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2131368"/>
            <a:ext cx="1587401" cy="15874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20274" y="3807619"/>
            <a:ext cx="7057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tèbié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8178850" y="4286994"/>
            <a:ext cx="1606245" cy="82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特别</a:t>
            </a:r>
            <a:endParaRPr lang="en-US" sz="6200" dirty="0"/>
          </a:p>
        </p:txBody>
      </p:sp>
      <p:sp>
        <p:nvSpPr>
          <p:cNvPr id="18" name="Text 14"/>
          <p:cNvSpPr/>
          <p:nvPr/>
        </p:nvSpPr>
        <p:spPr>
          <a:xfrm>
            <a:off x="8064103" y="5202585"/>
            <a:ext cx="1840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special; unusually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70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1 of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89804" y="176213"/>
            <a:ext cx="402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7279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96641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87276" y="1696641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001" y="1823591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 ge bāozi hěn hǎochī.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9001" y="2128391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这个包子很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好吃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9001" y="2648396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bun is delicious.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8701" y="3162598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87276" y="3162598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001" y="3289548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 jiā fàndiàn de chǎocài bú tài hǎochī.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001" y="3594348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这家饭店的炒菜不太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好吃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19001" y="4114354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restaurant's fried dishes aren't very nice.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8701" y="4628555"/>
            <a:ext cx="11074598" cy="13390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87276" y="4628555"/>
            <a:ext cx="0" cy="1339007"/>
          </a:xfrm>
          <a:prstGeom prst="line">
            <a:avLst/>
          </a:prstGeom>
          <a:noFill/>
          <a:ln w="57150">
            <a:solidFill>
              <a:srgbClr val="B93F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001" y="4755505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Tāmen de bāozi tèbié hǎochī.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9001" y="5060305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他们的包子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特别好吃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19001" y="5580311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Their buns are especially delicious.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70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1 of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6352" y="176213"/>
            <a:ext cx="3954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074813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398663"/>
            <a:ext cx="11074598" cy="1545431"/>
          </a:xfrm>
          <a:prstGeom prst="roundRect">
            <a:avLst>
              <a:gd name="adj" fmla="val 8218"/>
            </a:avLst>
          </a:prstGeom>
          <a:solidFill>
            <a:srgbClr val="E8E2C8"/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9752" y="2646313"/>
            <a:ext cx="10661547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70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 特别好吃。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869752" y="3429744"/>
            <a:ext cx="106615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Name a real dish.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8701" y="4071045"/>
            <a:ext cx="11074598" cy="1194643"/>
          </a:xfrm>
          <a:prstGeom prst="roundRect">
            <a:avLst>
              <a:gd name="adj" fmla="val 6378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8251" y="4229695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251" y="4493121"/>
            <a:ext cx="108686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sentence with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特别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可是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good and expensive at the same time.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8251" y="4769346"/>
            <a:ext cx="10868608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这家的比萨饼特别好吃，可是特别贵。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047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写字 · 练习册 p.133 Ex.11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250" y="176213"/>
            <a:ext cx="401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127498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写一写 · 特别 是两个字 · 练习册 P.133 EX.11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1335" y="2524274"/>
            <a:ext cx="75128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特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460302" y="2451348"/>
            <a:ext cx="14310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0302" y="2743349"/>
            <a:ext cx="1431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special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0302" y="2997250"/>
            <a:ext cx="14310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strokes · 牛字旁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1335" y="3362176"/>
            <a:ext cx="75128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别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460302" y="3289250"/>
            <a:ext cx="694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0302" y="3581251"/>
            <a:ext cx="694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other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0302" y="3835152"/>
            <a:ext cx="6943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strokes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8701" y="4159002"/>
            <a:ext cx="11074598" cy="1053852"/>
          </a:xfrm>
          <a:prstGeom prst="roundRect">
            <a:avLst>
              <a:gd name="adj" fmla="val 7231"/>
            </a:avLst>
          </a:prstGeom>
          <a:solidFill>
            <a:srgbClr val="B93F2C">
              <a:alpha val="11000"/>
            </a:srgbClr>
          </a:solidFill>
          <a:ln w="952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5927" y="4308128"/>
            <a:ext cx="55223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笔顺 · STROKE ORDER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5927" y="4508153"/>
            <a:ext cx="552235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别 is written </a:t>
            </a:r>
            <a:r>
              <a:rPr lang="en-US" sz="15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口 first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then 力 —— not the other way round.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5927" y="4835128"/>
            <a:ext cx="5522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Copy each three times. Books closed for the last one.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459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程度 · 课本 p.116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89804" y="176213"/>
            <a:ext cx="402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612404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好吃的程度 · 课本 P.116 WORDS FOR REFERENCE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117229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5002" y="2050554"/>
            <a:ext cx="1191515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特别好吃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65002" y="2444948"/>
            <a:ext cx="11915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strongest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8701" y="2829074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5002" y="2762399"/>
            <a:ext cx="1191515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非常好吃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58701" y="3312319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5002" y="3245644"/>
            <a:ext cx="893674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很好吃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558701" y="3795564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5002" y="3728889"/>
            <a:ext cx="2085189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好吃　·　不错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558701" y="4278809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5002" y="4212134"/>
            <a:ext cx="1191515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不太好吃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558701" y="4762054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65002" y="4695379"/>
            <a:ext cx="980962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不好吃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965002" y="5089773"/>
            <a:ext cx="9809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weakest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8701" y="5432673"/>
            <a:ext cx="1129609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spcBef>
                <a:spcPts val="900"/>
              </a:spcBef>
              <a:buNone/>
            </a:pP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shape as the 喜欢 ladder you already know. Read it down, then </a:t>
            </a:r>
            <a:r>
              <a:rPr lang="en-US" sz="1500" b="1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</a:t>
            </a: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266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The 得 complement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547" y="176213"/>
            <a:ext cx="4595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314873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THE PATTERN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638723"/>
            <a:ext cx="11074598" cy="1274713"/>
          </a:xfrm>
          <a:prstGeom prst="roundRect">
            <a:avLst>
              <a:gd name="adj" fmla="val 9963"/>
            </a:avLst>
          </a:prstGeom>
          <a:solidFill>
            <a:srgbClr val="E8E2C8"/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6365" y="2835473"/>
            <a:ext cx="10739271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90"/>
              </a:lnSpc>
              <a:buNone/>
            </a:pPr>
            <a:r>
              <a:rPr lang="en-US" sz="3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主语 ＋ 动词 ＋ </a:t>
            </a:r>
            <a:r>
              <a:rPr lang="en-US" sz="3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得</a:t>
            </a:r>
            <a:r>
              <a:rPr lang="en-US" sz="3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＋ 很/特别/不太 ＋ 形容词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726365" y="3469035"/>
            <a:ext cx="107392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得 comes AFTER the verb. ✗ 他得跑很快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8701" y="3913436"/>
            <a:ext cx="11074598" cy="1112193"/>
          </a:xfrm>
          <a:prstGeom prst="roundRect">
            <a:avLst>
              <a:gd name="adj" fmla="val 6851"/>
            </a:avLst>
          </a:prstGeom>
          <a:solidFill>
            <a:srgbClr val="4C7A2C">
              <a:alpha val="12000"/>
            </a:srgbClr>
          </a:solidFill>
          <a:ln w="952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5927" y="4062561"/>
            <a:ext cx="46819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两种说法 · 课本 P.117 NOTE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5927" y="4262586"/>
            <a:ext cx="46819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meaning, two shapes. Both are in the book.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5927" y="4538811"/>
            <a:ext cx="4681960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</a:t>
            </a: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说</a:t>
            </a:r>
            <a:r>
              <a:rPr lang="en-US" sz="19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汉语</a:t>
            </a: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说得</a:t>
            </a:r>
            <a:r>
              <a:rPr lang="en-US" sz="19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很好。 他汉语</a:t>
            </a: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说得</a:t>
            </a:r>
            <a:r>
              <a:rPr lang="en-US" sz="19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很好。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266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The 得 complement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57955" y="176213"/>
            <a:ext cx="4346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471886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模仿我说 · WATCH ME BUILD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862411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5002" y="2795736"/>
            <a:ext cx="1787500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他跑</a:t>
            </a:r>
            <a:r>
              <a:rPr lang="en-US" sz="2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得</a:t>
            </a:r>
            <a:r>
              <a:rPr lang="en-US" sz="2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很快。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58701" y="3345656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5002" y="3278981"/>
            <a:ext cx="2383182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他跑步跑</a:t>
            </a:r>
            <a:r>
              <a:rPr lang="en-US" sz="2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得</a:t>
            </a:r>
            <a:r>
              <a:rPr lang="en-US" sz="2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很快。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58701" y="3828901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5002" y="3762226"/>
            <a:ext cx="3574849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他们的饭菜做</a:t>
            </a:r>
            <a:r>
              <a:rPr lang="en-US" sz="2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得特别好吃</a:t>
            </a:r>
            <a:r>
              <a:rPr lang="en-US" sz="2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558701" y="4312146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65002" y="4245471"/>
            <a:ext cx="7149394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姐姐的小提琴拉</a:t>
            </a:r>
            <a:r>
              <a:rPr lang="en-US" sz="2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得</a:t>
            </a:r>
            <a:r>
              <a:rPr lang="en-US" sz="2300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不太好听，可是她钢琴弹</a:t>
            </a:r>
            <a:r>
              <a:rPr lang="en-US" sz="2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得特别</a:t>
            </a:r>
            <a:r>
              <a:rPr lang="en-US" sz="2300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好。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65002" y="4639866"/>
            <a:ext cx="71493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clauses, two 得, and a contrast.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CFU · 检查理解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803" y="176213"/>
            <a:ext cx="4602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37816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61666"/>
            <a:ext cx="3775770" cy="301526"/>
          </a:xfrm>
          <a:prstGeom prst="roundRect">
            <a:avLst>
              <a:gd name="adj" fmla="val 2103848"/>
            </a:avLst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1712416"/>
            <a:ext cx="3618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WHITEBOARDS · NO ANSWERS ON SCREEN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064693"/>
            <a:ext cx="11074598" cy="594122"/>
          </a:xfrm>
          <a:prstGeom prst="roundRect">
            <a:avLst>
              <a:gd name="adj" fmla="val 1282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5927" y="2201168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77677" y="2201168"/>
            <a:ext cx="364240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Does 得 go before or after the verb?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8701" y="2741265"/>
            <a:ext cx="11074598" cy="594122"/>
          </a:xfrm>
          <a:prstGeom prst="roundRect">
            <a:avLst>
              <a:gd name="adj" fmla="val 1282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5927" y="2877741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77677" y="2877741"/>
            <a:ext cx="466541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Translate: “My dad plays basketball very well.”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8701" y="3417838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5927" y="3554313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77677" y="3554313"/>
            <a:ext cx="245954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is wrong with this?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7677" y="3889474"/>
            <a:ext cx="24595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他跑得快很。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58701" y="4413200"/>
            <a:ext cx="11074598" cy="594122"/>
          </a:xfrm>
          <a:prstGeom prst="roundRect">
            <a:avLst>
              <a:gd name="adj" fmla="val 1282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5927" y="4549676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77677" y="4549676"/>
            <a:ext cx="572470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Give me the </a:t>
            </a:r>
            <a:r>
              <a:rPr lang="en-US" sz="16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strongest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way to say something is delicious.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8701" y="5089773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5927" y="5226248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77677" y="5226248"/>
            <a:ext cx="286212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Answer in a full sentence.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77677" y="5561409"/>
            <a:ext cx="28621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这家饭店的饭菜做得怎么样？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912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课本 p.115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249" y="176213"/>
            <a:ext cx="4598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49974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TEXT 2 · CD 59 —— 前两句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823591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41202" y="1823591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Nǐmen jiā cháng qù fàndiàn chīfàn ma?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1202" y="2077492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你们家常去饭店吃饭吗？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58701" y="2575173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41202" y="2575173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Chàbuduō měi liǎng xīngqī qù yí cì.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1202" y="2829074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差不多每两星期去一次。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8701" y="3326755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41202" y="3326755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Nǐmen jīngcháng qù nǎ jiā fàndiàn chīfàn?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41202" y="3580656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你们经常去哪家饭店吃饭？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8701" y="4078337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41202" y="4078337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Wǒmen jīngcháng qù yì jiā Shànghǎi fàndiàn chīfàn. Tāmen de fàncài zuò de tèbié hǎochī.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1202" y="4332238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我们经常去一家上海饭店吃饭。他们的饭菜做</a:t>
            </a: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得特别好吃</a:t>
            </a: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8701" y="4728418"/>
            <a:ext cx="11074598" cy="1112193"/>
          </a:xfrm>
          <a:prstGeom prst="roundRect">
            <a:avLst>
              <a:gd name="adj" fmla="val 6851"/>
            </a:avLst>
          </a:prstGeom>
          <a:solidFill>
            <a:srgbClr val="B96A12">
              <a:alpha val="14000"/>
            </a:srgbClr>
          </a:solidFill>
          <a:ln w="952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5927" y="4877544"/>
            <a:ext cx="81213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先别教 · LEAVE THESE FOR NEXT LESSON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5927" y="5077569"/>
            <a:ext cx="812139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次 and 差不多每两星期 are Lesson 5's business. </a:t>
            </a:r>
            <a:r>
              <a:rPr lang="en-US" sz="15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them today — don't teach them.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5927" y="5353794"/>
            <a:ext cx="8121399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听懂了吗：他们去哪家饭店？那家饭店的饭菜怎么样？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5766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20–27 MIN · WE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39132" y="166688"/>
            <a:ext cx="18424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课本 p.116 Ex.8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654" y="176213"/>
            <a:ext cx="4604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863477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这……怎么样？ · 课本 P.116 EX.8 —— EIGHT DISHES, ALL OF THEM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187327"/>
            <a:ext cx="2663875" cy="1575048"/>
          </a:xfrm>
          <a:prstGeom prst="roundRect">
            <a:avLst>
              <a:gd name="adj" fmla="val 8063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sLz7wO9Bv9/img/chaom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263" y="2323802"/>
            <a:ext cx="812750" cy="8127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96913" y="3199954"/>
            <a:ext cx="803199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炒面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3362176" y="2187327"/>
            <a:ext cx="2664023" cy="1575048"/>
          </a:xfrm>
          <a:prstGeom prst="roundRect">
            <a:avLst>
              <a:gd name="adj" fmla="val 8063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sLz7wO9Bv9/img/bisab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738" y="2323802"/>
            <a:ext cx="812750" cy="8127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03638" y="3199954"/>
            <a:ext cx="1204722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比萨饼</a:t>
            </a:r>
            <a:endParaRPr lang="en-US" sz="3100" dirty="0"/>
          </a:p>
        </p:txBody>
      </p:sp>
      <p:sp>
        <p:nvSpPr>
          <p:cNvPr id="15" name="Text 11"/>
          <p:cNvSpPr/>
          <p:nvPr/>
        </p:nvSpPr>
        <p:spPr>
          <a:xfrm>
            <a:off x="6165800" y="2187327"/>
            <a:ext cx="2663875" cy="1575048"/>
          </a:xfrm>
          <a:prstGeom prst="roundRect">
            <a:avLst>
              <a:gd name="adj" fmla="val 8063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sLz7wO9Bv9/img/xiangjia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3" y="2323802"/>
            <a:ext cx="812750" cy="812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04013" y="3199954"/>
            <a:ext cx="803199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香蕉</a:t>
            </a:r>
            <a:endParaRPr lang="en-US" sz="3100" dirty="0"/>
          </a:p>
        </p:txBody>
      </p:sp>
      <p:sp>
        <p:nvSpPr>
          <p:cNvPr id="18" name="Text 13"/>
          <p:cNvSpPr/>
          <p:nvPr/>
        </p:nvSpPr>
        <p:spPr>
          <a:xfrm>
            <a:off x="8969276" y="2187327"/>
            <a:ext cx="2664023" cy="1575048"/>
          </a:xfrm>
          <a:prstGeom prst="roundRect">
            <a:avLst>
              <a:gd name="adj" fmla="val 8063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sLz7wO9Bv9/img/chaoca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838" y="2323802"/>
            <a:ext cx="812750" cy="8127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907488" y="3199954"/>
            <a:ext cx="803199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炒菜</a:t>
            </a:r>
            <a:endParaRPr lang="en-US" sz="3100" dirty="0"/>
          </a:p>
        </p:txBody>
      </p:sp>
      <p:sp>
        <p:nvSpPr>
          <p:cNvPr id="21" name="Text 15"/>
          <p:cNvSpPr/>
          <p:nvPr/>
        </p:nvSpPr>
        <p:spPr>
          <a:xfrm>
            <a:off x="558701" y="3901976"/>
            <a:ext cx="2663875" cy="1575048"/>
          </a:xfrm>
          <a:prstGeom prst="roundRect">
            <a:avLst>
              <a:gd name="adj" fmla="val 8063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/var/folders/6c/210dcgxn4gz5sm71vld2cy1h0000gn/T/tmp.sLz7wO9Bv9/img/hanbaoba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4263" y="4038451"/>
            <a:ext cx="812750" cy="8127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00014" y="4914602"/>
            <a:ext cx="1204722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汉堡包</a:t>
            </a:r>
            <a:endParaRPr lang="en-US" sz="3100" dirty="0"/>
          </a:p>
        </p:txBody>
      </p:sp>
      <p:sp>
        <p:nvSpPr>
          <p:cNvPr id="24" name="Text 17"/>
          <p:cNvSpPr/>
          <p:nvPr/>
        </p:nvSpPr>
        <p:spPr>
          <a:xfrm>
            <a:off x="3362176" y="3901976"/>
            <a:ext cx="2664023" cy="1575048"/>
          </a:xfrm>
          <a:prstGeom prst="roundRect">
            <a:avLst>
              <a:gd name="adj" fmla="val 8063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5" descr="/var/folders/6c/210dcgxn4gz5sm71vld2cy1h0000gn/T/tmp.sLz7wO9Bv9/img/xigu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7738" y="4038451"/>
            <a:ext cx="812750" cy="8127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300389" y="4914602"/>
            <a:ext cx="803199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西瓜</a:t>
            </a:r>
            <a:endParaRPr lang="en-US" sz="3100" dirty="0"/>
          </a:p>
        </p:txBody>
      </p:sp>
      <p:sp>
        <p:nvSpPr>
          <p:cNvPr id="27" name="Text 19"/>
          <p:cNvSpPr/>
          <p:nvPr/>
        </p:nvSpPr>
        <p:spPr>
          <a:xfrm>
            <a:off x="6165800" y="3901976"/>
            <a:ext cx="2663875" cy="1575048"/>
          </a:xfrm>
          <a:prstGeom prst="roundRect">
            <a:avLst>
              <a:gd name="adj" fmla="val 8063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6" descr="/var/folders/6c/210dcgxn4gz5sm71vld2cy1h0000gn/T/tmp.sLz7wO9Bv9/img/pinggu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363" y="4038451"/>
            <a:ext cx="812750" cy="81275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104013" y="4914602"/>
            <a:ext cx="803199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</a:t>
            </a:r>
            <a:endParaRPr lang="en-US" sz="3100" dirty="0"/>
          </a:p>
        </p:txBody>
      </p:sp>
      <p:sp>
        <p:nvSpPr>
          <p:cNvPr id="30" name="Text 21"/>
          <p:cNvSpPr/>
          <p:nvPr/>
        </p:nvSpPr>
        <p:spPr>
          <a:xfrm>
            <a:off x="8969276" y="3901976"/>
            <a:ext cx="2664023" cy="1575048"/>
          </a:xfrm>
          <a:prstGeom prst="roundRect">
            <a:avLst>
              <a:gd name="adj" fmla="val 8063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7" descr="/var/folders/6c/210dcgxn4gz5sm71vld2cy1h0000gn/T/tmp.sLz7wO9Bv9/img/qingca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4838" y="4038451"/>
            <a:ext cx="812750" cy="81275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907488" y="4914602"/>
            <a:ext cx="803199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青菜</a:t>
            </a:r>
            <a:endParaRPr lang="en-US" sz="3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5766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20–27 MIN · WE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39132" y="166688"/>
            <a:ext cx="18424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课本 p.116 Ex.8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803" y="176213"/>
            <a:ext cx="4602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54930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这炒面怎么样？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873151"/>
            <a:ext cx="1386632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1923901"/>
            <a:ext cx="1181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 · 7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276177"/>
            <a:ext cx="11074598" cy="1917204"/>
          </a:xfrm>
          <a:prstGeom prst="roundRect">
            <a:avLst>
              <a:gd name="adj" fmla="val 6624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2460278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A：这炒面怎么样？　B：非常好吃。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93552" y="2900065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 through all eight dishes.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3552" y="3297287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rule: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 rung of the ladder twice by the same student. That forces all seven degrees into play.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3552" y="3694509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pairs read theirs out at the end.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8701" y="4320332"/>
            <a:ext cx="11074598" cy="1470868"/>
          </a:xfrm>
          <a:prstGeom prst="roundRect">
            <a:avLst>
              <a:gd name="adj" fmla="val 5181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8251" y="4478982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8251" y="4742408"/>
            <a:ext cx="108686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justifies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answer with a second sentence using 因为 and something from an earlier lesson. Then A asks a follow-up —— and B answers without looking at the board.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8251" y="5294858"/>
            <a:ext cx="10868608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不太好吃，因为我不喜欢吃青菜，我一般吃水果。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6713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27–35 MIN · YOU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32000" y="166688"/>
            <a:ext cx="19236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2 · 课本 p.117 Ex.10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059" y="176213"/>
            <a:ext cx="4610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71807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2 · 用「得」造句 · 课本 P.117 EX.10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041922"/>
            <a:ext cx="1486049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2092672"/>
            <a:ext cx="12825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BOOKS · 8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444948"/>
            <a:ext cx="11074598" cy="1917204"/>
          </a:xfrm>
          <a:prstGeom prst="roundRect">
            <a:avLst>
              <a:gd name="adj" fmla="val 6624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2629049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Six pictures. One sentence each, with 得 and a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different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degree word every time.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552" y="3026271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　·　打网球　·　弹钢琴　·　穿衣服　·　画画儿　·　跳舞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3552" y="3466058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Pinyin stays up for two minutes, then comes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down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3552" y="3863280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练习册 p.137 Ex.21 as a fast check —— match the six sentence halves.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8701" y="4489103"/>
            <a:ext cx="11074598" cy="1133177"/>
          </a:xfrm>
          <a:prstGeom prst="roundRect">
            <a:avLst>
              <a:gd name="adj" fmla="val 6724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8251" y="4647754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8251" y="4911179"/>
            <a:ext cx="108686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all six in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shapes, then a four-sentence paragraph about one real person in your family: what they do well, what they don't, what they cook. Every sentence with 得, joined with 可是 and 除了……以外. No word bank.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6795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35–39 MIN · YOU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40037" y="166688"/>
            <a:ext cx="21032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3 · 练习册 p.134 Ex.12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8607" y="176213"/>
            <a:ext cx="4543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39304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3 · 好 ＋ 动词 · 练习册 P.134 EX.12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63154"/>
            <a:ext cx="2111573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1713905"/>
            <a:ext cx="19206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WHITEBOARDS · 3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066181"/>
            <a:ext cx="11074598" cy="1562546"/>
          </a:xfrm>
          <a:prstGeom prst="roundRect">
            <a:avLst>
              <a:gd name="adj" fmla="val 8128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2250281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u="sng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这条裙子</a:t>
            </a:r>
            <a:r>
              <a:rPr lang="en-US" sz="21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很好看。 ______ 很好喝。 ______ 不好看。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93552" y="2690068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 很好吃。　　______ 不好吃。　　______ 很好听。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3552" y="3129855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held up at once.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8701" y="3755678"/>
            <a:ext cx="11074598" cy="1133177"/>
          </a:xfrm>
          <a:prstGeom prst="roundRect">
            <a:avLst>
              <a:gd name="adj" fmla="val 6724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8251" y="3914329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251" y="4177754"/>
            <a:ext cx="108686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好玩 and 好学 to the family, one sentence each —— then one sentence that uses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members of the family at once.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8701" y="4888855"/>
            <a:ext cx="11074598" cy="1112193"/>
          </a:xfrm>
          <a:prstGeom prst="roundRect">
            <a:avLst>
              <a:gd name="adj" fmla="val 6851"/>
            </a:avLst>
          </a:prstGeom>
          <a:solidFill>
            <a:srgbClr val="4C7A2C">
              <a:alpha val="12000"/>
            </a:srgbClr>
          </a:solidFill>
          <a:ln w="952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5927" y="5037981"/>
            <a:ext cx="41837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一家人 · ONE FAMILY OF WORDS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5927" y="5238006"/>
            <a:ext cx="418373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好 ＋ 动词 ＝ “good to do”.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5927" y="5514231"/>
            <a:ext cx="4183737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好吃　·　好喝　·　好看　·　好听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493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39–43 MIN · 游戏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16336" y="166688"/>
            <a:ext cx="1015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找不同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505" y="176213"/>
            <a:ext cx="4605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235720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找不同 · ODD ONE OUT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559570"/>
            <a:ext cx="1393478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1610320"/>
            <a:ext cx="11881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 · 3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1962596"/>
            <a:ext cx="11074598" cy="2881908"/>
          </a:xfrm>
          <a:prstGeom prst="roundRect">
            <a:avLst>
              <a:gd name="adj" fmla="val 4407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2146697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Which word doesn't belong —— and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why, in Chinese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? The reason is the point.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552" y="2543919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① 特别好吃 / 非常好吃 / 不好吃 / 很好吃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3552" y="2983706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② 炒面 / 包子 / 米饭 / 可乐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93552" y="3423493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③ 得 / 很 / 特别 / 非常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93552" y="3863280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④ 好吃 / 好喝 / 好看 / 好人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93552" y="4303068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⑤ 苹果 / 西瓜 / 土豆 / 香蕉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58701" y="4971455"/>
            <a:ext cx="11074598" cy="1133177"/>
          </a:xfrm>
          <a:prstGeom prst="roundRect">
            <a:avLst>
              <a:gd name="adj" fmla="val 6724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8251" y="5130105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251" y="5393531"/>
            <a:ext cx="108686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Give a reason that works for a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different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word in the set too —— so there are two defensible answers —— then argue for yours in Chinese.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49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小结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16187" y="166688"/>
            <a:ext cx="5188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1910" y="176213"/>
            <a:ext cx="4611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89845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222302"/>
            <a:ext cx="11074598" cy="774502"/>
          </a:xfrm>
          <a:prstGeom prst="roundRect">
            <a:avLst>
              <a:gd name="adj" fmla="val 9839"/>
            </a:avLst>
          </a:prstGeom>
          <a:solidFill>
            <a:srgbClr val="4C7A2C">
              <a:alpha val="12000"/>
            </a:srgbClr>
          </a:solidFill>
          <a:ln w="952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5927" y="2371427"/>
            <a:ext cx="64509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SELF-ASSESSMENT · 自评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5927" y="2571452"/>
            <a:ext cx="64509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Traffic light on your whiteboard —— one per criterion.  /  /</a:t>
            </a:r>
            <a:endParaRPr lang="en-US" sz="1500" dirty="0"/>
          </a:p>
        </p:txBody>
      </p:sp>
      <p:pic>
        <p:nvPicPr>
          <p:cNvPr id="12" name="Image 0" descr="/var/folders/6c/210dcgxn4gz5sm71vld2cy1h0000gn/T/tmp.sLz7wO9Bv9/img/rate-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796" y="2574727"/>
            <a:ext cx="253901" cy="253901"/>
          </a:xfrm>
          <a:prstGeom prst="rect">
            <a:avLst/>
          </a:prstGeom>
        </p:spPr>
      </p:pic>
      <p:pic>
        <p:nvPicPr>
          <p:cNvPr id="13" name="Image 1" descr="/var/folders/6c/210dcgxn4gz5sm71vld2cy1h0000gn/T/tmp.sLz7wO9Bv9/img/rate-m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637" y="2574727"/>
            <a:ext cx="253901" cy="253901"/>
          </a:xfrm>
          <a:prstGeom prst="rect">
            <a:avLst/>
          </a:prstGeom>
        </p:spPr>
      </p:pic>
      <p:pic>
        <p:nvPicPr>
          <p:cNvPr id="14" name="Image 2" descr="/var/folders/6c/210dcgxn4gz5sm71vld2cy1h0000gn/T/tmp.sLz7wO9Bv9/img/rate-d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477" y="2574727"/>
            <a:ext cx="253901" cy="2539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8701" y="3136404"/>
            <a:ext cx="11074598" cy="1053852"/>
          </a:xfrm>
          <a:prstGeom prst="roundRect">
            <a:avLst>
              <a:gd name="adj" fmla="val 7231"/>
            </a:avLst>
          </a:prstGeom>
          <a:solidFill>
            <a:srgbClr val="B93F2C">
              <a:alpha val="11000"/>
            </a:srgbClr>
          </a:solidFill>
          <a:ln w="952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745927" y="3285530"/>
            <a:ext cx="5466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出门条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45927" y="3485555"/>
            <a:ext cx="546694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</a:t>
            </a:r>
            <a:r>
              <a:rPr lang="en-US" sz="15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sentence with 得 about someone in your family.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45927" y="3812530"/>
            <a:ext cx="54669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 a half-slip. Collected at the door.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58701" y="4329857"/>
            <a:ext cx="11074598" cy="1112193"/>
          </a:xfrm>
          <a:prstGeom prst="roundRect">
            <a:avLst>
              <a:gd name="adj" fmla="val 6851"/>
            </a:avLst>
          </a:prstGeom>
          <a:solidFill>
            <a:srgbClr val="B96A12">
              <a:alpha val="14000"/>
            </a:srgbClr>
          </a:solidFill>
          <a:ln w="952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745927" y="4478982"/>
            <a:ext cx="51935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NEXT LESSON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45927" y="4679007"/>
            <a:ext cx="519354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</a:t>
            </a:r>
            <a:r>
              <a:rPr lang="en-US" sz="15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often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you eat out, and roughly how much it costs.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745927" y="4955232"/>
            <a:ext cx="5193542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差不多每两星期去一次。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2026-09-14T23:09:13Z</dcterms:created>
  <dcterms:modified xsi:type="dcterms:W3CDTF">2026-09-14T23:09:13Z</dcterms:modified>
</cp:coreProperties>
</file>