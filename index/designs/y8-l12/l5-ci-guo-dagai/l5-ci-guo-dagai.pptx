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0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866" y="166688"/>
            <a:ext cx="1059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Y8 · Lesson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1101" y="1640532"/>
            <a:ext cx="111406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1101" y="2053233"/>
            <a:ext cx="11140642" cy="123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90"/>
              </a:lnSpc>
              <a:spcBef>
                <a:spcPts val="1300"/>
              </a:spcBef>
              <a:spcAft>
                <a:spcPts val="500"/>
              </a:spcAft>
              <a:buNone/>
            </a:pPr>
            <a:r>
              <a:rPr lang="en-US" sz="9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几次？</a:t>
            </a:r>
            <a:endParaRPr lang="en-US" sz="9500" dirty="0"/>
          </a:p>
        </p:txBody>
      </p:sp>
      <p:sp>
        <p:nvSpPr>
          <p:cNvPr id="10" name="Text 8"/>
          <p:cNvSpPr/>
          <p:nvPr/>
        </p:nvSpPr>
        <p:spPr>
          <a:xfrm>
            <a:off x="711101" y="3347293"/>
            <a:ext cx="1114064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How Often, and Roughly How Much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11101" y="4175968"/>
            <a:ext cx="111406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5 of 6 · 50 minutes · 课本 p.115–118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01" y="4747468"/>
            <a:ext cx="952500" cy="952500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yi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02" y="4747468"/>
            <a:ext cx="952500" cy="952500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dag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502" y="4747468"/>
            <a:ext cx="952500" cy="952500"/>
          </a:xfrm>
          <a:prstGeom prst="rect">
            <a:avLst/>
          </a:prstGeom>
        </p:spPr>
      </p:pic>
      <p:pic>
        <p:nvPicPr>
          <p:cNvPr id="15" name="Image 3" descr="/var/folders/6c/210dcgxn4gz5sm71vld2cy1h0000gn/T/tmp.sLz7wO9Bv9/img/fandi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703" y="4747468"/>
            <a:ext cx="952500" cy="952500"/>
          </a:xfrm>
          <a:prstGeom prst="rect">
            <a:avLst/>
          </a:prstGeom>
        </p:spPr>
      </p:pic>
      <p:pic>
        <p:nvPicPr>
          <p:cNvPr id="16" name="Image 4" descr="/var/folders/6c/210dcgxn4gz5sm71vld2cy1h0000gn/T/tmp.sLz7wO9Bv9/img/kuaic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904" y="4747468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58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复习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8813" y="166688"/>
            <a:ext cx="13061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Lesson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546747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「得」接龙 · CHAIN RESPONSE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870597"/>
            <a:ext cx="2099221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921347"/>
            <a:ext cx="19080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WHOLE CLASS · 4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3273623"/>
            <a:ext cx="11074598" cy="1519982"/>
          </a:xfrm>
          <a:prstGeom prst="roundRect">
            <a:avLst>
              <a:gd name="adj" fmla="val 8355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3457724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student adds one 得 sentence about the person on their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left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854946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他画画儿画得很好 → 她跳舞跳得很美 → ……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4294733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repeating a verb. If someone stalls, the class supplies the verb and they build the sentence.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58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复习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8813" y="166688"/>
            <a:ext cx="13061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Lesson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918395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四题 · ON WHITEBOARDS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42245"/>
            <a:ext cx="2112615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292995"/>
            <a:ext cx="1921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4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645271"/>
            <a:ext cx="11074598" cy="2002334"/>
          </a:xfrm>
          <a:prstGeom prst="roundRect">
            <a:avLst>
              <a:gd name="adj" fmla="val 6343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829371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① Translate: “The food at this restaurant is especially delicious.”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226594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 姐姐的小提琴拉 ______ 不太好听。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666381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③ 排一排（最强的在前）：很好吃／不好吃／特别好吃／不太好吃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552" y="4106168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④ 他得跑很快。　—— 哪里错了？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8701" y="4647605"/>
            <a:ext cx="11074598" cy="774502"/>
          </a:xfrm>
          <a:prstGeom prst="roundRect">
            <a:avLst>
              <a:gd name="adj" fmla="val 9839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927" y="4796730"/>
            <a:ext cx="102624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CONNECTION · 接上节课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927" y="4996755"/>
            <a:ext cx="102624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can say the food is especially good. Now —— how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often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 you actually go, and what does it cost you?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13898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462832"/>
            <a:ext cx="11074598" cy="1307902"/>
          </a:xfrm>
          <a:prstGeom prst="roundRect">
            <a:avLst>
              <a:gd name="adj" fmla="val 9710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1659582"/>
            <a:ext cx="10739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how many times we do something and to give an approximate amount.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58701" y="2973884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8701" y="3297734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3434209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7677" y="3434209"/>
            <a:ext cx="340482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write the new words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7677" y="3769370"/>
            <a:ext cx="340482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次、一次、大概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8701" y="4293096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927" y="4429571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7677" y="4429571"/>
            <a:ext cx="418297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and answer with 几次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7677" y="4764732"/>
            <a:ext cx="41829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你去过北京几次？／你一星期吃几次快餐？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8701" y="5288459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5927" y="5424934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77677" y="5424934"/>
            <a:ext cx="378145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大概 to give a rough amount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7677" y="5760095"/>
            <a:ext cx="37814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大概花五十块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1864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00" y="2131368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1727" y="3807619"/>
            <a:ext cx="25290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cì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832050" y="4286994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次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1366093" y="5202585"/>
            <a:ext cx="37937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times （measure word for actions）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99150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sLz7wO9Bv9/img/yi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2131368"/>
            <a:ext cx="1587401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23709" y="3807619"/>
            <a:ext cx="49473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yícì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178850" y="4286994"/>
            <a:ext cx="1606245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一次</a:t>
            </a:r>
            <a:endParaRPr lang="en-US" sz="6200" dirty="0"/>
          </a:p>
        </p:txBody>
      </p:sp>
      <p:sp>
        <p:nvSpPr>
          <p:cNvPr id="18" name="Text 14"/>
          <p:cNvSpPr/>
          <p:nvPr/>
        </p:nvSpPr>
        <p:spPr>
          <a:xfrm>
            <a:off x="8717756" y="5202585"/>
            <a:ext cx="5068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once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yì xīngqī qù yí cì.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我一星期去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一次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go once a week.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yí ge yuè kàn liǎng cì diànyǐng.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我一个月看两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次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see two films a month.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qù guo Běijīng sān cì, qù guo Shànghǎi yí cì.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我去过北京三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次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，去过上海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一次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I've been to Beijing three times and Shanghai once.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093" y="176213"/>
            <a:ext cx="420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909018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32868"/>
            <a:ext cx="11074598" cy="2214563"/>
          </a:xfrm>
          <a:prstGeom prst="roundRect">
            <a:avLst>
              <a:gd name="adj" fmla="val 5735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480518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我一星期 ______ 几次？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149650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我一星期 ______ ______ 次。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869752" y="3933081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it, then answer it. 90 seconds.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8701" y="4574381"/>
            <a:ext cx="11074598" cy="856952"/>
          </a:xfrm>
          <a:prstGeom prst="roundRect">
            <a:avLst>
              <a:gd name="adj" fmla="val 889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8251" y="4733032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251" y="4996458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sentences —— one with 一星期, one with 一个月, one with 一年. All three need 次.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1864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96458" y="1842492"/>
            <a:ext cx="2198936" cy="3979218"/>
          </a:xfrm>
          <a:prstGeom prst="roundRect">
            <a:avLst>
              <a:gd name="adj" fmla="val 577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dag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2151" y="2131368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6637" y="3807619"/>
            <a:ext cx="77374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dàgài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308550" y="4286994"/>
            <a:ext cx="1606245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大概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5209133" y="5202585"/>
            <a:ext cx="18090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roughly; probably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ge dàgài shí kuài qián.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大概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十块钱。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roughly ten yuan.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dàgài měi tiān chī liǎng zhǒng shuǐguǒ.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大概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每天吃两种水果。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probably eat two kinds of fruit a day.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yí ge yuè dàgài kàn liǎng cì diànyǐng.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我一个月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大概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看两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次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see roughly two films a month.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7481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98663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646313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我每个月大概花 ______ 块钱买 ______ 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429744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A real amount, in Chinese.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071045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229695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493121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sentence with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大概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one with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差不多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then say what the difference is.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251" y="4769346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大概 = roughly　·　差不多 = nearly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Checkpoint · 三个词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969568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 — NO PINYIN, NO ENGLISH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293418"/>
            <a:ext cx="3589883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0241" y="3518743"/>
            <a:ext cx="3486802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次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4300984" y="3293418"/>
            <a:ext cx="3589883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52525" y="3518743"/>
            <a:ext cx="3486802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一次</a:t>
            </a:r>
            <a:endParaRPr lang="en-US" sz="4700" dirty="0"/>
          </a:p>
        </p:txBody>
      </p:sp>
      <p:sp>
        <p:nvSpPr>
          <p:cNvPr id="13" name="Text 11"/>
          <p:cNvSpPr/>
          <p:nvPr/>
        </p:nvSpPr>
        <p:spPr>
          <a:xfrm>
            <a:off x="8043267" y="3293418"/>
            <a:ext cx="3590032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94806" y="3518743"/>
            <a:ext cx="3486954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大概</a:t>
            </a:r>
            <a:endParaRPr lang="en-US" sz="4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899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How often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31487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THE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638723"/>
            <a:ext cx="11074598" cy="1274713"/>
          </a:xfrm>
          <a:prstGeom prst="roundRect">
            <a:avLst>
              <a:gd name="adj" fmla="val 9963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2835473"/>
            <a:ext cx="1073927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 ＋ 一星期/一个月 ＋ 动词 ＋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几次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＋ 宾语？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26365" y="3469035"/>
            <a:ext cx="10739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time period comes first. 几次 sits before the object.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701" y="3913436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4062561"/>
            <a:ext cx="572212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回答 · ANSWERING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927" y="4262586"/>
            <a:ext cx="572212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shape, with the number in place of 几.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5927" y="4538811"/>
            <a:ext cx="5722126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你一星期吃</a:t>
            </a: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几次</a:t>
            </a: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快餐？ —— 我一星期吃</a:t>
            </a: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两次</a:t>
            </a: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快餐。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599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Have you ever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31487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THE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638723"/>
            <a:ext cx="11074598" cy="1274713"/>
          </a:xfrm>
          <a:prstGeom prst="roundRect">
            <a:avLst>
              <a:gd name="adj" fmla="val 9963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2835473"/>
            <a:ext cx="1073927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 ＋ 动词 ＋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＋ 地方 ＋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几次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26365" y="3469035"/>
            <a:ext cx="10739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过 you already know from Unit 3 — now it carries 次.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701" y="3913436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4062561"/>
            <a:ext cx="57787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否定的说法 · THE NEGATIVE — 课本 P.116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927" y="4262586"/>
            <a:ext cx="57787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“Not even once.” Without this, students reach for ✗ 没有几次.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5927" y="4538811"/>
            <a:ext cx="5778749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你去过北京几次？ —— </a:t>
            </a: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一次也没有去过</a:t>
            </a: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899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How often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47188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模仿我说 · WATCH ME BUILD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86241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5002" y="2795736"/>
            <a:ext cx="297886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你一星期看几次电视？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8701" y="334565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5002" y="3278981"/>
            <a:ext cx="297886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你一个月吃几次中餐？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8701" y="382890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5002" y="3762226"/>
            <a:ext cx="5510814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你去过美国几次？ —— 一次也没有去过。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58701" y="431214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5002" y="4245471"/>
            <a:ext cx="7446931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我们家差不多每两星期去一次饭店，每次大概花两百块。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65002" y="4639866"/>
            <a:ext cx="74469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Frequency + 次 + 大概, in one sentence.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CFU · 检查理解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3781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61666"/>
            <a:ext cx="3775770" cy="301526"/>
          </a:xfrm>
          <a:prstGeom prst="roundRect">
            <a:avLst>
              <a:gd name="adj" fmla="val 2103848"/>
            </a:avLst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712416"/>
            <a:ext cx="3618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NO ANSWERS ON SCREEN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064693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5927" y="2201168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7677" y="2201168"/>
            <a:ext cx="413288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Translate: “I eat fast food twice a week.”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01" y="2741265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927" y="2877741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77677" y="2877741"/>
            <a:ext cx="25410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Where does 几次 go?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7677" y="3212902"/>
            <a:ext cx="25410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你一个月看 ______ 电影？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8701" y="3736628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3873103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77677" y="3873103"/>
            <a:ext cx="61172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—— and use the negative form if the answer is none.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7677" y="4208264"/>
            <a:ext cx="61172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你去过中国几次？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8701" y="4731990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5927" y="4868466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77677" y="4868466"/>
            <a:ext cx="359078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次 or 种? 两 ___ 水果?　两 ___ 电影?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8701" y="5408563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5927" y="5545038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77677" y="5545038"/>
            <a:ext cx="50183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大概五十块 and 五十块左右 —— same or different?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1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课本 p.115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90470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TEXT 2 · CD 59 —— 再听一次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28552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41202" y="2228552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Nǐmen jiā cháng qù fàndiàn chīfàn ma?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1202" y="2482453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你们家常去饭店吃饭吗？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8701" y="2980134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41202" y="2980134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Chàbuduō měi liǎng xīngqī qù yí cì.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1202" y="3234035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差不多每两星期去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一次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8701" y="3731716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41202" y="3731716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Nǐmen měi cì chīfàn dàgài yào huā duōshao qián?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1202" y="3985617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你们每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次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大概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要花多少钱？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8701" y="4381798"/>
            <a:ext cx="11074598" cy="1053852"/>
          </a:xfrm>
          <a:prstGeom prst="roundRect">
            <a:avLst>
              <a:gd name="adj" fmla="val 7231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4530923"/>
            <a:ext cx="47520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听懂了吗 · COMPREHENSION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927" y="4730948"/>
            <a:ext cx="47520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他们多长时间去一次饭店？　「差不多」是什么意思？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5927" y="5057924"/>
            <a:ext cx="47520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in Chinese.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827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20–25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45085" y="166688"/>
            <a:ext cx="1842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课本 p.116 Ex.9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348" y="176213"/>
            <a:ext cx="479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4927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你去过……几次？ · 课本 P.116 EX.9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73126"/>
            <a:ext cx="1393180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723876"/>
            <a:ext cx="1187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5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076152"/>
            <a:ext cx="11074598" cy="2317105"/>
          </a:xfrm>
          <a:prstGeom prst="roundRect">
            <a:avLst>
              <a:gd name="adj" fmla="val 5481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260253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北京　·　纽约　·　巴黎　·　伦敦　·　东京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3552" y="2700040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Most answers will be 一次也没有去过 —— that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point. The negative gets twenty repetitions.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3097262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the same shape over 练习册 p.130 Ex.4: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552" y="3494484"/>
            <a:ext cx="10816995" cy="714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你去过北京吗？／画过国画儿吗？／吃过青菜吗？／学过法语吗？／看过中医吗？／用过人民币吗？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8701" y="4520208"/>
            <a:ext cx="11074598" cy="1470868"/>
          </a:xfrm>
          <a:prstGeom prst="roundRect">
            <a:avLst>
              <a:gd name="adj" fmla="val 5181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8251" y="4678859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251" y="4942284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every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yes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add when and how it went, using 了 and 得. For every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say what you'd like instead. Then write two 过 questions of your own and ask another pair.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251" y="5494734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我去过北京两次，去年去的，玩得特别好。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774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25–35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37954" y="166688"/>
            <a:ext cx="12722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问一问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08050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问一问 · FIND SOMEONE WHO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31900"/>
            <a:ext cx="1644402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682651"/>
            <a:ext cx="14441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MOVING · 10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034927"/>
            <a:ext cx="11074598" cy="2399556"/>
          </a:xfrm>
          <a:prstGeom prst="roundRect">
            <a:avLst>
              <a:gd name="adj" fmla="val 5293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219027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 name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each question. Ask in Chinese, write the answer in Chinese.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2616250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 你一星期吃几次快餐？　② 你一个月看几次电影？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056037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③ 你一星期做几次体育运动？　④ 你一个月吃几次中餐？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552" y="3495824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⑤ 你一星期看几次电视？　⑥ 你每个月大概花多少钱买衣服？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93552" y="3935611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Eight minutes moving, two minutes reporting. Three students report one classmate each.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701" y="4561433"/>
            <a:ext cx="11074598" cy="1470868"/>
          </a:xfrm>
          <a:prstGeom prst="roundRect">
            <a:avLst>
              <a:gd name="adj" fmla="val 5181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8251" y="4720084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251" y="4983510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 on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classmates as a connected paragraph — compare them with 比, group them with 都. Deliver it standing, with nothing written in front of you.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8251" y="5535960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美文和大生都一星期吃三次快餐，可是冬冬比他们吃得少，他一个月只吃一次。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795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35–39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037" y="166688"/>
            <a:ext cx="18963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3 · 课本 p.117 Ex.11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83490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3 · 大概花多少钱 · 课本 P.117 EX.11 · 练习册 P.134 EX.13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158752"/>
            <a:ext cx="1394371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209502"/>
            <a:ext cx="11890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4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561779"/>
            <a:ext cx="11074598" cy="1959769"/>
          </a:xfrm>
          <a:prstGeom prst="roundRect">
            <a:avLst>
              <a:gd name="adj" fmla="val 6480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745879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你每个月大概花多少钱买杂志／午饭／CD／电脑游戏／衣服？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3552" y="3185666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你每个月大概花多少钱打电话？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625453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answer must contain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大概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a real amount in Chinese money words.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552" y="4022675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read out at the end.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8701" y="4648498"/>
            <a:ext cx="11074598" cy="856952"/>
          </a:xfrm>
          <a:prstGeom prst="roundRect">
            <a:avLst>
              <a:gd name="adj" fmla="val 889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8251" y="4807148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251" y="5070574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up your own five answers and report the total with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一共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then say whether it is 太贵 or 不算太贵, and why.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7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1228" y="166688"/>
            <a:ext cx="1930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4 · 课本 p.118 Ex.13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440210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4 · 四个时态 · 课本 P.118 EX.13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764060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模仿这四句 · ONE SENTENCE PER TENSE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8701" y="215458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5002" y="2087910"/>
            <a:ext cx="3277008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我上个周末去打网球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</a:t>
            </a: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65002" y="2482304"/>
            <a:ext cx="327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8701" y="2866430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5002" y="2799755"/>
            <a:ext cx="327716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</a:t>
            </a: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周末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都</a:t>
            </a: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去看电影。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65002" y="3194149"/>
            <a:ext cx="327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8701" y="3578275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5002" y="3511600"/>
            <a:ext cx="2383485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呢</a:t>
            </a:r>
            <a:r>
              <a:rPr lang="en-US" sz="2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65002" y="3905994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 continuous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8701" y="4290120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5002" y="4223445"/>
            <a:ext cx="357500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我下个周末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r>
              <a:rPr lang="en-US" sz="230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／</a:t>
            </a:r>
            <a:r>
              <a:rPr lang="en-US" sz="2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</a:t>
            </a:r>
            <a:r>
              <a:rPr lang="en-US" sz="2300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去北京。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65002" y="4617839"/>
            <a:ext cx="357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701" y="4846439"/>
            <a:ext cx="11074598" cy="1053852"/>
          </a:xfrm>
          <a:prstGeom prst="roundRect">
            <a:avLst>
              <a:gd name="adj" fmla="val 7231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5927" y="4995565"/>
            <a:ext cx="87847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词库 · FROM THE BANKS ON P.118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927" y="5195590"/>
            <a:ext cx="878478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昨天 今天 明天　·　去年 今年 明年　·　上个月 这个月 下个月　·　上个星期 这个星期 下个星期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5927" y="5522565"/>
            <a:ext cx="87847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去朋友家 · 在家看书 · 看电视 · 看电影 · 游泳 · 跑步 · 打篮球 · 画画儿 · 去饭店吃饭 · 去上海 · 去美国 · 吃中餐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7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39–43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1228" y="166688"/>
            <a:ext cx="1930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4 · 课本 p.118 Ex.13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885950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4 · 写四句 · WHITEBOARDS UP TOGETHER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09800"/>
            <a:ext cx="2112615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260550"/>
            <a:ext cx="1921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4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612827"/>
            <a:ext cx="11074598" cy="1519982"/>
          </a:xfrm>
          <a:prstGeom prst="roundRect">
            <a:avLst>
              <a:gd name="adj" fmla="val 8355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796927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sentences, one per tense, each with a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activity.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194149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Hold them all up at once so the two usual errors show: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3591371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✗ 我下个周末去北京</a:t>
            </a: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了</a:t>
            </a:r>
            <a:r>
              <a:rPr lang="en-US" sz="21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 ✗ 我</a:t>
            </a: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r>
              <a:rPr lang="en-US" sz="21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58701" y="4259759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251" y="4418409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251" y="4681835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all four about the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activity, so the set reads as a story — and every sentence must carry a 次 or a 大概.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8251" y="4958060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我上个月去过一次上海饭店，我每个星期都想去，我正在看他们的菜单呢，我下个星期会再去一次。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49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小结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16187" y="166688"/>
            <a:ext cx="5188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8993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913781"/>
            <a:ext cx="11074598" cy="1053852"/>
          </a:xfrm>
          <a:prstGeom prst="roundRect">
            <a:avLst>
              <a:gd name="adj" fmla="val 7231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2062907"/>
            <a:ext cx="46083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SELF-ASSESSMENT · 自评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927" y="2262932"/>
            <a:ext cx="46083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Thumbs on each criterion ——  /  /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rate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2923" y="2266206"/>
            <a:ext cx="253901" cy="253901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rate-m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763" y="2266206"/>
            <a:ext cx="253901" cy="253901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rate-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604" y="2266206"/>
            <a:ext cx="253901" cy="2539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5927" y="2589907"/>
            <a:ext cx="46083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Watch criterion 1 —— 大概 is the one that fades fastest.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58701" y="3107234"/>
            <a:ext cx="11074598" cy="1391543"/>
          </a:xfrm>
          <a:prstGeom prst="roundRect">
            <a:avLst>
              <a:gd name="adj" fmla="val 5476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745927" y="3256359"/>
            <a:ext cx="37621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45927" y="3456384"/>
            <a:ext cx="376217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你一个月去几次饭店？每次大概花多少钱？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45927" y="3732609"/>
            <a:ext cx="3762176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 两个问题，写成一句。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745927" y="4121051"/>
            <a:ext cx="3762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a half-slip. Collected at the door.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58701" y="4638377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745927" y="4787503"/>
            <a:ext cx="79160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45927" y="4987528"/>
            <a:ext cx="79160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last lesson of the unit —— the whole restaurant conversation, including the bill.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45927" y="5263753"/>
            <a:ext cx="7916007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五百块左右，不算太贵。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2026-09-14T23:10:06Z</dcterms:created>
  <dcterms:modified xsi:type="dcterms:W3CDTF">2026-09-14T23:10:06Z</dcterms:modified>
</cp:coreProperties>
</file>