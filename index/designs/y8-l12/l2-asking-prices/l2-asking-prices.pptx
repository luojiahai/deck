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27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2568" y="166688"/>
            <a:ext cx="1059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Y8 · Lesson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16593" y="176213"/>
            <a:ext cx="3748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1101" y="1640532"/>
            <a:ext cx="111406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1101" y="2053233"/>
            <a:ext cx="11140642" cy="123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90"/>
              </a:lnSpc>
              <a:spcBef>
                <a:spcPts val="1300"/>
              </a:spcBef>
              <a:spcAft>
                <a:spcPts val="500"/>
              </a:spcAft>
              <a:buNone/>
            </a:pPr>
            <a:r>
              <a:rPr lang="en-US" sz="9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怎么卖？</a:t>
            </a:r>
            <a:endParaRPr lang="en-US" sz="9500" dirty="0"/>
          </a:p>
        </p:txBody>
      </p:sp>
      <p:sp>
        <p:nvSpPr>
          <p:cNvPr id="10" name="Text 8"/>
          <p:cNvSpPr/>
          <p:nvPr/>
        </p:nvSpPr>
        <p:spPr>
          <a:xfrm>
            <a:off x="711101" y="3347293"/>
            <a:ext cx="1114064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Asking the Price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11101" y="4175968"/>
            <a:ext cx="111406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 · 50 minutes · 课本 p.110、p.112</a:t>
            </a:r>
            <a:endParaRPr lang="en-US" sz="1500" dirty="0"/>
          </a:p>
        </p:txBody>
      </p:sp>
      <p:pic>
        <p:nvPicPr>
          <p:cNvPr id="12" name="Image 0" descr="/var/folders/6c/210dcgxn4gz5sm71vld2cy1h0000gn/T/tmp.sLz7wO9Bv9/img/mai-s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01" y="4747468"/>
            <a:ext cx="952500" cy="952500"/>
          </a:xfrm>
          <a:prstGeom prst="rect">
            <a:avLst/>
          </a:prstGeom>
        </p:spPr>
      </p:pic>
      <p:pic>
        <p:nvPicPr>
          <p:cNvPr id="13" name="Image 1" descr="/var/folders/6c/210dcgxn4gz5sm71vld2cy1h0000gn/T/tmp.sLz7wO9Bv9/img/mai-bu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02" y="4747468"/>
            <a:ext cx="952500" cy="952500"/>
          </a:xfrm>
          <a:prstGeom prst="rect">
            <a:avLst/>
          </a:prstGeom>
        </p:spPr>
      </p:pic>
      <p:pic>
        <p:nvPicPr>
          <p:cNvPr id="14" name="Image 2" descr="/var/folders/6c/210dcgxn4gz5sm71vld2cy1h0000gn/T/tmp.sLz7wO9Bv9/img/j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502" y="4747468"/>
            <a:ext cx="952500" cy="952500"/>
          </a:xfrm>
          <a:prstGeom prst="rect">
            <a:avLst/>
          </a:prstGeom>
        </p:spPr>
      </p:pic>
      <p:pic>
        <p:nvPicPr>
          <p:cNvPr id="15" name="Image 3" descr="/var/folders/6c/210dcgxn4gz5sm71vld2cy1h0000gn/T/tmp.sLz7wO9Bv9/img/yigo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703" y="4747468"/>
            <a:ext cx="952500" cy="952500"/>
          </a:xfrm>
          <a:prstGeom prst="rect">
            <a:avLst/>
          </a:prstGeom>
        </p:spPr>
      </p:pic>
      <p:pic>
        <p:nvPicPr>
          <p:cNvPr id="16" name="Image 4" descr="/var/folders/6c/210dcgxn4gz5sm71vld2cy1h0000gn/T/tmp.sLz7wO9Bv9/img/xigu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904" y="4747468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581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复习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28813" y="166688"/>
            <a:ext cx="12788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Lesson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546747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钱 · MONEY RAPID FIRE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870597"/>
            <a:ext cx="2112615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2921347"/>
            <a:ext cx="19216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4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3273623"/>
            <a:ext cx="11074598" cy="1519982"/>
          </a:xfrm>
          <a:prstGeom prst="roundRect">
            <a:avLst>
              <a:gd name="adj" fmla="val 8355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3457724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Teacher says an amount → write the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figure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Six of them.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3854946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teacher shows a figure → class says it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chorally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Six more.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552" y="4252168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「二十块」用「元」怎么说？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581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复习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28813" y="166688"/>
            <a:ext cx="18767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练习册 p.130 Ex.6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939677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动词 + 名词 · 练习册 P.130 EX.6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263527"/>
            <a:ext cx="1394371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2314277"/>
            <a:ext cx="118908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4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666554"/>
            <a:ext cx="11074598" cy="1959769"/>
          </a:xfrm>
          <a:prstGeom prst="roundRect">
            <a:avLst>
              <a:gd name="adj" fmla="val 6480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850654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Sixteen verbs. Match each one to a noun from the box. Three minutes, one whiteboard per pair.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3247876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儿歌　汽车　外套　音乐　西餐　历史　钢琴　可乐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552" y="3687663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作业　衣服　小提琴　青菜　汉语　电影　篮球　水彩画儿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93552" y="4127450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Highest count reads theirs out.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8701" y="4626322"/>
            <a:ext cx="11074598" cy="774502"/>
          </a:xfrm>
          <a:prstGeom prst="roundRect">
            <a:avLst>
              <a:gd name="adj" fmla="val 9839"/>
            </a:avLst>
          </a:prstGeom>
          <a:solidFill>
            <a:srgbClr val="B96A12">
              <a:alpha val="14000"/>
            </a:srgbClr>
          </a:solidFill>
          <a:ln w="952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5927" y="4775448"/>
            <a:ext cx="82543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CONNECTION · 接上节课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5927" y="4975473"/>
            <a:ext cx="825438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买衣服、买青菜 —— today we find out how to ask what those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before we buy them.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292" y="176213"/>
            <a:ext cx="4006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13898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462832"/>
            <a:ext cx="11074598" cy="1307902"/>
          </a:xfrm>
          <a:prstGeom prst="roundRect">
            <a:avLst>
              <a:gd name="adj" fmla="val 9710"/>
            </a:avLst>
          </a:prstGeom>
          <a:solidFill>
            <a:srgbClr val="E8E2C8"/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6365" y="1659582"/>
            <a:ext cx="1073927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ask how much something costs and to ask for a total.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58701" y="2973884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8701" y="3297734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5927" y="3434209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77677" y="3434209"/>
            <a:ext cx="388043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and write the four new words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7677" y="3769370"/>
            <a:ext cx="38804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买、卖、斤、一共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58701" y="4293096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5927" y="4429571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7677" y="4429571"/>
            <a:ext cx="374274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a price two ways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7677" y="4764732"/>
            <a:ext cx="37427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这些苹果怎么卖？／西瓜多少钱一斤？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58701" y="5288459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5927" y="5424934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77677" y="5424934"/>
            <a:ext cx="357044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for the total and answer 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77677" y="5760095"/>
            <a:ext cx="357044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一共多少钱？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7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599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83841"/>
            <a:ext cx="5334149" cy="4296668"/>
          </a:xfrm>
          <a:prstGeom prst="roundRect">
            <a:avLst>
              <a:gd name="adj" fmla="val 295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sLz7wO9Bv9/img/mai-bu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000" y="1972717"/>
            <a:ext cx="1587401" cy="15874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75967" y="3648968"/>
            <a:ext cx="50945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mǎi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832050" y="4128343"/>
            <a:ext cx="803199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3044130" y="5043934"/>
            <a:ext cx="3705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141613" y="5437584"/>
            <a:ext cx="17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買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99150" y="1683841"/>
            <a:ext cx="5334149" cy="4296668"/>
          </a:xfrm>
          <a:prstGeom prst="roundRect">
            <a:avLst>
              <a:gd name="adj" fmla="val 295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1" descr="/var/folders/6c/210dcgxn4gz5sm71vld2cy1h0000gn/T/tmp.sLz7wO9Bv9/img/mai-s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1972717"/>
            <a:ext cx="1587401" cy="158740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716417" y="3648968"/>
            <a:ext cx="50945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mài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572500" y="4128343"/>
            <a:ext cx="803199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</a:t>
            </a:r>
            <a:endParaRPr lang="en-US" sz="6200" dirty="0"/>
          </a:p>
        </p:txBody>
      </p:sp>
      <p:sp>
        <p:nvSpPr>
          <p:cNvPr id="19" name="Text 15"/>
          <p:cNvSpPr/>
          <p:nvPr/>
        </p:nvSpPr>
        <p:spPr>
          <a:xfrm>
            <a:off x="8795147" y="5043934"/>
            <a:ext cx="3489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sell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882063" y="5437584"/>
            <a:ext cx="17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賣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7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727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96641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7276" y="1696641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01" y="1823591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xiǎng mǎi yí ge xīguā.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001" y="2128391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我想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一个西瓜。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9001" y="2648396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want to buy a watermelon.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701" y="3162598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7276" y="3162598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001" y="3289548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Tāmen mài shuǐguǒ.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001" y="3594348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水果。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9001" y="4114354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They sell fruit.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701" y="4628555"/>
            <a:ext cx="11074598" cy="13390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7276" y="4628555"/>
            <a:ext cx="0" cy="1339007"/>
          </a:xfrm>
          <a:prstGeom prst="line">
            <a:avLst/>
          </a:prstGeom>
          <a:noFill/>
          <a:ln w="57150">
            <a:solidFill>
              <a:srgbClr val="B93F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001" y="4755505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mǎi píngguǒ, tā mài píngguǒ.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001" y="5060305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苹果，他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苹果。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9001" y="5580311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buy apples, he sells apples.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7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7245" y="176213"/>
            <a:ext cx="3945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07481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398663"/>
            <a:ext cx="11074598" cy="1545431"/>
          </a:xfrm>
          <a:prstGeom prst="roundRect">
            <a:avLst>
              <a:gd name="adj" fmla="val 8218"/>
            </a:avLst>
          </a:prstGeom>
          <a:solidFill>
            <a:srgbClr val="E8E2C8"/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9752" y="2646313"/>
            <a:ext cx="10661547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70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我想买 ______ 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69752" y="3429744"/>
            <a:ext cx="10661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Mini whiteboards. One sentence.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701" y="4071045"/>
            <a:ext cx="11074598" cy="1194643"/>
          </a:xfrm>
          <a:prstGeom prst="roundRect">
            <a:avLst>
              <a:gd name="adj" fmla="val 6378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8251" y="4229695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251" y="4493121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sentence using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words — a shop that sells it and you buying it.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251" y="4769346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这家店卖比萨饼，我想买一个。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143" y="176213"/>
            <a:ext cx="4007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1864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842492"/>
            <a:ext cx="5334149" cy="3979218"/>
          </a:xfrm>
          <a:prstGeom prst="roundRect">
            <a:avLst>
              <a:gd name="adj" fmla="val 319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sLz7wO9Bv9/img/j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000" y="2131368"/>
            <a:ext cx="1587401" cy="15874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36689" y="3807619"/>
            <a:ext cx="38573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jīn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832050" y="4286994"/>
            <a:ext cx="803199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斤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2456111" y="5202585"/>
            <a:ext cx="15699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half a kilogram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299150" y="1842492"/>
            <a:ext cx="5334149" cy="3979218"/>
          </a:xfrm>
          <a:prstGeom prst="roundRect">
            <a:avLst>
              <a:gd name="adj" fmla="val 319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sLz7wO9Bv9/img/yigo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2131368"/>
            <a:ext cx="1587401" cy="15874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98384" y="3807619"/>
            <a:ext cx="95424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yígòng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178850" y="4286994"/>
            <a:ext cx="1606245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一共</a:t>
            </a:r>
            <a:endParaRPr lang="en-US" sz="6200" dirty="0"/>
          </a:p>
        </p:txBody>
      </p:sp>
      <p:sp>
        <p:nvSpPr>
          <p:cNvPr id="18" name="Text 14"/>
          <p:cNvSpPr/>
          <p:nvPr/>
        </p:nvSpPr>
        <p:spPr>
          <a:xfrm>
            <a:off x="8443020" y="5202585"/>
            <a:ext cx="106718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altogether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548" y="176213"/>
            <a:ext cx="4013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727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96641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7276" y="1696641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01" y="1823591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Yì jīn píngguǒ shí kuài qián.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001" y="2128391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斤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苹果十块钱。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9001" y="2648396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jin of apples is ten yuan.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701" y="3162598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7276" y="3162598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001" y="3289548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mǎi liǎng jīn júzi.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001" y="3594348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我买两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斤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橘子。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9001" y="4114354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I'll buy two jin of tangerines.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701" y="4628555"/>
            <a:ext cx="11074598" cy="13390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7276" y="4628555"/>
            <a:ext cx="0" cy="1339007"/>
          </a:xfrm>
          <a:prstGeom prst="line">
            <a:avLst/>
          </a:prstGeom>
          <a:noFill/>
          <a:ln w="57150">
            <a:solidFill>
              <a:srgbClr val="B93F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001" y="4755505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Liǎng jīn júzi hé yí ge xīguā, yígòng èrshí kuài.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001" y="5060305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斤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橘子和一个西瓜，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一共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二十块。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9001" y="5580311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jin of tangerines and a watermelon — twenty yuan altogether.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440" y="176213"/>
            <a:ext cx="4586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243584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567434"/>
            <a:ext cx="11074598" cy="1545431"/>
          </a:xfrm>
          <a:prstGeom prst="roundRect">
            <a:avLst>
              <a:gd name="adj" fmla="val 8218"/>
            </a:avLst>
          </a:prstGeom>
          <a:solidFill>
            <a:srgbClr val="E8E2C8"/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9752" y="2815084"/>
            <a:ext cx="10661547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70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我买 ______ 和 ______ ，一共 ______ 块。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69752" y="3598515"/>
            <a:ext cx="10661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90 seconds. Work the total out — in Chinese.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701" y="4239816"/>
            <a:ext cx="11074598" cy="856952"/>
          </a:xfrm>
          <a:prstGeom prst="roundRect">
            <a:avLst>
              <a:gd name="adj" fmla="val 889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8251" y="4398466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251" y="4661892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items and three prices, then the total. Add up in your head, not on paper.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10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Checkpoint · 买 vs 卖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8848" y="176213"/>
            <a:ext cx="4337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969568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THEM BACK. THEN: WHICH ONE IS BUY AND WHICH IS SELL?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3293418"/>
            <a:ext cx="2654350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9597" y="3518743"/>
            <a:ext cx="2532558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3365450" y="3293418"/>
            <a:ext cx="2654350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6346" y="3518743"/>
            <a:ext cx="2532558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卖</a:t>
            </a:r>
            <a:endParaRPr lang="en-US" sz="4700" dirty="0"/>
          </a:p>
        </p:txBody>
      </p:sp>
      <p:sp>
        <p:nvSpPr>
          <p:cNvPr id="13" name="Text 11"/>
          <p:cNvSpPr/>
          <p:nvPr/>
        </p:nvSpPr>
        <p:spPr>
          <a:xfrm>
            <a:off x="6172200" y="3293418"/>
            <a:ext cx="2654350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33096" y="3518743"/>
            <a:ext cx="2532558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斤</a:t>
            </a:r>
            <a:endParaRPr lang="en-US" sz="4700" dirty="0"/>
          </a:p>
        </p:txBody>
      </p:sp>
      <p:sp>
        <p:nvSpPr>
          <p:cNvPr id="15" name="Text 13"/>
          <p:cNvSpPr/>
          <p:nvPr/>
        </p:nvSpPr>
        <p:spPr>
          <a:xfrm>
            <a:off x="8978950" y="3293418"/>
            <a:ext cx="2654350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039846" y="3518743"/>
            <a:ext cx="2532558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一共</a:t>
            </a:r>
            <a:endParaRPr lang="en-US" sz="4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714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Asking a price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1373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THREE QUESTIONS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837581"/>
            <a:ext cx="11074598" cy="1274713"/>
          </a:xfrm>
          <a:prstGeom prst="roundRect">
            <a:avLst>
              <a:gd name="adj" fmla="val 9963"/>
            </a:avLst>
          </a:prstGeom>
          <a:solidFill>
            <a:srgbClr val="E8E2C8"/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6365" y="2034332"/>
            <a:ext cx="1073927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这些苹果 </a:t>
            </a:r>
            <a:r>
              <a:rPr lang="en-US" sz="3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怎么卖</a:t>
            </a: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26365" y="2667893"/>
            <a:ext cx="107392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Loose goods — you don't yet know what the unit 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8701" y="3194745"/>
            <a:ext cx="11074598" cy="1274713"/>
          </a:xfrm>
          <a:prstGeom prst="roundRect">
            <a:avLst>
              <a:gd name="adj" fmla="val 9963"/>
            </a:avLst>
          </a:prstGeom>
          <a:solidFill>
            <a:srgbClr val="E8E2C8"/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6365" y="3391495"/>
            <a:ext cx="1073927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 </a:t>
            </a:r>
            <a:r>
              <a:rPr lang="en-US" sz="3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多少钱一斤</a:t>
            </a: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726365" y="4025057"/>
            <a:ext cx="107392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name the unit yourself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8701" y="4551908"/>
            <a:ext cx="11074598" cy="1274713"/>
          </a:xfrm>
          <a:prstGeom prst="roundRect">
            <a:avLst>
              <a:gd name="adj" fmla="val 9963"/>
            </a:avLst>
          </a:prstGeom>
          <a:solidFill>
            <a:srgbClr val="E8E2C8"/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6365" y="4748659"/>
            <a:ext cx="1073927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一共</a:t>
            </a: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多少钱？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726365" y="5382220"/>
            <a:ext cx="107392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total — and the answer starts with 一共 too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714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Asking a price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381399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模仿我说 · WATCH ME BUILD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771924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5002" y="2705249"/>
            <a:ext cx="4914980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这些橘子怎么卖？ —— 十块钱四个。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58701" y="3255169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5002" y="3188494"/>
            <a:ext cx="4914980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苹果多少钱一斤？ —— 五块五一斤。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58701" y="3738414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5002" y="3671739"/>
            <a:ext cx="4319299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菜花儿怎么卖？ —— 三块一个。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58701" y="4221659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5002" y="4154984"/>
            <a:ext cx="8191685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我买一个菜花儿和两斤土豆，一共多少钱？ —— 一共六块五。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58701" y="4663678"/>
            <a:ext cx="1129609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spcBef>
                <a:spcPts val="9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List what you want first —— 我买 + 东西 + 和 + 东西 —— </a:t>
            </a:r>
            <a:r>
              <a:rPr lang="en-US" sz="1500" b="1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</a:t>
            </a: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ask 一共多少钱？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CFU · 检查理解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547" y="176213"/>
            <a:ext cx="459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49721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821061"/>
            <a:ext cx="3775770" cy="301526"/>
          </a:xfrm>
          <a:prstGeom prst="roundRect">
            <a:avLst>
              <a:gd name="adj" fmla="val 2103848"/>
            </a:avLst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871811"/>
            <a:ext cx="3618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NO ANSWERS ON SCREEN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224088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5927" y="2360563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77677" y="2360563"/>
            <a:ext cx="536295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「多少钱一斤」and「一斤多少钱」— are both all right?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8701" y="2900660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927" y="3037136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77677" y="3037136"/>
            <a:ext cx="561555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Which do you use for a whole watermelon: 一个 or 一斤?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8701" y="3577233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5927" y="3713708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77677" y="3713708"/>
            <a:ext cx="474298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are the customer. What is wrong with this?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7677" y="4048869"/>
            <a:ext cx="47429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我卖一个西瓜。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58701" y="4572595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5927" y="4709071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77677" y="4709071"/>
            <a:ext cx="352262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Translate: “How much altogether?”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8701" y="5249168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5927" y="5385643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77677" y="5385643"/>
            <a:ext cx="287867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十块钱四个 —— 一个多少钱？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12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课本 p.110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04330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TEXT 1 · CD 56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28180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41202" y="1628180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xiē píngguǒ zěnme mài?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1202" y="1882080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这些苹果</a:t>
            </a: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怎么卖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8701" y="2379762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41202" y="2379762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Shí kuài (yuán) qián sì ge.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1202" y="2633663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十块（元）钱四个。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8701" y="3131344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41202" y="3131344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Xīguā duōshao qián yì jīn?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1202" y="3385245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</a:t>
            </a: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多少钱一斤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8701" y="3882926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41202" y="3882926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Liǎng kuài wǔ yì jīn.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1202" y="4136827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两块五一斤。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8701" y="4634508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41202" y="4634508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mǎi sì ge píngguǒ, yí ge xīguā, zài lái liǎng jīn júzi. Yígòng duōshao qián?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1202" y="4888409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四个苹果、一个西瓜，再来两</a:t>
            </a: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斤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橘子。</a:t>
            </a: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一共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多少钱？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8701" y="5386090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41202" y="5386090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Yígòng sānshí kuài wǔ máo (jiǎo) wǔ (fēn).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1202" y="5639991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一共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三十块五毛（角）五（分）。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12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课本 p.110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65643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听懂了吗 · COMPREHENSION —— 用中文回答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316125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5002" y="3094583"/>
            <a:ext cx="2383030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苹果多少钱一个？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58701" y="3644503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5002" y="3577828"/>
            <a:ext cx="2383030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她买了几个苹果？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58701" y="412774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5002" y="4061073"/>
            <a:ext cx="4300020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「再来两斤橘子」是什么意思？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65002" y="4455468"/>
            <a:ext cx="4300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再来 = also give me —— 来 doing the work of 给我。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840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20–26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46424" y="166688"/>
            <a:ext cx="18424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课本 p.112 Ex.3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9500" y="176213"/>
            <a:ext cx="4534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08050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量词 · 课本 P.112 EX.3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31900"/>
            <a:ext cx="1394668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682651"/>
            <a:ext cx="1189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6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034927"/>
            <a:ext cx="11074598" cy="2399556"/>
          </a:xfrm>
          <a:prstGeom prst="roundRect">
            <a:avLst>
              <a:gd name="adj" fmla="val 5293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219027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Twelve blanks. Fill them from the box, on one whiteboard per pair.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2616250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口　家　头　朵　个　位　台　条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552" y="3056037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三口人　一__花　一__电脑　一__学校　一__老师　一__裙子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93552" y="3495824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一__白发　一__裤子　一__热狗　一__苹果　一__饭店　一__电视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93552" y="3935611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add today's: 一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斤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土豆、两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斤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橘子 —— 斤 is a measure word too, the one for things that get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weighed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8701" y="4561433"/>
            <a:ext cx="11074598" cy="1470868"/>
          </a:xfrm>
          <a:prstGeom prst="roundRect">
            <a:avLst>
              <a:gd name="adj" fmla="val 5181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8251" y="4720084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251" y="4983510"/>
            <a:ext cx="108686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p.134 Ex.14 — the eighteen-item version, solo, against the clock. Then two sentences using a measure word that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wasn't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 the box.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8251" y="5535960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一包土豆　·　一门课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800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26–38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0484" y="166688"/>
            <a:ext cx="18697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课本 p.112 Ex.4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398" y="176213"/>
            <a:ext cx="459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4930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小摊 · 课本 P.112 EX.4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873151"/>
            <a:ext cx="2338388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923901"/>
            <a:ext cx="21519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GROUPS OF 3–4 · 12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276177"/>
            <a:ext cx="11074598" cy="1917204"/>
          </a:xfrm>
          <a:prstGeom prst="roundRect">
            <a:avLst>
              <a:gd name="adj" fmla="val 6624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460278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西红柿 ¥3.00/斤　·　菜花儿 ¥2.50/斤　·　苹果 ¥10.00/五个　·　比萨饼 ¥60.00/个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93552" y="2900065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Half the groups keep the stall. The other half go shopping — then swap after five minutes.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552" y="3297287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stall: ask two prices using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both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question forms, buy at least two things, ask 一共多少钱？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3552" y="3694509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stallholder works the total out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out loud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8701" y="4320332"/>
            <a:ext cx="11074598" cy="1470868"/>
          </a:xfrm>
          <a:prstGeom prst="roundRect">
            <a:avLst>
              <a:gd name="adj" fmla="val 5181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68251" y="4478982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8251" y="4742408"/>
            <a:ext cx="108686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have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块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must leave having spent between 45 and 50. Say aloud what you are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buying and why. Then report your total and your change — in Chinese.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251" y="5294858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我想买比萨饼，可是六十块，太贵了。我买两斤西红柿和一斤菜花儿。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800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26–38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40484" y="166688"/>
            <a:ext cx="1126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示范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803" y="176213"/>
            <a:ext cx="46027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917079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示范 · RUN IT LIKE THIS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240929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41202" y="1240929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Xīhóngshì zěnme mài?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1202" y="1494830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西红柿怎么卖？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8701" y="1992511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41202" y="1992511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Sān kuài yì jīn.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1202" y="2246412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三块一斤。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8701" y="2744093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41202" y="2744093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Bǐsàbǐng duōshao qián yí ge?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1202" y="2997994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比萨饼多少钱一个？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8701" y="3495675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41202" y="3495675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Liùshí kuài.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1202" y="3749576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六十块。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8701" y="4247257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41202" y="4247257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mǎi liǎng jīn xīhóngshì hé yí ge bǐsàbǐng. Yígòng duōshao qián?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41202" y="4501158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我买两斤西红柿和一个比萨饼。一共多少钱？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58701" y="4998839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41202" y="4998839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Yígòng liùshí liù kuài.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41202" y="5252740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一共六十六块。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58701" y="5648920"/>
            <a:ext cx="11074598" cy="774502"/>
          </a:xfrm>
          <a:prstGeom prst="roundRect">
            <a:avLst>
              <a:gd name="adj" fmla="val 9839"/>
            </a:avLst>
          </a:prstGeom>
          <a:solidFill>
            <a:srgbClr val="B96A12">
              <a:alpha val="14000"/>
            </a:srgbClr>
          </a:solidFill>
          <a:ln w="952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45927" y="5798046"/>
            <a:ext cx="68498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第二轮 · SECOND ROUND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5927" y="5998071"/>
            <a:ext cx="684988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Pinyin comes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down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 the second round. Same task, nothing on screen.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489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38–43 MIN · 游戏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15889" y="166688"/>
            <a:ext cx="10155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排句子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7383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排句子 · SENTENCE JUMBLE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97682"/>
            <a:ext cx="1393180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748433"/>
            <a:ext cx="1187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5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100709"/>
            <a:ext cx="11074598" cy="2881908"/>
          </a:xfrm>
          <a:prstGeom prst="roundRect">
            <a:avLst>
              <a:gd name="adj" fmla="val 4407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284809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jumble at a time. Reorder it on a whiteboard, hold it up. First correct board scores.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2682032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① 怎么 / 这些 / 卖 / 苹果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552" y="3121819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② 一斤 / 多少 / 西瓜 / 钱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93552" y="3561606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③ 多少 / 一共 / 钱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93552" y="4001393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④ 两斤 / 我 / 橘子 / 买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93552" y="4441180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⑤ 钱 / 一共 / 三十块 / 五毛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58701" y="5109567"/>
            <a:ext cx="11074598" cy="856952"/>
          </a:xfrm>
          <a:prstGeom prst="roundRect">
            <a:avLst>
              <a:gd name="adj" fmla="val 889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68251" y="5268218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251" y="5531644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reordering, say a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second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sentence that answers or follows on from yours — out loud, nothing written.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49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小结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16187" y="166688"/>
            <a:ext cx="5188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72953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053382"/>
            <a:ext cx="11074598" cy="774502"/>
          </a:xfrm>
          <a:prstGeom prst="roundRect">
            <a:avLst>
              <a:gd name="adj" fmla="val 9839"/>
            </a:avLst>
          </a:prstGeom>
          <a:solidFill>
            <a:srgbClr val="4C7A2C">
              <a:alpha val="12000"/>
            </a:srgbClr>
          </a:solidFill>
          <a:ln w="952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5927" y="2202507"/>
            <a:ext cx="63610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SELF-ASSESSMENT · 自评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5927" y="2402532"/>
            <a:ext cx="636107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1, 2, 3 on your whiteboard and put  /  /  beside each.</a:t>
            </a:r>
            <a:endParaRPr lang="en-US" sz="1500" dirty="0"/>
          </a:p>
        </p:txBody>
      </p:sp>
      <p:pic>
        <p:nvPicPr>
          <p:cNvPr id="12" name="Image 0" descr="/var/folders/6c/210dcgxn4gz5sm71vld2cy1h0000gn/T/tmp.sLz7wO9Bv9/img/rate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3156" y="2405807"/>
            <a:ext cx="253901" cy="253901"/>
          </a:xfrm>
          <a:prstGeom prst="rect">
            <a:avLst/>
          </a:prstGeom>
        </p:spPr>
      </p:pic>
      <p:pic>
        <p:nvPicPr>
          <p:cNvPr id="13" name="Image 1" descr="/var/folders/6c/210dcgxn4gz5sm71vld2cy1h0000gn/T/tmp.sLz7wO9Bv9/img/rate-m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996" y="2405807"/>
            <a:ext cx="253901" cy="253901"/>
          </a:xfrm>
          <a:prstGeom prst="rect">
            <a:avLst/>
          </a:prstGeom>
        </p:spPr>
      </p:pic>
      <p:pic>
        <p:nvPicPr>
          <p:cNvPr id="14" name="Image 2" descr="/var/folders/6c/210dcgxn4gz5sm71vld2cy1h0000gn/T/tmp.sLz7wO9Bv9/img/rate-d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836" y="2405807"/>
            <a:ext cx="253901" cy="2539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8701" y="2967484"/>
            <a:ext cx="11074598" cy="1391543"/>
          </a:xfrm>
          <a:prstGeom prst="roundRect">
            <a:avLst>
              <a:gd name="adj" fmla="val 5476"/>
            </a:avLst>
          </a:prstGeom>
          <a:solidFill>
            <a:srgbClr val="B93F2C">
              <a:alpha val="11000"/>
            </a:srgbClr>
          </a:solidFill>
          <a:ln w="952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745927" y="3116610"/>
            <a:ext cx="657997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45927" y="3316635"/>
            <a:ext cx="657997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the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ways of asking a price — 香蕉 in one, 土豆 in the other.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45927" y="3592860"/>
            <a:ext cx="6579974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香蕉怎么卖？　土豆多少钱一斤？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745927" y="3981301"/>
            <a:ext cx="65799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a half-slip. Collected at the door.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58701" y="4498628"/>
            <a:ext cx="11074598" cy="1112193"/>
          </a:xfrm>
          <a:prstGeom prst="roundRect">
            <a:avLst>
              <a:gd name="adj" fmla="val 6851"/>
            </a:avLst>
          </a:prstGeom>
          <a:solidFill>
            <a:srgbClr val="B96A12">
              <a:alpha val="14000"/>
            </a:srgbClr>
          </a:solidFill>
          <a:ln w="952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745927" y="4647754"/>
            <a:ext cx="55997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NEXT LESSON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45927" y="4847779"/>
            <a:ext cx="559977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finish the market dialogue and learn to ask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permission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45927" y="5124004"/>
            <a:ext cx="5599771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我可以用人民币吗？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2026-09-14T23:07:12Z</dcterms:created>
  <dcterms:modified xsi:type="dcterms:W3CDTF">2026-09-14T23:07:12Z</dcterms:modified>
</cp:coreProperties>
</file>