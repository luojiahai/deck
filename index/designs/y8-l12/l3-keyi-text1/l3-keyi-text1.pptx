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33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3163" y="166688"/>
            <a:ext cx="10595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Y8 · Lesson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1441" y="176213"/>
            <a:ext cx="400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1101" y="1640532"/>
            <a:ext cx="111406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UNIT 4 · LESSON 12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1101" y="2053233"/>
            <a:ext cx="11140642" cy="1230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690"/>
              </a:lnSpc>
              <a:spcBef>
                <a:spcPts val="1300"/>
              </a:spcBef>
              <a:spcAft>
                <a:spcPts val="500"/>
              </a:spcAft>
              <a:buNone/>
            </a:pPr>
            <a:r>
              <a:rPr lang="en-US" sz="9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我可以用人民币吗？</a:t>
            </a:r>
            <a:endParaRPr lang="en-US" sz="9500" dirty="0"/>
          </a:p>
        </p:txBody>
      </p:sp>
      <p:sp>
        <p:nvSpPr>
          <p:cNvPr id="10" name="Text 8"/>
          <p:cNvSpPr/>
          <p:nvPr/>
        </p:nvSpPr>
        <p:spPr>
          <a:xfrm>
            <a:off x="711101" y="3347293"/>
            <a:ext cx="11140642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Asking Permission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711101" y="4175968"/>
            <a:ext cx="1114064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8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3 of 6 · 50 minutes · 课本 p.110、p.114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key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101" y="4747468"/>
            <a:ext cx="952500" cy="952500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renminb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302" y="4747468"/>
            <a:ext cx="952500" cy="952500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b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502" y="4747468"/>
            <a:ext cx="952500" cy="952500"/>
          </a:xfrm>
          <a:prstGeom prst="rect">
            <a:avLst/>
          </a:prstGeom>
        </p:spPr>
      </p:pic>
      <p:pic>
        <p:nvPicPr>
          <p:cNvPr id="15" name="Image 3" descr="/var/folders/6c/210dcgxn4gz5sm71vld2cy1h0000gn/T/tmp.sLz7wO9Bv9/img/yo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703" y="4747468"/>
            <a:ext cx="952500" cy="952500"/>
          </a:xfrm>
          <a:prstGeom prst="rect">
            <a:avLst/>
          </a:prstGeom>
        </p:spPr>
      </p:pic>
      <p:pic>
        <p:nvPicPr>
          <p:cNvPr id="16" name="Image 4" descr="/var/folders/6c/210dcgxn4gz5sm71vld2cy1h0000gn/T/tmp.sLz7wO9Bv9/img/qia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1904" y="4747468"/>
            <a:ext cx="95250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13061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Lesson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36949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课文一 · FROM MEMORY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693343"/>
            <a:ext cx="1393180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744093"/>
            <a:ext cx="118787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PAIRS · 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3096369"/>
            <a:ext cx="11074598" cy="1874639"/>
          </a:xfrm>
          <a:prstGeom prst="roundRect">
            <a:avLst>
              <a:gd name="adj" fmla="val 6775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3280470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Rebuild the first half of Text 1 with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only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these English prompts on screen.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677692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① how are these apples sold　② how much per jin for watermelon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407491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③ I'll buy four apples, a watermelon and two jin of tangerines　④ how much altogether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552" y="4472136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Rehearse twice, swap roles. Two pairs perform.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1581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复习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28813" y="166688"/>
            <a:ext cx="9613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Review · 改错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736" y="176213"/>
            <a:ext cx="4256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8933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改错 · CORRECT THE TEACHER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913186"/>
            <a:ext cx="11074598" cy="835968"/>
          </a:xfrm>
          <a:prstGeom prst="roundRect">
            <a:avLst>
              <a:gd name="adj" fmla="val 9115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2062311"/>
            <a:ext cx="19687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这句话错了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927" y="2262336"/>
            <a:ext cx="1968755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这些苹果卖怎么？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58701" y="2888754"/>
            <a:ext cx="11074598" cy="835968"/>
          </a:xfrm>
          <a:prstGeom prst="roundRect">
            <a:avLst>
              <a:gd name="adj" fmla="val 9115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3037880"/>
            <a:ext cx="17226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这句话错了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927" y="3237905"/>
            <a:ext cx="1722680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西瓜一斤多少？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58701" y="3864322"/>
            <a:ext cx="11074598" cy="835968"/>
          </a:xfrm>
          <a:prstGeom prst="roundRect">
            <a:avLst>
              <a:gd name="adj" fmla="val 9115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5927" y="4013448"/>
            <a:ext cx="20867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✗ 这句话错了 —— 你是顾客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5927" y="4213473"/>
            <a:ext cx="2086707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我卖两斤橘子。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558701" y="4700290"/>
            <a:ext cx="11074598" cy="1050727"/>
          </a:xfrm>
          <a:prstGeom prst="roundRect">
            <a:avLst>
              <a:gd name="adj" fmla="val 7252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5927" y="4849416"/>
            <a:ext cx="109141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CONNECTION · 接上节课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5927" y="5049441"/>
            <a:ext cx="109141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You've bought the fruit and you know the total. One thing left to settle at the till ——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what you're allowed to pay with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581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140" y="176213"/>
            <a:ext cx="4262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48426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770013"/>
            <a:ext cx="11074598" cy="685502"/>
          </a:xfrm>
          <a:prstGeom prst="roundRect">
            <a:avLst>
              <a:gd name="adj" fmla="val 18527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87503" y="1928664"/>
            <a:ext cx="10816995" cy="368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ask whether we are allowed to do something, using 可以.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558701" y="258246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8701" y="2868216"/>
            <a:ext cx="11074598" cy="755452"/>
          </a:xfrm>
          <a:prstGeom prst="roundRect">
            <a:avLst>
              <a:gd name="adj" fmla="val 1008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3276" y="2966591"/>
            <a:ext cx="246075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126927" y="2966591"/>
            <a:ext cx="321825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say and write the new words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26927" y="3239542"/>
            <a:ext cx="321825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用、人民币、可以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8701" y="3706118"/>
            <a:ext cx="11074598" cy="755452"/>
          </a:xfrm>
          <a:prstGeom prst="roundRect">
            <a:avLst>
              <a:gd name="adj" fmla="val 1008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33276" y="3804493"/>
            <a:ext cx="246075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126927" y="3804493"/>
            <a:ext cx="357484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ask permission and answer it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26927" y="4077444"/>
            <a:ext cx="357484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我可以……吗？—— 可以。／不可以。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8701" y="4544020"/>
            <a:ext cx="11074598" cy="474166"/>
          </a:xfrm>
          <a:prstGeom prst="roundRect">
            <a:avLst>
              <a:gd name="adj" fmla="val 16070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3276" y="4642396"/>
            <a:ext cx="246075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126927" y="4642396"/>
            <a:ext cx="476469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read the whole of Text 1 aloud with a partner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58701" y="5100638"/>
            <a:ext cx="11074598" cy="755452"/>
          </a:xfrm>
          <a:prstGeom prst="roundRect">
            <a:avLst>
              <a:gd name="adj" fmla="val 1008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3276" y="5199013"/>
            <a:ext cx="246075" cy="277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126927" y="5199013"/>
            <a:ext cx="35341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write the four simple characters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26927" y="5471964"/>
            <a:ext cx="353416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6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尸、户、革、丁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6438" y="176213"/>
            <a:ext cx="42596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yo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000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887712" y="3807619"/>
            <a:ext cx="689649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yòng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2832050" y="4286994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3046512" y="5202585"/>
            <a:ext cx="36569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use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299150" y="1842492"/>
            <a:ext cx="5334149" cy="3979218"/>
          </a:xfrm>
          <a:prstGeom prst="roundRect">
            <a:avLst>
              <a:gd name="adj" fmla="val 3192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sLz7wO9Bv9/img/key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2450" y="2131368"/>
            <a:ext cx="1587401" cy="158740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354" y="3807619"/>
            <a:ext cx="57093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kěyǐ</a:t>
            </a:r>
            <a:endParaRPr lang="en-US" sz="2200" dirty="0"/>
          </a:p>
        </p:txBody>
      </p:sp>
      <p:sp>
        <p:nvSpPr>
          <p:cNvPr id="17" name="Text 13"/>
          <p:cNvSpPr/>
          <p:nvPr/>
        </p:nvSpPr>
        <p:spPr>
          <a:xfrm>
            <a:off x="8178850" y="4286994"/>
            <a:ext cx="1606245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endParaRPr lang="en-US" sz="6200" dirty="0"/>
          </a:p>
        </p:txBody>
      </p:sp>
      <p:sp>
        <p:nvSpPr>
          <p:cNvPr id="18" name="Text 14"/>
          <p:cNvSpPr/>
          <p:nvPr/>
        </p:nvSpPr>
        <p:spPr>
          <a:xfrm>
            <a:off x="8504039" y="5202585"/>
            <a:ext cx="9427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can; may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yòng Hànyǔ shuō.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汉语说。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I'll say it in Chinese.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kěyǐ chī ma?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吃吗？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May I eat?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kěyǐ yòng Yīngyǔ shuō ma?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可以用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英语说吗？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May I say it in English?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747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1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2093" y="176213"/>
            <a:ext cx="42019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 ______ 吗？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Something you would really ask.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Two questions — one to a teacher, one to a parent — both using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可以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and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我可以用你的电脑吗？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599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83841"/>
            <a:ext cx="5334149" cy="4296668"/>
          </a:xfrm>
          <a:prstGeom prst="roundRect">
            <a:avLst>
              <a:gd name="adj" fmla="val 295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50493" y="2442567"/>
            <a:ext cx="969425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rénmín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273201" y="2960043"/>
            <a:ext cx="19431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75"/>
              </a:lnSpc>
              <a:buNone/>
            </a:pPr>
            <a:r>
              <a:rPr lang="en-US" sz="75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</a:t>
            </a:r>
            <a:endParaRPr lang="en-US" sz="7500" dirty="0"/>
          </a:p>
        </p:txBody>
      </p:sp>
      <p:sp>
        <p:nvSpPr>
          <p:cNvPr id="12" name="Text 10"/>
          <p:cNvSpPr/>
          <p:nvPr/>
        </p:nvSpPr>
        <p:spPr>
          <a:xfrm>
            <a:off x="2682329" y="4087118"/>
            <a:ext cx="110847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people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99150" y="1683841"/>
            <a:ext cx="5334149" cy="4296668"/>
          </a:xfrm>
          <a:prstGeom prst="roundRect">
            <a:avLst>
              <a:gd name="adj" fmla="val 295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4" name="Image 0" descr="/var/folders/6c/210dcgxn4gz5sm71vld2cy1h0000gn/T/tmp.sLz7wO9Bv9/img/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0" y="1972717"/>
            <a:ext cx="1587401" cy="158740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836521" y="3648968"/>
            <a:ext cx="264444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bì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572500" y="4128343"/>
            <a:ext cx="803199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币</a:t>
            </a:r>
            <a:endParaRPr lang="en-US" sz="6200" dirty="0"/>
          </a:p>
        </p:txBody>
      </p:sp>
      <p:sp>
        <p:nvSpPr>
          <p:cNvPr id="17" name="Text 14"/>
          <p:cNvSpPr/>
          <p:nvPr/>
        </p:nvSpPr>
        <p:spPr>
          <a:xfrm>
            <a:off x="8523089" y="5043934"/>
            <a:ext cx="9038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currency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882063" y="5437584"/>
            <a:ext cx="1716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幣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Rénmín hěn duō.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很多。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There are a lot of people.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shì Zhōngguó de qiánbì.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这是中国的钱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币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This is Chinese currency.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Rénmín + bì = rénmínbì.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＋ 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币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＝ 人民币。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people + currency = the people's currency.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2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9288" y="176213"/>
            <a:ext cx="4842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243584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567434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815084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中国的钱是 ______ 。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598515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One sentence.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239816"/>
            <a:ext cx="11074598" cy="856952"/>
          </a:xfrm>
          <a:prstGeom prst="roundRect">
            <a:avLst>
              <a:gd name="adj" fmla="val 889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398466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661892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China uses 人民币. What does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your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country use? Write one sentence.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3696" y="176213"/>
            <a:ext cx="4593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51864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78710" y="1842492"/>
            <a:ext cx="2834432" cy="3979218"/>
          </a:xfrm>
          <a:prstGeom prst="roundRect">
            <a:avLst>
              <a:gd name="adj" fmla="val 4481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sLz7wO9Bv9/img/renminb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2151" y="2131368"/>
            <a:ext cx="1587401" cy="158740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91163" y="3807619"/>
            <a:ext cx="1233717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rénmínbì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914900" y="4286994"/>
            <a:ext cx="2409292" cy="826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510"/>
              </a:lnSpc>
              <a:buNone/>
            </a:pPr>
            <a:r>
              <a:rPr lang="en-US" sz="62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人民币</a:t>
            </a:r>
            <a:endParaRPr lang="en-US" sz="6200" dirty="0"/>
          </a:p>
        </p:txBody>
      </p:sp>
      <p:sp>
        <p:nvSpPr>
          <p:cNvPr id="13" name="Text 10"/>
          <p:cNvSpPr/>
          <p:nvPr/>
        </p:nvSpPr>
        <p:spPr>
          <a:xfrm>
            <a:off x="4891385" y="5202585"/>
            <a:ext cx="24572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RMB, Chinese currency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7279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96641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7276" y="1696641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9001" y="1823591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yǒu yìbǎi kuài rénmínbì.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9001" y="2128391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我有一百块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人民币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9001" y="2648396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have a hundred yuan of RMB.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58701" y="3162598"/>
            <a:ext cx="11074598" cy="1339007"/>
          </a:xfrm>
          <a:prstGeom prst="rect">
            <a:avLst/>
          </a:prstGeom>
          <a:solidFill>
            <a:srgbClr val="F2EFD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587276" y="3162598"/>
            <a:ext cx="0" cy="1339007"/>
          </a:xfrm>
          <a:prstGeom prst="line">
            <a:avLst/>
          </a:prstGeom>
          <a:noFill/>
          <a:ln w="57150">
            <a:solidFill>
              <a:srgbClr val="4C7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001" y="3289548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kěyǐ yòng rénmínbì ma?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9001" y="3594348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我可以用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人民币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19001" y="4114354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May I use RMB?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58701" y="4628555"/>
            <a:ext cx="11074598" cy="1339007"/>
          </a:xfrm>
          <a:prstGeom prst="rect">
            <a:avLst/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587276" y="4628555"/>
            <a:ext cx="0" cy="1339007"/>
          </a:xfrm>
          <a:prstGeom prst="line">
            <a:avLst/>
          </a:prstGeom>
          <a:noFill/>
          <a:ln w="57150">
            <a:solidFill>
              <a:srgbClr val="B93F2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9001" y="4755505"/>
            <a:ext cx="1082337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Zài Zhōngguó, wǒmen yòng rénmínbì.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9001" y="5060305"/>
            <a:ext cx="10823371" cy="4692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96"/>
              </a:lnSpc>
              <a:buNone/>
            </a:pP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在中国，我们用</a:t>
            </a:r>
            <a:r>
              <a:rPr lang="en-US" sz="28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人民币</a:t>
            </a:r>
            <a:r>
              <a:rPr lang="en-US" sz="28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19001" y="5580311"/>
            <a:ext cx="108233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 China we use RMB.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248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· Cycle 3 of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990" y="176213"/>
            <a:ext cx="4845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481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YOUR OWN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98663"/>
            <a:ext cx="11074598" cy="1545431"/>
          </a:xfrm>
          <a:prstGeom prst="roundRect">
            <a:avLst>
              <a:gd name="adj" fmla="val 8218"/>
            </a:avLst>
          </a:prstGeom>
          <a:solidFill>
            <a:srgbClr val="E8E2C8"/>
          </a:solidFill>
          <a:ln w="19050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9752" y="2646313"/>
            <a:ext cx="10661547" cy="669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70"/>
              </a:lnSpc>
              <a:buNone/>
            </a:pPr>
            <a:r>
              <a:rPr lang="en-US" sz="3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我可以用 ______ 吗？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869752" y="3429744"/>
            <a:ext cx="106615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buNone/>
            </a:pPr>
            <a:r>
              <a:rPr lang="en-US" sz="15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60 seconds. Then read it to your partner and get an answer.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8701" y="4071045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68251" y="4229695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68251" y="4493121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a two-line exchange: the question, then a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refusal with a reason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8251" y="4769346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不可以，因为你还没有做作业。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44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Checkpoint · 五个词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395" y="176213"/>
            <a:ext cx="4851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969568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 · READ THEM BACK — NO PINYIN, NO ENGLISH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293418"/>
            <a:ext cx="209297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5211" y="3518743"/>
            <a:ext cx="1959950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用</a:t>
            </a:r>
            <a:endParaRPr lang="en-US" sz="4700" dirty="0"/>
          </a:p>
        </p:txBody>
      </p:sp>
      <p:sp>
        <p:nvSpPr>
          <p:cNvPr id="11" name="Text 9"/>
          <p:cNvSpPr/>
          <p:nvPr/>
        </p:nvSpPr>
        <p:spPr>
          <a:xfrm>
            <a:off x="2804071" y="3293418"/>
            <a:ext cx="209297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870581" y="3518743"/>
            <a:ext cx="1959950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endParaRPr lang="en-US" sz="4700" dirty="0"/>
          </a:p>
        </p:txBody>
      </p:sp>
      <p:sp>
        <p:nvSpPr>
          <p:cNvPr id="13" name="Text 11"/>
          <p:cNvSpPr/>
          <p:nvPr/>
        </p:nvSpPr>
        <p:spPr>
          <a:xfrm>
            <a:off x="5049441" y="3293418"/>
            <a:ext cx="209297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115950" y="3518743"/>
            <a:ext cx="1959950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</a:t>
            </a:r>
            <a:endParaRPr lang="en-US" sz="4700" dirty="0"/>
          </a:p>
        </p:txBody>
      </p:sp>
      <p:sp>
        <p:nvSpPr>
          <p:cNvPr id="15" name="Text 13"/>
          <p:cNvSpPr/>
          <p:nvPr/>
        </p:nvSpPr>
        <p:spPr>
          <a:xfrm>
            <a:off x="7294811" y="3293418"/>
            <a:ext cx="2092970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361320" y="3518743"/>
            <a:ext cx="1959950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币</a:t>
            </a:r>
            <a:endParaRPr lang="en-US" sz="4700" dirty="0"/>
          </a:p>
        </p:txBody>
      </p:sp>
      <p:sp>
        <p:nvSpPr>
          <p:cNvPr id="17" name="Text 15"/>
          <p:cNvSpPr/>
          <p:nvPr/>
        </p:nvSpPr>
        <p:spPr>
          <a:xfrm>
            <a:off x="9540180" y="3293418"/>
            <a:ext cx="2093119" cy="1077367"/>
          </a:xfrm>
          <a:prstGeom prst="roundRect">
            <a:avLst>
              <a:gd name="adj" fmla="val 11788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06689" y="3518743"/>
            <a:ext cx="1960102" cy="6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935"/>
              </a:lnSpc>
              <a:buNone/>
            </a:pPr>
            <a:r>
              <a:rPr lang="en-US" sz="47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人民币</a:t>
            </a:r>
            <a:endParaRPr lang="en-US" sz="4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50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Asking permission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31487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THE PATTERN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638723"/>
            <a:ext cx="11074598" cy="1274713"/>
          </a:xfrm>
          <a:prstGeom prst="roundRect">
            <a:avLst>
              <a:gd name="adj" fmla="val 9963"/>
            </a:avLst>
          </a:prstGeom>
          <a:solidFill>
            <a:srgbClr val="E8E2C8"/>
          </a:solidFill>
          <a:ln w="19050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6365" y="2835473"/>
            <a:ext cx="10739271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90"/>
              </a:lnSpc>
              <a:buNone/>
            </a:pP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 </a:t>
            </a:r>
            <a:r>
              <a:rPr lang="en-US" sz="33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r>
              <a:rPr lang="en-US" sz="33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＋ 动词 ＋ 吗？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726365" y="3469035"/>
            <a:ext cx="107392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700"/>
              </a:spcBef>
              <a:buNone/>
            </a:pPr>
            <a:r>
              <a:rPr lang="en-US" sz="14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可以 goes BEFORE the verb. ✗ 我用可以人民币吗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8701" y="3913436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5927" y="4062561"/>
            <a:ext cx="58620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两种说法 · TWO SHAPES, ONE MEANING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45927" y="4262586"/>
            <a:ext cx="586209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book uses both. The second is the one 练习册 p.132 drills.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5927" y="4538811"/>
            <a:ext cx="5862090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现在回家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 我现在想回家，</a:t>
            </a: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可以吗</a:t>
            </a:r>
            <a:r>
              <a:rPr lang="en-US" sz="19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？</a:t>
            </a:r>
            <a:endParaRPr lang="en-US" sz="1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507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Asking permission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47188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模仿我说 · WATCH ME BUILD 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86241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2795736"/>
            <a:ext cx="178734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我可以吃吗？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8701" y="334565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5002" y="3278981"/>
            <a:ext cx="268102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我可以用人民币吗？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8701" y="3828901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3762226"/>
            <a:ext cx="2978863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我现在可以听音乐吗？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58701" y="4312146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965002" y="4245471"/>
            <a:ext cx="4766060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我一边做作业一边听音乐，可以吗？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965002" y="4639866"/>
            <a:ext cx="47660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tag form — whole sentence first, 可以吗 on the end.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CFU · 检查理解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4348" y="176213"/>
            <a:ext cx="47909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337816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661666"/>
            <a:ext cx="3775770" cy="301526"/>
          </a:xfrm>
          <a:prstGeom prst="roundRect">
            <a:avLst>
              <a:gd name="adj" fmla="val 2103848"/>
            </a:avLst>
          </a:prstGeom>
          <a:solidFill>
            <a:srgbClr val="B93F2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712416"/>
            <a:ext cx="36181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NO ANSWERS ON SCREEN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064693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5927" y="220116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77677" y="2201168"/>
            <a:ext cx="385265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Does 可以 go before or after the verb?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58701" y="2741265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5927" y="2877741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77677" y="2877741"/>
            <a:ext cx="3215679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Translate: “May I use Chinese?”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3417838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5927" y="3554313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77677" y="3554313"/>
            <a:ext cx="220162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 this question.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7677" y="3889474"/>
            <a:ext cx="22016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我可以吃你的苹果吗？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58701" y="4413200"/>
            <a:ext cx="11074598" cy="912912"/>
          </a:xfrm>
          <a:prstGeom prst="roundRect">
            <a:avLst>
              <a:gd name="adj" fmla="val 8347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4549676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177677" y="4549676"/>
            <a:ext cx="270364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Turn this into the tag form.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77677" y="4884837"/>
            <a:ext cx="270364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7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我可以现在回家吗？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58701" y="5408563"/>
            <a:ext cx="11074598" cy="594122"/>
          </a:xfrm>
          <a:prstGeom prst="roundRect">
            <a:avLst>
              <a:gd name="adj" fmla="val 12826"/>
            </a:avLst>
          </a:prstGeom>
          <a:solidFill>
            <a:srgbClr val="F2EFDE"/>
          </a:solidFill>
          <a:ln w="9525">
            <a:solidFill>
              <a:srgbClr val="E1DBC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5927" y="5545038"/>
            <a:ext cx="284937" cy="321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77677" y="5545038"/>
            <a:ext cx="708123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Thumbs up if 币 means “currency”, down if it means money in general.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1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5591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· CD 56 —— 前半，齐读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79762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202" y="2379762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Zhè xiē píngguǒ zěnme mài?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1202" y="2633663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这些苹果怎么卖？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8701" y="3131344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1202" y="3131344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Shí kuài (yuán) qián sì ge.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1202" y="3385245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十块（元）钱四个。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8701" y="3882926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202" y="3882926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Xīguā duōshao qián yì jīn?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1202" y="4136827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西瓜多少钱一斤？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701" y="4634508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41202" y="4634508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Liǎng kuài wǔ yì jīn.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1202" y="4888409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两块五一斤。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1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5591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TEXT 1 · CD 56 —— 后半，然后两人一组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379762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41202" y="2379762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mǎi sì ge píngguǒ, yí ge xīguā, zài lái liǎng jīn júzi. Yígòng duōshao qián?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1202" y="2633663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我买四个苹果、一个西瓜，再来两斤橘子。一共多少钱？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58701" y="3131344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1202" y="3131344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Yígòng sānshí kuài wǔ máo (jiǎo) wǔ (fēn).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41202" y="3385245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一共三十块五毛（角）五（分）。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8701" y="3882926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41202" y="3882926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Wǒ kěyǐ yòng rénmínbì ma?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1202" y="4136827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</a:t>
            </a: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可以用人民币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吗？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58701" y="4634508"/>
            <a:ext cx="3367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041202" y="4634508"/>
            <a:ext cx="108039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Kěyǐ.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41202" y="4888409"/>
            <a:ext cx="1080394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>
                <a:solidFill>
                  <a:srgbClr val="B93F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可以</a:t>
            </a:r>
            <a:r>
              <a:rPr lang="en-US" sz="24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2912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课本 p.110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4285" y="176213"/>
            <a:ext cx="5097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770733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听懂了吗 · COMPREHENSION —— 用中文回答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327555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5002" y="3208883"/>
            <a:ext cx="178734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她买了什么？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8701" y="3758803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5002" y="3692128"/>
            <a:ext cx="178734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一共多少钱？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558701" y="4242048"/>
            <a:ext cx="2589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96A1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5002" y="4175373"/>
            <a:ext cx="1787348" cy="394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05"/>
              </a:lnSpc>
              <a:buNone/>
            </a:pPr>
            <a:r>
              <a:rPr lang="en-US" sz="2300" b="1" dirty="0">
                <a:solidFill>
                  <a:srgbClr val="4C7A2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她用什么钱？</a:t>
            </a:r>
            <a:endParaRPr lang="en-US" sz="2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57664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20–27 MIN · WE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339132" y="166688"/>
            <a:ext cx="20150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练习册 p.132 Ex.9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015901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1 · 可以吗？ · 练习册 P.132 EX.9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1339751"/>
            <a:ext cx="2104727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1390501"/>
            <a:ext cx="1913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WHITEBOARDS · 7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1742777"/>
            <a:ext cx="11074598" cy="3321695"/>
          </a:xfrm>
          <a:prstGeom prst="roundRect">
            <a:avLst>
              <a:gd name="adj" fmla="val 3823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1926878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 each one into a full 可以吗？question. One at a time, all held up together.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2324100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我用</a:t>
            </a:r>
            <a:r>
              <a:rPr lang="en-US" sz="2100" b="1" u="sng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英语</a:t>
            </a:r>
            <a:r>
              <a:rPr lang="en-US" sz="2100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说，可以吗？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93552" y="2763887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我用 ______ 买这些衣服，可以吗？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93552" y="3203674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我一边做作业 ______ ，可以吗？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93552" y="3643461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我今天晚上想 ______ ，可以吗？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793552" y="4083248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我再打一会儿 ______ ，可以吗？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93552" y="4523036"/>
            <a:ext cx="10816995" cy="357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14"/>
              </a:lnSpc>
              <a:buNone/>
            </a:pPr>
            <a:r>
              <a:rPr lang="en-US" sz="21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______ ，可以吗？　　—— entirely your own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58701" y="5191423"/>
            <a:ext cx="11074598" cy="1133177"/>
          </a:xfrm>
          <a:prstGeom prst="roundRect">
            <a:avLst>
              <a:gd name="adj" fmla="val 6724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8251" y="5350073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8251" y="5613499"/>
            <a:ext cx="10868608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answer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to each of your last three, and make one a refusal with a reason. Then 练习册 p.131 Ex.7 —— one sentence of your own for 要、不要、条、应该、可以、会.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716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27–33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32298" y="166688"/>
            <a:ext cx="18697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课本 p.114 Ex.6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207615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2 · 听一听，打勾 · 课本 P.114 EX.6 · CD 58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400002"/>
            <a:ext cx="2464147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450753"/>
            <a:ext cx="22802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SOLO, THEN PAIRS · 6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803029"/>
            <a:ext cx="11074598" cy="1477417"/>
          </a:xfrm>
          <a:prstGeom prst="roundRect">
            <a:avLst>
              <a:gd name="adj" fmla="val 8596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98712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Six items, three options each. Played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twice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Tick in the book, then check in pairs.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384352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The items reach back across the whole year —— weather, illness, 除了……以外, food, phone language.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78157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Don't pre-teach.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Working around an unknown word is exactly what the test's listening asks for.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8701" y="4407396"/>
            <a:ext cx="11074598" cy="856952"/>
          </a:xfrm>
          <a:prstGeom prst="roundRect">
            <a:avLst>
              <a:gd name="adj" fmla="val 8892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251" y="4566047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251" y="4829473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the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whole sentence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you hear for items 3, 4 and 5 instead of ticking. Then rewrite item 5 about yourself.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67941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33–38 MIN · YOU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439888" y="166688"/>
            <a:ext cx="18627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课本 p.114 Ex.7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838" y="176213"/>
            <a:ext cx="5102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260425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ACTIVITY 3 · 简单字 · 课本 P.114 EX.7 · 练习册 P.132 EX.10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1335" y="1657201"/>
            <a:ext cx="7512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尸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460302" y="1584275"/>
            <a:ext cx="7008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shī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60302" y="1876276"/>
            <a:ext cx="7008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corpse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0302" y="2130177"/>
            <a:ext cx="70088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strokes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1335" y="2495104"/>
            <a:ext cx="7512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户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460302" y="2422178"/>
            <a:ext cx="82566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60302" y="2714179"/>
            <a:ext cx="8256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household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0302" y="2968079"/>
            <a:ext cx="82566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strokes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1335" y="3333006"/>
            <a:ext cx="7512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革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1460302" y="3260080"/>
            <a:ext cx="702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gé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0302" y="3552081"/>
            <a:ext cx="70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leather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0302" y="3805982"/>
            <a:ext cx="7024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strokes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51335" y="4170908"/>
            <a:ext cx="75128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丁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460302" y="4097982"/>
            <a:ext cx="70133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dīng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0302" y="4389983"/>
            <a:ext cx="701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0302" y="4643884"/>
            <a:ext cx="70133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strokes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8701" y="4967734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45927" y="5116860"/>
            <a:ext cx="50393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这两个字最难分 · THE WHOLE DIFFICULTY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5927" y="5316885"/>
            <a:ext cx="50393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户 is 尸 with a dot on top. That is the only difference.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5927" y="5593110"/>
            <a:ext cx="50393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尸 · 户</a:t>
            </a:r>
            <a:endParaRPr lang="en-US" sz="1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893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38–43 MIN · 游戏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5889" y="166688"/>
            <a:ext cx="11608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写字接力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243" y="176213"/>
            <a:ext cx="5108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90723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GAME · 写字接力 · WRITING RELAY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31082"/>
            <a:ext cx="1471464" cy="301526"/>
          </a:xfrm>
          <a:prstGeom prst="roundRect">
            <a:avLst>
              <a:gd name="adj" fmla="val 2103848"/>
            </a:avLst>
          </a:prstGeom>
          <a:solidFill>
            <a:srgbClr val="B96A12">
              <a:alpha val="14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73001" y="2281833"/>
            <a:ext cx="12677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TEAMS · 5 MIN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8701" y="2634109"/>
            <a:ext cx="11074598" cy="1477417"/>
          </a:xfrm>
          <a:prstGeom prst="roundRect">
            <a:avLst>
              <a:gd name="adj" fmla="val 8596"/>
            </a:avLst>
          </a:prstGeom>
          <a:solidFill>
            <a:srgbClr val="F2EFDE"/>
          </a:solidFill>
          <a:ln w="19050">
            <a:solidFill>
              <a:srgbClr val="CFC7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93552" y="2818209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Teams line up. Teacher calls a character by its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English meaning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—— “household!”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93552" y="3215432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 student runs up, writes it, runs back. Next student.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93552" y="3612654"/>
            <a:ext cx="10816995" cy="3147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Wrong stroke order can be </a:t>
            </a:r>
            <a:r>
              <a:rPr lang="en-US" sz="16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challenged</a:t>
            </a:r>
            <a:r>
              <a:rPr lang="en-US" sz="16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by the other team for a bonus point.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8701" y="4238476"/>
            <a:ext cx="11074598" cy="1194643"/>
          </a:xfrm>
          <a:prstGeom prst="roundRect">
            <a:avLst>
              <a:gd name="adj" fmla="val 6378"/>
            </a:avLst>
          </a:prstGeom>
          <a:solidFill>
            <a:srgbClr val="4C7A2C">
              <a:alpha val="12000"/>
            </a:srgbClr>
          </a:solidFill>
          <a:ln w="19050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8251" y="4397127"/>
            <a:ext cx="1086860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 · 加油题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251" y="4660553"/>
            <a:ext cx="1086860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Call by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pinyin only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, and the runner must write a </a:t>
            </a:r>
            <a:r>
              <a:rPr lang="en-US" sz="15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word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containing the character, not the bare character.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8251" y="4936778"/>
            <a:ext cx="1086860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户 → 门户　·　革 → 皮革　·　足 → 足球</a:t>
            </a:r>
            <a:endParaRPr lang="en-US" sz="1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BFA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E1DBC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4924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小结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16187" y="166688"/>
            <a:ext cx="5188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8805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4C7A2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58701" y="1898452"/>
            <a:ext cx="112960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2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58701" y="2222302"/>
            <a:ext cx="11074598" cy="774502"/>
          </a:xfrm>
          <a:prstGeom prst="roundRect">
            <a:avLst>
              <a:gd name="adj" fmla="val 9839"/>
            </a:avLst>
          </a:prstGeom>
          <a:solidFill>
            <a:srgbClr val="4C7A2C">
              <a:alpha val="12000"/>
            </a:srgbClr>
          </a:solidFill>
          <a:ln w="9525">
            <a:solidFill>
              <a:srgbClr val="4C7A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5927" y="2371427"/>
            <a:ext cx="51395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C7A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SELF-ASSESSMENT · 自评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5927" y="2571452"/>
            <a:ext cx="51395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Thumbs on each of the four criteria ——  /  /</a:t>
            </a:r>
            <a:endParaRPr lang="en-US" sz="1500" dirty="0"/>
          </a:p>
        </p:txBody>
      </p:sp>
      <p:pic>
        <p:nvPicPr>
          <p:cNvPr id="12" name="Image 0" descr="/var/folders/6c/210dcgxn4gz5sm71vld2cy1h0000gn/T/tmp.sLz7wO9Bv9/img/rate-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070" y="2574727"/>
            <a:ext cx="253901" cy="253901"/>
          </a:xfrm>
          <a:prstGeom prst="rect">
            <a:avLst/>
          </a:prstGeom>
        </p:spPr>
      </p:pic>
      <p:pic>
        <p:nvPicPr>
          <p:cNvPr id="13" name="Image 1" descr="/var/folders/6c/210dcgxn4gz5sm71vld2cy1h0000gn/T/tmp.sLz7wO9Bv9/img/rate-m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6911" y="2574727"/>
            <a:ext cx="253901" cy="253901"/>
          </a:xfrm>
          <a:prstGeom prst="rect">
            <a:avLst/>
          </a:prstGeom>
        </p:spPr>
      </p:pic>
      <p:pic>
        <p:nvPicPr>
          <p:cNvPr id="14" name="Image 2" descr="/var/folders/6c/210dcgxn4gz5sm71vld2cy1h0000gn/T/tmp.sLz7wO9Bv9/img/rate-dow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0751" y="2574727"/>
            <a:ext cx="253901" cy="25390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8701" y="3136404"/>
            <a:ext cx="11074598" cy="1053852"/>
          </a:xfrm>
          <a:prstGeom prst="roundRect">
            <a:avLst>
              <a:gd name="adj" fmla="val 7231"/>
            </a:avLst>
          </a:prstGeom>
          <a:solidFill>
            <a:srgbClr val="B93F2C">
              <a:alpha val="11000"/>
            </a:srgbClr>
          </a:solidFill>
          <a:ln w="9525">
            <a:solidFill>
              <a:srgbClr val="B93F2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745927" y="3285530"/>
            <a:ext cx="68721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3F2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EXIT TICKET · 出门条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745927" y="3485555"/>
            <a:ext cx="687219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Write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one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可以 question you would actually ask a teacher. One sentence.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745927" y="3812530"/>
            <a:ext cx="68721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300" dirty="0">
                <a:solidFill>
                  <a:srgbClr val="4E5A4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On a half-slip. Collected at the door.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58701" y="4329857"/>
            <a:ext cx="11074598" cy="1112193"/>
          </a:xfrm>
          <a:prstGeom prst="roundRect">
            <a:avLst>
              <a:gd name="adj" fmla="val 6851"/>
            </a:avLst>
          </a:prstGeom>
          <a:solidFill>
            <a:srgbClr val="B96A12">
              <a:alpha val="14000"/>
            </a:srgbClr>
          </a:solidFill>
          <a:ln w="9525">
            <a:solidFill>
              <a:srgbClr val="B96A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745927" y="4478982"/>
            <a:ext cx="79000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96A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 · NEXT LESSON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45927" y="4679007"/>
            <a:ext cx="790006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From the market to the restaurant —— and how to say the food is </a:t>
            </a:r>
            <a:r>
              <a:rPr lang="en-US" sz="1500" b="1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especially</a:t>
            </a:r>
            <a:r>
              <a:rPr lang="en-US" sz="1500" dirty="0">
                <a:solidFill>
                  <a:srgbClr val="24321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good.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745927" y="4955232"/>
            <a:ext cx="7900068" cy="337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24321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他们的饭菜做得特别好吃。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2026-09-14T23:08:11Z</dcterms:created>
  <dcterms:modified xsi:type="dcterms:W3CDTF">2026-09-14T23:08:11Z</dcterms:modified>
</cp:coreProperties>
</file>