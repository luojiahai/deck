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9125" y="1844725"/>
            <a:ext cx="3713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· UNIT 3 · LESSON 7 OF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987040" y="2282875"/>
            <a:ext cx="62179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0"/>
              </a:lnSpc>
              <a:spcAft>
                <a:spcPts val="1400"/>
              </a:spcAft>
              <a:buNone/>
            </a:pPr>
            <a:r>
              <a:rPr lang="en-US" sz="9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</a:t>
            </a:r>
            <a:pPr algn="ctr" indent="0" marL="0">
              <a:lnSpc>
                <a:spcPts val="9600"/>
              </a:lnSpc>
              <a:spcAft>
                <a:spcPts val="1400"/>
              </a:spcAft>
              <a:buNone/>
            </a:pPr>
            <a:r>
              <a:rPr lang="en-US" sz="96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lnSpc>
                <a:spcPts val="9600"/>
              </a:lnSpc>
              <a:spcAft>
                <a:spcPts val="1400"/>
              </a:spcAft>
              <a:buNone/>
            </a:pPr>
            <a:r>
              <a:rPr lang="en-US" sz="9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地图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02458" y="3679775"/>
            <a:ext cx="498693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00"/>
              </a:spcAft>
              <a:buNone/>
            </a:pPr>
            <a:r>
              <a:rPr lang="en-US" sz="2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 Competition + City Map Design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715000" y="4311551"/>
            <a:ext cx="762000" cy="50750"/>
          </a:xfrm>
          <a:prstGeom prst="roundRect">
            <a:avLst>
              <a:gd name="adj" fmla="val 50049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72333" y="4641652"/>
            <a:ext cx="1477268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74489" y="4727377"/>
            <a:ext cx="1072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02001" y="4641652"/>
            <a:ext cx="896987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09960" y="4727377"/>
            <a:ext cx="481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51388" y="4641652"/>
            <a:ext cx="1737866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50938" y="4727377"/>
            <a:ext cx="1338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+ Writing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1654" y="4641652"/>
            <a:ext cx="2678013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31803" y="4727377"/>
            <a:ext cx="22977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p.74, 78–79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10260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 · BUZZER ROUND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866626"/>
            <a:ext cx="112960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Position &amp; Measure Word Buzzer Round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58701" y="1536502"/>
            <a:ext cx="5410349" cy="2662833"/>
          </a:xfrm>
          <a:prstGeom prst="roundRect">
            <a:avLst>
              <a:gd name="adj" fmla="val 476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376" y="1723727"/>
            <a:ext cx="50846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BUZZER ROUND (5 MIN)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1376" y="2050703"/>
            <a:ext cx="1524000" cy="688777"/>
          </a:xfrm>
          <a:prstGeom prst="roundRect">
            <a:avLst>
              <a:gd name="adj" fmla="val 14751"/>
            </a:avLst>
          </a:prstGeom>
          <a:solidFill>
            <a:srgbClr val="F8ECEA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7617" y="2161729"/>
            <a:ext cx="14315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7617" y="2485579"/>
            <a:ext cx="14315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96877" y="2050703"/>
            <a:ext cx="1524000" cy="688777"/>
          </a:xfrm>
          <a:prstGeom prst="roundRect">
            <a:avLst>
              <a:gd name="adj" fmla="val 14751"/>
            </a:avLst>
          </a:prstGeom>
          <a:solidFill>
            <a:srgbClr val="F8ECEA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43118" y="2161729"/>
            <a:ext cx="14315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43118" y="2485579"/>
            <a:ext cx="14315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22378" y="2050703"/>
            <a:ext cx="1524000" cy="688777"/>
          </a:xfrm>
          <a:prstGeom prst="roundRect">
            <a:avLst>
              <a:gd name="adj" fmla="val 14751"/>
            </a:avLst>
          </a:prstGeom>
          <a:solidFill>
            <a:srgbClr val="F8ECEA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68619" y="2161729"/>
            <a:ext cx="14315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一___教学楼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68619" y="2485579"/>
            <a:ext cx="14315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1376" y="2840980"/>
            <a:ext cx="1524000" cy="688777"/>
          </a:xfrm>
          <a:prstGeom prst="roundRect">
            <a:avLst>
              <a:gd name="adj" fmla="val 14751"/>
            </a:avLst>
          </a:prstGeom>
          <a:solidFill>
            <a:srgbClr val="F8ECEA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7617" y="2952006"/>
            <a:ext cx="14315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7617" y="3275856"/>
            <a:ext cx="14315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96877" y="2840980"/>
            <a:ext cx="1524000" cy="688777"/>
          </a:xfrm>
          <a:prstGeom prst="roundRect">
            <a:avLst>
              <a:gd name="adj" fmla="val 14751"/>
            </a:avLst>
          </a:prstGeom>
          <a:solidFill>
            <a:srgbClr val="F8ECEA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43118" y="2952006"/>
            <a:ext cx="14315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一___铅笔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43118" y="3275856"/>
            <a:ext cx="14315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22378" y="2840980"/>
            <a:ext cx="1524000" cy="688777"/>
          </a:xfrm>
          <a:prstGeom prst="roundRect">
            <a:avLst>
              <a:gd name="adj" fmla="val 14751"/>
            </a:avLst>
          </a:prstGeom>
          <a:solidFill>
            <a:srgbClr val="F8ECEA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68619" y="2952006"/>
            <a:ext cx="14315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68619" y="3275856"/>
            <a:ext cx="14315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1376" y="3656707"/>
            <a:ext cx="508469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one prompt at a time. Students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raise hands to answer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first correct hand wins a point. Keep pace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!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22950" y="1536502"/>
            <a:ext cx="5410349" cy="2662833"/>
          </a:xfrm>
          <a:prstGeom prst="roundRect">
            <a:avLst>
              <a:gd name="adj" fmla="val 476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35626" y="1723727"/>
            <a:ext cx="50846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SENTENCE FLASH (3 MIN)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35626" y="2050703"/>
            <a:ext cx="4984998" cy="857696"/>
          </a:xfrm>
          <a:prstGeom prst="roundRect">
            <a:avLst>
              <a:gd name="adj" fmla="val 1184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13327" y="2177653"/>
            <a:ext cx="47221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MECHANIC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13327" y="2390329"/>
            <a:ext cx="472218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one facility sentence with a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blank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measure word or position word.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35626" y="3035350"/>
            <a:ext cx="508469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student to fill the blank; the whole class then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echoes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completed sentence.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8701" y="4377035"/>
            <a:ext cx="11074598" cy="571500"/>
          </a:xfrm>
          <a:prstGeom prst="rect">
            <a:avLst/>
          </a:prstGeom>
          <a:solidFill>
            <a:srgbClr val="F8EC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82513" y="4377035"/>
            <a:ext cx="0" cy="571500"/>
          </a:xfrm>
          <a:prstGeom prst="line">
            <a:avLst/>
          </a:prstGeom>
          <a:noFill/>
          <a:ln w="47625">
            <a:solidFill>
              <a:srgbClr val="C96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926" y="4529435"/>
            <a:ext cx="10781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“今天整节课都是比赛！我们先比部首，再比设计城市地图。准备好了吗？”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27995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60202"/>
            <a:ext cx="10881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942677"/>
            <a:ext cx="108813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2000" y="1676102"/>
            <a:ext cx="10668000" cy="1162348"/>
          </a:xfrm>
          <a:prstGeom prst="rect">
            <a:avLst/>
          </a:prstGeom>
          <a:solidFill>
            <a:srgbClr val="E9EF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85813" y="1676102"/>
            <a:ext cx="0" cy="1162348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3526" y="1853803"/>
            <a:ext cx="103148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3526" y="2091928"/>
            <a:ext cx="10314825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 radicals under competition pressure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use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 words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describe and redesign a city map.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3067050"/>
            <a:ext cx="10668000" cy="742057"/>
          </a:xfrm>
          <a:prstGeom prst="roundRect">
            <a:avLst>
              <a:gd name="adj" fmla="val 1369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74675" y="3203525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02519" y="3254276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2477" y="3203525"/>
            <a:ext cx="446715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at least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six radicals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from memory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2477" y="3472607"/>
            <a:ext cx="44671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能默写至少六个部首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2000" y="3936057"/>
            <a:ext cx="10668000" cy="742057"/>
          </a:xfrm>
          <a:prstGeom prst="roundRect">
            <a:avLst>
              <a:gd name="adj" fmla="val 1369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74675" y="407253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87487" y="4123283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82477" y="4072533"/>
            <a:ext cx="575036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a city map using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 words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complete sentences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82477" y="4341614"/>
            <a:ext cx="5750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能用位置词描述城市地图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2000" y="4805065"/>
            <a:ext cx="10668000" cy="742057"/>
          </a:xfrm>
          <a:prstGeom prst="roundRect">
            <a:avLst>
              <a:gd name="adj" fmla="val 1369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74675" y="494154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87041" y="4992291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82477" y="4941540"/>
            <a:ext cx="859396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recognise the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eight stationery preview words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know that 游泳馆 is a test-only variant of 游泳池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82477" y="5210621"/>
            <a:ext cx="85939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能认读八个文具预习词汇，知道"游泳馆"是"游泳池"的测验变体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24080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Radical Reference Grid · 10–14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584002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10–14 MIN · I DO · WHAT IS A RADICAL?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841177"/>
            <a:ext cx="11296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部首参考表 · Radical Reference Grid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8701" y="1422202"/>
            <a:ext cx="11074598" cy="441127"/>
          </a:xfrm>
          <a:prstGeom prst="roundRect">
            <a:avLst>
              <a:gd name="adj" fmla="val 23032"/>
            </a:avLst>
          </a:prstGeom>
          <a:solidFill>
            <a:srgbClr val="E9EFF5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0901" y="1542752"/>
            <a:ext cx="8998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“部首是汉字的基本部件，帮助我们猜字的意思。”</a:t>
            </a:r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 radical is a basic building block of a character that helps us guess its meaning.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041029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3037" y="2177504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氵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3037" y="2774305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037" y="2961531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游泳池, 汉语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87501" y="2041029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31837" y="2177504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艹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431837" y="2774305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GRASS / PLANT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31837" y="2961531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花, 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16301" y="2041029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60637" y="2177504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扌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260637" y="2774305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60637" y="2961531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打, 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45101" y="2041029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89437" y="2177504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忄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089437" y="2774305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HEART / FEELING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9437" y="2961531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忘, 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73901" y="2041029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918237" y="2177504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口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918237" y="2774305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MOUTH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18237" y="2961531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吗, 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02701" y="2041029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747037" y="2177504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亻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9747037" y="2774305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47037" y="2961531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你, 他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8701" y="3367832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3037" y="3504307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木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603037" y="4101108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WOOD / TREE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3037" y="4288334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校, 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87501" y="3367832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431837" y="3504307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2431837" y="4101108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431837" y="4288334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灯, 烧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16301" y="3367832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260637" y="3504307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钅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4260637" y="4101108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METAL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60637" y="4288334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钢, 银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45101" y="3367832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89437" y="3504307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6089437" y="4101108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EARTH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89437" y="4288334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地, 场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873901" y="3367832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918237" y="3504307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纟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7918237" y="4101108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SILK / THREAD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918237" y="4288334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练, 红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702701" y="3367832"/>
            <a:ext cx="1714500" cy="1212503"/>
          </a:xfrm>
          <a:prstGeom prst="roundRect">
            <a:avLst>
              <a:gd name="adj" fmla="val 1047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9747037" y="3504307"/>
            <a:ext cx="162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宀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9747037" y="4101108"/>
            <a:ext cx="1625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ROOF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747037" y="4288334"/>
            <a:ext cx="1625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室, 家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21468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Stationery Preview · 14–17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584002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14–17 MIN · I DO · BRIDGING TO LESSON 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841177"/>
            <a:ext cx="11296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文具预习 · Stationery Preview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8701" y="1320552"/>
            <a:ext cx="11296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“这些是文具的词——下一课我们会正式学。今天先认识一下。”</a:t>
            </a:r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Choral read once through.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8701" y="1672977"/>
            <a:ext cx="2514600" cy="698302"/>
          </a:xfrm>
          <a:prstGeom prst="roundRect">
            <a:avLst>
              <a:gd name="adj" fmla="val 145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5927" y="1826865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57176" y="1809452"/>
            <a:ext cx="4136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qiānbǐ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57176" y="2034778"/>
            <a:ext cx="4136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251" y="1672977"/>
            <a:ext cx="2514600" cy="698302"/>
          </a:xfrm>
          <a:prstGeom prst="roundRect">
            <a:avLst>
              <a:gd name="adj" fmla="val 145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87477" y="1826865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98727" y="1809452"/>
            <a:ext cx="8671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gāngbǐ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98727" y="2034778"/>
            <a:ext cx="8671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fountain pen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41802" y="1672977"/>
            <a:ext cx="2514600" cy="698302"/>
          </a:xfrm>
          <a:prstGeom prst="roundRect">
            <a:avLst>
              <a:gd name="adj" fmla="val 145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29027" y="1826865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40277" y="1809452"/>
            <a:ext cx="314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chǐzi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40277" y="2034778"/>
            <a:ext cx="314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83352" y="1672977"/>
            <a:ext cx="2514600" cy="698302"/>
          </a:xfrm>
          <a:prstGeom prst="roundRect">
            <a:avLst>
              <a:gd name="adj" fmla="val 145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670578" y="1826865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81827" y="1809452"/>
            <a:ext cx="4898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xiàngpí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81827" y="2034778"/>
            <a:ext cx="4898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eraser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8701" y="2498229"/>
            <a:ext cx="2514600" cy="698302"/>
          </a:xfrm>
          <a:prstGeom prst="roundRect">
            <a:avLst>
              <a:gd name="adj" fmla="val 145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5927" y="2652117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57176" y="2634704"/>
            <a:ext cx="7643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báibǎn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57176" y="2860030"/>
            <a:ext cx="7643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251" y="2498229"/>
            <a:ext cx="2514600" cy="698302"/>
          </a:xfrm>
          <a:prstGeom prst="roundRect">
            <a:avLst>
              <a:gd name="adj" fmla="val 145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87477" y="2652117"/>
            <a:ext cx="85496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378077" y="2634704"/>
            <a:ext cx="1140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juǎnbǐdāo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78077" y="2860030"/>
            <a:ext cx="1140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 sharpener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41802" y="2498229"/>
            <a:ext cx="2514600" cy="698302"/>
          </a:xfrm>
          <a:prstGeom prst="roundRect">
            <a:avLst>
              <a:gd name="adj" fmla="val 145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29027" y="2652117"/>
            <a:ext cx="85496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练习本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019627" y="2634704"/>
            <a:ext cx="9594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liànxíběn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19627" y="2860030"/>
            <a:ext cx="9594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exercise book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83352" y="2498229"/>
            <a:ext cx="2514600" cy="698302"/>
          </a:xfrm>
          <a:prstGeom prst="roundRect">
            <a:avLst>
              <a:gd name="adj" fmla="val 145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670578" y="2652117"/>
            <a:ext cx="85496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计算器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661178" y="2634704"/>
            <a:ext cx="6776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jìsuànqì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61178" y="2860030"/>
            <a:ext cx="6776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calculator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8701" y="3374231"/>
            <a:ext cx="11074598" cy="1895624"/>
          </a:xfrm>
          <a:prstGeom prst="roundRect">
            <a:avLst>
              <a:gd name="adj" fmla="val 6700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78282" y="3545681"/>
            <a:ext cx="106354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 VARIANT FLAG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32920" y="3972520"/>
            <a:ext cx="190256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4232920" y="4464546"/>
            <a:ext cx="19025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yóuyǒngchí · textbook term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96186" y="4142333"/>
            <a:ext cx="16531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826584" y="3853607"/>
            <a:ext cx="112472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游泳馆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6837611" y="4345781"/>
            <a:ext cx="1102668" cy="187226"/>
          </a:xfrm>
          <a:prstGeom prst="roundRect">
            <a:avLst>
              <a:gd name="adj" fmla="val 6776463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30115" y="4358432"/>
            <a:ext cx="9176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 3.2 ONLY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26584" y="4583609"/>
            <a:ext cx="11247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yóuyǒngguan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8282" y="4885134"/>
            <a:ext cx="106354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“两个词意思一样，都是'swimming pool'。课本用'游泳池'，但是测验也会考'游泳馆'——两个都要记住。”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20971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17–20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17–20 MIN · CHECK FOR UNDERSTANDING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891927"/>
            <a:ext cx="112960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58701" y="1561802"/>
            <a:ext cx="3539133" cy="2711946"/>
          </a:xfrm>
          <a:prstGeom prst="roundRect">
            <a:avLst>
              <a:gd name="adj" fmla="val 5620"/>
            </a:avLst>
          </a:prstGeom>
          <a:solidFill>
            <a:srgbClr val="E9EFF5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5452" y="178400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6123" y="1844278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5452" y="2215604"/>
            <a:ext cx="32085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5452" y="2479030"/>
            <a:ext cx="3208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举例说部首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5452" y="2847231"/>
            <a:ext cx="3208544" cy="699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points to </a:t>
            </a:r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氵</a:t>
            </a:r>
            <a:pPr algn="l" indent="0" marL="0">
              <a:lnSpc>
                <a:spcPts val="232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木</a:t>
            </a:r>
            <a:pPr algn="l" indent="0" marL="0">
              <a:lnSpc>
                <a:spcPts val="232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</a:t>
            </a:r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宀</a:t>
            </a:r>
            <a:pPr algn="l" indent="0" marL="0">
              <a:lnSpc>
                <a:spcPts val="232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projector. Class calls out </a:t>
            </a:r>
            <a:pPr algn="l" indent="0" marL="0">
              <a:lnSpc>
                <a:spcPts val="2320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example word</a:t>
            </a:r>
            <a:pPr algn="l" indent="0" marL="0">
              <a:lnSpc>
                <a:spcPts val="232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each radical.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5452" y="3699123"/>
            <a:ext cx="3145631" cy="352425"/>
          </a:xfrm>
          <a:prstGeom prst="roundRect">
            <a:avLst>
              <a:gd name="adj" fmla="val 28829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72916" y="3794373"/>
            <a:ext cx="29107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26434" y="1561802"/>
            <a:ext cx="3539133" cy="2711946"/>
          </a:xfrm>
          <a:prstGeom prst="roundRect">
            <a:avLst>
              <a:gd name="adj" fmla="val 5620"/>
            </a:avLst>
          </a:prstGeom>
          <a:solidFill>
            <a:srgbClr val="E8F3F0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23184" y="178400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39866" y="1844278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3184" y="2215604"/>
            <a:ext cx="32085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3184" y="2479030"/>
            <a:ext cx="3208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Rapid Translation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23184" y="2847231"/>
            <a:ext cx="3208544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pPr algn="l" indent="0" marL="0">
              <a:lnSpc>
                <a:spcPts val="1595"/>
              </a:lnSpc>
              <a:buNone/>
            </a:pPr>
            <a:r>
              <a:rPr lang="en-US" sz="110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“Alex, 'pencil sharpener' 用中文怎么说？”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3184" y="3404592"/>
            <a:ext cx="3145631" cy="352425"/>
          </a:xfrm>
          <a:prstGeom prst="roundRect">
            <a:avLst>
              <a:gd name="adj" fmla="val 28829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0648" y="3499842"/>
            <a:ext cx="29107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94166" y="1561802"/>
            <a:ext cx="3539133" cy="2711946"/>
          </a:xfrm>
          <a:prstGeom prst="roundRect">
            <a:avLst>
              <a:gd name="adj" fmla="val 5620"/>
            </a:avLst>
          </a:prstGeom>
          <a:solidFill>
            <a:srgbClr val="F8ECEA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90917" y="178400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07301" y="1844278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90917" y="2215604"/>
            <a:ext cx="32085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90917" y="2479030"/>
            <a:ext cx="3208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 vs 游泳馆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90917" y="2847231"/>
            <a:ext cx="3208544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</a:t>
            </a:r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游泳池</a:t>
            </a:r>
            <a:pPr algn="l" indent="0" marL="0">
              <a:lnSpc>
                <a:spcPts val="232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游泳馆</a:t>
            </a:r>
            <a:pPr algn="l" indent="0" marL="0">
              <a:lnSpc>
                <a:spcPts val="232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</a:t>
            </a:r>
            <a:pPr algn="l" indent="0" marL="0">
              <a:lnSpc>
                <a:spcPts val="2320"/>
              </a:lnSpc>
              <a:buNone/>
            </a:pPr>
            <a:r>
              <a:rPr lang="en-US" sz="110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“这两个词意思一样还是不一样？”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90917" y="3496568"/>
            <a:ext cx="3145631" cy="352425"/>
          </a:xfrm>
          <a:prstGeom prst="roundRect">
            <a:avLst>
              <a:gd name="adj" fmla="val 28829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408381" y="3591818"/>
            <a:ext cx="29107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1285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891927"/>
            <a:ext cx="112960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58701" y="1561802"/>
            <a:ext cx="3539133" cy="2085529"/>
          </a:xfrm>
          <a:prstGeom prst="roundRect">
            <a:avLst>
              <a:gd name="adj" fmla="val 609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927" y="17744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3976" y="1814066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2227" y="1823591"/>
            <a:ext cx="23298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— example words for 氵 木 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5927" y="2180779"/>
            <a:ext cx="3164681" cy="1253877"/>
          </a:xfrm>
          <a:prstGeom prst="roundRect">
            <a:avLst>
              <a:gd name="adj" fmla="val 8103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9159" y="2326779"/>
            <a:ext cx="28782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氵 → </a:t>
            </a:r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/ 汉语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9159" y="2653754"/>
            <a:ext cx="2878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木 → </a:t>
            </a:r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</a:t>
            </a:r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/ 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9159" y="2971205"/>
            <a:ext cx="2878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宀 → </a:t>
            </a:r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室</a:t>
            </a:r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/ 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26434" y="1561802"/>
            <a:ext cx="3539133" cy="2085529"/>
          </a:xfrm>
          <a:prstGeom prst="roundRect">
            <a:avLst>
              <a:gd name="adj" fmla="val 609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13659" y="181570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09058" y="1855291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960" y="1774478"/>
            <a:ext cx="281354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"pencil sharpener" 用中文怎么说？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13659" y="2263378"/>
            <a:ext cx="3164681" cy="799951"/>
          </a:xfrm>
          <a:prstGeom prst="roundRect">
            <a:avLst>
              <a:gd name="adj" fmla="val 12701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56892" y="2409379"/>
            <a:ext cx="28782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</a:t>
            </a:r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56892" y="2736354"/>
            <a:ext cx="28782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juǎnbǐdāo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94166" y="1561802"/>
            <a:ext cx="3539133" cy="2085529"/>
          </a:xfrm>
          <a:prstGeom prst="roundRect">
            <a:avLst>
              <a:gd name="adj" fmla="val 609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81392" y="181570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376493" y="1855291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7693" y="1774478"/>
            <a:ext cx="281354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— 游泳池 vs 游泳馆，一样还是不一样？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81392" y="2263378"/>
            <a:ext cx="3164681" cy="980926"/>
          </a:xfrm>
          <a:prstGeom prst="roundRect">
            <a:avLst>
              <a:gd name="adj" fmla="val 10358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424624" y="2409379"/>
            <a:ext cx="28782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</a:t>
            </a:r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一样！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24624" y="2736354"/>
            <a:ext cx="287821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mean "swimming pool" — 游泳馆 is the Test 3.2 variant of 游泳池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18372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部首大挑战 · 20–29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58701"/>
            <a:ext cx="11399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20–29 MIN · WE DO / GAME · BASED ON ACT. 11, P.78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815876"/>
            <a:ext cx="113996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部首大挑战 · Radical Writing Competition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07950" y="1342876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6617" y="1453902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氵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01701" y="1342876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00367" y="1453902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艹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95451" y="1342876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94118" y="1453902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扌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089202" y="1342876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87868" y="1453902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82952" y="1342876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81618" y="1453902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76702" y="1342876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5369" y="1453902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亻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7950" y="2082403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6617" y="2193429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01701" y="2082403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00367" y="2193429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895451" y="2082403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94118" y="2193429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钅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089202" y="2082403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87868" y="2193429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282952" y="2082403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81618" y="2193429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纟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476702" y="2082403"/>
            <a:ext cx="1104900" cy="650677"/>
          </a:xfrm>
          <a:prstGeom prst="roundRect">
            <a:avLst>
              <a:gd name="adj" fmla="val 15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75369" y="2193429"/>
            <a:ext cx="11075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宀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07950" y="2834580"/>
            <a:ext cx="725413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reference grid for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minute of final study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then hide it for the 3-minute write phase.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73752" y="1342876"/>
            <a:ext cx="3810298" cy="1805285"/>
          </a:xfrm>
          <a:prstGeom prst="roundRect">
            <a:avLst>
              <a:gd name="adj" fmla="val 562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035677" y="1466701"/>
            <a:ext cx="35561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35677" y="171747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97292" y="1724918"/>
            <a:ext cx="55561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89578" y="1704826"/>
            <a:ext cx="329719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3–4 teams; one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scribe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writes for the team (or each member writes and the team's best set counts)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35677" y="209386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86279" y="2101304"/>
            <a:ext cx="78028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89578" y="2081212"/>
            <a:ext cx="1860063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Study grid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min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grid hidden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35677" y="233496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085981" y="2342406"/>
            <a:ext cx="78635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89578" y="2322314"/>
            <a:ext cx="329719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min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write as many radicals as remembered, each with one example word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35677" y="271135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085534" y="2718792"/>
            <a:ext cx="79394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289578" y="2698700"/>
            <a:ext cx="329719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Teams read list aloud —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pt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per correct radical +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bonus pt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the example word is also correct.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873752" y="3249662"/>
            <a:ext cx="3810298" cy="992535"/>
          </a:xfrm>
          <a:prstGeom prst="roundRect">
            <a:avLst>
              <a:gd name="adj" fmla="val 1023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035677" y="3373487"/>
            <a:ext cx="35561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1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035677" y="3611612"/>
            <a:ext cx="3556177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team member must contribute at least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radical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teacher circulates during the 3-minute window to confirm.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873752" y="4343698"/>
            <a:ext cx="3810298" cy="823615"/>
          </a:xfrm>
          <a:prstGeom prst="roundRect">
            <a:avLst>
              <a:gd name="adj" fmla="val 1233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035677" y="4467523"/>
            <a:ext cx="35561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35677" y="4705648"/>
            <a:ext cx="3556177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Teams may keep the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meaning column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(English) visible as a memory hook — only 汉字/example columns hidden.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873752" y="5268813"/>
            <a:ext cx="3810298" cy="823615"/>
          </a:xfrm>
          <a:prstGeom prst="roundRect">
            <a:avLst>
              <a:gd name="adj" fmla="val 1233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035677" y="5392638"/>
            <a:ext cx="35561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35677" y="5630763"/>
            <a:ext cx="3556177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 point for any radical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beyond the twelve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shown (e.g. 讠, 刂, 辶) if correctly identified with an example.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17371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部首大挑战 Answers 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 CORRECT ANSWERS · 样板答案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891927"/>
            <a:ext cx="112960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样板答案 · What a Winning List Looks Like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58701" y="1533227"/>
            <a:ext cx="2489150" cy="1349276"/>
          </a:xfrm>
          <a:prstGeom prst="roundRect">
            <a:avLst>
              <a:gd name="adj" fmla="val 9412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6771" y="1704677"/>
            <a:ext cx="22930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氵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6771" y="2222153"/>
            <a:ext cx="2293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water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6771" y="2482453"/>
            <a:ext cx="229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251" y="1533227"/>
            <a:ext cx="2489150" cy="1349276"/>
          </a:xfrm>
          <a:prstGeom prst="roundRect">
            <a:avLst>
              <a:gd name="adj" fmla="val 9412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98321" y="1704677"/>
            <a:ext cx="22930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艹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8321" y="2222153"/>
            <a:ext cx="2293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grass/plant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8321" y="2482453"/>
            <a:ext cx="229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41802" y="1533227"/>
            <a:ext cx="2489150" cy="1349276"/>
          </a:xfrm>
          <a:prstGeom prst="roundRect">
            <a:avLst>
              <a:gd name="adj" fmla="val 9412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9872" y="1704677"/>
            <a:ext cx="22930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扌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939872" y="2222153"/>
            <a:ext cx="2293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hand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39872" y="2482453"/>
            <a:ext cx="229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83352" y="1533227"/>
            <a:ext cx="2489150" cy="1349276"/>
          </a:xfrm>
          <a:prstGeom prst="roundRect">
            <a:avLst>
              <a:gd name="adj" fmla="val 9412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581422" y="1704677"/>
            <a:ext cx="22930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忄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581422" y="2222153"/>
            <a:ext cx="2293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heart/feeling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81422" y="2482453"/>
            <a:ext cx="229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8701" y="3034903"/>
            <a:ext cx="2489150" cy="1349276"/>
          </a:xfrm>
          <a:prstGeom prst="roundRect">
            <a:avLst>
              <a:gd name="adj" fmla="val 9412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6771" y="3206353"/>
            <a:ext cx="22930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口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56771" y="3723829"/>
            <a:ext cx="2293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mouth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6771" y="3984129"/>
            <a:ext cx="229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251" y="3034903"/>
            <a:ext cx="2489150" cy="1349276"/>
          </a:xfrm>
          <a:prstGeom prst="roundRect">
            <a:avLst>
              <a:gd name="adj" fmla="val 9412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98321" y="3206353"/>
            <a:ext cx="22930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亻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298321" y="3723829"/>
            <a:ext cx="2293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person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8321" y="3984129"/>
            <a:ext cx="229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41802" y="3034903"/>
            <a:ext cx="2489150" cy="1349276"/>
          </a:xfrm>
          <a:prstGeom prst="roundRect">
            <a:avLst>
              <a:gd name="adj" fmla="val 9412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939872" y="3206353"/>
            <a:ext cx="22930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木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939872" y="3723829"/>
            <a:ext cx="2293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wood/tree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39872" y="3984129"/>
            <a:ext cx="229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83352" y="3034903"/>
            <a:ext cx="2489150" cy="1349276"/>
          </a:xfrm>
          <a:prstGeom prst="roundRect">
            <a:avLst>
              <a:gd name="adj" fmla="val 9412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581422" y="3206353"/>
            <a:ext cx="22930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581422" y="3723829"/>
            <a:ext cx="2293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fire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81422" y="3984129"/>
            <a:ext cx="229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灯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8701" y="4587329"/>
            <a:ext cx="11074598" cy="781050"/>
          </a:xfrm>
          <a:prstGeom prst="roundRect">
            <a:avLst>
              <a:gd name="adj" fmla="val 1300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96826" y="4749254"/>
            <a:ext cx="108103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土 纟 宀 钅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also count for full marks (see the I Do reference grid).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讠, 刂, 辶 earn a bonus point each if correctly identified with an example — even though they weren't on today's reference grid.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16337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 2 · 29–34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29–34 MIN · YOU DO · INDEPENDENT CHECK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891927"/>
            <a:ext cx="112960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文具 + 游泳池小测验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58701" y="1561802"/>
            <a:ext cx="6302573" cy="5256163"/>
          </a:xfrm>
          <a:prstGeom prst="roundRect">
            <a:avLst>
              <a:gd name="adj" fmla="val 2899"/>
            </a:avLst>
          </a:prstGeom>
          <a:solidFill>
            <a:srgbClr val="F4F2EE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6351" y="1784003"/>
            <a:ext cx="2953643" cy="257175"/>
          </a:xfrm>
          <a:prstGeom prst="roundRect">
            <a:avLst>
              <a:gd name="adj" fmla="val 4933333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4052" y="1822103"/>
            <a:ext cx="26502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WRITE ENGLISH MEANING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6351" y="2193578"/>
            <a:ext cx="2840087" cy="1114127"/>
          </a:xfrm>
          <a:prstGeom prst="roundRect">
            <a:avLst>
              <a:gd name="adj" fmla="val 9119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3398" y="2320528"/>
            <a:ext cx="258599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3398" y="2698254"/>
            <a:ext cx="25859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qiānbǐ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60252" y="2990255"/>
            <a:ext cx="2332286" cy="0"/>
          </a:xfrm>
          <a:prstGeom prst="line">
            <a:avLst/>
          </a:prstGeom>
          <a:noFill/>
          <a:ln w="19050">
            <a:solidFill>
              <a:srgbClr val="B87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398" y="3037880"/>
            <a:ext cx="2585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ENGLISH?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73388" y="2193578"/>
            <a:ext cx="2840087" cy="1114127"/>
          </a:xfrm>
          <a:prstGeom prst="roundRect">
            <a:avLst>
              <a:gd name="adj" fmla="val 9119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00435" y="2320528"/>
            <a:ext cx="258599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900435" y="2698254"/>
            <a:ext cx="25859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xiàngpí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7289" y="2990255"/>
            <a:ext cx="2332286" cy="0"/>
          </a:xfrm>
          <a:prstGeom prst="line">
            <a:avLst/>
          </a:prstGeom>
          <a:noFill/>
          <a:ln w="19050">
            <a:solidFill>
              <a:srgbClr val="B87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00435" y="3037880"/>
            <a:ext cx="2585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ENGLISH?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6351" y="3434655"/>
            <a:ext cx="2840087" cy="1114127"/>
          </a:xfrm>
          <a:prstGeom prst="roundRect">
            <a:avLst>
              <a:gd name="adj" fmla="val 9119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3398" y="3561606"/>
            <a:ext cx="258599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3398" y="3939332"/>
            <a:ext cx="25859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báibǎn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60252" y="4231332"/>
            <a:ext cx="2332286" cy="0"/>
          </a:xfrm>
          <a:prstGeom prst="line">
            <a:avLst/>
          </a:prstGeom>
          <a:noFill/>
          <a:ln w="19050">
            <a:solidFill>
              <a:srgbClr val="B87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398" y="4278957"/>
            <a:ext cx="2585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ENGLISH?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73388" y="3434655"/>
            <a:ext cx="2840087" cy="1114127"/>
          </a:xfrm>
          <a:prstGeom prst="roundRect">
            <a:avLst>
              <a:gd name="adj" fmla="val 9119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900435" y="3561606"/>
            <a:ext cx="258599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计算器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00435" y="3939332"/>
            <a:ext cx="25859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jìsuànqì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27289" y="4231332"/>
            <a:ext cx="2332286" cy="0"/>
          </a:xfrm>
          <a:prstGeom prst="line">
            <a:avLst/>
          </a:prstGeom>
          <a:noFill/>
          <a:ln w="19050">
            <a:solidFill>
              <a:srgbClr val="B87A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00435" y="4278957"/>
            <a:ext cx="2585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ENGLISH?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6351" y="4701183"/>
            <a:ext cx="5807273" cy="580727"/>
          </a:xfrm>
          <a:prstGeom prst="roundRect">
            <a:avLst>
              <a:gd name="adj" fmla="val 1749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58751" y="4802684"/>
            <a:ext cx="56125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58751" y="5002709"/>
            <a:ext cx="561252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students complete the quiz independently in their exercise books.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6351" y="5358110"/>
            <a:ext cx="5807273" cy="580727"/>
          </a:xfrm>
          <a:prstGeom prst="roundRect">
            <a:avLst>
              <a:gd name="adj" fmla="val 1749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8751" y="5459611"/>
            <a:ext cx="56125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58751" y="5659636"/>
            <a:ext cx="561252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pinyin visible next to each stationery word during the quiz.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6351" y="6015038"/>
            <a:ext cx="5807273" cy="580727"/>
          </a:xfrm>
          <a:prstGeom prst="roundRect">
            <a:avLst>
              <a:gd name="adj" fmla="val 1749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58751" y="6116538"/>
            <a:ext cx="56125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58751" y="6316563"/>
            <a:ext cx="561252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additional sentence using 游泳池 in context.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66074" y="1561802"/>
            <a:ext cx="4467225" cy="1568053"/>
          </a:xfrm>
          <a:prstGeom prst="roundRect">
            <a:avLst>
              <a:gd name="adj" fmla="val 8099"/>
            </a:avLst>
          </a:prstGeom>
          <a:solidFill>
            <a:srgbClr val="E9EFF5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413724" y="1784003"/>
            <a:ext cx="40513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TRUE OR FALSE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13724" y="2066479"/>
            <a:ext cx="40513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“游泳馆和游泳池意思一样。”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413724" y="2533204"/>
            <a:ext cx="1050875" cy="374452"/>
          </a:xfrm>
          <a:prstGeom prst="roundRect">
            <a:avLst>
              <a:gd name="adj" fmla="val 3388231"/>
            </a:avLst>
          </a:prstGeom>
          <a:noFill/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661374" y="2615654"/>
            <a:ext cx="5666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True 对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17000" y="2533204"/>
            <a:ext cx="1109960" cy="374452"/>
          </a:xfrm>
          <a:prstGeom prst="roundRect">
            <a:avLst>
              <a:gd name="adj" fmla="val 3388231"/>
            </a:avLst>
          </a:prstGeom>
          <a:noFill/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864650" y="2615654"/>
            <a:ext cx="6269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False 错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15327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 2 Answers 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891927"/>
            <a:ext cx="112960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文具 + 游泳池小测验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58701" y="1561802"/>
            <a:ext cx="2967335" cy="1222177"/>
          </a:xfrm>
          <a:prstGeom prst="roundRect">
            <a:avLst>
              <a:gd name="adj" fmla="val 8313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9713" y="1733252"/>
            <a:ext cx="262531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9713" y="2110978"/>
            <a:ext cx="26253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qiānbǐ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9713" y="2355354"/>
            <a:ext cx="26253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pencil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8436" y="1561802"/>
            <a:ext cx="2967335" cy="1222177"/>
          </a:xfrm>
          <a:prstGeom prst="roundRect">
            <a:avLst>
              <a:gd name="adj" fmla="val 8313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49448" y="1733252"/>
            <a:ext cx="262531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9448" y="2110978"/>
            <a:ext cx="26253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xiàngpí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9448" y="2355354"/>
            <a:ext cx="26253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eraser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8701" y="2936379"/>
            <a:ext cx="2967335" cy="1222177"/>
          </a:xfrm>
          <a:prstGeom prst="roundRect">
            <a:avLst>
              <a:gd name="adj" fmla="val 8313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9713" y="3107829"/>
            <a:ext cx="262531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9713" y="3485555"/>
            <a:ext cx="26253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báibǎn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9713" y="3729930"/>
            <a:ext cx="26253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whiteboard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78436" y="2936379"/>
            <a:ext cx="2967335" cy="1222177"/>
          </a:xfrm>
          <a:prstGeom prst="roundRect">
            <a:avLst>
              <a:gd name="adj" fmla="val 8313"/>
            </a:avLst>
          </a:prstGeom>
          <a:solidFill>
            <a:srgbClr val="F6EE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49448" y="3107829"/>
            <a:ext cx="262531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计算器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9448" y="3485555"/>
            <a:ext cx="26253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jìsuànqì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9448" y="3729930"/>
            <a:ext cx="26253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calculator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50720" y="1561802"/>
            <a:ext cx="4682579" cy="1568053"/>
          </a:xfrm>
          <a:prstGeom prst="roundRect">
            <a:avLst>
              <a:gd name="adj" fmla="val 8099"/>
            </a:avLst>
          </a:prstGeom>
          <a:solidFill>
            <a:srgbClr val="E8F3F0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98370" y="1758553"/>
            <a:ext cx="42710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TRUE OR FALSE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98370" y="2021979"/>
            <a:ext cx="427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“游泳馆和游泳池意思一样。”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98370" y="2390180"/>
            <a:ext cx="4271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True 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98370" y="2752130"/>
            <a:ext cx="4271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mean "swimming pool" — 游泳馆 is the Test 3.2 variant.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50720" y="3307556"/>
            <a:ext cx="4682579" cy="923627"/>
          </a:xfrm>
          <a:prstGeom prst="roundRect">
            <a:avLst>
              <a:gd name="adj" fmla="val 11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188845" y="3494782"/>
            <a:ext cx="42904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EXAMPLE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88845" y="3758208"/>
            <a:ext cx="42904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我们学校有一个游泳池。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20750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城市设计大挑战 · 34–43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58701"/>
            <a:ext cx="11399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34–43 MIN · GAME · BASED ON ACT. 12, P.79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815876"/>
            <a:ext cx="1139962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城市设计大挑战 · City Map Design Challenge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1333351"/>
            <a:ext cx="2082701" cy="857101"/>
          </a:xfrm>
          <a:prstGeom prst="roundRect">
            <a:avLst>
              <a:gd name="adj" fmla="val 118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4563" y="1469827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4563" y="1787277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2152" y="1333351"/>
            <a:ext cx="2082701" cy="857101"/>
          </a:xfrm>
          <a:prstGeom prst="roundRect">
            <a:avLst>
              <a:gd name="adj" fmla="val 118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58764" y="1469827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🏫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58764" y="1787277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76354" y="1333351"/>
            <a:ext cx="2082701" cy="857101"/>
          </a:xfrm>
          <a:prstGeom prst="roundRect">
            <a:avLst>
              <a:gd name="adj" fmla="val 118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42966" y="1469827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42966" y="1787277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医院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950" y="2291953"/>
            <a:ext cx="2082701" cy="857101"/>
          </a:xfrm>
          <a:prstGeom prst="roundRect">
            <a:avLst>
              <a:gd name="adj" fmla="val 118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4563" y="2428429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4563" y="2745879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92152" y="2291953"/>
            <a:ext cx="2082701" cy="857101"/>
          </a:xfrm>
          <a:prstGeom prst="roundRect">
            <a:avLst>
              <a:gd name="adj" fmla="val 118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58764" y="2428429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58764" y="2745879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商店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76354" y="2291953"/>
            <a:ext cx="2082701" cy="857101"/>
          </a:xfrm>
          <a:prstGeom prst="roundRect">
            <a:avLst>
              <a:gd name="adj" fmla="val 118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42966" y="2428429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42966" y="2745879"/>
            <a:ext cx="194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7950" y="3276005"/>
            <a:ext cx="6603950" cy="974229"/>
          </a:xfrm>
          <a:prstGeom prst="roundRect">
            <a:avLst>
              <a:gd name="adj" fmla="val 10429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5651" y="3402955"/>
            <a:ext cx="63735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MODELLING — DESCRIBE THE ORIGINAL CITY CENTRE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651" y="3628281"/>
            <a:ext cx="637352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图书馆在学校的对面。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公园在医院的旁边。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65802" y="1333351"/>
            <a:ext cx="4318248" cy="1564184"/>
          </a:xfrm>
          <a:prstGeom prst="roundRect">
            <a:avLst>
              <a:gd name="adj" fmla="val 649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27727" y="1457176"/>
            <a:ext cx="40742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 — SAME TEAMS AS ACT. 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27727" y="170795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589341" y="1715393"/>
            <a:ext cx="55561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81627" y="1695301"/>
            <a:ext cx="381530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(3 min):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teams describe the projected city map together using position words — 3–4 sentences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27727" y="208433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578328" y="2091779"/>
            <a:ext cx="78028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81627" y="2071688"/>
            <a:ext cx="381530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Redesign (4 min):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each team redesigns the city on a blank grid, moving buildings anywhere, then writes 3–4 sentences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27727" y="246072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578030" y="2468166"/>
            <a:ext cx="78635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81627" y="2448074"/>
            <a:ext cx="381530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Present (2 min):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member from 2–3 teams presents in Chinese; class can ask one question each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365802" y="2999036"/>
            <a:ext cx="4318248" cy="943421"/>
          </a:xfrm>
          <a:prstGeom prst="roundRect">
            <a:avLst>
              <a:gd name="adj" fmla="val 1076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527727" y="3122861"/>
            <a:ext cx="40742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27727" y="3360986"/>
            <a:ext cx="4074286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frame: 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______在______的______。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527727" y="3606105"/>
            <a:ext cx="590401" cy="212527"/>
          </a:xfrm>
          <a:prstGeom prst="roundRect">
            <a:avLst>
              <a:gd name="adj" fmla="val 596973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642027" y="3631406"/>
            <a:ext cx="3690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181529" y="3606105"/>
            <a:ext cx="469850" cy="212527"/>
          </a:xfrm>
          <a:prstGeom prst="roundRect">
            <a:avLst>
              <a:gd name="adj" fmla="val 596973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295829" y="3631406"/>
            <a:ext cx="2460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714780" y="3606105"/>
            <a:ext cx="469850" cy="212527"/>
          </a:xfrm>
          <a:prstGeom prst="roundRect">
            <a:avLst>
              <a:gd name="adj" fmla="val 596973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829080" y="3631406"/>
            <a:ext cx="2460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医院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248031" y="3606105"/>
            <a:ext cx="469850" cy="212527"/>
          </a:xfrm>
          <a:prstGeom prst="roundRect">
            <a:avLst>
              <a:gd name="adj" fmla="val 596973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9362331" y="3631406"/>
            <a:ext cx="2460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781282" y="3606105"/>
            <a:ext cx="469850" cy="212527"/>
          </a:xfrm>
          <a:prstGeom prst="roundRect">
            <a:avLst>
              <a:gd name="adj" fmla="val 596973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895582" y="3631406"/>
            <a:ext cx="2460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商店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314533" y="3606105"/>
            <a:ext cx="590401" cy="212527"/>
          </a:xfrm>
          <a:prstGeom prst="roundRect">
            <a:avLst>
              <a:gd name="adj" fmla="val 596973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0428833" y="3631406"/>
            <a:ext cx="3690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65802" y="4043958"/>
            <a:ext cx="4318248" cy="823615"/>
          </a:xfrm>
          <a:prstGeom prst="roundRect">
            <a:avLst>
              <a:gd name="adj" fmla="val 1233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527727" y="4167783"/>
            <a:ext cx="40742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527727" y="4405908"/>
            <a:ext cx="407428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at least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five different position words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justify one design choice: 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“我们把公园放在学校旁边，因为……”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117425"/>
            <a:ext cx="938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部首·地图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5707" y="1348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5307" y="117425"/>
            <a:ext cx="11865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0"/>
            <a:ext cx="11074598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101" y="917377"/>
            <a:ext cx="1098519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1101" y="1596777"/>
            <a:ext cx="5245150" cy="2716262"/>
          </a:xfrm>
          <a:prstGeom prst="roundRect">
            <a:avLst>
              <a:gd name="adj" fmla="val 5611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1818977"/>
            <a:ext cx="4844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8751" y="2155478"/>
            <a:ext cx="48448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8751" y="2463403"/>
            <a:ext cx="484484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· Write at least six radicals correctly from memory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8751" y="2753469"/>
            <a:ext cx="484484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· Describe a city map using position words in complete sentences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8751" y="3043535"/>
            <a:ext cx="4844847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· Recognise the eight stationery words + know 游泳馆 = 游泳池 variant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8751" y="3547616"/>
            <a:ext cx="4844847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1000"/>
              </a:spcBef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pPr algn="l" indent="0" marL="0">
              <a:lnSpc>
                <a:spcPts val="1330"/>
              </a:lnSpc>
              <a:spcBef>
                <a:spcPts val="1000"/>
              </a:spcBef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flag any student showing 1 finger on criterion 1 (radicals) for next lesson's review.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35601" y="1596777"/>
            <a:ext cx="5245298" cy="2716262"/>
          </a:xfrm>
          <a:prstGeom prst="roundRect">
            <a:avLst>
              <a:gd name="adj" fmla="val 5611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83251" y="1818977"/>
            <a:ext cx="48449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EXERCISE BOOKS · 2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83251" y="2155478"/>
            <a:ext cx="4749998" cy="670322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507063" y="2155478"/>
            <a:ext cx="0" cy="670322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8577" y="2282428"/>
            <a:ext cx="4433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08577" y="2476054"/>
            <a:ext cx="443391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radical (your choice) with an example word.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83251" y="2927300"/>
            <a:ext cx="4749998" cy="893118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507063" y="2927300"/>
            <a:ext cx="0" cy="893118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8577" y="3054251"/>
            <a:ext cx="4433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08577" y="3247876"/>
            <a:ext cx="4433911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describing your redesigned city, using a position word.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83251" y="3921919"/>
            <a:ext cx="4844998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 first, then complete both tasks independently.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8701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0483" y="1198959"/>
            <a:ext cx="22908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COMPLETE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809393" y="1560909"/>
            <a:ext cx="57321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44502" y="2494359"/>
            <a:ext cx="570284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956590" y="3195935"/>
            <a:ext cx="8278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00"/>
              </a:spcAft>
              <a:buNone/>
            </a:pPr>
            <a:r>
              <a:rPr lang="en-US" sz="13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radicals · 8 stationery preview words · 游泳池/游泳馆 test variant · position-word city map design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96901" y="3703886"/>
            <a:ext cx="9398198" cy="1520279"/>
          </a:xfrm>
          <a:prstGeom prst="roundRect">
            <a:avLst>
              <a:gd name="adj" fmla="val 11695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10970" y="3951536"/>
            <a:ext cx="87700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(L8) — UNIT REVIEW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0970" y="4234011"/>
            <a:ext cx="8770060" cy="74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“下一课是这个单元的总复习课，我们会准备好考3.2测验——设施、位置词、量词，全部复习一遍！”</a:t>
            </a:r>
            <a:pPr algn="ctr" indent="0" marL="0">
              <a:lnSpc>
                <a:spcPts val="1950"/>
              </a:lnSpc>
              <a:buNone/>
            </a:pPr>
            <a:endParaRPr lang="en-US" sz="1300" dirty="0"/>
          </a:p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the unit's </a:t>
            </a:r>
            <a:endParaRPr lang="en-US" sz="1300" dirty="0"/>
          </a:p>
          <a:p>
            <a:pPr algn="ctr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review lesson</a:t>
            </a:r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preparing for Test 3.2 — facilities, position words, and measure words, all revisited.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60668" y="5478066"/>
            <a:ext cx="7142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20307" y="5549503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00347" y="5478066"/>
            <a:ext cx="1066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3 · 学校设施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09171" y="5549503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91207" y="5478066"/>
            <a:ext cx="8633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of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98456" y="5549503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68603" y="5478066"/>
            <a:ext cx="20760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p.74, 78–79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2026-07-18T06:17:55Z</dcterms:created>
  <dcterms:modified xsi:type="dcterms:W3CDTF">2026-07-18T06:17:55Z</dcterms:modified>
</cp:coreProperties>
</file>