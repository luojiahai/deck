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82707" y="1814513"/>
            <a:ext cx="74264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800"/>
              </a:spcAft>
              <a:buNone/>
            </a:pPr>
            <a:r>
              <a:rPr lang="en-US" sz="12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2 OF 8 · Y9 UNIT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382707" y="2252663"/>
            <a:ext cx="7426437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0"/>
              </a:lnSpc>
              <a:spcAft>
                <a:spcPts val="1200"/>
              </a:spcAft>
              <a:buNone/>
            </a:pPr>
            <a:r>
              <a:rPr lang="en-US" sz="8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组词</a:t>
            </a:r>
            <a:r>
              <a:rPr lang="en-US" sz="84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8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布局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2382707" y="3471863"/>
            <a:ext cx="742643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40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Word-Building + School Layout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51450" y="4281488"/>
            <a:ext cx="888950" cy="50750"/>
          </a:xfrm>
          <a:prstGeom prst="roundRect">
            <a:avLst>
              <a:gd name="adj" fmla="val 50049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455515" y="4662339"/>
            <a:ext cx="1573411" cy="381000"/>
          </a:xfrm>
          <a:prstGeom prst="roundRect">
            <a:avLst>
              <a:gd name="adj" fmla="val 3330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656710" y="4748064"/>
            <a:ext cx="11710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9 Chinese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06627" y="4662339"/>
            <a:ext cx="1022449" cy="381000"/>
          </a:xfrm>
          <a:prstGeom prst="roundRect">
            <a:avLst>
              <a:gd name="adj" fmla="val 3330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13331" y="4748064"/>
            <a:ext cx="609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06777" y="4662339"/>
            <a:ext cx="1857821" cy="381000"/>
          </a:xfrm>
          <a:prstGeom prst="roundRect">
            <a:avLst>
              <a:gd name="adj" fmla="val 3330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605128" y="4748064"/>
            <a:ext cx="14611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Speaking + Writing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42299" y="4662339"/>
            <a:ext cx="2294037" cy="381000"/>
          </a:xfrm>
          <a:prstGeom prst="roundRect">
            <a:avLst>
              <a:gd name="adj" fmla="val 3330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36288" y="4748064"/>
            <a:ext cx="19060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3 · p.72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698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39601"/>
            <a:ext cx="8601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组词·布局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65511" y="141238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92461" y="139601"/>
            <a:ext cx="9131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34901"/>
            <a:ext cx="11296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8701" y="904726"/>
            <a:ext cx="1129609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Vocabulary &amp; Measure Words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8701" y="1422202"/>
            <a:ext cx="5422999" cy="4388197"/>
          </a:xfrm>
          <a:prstGeom prst="roundRect">
            <a:avLst>
              <a:gd name="adj" fmla="val 289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1376" y="1584127"/>
            <a:ext cx="50976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A · 11 FACILITY WORDS FLASH (汉字 ONLY)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1376" y="1866602"/>
            <a:ext cx="552450" cy="355402"/>
          </a:xfrm>
          <a:prstGeom prst="roundRect">
            <a:avLst>
              <a:gd name="adj" fmla="val 21441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95201" y="1939528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介绍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00026" y="1866602"/>
            <a:ext cx="704850" cy="355402"/>
          </a:xfrm>
          <a:prstGeom prst="roundRect">
            <a:avLst>
              <a:gd name="adj" fmla="val 21441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523851" y="1939528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教学楼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81076" y="1866602"/>
            <a:ext cx="704850" cy="355402"/>
          </a:xfrm>
          <a:prstGeom prst="roundRect">
            <a:avLst>
              <a:gd name="adj" fmla="val 21441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304901" y="1939528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62126" y="1866602"/>
            <a:ext cx="552450" cy="355402"/>
          </a:xfrm>
          <a:prstGeom prst="roundRect">
            <a:avLst>
              <a:gd name="adj" fmla="val 21441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085951" y="1939528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礼堂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90776" y="1866602"/>
            <a:ext cx="552450" cy="355402"/>
          </a:xfrm>
          <a:prstGeom prst="roundRect">
            <a:avLst>
              <a:gd name="adj" fmla="val 21441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714601" y="1939528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操场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19426" y="1866602"/>
            <a:ext cx="704850" cy="355402"/>
          </a:xfrm>
          <a:prstGeom prst="roundRect">
            <a:avLst>
              <a:gd name="adj" fmla="val 21441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343251" y="1939528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体育馆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00476" y="1866602"/>
            <a:ext cx="704850" cy="355402"/>
          </a:xfrm>
          <a:prstGeom prst="roundRect">
            <a:avLst>
              <a:gd name="adj" fmla="val 21441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24301" y="1939528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篮球场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1376" y="2298204"/>
            <a:ext cx="704850" cy="355402"/>
          </a:xfrm>
          <a:prstGeom prst="roundRect">
            <a:avLst>
              <a:gd name="adj" fmla="val 21441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95201" y="2371130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足球场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52426" y="2298204"/>
            <a:ext cx="552450" cy="355402"/>
          </a:xfrm>
          <a:prstGeom prst="roundRect">
            <a:avLst>
              <a:gd name="adj" fmla="val 21441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676251" y="2371130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餐厅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181076" y="2298204"/>
            <a:ext cx="704850" cy="355402"/>
          </a:xfrm>
          <a:prstGeom prst="roundRect">
            <a:avLst>
              <a:gd name="adj" fmla="val 21441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304901" y="2371130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游泳池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62126" y="2298204"/>
            <a:ext cx="704850" cy="355402"/>
          </a:xfrm>
          <a:prstGeom prst="roundRect">
            <a:avLst>
              <a:gd name="adj" fmla="val 21441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085951" y="2371130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停车场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1376" y="2755106"/>
            <a:ext cx="5097601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Class </a:t>
            </a:r>
            <a:r>
              <a:rPr lang="en-US" sz="10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chorally names</a:t>
            </a: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each word in Chinese, then a </a:t>
            </a:r>
            <a:r>
              <a:rPr lang="en-US" sz="10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cold-call student</a:t>
            </a: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gives the English.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0300" y="1422202"/>
            <a:ext cx="5422999" cy="4388197"/>
          </a:xfrm>
          <a:prstGeom prst="roundRect">
            <a:avLst>
              <a:gd name="adj" fmla="val 2894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422975" y="1584127"/>
            <a:ext cx="50976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B · CORRECT THE TEACHER!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22975" y="1866602"/>
            <a:ext cx="4997648" cy="587276"/>
          </a:xfrm>
          <a:prstGeom prst="roundRect">
            <a:avLst>
              <a:gd name="adj" fmla="val 12975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549926" y="1942802"/>
            <a:ext cx="48386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549926" y="2110978"/>
            <a:ext cx="48386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我们学校有五</a:t>
            </a:r>
            <a:r>
              <a:rPr lang="en-US" sz="1500" b="1" u="sng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</a:t>
            </a: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教学楼。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422975" y="2530078"/>
            <a:ext cx="4997648" cy="587276"/>
          </a:xfrm>
          <a:prstGeom prst="roundRect">
            <a:avLst>
              <a:gd name="adj" fmla="val 12975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549926" y="2606278"/>
            <a:ext cx="48386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549926" y="2774454"/>
            <a:ext cx="48386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学校有一</a:t>
            </a:r>
            <a:r>
              <a:rPr lang="en-US" sz="1500" b="1" u="sng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幢</a:t>
            </a: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图书馆。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422975" y="3193554"/>
            <a:ext cx="4997648" cy="587276"/>
          </a:xfrm>
          <a:prstGeom prst="roundRect">
            <a:avLst>
              <a:gd name="adj" fmla="val 12975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549926" y="3269754"/>
            <a:ext cx="48386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549926" y="3437930"/>
            <a:ext cx="48386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我们学校有一个篮球场和一</a:t>
            </a:r>
            <a:r>
              <a:rPr lang="en-US" sz="1500" b="1" u="sng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场</a:t>
            </a: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足球场。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422975" y="3933081"/>
            <a:ext cx="4997648" cy="307777"/>
          </a:xfrm>
          <a:prstGeom prst="roundRect">
            <a:avLst>
              <a:gd name="adj" fmla="val 24758"/>
            </a:avLst>
          </a:prstGeom>
          <a:noFill/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512204" y="4006007"/>
            <a:ext cx="48191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58701" y="5937349"/>
            <a:ext cx="11074598" cy="438150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582513" y="5937349"/>
            <a:ext cx="0" cy="438150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9476" y="6051649"/>
            <a:ext cx="1083308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上节课我们学了</a:t>
            </a:r>
            <a:r>
              <a:rPr lang="en-US" sz="11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图书馆</a:t>
            </a: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</a:t>
            </a:r>
            <a:r>
              <a:rPr lang="en-US" sz="11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体育馆</a:t>
            </a: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这些词——都是两个部分组成的。今天我们要练习自己组新词，还要看地图介绍学校的布局。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0" y="658341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7950" y="66611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698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39601"/>
            <a:ext cx="8601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组词·布局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65511" y="141238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92461" y="139601"/>
            <a:ext cx="10410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Answers ↪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660350"/>
            <a:ext cx="108813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62000" y="955625"/>
            <a:ext cx="1088136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Correct the Teacher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2000" y="1716435"/>
            <a:ext cx="10668000" cy="1387227"/>
          </a:xfrm>
          <a:prstGeom prst="roundRect">
            <a:avLst>
              <a:gd name="adj" fmla="val 915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25426" y="1878360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53269" y="1929110"/>
            <a:ext cx="75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8677" y="1878360"/>
            <a:ext cx="98000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我们学校有五</a:t>
            </a:r>
            <a:r>
              <a:rPr lang="en-US" sz="1100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</a:t>
            </a:r>
            <a:r>
              <a:rPr lang="en-US" sz="11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教学楼。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58677" y="2154585"/>
            <a:ext cx="9607897" cy="787152"/>
          </a:xfrm>
          <a:prstGeom prst="roundRect">
            <a:avLst>
              <a:gd name="adj" fmla="val 12907"/>
            </a:avLst>
          </a:prstGeom>
          <a:solidFill>
            <a:srgbClr val="F8F0DF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780877" y="2275136"/>
            <a:ext cx="934676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五</a:t>
            </a:r>
            <a:r>
              <a:rPr lang="en-US" sz="1800" b="1" u="sng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幢</a:t>
            </a:r>
            <a:r>
              <a:rPr lang="en-US" sz="18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教学楼！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80877" y="2640211"/>
            <a:ext cx="93467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 → </a:t>
            </a:r>
            <a:r>
              <a:rPr lang="en-US" sz="10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幢</a:t>
            </a: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 幢 counts whole buildings/blocks — 教学楼 is a whole building.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62000" y="3230612"/>
            <a:ext cx="10668000" cy="1387227"/>
          </a:xfrm>
          <a:prstGeom prst="roundRect">
            <a:avLst>
              <a:gd name="adj" fmla="val 915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25426" y="3392537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38238" y="3443288"/>
            <a:ext cx="106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58677" y="3392537"/>
            <a:ext cx="98000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学校有一</a:t>
            </a:r>
            <a:r>
              <a:rPr lang="en-US" sz="1100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幢</a:t>
            </a:r>
            <a:r>
              <a:rPr lang="en-US" sz="11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图书馆。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58677" y="3668762"/>
            <a:ext cx="9607897" cy="787152"/>
          </a:xfrm>
          <a:prstGeom prst="roundRect">
            <a:avLst>
              <a:gd name="adj" fmla="val 12907"/>
            </a:avLst>
          </a:prstGeom>
          <a:solidFill>
            <a:srgbClr val="F8F0DF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780877" y="3789313"/>
            <a:ext cx="934676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一</a:t>
            </a:r>
            <a:r>
              <a:rPr lang="en-US" sz="1800" b="1" u="sng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</a:t>
            </a:r>
            <a:r>
              <a:rPr lang="en-US" sz="18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图书馆！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80877" y="4154388"/>
            <a:ext cx="93467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幢 → </a:t>
            </a:r>
            <a:r>
              <a:rPr lang="en-US" sz="10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</a:t>
            </a: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 个 is the default measure word for most rooms/facilities.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2000" y="4744789"/>
            <a:ext cx="10668000" cy="1387227"/>
          </a:xfrm>
          <a:prstGeom prst="roundRect">
            <a:avLst>
              <a:gd name="adj" fmla="val 915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025426" y="4906714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137791" y="4957465"/>
            <a:ext cx="107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58677" y="4906714"/>
            <a:ext cx="98000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我们学校有一个篮球场和一</a:t>
            </a:r>
            <a:r>
              <a:rPr lang="en-US" sz="1100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</a:t>
            </a:r>
            <a:r>
              <a:rPr lang="en-US" sz="11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足球场。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58677" y="5182939"/>
            <a:ext cx="9607897" cy="787152"/>
          </a:xfrm>
          <a:prstGeom prst="roundRect">
            <a:avLst>
              <a:gd name="adj" fmla="val 12907"/>
            </a:avLst>
          </a:prstGeom>
          <a:solidFill>
            <a:srgbClr val="F8F0DF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780877" y="5303490"/>
            <a:ext cx="934676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一</a:t>
            </a:r>
            <a:r>
              <a:rPr lang="en-US" sz="1800" b="1" u="sng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</a:t>
            </a:r>
            <a:r>
              <a:rPr lang="en-US" sz="18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足球场！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780877" y="5668566"/>
            <a:ext cx="93467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 → </a:t>
            </a:r>
            <a:r>
              <a:rPr lang="en-US" sz="10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</a:t>
            </a: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 "场" is already inside the word — it doesn't take its own measure word.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658341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950" y="66611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698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39601"/>
            <a:ext cx="8601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组词·布局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65511" y="141238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92461" y="139601"/>
            <a:ext cx="9109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8950" y="685651"/>
            <a:ext cx="106223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88950" y="1006227"/>
            <a:ext cx="106223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88950" y="1675954"/>
            <a:ext cx="10414099" cy="1095375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917525" y="1675954"/>
            <a:ext cx="0" cy="1095375"/>
          </a:xfrm>
          <a:prstGeom prst="line">
            <a:avLst/>
          </a:prstGeom>
          <a:noFill/>
          <a:ln w="57150">
            <a:solidFill>
              <a:srgbClr val="3A5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0001" y="1828354"/>
            <a:ext cx="100461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00001" y="2066479"/>
            <a:ext cx="10046131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</a:t>
            </a:r>
            <a:r>
              <a:rPr lang="en-US" sz="15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build compound facility/room words</a:t>
            </a:r>
            <a:r>
              <a:rPr lang="en-US" sz="15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from base characters and </a:t>
            </a:r>
            <a:r>
              <a:rPr lang="en-US" sz="15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describe our school's layout</a:t>
            </a:r>
            <a:r>
              <a:rPr lang="en-US" sz="15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from a map.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88950" y="2949029"/>
            <a:ext cx="10414099" cy="751582"/>
          </a:xfrm>
          <a:prstGeom prst="roundRect">
            <a:avLst>
              <a:gd name="adj" fmla="val 1351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27075" y="3085505"/>
            <a:ext cx="38862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11226" y="3085505"/>
            <a:ext cx="9540773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combine base characters with </a:t>
            </a:r>
            <a:r>
              <a:rPr lang="en-US" sz="13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馆/场/池/楼/室</a:t>
            </a:r>
            <a:r>
              <a:rPr lang="en-US" sz="13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build correct compound words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11226" y="3354586"/>
            <a:ext cx="95407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能用"馆、场、池、楼、室"组成正确的合成词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8950" y="3827562"/>
            <a:ext cx="10414099" cy="751582"/>
          </a:xfrm>
          <a:prstGeom prst="roundRect">
            <a:avLst>
              <a:gd name="adj" fmla="val 1351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27075" y="3964037"/>
            <a:ext cx="38862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711226" y="3964037"/>
            <a:ext cx="9540773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describe a school map using </a:t>
            </a:r>
            <a:r>
              <a:rPr lang="en-US" sz="13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我们学校有……</a:t>
            </a:r>
            <a:r>
              <a:rPr lang="en-US" sz="13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with at least six facilities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711226" y="4233118"/>
            <a:ext cx="95407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能用"我们学校有……"描述学校地图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8950" y="4706094"/>
            <a:ext cx="10414099" cy="751582"/>
          </a:xfrm>
          <a:prstGeom prst="roundRect">
            <a:avLst>
              <a:gd name="adj" fmla="val 1351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27075" y="4842570"/>
            <a:ext cx="38862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11226" y="4842570"/>
            <a:ext cx="9540773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identify measure word errors (</a:t>
            </a:r>
            <a:r>
              <a:rPr lang="en-US" sz="13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个/幢</a:t>
            </a:r>
            <a:r>
              <a:rPr lang="en-US" sz="13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) in a sentence and correct them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711226" y="5111651"/>
            <a:ext cx="95407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能找出并改正量词"个"和"幢"的错误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58341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950" y="66611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698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39601"/>
            <a:ext cx="8601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组词·布局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65511" y="141238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92461" y="139601"/>
            <a:ext cx="21876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Word-Building Concept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34901"/>
            <a:ext cx="11296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Pattern Recognition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8701" y="904726"/>
            <a:ext cx="112960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组词 · Building Words from Parts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58701" y="2355652"/>
            <a:ext cx="5667970" cy="0"/>
          </a:xfrm>
          <a:prstGeom prst="line">
            <a:avLst/>
          </a:prstGeom>
          <a:noFill/>
          <a:ln w="19050">
            <a:solidFill>
              <a:srgbClr val="3A5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651" y="1488877"/>
            <a:ext cx="595833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部件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96752" y="1779389"/>
            <a:ext cx="6995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PINYIN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09502" y="1779389"/>
            <a:ext cx="13990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MEANING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08053" y="1765102"/>
            <a:ext cx="24395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EXAMPLE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8701" y="2912864"/>
            <a:ext cx="566797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651" y="2441377"/>
            <a:ext cx="59583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馆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96752" y="2536627"/>
            <a:ext cx="6995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guǎn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09502" y="2536627"/>
            <a:ext cx="13990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building; hall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08053" y="2522339"/>
            <a:ext cx="24395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图书馆, 体育馆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8701" y="2917627"/>
            <a:ext cx="5667970" cy="552450"/>
          </a:xfrm>
          <a:prstGeom prst="rect">
            <a:avLst/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58701" y="3465314"/>
            <a:ext cx="566797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651" y="2993827"/>
            <a:ext cx="59583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场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96752" y="3089077"/>
            <a:ext cx="6995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chǎng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09502" y="3089077"/>
            <a:ext cx="13990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open field/court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08053" y="3074789"/>
            <a:ext cx="24395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篮球场, 足球场, 停车场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58701" y="4017764"/>
            <a:ext cx="566797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651" y="3546277"/>
            <a:ext cx="59583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池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96752" y="3641527"/>
            <a:ext cx="6995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chí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09502" y="3641527"/>
            <a:ext cx="13990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pool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08053" y="3627239"/>
            <a:ext cx="24395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游泳池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8701" y="4022527"/>
            <a:ext cx="5667970" cy="561975"/>
          </a:xfrm>
          <a:prstGeom prst="rect">
            <a:avLst/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58701" y="4579739"/>
            <a:ext cx="566797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651" y="4103489"/>
            <a:ext cx="59583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396752" y="4198739"/>
            <a:ext cx="6995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lóu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209502" y="4098727"/>
            <a:ext cx="139903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multi-storey building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708053" y="4184452"/>
            <a:ext cx="24395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教学楼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58701" y="5132189"/>
            <a:ext cx="566797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651" y="4660702"/>
            <a:ext cx="59583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室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396752" y="4755952"/>
            <a:ext cx="6995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shì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209502" y="4755952"/>
            <a:ext cx="13990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room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708053" y="4765477"/>
            <a:ext cx="24395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pattern today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80572" y="1412677"/>
            <a:ext cx="5152727" cy="968276"/>
          </a:xfrm>
          <a:prstGeom prst="roundRect">
            <a:avLst>
              <a:gd name="adj" fmla="val 1311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667798" y="1549152"/>
            <a:ext cx="48738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MODELS THE METHOD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667798" y="1787277"/>
            <a:ext cx="48738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"如果我知道</a:t>
            </a: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办公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是'work'的意思，</a:t>
            </a: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室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是'room'，那么</a:t>
            </a: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办公+室=办公室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——office。我们可以用这个方法猜新词的意思。"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80572" y="2482453"/>
            <a:ext cx="5152727" cy="482501"/>
          </a:xfrm>
          <a:prstGeom prst="roundRect">
            <a:avLst>
              <a:gd name="adj" fmla="val 21057"/>
            </a:avLst>
          </a:prstGeom>
          <a:solidFill>
            <a:srgbClr val="EAE6DC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677323" y="2590354"/>
            <a:ext cx="17119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办公 + 室 = 办公室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1079212" y="2633216"/>
            <a:ext cx="3644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office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80572" y="3041154"/>
            <a:ext cx="5152727" cy="482501"/>
          </a:xfrm>
          <a:prstGeom prst="roundRect">
            <a:avLst>
              <a:gd name="adj" fmla="val 21057"/>
            </a:avLst>
          </a:prstGeom>
          <a:solidFill>
            <a:srgbClr val="EAE6DC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677323" y="3149054"/>
            <a:ext cx="17119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音乐 + 室 = 音乐室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0718155" y="3191917"/>
            <a:ext cx="7327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music room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80572" y="3599855"/>
            <a:ext cx="5152727" cy="482501"/>
          </a:xfrm>
          <a:prstGeom prst="roundRect">
            <a:avLst>
              <a:gd name="adj" fmla="val 21057"/>
            </a:avLst>
          </a:prstGeom>
          <a:solidFill>
            <a:srgbClr val="EAE6DC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677323" y="3707755"/>
            <a:ext cx="17119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实验 + 室 = 实验室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0814298" y="3750618"/>
            <a:ext cx="6346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laboratory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80572" y="4183856"/>
            <a:ext cx="5152727" cy="669727"/>
          </a:xfrm>
          <a:prstGeom prst="roundRect">
            <a:avLst>
              <a:gd name="adj" fmla="val 15170"/>
            </a:avLst>
          </a:prstGeom>
          <a:solidFill>
            <a:srgbClr val="F8F0DF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677323" y="4304407"/>
            <a:ext cx="485441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 实验 (experiment) is new — flagged today, taught formally next lesson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0" y="658341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7950" y="66611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698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39601"/>
            <a:ext cx="8601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组词·布局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65511" y="141238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92461" y="139601"/>
            <a:ext cx="24262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Sentence Pattern (Recycled)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8950" y="812750"/>
            <a:ext cx="106223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Key Pattern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88950" y="1184225"/>
            <a:ext cx="106223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句型 · Key Sentence Pattern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88950" y="1841450"/>
            <a:ext cx="10414099" cy="1304627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927050" y="1841450"/>
            <a:ext cx="0" cy="1304627"/>
          </a:xfrm>
          <a:prstGeom prst="line">
            <a:avLst/>
          </a:prstGeom>
          <a:noFill/>
          <a:ln w="76200">
            <a:solidFill>
              <a:srgbClr val="3A5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9950" y="2070050"/>
            <a:ext cx="9922865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STRUCTURE </a:t>
            </a: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RECYCLED · LESSON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69950" y="2384078"/>
            <a:ext cx="992286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我来介绍一下我们学校。我们学校有</a:t>
            </a:r>
            <a:r>
              <a:rPr lang="en-US" sz="30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……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88950" y="3374678"/>
            <a:ext cx="10414099" cy="869900"/>
          </a:xfrm>
          <a:prstGeom prst="roundRect">
            <a:avLst>
              <a:gd name="adj" fmla="val 11680"/>
            </a:avLst>
          </a:prstGeom>
          <a:solidFill>
            <a:srgbClr val="EAF3F1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36600" y="3546128"/>
            <a:ext cx="101171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🗺 Today, we use this pattern to describe a MAP — not a free list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36600" y="3873103"/>
            <a:ext cx="101171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Same sentence structure you already know, applied to a new task: reading a school layout and introducing it in order.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8950" y="4473178"/>
            <a:ext cx="10414099" cy="879425"/>
          </a:xfrm>
          <a:prstGeom prst="roundRect">
            <a:avLst>
              <a:gd name="adj" fmla="val 11553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27075" y="4635103"/>
            <a:ext cx="101366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075" y="4847779"/>
            <a:ext cx="101366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我们学校有一个图书馆，还有一个礼堂。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0" y="658341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950" y="66611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698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39601"/>
            <a:ext cx="8601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组词·布局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65511" y="141238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92461" y="139601"/>
            <a:ext cx="18705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34901"/>
            <a:ext cx="11296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Check For Understanding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8701" y="904726"/>
            <a:ext cx="1129609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检查理解 · CFU Checkpoints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8701" y="1422202"/>
            <a:ext cx="3573066" cy="4394746"/>
          </a:xfrm>
          <a:prstGeom prst="roundRect">
            <a:avLst>
              <a:gd name="adj" fmla="val 4265"/>
            </a:avLst>
          </a:prstGeom>
          <a:solidFill>
            <a:srgbClr val="EAF0F6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55452" y="1618952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86123" y="1679228"/>
            <a:ext cx="701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5452" y="2050554"/>
            <a:ext cx="3243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5452" y="2313980"/>
            <a:ext cx="32431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教学 + 楼 = 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5452" y="2682180"/>
            <a:ext cx="32431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"如果</a:t>
            </a:r>
            <a:r>
              <a:rPr lang="en-US" sz="10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'教学'</a:t>
            </a: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是'teaching'的意思，</a:t>
            </a:r>
            <a:r>
              <a:rPr lang="en-US" sz="10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'楼'</a:t>
            </a: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是'building'，那么教学楼是什么意思？"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55452" y="5321945"/>
            <a:ext cx="3179564" cy="298252"/>
          </a:xfrm>
          <a:prstGeom prst="roundRect">
            <a:avLst>
              <a:gd name="adj" fmla="val 25549"/>
            </a:avLst>
          </a:prstGeom>
          <a:noFill/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36902" y="5394871"/>
            <a:ext cx="30166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→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309467" y="1422202"/>
            <a:ext cx="3573066" cy="4394746"/>
          </a:xfrm>
          <a:prstGeom prst="roundRect">
            <a:avLst>
              <a:gd name="adj" fmla="val 4265"/>
            </a:avLst>
          </a:prstGeom>
          <a:solidFill>
            <a:srgbClr val="EAF3F1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06218" y="1618952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622899" y="1679228"/>
            <a:ext cx="985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06218" y="2050554"/>
            <a:ext cx="3243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06218" y="2313980"/>
            <a:ext cx="32431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校医 + 室 = ?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06218" y="2682180"/>
            <a:ext cx="32431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"Sam, 如果我们把</a:t>
            </a:r>
            <a:r>
              <a:rPr lang="en-US" sz="10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'校医'</a:t>
            </a: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（school doctor）加上</a:t>
            </a:r>
            <a:r>
              <a:rPr lang="en-US" sz="10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'室'</a:t>
            </a: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，会组成什么词？意思是什么？"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06218" y="5321945"/>
            <a:ext cx="3179564" cy="298252"/>
          </a:xfrm>
          <a:prstGeom prst="roundRect">
            <a:avLst>
              <a:gd name="adj" fmla="val 25549"/>
            </a:avLst>
          </a:prstGeom>
          <a:noFill/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87669" y="5394871"/>
            <a:ext cx="30166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→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060234" y="1422202"/>
            <a:ext cx="3573066" cy="4394746"/>
          </a:xfrm>
          <a:prstGeom prst="roundRect">
            <a:avLst>
              <a:gd name="adj" fmla="val 4265"/>
            </a:avLst>
          </a:prstGeom>
          <a:solidFill>
            <a:srgbClr val="F7EAE8"/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256984" y="1618952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373368" y="1679228"/>
            <a:ext cx="992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56984" y="2050554"/>
            <a:ext cx="32431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GESTURE CHECK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56984" y="2313980"/>
            <a:ext cx="32431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一场足球场 vs 一个足球场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56984" y="2682180"/>
            <a:ext cx="32431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一场足球场 vs 一个足球场。"哪个对？"每个学生指出正确的那个。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56984" y="5321945"/>
            <a:ext cx="3179564" cy="298252"/>
          </a:xfrm>
          <a:prstGeom prst="roundRect">
            <a:avLst>
              <a:gd name="adj" fmla="val 25549"/>
            </a:avLst>
          </a:prstGeom>
          <a:noFill/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338435" y="5394871"/>
            <a:ext cx="30166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→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58701" y="5943898"/>
            <a:ext cx="11074598" cy="431602"/>
          </a:xfrm>
          <a:prstGeom prst="roundRect">
            <a:avLst>
              <a:gd name="adj" fmla="val 23540"/>
            </a:avLst>
          </a:prstGeom>
          <a:solidFill>
            <a:srgbClr val="F8F0DF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80901" y="6064448"/>
            <a:ext cx="108428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Aim for 100% participation on all three checks. Check 2's answer (校医室) is a preview — formally taught next lesson.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658341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950" y="66611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698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39601"/>
            <a:ext cx="8601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组词·布局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65511" y="141238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92461" y="139601"/>
            <a:ext cx="11423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Answers ↪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660350"/>
            <a:ext cx="108813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62000" y="955625"/>
            <a:ext cx="1088136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CFU Checkpoints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2000" y="1924348"/>
            <a:ext cx="10668000" cy="1145977"/>
          </a:xfrm>
          <a:prstGeom prst="roundRect">
            <a:avLst>
              <a:gd name="adj" fmla="val 1108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25426" y="2086273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53269" y="2137023"/>
            <a:ext cx="75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8677" y="2086273"/>
            <a:ext cx="98000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教学 (teaching) + 楼 (building) = 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58677" y="2362498"/>
            <a:ext cx="9607897" cy="545902"/>
          </a:xfrm>
          <a:prstGeom prst="roundRect">
            <a:avLst>
              <a:gd name="adj" fmla="val 18611"/>
            </a:avLst>
          </a:prstGeom>
          <a:solidFill>
            <a:srgbClr val="F8F0DF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780877" y="2483048"/>
            <a:ext cx="934676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</a:t>
            </a:r>
            <a:r>
              <a:rPr lang="en-US" sz="17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教学楼</a:t>
            </a: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= teaching building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62000" y="3197275"/>
            <a:ext cx="10668000" cy="1145977"/>
          </a:xfrm>
          <a:prstGeom prst="roundRect">
            <a:avLst>
              <a:gd name="adj" fmla="val 1108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25426" y="3359200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38238" y="3409950"/>
            <a:ext cx="106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58677" y="3359200"/>
            <a:ext cx="98000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校医 (school doctor) + 室 (room) = 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58677" y="3635425"/>
            <a:ext cx="9607897" cy="545902"/>
          </a:xfrm>
          <a:prstGeom prst="roundRect">
            <a:avLst>
              <a:gd name="adj" fmla="val 18611"/>
            </a:avLst>
          </a:prstGeom>
          <a:solidFill>
            <a:srgbClr val="F8F0DF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780877" y="3755975"/>
            <a:ext cx="934676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</a:t>
            </a:r>
            <a:r>
              <a:rPr lang="en-US" sz="17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校医室</a:t>
            </a: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= school clinic </a:t>
            </a:r>
            <a:r>
              <a:rPr lang="en-US" sz="10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preview · L3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62000" y="4470202"/>
            <a:ext cx="10668000" cy="1453902"/>
          </a:xfrm>
          <a:prstGeom prst="roundRect">
            <a:avLst>
              <a:gd name="adj" fmla="val 873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25426" y="4632127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37791" y="4682877"/>
            <a:ext cx="107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58677" y="4632127"/>
            <a:ext cx="98000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一场足球场 vs 一个足球场 — 哪个对？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58677" y="4908352"/>
            <a:ext cx="9607897" cy="545902"/>
          </a:xfrm>
          <a:prstGeom prst="roundRect">
            <a:avLst>
              <a:gd name="adj" fmla="val 18611"/>
            </a:avLst>
          </a:prstGeom>
          <a:solidFill>
            <a:srgbClr val="F8F0DF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780877" y="5028902"/>
            <a:ext cx="934676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一</a:t>
            </a:r>
            <a:r>
              <a:rPr lang="en-US" sz="17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</a:t>
            </a: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足球场！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558677" y="5581204"/>
            <a:ext cx="98000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"场" is already inside the word — no extra measure word needed.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658341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950" y="66611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698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39601"/>
            <a:ext cx="8601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组词·布局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65511" y="141238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92461" y="139601"/>
            <a:ext cx="1594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Activity 1 · 20–27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34901"/>
            <a:ext cx="11296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20–27 min ·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8701" y="904726"/>
            <a:ext cx="1129609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活动一 · 猜猜看组词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8701" y="1422202"/>
            <a:ext cx="6104186" cy="4953298"/>
          </a:xfrm>
          <a:prstGeom prst="roundRect">
            <a:avLst>
              <a:gd name="adj" fmla="val 3077"/>
            </a:avLst>
          </a:prstGeom>
          <a:solidFill>
            <a:srgbClr val="F4F2EE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0901" y="1618952"/>
            <a:ext cx="2399407" cy="257175"/>
          </a:xfrm>
          <a:prstGeom prst="roundRect">
            <a:avLst>
              <a:gd name="adj" fmla="val 4933333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58602" y="1657052"/>
            <a:ext cx="20848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Guided Word-Building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0901" y="1977628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91927" y="2026741"/>
            <a:ext cx="584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7202" y="1977628"/>
            <a:ext cx="5358554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projects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base word at a time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class chorally calls out the missing building-block character.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0901" y="252085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80318" y="2569964"/>
            <a:ext cx="821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7202" y="2520851"/>
            <a:ext cx="5358554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each correct answer, teacher </a:t>
            </a: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reveals the full compound word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its meaning.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0901" y="306407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80021" y="3113187"/>
            <a:ext cx="827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87202" y="3064073"/>
            <a:ext cx="5358554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Final round: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teacher gives the meaning in English only — class must produce the full Chinese compound from scratch.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0901" y="3607296"/>
            <a:ext cx="3956447" cy="238125"/>
          </a:xfrm>
          <a:prstGeom prst="roundRect">
            <a:avLst>
              <a:gd name="adj" fmla="val 5328000"/>
            </a:avLst>
          </a:prstGeom>
          <a:solidFill>
            <a:srgbClr val="F7EA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33301" y="3645396"/>
            <a:ext cx="37246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 1 · every base word answered chorally before cold call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80901" y="3946922"/>
            <a:ext cx="2766417" cy="890736"/>
          </a:xfrm>
          <a:prstGeom prst="roundRect">
            <a:avLst>
              <a:gd name="adj" fmla="val 11406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07852" y="4048423"/>
            <a:ext cx="25627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07852" y="4229398"/>
            <a:ext cx="2562767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Keep the building-block table from I Do visible throughout as a reference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74269" y="3946922"/>
            <a:ext cx="2766417" cy="890736"/>
          </a:xfrm>
          <a:prstGeom prst="roundRect">
            <a:avLst>
              <a:gd name="adj" fmla="val 11406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801219" y="4048423"/>
            <a:ext cx="25627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01219" y="4229398"/>
            <a:ext cx="2562767" cy="50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each compound, fluent speakers use it in a full sentence: "我们学校有一个游泳池。"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16787" y="1422202"/>
            <a:ext cx="48108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BASE WORDS FOR THIS ROUND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16787" y="1711077"/>
            <a:ext cx="1269950" cy="577751"/>
          </a:xfrm>
          <a:prstGeom prst="roundRect">
            <a:avLst>
              <a:gd name="adj" fmla="val 17585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017334" y="1847552"/>
            <a:ext cx="106885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</a:t>
            </a:r>
            <a:r>
              <a:rPr lang="en-US" sz="1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288238" y="1711077"/>
            <a:ext cx="1269950" cy="577751"/>
          </a:xfrm>
          <a:prstGeom prst="roundRect">
            <a:avLst>
              <a:gd name="adj" fmla="val 17585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388785" y="1847552"/>
            <a:ext cx="106885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体育</a:t>
            </a:r>
            <a:r>
              <a:rPr lang="en-US" sz="1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9659689" y="1711077"/>
            <a:ext cx="1269950" cy="577751"/>
          </a:xfrm>
          <a:prstGeom prst="roundRect">
            <a:avLst>
              <a:gd name="adj" fmla="val 17585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9760236" y="1847552"/>
            <a:ext cx="106885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篮球</a:t>
            </a:r>
            <a:r>
              <a:rPr lang="en-US" sz="1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6916787" y="2390329"/>
            <a:ext cx="1269950" cy="577751"/>
          </a:xfrm>
          <a:prstGeom prst="roundRect">
            <a:avLst>
              <a:gd name="adj" fmla="val 17585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017334" y="2526804"/>
            <a:ext cx="106885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足球</a:t>
            </a:r>
            <a:r>
              <a:rPr lang="en-US" sz="1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288238" y="2390329"/>
            <a:ext cx="1269950" cy="577751"/>
          </a:xfrm>
          <a:prstGeom prst="roundRect">
            <a:avLst>
              <a:gd name="adj" fmla="val 17585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388785" y="2526804"/>
            <a:ext cx="106885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停车</a:t>
            </a:r>
            <a:r>
              <a:rPr lang="en-US" sz="1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9659689" y="2390329"/>
            <a:ext cx="1269950" cy="577751"/>
          </a:xfrm>
          <a:prstGeom prst="roundRect">
            <a:avLst>
              <a:gd name="adj" fmla="val 17585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9760236" y="2526804"/>
            <a:ext cx="106885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</a:t>
            </a:r>
            <a:r>
              <a:rPr lang="en-US" sz="1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6916787" y="3069580"/>
            <a:ext cx="2641550" cy="577751"/>
          </a:xfrm>
          <a:prstGeom prst="roundRect">
            <a:avLst>
              <a:gd name="adj" fmla="val 17585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003618" y="3206055"/>
            <a:ext cx="246788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教学</a:t>
            </a:r>
            <a:r>
              <a:rPr lang="en-US" sz="1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6916787" y="3774281"/>
            <a:ext cx="4716512" cy="872282"/>
          </a:xfrm>
          <a:prstGeom prst="roundRect">
            <a:avLst>
              <a:gd name="adj" fmla="val 11648"/>
            </a:avLst>
          </a:prstGeom>
          <a:solidFill>
            <a:srgbClr val="EAF0F6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113538" y="3920282"/>
            <a:ext cx="4409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FINAL ROUND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113538" y="4113907"/>
            <a:ext cx="440947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 "music room" in English only → class produces </a:t>
            </a:r>
            <a:r>
              <a:rPr lang="en-US" sz="10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音乐室</a:t>
            </a: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from scratch, no visual prompt.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0" y="658341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7950" y="66611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698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39601"/>
            <a:ext cx="8601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组词·布局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65511" y="141238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92461" y="139601"/>
            <a:ext cx="16514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2 · 27–35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09451"/>
            <a:ext cx="11296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27–35 min · You Do · Writing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8701" y="853827"/>
            <a:ext cx="112960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活动二 · 看地图介绍学校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58701" y="1336328"/>
            <a:ext cx="5801320" cy="2102197"/>
          </a:xfrm>
          <a:prstGeom prst="roundRect">
            <a:avLst>
              <a:gd name="adj" fmla="val 7250"/>
            </a:avLst>
          </a:prstGeom>
          <a:solidFill>
            <a:srgbClr val="F4F2EE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55452" y="1507778"/>
            <a:ext cx="2993380" cy="238125"/>
          </a:xfrm>
          <a:prstGeom prst="roundRect">
            <a:avLst>
              <a:gd name="adj" fmla="val 5328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3152" y="1545878"/>
            <a:ext cx="26907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Describe → Turn &amp; Talk → Write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55452" y="1834753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43855" y="1868091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5552" y="1834753"/>
            <a:ext cx="510777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models 3 items from the map: 我们学校有一个图书馆，还有一个礼堂。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55452" y="2139553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33438" y="2172891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85552" y="2139553"/>
            <a:ext cx="517927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Turn-and-talk (2 min):</a:t>
            </a: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Partner A describes 3 facilities, Partner B describes 3 different ones; swap &amp; check no repeats.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55452" y="258901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33140" y="2622352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5552" y="2589014"/>
            <a:ext cx="517927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Individual writing (3 min):</a:t>
            </a: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short paragraph (4–5 sentences), correct measure words throughout.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55452" y="303847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32693" y="3071813"/>
            <a:ext cx="754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5552" y="3038475"/>
            <a:ext cx="334668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2 students to read their paragraph aloud.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58701" y="3540026"/>
            <a:ext cx="5801320" cy="930176"/>
          </a:xfrm>
          <a:prstGeom prst="roundRect">
            <a:avLst>
              <a:gd name="adj" fmla="val 10923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11101" y="3654326"/>
            <a:ext cx="56064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 (SCAFFOLD)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1101" y="3860602"/>
            <a:ext cx="56064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我们学校有</a:t>
            </a:r>
            <a:r>
              <a:rPr lang="en-US" sz="1200" b="1" u="sng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</a:t>
            </a:r>
            <a:r>
              <a:rPr lang="en-US" sz="12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幢教学楼、</a:t>
            </a:r>
            <a:r>
              <a:rPr lang="en-US" sz="1200" b="1" u="sng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</a:t>
            </a:r>
            <a:r>
              <a:rPr lang="en-US" sz="12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</a:t>
            </a:r>
            <a:r>
              <a:rPr lang="en-US" sz="1200" b="1" u="sng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</a:t>
            </a:r>
            <a:r>
              <a:rPr lang="en-US" sz="12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r>
              <a:rPr lang="en-US" sz="1200" b="1" u="sng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</a:t>
            </a:r>
            <a:r>
              <a:rPr lang="en-US" sz="12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</a:t>
            </a:r>
            <a:r>
              <a:rPr lang="en-US" sz="1200" b="1" u="sng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</a:t>
            </a:r>
            <a:r>
              <a:rPr lang="en-US" sz="12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r>
              <a:rPr lang="en-US" sz="1200" b="1" u="sng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</a:t>
            </a:r>
            <a:r>
              <a:rPr lang="en-US" sz="12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</a:t>
            </a:r>
            <a:r>
              <a:rPr lang="en-US" sz="1200" b="1" u="sng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</a:t>
            </a:r>
            <a:r>
              <a:rPr lang="en-US" sz="12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1101" y="4108252"/>
            <a:ext cx="56064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我们学校还有一个</a:t>
            </a:r>
            <a:r>
              <a:rPr lang="en-US" sz="1200" b="1" u="sng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</a:t>
            </a:r>
            <a:r>
              <a:rPr lang="en-US" sz="12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8701" y="4571702"/>
            <a:ext cx="2849910" cy="627459"/>
          </a:xfrm>
          <a:prstGeom prst="roundRect">
            <a:avLst>
              <a:gd name="adj" fmla="val 16192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73001" y="4660553"/>
            <a:ext cx="26737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73001" y="4819204"/>
            <a:ext cx="2673736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 above kept projected throughout the task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510111" y="4571702"/>
            <a:ext cx="2849910" cy="627459"/>
          </a:xfrm>
          <a:prstGeom prst="roundRect">
            <a:avLst>
              <a:gd name="adj" fmla="val 16192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624411" y="4660553"/>
            <a:ext cx="26737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624411" y="4819204"/>
            <a:ext cx="2673736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Describe all ten facilities, no repeated structure — alternate 有…… / 还有……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588621" y="1336328"/>
            <a:ext cx="51455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SCHOOL MAP · 学校地图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588621" y="1599754"/>
            <a:ext cx="5044678" cy="4801195"/>
          </a:xfrm>
          <a:prstGeom prst="roundRect">
            <a:avLst>
              <a:gd name="adj" fmla="val 2645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760071" y="1771204"/>
            <a:ext cx="2162770" cy="485775"/>
          </a:xfrm>
          <a:prstGeom prst="roundRect">
            <a:avLst>
              <a:gd name="adj" fmla="val 20915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825883" y="1895029"/>
            <a:ext cx="203114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游泳池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024342" y="1771204"/>
            <a:ext cx="2162770" cy="485775"/>
          </a:xfrm>
          <a:prstGeom prst="roundRect">
            <a:avLst>
              <a:gd name="adj" fmla="val 20915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9090154" y="1895029"/>
            <a:ext cx="203114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礼堂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760071" y="2358479"/>
            <a:ext cx="2162770" cy="485775"/>
          </a:xfrm>
          <a:prstGeom prst="roundRect">
            <a:avLst>
              <a:gd name="adj" fmla="val 20915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825883" y="2482304"/>
            <a:ext cx="203114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操场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9024342" y="2358479"/>
            <a:ext cx="2162770" cy="485775"/>
          </a:xfrm>
          <a:prstGeom prst="roundRect">
            <a:avLst>
              <a:gd name="adj" fmla="val 20915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9090154" y="2482304"/>
            <a:ext cx="203114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足球场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760071" y="2945755"/>
            <a:ext cx="2162770" cy="485775"/>
          </a:xfrm>
          <a:prstGeom prst="roundRect">
            <a:avLst>
              <a:gd name="adj" fmla="val 20915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825883" y="3069580"/>
            <a:ext cx="203114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9024342" y="2945755"/>
            <a:ext cx="2162770" cy="485775"/>
          </a:xfrm>
          <a:prstGeom prst="roundRect">
            <a:avLst>
              <a:gd name="adj" fmla="val 20915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9090154" y="3069580"/>
            <a:ext cx="203114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篮球场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6760071" y="3533031"/>
            <a:ext cx="2162770" cy="485775"/>
          </a:xfrm>
          <a:prstGeom prst="roundRect">
            <a:avLst>
              <a:gd name="adj" fmla="val 20915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825883" y="3656856"/>
            <a:ext cx="203114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餐厅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9024342" y="3533031"/>
            <a:ext cx="2162770" cy="485775"/>
          </a:xfrm>
          <a:prstGeom prst="roundRect">
            <a:avLst>
              <a:gd name="adj" fmla="val 20915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9090154" y="3656856"/>
            <a:ext cx="203114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体育馆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6760071" y="4120307"/>
            <a:ext cx="2162770" cy="485775"/>
          </a:xfrm>
          <a:prstGeom prst="roundRect">
            <a:avLst>
              <a:gd name="adj" fmla="val 20915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825883" y="4244132"/>
            <a:ext cx="203114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停车场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9024342" y="4120307"/>
            <a:ext cx="2162770" cy="485775"/>
          </a:xfrm>
          <a:prstGeom prst="roundRect">
            <a:avLst>
              <a:gd name="adj" fmla="val 20915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9090154" y="4244132"/>
            <a:ext cx="203114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教学楼</a:t>
            </a:r>
            <a:endParaRPr lang="en-US" sz="1350" dirty="0"/>
          </a:p>
        </p:txBody>
      </p:sp>
      <p:sp>
        <p:nvSpPr>
          <p:cNvPr id="56" name="Shape 54"/>
          <p:cNvSpPr/>
          <p:nvPr/>
        </p:nvSpPr>
        <p:spPr>
          <a:xfrm>
            <a:off x="0" y="658341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7950" y="66611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698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39601"/>
            <a:ext cx="8601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组词·布局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65511" y="141238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92461" y="139601"/>
            <a:ext cx="16341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组词接力赛 · 35–43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609451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35–43 min · Game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853827"/>
            <a:ext cx="1139962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组词接力赛 · Word-Building Relay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07950" y="1336328"/>
            <a:ext cx="1472208" cy="628650"/>
          </a:xfrm>
          <a:prstGeom prst="roundRect">
            <a:avLst>
              <a:gd name="adj" fmla="val 20202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0383" y="1507778"/>
            <a:ext cx="130734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</a:t>
            </a:r>
            <a:r>
              <a:rPr lang="en-US" sz="16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81659" y="1336328"/>
            <a:ext cx="1472208" cy="628650"/>
          </a:xfrm>
          <a:prstGeom prst="roundRect">
            <a:avLst>
              <a:gd name="adj" fmla="val 20202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164092" y="1507778"/>
            <a:ext cx="130734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体育</a:t>
            </a:r>
            <a:r>
              <a:rPr lang="en-US" sz="16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5368" y="1336328"/>
            <a:ext cx="1472208" cy="628650"/>
          </a:xfrm>
          <a:prstGeom prst="roundRect">
            <a:avLst>
              <a:gd name="adj" fmla="val 20202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737801" y="1507778"/>
            <a:ext cx="130734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篮球</a:t>
            </a:r>
            <a:r>
              <a:rPr lang="en-US" sz="16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29076" y="1336328"/>
            <a:ext cx="1472208" cy="628650"/>
          </a:xfrm>
          <a:prstGeom prst="roundRect">
            <a:avLst>
              <a:gd name="adj" fmla="val 20202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11509" y="1507778"/>
            <a:ext cx="130734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足球</a:t>
            </a:r>
            <a:r>
              <a:rPr lang="en-US" sz="16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7950" y="2066479"/>
            <a:ext cx="1472208" cy="628650"/>
          </a:xfrm>
          <a:prstGeom prst="roundRect">
            <a:avLst>
              <a:gd name="adj" fmla="val 20202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0383" y="2237929"/>
            <a:ext cx="130734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停车</a:t>
            </a:r>
            <a:r>
              <a:rPr lang="en-US" sz="16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81659" y="2066479"/>
            <a:ext cx="1472208" cy="628650"/>
          </a:xfrm>
          <a:prstGeom prst="roundRect">
            <a:avLst>
              <a:gd name="adj" fmla="val 20202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164092" y="2237929"/>
            <a:ext cx="130734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</a:t>
            </a:r>
            <a:r>
              <a:rPr lang="en-US" sz="16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55368" y="2066479"/>
            <a:ext cx="1472208" cy="628650"/>
          </a:xfrm>
          <a:prstGeom prst="roundRect">
            <a:avLst>
              <a:gd name="adj" fmla="val 20202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737801" y="2237929"/>
            <a:ext cx="130734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教学</a:t>
            </a:r>
            <a:r>
              <a:rPr lang="en-US" sz="16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29076" y="2066479"/>
            <a:ext cx="1472208" cy="628650"/>
          </a:xfrm>
          <a:prstGeom prst="roundRect">
            <a:avLst>
              <a:gd name="adj" fmla="val 20202"/>
            </a:avLst>
          </a:prstGeom>
          <a:solidFill>
            <a:srgbClr val="EAF0F6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11509" y="2237929"/>
            <a:ext cx="130734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办公</a:t>
            </a:r>
            <a:r>
              <a:rPr lang="en-US" sz="16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7950" y="2796629"/>
            <a:ext cx="1472208" cy="628650"/>
          </a:xfrm>
          <a:prstGeom prst="roundRect">
            <a:avLst>
              <a:gd name="adj" fmla="val 20202"/>
            </a:avLst>
          </a:prstGeom>
          <a:solidFill>
            <a:srgbClr val="EAF0F6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90383" y="2968079"/>
            <a:ext cx="130734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实验</a:t>
            </a:r>
            <a:r>
              <a:rPr lang="en-US" sz="16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081659" y="2796629"/>
            <a:ext cx="1472208" cy="628650"/>
          </a:xfrm>
          <a:prstGeom prst="roundRect">
            <a:avLst>
              <a:gd name="adj" fmla="val 20202"/>
            </a:avLst>
          </a:prstGeom>
          <a:solidFill>
            <a:srgbClr val="EAF0F6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164092" y="2968079"/>
            <a:ext cx="130734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音乐</a:t>
            </a:r>
            <a:r>
              <a:rPr lang="en-US" sz="16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655368" y="2796629"/>
            <a:ext cx="1472208" cy="628650"/>
          </a:xfrm>
          <a:prstGeom prst="roundRect">
            <a:avLst>
              <a:gd name="adj" fmla="val 20202"/>
            </a:avLst>
          </a:prstGeom>
          <a:solidFill>
            <a:srgbClr val="EAF0F6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737801" y="2968079"/>
            <a:ext cx="130734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校医</a:t>
            </a:r>
            <a:r>
              <a:rPr lang="en-US" sz="16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29076" y="2796629"/>
            <a:ext cx="1472208" cy="628650"/>
          </a:xfrm>
          <a:prstGeom prst="roundRect">
            <a:avLst>
              <a:gd name="adj" fmla="val 20202"/>
            </a:avLst>
          </a:prstGeom>
          <a:solidFill>
            <a:srgbClr val="EAF0F6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311509" y="2968079"/>
            <a:ext cx="130734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校长</a:t>
            </a:r>
            <a:r>
              <a:rPr lang="en-US" sz="16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12050" y="1336328"/>
            <a:ext cx="4572000" cy="1636068"/>
          </a:xfrm>
          <a:prstGeom prst="roundRect">
            <a:avLst>
              <a:gd name="adj" fmla="val 776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273975" y="1460153"/>
            <a:ext cx="43331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273975" y="1710928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346156" y="1734741"/>
            <a:ext cx="470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540675" y="1698278"/>
            <a:ext cx="3721796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Divide class into 3–4 teams. Project one base word at a time.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273975" y="1964829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336929" y="1988641"/>
            <a:ext cx="65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540675" y="1952179"/>
            <a:ext cx="4061079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First student in each team's line races to call out the completed compound word.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273975" y="2353419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336631" y="2377232"/>
            <a:ext cx="663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540675" y="2340769"/>
            <a:ext cx="3219018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First correct answer scores a point; teacher confirms.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273975" y="2607320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336334" y="2631132"/>
            <a:ext cx="670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540675" y="2594670"/>
            <a:ext cx="2936813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Rotate through all 12 base words, tracking score.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112050" y="3073896"/>
            <a:ext cx="4572000" cy="823615"/>
          </a:xfrm>
          <a:prstGeom prst="roundRect">
            <a:avLst>
              <a:gd name="adj" fmla="val 1542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273975" y="3197721"/>
            <a:ext cx="43331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273975" y="3435846"/>
            <a:ext cx="4333113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If a team is stuck, teacher may reveal the </a:t>
            </a:r>
            <a:r>
              <a:rPr lang="en-US" sz="9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first character</a:t>
            </a: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of the building block as a hint.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112050" y="3999012"/>
            <a:ext cx="4572000" cy="823615"/>
          </a:xfrm>
          <a:prstGeom prst="roundRect">
            <a:avLst>
              <a:gd name="adj" fmla="val 1542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273975" y="4122837"/>
            <a:ext cx="43331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273975" y="4360962"/>
            <a:ext cx="4333113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Once a team wins a round, one member must use the compound word in a </a:t>
            </a:r>
            <a:r>
              <a:rPr lang="en-US" sz="9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 sentence</a:t>
            </a: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before the point is confirmed.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112050" y="4924127"/>
            <a:ext cx="4572000" cy="571500"/>
          </a:xfrm>
          <a:prstGeom prst="roundRect">
            <a:avLst>
              <a:gd name="adj" fmla="val 22222"/>
            </a:avLst>
          </a:prstGeom>
          <a:solidFill>
            <a:srgbClr val="EAF0F6"/>
          </a:solidFill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273975" y="5047952"/>
            <a:ext cx="433311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Blue cells = previewed Lesson 3 items — rapid retrieval ahead of formal teaching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0" y="658341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7950" y="66611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698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39601"/>
            <a:ext cx="8601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组词·布局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65511" y="141238"/>
            <a:ext cx="12650" cy="139601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92461" y="139601"/>
            <a:ext cx="10561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685651"/>
            <a:ext cx="108813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62000" y="980926"/>
            <a:ext cx="108813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62000" y="1561951"/>
            <a:ext cx="5219700" cy="4762798"/>
          </a:xfrm>
          <a:prstGeom prst="roundRect">
            <a:avLst>
              <a:gd name="adj" fmla="val 3200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09650" y="1758702"/>
            <a:ext cx="48188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9650" y="2041178"/>
            <a:ext cx="48188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 up fingers: </a:t>
            </a:r>
            <a:r>
              <a:rPr lang="en-US" sz="9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r>
              <a:rPr lang="en-US" sz="9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完全可以 · </a:t>
            </a:r>
            <a:r>
              <a:rPr lang="en-US" sz="9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r>
              <a:rPr lang="en-US" sz="9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差不多 · </a:t>
            </a:r>
            <a:r>
              <a:rPr lang="en-US" sz="9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r>
              <a:rPr lang="en-US" sz="9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还不行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09650" y="2304604"/>
            <a:ext cx="4818888" cy="40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Combine base characters with 馆/场/池/楼/室 to build compound words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09650" y="2814786"/>
            <a:ext cx="4818888" cy="20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 Describe a school map using 我们学校有…… with 6+ facilities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09650" y="3120628"/>
            <a:ext cx="4818888" cy="20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 Identify and correct measure word errors (个/幢)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09650" y="3426470"/>
            <a:ext cx="4724400" cy="501551"/>
          </a:xfrm>
          <a:prstGeom prst="rect">
            <a:avLst/>
          </a:prstGeom>
          <a:solidFill>
            <a:srgbClr val="F7EA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1033463" y="3426470"/>
            <a:ext cx="0" cy="501551"/>
          </a:xfrm>
          <a:prstGeom prst="line">
            <a:avLst/>
          </a:prstGeom>
          <a:noFill/>
          <a:ln w="47625">
            <a:solidFill>
              <a:srgbClr val="C96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4225" y="3515320"/>
            <a:ext cx="451133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Note any students showing 1 finger on </a:t>
            </a:r>
            <a:r>
              <a:rPr lang="en-US" sz="9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word-building (criterion 1)</a:t>
            </a: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extra support next lesson.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10300" y="1561951"/>
            <a:ext cx="5219700" cy="4762798"/>
          </a:xfrm>
          <a:prstGeom prst="roundRect">
            <a:avLst>
              <a:gd name="adj" fmla="val 3200"/>
            </a:avLst>
          </a:prstGeom>
          <a:solidFill>
            <a:srgbClr val="F4F2EE"/>
          </a:solidFill>
          <a:ln w="19050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57950" y="1758702"/>
            <a:ext cx="48188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 · 2 MIN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57950" y="2041178"/>
            <a:ext cx="4724400" cy="942826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486525" y="2041178"/>
            <a:ext cx="0" cy="942826"/>
          </a:xfrm>
          <a:prstGeom prst="line">
            <a:avLst/>
          </a:prstGeom>
          <a:noFill/>
          <a:ln w="57150">
            <a:solidFill>
              <a:srgbClr val="2E7D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92801" y="2168128"/>
            <a:ext cx="43980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1 — WRITE IN EXERCISE BOOK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92801" y="2361754"/>
            <a:ext cx="439808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ONE compound word from today's game + its English meaning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57950" y="3085505"/>
            <a:ext cx="4724400" cy="942826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486525" y="3085505"/>
            <a:ext cx="0" cy="942826"/>
          </a:xfrm>
          <a:prstGeom prst="line">
            <a:avLst/>
          </a:prstGeom>
          <a:noFill/>
          <a:ln w="57150">
            <a:solidFill>
              <a:srgbClr val="2E7D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92801" y="3212455"/>
            <a:ext cx="43980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2 — WRITE IN EXERCISE BOOK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92801" y="3406080"/>
            <a:ext cx="439808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ONE sentence describing the school map using 我们学校有……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57950" y="4129832"/>
            <a:ext cx="48188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pinyin — 汉字 only. Use correct measure words throughout.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658341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950" y="66611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73431" y="1045220"/>
            <a:ext cx="98449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2 COMPLETE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73431" y="1451521"/>
            <a:ext cx="9844989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46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1173431" y="2448371"/>
            <a:ext cx="9844989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今天学了 · What We Covered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73431" y="3175397"/>
            <a:ext cx="98449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600"/>
              </a:spcAft>
              <a:buNone/>
            </a:pPr>
            <a:r>
              <a:rPr lang="en-US" sz="14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Word-building with 馆/场/池/楼/室 · 我们学校有…… on a map · 个/幢 error correction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9950" y="3753148"/>
            <a:ext cx="9651950" cy="1554807"/>
          </a:xfrm>
          <a:prstGeom prst="roundRect">
            <a:avLst>
              <a:gd name="adj" fmla="val 9802"/>
            </a:avLst>
          </a:prstGeom>
          <a:solidFill>
            <a:srgbClr val="F4F2EE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607289" y="4051548"/>
            <a:ext cx="89772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 · NEXT LESSON (L3)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07289" y="4359473"/>
            <a:ext cx="8977274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下一课，我们要正式学习 </a:t>
            </a:r>
            <a:r>
              <a:rPr lang="en-US" sz="16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教室</a:t>
            </a:r>
            <a:r>
              <a:rPr lang="en-US" sz="16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</a:t>
            </a:r>
            <a:r>
              <a:rPr lang="en-US" sz="16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实验室</a:t>
            </a:r>
            <a:r>
              <a:rPr lang="en-US" sz="16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这些房间的词汇，还要学怎么问 "……在哪儿？"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7289" y="4684514"/>
            <a:ext cx="8977274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lesson: formally learning room vocabulary and asking "where is…?"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04617" y="5612755"/>
            <a:ext cx="8425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15791" y="5612755"/>
            <a:ext cx="798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60329" y="5612755"/>
            <a:ext cx="12473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 3 · 学校设施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72396" y="5612755"/>
            <a:ext cx="798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19067" y="5612755"/>
            <a:ext cx="10298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2 of 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15732" y="5612755"/>
            <a:ext cx="798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54436" y="5612755"/>
            <a:ext cx="18424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3 · p.72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2026-07-18T06:16:14Z</dcterms:created>
  <dcterms:modified xsi:type="dcterms:W3CDTF">2026-07-18T06:16:14Z</dcterms:modified>
</cp:coreProperties>
</file>