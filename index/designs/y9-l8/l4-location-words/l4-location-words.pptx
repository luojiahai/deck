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4724" y="1685925"/>
            <a:ext cx="37224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· UNIT 3 · LESSON 4 OF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764280" y="2124075"/>
            <a:ext cx="46634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0"/>
              </a:lnSpc>
              <a:spcAft>
                <a:spcPts val="1200"/>
              </a:spcAft>
              <a:buNone/>
            </a:pPr>
            <a:r>
              <a:rPr lang="en-US" sz="1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位置词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516384" y="3800475"/>
            <a:ext cx="51590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20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 Words 旁边 · 隔壁 · 中间 · 左右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15000" y="4483001"/>
            <a:ext cx="762000" cy="38100"/>
          </a:xfrm>
          <a:prstGeom prst="roundRect">
            <a:avLst>
              <a:gd name="adj" fmla="val 66667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93169" y="4800451"/>
            <a:ext cx="1477268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95325" y="4886176"/>
            <a:ext cx="1072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48137" y="4800451"/>
            <a:ext cx="896987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6097" y="4886176"/>
            <a:ext cx="481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22825" y="4800451"/>
            <a:ext cx="1876574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0989" y="4886176"/>
            <a:ext cx="14802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+ Speaking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77100" y="4800451"/>
            <a:ext cx="2421731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9812" y="4886176"/>
            <a:ext cx="20363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p.75–76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0260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58701"/>
            <a:ext cx="112441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4150" y="866626"/>
            <a:ext cx="112441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Rooms &amp; Location Words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84150" y="1460302"/>
            <a:ext cx="4403229" cy="3315593"/>
          </a:xfrm>
          <a:prstGeom prst="roundRect">
            <a:avLst>
              <a:gd name="adj" fmla="val 383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647527"/>
            <a:ext cx="40055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ROOM VOCABULARY FLASH (3 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1961852"/>
            <a:ext cx="704850" cy="438150"/>
          </a:xfrm>
          <a:prstGeom prst="roundRect">
            <a:avLst>
              <a:gd name="adj" fmla="val 23188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4200" y="20475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28626" y="1961852"/>
            <a:ext cx="895350" cy="438150"/>
          </a:xfrm>
          <a:prstGeom prst="roundRect">
            <a:avLst>
              <a:gd name="adj" fmla="val 23188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90551" y="204757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25477" y="1961852"/>
            <a:ext cx="704850" cy="438150"/>
          </a:xfrm>
          <a:prstGeom prst="roundRect">
            <a:avLst>
              <a:gd name="adj" fmla="val 23188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87402" y="2047577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厕所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1828" y="1961852"/>
            <a:ext cx="895350" cy="438150"/>
          </a:xfrm>
          <a:prstGeom prst="roundRect">
            <a:avLst>
              <a:gd name="adj" fmla="val 23188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93753" y="204757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275" y="2501503"/>
            <a:ext cx="895350" cy="438150"/>
          </a:xfrm>
          <a:prstGeom prst="roundRect">
            <a:avLst>
              <a:gd name="adj" fmla="val 23188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4200" y="2587228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19126" y="2501503"/>
            <a:ext cx="895350" cy="438150"/>
          </a:xfrm>
          <a:prstGeom prst="roundRect">
            <a:avLst>
              <a:gd name="adj" fmla="val 23188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81051" y="2587228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275" y="3053953"/>
            <a:ext cx="4005518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each word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at a time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class chorally names it in Chinese. Cold-call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student per word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the English.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41280" y="1460302"/>
            <a:ext cx="6366570" cy="3315593"/>
          </a:xfrm>
          <a:prstGeom prst="roundRect">
            <a:avLst>
              <a:gd name="adj" fmla="val 383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79405" y="1647527"/>
            <a:ext cx="60081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LOCATION WORD RECOGNITION (5 MIN)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79405" y="1961852"/>
            <a:ext cx="5890320" cy="469702"/>
          </a:xfrm>
          <a:prstGeom prst="roundRect">
            <a:avLst>
              <a:gd name="adj" fmla="val 2163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31805" y="2063353"/>
            <a:ext cx="5697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法语教室的</a:t>
            </a:r>
            <a:pPr algn="l" indent="0" marL="0">
              <a:buNone/>
            </a:pPr>
            <a:r>
              <a:rPr lang="en-US" sz="150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79405" y="2507754"/>
            <a:ext cx="5890320" cy="469702"/>
          </a:xfrm>
          <a:prstGeom prst="roundRect">
            <a:avLst>
              <a:gd name="adj" fmla="val 2163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31805" y="2609255"/>
            <a:ext cx="5697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音乐室的</a:t>
            </a:r>
            <a:pPr algn="l" indent="0" marL="0">
              <a:buNone/>
            </a:pPr>
            <a:r>
              <a:rPr lang="en-US" sz="150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79405" y="3053655"/>
            <a:ext cx="5890320" cy="469702"/>
          </a:xfrm>
          <a:prstGeom prst="roundRect">
            <a:avLst>
              <a:gd name="adj" fmla="val 2163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1805" y="3155156"/>
            <a:ext cx="5697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教师办公室和校医室的</a:t>
            </a:r>
            <a:pPr algn="l" indent="0" marL="0">
              <a:buNone/>
            </a:pPr>
            <a:r>
              <a:rPr lang="en-US" sz="150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79405" y="3599557"/>
            <a:ext cx="5890320" cy="469702"/>
          </a:xfrm>
          <a:prstGeom prst="roundRect">
            <a:avLst>
              <a:gd name="adj" fmla="val 2163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31805" y="3701058"/>
            <a:ext cx="5697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男厕所在</a:t>
            </a:r>
            <a:pPr algn="l" indent="0" marL="0">
              <a:buNone/>
            </a:pPr>
            <a:r>
              <a:rPr lang="en-US" sz="150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，女厕所在</a:t>
            </a:r>
            <a:pPr algn="l" indent="0" marL="0">
              <a:buNone/>
            </a:pPr>
            <a:r>
              <a:rPr lang="en-US" sz="1500" b="1" u="sng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79405" y="4183559"/>
            <a:ext cx="6008126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Redisplay the four Text 2 sentences students already met. Cold call students to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each highlighted word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English.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4150" y="4902845"/>
            <a:ext cx="11023699" cy="732532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7963" y="4902845"/>
            <a:ext cx="0" cy="73253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926" y="5029795"/>
            <a:ext cx="1078116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"上节课我们在课文里看到了这些位置词，但是还没有自己练习用它们说句子。今天我们要专门练习——而且要小心一个很多同学会犯的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错误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。"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27995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1034355"/>
            <a:ext cx="103634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15901" y="1393031"/>
            <a:ext cx="1036340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15901" y="2151757"/>
            <a:ext cx="10160198" cy="1162348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39713" y="2151757"/>
            <a:ext cx="0" cy="1162348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7427" y="2329458"/>
            <a:ext cx="9796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17427" y="2567583"/>
            <a:ext cx="9796867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where something is using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旁边、隔壁、中间、左边、右边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 correct word order.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5901" y="3491805"/>
            <a:ext cx="10160198" cy="734913"/>
          </a:xfrm>
          <a:prstGeom prst="roundRect">
            <a:avLst>
              <a:gd name="adj" fmla="val 1382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28576" y="362828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11077" y="3628281"/>
            <a:ext cx="459027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在 Y 的 + location word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 correct order
</a:t>
            </a:r>
            <a:pPr algn="l" indent="0" marL="0">
              <a:lnSpc>
                <a:spcPts val="182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能正确使用"X在Y的……"的语序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5901" y="4341019"/>
            <a:ext cx="10160198" cy="734913"/>
          </a:xfrm>
          <a:prstGeom prst="roundRect">
            <a:avLst>
              <a:gd name="adj" fmla="val 1382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576" y="4477494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11077" y="4477494"/>
            <a:ext cx="601268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find and correct the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common word-order error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location words
</a:t>
            </a:r>
            <a:pPr algn="l" indent="0" marL="0">
              <a:lnSpc>
                <a:spcPts val="182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能找出并改正位置词的语序错误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5901" y="5190232"/>
            <a:ext cx="10160198" cy="734913"/>
          </a:xfrm>
          <a:prstGeom prst="roundRect">
            <a:avLst>
              <a:gd name="adj" fmla="val 1382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8576" y="5326707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11077" y="5326707"/>
            <a:ext cx="5660341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where a room or facility is using a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sentence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lnSpc>
                <a:spcPts val="1820"/>
              </a:lnSpc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能用完整句子说明教室或设施的位置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21141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Recap · 10–12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96901" y="846237"/>
            <a:ext cx="95861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10–12 MIN · I DO · ALREADY MET RECEPTIVELY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96901" y="1230362"/>
            <a:ext cx="95861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位置词 · Location Words Recap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96901" y="1989088"/>
            <a:ext cx="9398198" cy="3190875"/>
          </a:xfrm>
          <a:prstGeom prst="roundRect">
            <a:avLst>
              <a:gd name="adj" fmla="val 3184"/>
            </a:avLst>
          </a:prstGeom>
          <a:noFill/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6426" y="1998613"/>
            <a:ext cx="9379148" cy="419100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406426" y="2412950"/>
            <a:ext cx="937914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35026" y="2112913"/>
            <a:ext cx="284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21026" y="2112913"/>
            <a:ext cx="284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14976" y="2112913"/>
            <a:ext cx="5486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06426" y="2965400"/>
            <a:ext cx="937914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35026" y="2532013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21026" y="2574875"/>
            <a:ext cx="735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pángbiān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14976" y="2574875"/>
            <a:ext cx="1209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beside; next 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06426" y="3517850"/>
            <a:ext cx="937914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35026" y="3084463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21026" y="3127325"/>
            <a:ext cx="345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gébì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14976" y="3127325"/>
            <a:ext cx="7763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door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06426" y="4070300"/>
            <a:ext cx="937914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35026" y="3636913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21026" y="3679775"/>
            <a:ext cx="762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zhōngjiān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14976" y="3679775"/>
            <a:ext cx="1303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between; centre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406426" y="4622750"/>
            <a:ext cx="937914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35026" y="4189363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左边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21026" y="4232225"/>
            <a:ext cx="616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zuǒbiān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14976" y="4232225"/>
            <a:ext cx="661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left side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35026" y="4741813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右边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21026" y="4784675"/>
            <a:ext cx="617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yòubiān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14976" y="4784675"/>
            <a:ext cx="767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side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96901" y="5383113"/>
            <a:ext cx="9398198" cy="730151"/>
          </a:xfrm>
          <a:prstGeom prst="roundRect">
            <a:avLst>
              <a:gd name="adj" fmla="val 13915"/>
            </a:avLst>
          </a:prstGeom>
          <a:solidFill>
            <a:srgbClr val="E6F1EE"/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635026" y="5519589"/>
            <a:ext cx="9100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</a:t>
            </a:r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Already familiar from Lesson 3 &amp; Text 2</a:t>
            </a:r>
            <a:pPr algn="l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choral read all five once, then move straight to the grammar structure. No need to re-teach meaning.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20744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· 12–16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587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12–16 MIN · I DO · KEY PATTERN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66626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Key Sentence Pattern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485602"/>
            <a:ext cx="10414099" cy="98420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7525" y="1485602"/>
            <a:ext cx="0" cy="984200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001" y="1638002"/>
            <a:ext cx="10046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0001" y="1850678"/>
            <a:ext cx="100461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</a:t>
            </a:r>
            <a:pPr algn="l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在 </a:t>
            </a:r>
            <a:pPr algn="l" indent="0" marL="0">
              <a:buNone/>
            </a:pPr>
            <a:r>
              <a:rPr lang="en-US" sz="2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</a:t>
            </a:r>
            <a:pPr algn="l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的 + [位置词]。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8950" y="2596753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例子（教师朗读，全班跟读）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8950" y="2904679"/>
            <a:ext cx="10414099" cy="726877"/>
          </a:xfrm>
          <a:prstGeom prst="roundRect">
            <a:avLst>
              <a:gd name="adj" fmla="val 1397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27075" y="3015704"/>
            <a:ext cx="10136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075" y="3215729"/>
            <a:ext cx="101366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汉语教室在法语教室的</a:t>
            </a:r>
            <a:pPr algn="l" indent="0" marL="0">
              <a:buNone/>
            </a:pPr>
            <a:r>
              <a:rPr lang="en-US" sz="1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8950" y="3720405"/>
            <a:ext cx="10414099" cy="726877"/>
          </a:xfrm>
          <a:prstGeom prst="roundRect">
            <a:avLst>
              <a:gd name="adj" fmla="val 1397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27075" y="3831431"/>
            <a:ext cx="10136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075" y="4031456"/>
            <a:ext cx="101366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物理实验室在音乐室的</a:t>
            </a:r>
            <a:pPr algn="l" indent="0" marL="0">
              <a:buNone/>
            </a:pPr>
            <a:r>
              <a:rPr lang="en-US" sz="1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8950" y="4536132"/>
            <a:ext cx="10414099" cy="726877"/>
          </a:xfrm>
          <a:prstGeom prst="roundRect">
            <a:avLst>
              <a:gd name="adj" fmla="val 1397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27075" y="4647158"/>
            <a:ext cx="10136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075" y="4847183"/>
            <a:ext cx="101366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校长办公室在教师办公室和校医室的</a:t>
            </a:r>
            <a:pPr algn="l" indent="0" marL="0">
              <a:buNone/>
            </a:pPr>
            <a:r>
              <a:rPr lang="en-US" sz="1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8950" y="5351859"/>
            <a:ext cx="10414099" cy="726877"/>
          </a:xfrm>
          <a:prstGeom prst="roundRect">
            <a:avLst>
              <a:gd name="adj" fmla="val 13978"/>
            </a:avLst>
          </a:prstGeom>
          <a:solidFill>
            <a:srgbClr val="F6E9E6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27075" y="5462885"/>
            <a:ext cx="10136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075" y="5662910"/>
            <a:ext cx="101366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校长办公室在</a:t>
            </a:r>
            <a:pPr algn="l" indent="0" marL="0">
              <a:buNone/>
            </a:pPr>
            <a:r>
              <a:rPr lang="en-US" sz="17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buNone/>
            </a:pPr>
            <a:r>
              <a:rPr lang="en-US" sz="1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9229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Common Error · 16–18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373684"/>
            <a:ext cx="10104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16–18 MIN · I DO · EXPLICIT TEACHING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732359"/>
            <a:ext cx="10104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⚠️ 最常见的错误 · The #1 Mistake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440186"/>
            <a:ext cx="9906000" cy="933152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171575" y="2440186"/>
            <a:ext cx="0" cy="933152"/>
          </a:xfrm>
          <a:prstGeom prst="line">
            <a:avLst/>
          </a:prstGeom>
          <a:noFill/>
          <a:ln w="57150">
            <a:solidFill>
              <a:srgbClr val="C96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4051" y="2617887"/>
            <a:ext cx="9527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 · THE RULE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54051" y="2843213"/>
            <a:ext cx="95278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位置词跟在参照物后面：X 在 Y 的 + 位置词。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551039"/>
            <a:ext cx="10104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THE PAIR 对比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3909715"/>
            <a:ext cx="4610100" cy="707827"/>
          </a:xfrm>
          <a:prstGeom prst="roundRect">
            <a:avLst>
              <a:gd name="adj" fmla="val 14354"/>
            </a:avLst>
          </a:prstGeom>
          <a:solidFill>
            <a:srgbClr val="F6E9E6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15951" y="4106466"/>
            <a:ext cx="23900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❌ 图书馆旁边在礼堂。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81700" y="4106466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38900" y="3909715"/>
            <a:ext cx="4610100" cy="707827"/>
          </a:xfrm>
          <a:prstGeom prst="roundRect">
            <a:avLst>
              <a:gd name="adj" fmla="val 14354"/>
            </a:avLst>
          </a:prstGeom>
          <a:solidFill>
            <a:srgbClr val="E6F1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11851" y="4106466"/>
            <a:ext cx="26231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图书馆在礼堂的旁边。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795242"/>
            <a:ext cx="9906000" cy="790575"/>
          </a:xfrm>
          <a:prstGeom prst="roundRect">
            <a:avLst>
              <a:gd name="adj" fmla="val 12851"/>
            </a:avLst>
          </a:prstGeom>
          <a:solidFill>
            <a:srgbClr val="F5ECDD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81125" y="4957167"/>
            <a:ext cx="725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"位置词永远跟在'的'后面，不能放在句子最前面。"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1125" y="5223867"/>
            <a:ext cx="7251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is the single most common mistake with this pattern — students must check word order every time.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2102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18–20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58701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18–20 MIN · CHECK FOR UNDERSTANDING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866626"/>
            <a:ext cx="11140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4901" y="1447502"/>
            <a:ext cx="3522166" cy="2390626"/>
          </a:xfrm>
          <a:prstGeom prst="roundRect">
            <a:avLst>
              <a:gd name="adj" fmla="val 5312"/>
            </a:avLst>
          </a:prstGeom>
          <a:solidFill>
            <a:srgbClr val="E8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1652" y="164425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57858" y="1695004"/>
            <a:ext cx="79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1652" y="2075855"/>
            <a:ext cx="31912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1652" y="2339280"/>
            <a:ext cx="31912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哪个对？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1652" y="2726531"/>
            <a:ext cx="319123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❌ / ✅ pair from the rule slide: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图书馆旁边在礼堂。</a:t>
            </a:r>
            <a:pPr algn="l" indent="0" marL="0">
              <a:lnSpc>
                <a:spcPts val="18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图书馆在礼堂的旁边。</a:t>
            </a:r>
            <a:pPr algn="l" indent="0" marL="0">
              <a:lnSpc>
                <a:spcPts val="18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"哪个对？举手指。" Every student points at the correct sentence.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34768" y="1447502"/>
            <a:ext cx="3522315" cy="2390626"/>
          </a:xfrm>
          <a:prstGeom prst="roundRect">
            <a:avLst>
              <a:gd name="adj" fmla="val 5312"/>
            </a:avLst>
          </a:prstGeom>
          <a:solidFill>
            <a:srgbClr val="E6F1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31519" y="164425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57725" y="1695004"/>
            <a:ext cx="79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1519" y="2075855"/>
            <a:ext cx="3191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1519" y="2339280"/>
            <a:ext cx="31913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用'隔壁'说一句话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31519" y="2726531"/>
            <a:ext cx="3191390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"Alex, 用'隔壁'说一句话，说说体育馆在哪儿。" Accept any grammatically correct sentence using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在 Y 的隔壁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34784" y="1447502"/>
            <a:ext cx="3522315" cy="2390626"/>
          </a:xfrm>
          <a:prstGeom prst="roundRect">
            <a:avLst>
              <a:gd name="adj" fmla="val 5312"/>
            </a:avLst>
          </a:prstGeom>
          <a:solidFill>
            <a:srgbClr val="F6E9E6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31535" y="164425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57741" y="1695004"/>
            <a:ext cx="79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31535" y="2075855"/>
            <a:ext cx="3191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31535" y="2339280"/>
            <a:ext cx="31913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Spot the Mistake!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31535" y="2726531"/>
            <a:ext cx="319139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 </a:t>
            </a:r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餐厅左边在图书馆。</a:t>
            </a:r>
            <a:pPr algn="l" indent="0" marL="0">
              <a:lnSpc>
                <a:spcPts val="18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"这句话有错误。大家一起说正确的！"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31535" y="3269903"/>
            <a:ext cx="3128814" cy="371475"/>
          </a:xfrm>
          <a:prstGeom prst="roundRect">
            <a:avLst>
              <a:gd name="adj" fmla="val 27351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02985" y="3365153"/>
            <a:ext cx="2841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901" y="3965079"/>
            <a:ext cx="10922198" cy="666750"/>
          </a:xfrm>
          <a:prstGeom prst="roundRect">
            <a:avLst>
              <a:gd name="adj" fmla="val 15238"/>
            </a:avLst>
          </a:prstGeom>
          <a:solidFill>
            <a:srgbClr val="F5ECDD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2551" y="4098429"/>
            <a:ext cx="106354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in checks 1 and 3 — every student must point / call out. For cold call, pre-identify a few students who need a stretch to use 中间 with two named reference points.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2851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038499"/>
            <a:ext cx="10104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2397175"/>
            <a:ext cx="10104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3155900"/>
            <a:ext cx="9906000" cy="1765102"/>
          </a:xfrm>
          <a:prstGeom prst="roundRect">
            <a:avLst>
              <a:gd name="adj" fmla="val 719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31875" y="339402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3382" y="3466951"/>
            <a:ext cx="1313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92226" y="3394025"/>
            <a:ext cx="855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 — spot the mistake in: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餐厅左边在图书馆。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92226" y="3724126"/>
            <a:ext cx="8386911" cy="958751"/>
          </a:xfrm>
          <a:prstGeom prst="roundRect">
            <a:avLst>
              <a:gd name="adj" fmla="val 10597"/>
            </a:avLst>
          </a:prstGeom>
          <a:solidFill>
            <a:srgbClr val="F5ECDD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39876" y="3870127"/>
            <a:ext cx="804944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餐厅</a:t>
            </a:r>
            <a:pPr algn="l" indent="0" marL="0">
              <a:buNone/>
            </a:pPr>
            <a:r>
              <a:rPr lang="en-US" sz="22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在图书馆的左边</a:t>
            </a:r>
            <a:pPr algn="l" indent="0" marL="0">
              <a:buNone/>
            </a:pPr>
            <a:r>
              <a:rPr lang="en-US" sz="2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39876" y="4336852"/>
            <a:ext cx="8049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左边 moves from the front of the sentence to after 图书馆的 — the location word always follows the reference point.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60275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21900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改错句 · 20–27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558701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· 7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853976"/>
            <a:ext cx="108813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改错句 Guided Error Correction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000" y="1422202"/>
            <a:ext cx="10668000" cy="3939034"/>
          </a:xfrm>
          <a:prstGeom prst="roundRect">
            <a:avLst>
              <a:gd name="adj" fmla="val 3869"/>
            </a:avLst>
          </a:prstGeom>
          <a:solidFill>
            <a:srgbClr val="F4F2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9650" y="1644402"/>
            <a:ext cx="10172700" cy="301526"/>
          </a:xfrm>
          <a:prstGeom prst="roundRect">
            <a:avLst>
              <a:gd name="adj" fmla="val 420769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2800" y="1695152"/>
            <a:ext cx="9961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MODEL → TURN &amp; TALK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9650" y="2072878"/>
            <a:ext cx="5010150" cy="764977"/>
          </a:xfrm>
          <a:prstGeom prst="roundRect">
            <a:avLst>
              <a:gd name="adj" fmla="val 1328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7351" y="2199829"/>
            <a:ext cx="47478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· TEACHER MODELS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7351" y="2425154"/>
            <a:ext cx="47478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图书馆旁边在礼堂。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072878"/>
            <a:ext cx="5010150" cy="764977"/>
          </a:xfrm>
          <a:prstGeom prst="roundRect">
            <a:avLst>
              <a:gd name="adj" fmla="val 1328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901" y="2199829"/>
            <a:ext cx="47478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· TEACHER 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901" y="2425154"/>
            <a:ext cx="47478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实验室隔壁在音乐室。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9650" y="2990255"/>
            <a:ext cx="5010150" cy="764977"/>
          </a:xfrm>
          <a:prstGeom prst="roundRect">
            <a:avLst>
              <a:gd name="adj" fmla="val 1328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7351" y="3117205"/>
            <a:ext cx="47478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· TURN &amp; TALK (2 MIN)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7351" y="3342531"/>
            <a:ext cx="47478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校长办公室中间在教师办公室和校医室。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2990255"/>
            <a:ext cx="5010150" cy="764977"/>
          </a:xfrm>
          <a:prstGeom prst="roundRect">
            <a:avLst>
              <a:gd name="adj" fmla="val 1328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9901" y="3117205"/>
            <a:ext cx="47478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· TURN &amp; TALK (2 MIN)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49901" y="3342531"/>
            <a:ext cx="47478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男厕所左边在女厕所。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9650" y="3882182"/>
            <a:ext cx="10172700" cy="371475"/>
          </a:xfrm>
          <a:prstGeom prst="roundRect">
            <a:avLst>
              <a:gd name="adj" fmla="val 27351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82802" y="3977432"/>
            <a:ext cx="10026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Corrected sentences on next slide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9650" y="4380607"/>
            <a:ext cx="5022800" cy="758428"/>
          </a:xfrm>
          <a:prstGeom prst="roundRect">
            <a:avLst>
              <a:gd name="adj" fmla="val 1339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62050" y="4482108"/>
            <a:ext cx="4812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2050" y="4682133"/>
            <a:ext cx="481236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rule (X 在 Y 的 + 位置词) projected throughout as a checklist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59401" y="4380607"/>
            <a:ext cx="5022949" cy="758428"/>
          </a:xfrm>
          <a:prstGeom prst="roundRect">
            <a:avLst>
              <a:gd name="adj" fmla="val 1339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11801" y="4482108"/>
            <a:ext cx="48125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11801" y="4682133"/>
            <a:ext cx="481251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fixing each sentence, state the reference point (Y) aloud: "参照物是'礼堂'。"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6976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1359396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1692771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改错句 Corrections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2388096"/>
            <a:ext cx="5118199" cy="1517154"/>
          </a:xfrm>
          <a:prstGeom prst="roundRect">
            <a:avLst>
              <a:gd name="adj" fmla="val 83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27075" y="2575322"/>
            <a:ext cx="4734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· TEACHER MODELLED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075" y="2800648"/>
            <a:ext cx="4734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图书馆旁边在礼堂。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7075" y="3130748"/>
            <a:ext cx="4734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7075" y="3403699"/>
            <a:ext cx="47347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图书馆在礼堂的旁边。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84850" y="2388096"/>
            <a:ext cx="5118199" cy="1517154"/>
          </a:xfrm>
          <a:prstGeom prst="roundRect">
            <a:avLst>
              <a:gd name="adj" fmla="val 83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22975" y="2575322"/>
            <a:ext cx="4734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· TEACHER MODELLED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22975" y="2800648"/>
            <a:ext cx="4734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实验室隔壁在音乐室。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2975" y="3130748"/>
            <a:ext cx="4734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2975" y="3403699"/>
            <a:ext cx="47347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实验室在音乐室的隔壁。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8950" y="4082951"/>
            <a:ext cx="5118199" cy="1517154"/>
          </a:xfrm>
          <a:prstGeom prst="roundRect">
            <a:avLst>
              <a:gd name="adj" fmla="val 83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27075" y="4270177"/>
            <a:ext cx="4734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· TURN &amp; TALK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075" y="4495502"/>
            <a:ext cx="4734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校长办公室中间在教师办公室和校医室。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27075" y="4825603"/>
            <a:ext cx="4734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7075" y="5098554"/>
            <a:ext cx="47347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校长办公室在教师办公室和校医室的中间。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84850" y="4082951"/>
            <a:ext cx="5118199" cy="1517154"/>
          </a:xfrm>
          <a:prstGeom prst="roundRect">
            <a:avLst>
              <a:gd name="adj" fmla="val 837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22975" y="4270177"/>
            <a:ext cx="4734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· TURN &amp; TALK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22975" y="4495502"/>
            <a:ext cx="4734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男厕所左边在女厕所。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2975" y="4825603"/>
            <a:ext cx="4734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22975" y="5098554"/>
            <a:ext cx="47347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男厕所在女厕所的左边。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856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33251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27–36 MIN · YOU DO · WRITING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815727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位置词造句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901" y="1333054"/>
            <a:ext cx="5588198" cy="3078956"/>
          </a:xfrm>
          <a:prstGeom prst="roundRect">
            <a:avLst>
              <a:gd name="adj" fmla="val 4950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101" y="1504504"/>
            <a:ext cx="2805857" cy="282476"/>
          </a:xfrm>
          <a:prstGeom prst="roundRect">
            <a:avLst>
              <a:gd name="adj" fmla="val 4491461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0252" y="1555254"/>
            <a:ext cx="24475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WRITE → PEER-CHECK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7101" y="18884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5505" y="1921818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7202" y="1888480"/>
            <a:ext cx="4667083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one example live: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我们学校的图书馆在体育馆的旁边。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101" y="21932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5087" y="222661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7202" y="2193280"/>
            <a:ext cx="490997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 writing (5 min):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sentences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one per location word, each following X 在 Y 的 + location word exactly.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101" y="26466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4789" y="267994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7202" y="2646611"/>
            <a:ext cx="490997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Peer-check (2 min): swap books — neighbour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circles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any word-order errors in pencil, without fixing them.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7101" y="309994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4343" y="3133279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7202" y="3099941"/>
            <a:ext cx="31156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self-correct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any circled sentences.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7101" y="3430042"/>
            <a:ext cx="2521148" cy="810518"/>
          </a:xfrm>
          <a:prstGeom prst="roundRect">
            <a:avLst>
              <a:gd name="adj" fmla="val 1253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84052" y="3518892"/>
            <a:ext cx="23125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4052" y="3706118"/>
            <a:ext cx="231259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Gap-fill frame per sentence, location word already given for each of the 5 lines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9750" y="3430042"/>
            <a:ext cx="2521148" cy="810518"/>
          </a:xfrm>
          <a:prstGeom prst="roundRect">
            <a:avLst>
              <a:gd name="adj" fmla="val 1253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06701" y="3518892"/>
            <a:ext cx="23125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06701" y="3706118"/>
            <a:ext cx="231259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unaided (no gap-fill) + add one 中间 sentence with two named reference points (X 在 Y 和 Z 的中间)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77000" y="1333054"/>
            <a:ext cx="5080099" cy="707975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500813" y="1333054"/>
            <a:ext cx="0" cy="707975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326" y="1447354"/>
            <a:ext cx="4770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02326" y="1660029"/>
            <a:ext cx="4770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我们学校的图书馆在体育馆的旁边。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77000" y="2167979"/>
            <a:ext cx="5080099" cy="758726"/>
          </a:xfrm>
          <a:prstGeom prst="roundRect">
            <a:avLst>
              <a:gd name="adj" fmla="val 1339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654701" y="2294930"/>
            <a:ext cx="4819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(SCAFFOLD)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54701" y="2533055"/>
            <a:ext cx="4819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我们学校的</a:t>
            </a:r>
            <a:pPr algn="l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pPr algn="l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77000" y="3053655"/>
            <a:ext cx="51817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L1–L3 FACILITIES VOCABULARY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77000" y="3291780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13475" y="3352056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83351" y="3291780"/>
            <a:ext cx="5777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19826" y="3352056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37302" y="3291780"/>
            <a:ext cx="5777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73777" y="3352056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91252" y="3291780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727728" y="3352056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97603" y="3291780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534079" y="3352056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203954" y="3291780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340429" y="3352056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77000" y="3698081"/>
            <a:ext cx="5777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13475" y="3758357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30951" y="3698081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267426" y="3758357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937302" y="3698081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073777" y="3758357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743652" y="3698081"/>
            <a:ext cx="5777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880128" y="3758357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397603" y="3698081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534079" y="3758357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203954" y="3698081"/>
            <a:ext cx="5777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0340429" y="3758357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厕所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77000" y="4104382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613475" y="4164657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283351" y="4104382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419826" y="4164657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音乐室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089702" y="4104382"/>
            <a:ext cx="730151" cy="330101"/>
          </a:xfrm>
          <a:prstGeom prst="roundRect">
            <a:avLst>
              <a:gd name="adj" fmla="val 30779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226177" y="4164657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9564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改错句接力赛 · 36–43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558701"/>
            <a:ext cx="112441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36–43 MIN · GAME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4150" y="853976"/>
            <a:ext cx="112441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改错句接力赛 · Error-Fixing Relay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4150" y="1422202"/>
            <a:ext cx="6087219" cy="673001"/>
          </a:xfrm>
          <a:prstGeom prst="roundRect">
            <a:avLst>
              <a:gd name="adj" fmla="val 18871"/>
            </a:avLst>
          </a:prstGeom>
          <a:solidFill>
            <a:srgbClr val="F4F2EE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5936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7022" y="1653927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14152" y="1601539"/>
            <a:ext cx="20985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操场旁边在游泳池。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4150" y="2209502"/>
            <a:ext cx="6087219" cy="673001"/>
          </a:xfrm>
          <a:prstGeom prst="roundRect">
            <a:avLst>
              <a:gd name="adj" fmla="val 18871"/>
            </a:avLst>
          </a:prstGeom>
          <a:solidFill>
            <a:srgbClr val="F4F2EE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6351" y="23809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3032" y="244122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14152" y="2388840"/>
            <a:ext cx="2331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校医室隔壁在办公室。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4150" y="2996803"/>
            <a:ext cx="6087219" cy="673001"/>
          </a:xfrm>
          <a:prstGeom prst="roundRect">
            <a:avLst>
              <a:gd name="adj" fmla="val 18871"/>
            </a:avLst>
          </a:prstGeom>
          <a:solidFill>
            <a:srgbClr val="F4F2EE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6351" y="316825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22734" y="3228529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14152" y="3176141"/>
            <a:ext cx="2331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停车场左边在教学楼。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4150" y="3784104"/>
            <a:ext cx="6087219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3964" y="3879354"/>
            <a:ext cx="58075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Corrected sentences on next slide → (repeat in this style for rounds 4–8)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25270" y="1422202"/>
            <a:ext cx="4682579" cy="1723132"/>
          </a:xfrm>
          <a:prstGeom prst="roundRect">
            <a:avLst>
              <a:gd name="adj" fmla="val 737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12496" y="1558677"/>
            <a:ext cx="439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 — 6–8 ROUNDS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2496" y="181585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78278" y="1833265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66397" y="1815852"/>
            <a:ext cx="2014752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Divide the class into 3–4 teams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2496" y="203165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69051" y="2049066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66397" y="2031653"/>
            <a:ext cx="4135311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one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error sentence at a time (not reused from Activity 1)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12496" y="2412355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68753" y="2429768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66397" y="2412355"/>
            <a:ext cx="4135311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team's student says the corrected sentence within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seconds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Correct = 1 point; wrong/slow = next team may steal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12496" y="279305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68455" y="2810470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66397" y="2793057"/>
            <a:ext cx="345765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6–8 rounds, keep score on the board or projector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25270" y="3246834"/>
            <a:ext cx="4682579" cy="885527"/>
          </a:xfrm>
          <a:prstGeom prst="roundRect">
            <a:avLst>
              <a:gd name="adj" fmla="val 1434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112496" y="3383310"/>
            <a:ext cx="439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12496" y="3640485"/>
            <a:ext cx="439429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may repeat the sentence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a student mishears it before the 10-second timer starts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25270" y="4233863"/>
            <a:ext cx="4682579" cy="885527"/>
          </a:xfrm>
          <a:prstGeom prst="roundRect">
            <a:avLst>
              <a:gd name="adj" fmla="val 1434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112496" y="4370338"/>
            <a:ext cx="439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12496" y="4627513"/>
            <a:ext cx="439429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add the reference-point ID for a bonus point: "参照物是'游泳池'。"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1005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Answers 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1614636"/>
            <a:ext cx="103634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15901" y="1948011"/>
            <a:ext cx="1036340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改错句接力赛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15901" y="2643336"/>
            <a:ext cx="10160198" cy="679400"/>
          </a:xfrm>
          <a:prstGeom prst="roundRect">
            <a:avLst>
              <a:gd name="adj" fmla="val 1869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4026" y="280526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4520" y="2868662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2727" y="2849612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操场旁边在游泳池。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4927" y="287818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5028" y="2830562"/>
            <a:ext cx="24800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操场在游泳池的旁边。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5901" y="3449687"/>
            <a:ext cx="10160198" cy="679400"/>
          </a:xfrm>
          <a:prstGeom prst="roundRect">
            <a:avLst>
              <a:gd name="adj" fmla="val 1869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54026" y="361161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79637" y="3675013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12727" y="36559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校医室隔壁在办公室。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95427" y="3684538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25528" y="3636913"/>
            <a:ext cx="2700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校医室在办公室的隔壁。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15901" y="4256038"/>
            <a:ext cx="10160198" cy="679400"/>
          </a:xfrm>
          <a:prstGeom prst="roundRect">
            <a:avLst>
              <a:gd name="adj" fmla="val 1869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54026" y="441796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79190" y="4481364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12727" y="4462314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停车场左边在教学楼。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95427" y="4490889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25528" y="4443264"/>
            <a:ext cx="2700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停车场在教学楼的左边。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15901" y="5164038"/>
            <a:ext cx="103634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Teacher: prepare rounds 4–8 in this same style (new sentences, not reused from Activity 1) before the lesson.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07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91976"/>
            <a:ext cx="760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位置词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0530" y="10953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0130" y="91976"/>
            <a:ext cx="1186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1577132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1910507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2580382"/>
            <a:ext cx="5207050" cy="2802136"/>
          </a:xfrm>
          <a:prstGeom prst="roundRect">
            <a:avLst>
              <a:gd name="adj" fmla="val 543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9650" y="2802582"/>
            <a:ext cx="4805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9650" y="3116907"/>
            <a:ext cx="48059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pPr algn="l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pPr algn="l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pPr algn="l" indent="0" marL="0"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9650" y="341218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6F1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9989" y="345817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14301" y="341218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ECDD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04938" y="3458170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18952" y="341218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6E9E6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20007" y="3458170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99804" y="3444776"/>
            <a:ext cx="3468434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X 在 Y 的 + location word in the correct order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9650" y="376758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6F1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9989" y="3813572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14301" y="376758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ECDD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04938" y="3813572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18952" y="376758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6E9E6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20007" y="3813572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9804" y="3800177"/>
            <a:ext cx="326850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and correct the common word-order error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9650" y="4184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6F1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99989" y="423058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14301" y="4184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5ECDD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404938" y="42305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18952" y="4184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6E9E6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20007" y="4230588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9804" y="4122986"/>
            <a:ext cx="3796028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where a room/facility is in a complete sentence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9650" y="4614416"/>
            <a:ext cx="4711750" cy="545902"/>
          </a:xfrm>
          <a:prstGeom prst="roundRect">
            <a:avLst>
              <a:gd name="adj" fmla="val 18611"/>
            </a:avLst>
          </a:prstGeom>
          <a:solidFill>
            <a:srgbClr val="F6E9E6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71575" y="4725442"/>
            <a:ext cx="44756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Note:</a:t>
            </a:r>
            <a:pPr algn="l" indent="0" marL="0">
              <a:buNone/>
            </a:pPr>
            <a:r>
              <a:rPr lang="en-US" sz="9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flag any students showing 1 finger on criterion 2 (error correction) for next lesson's review.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22950" y="2580382"/>
            <a:ext cx="5207050" cy="2802136"/>
          </a:xfrm>
          <a:prstGeom prst="roundRect">
            <a:avLst>
              <a:gd name="adj" fmla="val 5439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70600" y="2802582"/>
            <a:ext cx="4805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0600" y="3116907"/>
            <a:ext cx="4711750" cy="82867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494413" y="3116907"/>
            <a:ext cx="0" cy="82867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1376" y="3269307"/>
            <a:ext cx="43429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IN EXERCISE BOOK (2 MIN)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1376" y="3507432"/>
            <a:ext cx="4342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我最喜欢的地方是</a:t>
            </a:r>
            <a:pPr algn="l" indent="0" marL="0">
              <a:buNone/>
            </a:pP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，它在</a:t>
            </a:r>
            <a:pPr algn="l" indent="0" marL="0">
              <a:buNone/>
            </a:pP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buNone/>
            </a:pP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</a:t>
            </a:r>
            <a:pPr algn="l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0600" y="4059882"/>
            <a:ext cx="480598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sentence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describing where your favourite school facility is, using a location word.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70600" y="4618286"/>
            <a:ext cx="1341834" cy="212527"/>
          </a:xfrm>
          <a:prstGeom prst="roundRect">
            <a:avLst>
              <a:gd name="adj" fmla="val 5969736"/>
            </a:avLst>
          </a:prstGeom>
          <a:solidFill>
            <a:srgbClr val="E6F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97551" y="4643586"/>
            <a:ext cx="11096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word order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88635" y="4618286"/>
            <a:ext cx="1276796" cy="212527"/>
          </a:xfrm>
          <a:prstGeom prst="roundRect">
            <a:avLst>
              <a:gd name="adj" fmla="val 5969736"/>
            </a:avLst>
          </a:prstGeom>
          <a:solidFill>
            <a:srgbClr val="E6F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015585" y="4643586"/>
            <a:ext cx="10433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在 Y 的 + 位置词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950" y="6664375"/>
            <a:ext cx="1465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1961" y="824210"/>
            <a:ext cx="2488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COMPLETE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760815" y="1230511"/>
            <a:ext cx="67037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52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412549" y="2332137"/>
            <a:ext cx="536690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75645" y="3005138"/>
            <a:ext cx="78405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4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location words · pattern X在Y的+位置词 · the #1 word-order error, spotted &amp; corrected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3582888"/>
            <a:ext cx="9906000" cy="1971377"/>
          </a:xfrm>
          <a:prstGeom prst="roundRect">
            <a:avLst>
              <a:gd name="adj" fmla="val 9019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03756" y="3855839"/>
            <a:ext cx="91844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3756" y="4138315"/>
            <a:ext cx="918448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下一课，我们要学更多位置词——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上面、下面、前面、后面、对面、楼上、楼下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——用来描述教室里的东西和整栋楼的布局。</a:t>
            </a:r>
            <a:endParaRPr lang="en-US" sz="15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more location words to describe things inside the classroom and the layout of the whole building.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25415" y="5833616"/>
            <a:ext cx="785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80277" y="5833616"/>
            <a:ext cx="74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19829" y="5833616"/>
            <a:ext cx="11732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学校设施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58600" y="5833616"/>
            <a:ext cx="74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0281" y="5833616"/>
            <a:ext cx="9560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23949" y="5833616"/>
            <a:ext cx="740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5167" y="5833616"/>
            <a:ext cx="20234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p.75–76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2026-07-18T06:17:17Z</dcterms:created>
  <dcterms:modified xsi:type="dcterms:W3CDTF">2026-07-18T06:17:17Z</dcterms:modified>
</cp:coreProperties>
</file>