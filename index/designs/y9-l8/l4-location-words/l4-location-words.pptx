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34724" y="1685925"/>
            <a:ext cx="372240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800"/>
              </a:spcAft>
              <a:buNone/>
            </a:pPr>
            <a:r>
              <a:rPr lang="en-US" sz="12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9 · UNIT 3 · LESSON 4 OF 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764280" y="2124075"/>
            <a:ext cx="466344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0"/>
              </a:lnSpc>
              <a:spcAft>
                <a:spcPts val="1200"/>
              </a:spcAft>
              <a:buNone/>
            </a:pPr>
            <a:r>
              <a:rPr lang="en-US" sz="120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位置词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3516384" y="3800475"/>
            <a:ext cx="515908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600"/>
              </a:spcAft>
              <a:buNone/>
            </a:pPr>
            <a:r>
              <a:rPr lang="en-US" sz="200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Location Words 旁边 · 隔壁 · 中间 · 左右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715000" y="4483001"/>
            <a:ext cx="762000" cy="38100"/>
          </a:xfrm>
          <a:prstGeom prst="roundRect">
            <a:avLst>
              <a:gd name="adj" fmla="val 66667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493169" y="4800451"/>
            <a:ext cx="1477268" cy="371475"/>
          </a:xfrm>
          <a:prstGeom prst="roundRect">
            <a:avLst>
              <a:gd name="adj" fmla="val 341538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695325" y="4886176"/>
            <a:ext cx="10729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9 Chinese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48137" y="4800451"/>
            <a:ext cx="896987" cy="371475"/>
          </a:xfrm>
          <a:prstGeom prst="roundRect">
            <a:avLst>
              <a:gd name="adj" fmla="val 341538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356097" y="4886176"/>
            <a:ext cx="481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222825" y="4800451"/>
            <a:ext cx="1876574" cy="371475"/>
          </a:xfrm>
          <a:prstGeom prst="roundRect">
            <a:avLst>
              <a:gd name="adj" fmla="val 341538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420989" y="4886176"/>
            <a:ext cx="14802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Grammar + Speaking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277100" y="4800451"/>
            <a:ext cx="2421731" cy="371475"/>
          </a:xfrm>
          <a:prstGeom prst="roundRect">
            <a:avLst>
              <a:gd name="adj" fmla="val 341538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69812" y="4886176"/>
            <a:ext cx="203630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3 · p.75–76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5078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91976"/>
            <a:ext cx="7605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位置词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380530" y="1095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0130" y="91976"/>
            <a:ext cx="102604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4150" y="558701"/>
            <a:ext cx="1124417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84150" y="866626"/>
            <a:ext cx="11244173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Rooms &amp; Location Words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84150" y="1460302"/>
            <a:ext cx="4403229" cy="3315593"/>
          </a:xfrm>
          <a:prstGeom prst="roundRect">
            <a:avLst>
              <a:gd name="adj" fmla="val 383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647527"/>
            <a:ext cx="400551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 A · ROOM VOCABULARY FLASH (3 MIN)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275" y="1961852"/>
            <a:ext cx="704850" cy="438150"/>
          </a:xfrm>
          <a:prstGeom prst="roundRect">
            <a:avLst>
              <a:gd name="adj" fmla="val 23188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84200" y="2047577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教室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628626" y="1961852"/>
            <a:ext cx="895350" cy="438150"/>
          </a:xfrm>
          <a:prstGeom prst="roundRect">
            <a:avLst>
              <a:gd name="adj" fmla="val 23188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790551" y="2047577"/>
            <a:ext cx="582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实验室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25477" y="1961852"/>
            <a:ext cx="704850" cy="438150"/>
          </a:xfrm>
          <a:prstGeom prst="roundRect">
            <a:avLst>
              <a:gd name="adj" fmla="val 23188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787402" y="2047577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厕所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31828" y="1961852"/>
            <a:ext cx="895350" cy="438150"/>
          </a:xfrm>
          <a:prstGeom prst="roundRect">
            <a:avLst>
              <a:gd name="adj" fmla="val 23188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593753" y="2047577"/>
            <a:ext cx="582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办公室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2275" y="2501503"/>
            <a:ext cx="895350" cy="438150"/>
          </a:xfrm>
          <a:prstGeom prst="roundRect">
            <a:avLst>
              <a:gd name="adj" fmla="val 23188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84200" y="2587228"/>
            <a:ext cx="582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校医室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819126" y="2501503"/>
            <a:ext cx="895350" cy="438150"/>
          </a:xfrm>
          <a:prstGeom prst="roundRect">
            <a:avLst>
              <a:gd name="adj" fmla="val 23188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981051" y="2587228"/>
            <a:ext cx="582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音乐室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2275" y="3053953"/>
            <a:ext cx="4005518" cy="607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each word </a:t>
            </a:r>
            <a:r>
              <a:rPr lang="en-US" sz="11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at a time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class chorally names it in Chinese. Cold-call </a:t>
            </a:r>
            <a:r>
              <a:rPr lang="en-US" sz="11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student per word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for the English.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241280" y="1460302"/>
            <a:ext cx="6366570" cy="3315593"/>
          </a:xfrm>
          <a:prstGeom prst="roundRect">
            <a:avLst>
              <a:gd name="adj" fmla="val 383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479405" y="1647527"/>
            <a:ext cx="600812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 B · LOCATION WORD RECOGNITION (5 MIN)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79405" y="1961852"/>
            <a:ext cx="5890320" cy="469702"/>
          </a:xfrm>
          <a:prstGeom prst="roundRect">
            <a:avLst>
              <a:gd name="adj" fmla="val 21631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631805" y="2063353"/>
            <a:ext cx="56972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法语教室的</a:t>
            </a:r>
            <a:r>
              <a:rPr lang="en-US" sz="1500" b="1" u="sng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旁边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479405" y="2507754"/>
            <a:ext cx="5890320" cy="469702"/>
          </a:xfrm>
          <a:prstGeom prst="roundRect">
            <a:avLst>
              <a:gd name="adj" fmla="val 21631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631805" y="2609255"/>
            <a:ext cx="56972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音乐室的</a:t>
            </a:r>
            <a:r>
              <a:rPr lang="en-US" sz="1500" b="1" u="sng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隔壁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79405" y="3053655"/>
            <a:ext cx="5890320" cy="469702"/>
          </a:xfrm>
          <a:prstGeom prst="roundRect">
            <a:avLst>
              <a:gd name="adj" fmla="val 21631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631805" y="3155156"/>
            <a:ext cx="56972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教师办公室和校医室的</a:t>
            </a:r>
            <a:r>
              <a:rPr lang="en-US" sz="1500" b="1" u="sng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中间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479405" y="3599557"/>
            <a:ext cx="5890320" cy="469702"/>
          </a:xfrm>
          <a:prstGeom prst="roundRect">
            <a:avLst>
              <a:gd name="adj" fmla="val 21631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631805" y="3701058"/>
            <a:ext cx="56972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男厕所在</a:t>
            </a:r>
            <a:r>
              <a:rPr lang="en-US" sz="1500" b="1" u="sng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左边</a:t>
            </a: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，女厕所在</a:t>
            </a:r>
            <a:r>
              <a:rPr lang="en-US" sz="1500" b="1" u="sng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右边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479405" y="4183559"/>
            <a:ext cx="6008126" cy="405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Redisplay the four Text 2 sentences students already met. Cold call students to </a:t>
            </a:r>
            <a:r>
              <a:rPr lang="en-US" sz="11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 each highlighted word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into English.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84150" y="4902845"/>
            <a:ext cx="11023699" cy="732532"/>
          </a:xfrm>
          <a:prstGeom prst="rect">
            <a:avLst/>
          </a:prstGeom>
          <a:solidFill>
            <a:srgbClr val="E8EE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607963" y="4902845"/>
            <a:ext cx="0" cy="732532"/>
          </a:xfrm>
          <a:prstGeom prst="line">
            <a:avLst/>
          </a:prstGeom>
          <a:noFill/>
          <a:ln w="47625">
            <a:solidFill>
              <a:srgbClr val="3A5F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34926" y="5029795"/>
            <a:ext cx="10781169" cy="4786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"上节课我们在课文里看到了这些位置词，但是还没有自己练习用它们说句子。今天我们要专门练习——而且要小心一个很多同学会犯的</a:t>
            </a:r>
            <a:r>
              <a:rPr lang="en-US" sz="13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错误</a:t>
            </a: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。"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7950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5078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91976"/>
            <a:ext cx="7605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位置词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380530" y="1095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0130" y="91976"/>
            <a:ext cx="279958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 · 8–10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15901" y="1034355"/>
            <a:ext cx="1036340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15901" y="1393031"/>
            <a:ext cx="10363402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15901" y="2151757"/>
            <a:ext cx="10160198" cy="1162348"/>
          </a:xfrm>
          <a:prstGeom prst="rect">
            <a:avLst/>
          </a:prstGeom>
          <a:solidFill>
            <a:srgbClr val="E8EE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1039713" y="2151757"/>
            <a:ext cx="0" cy="1162348"/>
          </a:xfrm>
          <a:prstGeom prst="line">
            <a:avLst/>
          </a:prstGeom>
          <a:noFill/>
          <a:ln w="47625">
            <a:solidFill>
              <a:srgbClr val="3A5F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17427" y="2329458"/>
            <a:ext cx="97968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17427" y="2567583"/>
            <a:ext cx="9796867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say where something is using </a:t>
            </a:r>
            <a:r>
              <a:rPr lang="en-US" sz="16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旁边、隔壁、中间、左边、右边</a:t>
            </a:r>
            <a:r>
              <a:rPr lang="en-US" sz="16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the correct word order.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15901" y="3491805"/>
            <a:ext cx="10160198" cy="734913"/>
          </a:xfrm>
          <a:prstGeom prst="roundRect">
            <a:avLst>
              <a:gd name="adj" fmla="val 1382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228576" y="3628281"/>
            <a:ext cx="31089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711077" y="3628281"/>
            <a:ext cx="4590270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use </a:t>
            </a:r>
            <a:r>
              <a:rPr lang="en-US" sz="13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 在 Y 的 + location word</a:t>
            </a: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the correct order
</a:t>
            </a:r>
            <a:r>
              <a:rPr lang="en-US" sz="12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能正确使用"X在Y的……"的语序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15901" y="4341019"/>
            <a:ext cx="10160198" cy="734913"/>
          </a:xfrm>
          <a:prstGeom prst="roundRect">
            <a:avLst>
              <a:gd name="adj" fmla="val 1382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228576" y="4477494"/>
            <a:ext cx="31089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11077" y="4477494"/>
            <a:ext cx="6012680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find and correct the </a:t>
            </a:r>
            <a:r>
              <a:rPr lang="en-US" sz="13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common word-order error</a:t>
            </a: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with location words
</a:t>
            </a:r>
            <a:r>
              <a:rPr lang="en-US" sz="12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能找出并改正位置词的语序错误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15901" y="5190232"/>
            <a:ext cx="10160198" cy="734913"/>
          </a:xfrm>
          <a:prstGeom prst="roundRect">
            <a:avLst>
              <a:gd name="adj" fmla="val 1382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228576" y="5326707"/>
            <a:ext cx="31089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711077" y="5326707"/>
            <a:ext cx="5660341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describe where a room or facility is using a </a:t>
            </a:r>
            <a:r>
              <a:rPr lang="en-US" sz="13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complete sentence</a:t>
            </a: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
</a:t>
            </a:r>
            <a:r>
              <a:rPr lang="en-US" sz="12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能用完整句子说明教室或设施的位置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7950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5078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91976"/>
            <a:ext cx="7605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位置词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380530" y="1095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0130" y="91976"/>
            <a:ext cx="21141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Vocabulary Recap · 10–12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396901" y="846237"/>
            <a:ext cx="958616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10–12 MIN · I DO · ALREADY MET RECEPTIVELY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96901" y="1230362"/>
            <a:ext cx="9586162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位置词 · Location Words Recap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96901" y="1989088"/>
            <a:ext cx="9398198" cy="3190875"/>
          </a:xfrm>
          <a:prstGeom prst="roundRect">
            <a:avLst>
              <a:gd name="adj" fmla="val 3184"/>
            </a:avLst>
          </a:prstGeom>
          <a:noFill/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06426" y="1998613"/>
            <a:ext cx="9379148" cy="419100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1406426" y="2412950"/>
            <a:ext cx="937914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35026" y="2112913"/>
            <a:ext cx="28493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汉字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921026" y="2112913"/>
            <a:ext cx="28493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14976" y="2112913"/>
            <a:ext cx="54862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406426" y="2965400"/>
            <a:ext cx="937914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35026" y="2532013"/>
            <a:ext cx="46634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旁边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921026" y="2574875"/>
            <a:ext cx="7353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pángbiān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14976" y="2574875"/>
            <a:ext cx="1209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beside; next to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406426" y="3517850"/>
            <a:ext cx="937914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35026" y="3084463"/>
            <a:ext cx="46634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隔壁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921026" y="3127325"/>
            <a:ext cx="3450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gébì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714976" y="3127325"/>
            <a:ext cx="7763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door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406426" y="4070300"/>
            <a:ext cx="937914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35026" y="3636913"/>
            <a:ext cx="46634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中间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921026" y="3679775"/>
            <a:ext cx="762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zhōngjiān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714976" y="3679775"/>
            <a:ext cx="1303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between; centre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406426" y="4622750"/>
            <a:ext cx="937914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35026" y="4189363"/>
            <a:ext cx="46634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左边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3921026" y="4232225"/>
            <a:ext cx="6164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zuǒbiān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714976" y="4232225"/>
            <a:ext cx="6614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left side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635026" y="4741813"/>
            <a:ext cx="46634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右边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921026" y="4784675"/>
            <a:ext cx="6178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yòubiān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714976" y="4784675"/>
            <a:ext cx="7670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right side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396901" y="5383113"/>
            <a:ext cx="9398198" cy="730151"/>
          </a:xfrm>
          <a:prstGeom prst="roundRect">
            <a:avLst>
              <a:gd name="adj" fmla="val 13915"/>
            </a:avLst>
          </a:prstGeom>
          <a:solidFill>
            <a:srgbClr val="E6F1EE"/>
          </a:solidFill>
          <a:ln w="9525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635026" y="5519589"/>
            <a:ext cx="91003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</a:t>
            </a: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Already familiar from Lesson 3 &amp; Text 2</a:t>
            </a: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choral read all five once, then move straight to the grammar structure. No need to re-teach meaning.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7950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5078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91976"/>
            <a:ext cx="7605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位置词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380530" y="1095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0130" y="91976"/>
            <a:ext cx="20744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Sentence Pattern · 12–16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8950" y="558701"/>
            <a:ext cx="106223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12–16 MIN · I DO · KEY PATTERN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88950" y="866626"/>
            <a:ext cx="1062238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句型 · Key Sentence Pattern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88950" y="1485602"/>
            <a:ext cx="10414099" cy="984200"/>
          </a:xfrm>
          <a:prstGeom prst="rect">
            <a:avLst/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917525" y="1485602"/>
            <a:ext cx="0" cy="984200"/>
          </a:xfrm>
          <a:prstGeom prst="line">
            <a:avLst/>
          </a:prstGeom>
          <a:noFill/>
          <a:ln w="57150">
            <a:solidFill>
              <a:srgbClr val="3A5F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0001" y="1638002"/>
            <a:ext cx="100461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STRUCTURE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200001" y="1850678"/>
            <a:ext cx="1004613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X</a:t>
            </a:r>
            <a:r>
              <a:rPr lang="en-US" sz="2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在 </a:t>
            </a:r>
            <a:r>
              <a:rPr lang="en-US" sz="26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Y</a:t>
            </a:r>
            <a:r>
              <a:rPr lang="en-US" sz="2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的 + [位置词]。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888950" y="2596753"/>
            <a:ext cx="106223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MODELLED EXAMPLES · 例子（教师朗读，全班跟读）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88950" y="2904679"/>
            <a:ext cx="10414099" cy="726877"/>
          </a:xfrm>
          <a:prstGeom prst="roundRect">
            <a:avLst>
              <a:gd name="adj" fmla="val 1397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127075" y="3015704"/>
            <a:ext cx="101366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 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7075" y="3215729"/>
            <a:ext cx="1013660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汉语教室在法语教室的</a:t>
            </a:r>
            <a:r>
              <a:rPr lang="en-US" sz="17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旁边</a:t>
            </a: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88950" y="3720405"/>
            <a:ext cx="10414099" cy="726877"/>
          </a:xfrm>
          <a:prstGeom prst="roundRect">
            <a:avLst>
              <a:gd name="adj" fmla="val 1397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127075" y="3831431"/>
            <a:ext cx="101366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 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075" y="4031456"/>
            <a:ext cx="1013660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物理实验室在音乐室的</a:t>
            </a:r>
            <a:r>
              <a:rPr lang="en-US" sz="17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隔壁</a:t>
            </a: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88950" y="4536132"/>
            <a:ext cx="10414099" cy="726877"/>
          </a:xfrm>
          <a:prstGeom prst="roundRect">
            <a:avLst>
              <a:gd name="adj" fmla="val 1397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127075" y="4647158"/>
            <a:ext cx="101366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 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075" y="4847183"/>
            <a:ext cx="1013660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校长办公室在教师办公室和校医室的</a:t>
            </a:r>
            <a:r>
              <a:rPr lang="en-US" sz="17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中间</a:t>
            </a: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88950" y="5351859"/>
            <a:ext cx="10414099" cy="726877"/>
          </a:xfrm>
          <a:prstGeom prst="roundRect">
            <a:avLst>
              <a:gd name="adj" fmla="val 13978"/>
            </a:avLst>
          </a:prstGeom>
          <a:solidFill>
            <a:srgbClr val="F6E9E6"/>
          </a:solidFill>
          <a:ln w="9525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27075" y="5462885"/>
            <a:ext cx="101366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SILLY EXAMPLE — WAIT FOR REACTION!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075" y="5662910"/>
            <a:ext cx="1013660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校长办公室在</a:t>
            </a:r>
            <a:r>
              <a:rPr lang="en-US" sz="17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游泳池</a:t>
            </a: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</a:t>
            </a:r>
            <a:r>
              <a:rPr lang="en-US" sz="17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旁边</a:t>
            </a: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！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7950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5078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91976"/>
            <a:ext cx="7605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位置词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380530" y="1095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0130" y="91976"/>
            <a:ext cx="192291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Common Error · 16–18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43000" y="1373684"/>
            <a:ext cx="101041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16–18 MIN · I DO · EXPLICIT TEACHING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43000" y="1732359"/>
            <a:ext cx="10104120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⚠️ 最常见的错误 · The #1 Mistake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143000" y="2440186"/>
            <a:ext cx="9906000" cy="933152"/>
          </a:xfrm>
          <a:prstGeom prst="rect">
            <a:avLst/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1171575" y="2440186"/>
            <a:ext cx="0" cy="933152"/>
          </a:xfrm>
          <a:prstGeom prst="line">
            <a:avLst/>
          </a:prstGeom>
          <a:noFill/>
          <a:ln w="57150">
            <a:solidFill>
              <a:srgbClr val="C96A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54051" y="2617887"/>
            <a:ext cx="95278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 · THE RULE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54051" y="2843213"/>
            <a:ext cx="952786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位置词跟在参照物后面：X 在 Y 的 + 位置词。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143000" y="3551039"/>
            <a:ext cx="101041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COMPARE THE PAIR 对比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43000" y="3909715"/>
            <a:ext cx="4610100" cy="707827"/>
          </a:xfrm>
          <a:prstGeom prst="roundRect">
            <a:avLst>
              <a:gd name="adj" fmla="val 14354"/>
            </a:avLst>
          </a:prstGeom>
          <a:solidFill>
            <a:srgbClr val="F6E9E6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415951" y="4106466"/>
            <a:ext cx="239001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❌ 图书馆旁边在礼堂。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981700" y="4106466"/>
            <a:ext cx="23317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38900" y="3909715"/>
            <a:ext cx="4610100" cy="707827"/>
          </a:xfrm>
          <a:prstGeom prst="roundRect">
            <a:avLst>
              <a:gd name="adj" fmla="val 14354"/>
            </a:avLst>
          </a:prstGeom>
          <a:solidFill>
            <a:srgbClr val="E6F1EE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711851" y="4106466"/>
            <a:ext cx="262318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图书馆在礼堂的旁边。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4795242"/>
            <a:ext cx="9906000" cy="790575"/>
          </a:xfrm>
          <a:prstGeom prst="roundRect">
            <a:avLst>
              <a:gd name="adj" fmla="val 12851"/>
            </a:avLst>
          </a:prstGeom>
          <a:solidFill>
            <a:srgbClr val="F5ECDD"/>
          </a:solidFill>
          <a:ln w="9525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381125" y="4957167"/>
            <a:ext cx="7251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"位置词永远跟在'的'后面，不能放在句子最前面。"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81125" y="5223867"/>
            <a:ext cx="72517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This is the single most common mistake with this pattern — students must check word order every time.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7950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5078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91976"/>
            <a:ext cx="7605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位置词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380530" y="1095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0130" y="91976"/>
            <a:ext cx="21027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Checkpoints · 18–20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558701"/>
            <a:ext cx="1114064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18–20 MIN · CHECK FOR UNDERSTANDING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34901" y="866626"/>
            <a:ext cx="1114064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检查理解 · CFU Checkpoints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34901" y="1447502"/>
            <a:ext cx="3522166" cy="2390626"/>
          </a:xfrm>
          <a:prstGeom prst="roundRect">
            <a:avLst>
              <a:gd name="adj" fmla="val 5312"/>
            </a:avLst>
          </a:prstGeom>
          <a:solidFill>
            <a:srgbClr val="E8EEF4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1652" y="1644253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57858" y="1695004"/>
            <a:ext cx="790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31652" y="2075855"/>
            <a:ext cx="31912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GESTURE CHECK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1652" y="2339280"/>
            <a:ext cx="31912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哪个对？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31652" y="2726531"/>
            <a:ext cx="3191238" cy="883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the ❌ / ✅ pair from the rule slide: </a:t>
            </a:r>
            <a:r>
              <a:rPr lang="en-US" sz="13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图书馆旁边在礼堂。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vs </a:t>
            </a: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图书馆在礼堂的旁边。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"哪个对？举手指。" Every student points at the correct sentence.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334768" y="1447502"/>
            <a:ext cx="3522315" cy="2390626"/>
          </a:xfrm>
          <a:prstGeom prst="roundRect">
            <a:avLst>
              <a:gd name="adj" fmla="val 5312"/>
            </a:avLst>
          </a:prstGeom>
          <a:solidFill>
            <a:srgbClr val="E6F1EE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531519" y="1644253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657725" y="1695004"/>
            <a:ext cx="790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31519" y="2075855"/>
            <a:ext cx="31913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31519" y="2339280"/>
            <a:ext cx="319139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用'隔壁'说一句话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31519" y="2726531"/>
            <a:ext cx="3191390" cy="607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"Alex, 用'隔壁'说一句话，说说体育馆在哪儿。" Accept any grammatically correct sentence using </a:t>
            </a:r>
            <a:r>
              <a:rPr lang="en-US" sz="11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 在 Y 的隔壁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34784" y="1447502"/>
            <a:ext cx="3522315" cy="2390626"/>
          </a:xfrm>
          <a:prstGeom prst="roundRect">
            <a:avLst>
              <a:gd name="adj" fmla="val 5312"/>
            </a:avLst>
          </a:prstGeom>
          <a:solidFill>
            <a:srgbClr val="F6E9E6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231535" y="1644253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357741" y="1695004"/>
            <a:ext cx="790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31535" y="2075855"/>
            <a:ext cx="31913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ERROR CORRECTION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31535" y="2339280"/>
            <a:ext cx="319139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Spot the Mistake!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31535" y="2726531"/>
            <a:ext cx="3191390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projects: </a:t>
            </a:r>
            <a:r>
              <a:rPr lang="en-US" sz="13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餐厅左边在图书馆。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"这句话有错误。大家一起说正确的！"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31535" y="3269903"/>
            <a:ext cx="3128814" cy="371475"/>
          </a:xfrm>
          <a:prstGeom prst="roundRect">
            <a:avLst>
              <a:gd name="adj" fmla="val 27351"/>
            </a:avLst>
          </a:prstGeom>
          <a:noFill/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402985" y="3365153"/>
            <a:ext cx="284163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4901" y="3965079"/>
            <a:ext cx="10922198" cy="666750"/>
          </a:xfrm>
          <a:prstGeom prst="roundRect">
            <a:avLst>
              <a:gd name="adj" fmla="val 15238"/>
            </a:avLst>
          </a:prstGeom>
          <a:solidFill>
            <a:srgbClr val="F5ECDD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82551" y="4098429"/>
            <a:ext cx="1063543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note: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Aim for 100% participation in checks 1 and 3 — every student must point / call out. For cold call, pre-identify a few students who need a stretch to use 中间 with two named reference points.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7950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5078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91976"/>
            <a:ext cx="7605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位置词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380530" y="1095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0130" y="91976"/>
            <a:ext cx="12851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Answers ↳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43000" y="2038499"/>
            <a:ext cx="101041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43000" y="2397175"/>
            <a:ext cx="10104120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CFU Checkpoints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143000" y="3155900"/>
            <a:ext cx="9906000" cy="1765102"/>
          </a:xfrm>
          <a:prstGeom prst="roundRect">
            <a:avLst>
              <a:gd name="adj" fmla="val 719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31875" y="3394025"/>
            <a:ext cx="431750" cy="431750"/>
          </a:xfrm>
          <a:prstGeom prst="roundRect">
            <a:avLst>
              <a:gd name="adj" fmla="val 211789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583382" y="3466951"/>
            <a:ext cx="13131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092226" y="3394025"/>
            <a:ext cx="8554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Error Correction — spot the mistake in: </a:t>
            </a:r>
            <a:r>
              <a:rPr lang="en-US" sz="1300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餐厅左边在图书馆。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092226" y="3724126"/>
            <a:ext cx="8386911" cy="958751"/>
          </a:xfrm>
          <a:prstGeom prst="roundRect">
            <a:avLst>
              <a:gd name="adj" fmla="val 10597"/>
            </a:avLst>
          </a:prstGeom>
          <a:solidFill>
            <a:srgbClr val="F5ECDD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339876" y="3870127"/>
            <a:ext cx="804944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餐厅</a:t>
            </a:r>
            <a:r>
              <a:rPr lang="en-US" sz="22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在图书馆的左边</a:t>
            </a:r>
            <a:r>
              <a:rPr lang="en-US" sz="22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！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339876" y="4336852"/>
            <a:ext cx="80494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左边 moves from the front of the sentence to after 图书馆的 — the location word always follows the reference point.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950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5078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60275"/>
            <a:ext cx="7605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位置词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380530" y="1095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0130" y="91976"/>
            <a:ext cx="21900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Activity 1 改错句 · 20–27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2000" y="558701"/>
            <a:ext cx="108813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20–27 MIN · WE DO · 7 MIN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2000" y="853976"/>
            <a:ext cx="1088136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活动一 · 改错句 Guided Error Correction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2000" y="1422202"/>
            <a:ext cx="10668000" cy="3939034"/>
          </a:xfrm>
          <a:prstGeom prst="roundRect">
            <a:avLst>
              <a:gd name="adj" fmla="val 3869"/>
            </a:avLst>
          </a:prstGeom>
          <a:solidFill>
            <a:srgbClr val="F4F2EE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09650" y="1644402"/>
            <a:ext cx="10172700" cy="301526"/>
          </a:xfrm>
          <a:prstGeom prst="roundRect">
            <a:avLst>
              <a:gd name="adj" fmla="val 4207697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212800" y="1695152"/>
            <a:ext cx="996172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MODEL → TURN &amp; TALK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9650" y="2072878"/>
            <a:ext cx="5010150" cy="764977"/>
          </a:xfrm>
          <a:prstGeom prst="roundRect">
            <a:avLst>
              <a:gd name="adj" fmla="val 13281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87351" y="2199829"/>
            <a:ext cx="47478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· TEACHER MODELS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87351" y="2425154"/>
            <a:ext cx="474784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图书馆旁边在礼堂。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172200" y="2072878"/>
            <a:ext cx="5010150" cy="764977"/>
          </a:xfrm>
          <a:prstGeom prst="roundRect">
            <a:avLst>
              <a:gd name="adj" fmla="val 13281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349901" y="2199829"/>
            <a:ext cx="47478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· TEACHER MODELS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349901" y="2425154"/>
            <a:ext cx="474784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实验室隔壁在音乐室。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09650" y="2990255"/>
            <a:ext cx="5010150" cy="764977"/>
          </a:xfrm>
          <a:prstGeom prst="roundRect">
            <a:avLst>
              <a:gd name="adj" fmla="val 13281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187351" y="3117205"/>
            <a:ext cx="47478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· TURN &amp; TALK (2 MIN)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87351" y="3342531"/>
            <a:ext cx="474784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校长办公室中间在教师办公室和校医室。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72200" y="2990255"/>
            <a:ext cx="5010150" cy="764977"/>
          </a:xfrm>
          <a:prstGeom prst="roundRect">
            <a:avLst>
              <a:gd name="adj" fmla="val 13281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349901" y="3117205"/>
            <a:ext cx="47478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· TURN &amp; TALK (2 MIN)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49901" y="3342531"/>
            <a:ext cx="474784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男厕所左边在女厕所。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09650" y="3882182"/>
            <a:ext cx="10172700" cy="371475"/>
          </a:xfrm>
          <a:prstGeom prst="roundRect">
            <a:avLst>
              <a:gd name="adj" fmla="val 27351"/>
            </a:avLst>
          </a:prstGeom>
          <a:noFill/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082802" y="3977432"/>
            <a:ext cx="100263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Corrected sentences on next slide →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09650" y="4380607"/>
            <a:ext cx="5022800" cy="758428"/>
          </a:xfrm>
          <a:prstGeom prst="roundRect">
            <a:avLst>
              <a:gd name="adj" fmla="val 13396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162050" y="4482108"/>
            <a:ext cx="48123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62050" y="4682133"/>
            <a:ext cx="4812360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Keep the rule (X 在 Y 的 + 位置词) projected throughout as a checklist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59401" y="4380607"/>
            <a:ext cx="5022949" cy="758428"/>
          </a:xfrm>
          <a:prstGeom prst="roundRect">
            <a:avLst>
              <a:gd name="adj" fmla="val 13396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311801" y="4482108"/>
            <a:ext cx="481251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311801" y="4682133"/>
            <a:ext cx="4812512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fixing each sentence, state the reference point (Y) aloud: "参照物是'礼堂'。"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7950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5078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91976"/>
            <a:ext cx="7605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位置词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380530" y="1095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0130" y="91976"/>
            <a:ext cx="16976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Activity 1 Answers ↳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8950" y="1359396"/>
            <a:ext cx="106223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88950" y="1692771"/>
            <a:ext cx="1062238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改错句 Corrections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88950" y="2388096"/>
            <a:ext cx="5118199" cy="1517154"/>
          </a:xfrm>
          <a:prstGeom prst="roundRect">
            <a:avLst>
              <a:gd name="adj" fmla="val 8371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127075" y="2575322"/>
            <a:ext cx="47347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· TEACHER MODELLED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075" y="2800648"/>
            <a:ext cx="47347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图书馆旁边在礼堂。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27075" y="3130748"/>
            <a:ext cx="4734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27075" y="3403699"/>
            <a:ext cx="473478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图书馆在礼堂的旁边。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184850" y="2388096"/>
            <a:ext cx="5118199" cy="1517154"/>
          </a:xfrm>
          <a:prstGeom prst="roundRect">
            <a:avLst>
              <a:gd name="adj" fmla="val 8371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422975" y="2575322"/>
            <a:ext cx="47347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· TEACHER MODELLED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22975" y="2800648"/>
            <a:ext cx="47347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实验室隔壁在音乐室。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22975" y="3130748"/>
            <a:ext cx="4734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2975" y="3403699"/>
            <a:ext cx="473478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实验室在音乐室的隔壁。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8950" y="4082951"/>
            <a:ext cx="5118199" cy="1517154"/>
          </a:xfrm>
          <a:prstGeom prst="roundRect">
            <a:avLst>
              <a:gd name="adj" fmla="val 8371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127075" y="4270177"/>
            <a:ext cx="47347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· TURN &amp; TALK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075" y="4495502"/>
            <a:ext cx="47347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校长办公室中间在教师办公室和校医室。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27075" y="4825603"/>
            <a:ext cx="4734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27075" y="5098554"/>
            <a:ext cx="473478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校长办公室在教师办公室和校医室的中间。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184850" y="4082951"/>
            <a:ext cx="5118199" cy="1517154"/>
          </a:xfrm>
          <a:prstGeom prst="roundRect">
            <a:avLst>
              <a:gd name="adj" fmla="val 8371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422975" y="4270177"/>
            <a:ext cx="47347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· TURN &amp; TALK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22975" y="4495502"/>
            <a:ext cx="47347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男厕所左边在女厕所。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422975" y="4825603"/>
            <a:ext cx="4734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22975" y="5098554"/>
            <a:ext cx="473478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男厕所在女厕所的左边。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950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5078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91976"/>
            <a:ext cx="7605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位置词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380530" y="1095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0130" y="91976"/>
            <a:ext cx="18561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Activity 2 · 27–36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533251"/>
            <a:ext cx="1114064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27–36 MIN · YOU DO · WRITING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34901" y="815727"/>
            <a:ext cx="11140642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活动二 · 位置词造句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34901" y="1333054"/>
            <a:ext cx="5588198" cy="3078956"/>
          </a:xfrm>
          <a:prstGeom prst="roundRect">
            <a:avLst>
              <a:gd name="adj" fmla="val 4950"/>
            </a:avLst>
          </a:prstGeom>
          <a:solidFill>
            <a:srgbClr val="F4F2EE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57101" y="1504504"/>
            <a:ext cx="2805857" cy="282476"/>
          </a:xfrm>
          <a:prstGeom prst="roundRect">
            <a:avLst>
              <a:gd name="adj" fmla="val 4491461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60252" y="1555254"/>
            <a:ext cx="244754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WRITE → PEER-CHECK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57101" y="1888480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45505" y="1921818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87202" y="1888480"/>
            <a:ext cx="4667083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models one example live: </a:t>
            </a:r>
            <a:r>
              <a:rPr lang="en-US" sz="11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我们学校的图书馆在体育馆的旁边。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57101" y="2193280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35087" y="2226618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87202" y="2193280"/>
            <a:ext cx="4909971" cy="37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Individual writing (5 min): </a:t>
            </a:r>
            <a:r>
              <a:rPr lang="en-US" sz="11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sentences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one per location word, each following X 在 Y 的 + location word exactly.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57101" y="2646611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34789" y="2679948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87202" y="2646611"/>
            <a:ext cx="4909971" cy="37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Peer-check (2 min): swap books — neighbour </a:t>
            </a:r>
            <a:r>
              <a:rPr lang="en-US" sz="11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circles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any word-order errors in pencil, without fixing them.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7101" y="3099941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34343" y="3133279"/>
            <a:ext cx="754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87202" y="3099941"/>
            <a:ext cx="3115639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</a:t>
            </a:r>
            <a:r>
              <a:rPr lang="en-US" sz="11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self-correct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any circled sentences.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7101" y="3430042"/>
            <a:ext cx="2521148" cy="810518"/>
          </a:xfrm>
          <a:prstGeom prst="roundRect">
            <a:avLst>
              <a:gd name="adj" fmla="val 12535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84052" y="3518892"/>
            <a:ext cx="231259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4052" y="3706118"/>
            <a:ext cx="2312593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Gap-fill frame per sentence, location word already given for each of the 5 lines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479750" y="3430042"/>
            <a:ext cx="2521148" cy="810518"/>
          </a:xfrm>
          <a:prstGeom prst="roundRect">
            <a:avLst>
              <a:gd name="adj" fmla="val 12535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606701" y="3518892"/>
            <a:ext cx="231259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606701" y="3706118"/>
            <a:ext cx="2312593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unaided (no gap-fill) + add one 中间 sentence with two named reference points (X 在 Y 和 Z 的中间)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477000" y="1333054"/>
            <a:ext cx="5080099" cy="707975"/>
          </a:xfrm>
          <a:prstGeom prst="rect">
            <a:avLst/>
          </a:prstGeom>
          <a:solidFill>
            <a:srgbClr val="E8EE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6500813" y="1333054"/>
            <a:ext cx="0" cy="707975"/>
          </a:xfrm>
          <a:prstGeom prst="line">
            <a:avLst/>
          </a:prstGeom>
          <a:noFill/>
          <a:ln w="47625">
            <a:solidFill>
              <a:srgbClr val="3A5F8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02326" y="1447354"/>
            <a:ext cx="47706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MODEL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702326" y="1660029"/>
            <a:ext cx="477061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我们学校的图书馆在体育馆的旁边。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77000" y="2167979"/>
            <a:ext cx="5080099" cy="758726"/>
          </a:xfrm>
          <a:prstGeom prst="roundRect">
            <a:avLst>
              <a:gd name="adj" fmla="val 13391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654701" y="2294930"/>
            <a:ext cx="48191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 (SCAFFOLD)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654701" y="2533055"/>
            <a:ext cx="4819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我们学校的</a:t>
            </a:r>
            <a:r>
              <a:rPr lang="en-US" sz="15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____</a:t>
            </a: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在</a:t>
            </a:r>
            <a:r>
              <a:rPr lang="en-US" sz="15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____</a:t>
            </a: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</a:t>
            </a:r>
            <a:r>
              <a:rPr lang="en-US" sz="15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____</a:t>
            </a: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477000" y="3053655"/>
            <a:ext cx="51817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· L1–L3 FACILITIES VOCABULARY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77000" y="3291780"/>
            <a:ext cx="730151" cy="330101"/>
          </a:xfrm>
          <a:prstGeom prst="roundRect">
            <a:avLst>
              <a:gd name="adj" fmla="val 30779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613475" y="3352056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283351" y="3291780"/>
            <a:ext cx="577751" cy="330101"/>
          </a:xfrm>
          <a:prstGeom prst="roundRect">
            <a:avLst>
              <a:gd name="adj" fmla="val 30779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419826" y="3352056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礼堂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937302" y="3291780"/>
            <a:ext cx="577751" cy="330101"/>
          </a:xfrm>
          <a:prstGeom prst="roundRect">
            <a:avLst>
              <a:gd name="adj" fmla="val 30779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073777" y="3352056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操场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591252" y="3291780"/>
            <a:ext cx="730151" cy="330101"/>
          </a:xfrm>
          <a:prstGeom prst="roundRect">
            <a:avLst>
              <a:gd name="adj" fmla="val 30779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8727728" y="3352056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体育馆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9397603" y="3291780"/>
            <a:ext cx="730151" cy="330101"/>
          </a:xfrm>
          <a:prstGeom prst="roundRect">
            <a:avLst>
              <a:gd name="adj" fmla="val 30779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9534079" y="3352056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篮球场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203954" y="3291780"/>
            <a:ext cx="730151" cy="330101"/>
          </a:xfrm>
          <a:prstGeom prst="roundRect">
            <a:avLst>
              <a:gd name="adj" fmla="val 30779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10340429" y="3352056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足球场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477000" y="3698081"/>
            <a:ext cx="577751" cy="330101"/>
          </a:xfrm>
          <a:prstGeom prst="roundRect">
            <a:avLst>
              <a:gd name="adj" fmla="val 30779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613475" y="3758357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餐厅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130951" y="3698081"/>
            <a:ext cx="730151" cy="330101"/>
          </a:xfrm>
          <a:prstGeom prst="roundRect">
            <a:avLst>
              <a:gd name="adj" fmla="val 30779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267426" y="3758357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游泳池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937302" y="3698081"/>
            <a:ext cx="730151" cy="330101"/>
          </a:xfrm>
          <a:prstGeom prst="roundRect">
            <a:avLst>
              <a:gd name="adj" fmla="val 30779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073777" y="3758357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停车场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8743652" y="3698081"/>
            <a:ext cx="577751" cy="330101"/>
          </a:xfrm>
          <a:prstGeom prst="roundRect">
            <a:avLst>
              <a:gd name="adj" fmla="val 30779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880128" y="3758357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教室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9397603" y="3698081"/>
            <a:ext cx="730151" cy="330101"/>
          </a:xfrm>
          <a:prstGeom prst="roundRect">
            <a:avLst>
              <a:gd name="adj" fmla="val 30779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9534079" y="3758357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实验室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10203954" y="3698081"/>
            <a:ext cx="577751" cy="330101"/>
          </a:xfrm>
          <a:prstGeom prst="roundRect">
            <a:avLst>
              <a:gd name="adj" fmla="val 30779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10340429" y="3758357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厕所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6477000" y="4104382"/>
            <a:ext cx="730151" cy="330101"/>
          </a:xfrm>
          <a:prstGeom prst="roundRect">
            <a:avLst>
              <a:gd name="adj" fmla="val 30779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6613475" y="4164657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办公室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7283351" y="4104382"/>
            <a:ext cx="730151" cy="330101"/>
          </a:xfrm>
          <a:prstGeom prst="roundRect">
            <a:avLst>
              <a:gd name="adj" fmla="val 30779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419826" y="4164657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音乐室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8089702" y="4104382"/>
            <a:ext cx="730151" cy="330101"/>
          </a:xfrm>
          <a:prstGeom prst="roundRect">
            <a:avLst>
              <a:gd name="adj" fmla="val 30779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226177" y="4164657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校医室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07950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5078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91976"/>
            <a:ext cx="7605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位置词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380530" y="1095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0130" y="91976"/>
            <a:ext cx="195645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改错句接力赛 · 36–43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4150" y="558701"/>
            <a:ext cx="1124417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36–43 MIN · GAME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84150" y="853976"/>
            <a:ext cx="1124417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改错句接力赛 · Error-Fixing Relay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84150" y="1422202"/>
            <a:ext cx="6087219" cy="673001"/>
          </a:xfrm>
          <a:prstGeom prst="roundRect">
            <a:avLst>
              <a:gd name="adj" fmla="val 18871"/>
            </a:avLst>
          </a:prstGeom>
          <a:solidFill>
            <a:srgbClr val="F4F2EE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06351" y="1593652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37022" y="1653927"/>
            <a:ext cx="7013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314152" y="1601539"/>
            <a:ext cx="209854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操场旁边在游泳池。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84150" y="2209502"/>
            <a:ext cx="6087219" cy="673001"/>
          </a:xfrm>
          <a:prstGeom prst="roundRect">
            <a:avLst>
              <a:gd name="adj" fmla="val 18871"/>
            </a:avLst>
          </a:prstGeom>
          <a:solidFill>
            <a:srgbClr val="F4F2EE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06351" y="2380952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23032" y="2441228"/>
            <a:ext cx="985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14152" y="2388840"/>
            <a:ext cx="233172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校医室隔壁在办公室。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84150" y="2996803"/>
            <a:ext cx="6087219" cy="673001"/>
          </a:xfrm>
          <a:prstGeom prst="roundRect">
            <a:avLst>
              <a:gd name="adj" fmla="val 18871"/>
            </a:avLst>
          </a:prstGeom>
          <a:solidFill>
            <a:srgbClr val="F4F2EE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06351" y="3168253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22734" y="3228529"/>
            <a:ext cx="992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314152" y="3176141"/>
            <a:ext cx="233172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停车场左边在教学楼。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84150" y="3784104"/>
            <a:ext cx="6087219" cy="352425"/>
          </a:xfrm>
          <a:prstGeom prst="roundRect">
            <a:avLst>
              <a:gd name="adj" fmla="val 28829"/>
            </a:avLst>
          </a:prstGeom>
          <a:noFill/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23964" y="3879354"/>
            <a:ext cx="58075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Corrected sentences on next slide → (repeat in this style for rounds 4–8)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925270" y="1422202"/>
            <a:ext cx="4682579" cy="1723132"/>
          </a:xfrm>
          <a:prstGeom prst="roundRect">
            <a:avLst>
              <a:gd name="adj" fmla="val 737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112496" y="1558677"/>
            <a:ext cx="43942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PLAY — 6–8 ROUNDS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112496" y="1815852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178278" y="1833265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366397" y="1815852"/>
            <a:ext cx="2014752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Divide the class into 3–4 teams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12496" y="2031653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169051" y="2049066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366397" y="2031653"/>
            <a:ext cx="4135311" cy="342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one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</a:t>
            </a: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error sentence at a time (not reused from Activity 1)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112496" y="2412355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168753" y="2429768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366397" y="2412355"/>
            <a:ext cx="4135311" cy="342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team's student says the corrected sentence within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 seconds</a:t>
            </a: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Correct = 1 point; wrong/slow = next team may steal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112496" y="2793057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7168455" y="2810470"/>
            <a:ext cx="670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366397" y="2793057"/>
            <a:ext cx="3457655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6–8 rounds, keep score on the board or projector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925270" y="3246834"/>
            <a:ext cx="4682579" cy="885527"/>
          </a:xfrm>
          <a:prstGeom prst="roundRect">
            <a:avLst>
              <a:gd name="adj" fmla="val 1434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112496" y="3383310"/>
            <a:ext cx="43942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12496" y="3640485"/>
            <a:ext cx="4394290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may repeat the sentence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once</a:t>
            </a: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if a student mishears it before the 10-second timer starts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925270" y="4233863"/>
            <a:ext cx="4682579" cy="885527"/>
          </a:xfrm>
          <a:prstGeom prst="roundRect">
            <a:avLst>
              <a:gd name="adj" fmla="val 1434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112496" y="4370338"/>
            <a:ext cx="43942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112496" y="4627513"/>
            <a:ext cx="4394290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Winning students must add the reference-point ID for a bonus point: "参照物是'游泳池'。"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950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5078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91976"/>
            <a:ext cx="7605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位置词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380530" y="1095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0130" y="91976"/>
            <a:ext cx="11005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Answers ↳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15901" y="1614636"/>
            <a:ext cx="1036340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15901" y="1948011"/>
            <a:ext cx="1036340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改错句接力赛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015901" y="2643336"/>
            <a:ext cx="10160198" cy="679400"/>
          </a:xfrm>
          <a:prstGeom prst="roundRect">
            <a:avLst>
              <a:gd name="adj" fmla="val 18693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254026" y="2805261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94520" y="2868662"/>
            <a:ext cx="75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12727" y="2849612"/>
            <a:ext cx="174879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操场旁边在游泳池。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704927" y="2878187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35028" y="2830562"/>
            <a:ext cx="248003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操场在游泳池的旁边。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15901" y="3449687"/>
            <a:ext cx="10160198" cy="679400"/>
          </a:xfrm>
          <a:prstGeom prst="roundRect">
            <a:avLst>
              <a:gd name="adj" fmla="val 18693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254026" y="3611612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379637" y="3675013"/>
            <a:ext cx="106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812727" y="3655963"/>
            <a:ext cx="1943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校医室隔壁在办公室。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895427" y="3684538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25528" y="3636913"/>
            <a:ext cx="270030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校医室在办公室的隔壁。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15901" y="4256038"/>
            <a:ext cx="10160198" cy="679400"/>
          </a:xfrm>
          <a:prstGeom prst="roundRect">
            <a:avLst>
              <a:gd name="adj" fmla="val 18693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254026" y="4417963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379190" y="4481364"/>
            <a:ext cx="1073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812727" y="4462314"/>
            <a:ext cx="1943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停车场左边在教学楼。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895427" y="4490889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225528" y="4443264"/>
            <a:ext cx="270030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停车场在教学楼的左边。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015901" y="5164038"/>
            <a:ext cx="1036340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Teacher: prepare rounds 4–8 in this same style (new sentences, not reused from Activity 1) before the lesson.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7950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5078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91976"/>
            <a:ext cx="7605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位置词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380530" y="10953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0130" y="91976"/>
            <a:ext cx="11865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25301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2000" y="1577132"/>
            <a:ext cx="108813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2000" y="1910507"/>
            <a:ext cx="1088136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62000" y="2580382"/>
            <a:ext cx="5207050" cy="2802136"/>
          </a:xfrm>
          <a:prstGeom prst="roundRect">
            <a:avLst>
              <a:gd name="adj" fmla="val 5439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09650" y="2802582"/>
            <a:ext cx="48059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9650" y="3116907"/>
            <a:ext cx="480598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Hold up fingers: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完全可以 ·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差不多 ·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还不行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9650" y="3412182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E6F1EE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99989" y="3458170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314301" y="3412182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F5ECDD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404938" y="3458170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618952" y="3412182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F6E9E6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720007" y="3458170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999804" y="3444776"/>
            <a:ext cx="3468434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X 在 Y 的 + location word in the correct order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9650" y="376758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E6F1EE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099989" y="3813572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314301" y="376758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F5ECDD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404938" y="3813572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618952" y="376758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F6E9E6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720007" y="3813572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999804" y="3800177"/>
            <a:ext cx="3268507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Find and correct the common word-order error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9650" y="4184600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E6F1EE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099989" y="4230588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314301" y="4184600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F5ECDD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404938" y="4230588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618952" y="4184600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F6E9E6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720007" y="4230588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9804" y="4122986"/>
            <a:ext cx="3796028" cy="37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Describe where a room/facility is in a complete sentence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09650" y="4614416"/>
            <a:ext cx="4711750" cy="545902"/>
          </a:xfrm>
          <a:prstGeom prst="roundRect">
            <a:avLst>
              <a:gd name="adj" fmla="val 18611"/>
            </a:avLst>
          </a:prstGeom>
          <a:solidFill>
            <a:srgbClr val="F6E9E6"/>
          </a:solidFill>
          <a:ln w="9525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171575" y="4725442"/>
            <a:ext cx="447565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Note:</a:t>
            </a: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flag any students showing 1 finger on criterion 2 (error correction) for next lesson's review.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22950" y="2580382"/>
            <a:ext cx="5207050" cy="2802136"/>
          </a:xfrm>
          <a:prstGeom prst="roundRect">
            <a:avLst>
              <a:gd name="adj" fmla="val 5439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470600" y="2802582"/>
            <a:ext cx="48059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70600" y="3116907"/>
            <a:ext cx="4711750" cy="828675"/>
          </a:xfrm>
          <a:prstGeom prst="rect">
            <a:avLst/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6494413" y="3116907"/>
            <a:ext cx="0" cy="828675"/>
          </a:xfrm>
          <a:prstGeom prst="line">
            <a:avLst/>
          </a:prstGeom>
          <a:noFill/>
          <a:ln w="47625">
            <a:solidFill>
              <a:srgbClr val="2E7D6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21376" y="3269307"/>
            <a:ext cx="43429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 — WRITE IN EXERCISE BOOK (2 MIN)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721376" y="3507432"/>
            <a:ext cx="43429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我最喜欢的地方是</a:t>
            </a:r>
            <a:r>
              <a:rPr lang="en-US" sz="16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____</a:t>
            </a:r>
            <a:r>
              <a:rPr lang="en-US" sz="1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，它在</a:t>
            </a:r>
            <a:r>
              <a:rPr lang="en-US" sz="16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____</a:t>
            </a:r>
            <a:r>
              <a:rPr lang="en-US" sz="1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</a:t>
            </a:r>
            <a:r>
              <a:rPr lang="en-US" sz="16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____</a:t>
            </a:r>
            <a:r>
              <a:rPr lang="en-US" sz="1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470600" y="4059882"/>
            <a:ext cx="4805985" cy="3679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</a:t>
            </a:r>
            <a:r>
              <a:rPr lang="en-US" sz="10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sentence</a:t>
            </a: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describing where your favourite school facility is, using a location word.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70600" y="4618286"/>
            <a:ext cx="1341834" cy="212527"/>
          </a:xfrm>
          <a:prstGeom prst="roundRect">
            <a:avLst>
              <a:gd name="adj" fmla="val 5969736"/>
            </a:avLst>
          </a:prstGeom>
          <a:solidFill>
            <a:srgbClr val="E6F1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597551" y="4643586"/>
            <a:ext cx="11096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word order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888635" y="4618286"/>
            <a:ext cx="1276796" cy="212527"/>
          </a:xfrm>
          <a:prstGeom prst="roundRect">
            <a:avLst>
              <a:gd name="adj" fmla="val 5969736"/>
            </a:avLst>
          </a:prstGeom>
          <a:solidFill>
            <a:srgbClr val="E6F1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8015585" y="4643586"/>
            <a:ext cx="10433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 在 Y 的 + 位置词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7950" y="6664375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51961" y="824210"/>
            <a:ext cx="2488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4 COMPLETE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760815" y="1230511"/>
            <a:ext cx="670370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52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3412549" y="2332137"/>
            <a:ext cx="536690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今天学了 · What We Covered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175645" y="3005138"/>
            <a:ext cx="784056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600"/>
              </a:spcAft>
              <a:buNone/>
            </a:pPr>
            <a:r>
              <a:rPr lang="en-US" sz="14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location words · pattern X在Y的+位置词 · the #1 word-order error, spotted &amp; corrected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43000" y="3582888"/>
            <a:ext cx="9906000" cy="1971377"/>
          </a:xfrm>
          <a:prstGeom prst="roundRect">
            <a:avLst>
              <a:gd name="adj" fmla="val 9019"/>
            </a:avLst>
          </a:prstGeom>
          <a:solidFill>
            <a:srgbClr val="F4F2EE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503756" y="3855839"/>
            <a:ext cx="918448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下一课 · NEXT LESSON (L5)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503756" y="4138315"/>
            <a:ext cx="918448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下一课，我们要学更多位置词——</a:t>
            </a:r>
            <a:r>
              <a:rPr lang="en-US" sz="15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上面、下面、前面、后面、对面、楼上、楼下</a:t>
            </a:r>
            <a:r>
              <a:rPr lang="en-US" sz="15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——用来描述教室里的东西和整栋楼的布局。</a:t>
            </a:r>
            <a:endParaRPr lang="en-US" sz="1500" dirty="0"/>
          </a:p>
          <a:p>
            <a:pPr algn="ctr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lesson: more location words to describe things inside the classroom and the layout of the whole building.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25415" y="5833616"/>
            <a:ext cx="78558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80277" y="5833616"/>
            <a:ext cx="740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·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19829" y="5833616"/>
            <a:ext cx="11732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 3 · 学校设施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558600" y="5833616"/>
            <a:ext cx="740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·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800281" y="5833616"/>
            <a:ext cx="95606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4 of 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923949" y="5833616"/>
            <a:ext cx="740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·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155167" y="5833616"/>
            <a:ext cx="202340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3 · p.75–76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2026-07-18T06:17:17Z</dcterms:created>
  <dcterms:modified xsi:type="dcterms:W3CDTF">2026-07-18T06:17:17Z</dcterms:modified>
</cp:coreProperties>
</file>