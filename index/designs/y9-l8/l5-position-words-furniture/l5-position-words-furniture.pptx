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69079" y="1805136"/>
            <a:ext cx="80536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3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OF 8 · Y9 UNIT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069079" y="2287637"/>
            <a:ext cx="8053694" cy="11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00"/>
              </a:lnSpc>
              <a:spcAft>
                <a:spcPts val="1200"/>
              </a:spcAft>
              <a:buNone/>
            </a:pPr>
            <a:r>
              <a:rPr lang="en-US" sz="8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上下</a:t>
            </a:r>
            <a:pPr algn="ctr" indent="0" marL="0">
              <a:lnSpc>
                <a:spcPts val="8800"/>
              </a:lnSpc>
              <a:spcAft>
                <a:spcPts val="1200"/>
              </a:spcAft>
              <a:buNone/>
            </a:pPr>
            <a:r>
              <a:rPr lang="en-US" sz="88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ctr" indent="0" marL="0">
              <a:lnSpc>
                <a:spcPts val="8800"/>
              </a:lnSpc>
              <a:spcAft>
                <a:spcPts val="1200"/>
              </a:spcAft>
              <a:buNone/>
            </a:pPr>
            <a:r>
              <a:rPr lang="en-US" sz="8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前后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2069079" y="3557588"/>
            <a:ext cx="80536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2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Extended Position Words + Furniture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89550" y="4278213"/>
            <a:ext cx="812750" cy="38100"/>
          </a:xfrm>
          <a:prstGeom prst="roundRect">
            <a:avLst>
              <a:gd name="adj" fmla="val 66667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48036" y="4646414"/>
            <a:ext cx="1652885" cy="406301"/>
          </a:xfrm>
          <a:prstGeom prst="roundRect">
            <a:avLst>
              <a:gd name="adj" fmla="val 312263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74395" y="4744789"/>
            <a:ext cx="12001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8622" y="4646414"/>
            <a:ext cx="1088529" cy="406301"/>
          </a:xfrm>
          <a:prstGeom prst="roundRect">
            <a:avLst>
              <a:gd name="adj" fmla="val 312263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10624" y="4744789"/>
            <a:ext cx="6245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44852" y="4646414"/>
            <a:ext cx="1945035" cy="406301"/>
          </a:xfrm>
          <a:prstGeom prst="roundRect">
            <a:avLst>
              <a:gd name="adj" fmla="val 312263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68289" y="4744789"/>
            <a:ext cx="14981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 + Writing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67587" y="4646414"/>
            <a:ext cx="2676227" cy="406301"/>
          </a:xfrm>
          <a:prstGeom prst="roundRect">
            <a:avLst>
              <a:gd name="adj" fmla="val 312263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83713" y="4744789"/>
            <a:ext cx="22439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p.76–77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53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79325"/>
            <a:ext cx="871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上下前后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89323" y="103138"/>
            <a:ext cx="12650" cy="11430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8924" y="79325"/>
            <a:ext cx="10260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558701"/>
            <a:ext cx="11088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0350" y="866626"/>
            <a:ext cx="11088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Location Words from Lesson 4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60350" y="1431727"/>
            <a:ext cx="5295900" cy="3093839"/>
          </a:xfrm>
          <a:prstGeom prst="roundRect">
            <a:avLst>
              <a:gd name="adj" fmla="val 410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8475" y="1618952"/>
            <a:ext cx="4916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QUICK FIRE (4 MIN)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8475" y="1933277"/>
            <a:ext cx="763935" cy="634901"/>
          </a:xfrm>
          <a:prstGeom prst="roundRect">
            <a:avLst>
              <a:gd name="adj" fmla="val 14002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0041" y="2019002"/>
            <a:ext cx="5008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旁边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0041" y="2330053"/>
            <a:ext cx="500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pángbiān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63911" y="1933277"/>
            <a:ext cx="679400" cy="634901"/>
          </a:xfrm>
          <a:prstGeom prst="roundRect">
            <a:avLst>
              <a:gd name="adj" fmla="val 14002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96322" y="2019002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隔壁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96322" y="2330053"/>
            <a:ext cx="4145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gébì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44812" y="1933277"/>
            <a:ext cx="789384" cy="634901"/>
          </a:xfrm>
          <a:prstGeom prst="roundRect">
            <a:avLst>
              <a:gd name="adj" fmla="val 14002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76123" y="2019002"/>
            <a:ext cx="5267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76123" y="2330053"/>
            <a:ext cx="526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zhōngjiān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35697" y="1933277"/>
            <a:ext cx="690414" cy="634901"/>
          </a:xfrm>
          <a:prstGeom prst="roundRect">
            <a:avLst>
              <a:gd name="adj" fmla="val 14002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67998" y="2019002"/>
            <a:ext cx="425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7998" y="2330053"/>
            <a:ext cx="425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zuǒbiān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27612" y="1933277"/>
            <a:ext cx="692944" cy="634901"/>
          </a:xfrm>
          <a:prstGeom prst="roundRect">
            <a:avLst>
              <a:gd name="adj" fmla="val 14002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59887" y="2019002"/>
            <a:ext cx="4283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59887" y="2330053"/>
            <a:ext cx="428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yòubiān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98475" y="2682478"/>
            <a:ext cx="4916043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one word at a time. </a:t>
            </a:r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chorally gives the English meaning.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35601" y="1431727"/>
            <a:ext cx="5296049" cy="3093839"/>
          </a:xfrm>
          <a:prstGeom prst="roundRect">
            <a:avLst>
              <a:gd name="adj" fmla="val 410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73726" y="1618952"/>
            <a:ext cx="49161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ERROR CORRECTION (4 MIN)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73726" y="1933277"/>
            <a:ext cx="4819799" cy="669727"/>
          </a:xfrm>
          <a:prstGeom prst="roundRect">
            <a:avLst>
              <a:gd name="adj" fmla="val 13274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26126" y="2034778"/>
            <a:ext cx="46052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26126" y="2234803"/>
            <a:ext cx="4605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图书馆旁边在礼堂。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73726" y="2704505"/>
            <a:ext cx="4819799" cy="669727"/>
          </a:xfrm>
          <a:prstGeom prst="roundRect">
            <a:avLst>
              <a:gd name="adj" fmla="val 13274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26126" y="2806005"/>
            <a:ext cx="46052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26126" y="3006030"/>
            <a:ext cx="4605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操场左边在体育馆。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73726" y="3488531"/>
            <a:ext cx="4916195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two students to correct them, </a:t>
            </a:r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chorally-echoed by the class</a:t>
            </a:r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73726" y="4011513"/>
            <a:ext cx="4819799" cy="326827"/>
          </a:xfrm>
          <a:prstGeom prst="roundRect">
            <a:avLst>
              <a:gd name="adj" fmla="val 27201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645176" y="4093964"/>
            <a:ext cx="45664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60350" y="4652516"/>
            <a:ext cx="10871299" cy="755452"/>
          </a:xfrm>
          <a:prstGeom prst="rect">
            <a:avLst/>
          </a:prstGeom>
          <a:solidFill>
            <a:srgbClr val="3A5F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84163" y="4652516"/>
            <a:ext cx="0" cy="755452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6575" y="4792117"/>
            <a:ext cx="1057380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"上节课我们学了</a:t>
            </a:r>
            <a:pPr algn="l"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五个位置词</a:t>
            </a:r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。今天我们再学</a:t>
            </a:r>
            <a:pPr algn="l"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七个新的</a:t>
            </a:r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——用来说东西在桌子'上面'、'下面'，或者教室在楼'上面'还是'下面'。语序规则还是一样：</a:t>
            </a:r>
            <a:pPr algn="l"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X在Y的……</a:t>
            </a:r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0" y="66341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950" y="667702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53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79325"/>
            <a:ext cx="871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上下前后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89323" y="103138"/>
            <a:ext cx="12650" cy="11430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8924" y="79325"/>
            <a:ext cx="11714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Answers ↳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60202"/>
            <a:ext cx="10985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1101" y="1044327"/>
            <a:ext cx="1098519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Error Correction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1101" y="1752302"/>
            <a:ext cx="10769798" cy="1450777"/>
          </a:xfrm>
          <a:prstGeom prst="roundRect">
            <a:avLst>
              <a:gd name="adj" fmla="val 875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4527" y="196497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4814" y="2034778"/>
            <a:ext cx="874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9427" y="1964978"/>
            <a:ext cx="9800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Fix: </a:t>
            </a:r>
            <a:pPr algn="l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图书馆旁边在礼堂。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9427" y="2307878"/>
            <a:ext cx="3635276" cy="682526"/>
          </a:xfrm>
          <a:prstGeom prst="roundRect">
            <a:avLst>
              <a:gd name="adj" fmla="val 14886"/>
            </a:avLst>
          </a:prstGeom>
          <a:solidFill>
            <a:srgbClr val="B87A30">
              <a:alpha val="10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57077" y="2453878"/>
            <a:ext cx="32027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图书馆在礼堂</a:t>
            </a:r>
            <a:pPr algn="l" indent="0" marL="0">
              <a:buNone/>
            </a:pPr>
            <a:r>
              <a:rPr lang="en-US" sz="22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的旁边</a:t>
            </a:r>
            <a:pPr algn="l" indent="0" marL="0">
              <a:buNone/>
            </a:pPr>
            <a:r>
              <a:rPr lang="en-US" sz="2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1101" y="3406229"/>
            <a:ext cx="10769798" cy="1450777"/>
          </a:xfrm>
          <a:prstGeom prst="roundRect">
            <a:avLst>
              <a:gd name="adj" fmla="val 875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74527" y="3618905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17402" y="3688705"/>
            <a:ext cx="1228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9427" y="3618905"/>
            <a:ext cx="9800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Fix: </a:t>
            </a:r>
            <a:pPr algn="l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操场左边在体育馆。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9427" y="3961805"/>
            <a:ext cx="3635276" cy="682526"/>
          </a:xfrm>
          <a:prstGeom prst="roundRect">
            <a:avLst>
              <a:gd name="adj" fmla="val 14886"/>
            </a:avLst>
          </a:prstGeom>
          <a:solidFill>
            <a:srgbClr val="B87A30">
              <a:alpha val="10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57077" y="4107805"/>
            <a:ext cx="32027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操场在体育馆</a:t>
            </a:r>
            <a:pPr algn="l" indent="0" marL="0">
              <a:buNone/>
            </a:pPr>
            <a:r>
              <a:rPr lang="en-US" sz="22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的左边</a:t>
            </a:r>
            <a:pPr algn="l" indent="0" marL="0">
              <a:buNone/>
            </a:pPr>
            <a:r>
              <a:rPr lang="en-US" sz="2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66341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67702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53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79325"/>
            <a:ext cx="871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上下前后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89323" y="103138"/>
            <a:ext cx="12650" cy="11430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8924" y="79325"/>
            <a:ext cx="1700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1006376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1365052"/>
            <a:ext cx="1062238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88950" y="2069753"/>
            <a:ext cx="10414099" cy="1200448"/>
          </a:xfrm>
          <a:prstGeom prst="rect">
            <a:avLst/>
          </a:prstGeom>
          <a:solidFill>
            <a:srgbClr val="3A5F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17525" y="2069753"/>
            <a:ext cx="0" cy="1200448"/>
          </a:xfrm>
          <a:prstGeom prst="line">
            <a:avLst/>
          </a:prstGeom>
          <a:noFill/>
          <a:ln w="57150">
            <a:solidFill>
              <a:srgbClr val="3A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0001" y="2247454"/>
            <a:ext cx="100461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0001" y="2523679"/>
            <a:ext cx="10046131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describe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furniture positions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building layout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an extended set of position words: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上面、下面、前面、后面、对面、楼上、楼下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8950" y="3447901"/>
            <a:ext cx="10414099" cy="767358"/>
          </a:xfrm>
          <a:prstGeom prst="roundRect">
            <a:avLst>
              <a:gd name="adj" fmla="val 1324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01626" y="3597027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9427" y="3597027"/>
            <a:ext cx="967056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all seven new position words and use them correctly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9427" y="3866108"/>
            <a:ext cx="9670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能正确使用七个新的位置词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88950" y="4342209"/>
            <a:ext cx="10414099" cy="767358"/>
          </a:xfrm>
          <a:prstGeom prst="roundRect">
            <a:avLst>
              <a:gd name="adj" fmla="val 1324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01626" y="4491335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9427" y="4491335"/>
            <a:ext cx="967056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describe where an object or room is using X 在 Y 的 + position word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9427" y="4760416"/>
            <a:ext cx="9670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能用"X在Y的……"描述物品或房间的位置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8950" y="5236518"/>
            <a:ext cx="10414099" cy="767358"/>
          </a:xfrm>
          <a:prstGeom prst="roundRect">
            <a:avLst>
              <a:gd name="adj" fmla="val 1324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01626" y="5385643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9427" y="5385643"/>
            <a:ext cx="967056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describe a building floor plan using both old and new position words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09427" y="5654725"/>
            <a:ext cx="9670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能用新旧位置词描述教学楼的布局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66341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7702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53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79325"/>
            <a:ext cx="871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上下前后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89323" y="103138"/>
            <a:ext cx="12650" cy="11430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8924" y="79325"/>
            <a:ext cx="2027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750" y="558701"/>
            <a:ext cx="107778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NEW VOCABULARY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2750" y="892076"/>
            <a:ext cx="1077782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新位置词 · Seven New Position Words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12750" y="1482626"/>
            <a:ext cx="10566499" cy="3486150"/>
          </a:xfrm>
          <a:prstGeom prst="roundRect">
            <a:avLst>
              <a:gd name="adj" fmla="val 2914"/>
            </a:avLst>
          </a:prstGeom>
          <a:noFill/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92151"/>
            <a:ext cx="10547449" cy="342900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22275" y="1830288"/>
            <a:ext cx="1054744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5426" y="1568351"/>
            <a:ext cx="2849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30426" y="1568351"/>
            <a:ext cx="2849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70327" y="1568351"/>
            <a:ext cx="6662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275" y="2277963"/>
            <a:ext cx="1054744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5426" y="1911251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30426" y="1939826"/>
            <a:ext cx="871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shàngmian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70327" y="1939826"/>
            <a:ext cx="1342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above; on top of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275" y="2725638"/>
            <a:ext cx="1054744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5426" y="2358926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930426" y="2387501"/>
            <a:ext cx="62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xiàmian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70327" y="2387501"/>
            <a:ext cx="1491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below; underneath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275" y="3173313"/>
            <a:ext cx="1054744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5426" y="2806601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930426" y="2835176"/>
            <a:ext cx="7329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qiánmian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70327" y="2835176"/>
            <a:ext cx="596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front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275" y="3620988"/>
            <a:ext cx="1054744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5426" y="3254276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930426" y="3282851"/>
            <a:ext cx="688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hòumian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70327" y="3282851"/>
            <a:ext cx="5414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behind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275" y="4068663"/>
            <a:ext cx="1054744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5426" y="3701951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930426" y="3730526"/>
            <a:ext cx="6315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duìmiàn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70327" y="3730526"/>
            <a:ext cx="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opposite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275" y="4516338"/>
            <a:ext cx="1054744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5426" y="4149626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930426" y="4178201"/>
            <a:ext cx="723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lóushàng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70327" y="4178201"/>
            <a:ext cx="648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upstairs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5426" y="4597301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930426" y="4625876"/>
            <a:ext cx="47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lóuxià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70327" y="4625876"/>
            <a:ext cx="8806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downstairs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12750" y="5121176"/>
            <a:ext cx="10566499" cy="761702"/>
          </a:xfrm>
          <a:prstGeom prst="roundRect">
            <a:avLst>
              <a:gd name="adj" fmla="val 13339"/>
            </a:avLst>
          </a:prstGeom>
          <a:solidFill>
            <a:srgbClr val="B87A30">
              <a:alpha val="10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85701" y="5279827"/>
            <a:ext cx="7060436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Variant note: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课本里 Act. 7 也用了"左面"和"右面"——意思跟上节课学的"左边"、"右边"完全一样，只是换了一个字。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236297" y="5282952"/>
            <a:ext cx="1358801" cy="438150"/>
          </a:xfrm>
          <a:prstGeom prst="roundRect">
            <a:avLst>
              <a:gd name="adj" fmla="val 20290"/>
            </a:avLst>
          </a:prstGeom>
          <a:solidFill>
            <a:srgbClr val="FEFCF7"/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413680" y="5368677"/>
            <a:ext cx="10040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左边</a:t>
            </a:r>
            <a:pPr algn="ctr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= </a:t>
            </a:r>
            <a:pPr algn="ctr" indent="0" marL="0">
              <a:buNone/>
            </a:pPr>
            <a:r>
              <a:rPr lang="en-US" sz="15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左面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747498" y="5282952"/>
            <a:ext cx="1358801" cy="438150"/>
          </a:xfrm>
          <a:prstGeom prst="roundRect">
            <a:avLst>
              <a:gd name="adj" fmla="val 20290"/>
            </a:avLst>
          </a:prstGeom>
          <a:solidFill>
            <a:srgbClr val="FEFCF7"/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924880" y="5368677"/>
            <a:ext cx="10040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右边</a:t>
            </a:r>
            <a:pPr algn="ctr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= </a:t>
            </a:r>
            <a:pPr algn="ctr" indent="0" marL="0">
              <a:buNone/>
            </a:pPr>
            <a:r>
              <a:rPr lang="en-US" sz="15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右面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0" y="66341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950" y="667702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53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79325"/>
            <a:ext cx="871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上下前后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89323" y="103138"/>
            <a:ext cx="12650" cy="11430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8924" y="79325"/>
            <a:ext cx="20955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Sentence Pattern · 10–20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533251"/>
            <a:ext cx="10881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KEY PATTERN (RECYCLED + EXTENDED)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866626"/>
            <a:ext cx="108813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 · X 在 Y 的 + Position Word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62000" y="1419076"/>
            <a:ext cx="10668000" cy="952202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00100" y="1419076"/>
            <a:ext cx="0" cy="952202"/>
          </a:xfrm>
          <a:prstGeom prst="line">
            <a:avLst/>
          </a:prstGeom>
          <a:noFill/>
          <a:ln w="76200">
            <a:solidFill>
              <a:srgbClr val="3A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7550" y="1558677"/>
            <a:ext cx="102337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 — SAME RULE AS LESSON 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7550" y="1803053"/>
            <a:ext cx="102337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</a:t>
            </a:r>
            <a:pPr algn="l" indent="0" marL="0">
              <a:buNone/>
            </a:pP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在 </a:t>
            </a:r>
            <a:pPr algn="l" indent="0" marL="0">
              <a:buNone/>
            </a:pPr>
            <a:r>
              <a:rPr lang="en-US" sz="2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</a:t>
            </a:r>
            <a:pPr algn="l" indent="0" marL="0">
              <a:buNone/>
            </a:pP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的 </a:t>
            </a:r>
            <a:pPr algn="l" indent="0" marL="0">
              <a:buNone/>
            </a:pPr>
            <a:r>
              <a:rPr lang="en-US" sz="2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position word</a:t>
            </a:r>
            <a:pPr algn="l" indent="0" marL="0">
              <a:buNone/>
            </a:pP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 </a:t>
            </a:r>
            <a:pPr algn="l" indent="0" marL="0">
              <a:buNone/>
            </a:pPr>
            <a:r>
              <a:rPr lang="en-US" sz="1150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reinforce — do not re-teach from scratch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2000" y="2523679"/>
            <a:ext cx="53111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FURNITURE SCENE · 教室实物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2000" y="2803029"/>
            <a:ext cx="5207050" cy="685502"/>
          </a:xfrm>
          <a:prstGeom prst="roundRect">
            <a:avLst>
              <a:gd name="adj" fmla="val 1482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49226" y="2914055"/>
            <a:ext cx="492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49226" y="3101280"/>
            <a:ext cx="4929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书在桌子上面。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62000" y="3577382"/>
            <a:ext cx="5207050" cy="685502"/>
          </a:xfrm>
          <a:prstGeom prst="roundRect">
            <a:avLst>
              <a:gd name="adj" fmla="val 1482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49226" y="3688407"/>
            <a:ext cx="492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9226" y="3875633"/>
            <a:ext cx="4929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椅子在桌子下面。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62000" y="4351734"/>
            <a:ext cx="5207050" cy="685502"/>
          </a:xfrm>
          <a:prstGeom prst="roundRect">
            <a:avLst>
              <a:gd name="adj" fmla="val 1482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49226" y="4462760"/>
            <a:ext cx="492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9226" y="4649986"/>
            <a:ext cx="4929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黑板在老师的前面。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62000" y="5126087"/>
            <a:ext cx="5207050" cy="685502"/>
          </a:xfrm>
          <a:prstGeom prst="roundRect">
            <a:avLst>
              <a:gd name="adj" fmla="val 14821"/>
            </a:avLst>
          </a:prstGeom>
          <a:solidFill>
            <a:srgbClr val="C96A5C">
              <a:alpha val="8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49226" y="5237113"/>
            <a:ext cx="492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 — WAIT FOR REACTION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9226" y="5424339"/>
            <a:ext cx="4929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老师的椅子在黑板的上面！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222950" y="2523679"/>
            <a:ext cx="53111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BUILDING LAYOUT · 教学楼布局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22950" y="2803029"/>
            <a:ext cx="5207050" cy="685502"/>
          </a:xfrm>
          <a:prstGeom prst="roundRect">
            <a:avLst>
              <a:gd name="adj" fmla="val 1482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10176" y="2914055"/>
            <a:ext cx="492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10176" y="3101280"/>
            <a:ext cx="4929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图书馆在体育馆的对面。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222950" y="3577382"/>
            <a:ext cx="5207050" cy="685502"/>
          </a:xfrm>
          <a:prstGeom prst="roundRect">
            <a:avLst>
              <a:gd name="adj" fmla="val 1482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10176" y="3688407"/>
            <a:ext cx="492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10176" y="3875633"/>
            <a:ext cx="4929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教室在楼上，餐厅在楼下。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0" y="66341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950" y="667702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53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79325"/>
            <a:ext cx="871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上下前后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89323" y="103138"/>
            <a:ext cx="12650" cy="11430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8924" y="79325"/>
            <a:ext cx="21017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558701"/>
            <a:ext cx="10985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CHECK FOR UNDERSTANDING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1101" y="917377"/>
            <a:ext cx="1098519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11101" y="1533227"/>
            <a:ext cx="3454450" cy="4893022"/>
          </a:xfrm>
          <a:prstGeom prst="roundRect">
            <a:avLst>
              <a:gd name="adj" fmla="val 4412"/>
            </a:avLst>
          </a:prstGeom>
          <a:solidFill>
            <a:srgbClr val="3A5F8A">
              <a:alpha val="8000"/>
            </a:srgbClr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20651" y="17554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1145" y="1818829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0651" y="2225278"/>
            <a:ext cx="30960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20651" y="2501503"/>
            <a:ext cx="3096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哪个对？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0651" y="2901553"/>
            <a:ext cx="3096057" cy="1532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both:
</a:t>
            </a:r>
            <a:pPr algn="l" indent="0" marL="0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书</a:t>
            </a:r>
            <a:pPr algn="l" indent="0" marL="0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</a:t>
            </a:r>
            <a:pPr algn="l" indent="0" marL="0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桌子上面</a:t>
            </a:r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书上面</a:t>
            </a:r>
            <a:pPr algn="l" indent="0" marL="0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</a:t>
            </a:r>
            <a:pPr algn="l" indent="0" marL="0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桌子</a:t>
            </a:r>
            <a:pPr algn="l" indent="0" marL="0">
              <a:lnSpc>
                <a:spcPts val="1725"/>
              </a:lnSpc>
              <a:buNone/>
            </a:pPr>
            <a:endParaRPr lang="en-US" sz="1150" dirty="0"/>
          </a:p>
          <a:p>
            <a:pPr algn="l" indent="0" marL="0">
              <a:lnSpc>
                <a:spcPts val="1725"/>
              </a:lnSpc>
              <a:buNone/>
            </a:pPr>
            <a:endParaRPr lang="en-US" sz="1150" dirty="0"/>
          </a:p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</a:t>
            </a:r>
            <a:endParaRPr lang="en-US" sz="1150" dirty="0"/>
          </a:p>
          <a:p>
            <a:pPr algn="l" indent="0" marL="0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points</a:t>
            </a:r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at the correct one — reinforces the word-order rule still applies.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68701" y="1533227"/>
            <a:ext cx="3454598" cy="4893022"/>
          </a:xfrm>
          <a:prstGeom prst="roundRect">
            <a:avLst>
              <a:gd name="adj" fmla="val 4412"/>
            </a:avLst>
          </a:prstGeom>
          <a:solidFill>
            <a:srgbClr val="2E7D6E">
              <a:alpha val="8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8251" y="17554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03862" y="1818829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8251" y="2225278"/>
            <a:ext cx="30962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8251" y="2501503"/>
            <a:ext cx="30962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Rapid Translation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8251" y="2901553"/>
            <a:ext cx="3096208" cy="656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"Sam, </a:t>
            </a:r>
            <a:pPr algn="l" indent="0" marL="0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'upstairs'</a:t>
            </a:r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用中文怎么说？"</a:t>
            </a:r>
            <a:endParaRPr lang="en-US" sz="1150" dirty="0"/>
          </a:p>
          <a:p>
            <a:pPr algn="l" indent="0" marL="0">
              <a:lnSpc>
                <a:spcPts val="1725"/>
              </a:lnSpc>
              <a:buNone/>
            </a:pPr>
            <a:endParaRPr lang="en-US" sz="1150" dirty="0"/>
          </a:p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"Priya, </a:t>
            </a:r>
            <a:endParaRPr lang="en-US" sz="1150" dirty="0"/>
          </a:p>
          <a:p>
            <a:pPr algn="l" indent="0" marL="0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'opposite'</a:t>
            </a:r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呢？"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26450" y="1533227"/>
            <a:ext cx="3454450" cy="4893022"/>
          </a:xfrm>
          <a:prstGeom prst="roundRect">
            <a:avLst>
              <a:gd name="adj" fmla="val 4412"/>
            </a:avLst>
          </a:prstGeom>
          <a:solidFill>
            <a:srgbClr val="C96A5C">
              <a:alpha val="8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36000" y="17554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361164" y="1818829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36000" y="2225278"/>
            <a:ext cx="30960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36000" y="2501503"/>
            <a:ext cx="3096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黑板在哪儿？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36000" y="2901553"/>
            <a:ext cx="3096057" cy="656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points to the projected classroom picture and asks:
</a:t>
            </a:r>
            <a:pPr algn="l" indent="0" marL="0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"黑板在哪儿？"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36000" y="3748832"/>
            <a:ext cx="3035350" cy="326827"/>
          </a:xfrm>
          <a:prstGeom prst="roundRect">
            <a:avLst>
              <a:gd name="adj" fmla="val 27201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382000" y="3831282"/>
            <a:ext cx="27982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66341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950" y="667702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53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79325"/>
            <a:ext cx="871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上下前后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89323" y="103138"/>
            <a:ext cx="12650" cy="11430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8924" y="79325"/>
            <a:ext cx="1285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2144762"/>
            <a:ext cx="10985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1101" y="2528888"/>
            <a:ext cx="1098519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1101" y="3313063"/>
            <a:ext cx="10769798" cy="1577727"/>
          </a:xfrm>
          <a:prstGeom prst="roundRect">
            <a:avLst>
              <a:gd name="adj" fmla="val 80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25426" y="355118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67854" y="3620988"/>
            <a:ext cx="123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60327" y="3551188"/>
            <a:ext cx="96963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— "黑板在哪儿？"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60327" y="3906738"/>
            <a:ext cx="3670102" cy="745927"/>
          </a:xfrm>
          <a:prstGeom prst="roundRect">
            <a:avLst>
              <a:gd name="adj" fmla="val 13621"/>
            </a:avLst>
          </a:prstGeom>
          <a:solidFill>
            <a:srgbClr val="B87A30">
              <a:alpha val="10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33277" y="4065389"/>
            <a:ext cx="318668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黑板在老师</a:t>
            </a:r>
            <a:pPr algn="l" indent="0" marL="0">
              <a:buNone/>
            </a:pPr>
            <a:r>
              <a:rPr lang="en-US" sz="24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的前面</a:t>
            </a:r>
            <a:pPr algn="l" indent="0" marL="0">
              <a:buNone/>
            </a:pP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！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0" y="66341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67702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53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79325"/>
            <a:ext cx="871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上下前后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89323" y="103138"/>
            <a:ext cx="12650" cy="11430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8924" y="79325"/>
            <a:ext cx="17917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20–27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507802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20–27 MIN · WE DO (BASED ON ACT. 7, P.76)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9600" y="784027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教室里的东西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1288852"/>
            <a:ext cx="5954911" cy="1723132"/>
          </a:xfrm>
          <a:prstGeom prst="roundRect">
            <a:avLst>
              <a:gd name="adj" fmla="val 7370"/>
            </a:avLst>
          </a:prstGeom>
          <a:solidFill>
            <a:srgbClr val="F4F2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1800" y="1422202"/>
            <a:ext cx="2923729" cy="238125"/>
          </a:xfrm>
          <a:prstGeom prst="roundRect">
            <a:avLst>
              <a:gd name="adj" fmla="val 5328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4200" y="1460302"/>
            <a:ext cx="26713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Model → Turn-and-Talk → Share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1800" y="176182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0204" y="1795165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61901" y="1749177"/>
            <a:ext cx="528401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labelled classroom scene (desk, chair, bookshelf, blackboard, window, door, pencil case, bag). Teacher models 3 sentences, pointing to each item.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1800" y="220593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09786" y="223926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901" y="2193280"/>
            <a:ext cx="528401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 (2 min):</a:t>
            </a:r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Partner A describes 2 items using position words, Partner B describes 2 different items; swap and check for repeats.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1800" y="265003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09489" y="2683371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1901" y="2637383"/>
            <a:ext cx="4225028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</a:t>
            </a:r>
            <a:pPr algn="l" indent="0" marL="0">
              <a:lnSpc>
                <a:spcPts val="1449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students</a:t>
            </a:r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share one sentence each with the class.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9600" y="3113484"/>
            <a:ext cx="5954911" cy="674638"/>
          </a:xfrm>
          <a:prstGeom prst="roundRect">
            <a:avLst>
              <a:gd name="adj" fmla="val 16942"/>
            </a:avLst>
          </a:prstGeom>
          <a:solidFill>
            <a:srgbClr val="3A5F8A">
              <a:alpha val="10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224510"/>
            <a:ext cx="5692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6826" y="3437186"/>
            <a:ext cx="56920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铅笔盒在桌子上面。书包在椅子下面。窗户在黑板的对面。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09600" y="3889623"/>
            <a:ext cx="1917204" cy="856655"/>
          </a:xfrm>
          <a:prstGeom prst="roundRect">
            <a:avLst>
              <a:gd name="adj" fmla="val 1186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6550" y="3978473"/>
            <a:ext cx="1696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6550" y="4168973"/>
            <a:ext cx="1696569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7 position words + object word bank projected throughout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28305" y="3889623"/>
            <a:ext cx="1917353" cy="856655"/>
          </a:xfrm>
          <a:prstGeom prst="roundRect">
            <a:avLst>
              <a:gd name="adj" fmla="val 1186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755255" y="3978473"/>
            <a:ext cx="16967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55255" y="4168973"/>
            <a:ext cx="1696721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4+ items, no repeated position word, plus: 我们的教室在图书馆的楼上。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7158" y="3889623"/>
            <a:ext cx="1917353" cy="856655"/>
          </a:xfrm>
          <a:prstGeom prst="roundRect">
            <a:avLst>
              <a:gd name="adj" fmla="val 1186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74109" y="3978473"/>
            <a:ext cx="16967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4109" y="4168973"/>
            <a:ext cx="1696721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Turn-and-talk: every student produces 2+ sentences aloud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18412" y="1288852"/>
            <a:ext cx="4859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CLASSROOM OBJECTS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8412" y="1571327"/>
            <a:ext cx="2331095" cy="53340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934306" y="1695152"/>
            <a:ext cx="20993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桌子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51007" y="1571327"/>
            <a:ext cx="2331095" cy="53340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366901" y="1695152"/>
            <a:ext cx="20993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18412" y="2206228"/>
            <a:ext cx="2331095" cy="53340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34306" y="2330053"/>
            <a:ext cx="20993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黑板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51007" y="2206228"/>
            <a:ext cx="2331095" cy="53340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366901" y="2330053"/>
            <a:ext cx="20993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书包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18412" y="2841129"/>
            <a:ext cx="2331095" cy="53340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934306" y="2964954"/>
            <a:ext cx="20993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51007" y="2841129"/>
            <a:ext cx="2331095" cy="53340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366901" y="2964954"/>
            <a:ext cx="20993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窗户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18412" y="3476030"/>
            <a:ext cx="2331095" cy="53340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934306" y="3599855"/>
            <a:ext cx="20993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门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0" y="66341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950" y="667702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53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79325"/>
            <a:ext cx="871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上下前后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89323" y="103138"/>
            <a:ext cx="12650" cy="11430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8924" y="79325"/>
            <a:ext cx="1856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27–36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507802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27–36 MIN · YOU DO, WRITING (BASED ON ACT. 9, P.77)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9600" y="771227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教学楼平面图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1263253"/>
            <a:ext cx="5733306" cy="1849785"/>
          </a:xfrm>
          <a:prstGeom prst="roundRect">
            <a:avLst>
              <a:gd name="adj" fmla="val 6866"/>
            </a:avLst>
          </a:prstGeom>
          <a:solidFill>
            <a:srgbClr val="F4F2EE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1800" y="1396603"/>
            <a:ext cx="2799011" cy="238125"/>
          </a:xfrm>
          <a:prstGeom prst="roundRect">
            <a:avLst>
              <a:gd name="adj" fmla="val 5328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4200" y="1434703"/>
            <a:ext cx="25440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Model → Write → Peer-Check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1800" y="173622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0204" y="1769566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61901" y="1723579"/>
            <a:ext cx="5057980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live, thinking aloud: </a:t>
            </a:r>
            <a:pPr algn="l" indent="0" marL="0">
              <a:lnSpc>
                <a:spcPts val="1449"/>
              </a:lnSpc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教室在楼上，办公室在楼下</a:t>
            </a:r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——用'楼上'和'楼下'。</a:t>
            </a:r>
            <a:pPr algn="l" indent="0" marL="0">
              <a:lnSpc>
                <a:spcPts val="1449"/>
              </a:lnSpc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图书馆在餐厅的对面</a:t>
            </a:r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——用'对面'。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1800" y="218033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09786" y="2213670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901" y="2167682"/>
            <a:ext cx="5057980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Individual writing (5 min):</a:t>
            </a:r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paragraph (5–6 sentences) using at least </a:t>
            </a:r>
            <a:pPr algn="l" indent="0" marL="0">
              <a:lnSpc>
                <a:spcPts val="1449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different position words</a:t>
            </a:r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(mixing L4 + today's set).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1800" y="262443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09489" y="2657773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1901" y="2611785"/>
            <a:ext cx="5057980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Peer-check (2 min):</a:t>
            </a:r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swap books; neighbour checks ≥4 different position words used and circles word-order errors.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9600" y="3214539"/>
            <a:ext cx="5733306" cy="1218902"/>
          </a:xfrm>
          <a:prstGeom prst="roundRect">
            <a:avLst>
              <a:gd name="adj" fmla="val 8335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7301" y="3316039"/>
            <a:ext cx="54854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(SCAFFOLD)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87301" y="3531840"/>
            <a:ext cx="54854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教室在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7301" y="3798540"/>
            <a:ext cx="54854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办公室在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7301" y="4065240"/>
            <a:ext cx="54854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图书馆在餐厅的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9600" y="4534942"/>
            <a:ext cx="2815828" cy="676573"/>
          </a:xfrm>
          <a:prstGeom prst="roundRect">
            <a:avLst>
              <a:gd name="adj" fmla="val 15017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6550" y="4623792"/>
            <a:ext cx="26131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6550" y="4814292"/>
            <a:ext cx="261316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Partially-filled sentence frame (above)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26929" y="4534942"/>
            <a:ext cx="2815977" cy="676573"/>
          </a:xfrm>
          <a:prstGeom prst="roundRect">
            <a:avLst>
              <a:gd name="adj" fmla="val 15017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53879" y="4623792"/>
            <a:ext cx="26133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3879" y="4814292"/>
            <a:ext cx="2613318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frame; use ≥6 of 12 total position words + 我觉得图书馆的位置比餐厅方便，因为……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600" y="5313015"/>
            <a:ext cx="5733306" cy="503337"/>
          </a:xfrm>
          <a:prstGeom prst="roundRect">
            <a:avLst>
              <a:gd name="adj" fmla="val 20185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62000" y="5401866"/>
            <a:ext cx="553707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2: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all students write independently; peer-check requires every student to read and mark a partner's paragraph.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96807" y="1263253"/>
            <a:ext cx="4985593" cy="2405955"/>
          </a:xfrm>
          <a:prstGeom prst="roundRect">
            <a:avLst>
              <a:gd name="adj" fmla="val 5279"/>
            </a:avLst>
          </a:prstGeom>
          <a:noFill/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606332" y="1937742"/>
            <a:ext cx="4966543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6332" y="1272778"/>
            <a:ext cx="558701" cy="660202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733282" y="149810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65032" y="1272778"/>
            <a:ext cx="2208609" cy="660202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9368879" y="1272778"/>
            <a:ext cx="0" cy="660202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8625" y="1450479"/>
            <a:ext cx="4403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教室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9373642" y="1272778"/>
            <a:ext cx="2199233" cy="660202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149483" y="1450479"/>
            <a:ext cx="6605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音乐室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6606332" y="2607469"/>
            <a:ext cx="4966543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06332" y="1942505"/>
            <a:ext cx="558701" cy="660202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33282" y="2167830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165032" y="1942505"/>
            <a:ext cx="2208609" cy="660202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9368879" y="1942505"/>
            <a:ext cx="0" cy="660202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40725" y="2120205"/>
            <a:ext cx="6605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办公室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9373642" y="1942505"/>
            <a:ext cx="2199233" cy="660202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0149483" y="2120205"/>
            <a:ext cx="6605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6606332" y="3340596"/>
            <a:ext cx="4966543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06332" y="2612231"/>
            <a:ext cx="1585615" cy="723602"/>
          </a:xfrm>
          <a:prstGeom prst="rect">
            <a:avLst/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208639" y="2751832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707832" y="3043833"/>
            <a:ext cx="14102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adjoining external building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606332" y="3345359"/>
            <a:ext cx="4966543" cy="314325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634390" y="3421559"/>
            <a:ext cx="49104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图书馆 is opposite 餐厅 (external)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66341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950" y="667702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53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79325"/>
            <a:ext cx="871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上下前后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89323" y="103138"/>
            <a:ext cx="12650" cy="11430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8924" y="79325"/>
            <a:ext cx="18374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位置词拼句 · 36–43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533251"/>
            <a:ext cx="111922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36–43 MIN · GAME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600" y="841177"/>
            <a:ext cx="111922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位置词拼句 · Sentence Jumble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09600" y="1368177"/>
            <a:ext cx="6058495" cy="942975"/>
          </a:xfrm>
          <a:prstGeom prst="roundRect">
            <a:avLst>
              <a:gd name="adj" fmla="val 1212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492002"/>
            <a:ext cx="5797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6826" y="1730127"/>
            <a:ext cx="774502" cy="457200"/>
          </a:xfrm>
          <a:prstGeom prst="roundRect">
            <a:avLst>
              <a:gd name="adj" fmla="val 19444"/>
            </a:avLst>
          </a:prstGeom>
          <a:solidFill>
            <a:srgbClr val="FEFCF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93577" y="1825377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60178" y="1730127"/>
            <a:ext cx="584002" cy="457200"/>
          </a:xfrm>
          <a:prstGeom prst="roundRect">
            <a:avLst>
              <a:gd name="adj" fmla="val 19444"/>
            </a:avLst>
          </a:prstGeom>
          <a:solidFill>
            <a:srgbClr val="FEFCF7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56929" y="182537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33030" y="1730127"/>
            <a:ext cx="774502" cy="457200"/>
          </a:xfrm>
          <a:prstGeom prst="roundRect">
            <a:avLst>
              <a:gd name="adj" fmla="val 19444"/>
            </a:avLst>
          </a:prstGeom>
          <a:solidFill>
            <a:srgbClr val="FEFCF7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29780" y="1825377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桌子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96382" y="1730127"/>
            <a:ext cx="584002" cy="457200"/>
          </a:xfrm>
          <a:prstGeom prst="roundRect">
            <a:avLst>
              <a:gd name="adj" fmla="val 19444"/>
            </a:avLst>
          </a:prstGeom>
          <a:solidFill>
            <a:srgbClr val="FEFCF7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93132" y="182537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600" y="2438102"/>
            <a:ext cx="6058495" cy="942975"/>
          </a:xfrm>
          <a:prstGeom prst="roundRect">
            <a:avLst>
              <a:gd name="adj" fmla="val 1212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96826" y="2561927"/>
            <a:ext cx="5797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6826" y="2800052"/>
            <a:ext cx="774502" cy="457200"/>
          </a:xfrm>
          <a:prstGeom prst="roundRect">
            <a:avLst>
              <a:gd name="adj" fmla="val 19444"/>
            </a:avLst>
          </a:prstGeom>
          <a:solidFill>
            <a:srgbClr val="FEFCF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93577" y="2895302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60178" y="2800052"/>
            <a:ext cx="774502" cy="457200"/>
          </a:xfrm>
          <a:prstGeom prst="roundRect">
            <a:avLst>
              <a:gd name="adj" fmla="val 19444"/>
            </a:avLst>
          </a:prstGeom>
          <a:solidFill>
            <a:srgbClr val="FEFCF7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56929" y="2895302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黑板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523530" y="2800052"/>
            <a:ext cx="965002" cy="457200"/>
          </a:xfrm>
          <a:prstGeom prst="roundRect">
            <a:avLst>
              <a:gd name="adj" fmla="val 19444"/>
            </a:avLst>
          </a:prstGeom>
          <a:solidFill>
            <a:srgbClr val="FEFCF7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720280" y="2895302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77382" y="2800052"/>
            <a:ext cx="584002" cy="457200"/>
          </a:xfrm>
          <a:prstGeom prst="roundRect">
            <a:avLst>
              <a:gd name="adj" fmla="val 19444"/>
            </a:avLst>
          </a:prstGeom>
          <a:solidFill>
            <a:srgbClr val="FEFCF7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74132" y="2895302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3508028"/>
            <a:ext cx="6058495" cy="942975"/>
          </a:xfrm>
          <a:prstGeom prst="roundRect">
            <a:avLst>
              <a:gd name="adj" fmla="val 1212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96826" y="3631853"/>
            <a:ext cx="5797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96826" y="3869978"/>
            <a:ext cx="774502" cy="457200"/>
          </a:xfrm>
          <a:prstGeom prst="roundRect">
            <a:avLst>
              <a:gd name="adj" fmla="val 19444"/>
            </a:avLst>
          </a:prstGeom>
          <a:solidFill>
            <a:srgbClr val="FEFCF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93577" y="3965228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660178" y="3869978"/>
            <a:ext cx="965002" cy="457200"/>
          </a:xfrm>
          <a:prstGeom prst="roundRect">
            <a:avLst>
              <a:gd name="adj" fmla="val 19444"/>
            </a:avLst>
          </a:prstGeom>
          <a:solidFill>
            <a:srgbClr val="FEFCF7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856929" y="3965228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714030" y="3869978"/>
            <a:ext cx="1155502" cy="457200"/>
          </a:xfrm>
          <a:prstGeom prst="roundRect">
            <a:avLst>
              <a:gd name="adj" fmla="val 19444"/>
            </a:avLst>
          </a:prstGeom>
          <a:solidFill>
            <a:srgbClr val="FEFCF7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910780" y="3965228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体育馆的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958382" y="3869978"/>
            <a:ext cx="584002" cy="457200"/>
          </a:xfrm>
          <a:prstGeom prst="roundRect">
            <a:avLst>
              <a:gd name="adj" fmla="val 19444"/>
            </a:avLst>
          </a:prstGeom>
          <a:solidFill>
            <a:srgbClr val="FEFCF7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155132" y="3965228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921996" y="1368177"/>
            <a:ext cx="4660404" cy="1534716"/>
          </a:xfrm>
          <a:prstGeom prst="roundRect">
            <a:avLst>
              <a:gd name="adj" fmla="val 74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083921" y="1492002"/>
            <a:ext cx="44232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 — 5–6 ROUNDS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83921" y="174277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49703" y="1760190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37822" y="1730127"/>
            <a:ext cx="2500071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one scrambled sentence at a time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83921" y="198387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140476" y="2001292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37822" y="1971229"/>
            <a:ext cx="3738949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Pairs reorder the phrase in exercise books, as fast as possible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083921" y="2224980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140178" y="2242393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37822" y="2212330"/>
            <a:ext cx="3235869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pair to hold up the correct sentence wins a point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083921" y="246608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139880" y="2483495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37822" y="2453432"/>
            <a:ext cx="416430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reveals correct order to confirm. Mix furniture-scene and floor-plan sentences.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21996" y="3017193"/>
            <a:ext cx="4660404" cy="846237"/>
          </a:xfrm>
          <a:prstGeom prst="roundRect">
            <a:avLst>
              <a:gd name="adj" fmla="val 1350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083921" y="3141018"/>
            <a:ext cx="44232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083921" y="3379143"/>
            <a:ext cx="4423285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Rounds 1–2: keep the position word </a:t>
            </a:r>
            <a:pPr algn="l"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underlined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the scramble as a hint of where it must land relative to 的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21996" y="3977729"/>
            <a:ext cx="4660404" cy="846237"/>
          </a:xfrm>
          <a:prstGeom prst="roundRect">
            <a:avLst>
              <a:gd name="adj" fmla="val 1350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083921" y="4101554"/>
            <a:ext cx="44232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083921" y="4339679"/>
            <a:ext cx="4423285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winning a round, the pair must generate </a:t>
            </a:r>
            <a:pPr algn="l"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additional original sentence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the same position word before the next round starts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921996" y="4938266"/>
            <a:ext cx="4660404" cy="590252"/>
          </a:xfrm>
          <a:prstGeom prst="roundRect">
            <a:avLst>
              <a:gd name="adj" fmla="val 19365"/>
            </a:avLst>
          </a:prstGeom>
          <a:solidFill>
            <a:srgbClr val="3A5F8A">
              <a:alpha val="10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083921" y="5062091"/>
            <a:ext cx="4423285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Setup: Projector only — 5–6 scrambled-sentence slides prepared in advance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0" y="66341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7950" y="667702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53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79325"/>
            <a:ext cx="871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上下前后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89323" y="103138"/>
            <a:ext cx="12650" cy="11430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8924" y="79325"/>
            <a:ext cx="11005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Answers ↳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1101" y="993577"/>
            <a:ext cx="1098519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位置词拼句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1101" y="1698278"/>
            <a:ext cx="10769798" cy="1260128"/>
          </a:xfrm>
          <a:prstGeom prst="roundRect">
            <a:avLst>
              <a:gd name="adj" fmla="val 1007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4527" y="1872853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24992" y="1939528"/>
            <a:ext cx="816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8677" y="1872853"/>
            <a:ext cx="98519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上面 ｜ 书 ｜ 桌子 ｜ 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558677" y="2199829"/>
            <a:ext cx="2432000" cy="584002"/>
          </a:xfrm>
          <a:prstGeom prst="roundRect">
            <a:avLst>
              <a:gd name="adj" fmla="val 17397"/>
            </a:avLst>
          </a:prstGeom>
          <a:solidFill>
            <a:srgbClr val="B87A30">
              <a:alpha val="10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80877" y="2320379"/>
            <a:ext cx="20273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书在桌子</a:t>
            </a:r>
            <a:pPr algn="l" indent="0" marL="0">
              <a:buNone/>
            </a:pPr>
            <a:r>
              <a:rPr lang="en-US" sz="19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上面</a:t>
            </a:r>
            <a:pPr algn="l" indent="0" marL="0"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11101" y="3110805"/>
            <a:ext cx="10769798" cy="1260128"/>
          </a:xfrm>
          <a:prstGeom prst="roundRect">
            <a:avLst>
              <a:gd name="adj" fmla="val 1007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74527" y="328538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08770" y="3352056"/>
            <a:ext cx="1146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8677" y="3285381"/>
            <a:ext cx="98519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前面 ｜ 黑板 ｜ 老师的 ｜ 在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58677" y="3612356"/>
            <a:ext cx="2914501" cy="584002"/>
          </a:xfrm>
          <a:prstGeom prst="roundRect">
            <a:avLst>
              <a:gd name="adj" fmla="val 17397"/>
            </a:avLst>
          </a:prstGeom>
          <a:solidFill>
            <a:srgbClr val="B87A30">
              <a:alpha val="10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780877" y="3732907"/>
            <a:ext cx="2519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黑板在老师的</a:t>
            </a:r>
            <a:pPr algn="l" indent="0" marL="0">
              <a:buNone/>
            </a:pPr>
            <a:r>
              <a:rPr lang="en-US" sz="19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</a:t>
            </a:r>
            <a:pPr algn="l" indent="0" marL="0"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11101" y="4523333"/>
            <a:ext cx="10769798" cy="1260128"/>
          </a:xfrm>
          <a:prstGeom prst="roundRect">
            <a:avLst>
              <a:gd name="adj" fmla="val 1007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74527" y="469790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08323" y="4764584"/>
            <a:ext cx="1155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8677" y="4697909"/>
            <a:ext cx="98519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对面 ｜ 图书馆 ｜ 体育馆的 ｜ 在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558677" y="5024884"/>
            <a:ext cx="3397151" cy="584002"/>
          </a:xfrm>
          <a:prstGeom prst="roundRect">
            <a:avLst>
              <a:gd name="adj" fmla="val 17397"/>
            </a:avLst>
          </a:prstGeom>
          <a:solidFill>
            <a:srgbClr val="B87A30">
              <a:alpha val="10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780877" y="5145435"/>
            <a:ext cx="3011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图书馆在体育馆的</a:t>
            </a:r>
            <a:pPr algn="l" indent="0" marL="0">
              <a:buNone/>
            </a:pPr>
            <a:r>
              <a:rPr lang="en-US" sz="19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</a:t>
            </a:r>
            <a:pPr algn="l" indent="0" marL="0"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0" y="66341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950" y="667702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53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79325"/>
            <a:ext cx="871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上下前后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89323" y="103138"/>
            <a:ext cx="12650" cy="11430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8924" y="79325"/>
            <a:ext cx="11865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541115"/>
            <a:ext cx="10985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1101" y="1874490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2544366"/>
            <a:ext cx="5257949" cy="2924770"/>
          </a:xfrm>
          <a:prstGeom prst="roundRect">
            <a:avLst>
              <a:gd name="adj" fmla="val 4776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766566"/>
            <a:ext cx="48579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8751" y="3090416"/>
            <a:ext cx="485790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pPr algn="l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= 完全可以</a:t>
            </a:r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= 差不多</a:t>
            </a:r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= 还不行</a:t>
            </a:r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"今天我们做到了吗？"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58751" y="3566666"/>
            <a:ext cx="241250" cy="241250"/>
          </a:xfrm>
          <a:prstGeom prst="roundRect">
            <a:avLst>
              <a:gd name="adj" fmla="val 379026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44327" y="3606254"/>
            <a:ext cx="713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8101" y="3566666"/>
            <a:ext cx="241250" cy="241250"/>
          </a:xfrm>
          <a:prstGeom prst="roundRect">
            <a:avLst>
              <a:gd name="adj" fmla="val 379026"/>
            </a:avLst>
          </a:prstGeom>
          <a:solidFill>
            <a:srgbClr val="B87A30">
              <a:alpha val="10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23529" y="3606254"/>
            <a:ext cx="716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17452" y="3566666"/>
            <a:ext cx="241250" cy="241250"/>
          </a:xfrm>
          <a:prstGeom prst="roundRect">
            <a:avLst>
              <a:gd name="adj" fmla="val 379026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14190" y="3606254"/>
            <a:ext cx="485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85652" y="3593009"/>
            <a:ext cx="375822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all 7 new position words and use them correctly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8751" y="3909417"/>
            <a:ext cx="241250" cy="241250"/>
          </a:xfrm>
          <a:prstGeom prst="roundRect">
            <a:avLst>
              <a:gd name="adj" fmla="val 379026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4327" y="3949005"/>
            <a:ext cx="713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38101" y="3909417"/>
            <a:ext cx="241250" cy="241250"/>
          </a:xfrm>
          <a:prstGeom prst="roundRect">
            <a:avLst>
              <a:gd name="adj" fmla="val 379026"/>
            </a:avLst>
          </a:prstGeom>
          <a:solidFill>
            <a:srgbClr val="B87A30">
              <a:alpha val="10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23529" y="3949005"/>
            <a:ext cx="716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17452" y="3909417"/>
            <a:ext cx="241250" cy="241250"/>
          </a:xfrm>
          <a:prstGeom prst="roundRect">
            <a:avLst>
              <a:gd name="adj" fmla="val 379026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14190" y="3949005"/>
            <a:ext cx="485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85652" y="3935760"/>
            <a:ext cx="359154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where something is: X在Y的+position word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8751" y="4320034"/>
            <a:ext cx="241250" cy="241250"/>
          </a:xfrm>
          <a:prstGeom prst="roundRect">
            <a:avLst>
              <a:gd name="adj" fmla="val 379026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44327" y="4359622"/>
            <a:ext cx="713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38101" y="4320034"/>
            <a:ext cx="241250" cy="241250"/>
          </a:xfrm>
          <a:prstGeom prst="roundRect">
            <a:avLst>
              <a:gd name="adj" fmla="val 379026"/>
            </a:avLst>
          </a:prstGeom>
          <a:solidFill>
            <a:srgbClr val="B87A30">
              <a:alpha val="10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23529" y="4359622"/>
            <a:ext cx="716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17452" y="4320034"/>
            <a:ext cx="241250" cy="241250"/>
          </a:xfrm>
          <a:prstGeom prst="roundRect">
            <a:avLst>
              <a:gd name="adj" fmla="val 379026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614190" y="4359622"/>
            <a:ext cx="485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85652" y="4252168"/>
            <a:ext cx="3912462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a building floor plan with old + new position words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8751" y="4743599"/>
            <a:ext cx="4762649" cy="503337"/>
          </a:xfrm>
          <a:prstGeom prst="roundRect">
            <a:avLst>
              <a:gd name="adj" fmla="val 20185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111151" y="4832449"/>
            <a:ext cx="454700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Note any students showing 1 finger on criterion 1 (new vocabulary) for extra support next lesson.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22950" y="2544366"/>
            <a:ext cx="5257949" cy="2924770"/>
          </a:xfrm>
          <a:prstGeom prst="roundRect">
            <a:avLst>
              <a:gd name="adj" fmla="val 4776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470600" y="2766566"/>
            <a:ext cx="48579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(2 MIN)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70600" y="3090416"/>
            <a:ext cx="4762649" cy="860227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494413" y="3090416"/>
            <a:ext cx="0" cy="860227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1376" y="3230017"/>
            <a:ext cx="4394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IN EXERCISE BOOK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1376" y="3468142"/>
            <a:ext cx="43948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</a:t>
            </a:r>
            <a:pPr algn="l" indent="0" marL="0"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pPr algn="l" indent="0" marL="0"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pPr algn="l" indent="0" marL="0">
              <a:buNone/>
            </a:pPr>
            <a:r>
              <a:rPr lang="en-US" sz="19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6470600" y="4064943"/>
            <a:ext cx="485790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sentence describing where something in the real classroom is right now.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70600" y="4674543"/>
            <a:ext cx="1558230" cy="238125"/>
          </a:xfrm>
          <a:prstGeom prst="roundRect">
            <a:avLst>
              <a:gd name="adj" fmla="val 5328000"/>
            </a:avLst>
          </a:prstGeom>
          <a:solidFill>
            <a:srgbClr val="2E7D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23000" y="4712643"/>
            <a:ext cx="12784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real classroom object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17681" y="4674543"/>
            <a:ext cx="2300436" cy="238125"/>
          </a:xfrm>
          <a:prstGeom prst="roundRect">
            <a:avLst>
              <a:gd name="adj" fmla="val 5328000"/>
            </a:avLst>
          </a:prstGeom>
          <a:solidFill>
            <a:srgbClr val="2E7D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270081" y="4712643"/>
            <a:ext cx="20355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of today's new position words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66341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950" y="667702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0490" y="1083171"/>
            <a:ext cx="959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COMPLETE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00490" y="1470422"/>
            <a:ext cx="959102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4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00490" y="2403872"/>
            <a:ext cx="95910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00490" y="3038773"/>
            <a:ext cx="959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13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new position words · X在Y的+position word · furniture &amp; floor-plan descriptions · sentence jumble game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94520" y="3597473"/>
            <a:ext cx="9402961" cy="1615529"/>
          </a:xfrm>
          <a:prstGeom prst="roundRect">
            <a:avLst>
              <a:gd name="adj" fmla="val 9433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08541" y="3845123"/>
            <a:ext cx="8774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(L6)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08541" y="4137124"/>
            <a:ext cx="8774918" cy="828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下一课，我们要做</a:t>
            </a:r>
            <a:pPr algn="ctr" indent="0" marL="0">
              <a:lnSpc>
                <a:spcPts val="2175"/>
              </a:lnSpc>
              <a:buNone/>
            </a:pPr>
            <a:r>
              <a:rPr lang="en-US" sz="14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两个听力练习</a:t>
            </a:r>
            <a:pPr algn="ctr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，还要</a:t>
            </a:r>
            <a:pPr algn="ctr" indent="0" marL="0">
              <a:lnSpc>
                <a:spcPts val="2175"/>
              </a:lnSpc>
              <a:buNone/>
            </a:pPr>
            <a:r>
              <a:rPr lang="en-US" sz="14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复习量词</a:t>
            </a:r>
            <a:pPr algn="ctr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，玩一个</a:t>
            </a:r>
            <a:pPr algn="ctr" indent="0" marL="0">
              <a:lnSpc>
                <a:spcPts val="2175"/>
              </a:lnSpc>
              <a:buNone/>
            </a:pPr>
            <a:r>
              <a:rPr lang="en-US" sz="14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记汉字的游戏</a:t>
            </a:r>
            <a:pPr algn="ctr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450" dirty="0"/>
          </a:p>
          <a:p>
            <a:pPr algn="ctr" indent="0" marL="0">
              <a:lnSpc>
                <a:spcPts val="2175"/>
              </a:lnSpc>
              <a:buNone/>
            </a:pPr>
            <a:endParaRPr lang="en-US" sz="1450" dirty="0"/>
          </a:p>
          <a:p>
            <a:pPr algn="ctr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lesson: two listening exercises, a review of measure words, and a character memory game.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029545" y="5466904"/>
            <a:ext cx="1040011" cy="307777"/>
          </a:xfrm>
          <a:prstGeom prst="roundRect">
            <a:avLst>
              <a:gd name="adj" fmla="val 4122238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10116" y="5539829"/>
            <a:ext cx="6788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21956" y="5466904"/>
            <a:ext cx="1368326" cy="307777"/>
          </a:xfrm>
          <a:prstGeom prst="roundRect">
            <a:avLst>
              <a:gd name="adj" fmla="val 4122238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99243" y="5539829"/>
            <a:ext cx="10137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 3 · 学校设施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42682" y="5466904"/>
            <a:ext cx="1184225" cy="307777"/>
          </a:xfrm>
          <a:prstGeom prst="roundRect">
            <a:avLst>
              <a:gd name="adj" fmla="val 4122238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21810" y="5539829"/>
            <a:ext cx="8259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of 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79307" y="5466904"/>
            <a:ext cx="2082998" cy="307777"/>
          </a:xfrm>
          <a:prstGeom prst="roundRect">
            <a:avLst>
              <a:gd name="adj" fmla="val 4122238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49448" y="5539829"/>
            <a:ext cx="1742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p.76–77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2026-07-18T06:19:46Z</dcterms:created>
  <dcterms:modified xsi:type="dcterms:W3CDTF">2026-07-18T06:19:46Z</dcterms:modified>
</cp:coreProperties>
</file>