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901" y="1371600"/>
            <a:ext cx="4672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1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9 · UNIT 3 · LESSON 8 · SEQUENCE 3 OF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396901" y="1800225"/>
            <a:ext cx="1523512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0"/>
              </a:lnSpc>
              <a:spcAft>
                <a:spcPts val="1200"/>
              </a:spcAft>
              <a:buNone/>
            </a:pPr>
            <a:r>
              <a:rPr lang="en-US" sz="120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层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396901" y="3476625"/>
            <a:ext cx="53981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Rooms + Floor Levels (Text 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96901" y="4057650"/>
            <a:ext cx="13536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00"/>
              </a:spcAft>
              <a:buNone/>
            </a:pPr>
            <a:r>
              <a:rPr lang="en-US" sz="19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教室 · 楼层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96901" y="4756100"/>
            <a:ext cx="812750" cy="50750"/>
          </a:xfrm>
          <a:prstGeom prst="roundRect">
            <a:avLst>
              <a:gd name="adj" fmla="val 50049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96901" y="5100489"/>
            <a:ext cx="1119336" cy="371475"/>
          </a:xfrm>
          <a:prstGeom prst="roundRect">
            <a:avLst>
              <a:gd name="adj" fmla="val 341538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96926" y="5186214"/>
            <a:ext cx="7336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</a:t>
            </a:r>
            <a:pPr algn="l" indent="0" marL="0">
              <a:buNone/>
            </a:pPr>
            <a:r>
              <a:rPr lang="en-US" sz="11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68637" y="5086201"/>
            <a:ext cx="2106067" cy="400050"/>
          </a:xfrm>
          <a:prstGeom prst="roundRect">
            <a:avLst>
              <a:gd name="adj" fmla="val 317142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68662" y="5171926"/>
            <a:ext cx="17401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🏫 </a:t>
            </a:r>
            <a:pPr algn="l" indent="0" marL="0">
              <a:buNone/>
            </a:pPr>
            <a:r>
              <a:rPr lang="en-US" sz="11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Speaking + Listening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27104" y="5086201"/>
            <a:ext cx="2628751" cy="400050"/>
          </a:xfrm>
          <a:prstGeom prst="roundRect">
            <a:avLst>
              <a:gd name="adj" fmla="val 317142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27129" y="5171926"/>
            <a:ext cx="227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📚 </a:t>
            </a:r>
            <a:pPr algn="l" indent="0" marL="0">
              <a:buNone/>
            </a:pPr>
            <a:r>
              <a:rPr lang="en-US" sz="11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</a:t>
            </a:r>
            <a:pPr algn="l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p.75–76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08255" y="5086201"/>
            <a:ext cx="1480840" cy="400050"/>
          </a:xfrm>
          <a:prstGeom prst="roundRect">
            <a:avLst>
              <a:gd name="adj" fmla="val 317142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08280" y="5171926"/>
            <a:ext cx="11024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🎧 </a:t>
            </a:r>
            <a:pPr algn="l" indent="0" marL="0">
              <a:buNone/>
            </a:pPr>
            <a:r>
              <a:rPr lang="en-US" sz="11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CD Track 31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0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2188"/>
            <a:ext cx="9674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教室·楼层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583382" y="133350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22983" y="122188"/>
            <a:ext cx="10260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09451"/>
            <a:ext cx="112960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58701" y="888802"/>
            <a:ext cx="1129609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Word-Building Blocks + Measure Words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8701" y="1406277"/>
            <a:ext cx="5435650" cy="4186535"/>
          </a:xfrm>
          <a:prstGeom prst="roundRect">
            <a:avLst>
              <a:gd name="adj" fmla="val 303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1376" y="1568202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6414" y="1604665"/>
            <a:ext cx="2040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15777" y="1642765"/>
            <a:ext cx="17830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WORD-BUILDING FLASH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1376" y="1999804"/>
            <a:ext cx="450800" cy="450800"/>
          </a:xfrm>
          <a:prstGeom prst="roundRect">
            <a:avLst>
              <a:gd name="adj" fmla="val 22538"/>
            </a:avLst>
          </a:prstGeom>
          <a:solidFill>
            <a:srgbClr val="FFFFFF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95052" y="2082254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3677" y="1999804"/>
            <a:ext cx="450800" cy="450800"/>
          </a:xfrm>
          <a:prstGeom prst="roundRect">
            <a:avLst>
              <a:gd name="adj" fmla="val 22538"/>
            </a:avLst>
          </a:prstGeom>
          <a:solidFill>
            <a:srgbClr val="FFFFFF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447354" y="2082254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75979" y="1999804"/>
            <a:ext cx="450800" cy="450800"/>
          </a:xfrm>
          <a:prstGeom prst="roundRect">
            <a:avLst>
              <a:gd name="adj" fmla="val 22538"/>
            </a:avLst>
          </a:prstGeom>
          <a:solidFill>
            <a:srgbClr val="FFFFFF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999655" y="2082254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28280" y="1999804"/>
            <a:ext cx="450800" cy="450800"/>
          </a:xfrm>
          <a:prstGeom prst="roundRect">
            <a:avLst>
              <a:gd name="adj" fmla="val 22538"/>
            </a:avLst>
          </a:prstGeom>
          <a:solidFill>
            <a:srgbClr val="FFFFFF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551956" y="2082254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980581" y="1999804"/>
            <a:ext cx="469850" cy="469850"/>
          </a:xfrm>
          <a:prstGeom prst="roundRect">
            <a:avLst>
              <a:gd name="adj" fmla="val 21624"/>
            </a:avLst>
          </a:prstGeom>
          <a:solidFill>
            <a:srgbClr val="F8F0DF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113782" y="2091779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室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1376" y="2571155"/>
            <a:ext cx="511050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each character — class chorally gives one facility word using it.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1376" y="2850356"/>
            <a:ext cx="511050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室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冷点提问："上节课我们猜了几个'室'的词，还记得吗？"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1376" y="3129558"/>
            <a:ext cx="511050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若忘记，教师提醒：办公室、音乐室、实验室、校医室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1376" y="5173712"/>
            <a:ext cx="701129" cy="257175"/>
          </a:xfrm>
          <a:prstGeom prst="roundRect">
            <a:avLst>
              <a:gd name="adj" fmla="val 4933333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07852" y="5221337"/>
            <a:ext cx="4367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4 min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97501" y="1406277"/>
            <a:ext cx="5435798" cy="4186535"/>
          </a:xfrm>
          <a:prstGeom prst="roundRect">
            <a:avLst>
              <a:gd name="adj" fmla="val 303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410176" y="1568202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75214" y="1604665"/>
            <a:ext cx="2040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🔢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4577" y="1642765"/>
            <a:ext cx="21409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MEASURE WORD QUICK FIRE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10176" y="1999804"/>
            <a:ext cx="5110657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three facility nouns — class chorally gives measure word + noun for each.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10176" y="2456706"/>
            <a:ext cx="4162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图书馆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919764" y="2461468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48364" y="2456706"/>
            <a:ext cx="6800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一个图书馆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10176" y="2710607"/>
            <a:ext cx="4162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教学楼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19764" y="2715369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48364" y="2710607"/>
            <a:ext cx="6800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五幢教学楼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10176" y="2964507"/>
            <a:ext cx="4162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足球场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19764" y="2969270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48364" y="2964507"/>
            <a:ext cx="6800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一个足球场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10176" y="5173712"/>
            <a:ext cx="701129" cy="257175"/>
          </a:xfrm>
          <a:prstGeom prst="roundRect">
            <a:avLst>
              <a:gd name="adj" fmla="val 4933333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546652" y="5221337"/>
            <a:ext cx="4367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4 min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58701" y="5719763"/>
            <a:ext cx="11074598" cy="681186"/>
          </a:xfrm>
          <a:prstGeom prst="roundRect">
            <a:avLst>
              <a:gd name="adj" fmla="val 14915"/>
            </a:avLst>
          </a:prstGeom>
          <a:solidFill>
            <a:srgbClr val="F8F0DF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80901" y="5865763"/>
            <a:ext cx="108428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CONNECTION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80901" y="6059388"/>
            <a:ext cx="1084280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上节课我们组了"室"这个词——办公室、音乐室、实验室。今天我们正式学这些房间的词，还要学怎么问和说：这个房间在几楼？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599337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7950" y="6659612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0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2188"/>
            <a:ext cx="9674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教室·楼层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583382" y="133350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22983" y="122188"/>
            <a:ext cx="27995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 · 8–10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09451"/>
            <a:ext cx="109851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1101" y="914251"/>
            <a:ext cx="109851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1101" y="1495276"/>
            <a:ext cx="10769798" cy="778966"/>
          </a:xfrm>
          <a:prstGeom prst="roundRect">
            <a:avLst>
              <a:gd name="adj" fmla="val 13043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11101" y="1500039"/>
            <a:ext cx="10769798" cy="0"/>
          </a:xfrm>
          <a:prstGeom prst="line">
            <a:avLst/>
          </a:prstGeom>
          <a:noFill/>
          <a:ln w="9525">
            <a:solidFill>
              <a:srgbClr val="C7DC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76137" y="1495276"/>
            <a:ext cx="0" cy="778966"/>
          </a:xfrm>
          <a:prstGeom prst="line">
            <a:avLst/>
          </a:prstGeom>
          <a:noFill/>
          <a:ln w="9525">
            <a:solidFill>
              <a:srgbClr val="C7DC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1101" y="2269480"/>
            <a:ext cx="10769798" cy="0"/>
          </a:xfrm>
          <a:prstGeom prst="line">
            <a:avLst/>
          </a:prstGeom>
          <a:noFill/>
          <a:ln w="9525">
            <a:solidFill>
              <a:srgbClr val="C7DC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9676" y="1495276"/>
            <a:ext cx="0" cy="778966"/>
          </a:xfrm>
          <a:prstGeom prst="line">
            <a:avLst/>
          </a:prstGeom>
          <a:noFill/>
          <a:ln w="57150">
            <a:solidFill>
              <a:srgbClr val="3A5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851" y="1657201"/>
            <a:ext cx="104508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96851" y="1873002"/>
            <a:ext cx="10450842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name school rooms in Chinese and understand people asking and telling which floor a room is 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1101" y="3214985"/>
            <a:ext cx="10769798" cy="723007"/>
          </a:xfrm>
          <a:prstGeom prst="roundRect">
            <a:avLst>
              <a:gd name="adj" fmla="val 14052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11101" y="3219748"/>
            <a:ext cx="107697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76137" y="3214985"/>
            <a:ext cx="0" cy="723007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1101" y="3933230"/>
            <a:ext cx="107697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4913" y="3214985"/>
            <a:ext cx="0" cy="723007"/>
          </a:xfrm>
          <a:prstGeom prst="line">
            <a:avLst/>
          </a:prstGeom>
          <a:noFill/>
          <a:ln w="47625">
            <a:solidFill>
              <a:srgbClr val="B87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326" y="3364111"/>
            <a:ext cx="310896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9827" y="3364111"/>
            <a:ext cx="996840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name at least eight school rooms in Chinese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9827" y="3607891"/>
            <a:ext cx="99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能说出至少八个教室/房间的名称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1101" y="4052292"/>
            <a:ext cx="10769798" cy="723007"/>
          </a:xfrm>
          <a:prstGeom prst="roundRect">
            <a:avLst>
              <a:gd name="adj" fmla="val 14052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711101" y="4057055"/>
            <a:ext cx="107697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76137" y="4052292"/>
            <a:ext cx="0" cy="723007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1101" y="4770537"/>
            <a:ext cx="107697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4913" y="4052292"/>
            <a:ext cx="0" cy="723007"/>
          </a:xfrm>
          <a:prstGeom prst="line">
            <a:avLst/>
          </a:prstGeom>
          <a:noFill/>
          <a:ln w="47625">
            <a:solidFill>
              <a:srgbClr val="B87A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326" y="4201418"/>
            <a:ext cx="310896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469827" y="4201418"/>
            <a:ext cx="996840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understand that 层 and 楼 both mean "floor" and can be used interchangeably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69827" y="4445198"/>
            <a:ext cx="99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理解"层"和"楼"都表示"楼层"，可以互换使用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1101" y="4889599"/>
            <a:ext cx="10769798" cy="723007"/>
          </a:xfrm>
          <a:prstGeom prst="roundRect">
            <a:avLst>
              <a:gd name="adj" fmla="val 14052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711101" y="4894362"/>
            <a:ext cx="107697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476137" y="4889599"/>
            <a:ext cx="0" cy="723007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1101" y="5607844"/>
            <a:ext cx="107697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4913" y="4889599"/>
            <a:ext cx="0" cy="723007"/>
          </a:xfrm>
          <a:prstGeom prst="line">
            <a:avLst/>
          </a:prstGeom>
          <a:noFill/>
          <a:ln w="47625">
            <a:solidFill>
              <a:srgbClr val="B87A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326" y="5038725"/>
            <a:ext cx="310896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469827" y="5038725"/>
            <a:ext cx="996840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listen to Text 2 and answer comprehension questions about where rooms are located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69827" y="5282505"/>
            <a:ext cx="99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能听懂课文二，回答关于教室位置的问题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6599337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950" y="6659612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0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2188"/>
            <a:ext cx="9674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教室·楼层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583382" y="133350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22983" y="122188"/>
            <a:ext cx="2027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· 10–20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84002"/>
            <a:ext cx="113996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NEW VOCABULARY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7950" y="850702"/>
            <a:ext cx="113996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生词 · New Vocabulary (Text 2, p.76)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7950" y="1317427"/>
            <a:ext cx="5486400" cy="2622352"/>
          </a:xfrm>
          <a:prstGeom prst="roundRect">
            <a:avLst>
              <a:gd name="adj" fmla="val 3874"/>
            </a:avLst>
          </a:prstGeom>
          <a:noFill/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7475" y="1326952"/>
            <a:ext cx="5467350" cy="279202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17475" y="1601391"/>
            <a:ext cx="5467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426" y="1390352"/>
            <a:ext cx="11916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汉字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88927" y="1390352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拼音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62027" y="1390352"/>
            <a:ext cx="25457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7475" y="1606153"/>
            <a:ext cx="5467350" cy="333375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17475" y="1934766"/>
            <a:ext cx="5467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426" y="1663303"/>
            <a:ext cx="1191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88927" y="1691878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jiàoshì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62027" y="1691878"/>
            <a:ext cx="25457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classroom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7475" y="1939528"/>
            <a:ext cx="5467350" cy="333375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17475" y="2268141"/>
            <a:ext cx="5467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426" y="1996678"/>
            <a:ext cx="1191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三层=三楼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88927" y="2025253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sān céng = sān lóu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62027" y="2025253"/>
            <a:ext cx="25457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third floor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7475" y="2272903"/>
            <a:ext cx="5467350" cy="333375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17475" y="2601516"/>
            <a:ext cx="5467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426" y="2330053"/>
            <a:ext cx="1191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旁边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888927" y="2358628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pángbiān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62027" y="2358628"/>
            <a:ext cx="25457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beside; next to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7475" y="2606278"/>
            <a:ext cx="5467350" cy="333375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17475" y="2934891"/>
            <a:ext cx="5467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426" y="2663428"/>
            <a:ext cx="1191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实验室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888927" y="2692003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shíyànshì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62027" y="2692003"/>
            <a:ext cx="25457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laboratory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17475" y="2939653"/>
            <a:ext cx="5467350" cy="333375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17475" y="3268266"/>
            <a:ext cx="5467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426" y="2996803"/>
            <a:ext cx="1191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隔壁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888927" y="3025378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gébì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62027" y="3025378"/>
            <a:ext cx="25457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door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17475" y="3273028"/>
            <a:ext cx="5467350" cy="333375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17475" y="3601641"/>
            <a:ext cx="5467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426" y="3330178"/>
            <a:ext cx="1191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厕所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888927" y="3358753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cèsuǒ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362027" y="3358753"/>
            <a:ext cx="25457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toilet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17475" y="3606403"/>
            <a:ext cx="5467350" cy="3238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44426" y="3663553"/>
            <a:ext cx="1191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男/女厕所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888927" y="3692128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nán/nǚ cèsuǒ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362027" y="3692128"/>
            <a:ext cx="25457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men's / women's toilet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197501" y="1317427"/>
            <a:ext cx="5486549" cy="2622352"/>
          </a:xfrm>
          <a:prstGeom prst="roundRect">
            <a:avLst>
              <a:gd name="adj" fmla="val 3874"/>
            </a:avLst>
          </a:prstGeom>
          <a:noFill/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207026" y="1326952"/>
            <a:ext cx="5467499" cy="279202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6207026" y="1601391"/>
            <a:ext cx="546749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33976" y="1390352"/>
            <a:ext cx="11916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汉字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578477" y="1390352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拼音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051578" y="1390352"/>
            <a:ext cx="25459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207026" y="1606153"/>
            <a:ext cx="5467499" cy="333375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6207026" y="1934766"/>
            <a:ext cx="546749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33976" y="1663303"/>
            <a:ext cx="1191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左边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578477" y="1691878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zuǒbiān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9051578" y="1691878"/>
            <a:ext cx="254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left side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207026" y="1939528"/>
            <a:ext cx="5467499" cy="333375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6207026" y="2268141"/>
            <a:ext cx="546749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33976" y="1996678"/>
            <a:ext cx="1191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右边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578477" y="2025253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yòubiān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051578" y="2025253"/>
            <a:ext cx="254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right side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207026" y="2272903"/>
            <a:ext cx="5467499" cy="333375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6207026" y="2601516"/>
            <a:ext cx="546749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33976" y="2330053"/>
            <a:ext cx="1191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校长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7578477" y="2358628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xiàozhǎng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9051578" y="2358628"/>
            <a:ext cx="254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principal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207026" y="2606278"/>
            <a:ext cx="5467499" cy="333375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Shape 69"/>
          <p:cNvSpPr/>
          <p:nvPr/>
        </p:nvSpPr>
        <p:spPr>
          <a:xfrm>
            <a:off x="6207026" y="2934891"/>
            <a:ext cx="546749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33976" y="2663428"/>
            <a:ext cx="1191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办公室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578477" y="2692003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bàngōngshì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9051578" y="2692003"/>
            <a:ext cx="254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office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207026" y="2939653"/>
            <a:ext cx="5467499" cy="333375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Shape 74"/>
          <p:cNvSpPr/>
          <p:nvPr/>
        </p:nvSpPr>
        <p:spPr>
          <a:xfrm>
            <a:off x="6207026" y="3268266"/>
            <a:ext cx="546749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33976" y="2996803"/>
            <a:ext cx="1191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教师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578477" y="3025378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jiàoshī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9051578" y="3025378"/>
            <a:ext cx="254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(formal)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6207026" y="3273028"/>
            <a:ext cx="5467499" cy="333375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Shape 79"/>
          <p:cNvSpPr/>
          <p:nvPr/>
        </p:nvSpPr>
        <p:spPr>
          <a:xfrm>
            <a:off x="6207026" y="3601641"/>
            <a:ext cx="546749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33976" y="3330178"/>
            <a:ext cx="1191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校医室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7578477" y="3358753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xiàoyīshì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9051578" y="3358753"/>
            <a:ext cx="254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school clinic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207026" y="3606403"/>
            <a:ext cx="5467499" cy="3238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6333976" y="3663553"/>
            <a:ext cx="1191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中间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7578477" y="3692128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zhōngjiān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9051578" y="3692128"/>
            <a:ext cx="254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between; centre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07950" y="4054078"/>
            <a:ext cx="11176099" cy="559891"/>
          </a:xfrm>
          <a:prstGeom prst="roundRect">
            <a:avLst>
              <a:gd name="adj" fmla="val 18146"/>
            </a:avLst>
          </a:prstGeom>
          <a:solidFill>
            <a:srgbClr val="F8F0DF"/>
          </a:solidFill>
          <a:ln w="9525">
            <a:solidFill>
              <a:srgbClr val="E9D9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720626" y="4165104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1038076" y="4165104"/>
            <a:ext cx="10641964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Today's focus is recognising these words and understanding 层=楼 for floor levels. Location words (旁边、隔壁、左边/右边、中间) are introduced receptively today — next lesson drills producing them in full sentences.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0" y="6599337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07950" y="6659612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0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2188"/>
            <a:ext cx="9674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教室·楼层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583382" y="133350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22983" y="122188"/>
            <a:ext cx="20955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Sentence Pattern · 10–20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609451"/>
            <a:ext cx="111922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KEY SENTENCE PATTERN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09600" y="914251"/>
            <a:ext cx="111922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句型 · Asking &amp; Telling Which Floor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9600" y="1457176"/>
            <a:ext cx="10972800" cy="933450"/>
          </a:xfrm>
          <a:prstGeom prst="roundRect">
            <a:avLst>
              <a:gd name="adj" fmla="val 10884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09600" y="1461939"/>
            <a:ext cx="10972800" cy="0"/>
          </a:xfrm>
          <a:prstGeom prst="line">
            <a:avLst/>
          </a:prstGeom>
          <a:noFill/>
          <a:ln w="9525">
            <a:solidFill>
              <a:srgbClr val="C7DC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77637" y="1457176"/>
            <a:ext cx="0" cy="933450"/>
          </a:xfrm>
          <a:prstGeom prst="line">
            <a:avLst/>
          </a:prstGeom>
          <a:noFill/>
          <a:ln w="9525">
            <a:solidFill>
              <a:srgbClr val="C7DC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600" y="2385864"/>
            <a:ext cx="10972800" cy="0"/>
          </a:xfrm>
          <a:prstGeom prst="line">
            <a:avLst/>
          </a:prstGeom>
          <a:noFill/>
          <a:ln w="9525">
            <a:solidFill>
              <a:srgbClr val="C7DC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8175" y="1457176"/>
            <a:ext cx="0" cy="933450"/>
          </a:xfrm>
          <a:prstGeom prst="line">
            <a:avLst/>
          </a:prstGeom>
          <a:noFill/>
          <a:ln w="57150">
            <a:solidFill>
              <a:srgbClr val="3A5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0651" y="1619101"/>
            <a:ext cx="106062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STRUCTURE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20651" y="1847701"/>
            <a:ext cx="106062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[Room] 在 [floor]。 / [Room] 在几层？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09600" y="2543026"/>
            <a:ext cx="5384750" cy="3857923"/>
          </a:xfrm>
          <a:prstGeom prst="roundRect">
            <a:avLst>
              <a:gd name="adj" fmla="val 329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47725" y="2704951"/>
            <a:ext cx="50066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MODELLED EXAMPLES · 教师朗读，全班跟读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7725" y="298742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48779" y="3033415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15926" y="3012728"/>
            <a:ext cx="134696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汉语教室在三层。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7725" y="334521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38361" y="3391198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15926" y="3370511"/>
            <a:ext cx="239927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物理实验室在哪儿？— 在二层。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7725" y="370299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38064" y="3748980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15926" y="3728293"/>
            <a:ext cx="202052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校长办公室在游泳池里面！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15926" y="4086076"/>
            <a:ext cx="46311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i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Silly example — wait for reaction!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97501" y="2543026"/>
            <a:ext cx="5384899" cy="3857923"/>
          </a:xfrm>
          <a:prstGeom prst="roundRect">
            <a:avLst>
              <a:gd name="adj" fmla="val 329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435626" y="2704951"/>
            <a:ext cx="50068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层 = 楼 EQUIVALENCE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19958" y="4081463"/>
            <a:ext cx="173998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三层 = 三楼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126828" y="4624388"/>
            <a:ext cx="15262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 mean "third floor"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30609" y="4967288"/>
            <a:ext cx="391853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三层 和 三楼 意思一样，都是"third floor"。课文里两个都会看到。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599337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950" y="6659612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0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2188"/>
            <a:ext cx="9674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教室·楼层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583382" y="133350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22983" y="122188"/>
            <a:ext cx="21017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· 10–20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34901"/>
            <a:ext cx="109851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11101" y="1215926"/>
            <a:ext cx="10985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Think first — then share with the class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1101" y="2170212"/>
            <a:ext cx="10769798" cy="1116509"/>
          </a:xfrm>
          <a:prstGeom prst="roundRect">
            <a:avLst>
              <a:gd name="adj" fmla="val 9100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11101" y="2174974"/>
            <a:ext cx="107697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76137" y="2170212"/>
            <a:ext cx="0" cy="1116509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1101" y="3281958"/>
            <a:ext cx="107697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4913" y="2170212"/>
            <a:ext cx="0" cy="1116509"/>
          </a:xfrm>
          <a:prstGeom prst="line">
            <a:avLst/>
          </a:prstGeom>
          <a:noFill/>
          <a:ln w="47625">
            <a:solidFill>
              <a:srgbClr val="B87A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2627" y="2344787"/>
            <a:ext cx="362661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71327" y="2344787"/>
            <a:ext cx="98390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571327" y="2551063"/>
            <a:ext cx="983906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"'三层'和'三楼'——意思一样还是不一样？"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71327" y="2845445"/>
            <a:ext cx="1106239" cy="266700"/>
          </a:xfrm>
          <a:prstGeom prst="roundRect">
            <a:avLst>
              <a:gd name="adj" fmla="val 4757143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07803" y="2893070"/>
            <a:ext cx="8499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🤔 答案见下一张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11101" y="3413671"/>
            <a:ext cx="10769798" cy="1116509"/>
          </a:xfrm>
          <a:prstGeom prst="roundRect">
            <a:avLst>
              <a:gd name="adj" fmla="val 9100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11101" y="3418433"/>
            <a:ext cx="107697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76137" y="3413671"/>
            <a:ext cx="0" cy="1116509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1101" y="4525417"/>
            <a:ext cx="107697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4913" y="3413671"/>
            <a:ext cx="0" cy="1116509"/>
          </a:xfrm>
          <a:prstGeom prst="line">
            <a:avLst/>
          </a:prstGeom>
          <a:noFill/>
          <a:ln w="47625">
            <a:solidFill>
              <a:srgbClr val="B87A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2627" y="3588246"/>
            <a:ext cx="362661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571327" y="3588246"/>
            <a:ext cx="98390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571327" y="3794522"/>
            <a:ext cx="983906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"Priya, 'laboratory' 用中文怎么说？" / "Sam, 'toilet' 呢？"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71327" y="4088904"/>
            <a:ext cx="1106239" cy="266700"/>
          </a:xfrm>
          <a:prstGeom prst="roundRect">
            <a:avLst>
              <a:gd name="adj" fmla="val 4757143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707803" y="4136529"/>
            <a:ext cx="8499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💬 答案见下一张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11101" y="4657130"/>
            <a:ext cx="10769798" cy="1116509"/>
          </a:xfrm>
          <a:prstGeom prst="roundRect">
            <a:avLst>
              <a:gd name="adj" fmla="val 9100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711101" y="4661892"/>
            <a:ext cx="107697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476137" y="4657130"/>
            <a:ext cx="0" cy="1116509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1101" y="5768876"/>
            <a:ext cx="107697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4913" y="4657130"/>
            <a:ext cx="0" cy="1116509"/>
          </a:xfrm>
          <a:prstGeom prst="line">
            <a:avLst/>
          </a:prstGeom>
          <a:noFill/>
          <a:ln w="47625">
            <a:solidFill>
              <a:srgbClr val="B87A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2627" y="4831705"/>
            <a:ext cx="362661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1571327" y="4831705"/>
            <a:ext cx="98390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CHECK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571327" y="5037981"/>
            <a:ext cx="983906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教室在几层？ vs 教室在哪层？ — "这两个问题意思一样吗？"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571327" y="5332363"/>
            <a:ext cx="1106239" cy="266700"/>
          </a:xfrm>
          <a:prstGeom prst="roundRect">
            <a:avLst>
              <a:gd name="adj" fmla="val 4757143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707803" y="5379988"/>
            <a:ext cx="8499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👉 答案见下一张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6599337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950" y="6659612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0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2188"/>
            <a:ext cx="9674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教室·楼层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583382" y="133350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22983" y="122188"/>
            <a:ext cx="15997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· CFU Checkpoints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34901"/>
            <a:ext cx="109851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11101" y="1215926"/>
            <a:ext cx="10985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1101" y="2309961"/>
            <a:ext cx="10769798" cy="1023342"/>
          </a:xfrm>
          <a:prstGeom prst="roundRect">
            <a:avLst>
              <a:gd name="adj" fmla="val 9928"/>
            </a:avLst>
          </a:prstGeom>
          <a:solidFill>
            <a:srgbClr val="EEF5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11101" y="2314724"/>
            <a:ext cx="10769798" cy="0"/>
          </a:xfrm>
          <a:prstGeom prst="line">
            <a:avLst/>
          </a:prstGeom>
          <a:noFill/>
          <a:ln w="9525">
            <a:solidFill>
              <a:srgbClr val="CFE3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76137" y="2309961"/>
            <a:ext cx="0" cy="1023342"/>
          </a:xfrm>
          <a:prstGeom prst="line">
            <a:avLst/>
          </a:prstGeom>
          <a:noFill/>
          <a:ln w="9525">
            <a:solidFill>
              <a:srgbClr val="CFE3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1101" y="3328541"/>
            <a:ext cx="10769798" cy="0"/>
          </a:xfrm>
          <a:prstGeom prst="line">
            <a:avLst/>
          </a:prstGeom>
          <a:noFill/>
          <a:ln w="9525">
            <a:solidFill>
              <a:srgbClr val="CFE3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4913" y="2309961"/>
            <a:ext cx="0" cy="1023342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2627" y="2471886"/>
            <a:ext cx="3367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45878" y="2471886"/>
            <a:ext cx="986502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"'三层'和'三楼'——意思一样还是不一样？"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45878" y="2687538"/>
            <a:ext cx="98650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一样！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45878" y="3014514"/>
            <a:ext cx="9865028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层 and 楼 are interchangeable for floor numbers.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1101" y="3460254"/>
            <a:ext cx="10769798" cy="1023342"/>
          </a:xfrm>
          <a:prstGeom prst="roundRect">
            <a:avLst>
              <a:gd name="adj" fmla="val 9928"/>
            </a:avLst>
          </a:prstGeom>
          <a:solidFill>
            <a:srgbClr val="EEF5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11101" y="3465016"/>
            <a:ext cx="10769798" cy="0"/>
          </a:xfrm>
          <a:prstGeom prst="line">
            <a:avLst/>
          </a:prstGeom>
          <a:noFill/>
          <a:ln w="9525">
            <a:solidFill>
              <a:srgbClr val="CFE3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76137" y="3460254"/>
            <a:ext cx="0" cy="1023342"/>
          </a:xfrm>
          <a:prstGeom prst="line">
            <a:avLst/>
          </a:prstGeom>
          <a:noFill/>
          <a:ln w="9525">
            <a:solidFill>
              <a:srgbClr val="CFE3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1101" y="4478834"/>
            <a:ext cx="10769798" cy="0"/>
          </a:xfrm>
          <a:prstGeom prst="line">
            <a:avLst/>
          </a:prstGeom>
          <a:noFill/>
          <a:ln w="9525">
            <a:solidFill>
              <a:srgbClr val="CFE3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4913" y="3460254"/>
            <a:ext cx="0" cy="1023342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2627" y="3622179"/>
            <a:ext cx="3367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545878" y="3622179"/>
            <a:ext cx="986502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"laboratory" 用中文怎么说？ / "toilet" 呢？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45878" y="3837831"/>
            <a:ext cx="98650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实验室 · 厕所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45878" y="4164806"/>
            <a:ext cx="9865028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laboratory = 实验室 (shíyànshì) | toilet = 厕所 (cèsuǒ)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11101" y="4610546"/>
            <a:ext cx="10769798" cy="1023342"/>
          </a:xfrm>
          <a:prstGeom prst="roundRect">
            <a:avLst>
              <a:gd name="adj" fmla="val 9928"/>
            </a:avLst>
          </a:prstGeom>
          <a:solidFill>
            <a:srgbClr val="EEF5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711101" y="4615309"/>
            <a:ext cx="10769798" cy="0"/>
          </a:xfrm>
          <a:prstGeom prst="line">
            <a:avLst/>
          </a:prstGeom>
          <a:noFill/>
          <a:ln w="9525">
            <a:solidFill>
              <a:srgbClr val="CFE3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76137" y="4610546"/>
            <a:ext cx="0" cy="1023342"/>
          </a:xfrm>
          <a:prstGeom prst="line">
            <a:avLst/>
          </a:prstGeom>
          <a:noFill/>
          <a:ln w="9525">
            <a:solidFill>
              <a:srgbClr val="CFE3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1101" y="5629126"/>
            <a:ext cx="10769798" cy="0"/>
          </a:xfrm>
          <a:prstGeom prst="line">
            <a:avLst/>
          </a:prstGeom>
          <a:noFill/>
          <a:ln w="9525">
            <a:solidFill>
              <a:srgbClr val="CFE3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4913" y="4610546"/>
            <a:ext cx="0" cy="1023342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2627" y="4772471"/>
            <a:ext cx="3367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545878" y="4772471"/>
            <a:ext cx="986502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教室在几层？ vs 教室在哪层？ — 意思一样吗？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545878" y="4988123"/>
            <a:ext cx="98650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是，一样的！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545878" y="5315099"/>
            <a:ext cx="9865028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 questions ask the same thing — accept either 几层 or 哪层。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6599337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950" y="6659612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0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2188"/>
            <a:ext cx="9674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教室·楼层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583382" y="133350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22983" y="122188"/>
            <a:ext cx="20120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Text 2 Dialogue · 10–20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1750" y="558701"/>
            <a:ext cx="235722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课文二 · Text 2 (p.75)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895154" y="611088"/>
            <a:ext cx="1151037" cy="238125"/>
          </a:xfrm>
          <a:prstGeom prst="roundRect">
            <a:avLst>
              <a:gd name="adj" fmla="val 5328000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47554" y="649188"/>
            <a:ext cx="8631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CD Track 31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1750" y="1003102"/>
            <a:ext cx="6592491" cy="5448598"/>
          </a:xfrm>
          <a:prstGeom prst="roundRect">
            <a:avLst>
              <a:gd name="adj" fmla="val 186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4426" y="2155775"/>
            <a:ext cx="569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新生1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04627" y="2127200"/>
            <a:ext cx="56170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汉语教室在几层？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04627" y="2317700"/>
            <a:ext cx="56170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Hànyǔ jiàoshì zài jǐ céng?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4426" y="2565350"/>
            <a:ext cx="569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小明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04627" y="2536775"/>
            <a:ext cx="56170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在三层，在法语教室的旁边。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4627" y="2727275"/>
            <a:ext cx="56170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Zài sān céng, zài Fǎyǔ jiàoshì de pángbiān.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4426" y="2974925"/>
            <a:ext cx="569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新生2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04627" y="2946350"/>
            <a:ext cx="56170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物理实验室在哪儿？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04627" y="3136850"/>
            <a:ext cx="56170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Wùlǐ shíyànshì zài nǎr?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4426" y="3384500"/>
            <a:ext cx="569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小明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04627" y="3355925"/>
            <a:ext cx="56170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在一号教学楼的二层，在音乐室的隔壁。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04627" y="3546425"/>
            <a:ext cx="56170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Zài yī hào jiàoxuélóu de èr céng, zài yīnyuèshì de gébì.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4426" y="3794075"/>
            <a:ext cx="569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新生1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304627" y="3765500"/>
            <a:ext cx="56170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厕所在哪儿？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04627" y="3956000"/>
            <a:ext cx="56170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Cèsuǒ zài nǎr?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4426" y="4203650"/>
            <a:ext cx="569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小明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304627" y="4175075"/>
            <a:ext cx="56170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在一楼。男厕所在左边，女厕所在右边。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304627" y="4365575"/>
            <a:ext cx="56170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Zài yī lóu. Nán cèsuǒ zài zuǒbiān, nǚ cèsuǒ zài yòubiān.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4426" y="4613225"/>
            <a:ext cx="569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新生2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304627" y="4584650"/>
            <a:ext cx="56170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校长办公室在哪儿？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304627" y="4775150"/>
            <a:ext cx="56170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Xiàozhǎng bàngōngshì zài nǎr?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4426" y="5022800"/>
            <a:ext cx="569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小明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304627" y="4994225"/>
            <a:ext cx="56170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在五号教学楼一层，在教师办公室和校医室的中间。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304627" y="5184725"/>
            <a:ext cx="56170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Zài wǔ hào jiàoxuélóu yī lóu, zài jiàoshī bàngōngshì hé xiàoyīshì de zhōngjiān.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201942" y="1003102"/>
            <a:ext cx="4558308" cy="5072658"/>
          </a:xfrm>
          <a:prstGeom prst="roundRect">
            <a:avLst>
              <a:gd name="adj" fmla="val 2229"/>
            </a:avLst>
          </a:prstGeom>
          <a:solidFill>
            <a:srgbClr val="EDF3F4"/>
          </a:solidFill>
          <a:ln w="9525">
            <a:solidFill>
              <a:srgbClr val="C7DC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389168" y="1139577"/>
            <a:ext cx="42675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COMPREHENSION QUESTIONS · 理解问题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89168" y="1390352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35317" y="1399877"/>
            <a:ext cx="224579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汉语教室在几层？在哪个教室的旁边？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89168" y="1660178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58534" y="1669703"/>
            <a:ext cx="1188934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物理实验室在哪儿？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89168" y="1930003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59129" y="1939528"/>
            <a:ext cx="1188934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校长办公室在哪儿？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89168" y="2199829"/>
            <a:ext cx="1055489" cy="257175"/>
          </a:xfrm>
          <a:prstGeom prst="roundRect">
            <a:avLst>
              <a:gd name="adj" fmla="val 4933333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525643" y="2247454"/>
            <a:ext cx="7981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👉 答案见下一张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201942" y="6177260"/>
            <a:ext cx="4649474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教师朗读一遍课文（角色分明），全班跟看拼音；播放 CD Track 31。今天可用英文作答，欢迎流利的学生用中文复述。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6599337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7950" y="6659612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0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2188"/>
            <a:ext cx="9674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教室·楼层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583382" y="133350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22983" y="122188"/>
            <a:ext cx="14492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· 课文二理解问题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0350" y="634901"/>
            <a:ext cx="110887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课文二理解问题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0350" y="1165027"/>
            <a:ext cx="11088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0350" y="2354610"/>
            <a:ext cx="10871299" cy="980777"/>
          </a:xfrm>
          <a:prstGeom prst="roundRect">
            <a:avLst>
              <a:gd name="adj" fmla="val 10359"/>
            </a:avLst>
          </a:prstGeom>
          <a:solidFill>
            <a:srgbClr val="EEF5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60350" y="2359372"/>
            <a:ext cx="10871299" cy="0"/>
          </a:xfrm>
          <a:prstGeom prst="line">
            <a:avLst/>
          </a:prstGeom>
          <a:noFill/>
          <a:ln w="9525">
            <a:solidFill>
              <a:srgbClr val="CFE3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6887" y="2354610"/>
            <a:ext cx="0" cy="980777"/>
          </a:xfrm>
          <a:prstGeom prst="line">
            <a:avLst/>
          </a:prstGeom>
          <a:noFill/>
          <a:ln w="9525">
            <a:solidFill>
              <a:srgbClr val="CFE3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350" y="3330625"/>
            <a:ext cx="10871299" cy="0"/>
          </a:xfrm>
          <a:prstGeom prst="line">
            <a:avLst/>
          </a:prstGeom>
          <a:noFill/>
          <a:ln w="9525">
            <a:solidFill>
              <a:srgbClr val="CFE3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4163" y="2354610"/>
            <a:ext cx="0" cy="980777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6575" y="2503736"/>
            <a:ext cx="310896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9076" y="2503736"/>
            <a:ext cx="100719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汉语教室在几层？在哪个教室的旁边？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19076" y="2716411"/>
            <a:ext cx="1007193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汉语教室在三层，在法语教室的旁边。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9076" y="3024336"/>
            <a:ext cx="100719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third floor; next to the French classroom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60350" y="3449687"/>
            <a:ext cx="10871299" cy="980777"/>
          </a:xfrm>
          <a:prstGeom prst="roundRect">
            <a:avLst>
              <a:gd name="adj" fmla="val 10359"/>
            </a:avLst>
          </a:prstGeom>
          <a:solidFill>
            <a:srgbClr val="EEF5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60350" y="3454450"/>
            <a:ext cx="10871299" cy="0"/>
          </a:xfrm>
          <a:prstGeom prst="line">
            <a:avLst/>
          </a:prstGeom>
          <a:noFill/>
          <a:ln w="9525">
            <a:solidFill>
              <a:srgbClr val="CFE3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26887" y="3449687"/>
            <a:ext cx="0" cy="980777"/>
          </a:xfrm>
          <a:prstGeom prst="line">
            <a:avLst/>
          </a:prstGeom>
          <a:noFill/>
          <a:ln w="9525">
            <a:solidFill>
              <a:srgbClr val="CFE3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0350" y="4425702"/>
            <a:ext cx="10871299" cy="0"/>
          </a:xfrm>
          <a:prstGeom prst="line">
            <a:avLst/>
          </a:prstGeom>
          <a:noFill/>
          <a:ln w="9525">
            <a:solidFill>
              <a:srgbClr val="CFE3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4163" y="3449687"/>
            <a:ext cx="0" cy="980777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6575" y="3598813"/>
            <a:ext cx="310896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19076" y="3598813"/>
            <a:ext cx="100719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物理实验室在哪儿？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419076" y="3811488"/>
            <a:ext cx="1007193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物理实验室在一号教学楼的二层，在音乐室的隔壁。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19076" y="4119414"/>
            <a:ext cx="100719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second floor of Building 1, next door to the music room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60350" y="4544764"/>
            <a:ext cx="10871299" cy="980777"/>
          </a:xfrm>
          <a:prstGeom prst="roundRect">
            <a:avLst>
              <a:gd name="adj" fmla="val 10359"/>
            </a:avLst>
          </a:prstGeom>
          <a:solidFill>
            <a:srgbClr val="EEF5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60350" y="4549527"/>
            <a:ext cx="10871299" cy="0"/>
          </a:xfrm>
          <a:prstGeom prst="line">
            <a:avLst/>
          </a:prstGeom>
          <a:noFill/>
          <a:ln w="9525">
            <a:solidFill>
              <a:srgbClr val="CFE3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526887" y="4544764"/>
            <a:ext cx="0" cy="980777"/>
          </a:xfrm>
          <a:prstGeom prst="line">
            <a:avLst/>
          </a:prstGeom>
          <a:noFill/>
          <a:ln w="9525">
            <a:solidFill>
              <a:srgbClr val="CFE3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350" y="5520779"/>
            <a:ext cx="10871299" cy="0"/>
          </a:xfrm>
          <a:prstGeom prst="line">
            <a:avLst/>
          </a:prstGeom>
          <a:noFill/>
          <a:ln w="9525">
            <a:solidFill>
              <a:srgbClr val="CFE3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4163" y="4544764"/>
            <a:ext cx="0" cy="980777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6575" y="4693890"/>
            <a:ext cx="310896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419076" y="4693890"/>
            <a:ext cx="100719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校长办公室在哪儿？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419076" y="4906566"/>
            <a:ext cx="1007193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校长办公室在五号教学楼一层，在教师办公室和校医室的中间。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19076" y="5214491"/>
            <a:ext cx="100719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floor of Building 5, between the teachers' office and the school clinic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6599337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950" y="6659612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0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2188"/>
            <a:ext cx="9674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教室·楼层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583382" y="133350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22983" y="122188"/>
            <a:ext cx="24282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课文二精听 · 20–27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1750" y="558701"/>
            <a:ext cx="115550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20–27 MIN · WE DO · ACTIVITY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1750" y="812602"/>
            <a:ext cx="115550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活动1 · 课文二精听 Focused Listening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31750" y="1257002"/>
            <a:ext cx="6703665" cy="5194697"/>
          </a:xfrm>
          <a:prstGeom prst="roundRect">
            <a:avLst>
              <a:gd name="adj" fmla="val 195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4426" y="1393478"/>
            <a:ext cx="11798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活动 1 · Activity 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02619" y="1396752"/>
            <a:ext cx="934938" cy="183952"/>
          </a:xfrm>
          <a:prstGeom prst="roundRect">
            <a:avLst>
              <a:gd name="adj" fmla="val 6897071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16919" y="1422053"/>
            <a:ext cx="720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CD Track 31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44426" y="168547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4346" y="1720304"/>
            <a:ext cx="440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36427" y="1672828"/>
            <a:ext cx="2519351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播放 CD Track 31，拼音可见，学生默默跟听。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4426" y="196468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5714" y="1999506"/>
            <a:ext cx="617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36427" y="1952030"/>
            <a:ext cx="2779088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第三次播放只显示汉字（隐藏拼音）— 听四个地点。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4426" y="224388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15417" y="2278707"/>
            <a:ext cx="62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36427" y="2231231"/>
            <a:ext cx="346646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再次投影三个理解问题（不显示答案），Turn-and-talk 2 分钟。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4426" y="2523083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15119" y="2557909"/>
            <a:ext cx="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36427" y="2510433"/>
            <a:ext cx="2916168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三位学生，每人一题，用完整中文句子回答。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4426" y="2875211"/>
            <a:ext cx="16517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FOR FOUR LOCATIONS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352675" y="2840385"/>
            <a:ext cx="637133" cy="212527"/>
          </a:xfrm>
          <a:prstGeom prst="roundRect">
            <a:avLst>
              <a:gd name="adj" fmla="val 5969736"/>
            </a:avLst>
          </a:prstGeom>
          <a:solidFill>
            <a:srgbClr val="EDF3F4"/>
          </a:solidFill>
          <a:ln w="9525">
            <a:solidFill>
              <a:srgbClr val="C7DC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463701" y="2875211"/>
            <a:ext cx="423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汉语教室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078659" y="2840385"/>
            <a:ext cx="741015" cy="212527"/>
          </a:xfrm>
          <a:prstGeom prst="roundRect">
            <a:avLst>
              <a:gd name="adj" fmla="val 5969736"/>
            </a:avLst>
          </a:prstGeom>
          <a:solidFill>
            <a:srgbClr val="EDF3F4"/>
          </a:solidFill>
          <a:ln w="9525">
            <a:solidFill>
              <a:srgbClr val="C7DC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189684" y="2875211"/>
            <a:ext cx="529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物理实验室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908524" y="2840385"/>
            <a:ext cx="429667" cy="212527"/>
          </a:xfrm>
          <a:prstGeom prst="roundRect">
            <a:avLst>
              <a:gd name="adj" fmla="val 5969736"/>
            </a:avLst>
          </a:prstGeom>
          <a:solidFill>
            <a:srgbClr val="EDF3F4"/>
          </a:solidFill>
          <a:ln w="9525">
            <a:solidFill>
              <a:srgbClr val="C7DC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019550" y="2875211"/>
            <a:ext cx="2117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厕所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27041" y="2840385"/>
            <a:ext cx="741015" cy="212527"/>
          </a:xfrm>
          <a:prstGeom prst="roundRect">
            <a:avLst>
              <a:gd name="adj" fmla="val 5969736"/>
            </a:avLst>
          </a:prstGeom>
          <a:solidFill>
            <a:srgbClr val="EDF3F4"/>
          </a:solidFill>
          <a:ln w="9525">
            <a:solidFill>
              <a:srgbClr val="C7DC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538067" y="2875211"/>
            <a:ext cx="529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校长办公室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4426" y="3167063"/>
            <a:ext cx="6278314" cy="530126"/>
          </a:xfrm>
          <a:prstGeom prst="roundRect">
            <a:avLst>
              <a:gd name="adj" fmla="val 14374"/>
            </a:avLst>
          </a:prstGeom>
          <a:solidFill>
            <a:srgbClr val="F8F0DF"/>
          </a:solidFill>
          <a:ln w="9525">
            <a:solidFill>
              <a:srgbClr val="E9D9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06351" y="3252788"/>
            <a:ext cx="60735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ANSWER FORMAT · 句型支架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06351" y="3411438"/>
            <a:ext cx="60735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汉语教室在三层，在法语教室的旁边。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3116" y="1257002"/>
            <a:ext cx="4447133" cy="628204"/>
          </a:xfrm>
          <a:prstGeom prst="roundRect">
            <a:avLst>
              <a:gd name="adj" fmla="val 1617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500342" y="1368028"/>
            <a:ext cx="41541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方位词 · LOCATION PHRASES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500342" y="1561654"/>
            <a:ext cx="429667" cy="212527"/>
          </a:xfrm>
          <a:prstGeom prst="roundRect">
            <a:avLst>
              <a:gd name="adj" fmla="val 5969736"/>
            </a:avLst>
          </a:prstGeom>
          <a:solidFill>
            <a:srgbClr val="FFFFFF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611368" y="1596479"/>
            <a:ext cx="2117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旁边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993410" y="1561654"/>
            <a:ext cx="429667" cy="212527"/>
          </a:xfrm>
          <a:prstGeom prst="roundRect">
            <a:avLst>
              <a:gd name="adj" fmla="val 5969736"/>
            </a:avLst>
          </a:prstGeom>
          <a:solidFill>
            <a:srgbClr val="FFFFFF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104436" y="1596479"/>
            <a:ext cx="2117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隔壁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486477" y="1561654"/>
            <a:ext cx="429667" cy="212527"/>
          </a:xfrm>
          <a:prstGeom prst="roundRect">
            <a:avLst>
              <a:gd name="adj" fmla="val 5969736"/>
            </a:avLst>
          </a:prstGeom>
          <a:solidFill>
            <a:srgbClr val="FFFFFF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8597503" y="1596479"/>
            <a:ext cx="2117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左边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979545" y="1561654"/>
            <a:ext cx="429667" cy="212527"/>
          </a:xfrm>
          <a:prstGeom prst="roundRect">
            <a:avLst>
              <a:gd name="adj" fmla="val 5969736"/>
            </a:avLst>
          </a:prstGeom>
          <a:solidFill>
            <a:srgbClr val="FFFFFF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9090571" y="1596479"/>
            <a:ext cx="2117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右边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472613" y="1561654"/>
            <a:ext cx="429667" cy="212527"/>
          </a:xfrm>
          <a:prstGeom prst="roundRect">
            <a:avLst>
              <a:gd name="adj" fmla="val 5969736"/>
            </a:avLst>
          </a:prstGeom>
          <a:solidFill>
            <a:srgbClr val="FFFFFF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9583638" y="1596479"/>
            <a:ext cx="2117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中间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13116" y="1986707"/>
            <a:ext cx="4447133" cy="724049"/>
          </a:xfrm>
          <a:prstGeom prst="roundRect">
            <a:avLst>
              <a:gd name="adj" fmla="val 14032"/>
            </a:avLst>
          </a:prstGeom>
          <a:solidFill>
            <a:srgbClr val="EDF3F4"/>
          </a:solidFill>
          <a:ln w="9525">
            <a:solidFill>
              <a:srgbClr val="C7DC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500342" y="2097732"/>
            <a:ext cx="41541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 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500342" y="2291358"/>
            <a:ext cx="4154135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Turn-and-talk: every student states at least one answer aloud to their partner.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3116" y="2812256"/>
            <a:ext cx="4447133" cy="724049"/>
          </a:xfrm>
          <a:prstGeom prst="roundRect">
            <a:avLst>
              <a:gd name="adj" fmla="val 1403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500342" y="2923282"/>
            <a:ext cx="41541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500342" y="3116907"/>
            <a:ext cx="4154135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the dialogue text (characters only) visible during turn-and-talk for students who need to re-read.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13116" y="3637806"/>
            <a:ext cx="4447133" cy="724049"/>
          </a:xfrm>
          <a:prstGeom prst="roundRect">
            <a:avLst>
              <a:gd name="adj" fmla="val 14032"/>
            </a:avLst>
          </a:prstGeom>
          <a:solidFill>
            <a:srgbClr val="FBEEEC"/>
          </a:solidFill>
          <a:ln w="9525">
            <a:solidFill>
              <a:srgbClr val="E9C9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500342" y="3748832"/>
            <a:ext cx="41541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500342" y="3942457"/>
            <a:ext cx="4154135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all three questions using full 在……的旁边/隔壁/中间 phrasing exactly as in the text, without looking.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0" y="6599337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7950" y="6659612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0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2188"/>
            <a:ext cx="9674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教室·楼层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583382" y="133350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22983" y="122188"/>
            <a:ext cx="24926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听写楼层图 · 27–36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1750" y="558701"/>
            <a:ext cx="115550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27–36 MIN · YOU DO · WRITING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1750" y="812602"/>
            <a:ext cx="115550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活动二 · 听写楼层图 Listen-and-Label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31750" y="1257002"/>
            <a:ext cx="6592491" cy="5194697"/>
          </a:xfrm>
          <a:prstGeom prst="roundRect">
            <a:avLst>
              <a:gd name="adj" fmla="val 195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4426" y="1393478"/>
            <a:ext cx="1675209" cy="193477"/>
          </a:xfrm>
          <a:prstGeom prst="roundRect">
            <a:avLst>
              <a:gd name="adj" fmla="val 6557524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1376" y="1418779"/>
            <a:ext cx="14497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LISTEN &amp; LABEL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4426" y="1701105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4346" y="1735931"/>
            <a:ext cx="440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36427" y="1688455"/>
            <a:ext cx="377857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快速抄写三层楼房结构图（1分钟）— 一层/二层/三层，各留两个空格。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4426" y="198030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5714" y="2015133"/>
            <a:ext cx="617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36427" y="1967657"/>
            <a:ext cx="3048238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教师朗读6个句子，每句一遍，按自然语速，中途不重复。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4426" y="225950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15417" y="2294334"/>
            <a:ext cx="62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36427" y="2246858"/>
            <a:ext cx="238075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边听边把正确的房间名写在正确的楼层格里。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4426" y="253871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5119" y="2573536"/>
            <a:ext cx="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36427" y="2526060"/>
            <a:ext cx="357105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教师以正常语速再完整朗读一遍，检查并补全；然后对照答案自评。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4426" y="2843361"/>
            <a:ext cx="6167140" cy="470297"/>
          </a:xfrm>
          <a:prstGeom prst="roundRect">
            <a:avLst>
              <a:gd name="adj" fmla="val 16203"/>
            </a:avLst>
          </a:prstGeom>
          <a:solidFill>
            <a:srgbClr val="EDF3F4"/>
          </a:solidFill>
          <a:ln w="9525">
            <a:solidFill>
              <a:srgbClr val="C7DC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06351" y="2929086"/>
            <a:ext cx="59601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 2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06351" y="3087737"/>
            <a:ext cx="5960156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students write independently during the dictation.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4426" y="3415159"/>
            <a:ext cx="6167140" cy="470297"/>
          </a:xfrm>
          <a:prstGeom prst="roundRect">
            <a:avLst>
              <a:gd name="adj" fmla="val 16203"/>
            </a:avLst>
          </a:prstGeom>
          <a:solidFill>
            <a:srgbClr val="FFFFFF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06351" y="3500884"/>
            <a:ext cx="59601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06351" y="3659535"/>
            <a:ext cx="5960156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room names projected as word bank — students only need to catch the floor number.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4426" y="3986957"/>
            <a:ext cx="6167140" cy="610493"/>
          </a:xfrm>
          <a:prstGeom prst="roundRect">
            <a:avLst>
              <a:gd name="adj" fmla="val 12482"/>
            </a:avLst>
          </a:prstGeom>
          <a:solidFill>
            <a:srgbClr val="F8F0DF"/>
          </a:solidFill>
          <a:ln w="9525">
            <a:solidFill>
              <a:srgbClr val="E9D9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06351" y="4072682"/>
            <a:ext cx="59601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06351" y="4231332"/>
            <a:ext cx="5960156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one spatial detail after listening — e.g. predict which rooms might be next door to each other — and share your reasoning with a partner.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201942" y="1257002"/>
            <a:ext cx="4558308" cy="913656"/>
          </a:xfrm>
          <a:prstGeom prst="roundRect">
            <a:avLst>
              <a:gd name="adj" fmla="val 1112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389168" y="1368028"/>
            <a:ext cx="42675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词汇支持 · WORD BANK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389168" y="1552129"/>
            <a:ext cx="552896" cy="222052"/>
          </a:xfrm>
          <a:prstGeom prst="roundRect">
            <a:avLst>
              <a:gd name="adj" fmla="val 5713662"/>
            </a:avLst>
          </a:prstGeom>
          <a:solidFill>
            <a:srgbClr val="FFFFFF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500193" y="1586954"/>
            <a:ext cx="3374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音乐室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005465" y="1552129"/>
            <a:ext cx="552896" cy="222052"/>
          </a:xfrm>
          <a:prstGeom prst="roundRect">
            <a:avLst>
              <a:gd name="adj" fmla="val 5713662"/>
            </a:avLst>
          </a:prstGeom>
          <a:solidFill>
            <a:srgbClr val="FFFFFF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116491" y="1586954"/>
            <a:ext cx="3374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校医室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621762" y="1552129"/>
            <a:ext cx="663178" cy="222052"/>
          </a:xfrm>
          <a:prstGeom prst="roundRect">
            <a:avLst>
              <a:gd name="adj" fmla="val 5713662"/>
            </a:avLst>
          </a:prstGeom>
          <a:solidFill>
            <a:srgbClr val="FFFFFF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732788" y="1586954"/>
            <a:ext cx="4499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汉语教室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348341" y="1552129"/>
            <a:ext cx="773460" cy="222052"/>
          </a:xfrm>
          <a:prstGeom prst="roundRect">
            <a:avLst>
              <a:gd name="adj" fmla="val 5713662"/>
            </a:avLst>
          </a:prstGeom>
          <a:solidFill>
            <a:srgbClr val="FFFFFF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9459367" y="1586954"/>
            <a:ext cx="5624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物理实验室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185202" y="1552129"/>
            <a:ext cx="773460" cy="222052"/>
          </a:xfrm>
          <a:prstGeom prst="roundRect">
            <a:avLst>
              <a:gd name="adj" fmla="val 5713662"/>
            </a:avLst>
          </a:prstGeom>
          <a:solidFill>
            <a:srgbClr val="FFFFFF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0296227" y="1586954"/>
            <a:ext cx="5624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校长办公室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389168" y="1837581"/>
            <a:ext cx="663178" cy="222052"/>
          </a:xfrm>
          <a:prstGeom prst="roundRect">
            <a:avLst>
              <a:gd name="adj" fmla="val 5713662"/>
            </a:avLst>
          </a:prstGeom>
          <a:solidFill>
            <a:srgbClr val="FFFFFF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500193" y="1872407"/>
            <a:ext cx="4499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法语教室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201942" y="2272159"/>
            <a:ext cx="4558308" cy="4179540"/>
          </a:xfrm>
          <a:prstGeom prst="roundRect">
            <a:avLst>
              <a:gd name="adj" fmla="val 2431"/>
            </a:avLst>
          </a:prstGeom>
          <a:solidFill>
            <a:srgbClr val="FFFFFF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211467" y="2281684"/>
            <a:ext cx="4539258" cy="279202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363867" y="2345085"/>
            <a:ext cx="43191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楼层图 · Floor Plan (blank)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211467" y="3853011"/>
            <a:ext cx="453925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63867" y="3109317"/>
            <a:ext cx="4403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三层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871817" y="3066455"/>
            <a:ext cx="1825079" cy="276225"/>
          </a:xfrm>
          <a:prstGeom prst="roundRect">
            <a:avLst>
              <a:gd name="adj" fmla="val 22989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957097" y="3104555"/>
            <a:ext cx="16545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773096" y="3066455"/>
            <a:ext cx="1825228" cy="276225"/>
          </a:xfrm>
          <a:prstGeom prst="roundRect">
            <a:avLst>
              <a:gd name="adj" fmla="val 22989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9858375" y="3104555"/>
            <a:ext cx="16546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211467" y="5150048"/>
            <a:ext cx="453925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63867" y="4406205"/>
            <a:ext cx="4403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二层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871817" y="4363343"/>
            <a:ext cx="1825079" cy="276225"/>
          </a:xfrm>
          <a:prstGeom prst="roundRect">
            <a:avLst>
              <a:gd name="adj" fmla="val 22989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7957097" y="4401443"/>
            <a:ext cx="16545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773096" y="4363343"/>
            <a:ext cx="1825228" cy="276225"/>
          </a:xfrm>
          <a:prstGeom prst="roundRect">
            <a:avLst>
              <a:gd name="adj" fmla="val 22989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9858375" y="4401443"/>
            <a:ext cx="16546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363867" y="5703243"/>
            <a:ext cx="4403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一层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871817" y="5660380"/>
            <a:ext cx="1825079" cy="276225"/>
          </a:xfrm>
          <a:prstGeom prst="roundRect">
            <a:avLst>
              <a:gd name="adj" fmla="val 22989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957097" y="5698480"/>
            <a:ext cx="16545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9773096" y="5660380"/>
            <a:ext cx="1825228" cy="276225"/>
          </a:xfrm>
          <a:prstGeom prst="roundRect">
            <a:avLst>
              <a:gd name="adj" fmla="val 22989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9858375" y="5698480"/>
            <a:ext cx="16546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0" y="6599337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7950" y="6659612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0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2188"/>
            <a:ext cx="9674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教室·楼层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583382" y="133350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22983" y="122188"/>
            <a:ext cx="15849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· 楼层图 Floor Plan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84002"/>
            <a:ext cx="113996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7950" y="850702"/>
            <a:ext cx="113996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楼层图 Floor Plan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7950" y="1317427"/>
            <a:ext cx="4948238" cy="5108972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9525">
            <a:solidFill>
              <a:srgbClr val="CFE3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7475" y="1326952"/>
            <a:ext cx="4929188" cy="279202"/>
          </a:xfrm>
          <a:prstGeom prst="rect">
            <a:avLst/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9875" y="1390352"/>
            <a:ext cx="4716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楼层图 · Correct Floor Plan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17475" y="3208139"/>
            <a:ext cx="492918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875" y="2304752"/>
            <a:ext cx="4403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77826" y="2254002"/>
            <a:ext cx="2020044" cy="301526"/>
          </a:xfrm>
          <a:prstGeom prst="roundRect">
            <a:avLst>
              <a:gd name="adj" fmla="val 21060"/>
            </a:avLst>
          </a:prstGeom>
          <a:solidFill>
            <a:srgbClr val="EEF5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61156" y="2304752"/>
            <a:ext cx="18533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汉语教室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74070" y="2254002"/>
            <a:ext cx="2020193" cy="301526"/>
          </a:xfrm>
          <a:prstGeom prst="roundRect">
            <a:avLst>
              <a:gd name="adj" fmla="val 21060"/>
            </a:avLst>
          </a:prstGeom>
          <a:solidFill>
            <a:srgbClr val="EEF5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57399" y="2304752"/>
            <a:ext cx="18535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法语教室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7475" y="4814888"/>
            <a:ext cx="492918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875" y="3911501"/>
            <a:ext cx="4403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二层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77826" y="3860750"/>
            <a:ext cx="2020044" cy="301526"/>
          </a:xfrm>
          <a:prstGeom prst="roundRect">
            <a:avLst>
              <a:gd name="adj" fmla="val 21060"/>
            </a:avLst>
          </a:prstGeom>
          <a:solidFill>
            <a:srgbClr val="EEF5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61156" y="3911501"/>
            <a:ext cx="18533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音乐室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74070" y="3860750"/>
            <a:ext cx="2020193" cy="301526"/>
          </a:xfrm>
          <a:prstGeom prst="roundRect">
            <a:avLst>
              <a:gd name="adj" fmla="val 21060"/>
            </a:avLst>
          </a:prstGeom>
          <a:solidFill>
            <a:srgbClr val="EEF5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57399" y="3911501"/>
            <a:ext cx="18535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物理实验室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9875" y="5518249"/>
            <a:ext cx="4403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77826" y="5467499"/>
            <a:ext cx="2020044" cy="301526"/>
          </a:xfrm>
          <a:prstGeom prst="roundRect">
            <a:avLst>
              <a:gd name="adj" fmla="val 21060"/>
            </a:avLst>
          </a:prstGeom>
          <a:solidFill>
            <a:srgbClr val="EEF5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61156" y="5518249"/>
            <a:ext cx="18533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校医室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74070" y="5467499"/>
            <a:ext cx="2020193" cy="301526"/>
          </a:xfrm>
          <a:prstGeom prst="roundRect">
            <a:avLst>
              <a:gd name="adj" fmla="val 21060"/>
            </a:avLst>
          </a:prstGeom>
          <a:solidFill>
            <a:srgbClr val="EEF5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57399" y="5518249"/>
            <a:ext cx="18535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校长办公室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59338" y="1317427"/>
            <a:ext cx="6024711" cy="4477048"/>
          </a:xfrm>
          <a:prstGeom prst="roundRect">
            <a:avLst>
              <a:gd name="adj" fmla="val 226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872014" y="2765524"/>
            <a:ext cx="57113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听写句子 · DICTATION SENTENCES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872014" y="3006775"/>
            <a:ext cx="57113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音乐室在二层。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72014" y="3238500"/>
            <a:ext cx="57113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校医室在一层。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72014" y="3470225"/>
            <a:ext cx="57113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汉语教室在三层。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72014" y="3701951"/>
            <a:ext cx="57113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 物理实验室在二层。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72014" y="3933676"/>
            <a:ext cx="57113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5. 校长办公室在一层。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72014" y="4165402"/>
            <a:ext cx="57113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6. 法语教室在三层。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59338" y="5895975"/>
            <a:ext cx="6024711" cy="530423"/>
          </a:xfrm>
          <a:prstGeom prst="roundRect">
            <a:avLst>
              <a:gd name="adj" fmla="val 19155"/>
            </a:avLst>
          </a:prstGeom>
          <a:solidFill>
            <a:srgbClr val="F8F0DF"/>
          </a:solidFill>
          <a:ln w="9525">
            <a:solidFill>
              <a:srgbClr val="E9D9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846564" y="6007001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51364" y="6007001"/>
            <a:ext cx="5452369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 inference: 音乐室和物理实验室都在二层，可能在隔壁 — share your reasoning with a partner.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6599337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950" y="6659612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0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2188"/>
            <a:ext cx="9674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教室·楼层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583382" y="133350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22983" y="122188"/>
            <a:ext cx="19564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快问快答楼层 · 36–43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84002"/>
            <a:ext cx="113996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36–43 MIN · GAME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7950" y="850702"/>
            <a:ext cx="113996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快问快答楼层 · Floor Number Flash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7950" y="1317427"/>
            <a:ext cx="6452592" cy="5108972"/>
          </a:xfrm>
          <a:prstGeom prst="roundRect">
            <a:avLst>
              <a:gd name="adj" fmla="val 198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0626" y="1453902"/>
            <a:ext cx="61477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 · 8–10 ROUNDS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0626" y="171732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546" y="1752154"/>
            <a:ext cx="440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12627" y="1704677"/>
            <a:ext cx="163129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全班分两队（左半 vs 右半）。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0626" y="199652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91914" y="2031355"/>
            <a:ext cx="617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12627" y="1983879"/>
            <a:ext cx="2737798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教师说出一个房间，用完整句子只说一次它的楼层。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20626" y="2275731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1617" y="2310557"/>
            <a:ext cx="62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12627" y="2263080"/>
            <a:ext cx="2737798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立刻追问，两队抢答楼层数字，最快说对的队得分。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20626" y="255493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91319" y="2589758"/>
            <a:ext cx="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12627" y="2542282"/>
            <a:ext cx="2432518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进行8–10轮，混合课文二和听写题中的房间。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0626" y="2846933"/>
            <a:ext cx="6027241" cy="470297"/>
          </a:xfrm>
          <a:prstGeom prst="roundRect">
            <a:avLst>
              <a:gd name="adj" fmla="val 16203"/>
            </a:avLst>
          </a:prstGeom>
          <a:solidFill>
            <a:srgbClr val="FFFFFF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82551" y="2932658"/>
            <a:ext cx="5817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IT PRACTISES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82551" y="3091309"/>
            <a:ext cx="5817459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 listening recall of floor levels; reinforces the 在……层 pattern under time pressure.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20626" y="3406080"/>
            <a:ext cx="6027241" cy="470297"/>
          </a:xfrm>
          <a:prstGeom prst="roundRect">
            <a:avLst>
              <a:gd name="adj" fmla="val 16203"/>
            </a:avLst>
          </a:prstGeom>
          <a:solidFill>
            <a:srgbClr val="FFFFFF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82551" y="3491805"/>
            <a:ext cx="5817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82551" y="3650456"/>
            <a:ext cx="5817459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may repeat the room name (but not the floor number) once if a team asks for clarification.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20626" y="3965228"/>
            <a:ext cx="6027241" cy="470297"/>
          </a:xfrm>
          <a:prstGeom prst="roundRect">
            <a:avLst>
              <a:gd name="adj" fmla="val 16203"/>
            </a:avLst>
          </a:prstGeom>
          <a:solidFill>
            <a:srgbClr val="F8F0DF"/>
          </a:solidFill>
          <a:ln w="9525">
            <a:solidFill>
              <a:srgbClr val="E9D9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82551" y="4050953"/>
            <a:ext cx="5817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82551" y="4209604"/>
            <a:ext cx="5817459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winning a round, restate the full sentence with the location phrase (旁边/隔壁/中间), for a bonus point.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163693" y="1317427"/>
            <a:ext cx="4520357" cy="914400"/>
          </a:xfrm>
          <a:prstGeom prst="roundRect">
            <a:avLst>
              <a:gd name="adj" fmla="val 11111"/>
            </a:avLst>
          </a:prstGeom>
          <a:solidFill>
            <a:srgbClr val="1A2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693057" y="1469827"/>
            <a:ext cx="4699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7DC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693057" y="1612702"/>
            <a:ext cx="46998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9336137" y="1684139"/>
            <a:ext cx="1782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83947" y="1469827"/>
            <a:ext cx="4707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7DC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B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683947" y="1612702"/>
            <a:ext cx="47074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163693" y="2333327"/>
            <a:ext cx="4520357" cy="949077"/>
          </a:xfrm>
          <a:prstGeom prst="roundRect">
            <a:avLst>
              <a:gd name="adj" fmla="val 10705"/>
            </a:avLst>
          </a:prstGeom>
          <a:solidFill>
            <a:srgbClr val="EDF3F4"/>
          </a:solidFill>
          <a:ln w="9525">
            <a:solidFill>
              <a:srgbClr val="C7DC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376368" y="2469803"/>
            <a:ext cx="41769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ROUND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76368" y="2676079"/>
            <a:ext cx="4176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物理实验室在___层。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376368" y="2955429"/>
            <a:ext cx="41769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追问：物理实验室在几层？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163693" y="3383905"/>
            <a:ext cx="461076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needed: Projector only, for the running scoreboard (or whiteboard corner).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6599337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950" y="6659612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063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2188"/>
            <a:ext cx="9674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教室·楼层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583382" y="133350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22983" y="122188"/>
            <a:ext cx="11865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584002"/>
            <a:ext cx="111922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09600" y="863352"/>
            <a:ext cx="111922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9600" y="1380827"/>
            <a:ext cx="10972800" cy="1723727"/>
          </a:xfrm>
          <a:prstGeom prst="roundRect">
            <a:avLst>
              <a:gd name="adj" fmla="val 736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73026" y="1529953"/>
            <a:ext cx="106548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73026" y="1768078"/>
            <a:ext cx="106548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举手指自评：3 = 完全可以 · 2 = 差不多 · 1 = 还不行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3026" y="2006203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03127" y="2006203"/>
            <a:ext cx="103181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at least 8 school rooms in Chinese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3026" y="2263378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03127" y="2263378"/>
            <a:ext cx="103181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Understand 层 and 楼 both mean "floor" — interchangeable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3026" y="2520553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03127" y="2520553"/>
            <a:ext cx="103181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to Text 2 and answer comprehension questions about room locations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3026" y="2803029"/>
            <a:ext cx="106548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Note any students showing 1 finger on Criterion 3 (listening comprehension) for extra support.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9600" y="3231505"/>
            <a:ext cx="10972800" cy="1332905"/>
          </a:xfrm>
          <a:prstGeom prst="roundRect">
            <a:avLst>
              <a:gd name="adj" fmla="val 9528"/>
            </a:avLst>
          </a:prstGeom>
          <a:solidFill>
            <a:srgbClr val="F8F0DF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82551" y="3390156"/>
            <a:ext cx="106354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· WRITE IN EXERCISE BOOK (2 MIN)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82551" y="3605957"/>
            <a:ext cx="106354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你们班的教室在几层？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82551" y="3974157"/>
            <a:ext cx="106354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floor is our classroom on? — use the real floor of your actual classroom.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2551" y="4243834"/>
            <a:ext cx="106354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Must include: ONE complete sentence · 在……层 pattern · your real classroom floor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6599337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6659612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901" y="1697682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730276" y="1735782"/>
            <a:ext cx="20343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3 COMPLETE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96901" y="2161133"/>
            <a:ext cx="50323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今天学了 · What We Covered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96901" y="2770733"/>
            <a:ext cx="6518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600"/>
              </a:spcAft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 room &amp; location words · 层=楼 equivalence · Text 2 dialogue comprehension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96901" y="3329434"/>
            <a:ext cx="8721626" cy="1218158"/>
          </a:xfrm>
          <a:prstGeom prst="roundRect">
            <a:avLst>
              <a:gd name="adj" fmla="val 10426"/>
            </a:avLst>
          </a:prstGeom>
          <a:solidFill>
            <a:srgbClr val="F8F0DF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20751" y="3551634"/>
            <a:ext cx="82354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 · NEXT LESSON (L4)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20751" y="3815060"/>
            <a:ext cx="8235404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下一课，我们要专门练习怎么说位置——旁边、隔壁、中间、左边、右边——用完整的句子介绍教室在哪儿。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20751" y="4138761"/>
            <a:ext cx="82354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lesson: focused practice on saying location, using complete sentences to describe where a room is.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96901" y="4852392"/>
            <a:ext cx="2175421" cy="307777"/>
          </a:xfrm>
          <a:prstGeom prst="roundRect">
            <a:avLst>
              <a:gd name="adj" fmla="val 412223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71476" y="4925318"/>
            <a:ext cx="18627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· 学校设施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99272" y="4852392"/>
            <a:ext cx="1169789" cy="307777"/>
          </a:xfrm>
          <a:prstGeom prst="roundRect">
            <a:avLst>
              <a:gd name="adj" fmla="val 412223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73847" y="4925318"/>
            <a:ext cx="8370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3 of 8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96011" y="4852392"/>
            <a:ext cx="2074069" cy="307777"/>
          </a:xfrm>
          <a:prstGeom prst="roundRect">
            <a:avLst>
              <a:gd name="adj" fmla="val 412223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70587" y="4925318"/>
            <a:ext cx="17594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p.75–76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2026-07-18T06:19:04Z</dcterms:created>
  <dcterms:modified xsi:type="dcterms:W3CDTF">2026-07-18T06:19:04Z</dcterms:modified>
</cp:coreProperties>
</file>