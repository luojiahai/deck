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0543" y="2091779"/>
            <a:ext cx="47707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11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9 · UNIT 3 · LESSON 8 · SEQUENCE 1 OF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47694" y="2494955"/>
            <a:ext cx="4896612" cy="78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10"/>
              </a:lnSpc>
              <a:spcAft>
                <a:spcPts val="1200"/>
              </a:spcAft>
              <a:buNone/>
            </a:pPr>
            <a:r>
              <a:rPr lang="en-US" sz="5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学校设施</a:t>
            </a:r>
            <a:pPr algn="ctr" indent="0" marL="0">
              <a:lnSpc>
                <a:spcPts val="6210"/>
              </a:lnSpc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pPr algn="ctr" indent="0" marL="0">
              <a:lnSpc>
                <a:spcPts val="6210"/>
              </a:lnSpc>
              <a:spcAft>
                <a:spcPts val="1200"/>
              </a:spcAft>
              <a:buNone/>
            </a:pPr>
            <a:r>
              <a:rPr lang="en-US" sz="5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介绍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024082" y="3435995"/>
            <a:ext cx="614368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2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Introducing Our School + Measure Words 个 / 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740450" y="4093220"/>
            <a:ext cx="711101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18321" y="4424958"/>
            <a:ext cx="958155" cy="326827"/>
          </a:xfrm>
          <a:prstGeom prst="roundRect">
            <a:avLst>
              <a:gd name="adj" fmla="val 388196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699709" y="4497884"/>
            <a:ext cx="5953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</a:t>
            </a:r>
            <a:pPr algn="ctr" indent="0" marL="0"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03427" y="4410670"/>
            <a:ext cx="2396728" cy="355402"/>
          </a:xfrm>
          <a:prstGeom prst="roundRect">
            <a:avLst>
              <a:gd name="adj" fmla="val 356984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770430" y="4483596"/>
            <a:ext cx="20627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📚 </a:t>
            </a:r>
            <a:pPr algn="ctr" indent="0" marL="0"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 · p.70–71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7105" y="4410670"/>
            <a:ext cx="1931640" cy="355402"/>
          </a:xfrm>
          <a:prstGeom prst="roundRect">
            <a:avLst>
              <a:gd name="adj" fmla="val 356984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98759" y="4483596"/>
            <a:ext cx="15883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 </a:t>
            </a:r>
            <a:pPr algn="ctr" indent="0" marL="0"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Speaking + Listening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85696" y="4410670"/>
            <a:ext cx="1487984" cy="355402"/>
          </a:xfrm>
          <a:prstGeom prst="roundRect">
            <a:avLst>
              <a:gd name="adj" fmla="val 356984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61786" y="4483596"/>
            <a:ext cx="11358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🎯 </a:t>
            </a:r>
            <a:pPr algn="ctr" indent="0" marL="0"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我们学校有……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7425"/>
            <a:ext cx="8499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设施词汇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68189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07790" y="117425"/>
            <a:ext cx="10260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84002"/>
            <a:ext cx="11140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901" y="847427"/>
            <a:ext cx="1114064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Numbers &amp; 门 Recall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34901" y="1428304"/>
            <a:ext cx="5346799" cy="4429423"/>
          </a:xfrm>
          <a:prstGeom prst="roundRect">
            <a:avLst>
              <a:gd name="adj" fmla="val 286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7576" y="1590229"/>
            <a:ext cx="50198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NUMBERS 1–20 (2 MIN)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7576" y="1879104"/>
            <a:ext cx="558701" cy="472976"/>
          </a:xfrm>
          <a:prstGeom prst="roundRect">
            <a:avLst>
              <a:gd name="adj" fmla="val 16111"/>
            </a:avLst>
          </a:prstGeom>
          <a:solidFill>
            <a:srgbClr val="E7EDF3"/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1705" y="1939379"/>
            <a:ext cx="550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十四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1705" y="2167979"/>
            <a:ext cx="5504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482477" y="1879104"/>
            <a:ext cx="558701" cy="472976"/>
          </a:xfrm>
          <a:prstGeom prst="roundRect">
            <a:avLst>
              <a:gd name="adj" fmla="val 16111"/>
            </a:avLst>
          </a:prstGeom>
          <a:solidFill>
            <a:srgbClr val="E7EDF3"/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86605" y="1939379"/>
            <a:ext cx="550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86605" y="2167979"/>
            <a:ext cx="5504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117378" y="1879104"/>
            <a:ext cx="558701" cy="472976"/>
          </a:xfrm>
          <a:prstGeom prst="roundRect">
            <a:avLst>
              <a:gd name="adj" fmla="val 16111"/>
            </a:avLst>
          </a:prstGeom>
          <a:solidFill>
            <a:srgbClr val="E7EDF3"/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121506" y="1939379"/>
            <a:ext cx="550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十八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21506" y="2167979"/>
            <a:ext cx="5504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752279" y="1879104"/>
            <a:ext cx="558701" cy="472976"/>
          </a:xfrm>
          <a:prstGeom prst="roundRect">
            <a:avLst>
              <a:gd name="adj" fmla="val 16111"/>
            </a:avLst>
          </a:prstGeom>
          <a:solidFill>
            <a:srgbClr val="E7EDF3"/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56407" y="1939379"/>
            <a:ext cx="550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56407" y="2167979"/>
            <a:ext cx="5504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387179" y="1879104"/>
            <a:ext cx="558701" cy="472976"/>
          </a:xfrm>
          <a:prstGeom prst="roundRect">
            <a:avLst>
              <a:gd name="adj" fmla="val 16111"/>
            </a:avLst>
          </a:prstGeom>
          <a:solidFill>
            <a:srgbClr val="E7EDF3"/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91308" y="1939379"/>
            <a:ext cx="550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十一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91308" y="2167979"/>
            <a:ext cx="5504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022080" y="1879104"/>
            <a:ext cx="558701" cy="472976"/>
          </a:xfrm>
          <a:prstGeom prst="roundRect">
            <a:avLst>
              <a:gd name="adj" fmla="val 16111"/>
            </a:avLst>
          </a:prstGeom>
          <a:solidFill>
            <a:srgbClr val="E7EDF3"/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026209" y="1939379"/>
            <a:ext cx="550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二十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026209" y="2167979"/>
            <a:ext cx="5504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656981" y="1879104"/>
            <a:ext cx="558701" cy="472976"/>
          </a:xfrm>
          <a:prstGeom prst="roundRect">
            <a:avLst>
              <a:gd name="adj" fmla="val 16111"/>
            </a:avLst>
          </a:prstGeom>
          <a:solidFill>
            <a:srgbClr val="E7EDF3"/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661109" y="1939379"/>
            <a:ext cx="550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61109" y="2167979"/>
            <a:ext cx="5504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47576" y="2428280"/>
            <a:ext cx="558701" cy="472976"/>
          </a:xfrm>
          <a:prstGeom prst="roundRect">
            <a:avLst>
              <a:gd name="adj" fmla="val 16111"/>
            </a:avLst>
          </a:prstGeom>
          <a:solidFill>
            <a:srgbClr val="E7EDF3"/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51705" y="2488555"/>
            <a:ext cx="550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十六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1705" y="2717155"/>
            <a:ext cx="5504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47576" y="2977455"/>
            <a:ext cx="5019877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numerals 1–20 in a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scrambled grid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Cold call at random — student reads the numeral aloud in Chinese; class echoes chorally.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7576" y="3409057"/>
            <a:ext cx="50198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Primes counting facilities later: 五幢教学楼, 两个篮球场…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0300" y="1428304"/>
            <a:ext cx="5346799" cy="4429423"/>
          </a:xfrm>
          <a:prstGeom prst="roundRect">
            <a:avLst>
              <a:gd name="adj" fmla="val 286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422975" y="1590229"/>
            <a:ext cx="50198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门 RECALL + PATTERN FLASH (6 MIN)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22975" y="1879104"/>
            <a:ext cx="4921448" cy="488752"/>
          </a:xfrm>
          <a:prstGeom prst="roundRect">
            <a:avLst>
              <a:gd name="adj" fmla="val 20788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575375" y="1980605"/>
            <a:ext cx="47089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我今年学十＿＿课。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22975" y="2444055"/>
            <a:ext cx="501987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one student to fill the blank ("门!"). Class echoes: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"十门课！"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22975" y="2723257"/>
            <a:ext cx="50198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RAPID-FIRE L7 STARTERS — COLD CALL, CLASS ECHOES COMPLETED SENTENCE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422975" y="2967633"/>
            <a:ext cx="1085552" cy="320576"/>
          </a:xfrm>
          <a:prstGeom prst="roundRect">
            <a:avLst>
              <a:gd name="adj" fmla="val 23770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546800" y="3027908"/>
            <a:ext cx="854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对……感兴趣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584728" y="2967633"/>
            <a:ext cx="806202" cy="320576"/>
          </a:xfrm>
          <a:prstGeom prst="roundRect">
            <a:avLst>
              <a:gd name="adj" fmla="val 23770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708553" y="3027908"/>
            <a:ext cx="5697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觉得……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467130" y="2967633"/>
            <a:ext cx="1364754" cy="320576"/>
          </a:xfrm>
          <a:prstGeom prst="roundRect">
            <a:avLst>
              <a:gd name="adj" fmla="val 23770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590955" y="3027908"/>
            <a:ext cx="11394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因为……所以……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908084" y="2967633"/>
            <a:ext cx="799951" cy="320576"/>
          </a:xfrm>
          <a:prstGeom prst="roundRect">
            <a:avLst>
              <a:gd name="adj" fmla="val 23770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0031909" y="3027908"/>
            <a:ext cx="5633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verb + 得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34901" y="5959227"/>
            <a:ext cx="10922198" cy="467171"/>
          </a:xfrm>
          <a:prstGeom prst="rect">
            <a:avLst/>
          </a:prstGeom>
          <a:solidFill>
            <a:srgbClr val="E7ED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658713" y="5959227"/>
            <a:ext cx="0" cy="467171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85676" y="6086177"/>
            <a:ext cx="106776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科目用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"门"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数——一门课，两门课。但是今天我们不谈科目了，我们要谈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学校本身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。学校的建筑物用什么量词呢？今天你们会学到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两个新的量词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7425"/>
            <a:ext cx="8499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设施词汇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68189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07790" y="117425"/>
            <a:ext cx="17002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· 8–10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660202"/>
            <a:ext cx="101041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949077"/>
            <a:ext cx="1010412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43000" y="1657052"/>
            <a:ext cx="9906000" cy="1050875"/>
          </a:xfrm>
          <a:prstGeom prst="rect">
            <a:avLst/>
          </a:prstGeom>
          <a:solidFill>
            <a:srgbClr val="E7ED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171575" y="1657052"/>
            <a:ext cx="0" cy="1050875"/>
          </a:xfrm>
          <a:prstGeom prst="line">
            <a:avLst/>
          </a:prstGeom>
          <a:noFill/>
          <a:ln w="57150">
            <a:solidFill>
              <a:srgbClr val="3A5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8750" y="1809452"/>
            <a:ext cx="95794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28750" y="2022128"/>
            <a:ext cx="957948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school facilities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 and introduce our school using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我们学校有……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2834878"/>
            <a:ext cx="9906000" cy="711547"/>
          </a:xfrm>
          <a:prstGeom prst="roundRect">
            <a:avLst>
              <a:gd name="adj" fmla="val 1427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55675" y="297135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76524" y="3023741"/>
            <a:ext cx="64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12875" y="2971354"/>
            <a:ext cx="406138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name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at least eight school facilities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12875" y="3209925"/>
            <a:ext cx="40613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能说出至少八个学校设施的名称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3647926"/>
            <a:ext cx="9906000" cy="711547"/>
          </a:xfrm>
          <a:prstGeom prst="roundRect">
            <a:avLst>
              <a:gd name="adj" fmla="val 1427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355675" y="378440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463873" y="3836789"/>
            <a:ext cx="90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12875" y="3784402"/>
            <a:ext cx="826121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the correct measure word for buildings and facilities —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most facilities,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幢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whole buildings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12875" y="4022973"/>
            <a:ext cx="82612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能正确使用量词"个"和"幢"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4460974"/>
            <a:ext cx="9906000" cy="711547"/>
          </a:xfrm>
          <a:prstGeom prst="roundRect">
            <a:avLst>
              <a:gd name="adj" fmla="val 1427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355675" y="459745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463427" y="4649837"/>
            <a:ext cx="9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12875" y="4597450"/>
            <a:ext cx="537115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introduce my school in a complete sentence using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我们学校有……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812875" y="4836021"/>
            <a:ext cx="53711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能用"我们学校有……"介绍我们的学校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7425"/>
            <a:ext cx="8499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设施词汇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68189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07790" y="117425"/>
            <a:ext cx="20051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 · 10–14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84002"/>
            <a:ext cx="11140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10–14 MIN · I DO · NEW VOCABULARY (TEXT 1, P.70–71)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901" y="847427"/>
            <a:ext cx="1114064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学校设施 · School Facilities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4901" y="1390204"/>
            <a:ext cx="5334149" cy="2548830"/>
          </a:xfrm>
          <a:prstGeom prst="roundRect">
            <a:avLst>
              <a:gd name="adj" fmla="val 3986"/>
            </a:avLst>
          </a:prstGeom>
          <a:noFill/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4426" y="1399729"/>
            <a:ext cx="5315099" cy="272951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44426" y="1667917"/>
            <a:ext cx="531509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6826" y="1450479"/>
            <a:ext cx="11916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汉字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65127" y="1450479"/>
            <a:ext cx="10104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拼音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55727" y="1450479"/>
            <a:ext cx="29084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4426" y="2045643"/>
            <a:ext cx="531509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6826" y="1723430"/>
            <a:ext cx="11916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介绍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965127" y="1766292"/>
            <a:ext cx="1010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jièshào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55727" y="1766292"/>
            <a:ext cx="29084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introduce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4426" y="2423368"/>
            <a:ext cx="531509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6826" y="2101155"/>
            <a:ext cx="11916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教学楼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965127" y="2144018"/>
            <a:ext cx="1010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jiàoxué lóu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55727" y="2144018"/>
            <a:ext cx="29084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teaching building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4426" y="2801094"/>
            <a:ext cx="531509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6826" y="2478881"/>
            <a:ext cx="11916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965127" y="2521744"/>
            <a:ext cx="1010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túshūguǎn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55727" y="2521744"/>
            <a:ext cx="29084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library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4426" y="3178820"/>
            <a:ext cx="531509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6826" y="2856607"/>
            <a:ext cx="11916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礼堂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965127" y="2899470"/>
            <a:ext cx="1010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lǐtáng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55727" y="2899470"/>
            <a:ext cx="29084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auditorium; hall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4426" y="3556546"/>
            <a:ext cx="531509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6826" y="3234333"/>
            <a:ext cx="11916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操场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965127" y="3277195"/>
            <a:ext cx="1010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cāochǎng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55727" y="3277195"/>
            <a:ext cx="29084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playground; sports field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6826" y="3612059"/>
            <a:ext cx="11916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体育馆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965127" y="3654921"/>
            <a:ext cx="1010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tǐyùguǎn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955727" y="3654921"/>
            <a:ext cx="29084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gymnasium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22950" y="1390204"/>
            <a:ext cx="5334149" cy="2548830"/>
          </a:xfrm>
          <a:prstGeom prst="roundRect">
            <a:avLst>
              <a:gd name="adj" fmla="val 3986"/>
            </a:avLst>
          </a:prstGeom>
          <a:noFill/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232475" y="1399729"/>
            <a:ext cx="5315099" cy="272951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232475" y="1667917"/>
            <a:ext cx="531509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4875" y="1450479"/>
            <a:ext cx="11916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汉字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553176" y="1450479"/>
            <a:ext cx="10104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拼音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543776" y="1450479"/>
            <a:ext cx="29084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32475" y="2045643"/>
            <a:ext cx="531509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84875" y="1723430"/>
            <a:ext cx="11916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篮球场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553176" y="1766292"/>
            <a:ext cx="1010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lánqiúchǎng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543776" y="1766292"/>
            <a:ext cx="29084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basketball court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32475" y="2423368"/>
            <a:ext cx="531509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4875" y="2101155"/>
            <a:ext cx="11916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足球场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7553176" y="2144018"/>
            <a:ext cx="1010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zúqiúchǎng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543776" y="2144018"/>
            <a:ext cx="29084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football pitch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32475" y="2801094"/>
            <a:ext cx="531509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84875" y="2478881"/>
            <a:ext cx="11916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餐厅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7553176" y="2521744"/>
            <a:ext cx="1010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cāntīng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43776" y="2521744"/>
            <a:ext cx="29084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dining hall; canteen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32475" y="3178820"/>
            <a:ext cx="531509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84875" y="2856607"/>
            <a:ext cx="11916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游泳池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7553176" y="2899470"/>
            <a:ext cx="1010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yóuyǒngchí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543776" y="2899470"/>
            <a:ext cx="29084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swimming pool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384875" y="3234333"/>
            <a:ext cx="11916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停车场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7553176" y="3277195"/>
            <a:ext cx="1010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tíngchēchǎng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43776" y="3277195"/>
            <a:ext cx="29084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car park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34901" y="4040535"/>
            <a:ext cx="10922198" cy="515541"/>
          </a:xfrm>
          <a:prstGeom prst="roundRect">
            <a:avLst>
              <a:gd name="adj" fmla="val 14781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812602" y="4129385"/>
            <a:ext cx="10778133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 Pronunciation tip: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馆 (guǎn, 3rd tone) appears in both 图书馆 and 体育馆 — drill this character alone first, then in both compounds. Pattern: X场 (chǎng) = an open field/court for X — 篮球场, 足球场, 操场, 停车场 all follow this compound, so 场 does not need its own measure word.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34901" y="4619476"/>
            <a:ext cx="10922198" cy="515541"/>
          </a:xfrm>
          <a:prstGeom prst="roundRect">
            <a:avLst>
              <a:gd name="adj" fmla="val 14781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812602" y="4708327"/>
            <a:ext cx="10778133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字形小知识 · Component breakdown: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介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(mediate)+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绍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(carry on)=介绍 "introduce" ·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(picture)+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书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(book)+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馆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(hall)=图书馆 "library" ·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礼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(ceremony)+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堂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(hall)=礼堂 "auditorium" ·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(exercise)+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(field)=操场 "sports field" ·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游泳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(swim)+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池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(pool)=游泳池 "swimming pool"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7425"/>
            <a:ext cx="8499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设施词汇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68189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07790" y="117425"/>
            <a:ext cx="2311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Measure Words 个/幢 · 14–17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634901"/>
            <a:ext cx="108813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14–17 MIN · I DO · GRAMMAR FOCUS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2000" y="923776"/>
            <a:ext cx="1088136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 · Measure Words 个 &amp; 幢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62000" y="1593652"/>
            <a:ext cx="3301901" cy="1207294"/>
          </a:xfrm>
          <a:prstGeom prst="roundRect">
            <a:avLst>
              <a:gd name="adj" fmla="val 14727"/>
            </a:avLst>
          </a:prstGeom>
          <a:solidFill>
            <a:srgbClr val="E7EDF3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9650" y="1917799"/>
            <a:ext cx="570027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746200" y="1790402"/>
            <a:ext cx="2111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46200" y="2044303"/>
            <a:ext cx="2111451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default for most rooms/facilities: 一</a:t>
            </a:r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图书馆, 一</a:t>
            </a:r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礼堂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62000" y="2978646"/>
            <a:ext cx="3301901" cy="1020663"/>
          </a:xfrm>
          <a:prstGeom prst="roundRect">
            <a:avLst>
              <a:gd name="adj" fmla="val 17420"/>
            </a:avLst>
          </a:prstGeom>
          <a:solidFill>
            <a:srgbClr val="E5EFEC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09650" y="3209479"/>
            <a:ext cx="570027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幢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1746200" y="3175397"/>
            <a:ext cx="2111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zhuàng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46200" y="3429298"/>
            <a:ext cx="211145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 buildings/blocks: 五</a:t>
            </a:r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幢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教学楼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68701" y="1593652"/>
            <a:ext cx="7061299" cy="1028700"/>
          </a:xfrm>
          <a:prstGeom prst="roundRect">
            <a:avLst>
              <a:gd name="adj" fmla="val 1234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81376" y="1755577"/>
            <a:ext cx="67686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MEASURE WORD?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81376" y="1999952"/>
            <a:ext cx="6768667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数整栋楼用"幢"，其他的大部分用"个"。</a:t>
            </a:r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Count a whole building block with 幢; count most other rooms/facilities with 个.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68701" y="2774752"/>
            <a:ext cx="7061299" cy="625376"/>
          </a:xfrm>
          <a:prstGeom prst="roundRect">
            <a:avLst>
              <a:gd name="adj" fmla="val 1624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81376" y="2911227"/>
            <a:ext cx="150772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✗ 一个教学楼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11937" y="2911227"/>
            <a:ext cx="2591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695A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18387" y="2911227"/>
            <a:ext cx="155539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 一幢教学楼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368701" y="3552527"/>
            <a:ext cx="7061299" cy="721221"/>
          </a:xfrm>
          <a:prstGeom prst="roundRect">
            <a:avLst>
              <a:gd name="adj" fmla="val 14087"/>
            </a:avLst>
          </a:prstGeom>
          <a:solidFill>
            <a:srgbClr val="F3E9DA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90901" y="3698528"/>
            <a:ext cx="674923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⚠️ 场-words don't take a separate measure word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90901" y="3932188"/>
            <a:ext cx="674923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篮球场/足球场/操场/停车场 already include 场 — always 一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篮球场, never "一场篮球场".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7425"/>
            <a:ext cx="8499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设施词汇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68189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07790" y="117425"/>
            <a:ext cx="20694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Sentence Pattern · 17–19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634901"/>
            <a:ext cx="108813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17–19 MIN · I DO · KEY PATTERN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2000" y="949226"/>
            <a:ext cx="1088136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句型 · Key Sentence Pattern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62000" y="1619101"/>
            <a:ext cx="10668000" cy="891927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00100" y="1619101"/>
            <a:ext cx="0" cy="891927"/>
          </a:xfrm>
          <a:prstGeom prst="line">
            <a:avLst/>
          </a:prstGeom>
          <a:noFill/>
          <a:ln w="76200">
            <a:solidFill>
              <a:srgbClr val="3A5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2101" y="1771501"/>
            <a:ext cx="102856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STRUCTURE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2101" y="1996827"/>
            <a:ext cx="10285678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我来介绍一下我们学校。我们学校有</a:t>
            </a:r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＿＿＿</a:t>
            </a:r>
            <a:pPr algn="l"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＿＿＿</a:t>
            </a:r>
            <a:pPr algn="l"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……和</a:t>
            </a:r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＿＿＿</a:t>
            </a:r>
            <a:pPr algn="l"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62000" y="2663428"/>
            <a:ext cx="108813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EXAMPLES · 例子 (TEACHER READS ALOUD, CLASS REPEATS)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62000" y="2996803"/>
            <a:ext cx="10668000" cy="687139"/>
          </a:xfrm>
          <a:prstGeom prst="roundRect">
            <a:avLst>
              <a:gd name="adj" fmla="val 1478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74675" y="3120628"/>
            <a:ext cx="104475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74675" y="3311128"/>
            <a:ext cx="1044750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我来介绍一下我们学校。我们学校有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幢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教学楼、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图书馆、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礼堂、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操场。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2000" y="3785443"/>
            <a:ext cx="10668000" cy="687139"/>
          </a:xfrm>
          <a:prstGeom prst="roundRect">
            <a:avLst>
              <a:gd name="adj" fmla="val 1478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74675" y="3909268"/>
            <a:ext cx="104475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74675" y="4099768"/>
            <a:ext cx="1044750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我们学校还有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餐厅、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游泳池和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停车场。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2000" y="4574084"/>
            <a:ext cx="10668000" cy="687139"/>
          </a:xfrm>
          <a:prstGeom prst="roundRect">
            <a:avLst>
              <a:gd name="adj" fmla="val 14786"/>
            </a:avLst>
          </a:prstGeom>
          <a:solidFill>
            <a:srgbClr val="F5E7E4"/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74675" y="4697909"/>
            <a:ext cx="104475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SILLY EXAMPLE — WAIT FOR REACTION!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74675" y="4888409"/>
            <a:ext cx="1044750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我们学校有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一百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足球场！😄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7425"/>
            <a:ext cx="8499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设施词汇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68189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07790" y="117425"/>
            <a:ext cx="21032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· 19–20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8450" y="634901"/>
            <a:ext cx="110110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19–20 MIN · CHECK FOR UNDERSTANDING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8450" y="949226"/>
            <a:ext cx="1101100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98450" y="1619101"/>
            <a:ext cx="3479899" cy="3983087"/>
          </a:xfrm>
          <a:prstGeom prst="roundRect">
            <a:avLst>
              <a:gd name="adj" fmla="val 4379"/>
            </a:avLst>
          </a:prstGeom>
          <a:solidFill>
            <a:srgbClr val="E7EDF3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95201" y="181585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25872" y="1876127"/>
            <a:ext cx="701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5201" y="2247454"/>
            <a:ext cx="31481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CHECK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5201" y="2510879"/>
            <a:ext cx="31481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五幢 vs 五个 教学楼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5201" y="2860030"/>
            <a:ext cx="3148126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 </a:t>
            </a:r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"五幢教学楼"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"五个教学楼"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side by side. "哪个对？右手指对的那个。" Every student points with their right hand.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56050" y="1619101"/>
            <a:ext cx="3479899" cy="3983087"/>
          </a:xfrm>
          <a:prstGeom prst="roundRect">
            <a:avLst>
              <a:gd name="adj" fmla="val 4379"/>
            </a:avLst>
          </a:prstGeom>
          <a:solidFill>
            <a:srgbClr val="E5EFEC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52801" y="181585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69482" y="1876127"/>
            <a:ext cx="985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52801" y="2247454"/>
            <a:ext cx="31481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52801" y="2510879"/>
            <a:ext cx="31481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Rapid Translation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52801" y="2860030"/>
            <a:ext cx="3148126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 individual students, in order: "Alex，</a:t>
            </a:r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'library'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用中文怎么说？" "Priya，</a:t>
            </a:r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'swimming pool'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呢？" "Sam，</a:t>
            </a:r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'car park'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13650" y="1619101"/>
            <a:ext cx="3479899" cy="3983087"/>
          </a:xfrm>
          <a:prstGeom prst="roundRect">
            <a:avLst>
              <a:gd name="adj" fmla="val 4379"/>
            </a:avLst>
          </a:prstGeom>
          <a:solidFill>
            <a:srgbClr val="F5E7E4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10401" y="181585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326785" y="1876127"/>
            <a:ext cx="9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10401" y="2247454"/>
            <a:ext cx="31481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ERROR CORRECTION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10401" y="2510879"/>
            <a:ext cx="31481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Spot the Mistake!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10401" y="2860030"/>
            <a:ext cx="3148126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10401" y="3218259"/>
            <a:ext cx="31481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300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我们学校有一个教学楼。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10401" y="3611761"/>
            <a:ext cx="3148126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"这个句子有错误。哪里错了？大家一起说！"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10401" y="3982789"/>
            <a:ext cx="3086398" cy="307777"/>
          </a:xfrm>
          <a:prstGeom prst="roundRect">
            <a:avLst>
              <a:gd name="adj" fmla="val 24758"/>
            </a:avLst>
          </a:prstGeom>
          <a:noFill/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334226" y="4055715"/>
            <a:ext cx="28955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8450" y="5754588"/>
            <a:ext cx="10795099" cy="620911"/>
          </a:xfrm>
          <a:prstGeom prst="roundRect">
            <a:avLst>
              <a:gd name="adj" fmla="val 16363"/>
            </a:avLst>
          </a:prstGeom>
          <a:solidFill>
            <a:srgbClr val="F3E9DA"/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11126" y="5878413"/>
            <a:ext cx="1057714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Aim for 100% participation in checks 1 and 3. For cold call, pre-identify 4–5 students who need a stretch — give them the harder facility words like 游泳池/停车场.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7425"/>
            <a:ext cx="8499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设施词汇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68189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07790" y="117425"/>
            <a:ext cx="12851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711101"/>
            <a:ext cx="101041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1076176"/>
            <a:ext cx="101041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43000" y="1914227"/>
            <a:ext cx="9906000" cy="1796653"/>
          </a:xfrm>
          <a:prstGeom prst="roundRect">
            <a:avLst>
              <a:gd name="adj" fmla="val 848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82626" y="2177653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25054" y="2247454"/>
            <a:ext cx="1238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17527" y="2177653"/>
            <a:ext cx="60641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Error Correction — spot the mistake in: </a:t>
            </a:r>
            <a:pPr algn="l" indent="0" marL="0">
              <a:buNone/>
            </a:pPr>
            <a:r>
              <a:rPr lang="en-US" sz="1200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我们学校有一个教学楼。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17527" y="2488704"/>
            <a:ext cx="5945237" cy="958751"/>
          </a:xfrm>
          <a:prstGeom prst="roundRect">
            <a:avLst>
              <a:gd name="adj" fmla="val 10597"/>
            </a:avLst>
          </a:prstGeom>
          <a:solidFill>
            <a:srgbClr val="F3E9DA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365177" y="2634704"/>
            <a:ext cx="555893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我们学校有一</a:t>
            </a:r>
            <a:pPr algn="l" indent="0" marL="0">
              <a:buNone/>
            </a:pPr>
            <a:r>
              <a:rPr lang="en-US" sz="220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幢</a:t>
            </a:r>
            <a:pPr algn="l" indent="0" marL="0">
              <a:buNone/>
            </a:pPr>
            <a:r>
              <a:rPr lang="en-US" sz="22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教学楼。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365177" y="3101429"/>
            <a:ext cx="55589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 → </a:t>
            </a:r>
            <a:pPr algn="l" indent="0" marL="0"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幢</a:t>
            </a:r>
            <a:pPr algn="l" indent="0" marL="0">
              <a:spcBef>
                <a:spcPts val="600"/>
              </a:spcBef>
              <a:buNone/>
            </a:pPr>
            <a:r>
              <a:rPr lang="en-US" sz="11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 教学楼 is a whole building block, so it takes 幢, not the default 个.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7425"/>
            <a:ext cx="8499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设施词汇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68189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07790" y="117425"/>
            <a:ext cx="17917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20–27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84002"/>
            <a:ext cx="11140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20–27 MIN · WE DO (ACT. 1, P.71)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901" y="847427"/>
            <a:ext cx="1114064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活动一 · 看图说设施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34901" y="1428304"/>
            <a:ext cx="6021139" cy="4998095"/>
          </a:xfrm>
          <a:prstGeom prst="roundRect">
            <a:avLst>
              <a:gd name="adj" fmla="val 3049"/>
            </a:avLst>
          </a:prstGeom>
          <a:solidFill>
            <a:srgbClr val="F4F2EE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7101" y="1599754"/>
            <a:ext cx="1923752" cy="238125"/>
          </a:xfrm>
          <a:prstGeom prst="roundRect">
            <a:avLst>
              <a:gd name="adj" fmla="val 532800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09501" y="1637854"/>
            <a:ext cx="16513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PICTURE FLASH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7101" y="191407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45505" y="1947416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87202" y="1914079"/>
            <a:ext cx="512750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 each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picture for 3 seconds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class chorally names the facility.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7101" y="221887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35087" y="2252216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87202" y="2218879"/>
            <a:ext cx="270728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naming, the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汉字 fades in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confirm.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7101" y="252367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34789" y="2557016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87202" y="2523679"/>
            <a:ext cx="495384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all 8: display all at once.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individual students to point and name.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7101" y="282847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34343" y="2861816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7202" y="2828479"/>
            <a:ext cx="5351571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 round: teacher says the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 name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class chorally says the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Chinese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no visual support.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7101" y="3260080"/>
            <a:ext cx="5576739" cy="460772"/>
          </a:xfrm>
          <a:prstGeom prst="roundRect">
            <a:avLst>
              <a:gd name="adj" fmla="val 22050"/>
            </a:avLst>
          </a:prstGeom>
          <a:solidFill>
            <a:srgbClr val="F5E7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84052" y="3336280"/>
            <a:ext cx="5429295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 1:</a:t>
            </a:r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After the random-pointing round, teacher rapid-fires English names (library, gymnasium, canteen, car park, swimming pool…) and all students respond chorally each time.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7101" y="3797052"/>
            <a:ext cx="2737545" cy="782538"/>
          </a:xfrm>
          <a:prstGeom prst="roundRect">
            <a:avLst>
              <a:gd name="adj" fmla="val 12983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84052" y="3885902"/>
            <a:ext cx="25333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84052" y="4054078"/>
            <a:ext cx="2533317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pinyin visible on the first pass through all 8; remove for the second and third passes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96146" y="3797052"/>
            <a:ext cx="2737693" cy="782538"/>
          </a:xfrm>
          <a:prstGeom prst="roundRect">
            <a:avLst>
              <a:gd name="adj" fmla="val 12983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823097" y="3885902"/>
            <a:ext cx="25334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23097" y="4054078"/>
            <a:ext cx="2533468" cy="43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naming each facility, add measure word + mini-sentence: "图书馆——我们学校有一个图书馆。"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909941" y="1428304"/>
            <a:ext cx="47401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FACILITY PICTURES FOR THIS ACTIVITY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09941" y="1691729"/>
            <a:ext cx="2272754" cy="666452"/>
          </a:xfrm>
          <a:prstGeom prst="roundRect">
            <a:avLst>
              <a:gd name="adj" fmla="val 15245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000460" y="1802755"/>
            <a:ext cx="20917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000460" y="2094756"/>
            <a:ext cx="20917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túshūguǎn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284196" y="1691729"/>
            <a:ext cx="2272754" cy="666452"/>
          </a:xfrm>
          <a:prstGeom prst="roundRect">
            <a:avLst>
              <a:gd name="adj" fmla="val 15245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374715" y="1802755"/>
            <a:ext cx="20917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礼堂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374715" y="2094756"/>
            <a:ext cx="20917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lǐtáng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909941" y="2459682"/>
            <a:ext cx="2272754" cy="666452"/>
          </a:xfrm>
          <a:prstGeom prst="roundRect">
            <a:avLst>
              <a:gd name="adj" fmla="val 15245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000460" y="2570708"/>
            <a:ext cx="20917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操场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000460" y="2862709"/>
            <a:ext cx="20917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cāochǎng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284196" y="2459682"/>
            <a:ext cx="2272754" cy="666452"/>
          </a:xfrm>
          <a:prstGeom prst="roundRect">
            <a:avLst>
              <a:gd name="adj" fmla="val 15245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374715" y="2570708"/>
            <a:ext cx="20917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体育馆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374715" y="2862709"/>
            <a:ext cx="20917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tǐyùguǎn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909941" y="3227636"/>
            <a:ext cx="2272754" cy="666452"/>
          </a:xfrm>
          <a:prstGeom prst="roundRect">
            <a:avLst>
              <a:gd name="adj" fmla="val 15245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000460" y="3338661"/>
            <a:ext cx="20917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篮球场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7000460" y="3630662"/>
            <a:ext cx="20917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lánqiúchǎng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284196" y="3227636"/>
            <a:ext cx="2272754" cy="666452"/>
          </a:xfrm>
          <a:prstGeom prst="roundRect">
            <a:avLst>
              <a:gd name="adj" fmla="val 15245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9374715" y="3338661"/>
            <a:ext cx="20917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餐厅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374715" y="3630662"/>
            <a:ext cx="20917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cāntīng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909941" y="3995589"/>
            <a:ext cx="2272754" cy="666452"/>
          </a:xfrm>
          <a:prstGeom prst="roundRect">
            <a:avLst>
              <a:gd name="adj" fmla="val 15245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000460" y="4106614"/>
            <a:ext cx="20917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游泳池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7000460" y="4398615"/>
            <a:ext cx="20917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yóuyǒngchí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284196" y="3995589"/>
            <a:ext cx="2272754" cy="666452"/>
          </a:xfrm>
          <a:prstGeom prst="roundRect">
            <a:avLst>
              <a:gd name="adj" fmla="val 15245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9374715" y="4106614"/>
            <a:ext cx="20917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停车场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9374715" y="4398615"/>
            <a:ext cx="20917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tíngchēchǎng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7425"/>
            <a:ext cx="8499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设施词汇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68189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07790" y="117425"/>
            <a:ext cx="18501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27–37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58701"/>
            <a:ext cx="11140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27–37 MIN · YOU DO · WRITING-FOCUSED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901" y="796826"/>
            <a:ext cx="1114064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活动二 · 我们学校有……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4901" y="1314301"/>
            <a:ext cx="5719763" cy="2213521"/>
          </a:xfrm>
          <a:prstGeom prst="roundRect">
            <a:avLst>
              <a:gd name="adj" fmla="val 6885"/>
            </a:avLst>
          </a:prstGeom>
          <a:solidFill>
            <a:srgbClr val="F4F2EE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1652" y="1460302"/>
            <a:ext cx="2324993" cy="228600"/>
          </a:xfrm>
          <a:prstGeom prst="roundRect">
            <a:avLst>
              <a:gd name="adj" fmla="val 555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84052" y="1498402"/>
            <a:ext cx="20605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WRITE &amp; PEER-CHECK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31652" y="175230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10084" y="1782366"/>
            <a:ext cx="47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23652" y="1752302"/>
            <a:ext cx="5134945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 on projector — writes 3 sentences live, thinking aloud: </a:t>
            </a:r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"教学楼——整栋楼——幢。图书馆——个。"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1652" y="2111425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00857" y="2141488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3652" y="2111425"/>
            <a:ext cx="5134945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Individual writing (6 min): paragraph with </a:t>
            </a:r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at least six facilities</a:t>
            </a:r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correct measure words, 和 before the last item.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1652" y="247054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00708" y="2500610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23652" y="2470547"/>
            <a:ext cx="4712321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Peer-check (2 min): swap books with a neighbour, circle any 个/幢 errors in pencil.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1652" y="272444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00261" y="2754511"/>
            <a:ext cx="670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23652" y="2724448"/>
            <a:ext cx="3480578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2–3 students to read their paragraph aloud (2 min).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1652" y="2990999"/>
            <a:ext cx="5326261" cy="390823"/>
          </a:xfrm>
          <a:prstGeom prst="roundRect">
            <a:avLst>
              <a:gd name="adj" fmla="val 19497"/>
            </a:avLst>
          </a:prstGeom>
          <a:solidFill>
            <a:srgbClr val="F5E7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45952" y="3054400"/>
            <a:ext cx="519961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 2: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All students write independently; the peer-check step requires every student to read and mark a partner's work.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4901" y="3604022"/>
            <a:ext cx="5719763" cy="618827"/>
          </a:xfrm>
          <a:prstGeom prst="roundRect">
            <a:avLst>
              <a:gd name="adj" fmla="val 16418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87301" y="3705523"/>
            <a:ext cx="55232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(KEPT PROJECTED THROUGHOUT)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87301" y="3899148"/>
            <a:ext cx="5523262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我来介绍一下我们学校。我们学校有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幢教学楼、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个＿、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个＿和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个＿。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34901" y="4299049"/>
            <a:ext cx="2821781" cy="681484"/>
          </a:xfrm>
          <a:prstGeom prst="roundRect">
            <a:avLst>
              <a:gd name="adj" fmla="val 11181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49201" y="4362450"/>
            <a:ext cx="2645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49201" y="4521101"/>
            <a:ext cx="2645045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+ word bank projected alongside throughout the task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532882" y="4299049"/>
            <a:ext cx="2821781" cy="681484"/>
          </a:xfrm>
          <a:prstGeom prst="roundRect">
            <a:avLst>
              <a:gd name="adj" fmla="val 11181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647182" y="4362450"/>
            <a:ext cx="2645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647182" y="4521101"/>
            <a:ext cx="2645045" cy="39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at least 8 facilities (full list) without the word bank, plus an opinion sentence: "我们学校有一个游泳池，我觉得游泳池很有用。"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583263" y="1314301"/>
            <a:ext cx="4973836" cy="1342727"/>
          </a:xfrm>
          <a:prstGeom prst="roundRect">
            <a:avLst>
              <a:gd name="adj" fmla="val 11350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805464" y="1485751"/>
            <a:ext cx="46200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· 词库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05464" y="1749177"/>
            <a:ext cx="730151" cy="330101"/>
          </a:xfrm>
          <a:prstGeom prst="roundRect">
            <a:avLst>
              <a:gd name="adj" fmla="val 23084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941939" y="1809452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11814" y="1749177"/>
            <a:ext cx="577751" cy="330101"/>
          </a:xfrm>
          <a:prstGeom prst="roundRect">
            <a:avLst>
              <a:gd name="adj" fmla="val 23084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748290" y="1809452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礼堂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65765" y="1749177"/>
            <a:ext cx="577751" cy="330101"/>
          </a:xfrm>
          <a:prstGeom prst="roundRect">
            <a:avLst>
              <a:gd name="adj" fmla="val 23084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402241" y="1809452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操场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919716" y="1749177"/>
            <a:ext cx="730151" cy="330101"/>
          </a:xfrm>
          <a:prstGeom prst="roundRect">
            <a:avLst>
              <a:gd name="adj" fmla="val 23084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9056191" y="1809452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体育馆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726067" y="1749177"/>
            <a:ext cx="730151" cy="330101"/>
          </a:xfrm>
          <a:prstGeom prst="roundRect">
            <a:avLst>
              <a:gd name="adj" fmla="val 23084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9862542" y="1809452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篮球场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532418" y="1749177"/>
            <a:ext cx="730151" cy="330101"/>
          </a:xfrm>
          <a:prstGeom prst="roundRect">
            <a:avLst>
              <a:gd name="adj" fmla="val 23084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0668893" y="1809452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足球场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05464" y="2155478"/>
            <a:ext cx="577751" cy="330101"/>
          </a:xfrm>
          <a:prstGeom prst="roundRect">
            <a:avLst>
              <a:gd name="adj" fmla="val 23084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941939" y="2215753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餐厅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459414" y="2155478"/>
            <a:ext cx="730151" cy="330101"/>
          </a:xfrm>
          <a:prstGeom prst="roundRect">
            <a:avLst>
              <a:gd name="adj" fmla="val 23084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595890" y="2215753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游泳池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265765" y="2155478"/>
            <a:ext cx="730151" cy="330101"/>
          </a:xfrm>
          <a:prstGeom prst="roundRect">
            <a:avLst>
              <a:gd name="adj" fmla="val 23084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8402241" y="2215753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停车场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583263" y="2783979"/>
            <a:ext cx="4973836" cy="901303"/>
          </a:xfrm>
          <a:prstGeom prst="roundRect">
            <a:avLst>
              <a:gd name="adj" fmla="val 14091"/>
            </a:avLst>
          </a:prstGeom>
          <a:solidFill>
            <a:srgbClr val="E7EDF3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780014" y="2929979"/>
            <a:ext cx="46719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TEACHER'S LIVE REASONING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780014" y="3158579"/>
            <a:ext cx="4671941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教学楼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整栋楼 (whole building) — </a:t>
            </a:r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幢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图书馆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一个房间/一栋楼里的一部分 — </a:t>
            </a:r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7425"/>
            <a:ext cx="8499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设施词汇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68189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07790" y="117425"/>
            <a:ext cx="18315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量词大挑战 · 37–43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584002"/>
            <a:ext cx="112441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37–43 MIN · GAME · PROJECTOR RELAY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4150" y="847427"/>
            <a:ext cx="1124417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量词大挑战 · Measure-Word Relay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84150" y="1428304"/>
            <a:ext cx="2328118" cy="764977"/>
          </a:xfrm>
          <a:prstGeom prst="roundRect">
            <a:avLst>
              <a:gd name="adj" fmla="val 1660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8309" y="1564779"/>
            <a:ext cx="219980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8309" y="1904405"/>
            <a:ext cx="21998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túshūguǎn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013770" y="1428304"/>
            <a:ext cx="2328118" cy="764977"/>
          </a:xfrm>
          <a:prstGeom prst="roundRect">
            <a:avLst>
              <a:gd name="adj" fmla="val 16602"/>
            </a:avLst>
          </a:prstGeom>
          <a:solidFill>
            <a:srgbClr val="F5E7E4"/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077928" y="1564779"/>
            <a:ext cx="219980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教学楼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77928" y="1904405"/>
            <a:ext cx="21998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jiàoxué lóu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43389" y="1428304"/>
            <a:ext cx="2328118" cy="764977"/>
          </a:xfrm>
          <a:prstGeom prst="roundRect">
            <a:avLst>
              <a:gd name="adj" fmla="val 1660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7547" y="1564779"/>
            <a:ext cx="219980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礼堂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07547" y="1904405"/>
            <a:ext cx="21998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lǐtáng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4150" y="2294781"/>
            <a:ext cx="2328118" cy="764977"/>
          </a:xfrm>
          <a:prstGeom prst="roundRect">
            <a:avLst>
              <a:gd name="adj" fmla="val 1660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8309" y="2431256"/>
            <a:ext cx="219980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操场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8309" y="2770882"/>
            <a:ext cx="21998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cāochǎng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013770" y="2294781"/>
            <a:ext cx="2328118" cy="764977"/>
          </a:xfrm>
          <a:prstGeom prst="roundRect">
            <a:avLst>
              <a:gd name="adj" fmla="val 1660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077928" y="2431256"/>
            <a:ext cx="219980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体育馆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077928" y="2770882"/>
            <a:ext cx="21998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tǐyùguǎn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43389" y="2294781"/>
            <a:ext cx="2328118" cy="764977"/>
          </a:xfrm>
          <a:prstGeom prst="roundRect">
            <a:avLst>
              <a:gd name="adj" fmla="val 1660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07547" y="2431256"/>
            <a:ext cx="219980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篮球场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07547" y="2770882"/>
            <a:ext cx="21998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lánqiúchǎng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4150" y="3161258"/>
            <a:ext cx="2328118" cy="764977"/>
          </a:xfrm>
          <a:prstGeom prst="roundRect">
            <a:avLst>
              <a:gd name="adj" fmla="val 16602"/>
            </a:avLst>
          </a:prstGeom>
          <a:solidFill>
            <a:srgbClr val="F5E7E4"/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48309" y="3297734"/>
            <a:ext cx="219980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教学楼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8309" y="3637359"/>
            <a:ext cx="21998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jiàoxué lóu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013770" y="3161258"/>
            <a:ext cx="2328118" cy="764977"/>
          </a:xfrm>
          <a:prstGeom prst="roundRect">
            <a:avLst>
              <a:gd name="adj" fmla="val 1660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077928" y="3297734"/>
            <a:ext cx="219980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餐厅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077928" y="3637359"/>
            <a:ext cx="21998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cāntīng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051899" y="1428304"/>
            <a:ext cx="3555950" cy="1935212"/>
          </a:xfrm>
          <a:prstGeom prst="roundRect">
            <a:avLst>
              <a:gd name="adj" fmla="val 656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213824" y="1552129"/>
            <a:ext cx="32967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13824" y="1790105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281095" y="1812280"/>
            <a:ext cx="440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467725" y="1777454"/>
            <a:ext cx="3037764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(projector only): display 8 facility nouns one at a time — </a:t>
            </a:r>
            <a:pPr algn="l" indent="0" marL="0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measure word shown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213824" y="2131963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272314" y="2154138"/>
            <a:ext cx="617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467725" y="2119313"/>
            <a:ext cx="3037764" cy="43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teams (left half vs right half). Teacher calls the next student in rotation, alternating teams, to say the noun with its correct measure word: "一个图书馆！"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213824" y="2619375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272165" y="2641550"/>
            <a:ext cx="62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467725" y="2606725"/>
            <a:ext cx="3037764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= 1 point. If wrong, the other team may </a:t>
            </a:r>
            <a:pPr algn="l" indent="0" marL="0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steal</a:t>
            </a:r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by answering correctly.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213824" y="2961233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271718" y="2983409"/>
            <a:ext cx="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467725" y="2948583"/>
            <a:ext cx="3037764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a running score on the projector or whiteboard corner.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051899" y="3465016"/>
            <a:ext cx="3555950" cy="952946"/>
          </a:xfrm>
          <a:prstGeom prst="roundRect">
            <a:avLst>
              <a:gd name="adj" fmla="val 1332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213824" y="3588841"/>
            <a:ext cx="32967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13824" y="3814167"/>
            <a:ext cx="329674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If a student hesitates, teacher may offer the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sound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of the measure word ("g……") as a prompt before moving to the next student.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51899" y="4519464"/>
            <a:ext cx="3555950" cy="792956"/>
          </a:xfrm>
          <a:prstGeom prst="roundRect">
            <a:avLst>
              <a:gd name="adj" fmla="val 1601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213824" y="4643289"/>
            <a:ext cx="32967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213824" y="4868614"/>
            <a:ext cx="329674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Winning answers for fluent speakers must be given as a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sentence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我们学校有一个图书馆。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051899" y="5413921"/>
            <a:ext cx="3555950" cy="571500"/>
          </a:xfrm>
          <a:prstGeom prst="roundRect">
            <a:avLst>
              <a:gd name="adj" fmla="val 22222"/>
            </a:avLst>
          </a:prstGeom>
          <a:solidFill>
            <a:srgbClr val="F5E7E4"/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8213824" y="5537746"/>
            <a:ext cx="329674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教学楼 appears twice in the list — to specifically test 幢 retrieval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7425"/>
            <a:ext cx="8499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设施词汇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68189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07790" y="117425"/>
            <a:ext cx="11865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660202"/>
            <a:ext cx="106223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8950" y="949077"/>
            <a:ext cx="1062238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88950" y="1657052"/>
            <a:ext cx="5080099" cy="4693146"/>
          </a:xfrm>
          <a:prstGeom prst="roundRect">
            <a:avLst>
              <a:gd name="adj" fmla="val 3247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36600" y="1879253"/>
            <a:ext cx="46764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6600" y="2161729"/>
            <a:ext cx="46764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fingers: </a:t>
            </a:r>
            <a:pPr algn="l" indent="0" marL="0">
              <a:buNone/>
            </a:pPr>
            <a:r>
              <a:rPr lang="en-US" sz="9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pPr algn="l" indent="0" marL="0">
              <a:buNone/>
            </a:pPr>
            <a:r>
              <a:rPr lang="en-US" sz="9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完全可以 · </a:t>
            </a:r>
            <a:pPr algn="l" indent="0" marL="0">
              <a:buNone/>
            </a:pPr>
            <a:r>
              <a:rPr lang="en-US" sz="9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pPr algn="l" indent="0" marL="0">
              <a:buNone/>
            </a:pPr>
            <a:r>
              <a:rPr lang="en-US" sz="9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差不多 · </a:t>
            </a:r>
            <a:pPr algn="l" indent="0" marL="0">
              <a:buNone/>
            </a:pPr>
            <a:r>
              <a:rPr lang="en-US" sz="9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pPr algn="l" indent="0" marL="0">
              <a:buNone/>
            </a:pPr>
            <a:r>
              <a:rPr lang="en-US" sz="9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还不行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600" y="2425154"/>
            <a:ext cx="467649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 Name 8+ school facilities in Chinese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36600" y="2696914"/>
            <a:ext cx="467649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② Use 个 and 幢 correctly (buildings vs facilities)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36600" y="2968675"/>
            <a:ext cx="467649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③ Introduce the school: 我们学校有……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36600" y="3265736"/>
            <a:ext cx="4584799" cy="501551"/>
          </a:xfrm>
          <a:prstGeom prst="roundRect">
            <a:avLst>
              <a:gd name="adj" fmla="val 20257"/>
            </a:avLst>
          </a:prstGeom>
          <a:solidFill>
            <a:srgbClr val="F3E9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89000" y="3354586"/>
            <a:ext cx="43655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note any students showing 1 finger on criterion 2 (个 vs 幢) for the next lesson's review.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22950" y="1657052"/>
            <a:ext cx="5080099" cy="4693146"/>
          </a:xfrm>
          <a:prstGeom prst="roundRect">
            <a:avLst>
              <a:gd name="adj" fmla="val 3247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70600" y="1879253"/>
            <a:ext cx="46764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70600" y="2161729"/>
            <a:ext cx="4584799" cy="771971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499175" y="2161729"/>
            <a:ext cx="0" cy="771971"/>
          </a:xfrm>
          <a:prstGeom prst="line">
            <a:avLst/>
          </a:prstGeom>
          <a:noFill/>
          <a:ln w="57150">
            <a:solidFill>
              <a:srgbClr val="2E7D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5451" y="2288679"/>
            <a:ext cx="42556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WRITE ONE SENTENCE IN EXERCISE BOOK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05451" y="2504480"/>
            <a:ext cx="4255693" cy="302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我们学校有</a:t>
            </a:r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幢教学楼和一个</a:t>
            </a:r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70600" y="3035201"/>
            <a:ext cx="4676495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Must include: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70600" y="3311575"/>
            <a:ext cx="2107257" cy="193477"/>
          </a:xfrm>
          <a:prstGeom prst="roundRect">
            <a:avLst>
              <a:gd name="adj" fmla="val 6557524"/>
            </a:avLst>
          </a:prstGeom>
          <a:solidFill>
            <a:srgbClr val="E5EF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584900" y="3336875"/>
            <a:ext cx="19162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measure word for 教学楼 (幢)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641259" y="3311575"/>
            <a:ext cx="1235273" cy="193477"/>
          </a:xfrm>
          <a:prstGeom prst="roundRect">
            <a:avLst>
              <a:gd name="adj" fmla="val 6557524"/>
            </a:avLst>
          </a:prstGeom>
          <a:solidFill>
            <a:srgbClr val="E5EF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755559" y="3336875"/>
            <a:ext cx="10268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 for second blank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70600" y="3568452"/>
            <a:ext cx="1202234" cy="193477"/>
          </a:xfrm>
          <a:prstGeom prst="roundRect">
            <a:avLst>
              <a:gd name="adj" fmla="val 6557524"/>
            </a:avLst>
          </a:prstGeom>
          <a:solidFill>
            <a:srgbClr val="E5EF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584900" y="3593753"/>
            <a:ext cx="9931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complete sentence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70600" y="3863429"/>
            <a:ext cx="4676495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circulates and reads over shoulders; tap any student who has used 个 for 教学楼 and gesture them to self-correct.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14088" y="1316831"/>
            <a:ext cx="21638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1 COMPLETE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809393" y="1653332"/>
            <a:ext cx="57321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44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747735" y="2561332"/>
            <a:ext cx="469638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今天学了 · What We Covered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7462" y="3142357"/>
            <a:ext cx="57769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00"/>
              </a:spcAft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school facilities · measure words 个/幢 · sentence pattern 我们学校有……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24000" y="3631257"/>
            <a:ext cx="9144000" cy="1474887"/>
          </a:xfrm>
          <a:prstGeom prst="roundRect">
            <a:avLst>
              <a:gd name="adj" fmla="val 12055"/>
            </a:avLst>
          </a:prstGeom>
          <a:solidFill>
            <a:srgbClr val="F4F2EE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88694" y="3853458"/>
            <a:ext cx="86146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 · NEXT LESSON (L2)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88694" y="4116884"/>
            <a:ext cx="8614612" cy="76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下一课，我们要用今天学的设施词汇玩</a:t>
            </a:r>
            <a:pPr algn="ctr" indent="0" marL="0">
              <a:lnSpc>
                <a:spcPts val="2015"/>
              </a:lnSpc>
              <a:buNone/>
            </a:pPr>
            <a:r>
              <a:rPr lang="en-US" sz="13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组词游戏</a:t>
            </a:r>
            <a:pPr algn="ctr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，还要看</a:t>
            </a:r>
            <a:pPr algn="ctr" indent="0" marL="0">
              <a:lnSpc>
                <a:spcPts val="2015"/>
              </a:lnSpc>
              <a:buNone/>
            </a:pPr>
            <a:r>
              <a:rPr lang="en-US" sz="13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学校地图</a:t>
            </a:r>
            <a:pPr algn="ctr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，练习介绍学校的布局。</a:t>
            </a:r>
            <a:endParaRPr lang="en-US" sz="1300" dirty="0"/>
          </a:p>
          <a:p>
            <a:pPr algn="ctr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lesson: word-building games with today's facility vocabulary, plus reading a school map to practise describing the school's layout.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78465" y="5360045"/>
            <a:ext cx="76615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63351" y="5360045"/>
            <a:ext cx="725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51033" y="5360045"/>
            <a:ext cx="11341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 3 · 学校设施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00286" y="5360045"/>
            <a:ext cx="725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90158" y="5360045"/>
            <a:ext cx="9108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1 of 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18296" y="5360045"/>
            <a:ext cx="725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98208" y="5360045"/>
            <a:ext cx="19267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 · p.70–71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2026-07-18T06:16:29Z</dcterms:created>
  <dcterms:modified xsi:type="dcterms:W3CDTF">2026-07-18T06:16:29Z</dcterms:modified>
</cp:coreProperties>
</file>