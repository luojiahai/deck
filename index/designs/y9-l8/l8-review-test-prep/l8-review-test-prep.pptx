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090" y="1779687"/>
            <a:ext cx="3413820" cy="352425"/>
          </a:xfrm>
          <a:prstGeom prst="roundRect">
            <a:avLst>
              <a:gd name="adj" fmla="val 360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39889" y="1855887"/>
            <a:ext cx="2912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FINAL LESSON · TEST 3.2 PREP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34837" y="2335262"/>
            <a:ext cx="3922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13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· UNIT 3 · LESSON 8 OF 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05151" y="2792462"/>
            <a:ext cx="518154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0"/>
              </a:lnSpc>
              <a:spcAft>
                <a:spcPts val="1000"/>
              </a:spcAft>
              <a:buNone/>
            </a:pPr>
            <a:r>
              <a:rPr lang="en-US" sz="8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综合</a:t>
            </a:r>
            <a:pPr algn="ctr" indent="0" marL="0">
              <a:lnSpc>
                <a:spcPts val="8400"/>
              </a:lnSpc>
              <a:spcAft>
                <a:spcPts val="1000"/>
              </a:spcAft>
              <a:buNone/>
            </a:pPr>
            <a:r>
              <a:rPr lang="en-US" sz="80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pPr algn="ctr" indent="0" marL="0">
              <a:lnSpc>
                <a:spcPts val="8400"/>
              </a:lnSpc>
              <a:spcAft>
                <a:spcPts val="1000"/>
              </a:spcAft>
              <a:buNone/>
            </a:pPr>
            <a:r>
              <a:rPr lang="en-US" sz="8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916540" y="3986213"/>
            <a:ext cx="435892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22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+ Test 3.2 Preparation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494359" y="4706838"/>
            <a:ext cx="1477268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96516" y="4792563"/>
            <a:ext cx="1072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74778" y="4706838"/>
            <a:ext cx="972443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81982" y="4792563"/>
            <a:ext cx="558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50371" y="4706838"/>
            <a:ext cx="1737866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49921" y="4792563"/>
            <a:ext cx="13387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Speaking + Writing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91388" y="4706838"/>
            <a:ext cx="2406104" cy="371475"/>
          </a:xfrm>
          <a:prstGeom prst="roundRect">
            <a:avLst>
              <a:gd name="adj" fmla="val 3415385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84255" y="4792563"/>
            <a:ext cx="20203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Test 3.2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20149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Quick-Fire 10 Items (0–8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558701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WARM-UP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790426"/>
            <a:ext cx="1062238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Quick-Fire 快速问答 · 10 Items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88950" y="1317427"/>
            <a:ext cx="5080099" cy="844600"/>
          </a:xfrm>
          <a:prstGeom prst="roundRect">
            <a:avLst>
              <a:gd name="adj" fmla="val 120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76176" y="1612702"/>
            <a:ext cx="253901" cy="253901"/>
          </a:xfrm>
          <a:prstGeom prst="roundRect">
            <a:avLst>
              <a:gd name="adj" fmla="val 499694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77230" y="1658689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57027" y="1514326"/>
            <a:ext cx="44112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57027" y="1774627"/>
            <a:ext cx="4411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library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22950" y="1317427"/>
            <a:ext cx="5080099" cy="844600"/>
          </a:xfrm>
          <a:prstGeom prst="roundRect">
            <a:avLst>
              <a:gd name="adj" fmla="val 12029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10176" y="1612702"/>
            <a:ext cx="253901" cy="253901"/>
          </a:xfrm>
          <a:prstGeom prst="roundRect">
            <a:avLst>
              <a:gd name="adj" fmla="val 499694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00068" y="1658689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91027" y="1514326"/>
            <a:ext cx="44112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91027" y="1774627"/>
            <a:ext cx="4411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school clinic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8950" y="2250877"/>
            <a:ext cx="5080099" cy="844748"/>
          </a:xfrm>
          <a:prstGeom prst="roundRect">
            <a:avLst>
              <a:gd name="adj" fmla="val 1202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76176" y="2546300"/>
            <a:ext cx="253901" cy="253901"/>
          </a:xfrm>
          <a:prstGeom prst="roundRect">
            <a:avLst>
              <a:gd name="adj" fmla="val 499694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66813" y="2592288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57027" y="2447776"/>
            <a:ext cx="44112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57027" y="2708077"/>
            <a:ext cx="4411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laboratory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22950" y="2250877"/>
            <a:ext cx="5080099" cy="844748"/>
          </a:xfrm>
          <a:prstGeom prst="roundRect">
            <a:avLst>
              <a:gd name="adj" fmla="val 1202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10176" y="2546300"/>
            <a:ext cx="253901" cy="253901"/>
          </a:xfrm>
          <a:prstGeom prst="roundRect">
            <a:avLst>
              <a:gd name="adj" fmla="val 499694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03343" y="2592288"/>
            <a:ext cx="6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91027" y="2447776"/>
            <a:ext cx="44112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中间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91027" y="2708077"/>
            <a:ext cx="4411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between; centre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8950" y="3184475"/>
            <a:ext cx="5080099" cy="971699"/>
          </a:xfrm>
          <a:prstGeom prst="roundRect">
            <a:avLst>
              <a:gd name="adj" fmla="val 1045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76176" y="3543300"/>
            <a:ext cx="253901" cy="253901"/>
          </a:xfrm>
          <a:prstGeom prst="roundRect">
            <a:avLst>
              <a:gd name="adj" fmla="val 499694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66515" y="3589288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57027" y="3444925"/>
            <a:ext cx="44112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隔壁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57027" y="3705225"/>
            <a:ext cx="4411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door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22950" y="3184475"/>
            <a:ext cx="5080099" cy="971699"/>
          </a:xfrm>
          <a:prstGeom prst="roundRect">
            <a:avLst>
              <a:gd name="adj" fmla="val 1045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10176" y="3543300"/>
            <a:ext cx="253901" cy="253901"/>
          </a:xfrm>
          <a:prstGeom prst="roundRect">
            <a:avLst>
              <a:gd name="adj" fmla="val 499694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500217" y="3589288"/>
            <a:ext cx="75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91027" y="3381375"/>
            <a:ext cx="44112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我们学校有五__教学楼。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91027" y="3603575"/>
            <a:ext cx="4411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幢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791027" y="3806726"/>
            <a:ext cx="4411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 echo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88950" y="4245025"/>
            <a:ext cx="5080099" cy="844748"/>
          </a:xfrm>
          <a:prstGeom prst="roundRect">
            <a:avLst>
              <a:gd name="adj" fmla="val 1202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76176" y="4540448"/>
            <a:ext cx="253901" cy="253901"/>
          </a:xfrm>
          <a:prstGeom prst="roundRect">
            <a:avLst>
              <a:gd name="adj" fmla="val 499694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166068" y="4586436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457027" y="4441924"/>
            <a:ext cx="44112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457027" y="4702225"/>
            <a:ext cx="4411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upstairs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222950" y="4245025"/>
            <a:ext cx="5080099" cy="844748"/>
          </a:xfrm>
          <a:prstGeom prst="roundRect">
            <a:avLst>
              <a:gd name="adj" fmla="val 1202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410176" y="4540448"/>
            <a:ext cx="253901" cy="253901"/>
          </a:xfrm>
          <a:prstGeom prst="roundRect">
            <a:avLst>
              <a:gd name="adj" fmla="val 499694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500068" y="4586436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91027" y="4484787"/>
            <a:ext cx="44112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汉语教室在法语教室的……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91027" y="4697462"/>
            <a:ext cx="4411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elicit completion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88950" y="5178623"/>
            <a:ext cx="5080099" cy="844748"/>
          </a:xfrm>
          <a:prstGeom prst="roundRect">
            <a:avLst>
              <a:gd name="adj" fmla="val 1202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076176" y="5474047"/>
            <a:ext cx="253901" cy="253901"/>
          </a:xfrm>
          <a:prstGeom prst="roundRect">
            <a:avLst>
              <a:gd name="adj" fmla="val 499694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166664" y="5520035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457027" y="5375523"/>
            <a:ext cx="44112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457027" y="5635823"/>
            <a:ext cx="44112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pPr algn="l"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car park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222950" y="5178623"/>
            <a:ext cx="5080099" cy="844748"/>
          </a:xfrm>
          <a:prstGeom prst="roundRect">
            <a:avLst>
              <a:gd name="adj" fmla="val 1202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410176" y="5474047"/>
            <a:ext cx="253901" cy="253901"/>
          </a:xfrm>
          <a:prstGeom prst="roundRect">
            <a:avLst>
              <a:gd name="adj" fmla="val 4996948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474172" y="5520035"/>
            <a:ext cx="1284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791027" y="5437436"/>
            <a:ext cx="44112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校长办公室在教师办公室和校医室的……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791027" y="5612011"/>
            <a:ext cx="44112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+ choral echo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88950" y="6124873"/>
            <a:ext cx="10414099" cy="377726"/>
          </a:xfrm>
          <a:prstGeom prst="roundRect">
            <a:avLst>
              <a:gd name="adj" fmla="val 26898"/>
            </a:avLst>
          </a:prstGeom>
          <a:solidFill>
            <a:srgbClr val="F7EAE8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127075" y="6237536"/>
            <a:ext cx="2741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522809" y="6223248"/>
            <a:ext cx="8851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+ choral echo on every item</a:t>
            </a:r>
            <a:pPr algn="l" indent="0" marL="0"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no hands up. Items 8–10 require full sentence production; items 1–7 accept single-word answers.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0184457" y="6673900"/>
            <a:ext cx="15295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Quick-Fire Review · 0–8 min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24722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(8–10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584150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GOALS · 课堂目标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815876"/>
            <a:ext cx="106223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Learning Intention &amp; Success Criteria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8950" y="1435001"/>
            <a:ext cx="10414099" cy="1615827"/>
          </a:xfrm>
          <a:prstGeom prst="roundRect">
            <a:avLst>
              <a:gd name="adj" fmla="val 7860"/>
            </a:avLst>
          </a:prstGeom>
          <a:solidFill>
            <a:srgbClr val="E9EEF4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61901" y="1631752"/>
            <a:ext cx="330101" cy="330101"/>
          </a:xfrm>
          <a:prstGeom prst="roundRect">
            <a:avLst>
              <a:gd name="adj" fmla="val 23084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26939" y="1668214"/>
            <a:ext cx="2040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18952" y="1696789"/>
            <a:ext cx="26574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1901" y="2063353"/>
            <a:ext cx="10065562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</a:t>
            </a:r>
            <a:pPr algn="l" indent="0" marL="0">
              <a:lnSpc>
                <a:spcPts val="1958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consolidating all Lesson 8 vocabulary and sentence patterns</a:t>
            </a:r>
            <a:pPr algn="l" indent="0" marL="0">
              <a:lnSpc>
                <a:spcPts val="1958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preparing accurate written responses for Test 3.2.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61901" y="2623840"/>
            <a:ext cx="10065562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我们正在巩固第八课所有的词汇和句型，准备好考试 3.2 需要的书面答案。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8950" y="3228529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SUCCESS CRITERIA · 成功标准 — 我能……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950" y="3511004"/>
            <a:ext cx="10414099" cy="634752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908000" y="3511004"/>
            <a:ext cx="0" cy="634752"/>
          </a:xfrm>
          <a:prstGeom prst="line">
            <a:avLst/>
          </a:prstGeom>
          <a:noFill/>
          <a:ln w="38100">
            <a:solidFill>
              <a:srgbClr val="3A5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0201" y="3675906"/>
            <a:ext cx="304800" cy="304800"/>
          </a:xfrm>
          <a:prstGeom prst="roundRect">
            <a:avLst>
              <a:gd name="adj" fmla="val 416250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46733" y="3723531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87401" y="3612505"/>
            <a:ext cx="375686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我能翻译 Lesson 8 所有测验词汇（</a:t>
            </a:r>
            <a:pPr algn="l" indent="0" marL="0">
              <a:buNone/>
            </a:pPr>
            <a:r>
              <a:rPr lang="en-US" sz="13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中文 ↔ 英文</a:t>
            </a:r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587401" y="3863280"/>
            <a:ext cx="37568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translate all Test 3.2 vocabulary in both directions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8950" y="4234607"/>
            <a:ext cx="10414099" cy="634752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908000" y="4234607"/>
            <a:ext cx="0" cy="634752"/>
          </a:xfrm>
          <a:prstGeom prst="line">
            <a:avLst/>
          </a:prstGeom>
          <a:noFill/>
          <a:ln w="38100">
            <a:solidFill>
              <a:srgbClr val="2E7D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0201" y="4399508"/>
            <a:ext cx="304800" cy="304800"/>
          </a:xfrm>
          <a:prstGeom prst="roundRect">
            <a:avLst>
              <a:gd name="adj" fmla="val 41625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246733" y="4447133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87401" y="4336107"/>
            <a:ext cx="45515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我能正确写出 </a:t>
            </a:r>
            <a:pPr algn="l" indent="0" marL="0">
              <a:buNone/>
            </a:pPr>
            <a:r>
              <a:rPr lang="en-US" sz="13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 个名词</a:t>
            </a:r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的量词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587401" y="4586883"/>
            <a:ext cx="45515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correctly write the measure word for all 18 Test 3.2 practice nouns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88950" y="4958209"/>
            <a:ext cx="10414099" cy="634752"/>
          </a:xfrm>
          <a:prstGeom prst="rect">
            <a:avLst/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908000" y="4958209"/>
            <a:ext cx="0" cy="634752"/>
          </a:xfrm>
          <a:prstGeom prst="line">
            <a:avLst/>
          </a:prstGeom>
          <a:noFill/>
          <a:ln w="38100">
            <a:solidFill>
              <a:srgbClr val="C96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0201" y="5123111"/>
            <a:ext cx="304800" cy="304800"/>
          </a:xfrm>
          <a:prstGeom prst="roundRect">
            <a:avLst>
              <a:gd name="adj" fmla="val 41625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246733" y="5170736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87401" y="5059710"/>
            <a:ext cx="52041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我能用 </a:t>
            </a:r>
            <a:pPr algn="l" indent="0" marL="0">
              <a:buNone/>
            </a:pPr>
            <a:r>
              <a:rPr lang="en-US" sz="13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"X 在 Y 的……"</a:t>
            </a:r>
            <a:pPr algn="l" indent="0" marL="0">
              <a:buNone/>
            </a:pPr>
            <a:r>
              <a:rPr lang="en-US" sz="13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句型写出完整、正确语序的句子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587401" y="5310485"/>
            <a:ext cx="5204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complete, correctly-ordered sentences using the location-word pattern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9844088" y="6673900"/>
            <a:ext cx="18767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Learning Intention &amp; Success Criteria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17595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Vocabulary Grid (10–14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482501"/>
            <a:ext cx="21319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Test 3.2 · 词汇总表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877443" y="590550"/>
            <a:ext cx="808583" cy="212527"/>
          </a:xfrm>
          <a:prstGeom prst="roundRect">
            <a:avLst>
              <a:gd name="adj" fmla="val 5969736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29843" y="615851"/>
            <a:ext cx="51385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items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38426" y="615851"/>
            <a:ext cx="33233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 = appears on test but not a New Word exactly as written in L8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34901" y="1056977"/>
            <a:ext cx="5321350" cy="0"/>
          </a:xfrm>
          <a:prstGeom prst="line">
            <a:avLst/>
          </a:prstGeom>
          <a:noFill/>
          <a:ln w="19050">
            <a:solidFill>
              <a:srgbClr val="3A5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362" y="888802"/>
            <a:ext cx="129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838051" y="888802"/>
            <a:ext cx="803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701552" y="888802"/>
            <a:ext cx="932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692152" y="888802"/>
            <a:ext cx="33293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34901" y="1301502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112" y="113555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63352" y="110698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01403" y="1126034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jiàoxué lóu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66554" y="1126034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teaching building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4901" y="1528614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112" y="1362670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63352" y="1334095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01403" y="1353145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jiàoshì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66554" y="1353145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classroom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34901" y="1755725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112" y="1589782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63352" y="1561207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教师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01403" y="1580257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jiàoshī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66554" y="1580257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(formal)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4901" y="1982837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3112" y="1816894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863352" y="1788319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01403" y="1807369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xiàoyīshì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666554" y="1807369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clinic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4901" y="2209949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112" y="2044005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63352" y="2015430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音乐室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01403" y="2034480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yīnyuèshì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66554" y="2034480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music room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4901" y="2437061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112" y="2271117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63352" y="2242542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实验室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701403" y="2261592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shíyànshì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666554" y="2261592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laboratory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4901" y="2664172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3112" y="249822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63352" y="24696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办公室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701403" y="2488704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bàngōngshì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666554" y="2488704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office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4901" y="2668935"/>
            <a:ext cx="5321350" cy="265212"/>
          </a:xfrm>
          <a:prstGeom prst="rect">
            <a:avLst/>
          </a:prstGeom>
          <a:solidFill>
            <a:srgbClr val="F6ED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634901" y="2929384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3112" y="2753916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63352" y="2696766"/>
            <a:ext cx="803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校长室</a:t>
            </a:r>
            <a:pPr algn="l" indent="0" marL="0">
              <a:buNone/>
            </a:pPr>
            <a:r>
              <a:rPr lang="en-US" sz="9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⭐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701403" y="2744391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xiàozhǎngshì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666554" y="2744391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principal's office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34901" y="3156496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3112" y="2990552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63352" y="2961977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701403" y="2981027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túshūguǎn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666554" y="2981027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library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34901" y="3161258"/>
            <a:ext cx="5321350" cy="265212"/>
          </a:xfrm>
          <a:prstGeom prst="rect">
            <a:avLst/>
          </a:prstGeom>
          <a:solidFill>
            <a:srgbClr val="F6ED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Shape 61"/>
          <p:cNvSpPr/>
          <p:nvPr/>
        </p:nvSpPr>
        <p:spPr>
          <a:xfrm>
            <a:off x="634901" y="3421707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3112" y="324623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863352" y="3189089"/>
            <a:ext cx="803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游泳馆</a:t>
            </a:r>
            <a:pPr algn="l" indent="0" marL="0">
              <a:buNone/>
            </a:pPr>
            <a:r>
              <a:rPr lang="en-US" sz="9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⭐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701403" y="3236714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yóuyǒngguǎn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666554" y="3236714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swimming pool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34901" y="3648819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3112" y="3482876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863352" y="3454301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体育馆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701403" y="3473351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tǐyùguǎn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666554" y="3473351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gymnasium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34901" y="3653582"/>
            <a:ext cx="5321350" cy="265212"/>
          </a:xfrm>
          <a:prstGeom prst="rect">
            <a:avLst/>
          </a:prstGeom>
          <a:solidFill>
            <a:srgbClr val="F6ED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634901" y="3914031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3112" y="3738563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63352" y="3681413"/>
            <a:ext cx="803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体育场</a:t>
            </a:r>
            <a:pPr algn="l" indent="0" marL="0">
              <a:buNone/>
            </a:pPr>
            <a:r>
              <a:rPr lang="en-US" sz="9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⭐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1701403" y="3729038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tǐyùchǎng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2666554" y="3729038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sports field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34901" y="3918793"/>
            <a:ext cx="5321350" cy="265212"/>
          </a:xfrm>
          <a:prstGeom prst="rect">
            <a:avLst/>
          </a:prstGeom>
          <a:solidFill>
            <a:srgbClr val="F6ED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Shape 78"/>
          <p:cNvSpPr/>
          <p:nvPr/>
        </p:nvSpPr>
        <p:spPr>
          <a:xfrm>
            <a:off x="634901" y="4179243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83112" y="4003774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863352" y="3946624"/>
            <a:ext cx="8030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运动场</a:t>
            </a:r>
            <a:pPr algn="l" indent="0" marL="0">
              <a:buNone/>
            </a:pPr>
            <a:r>
              <a:rPr lang="en-US" sz="95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⭐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701403" y="3994249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yùndòngchǎng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2666554" y="3994249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sports field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34901" y="4406354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83112" y="4240411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863352" y="4211836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1701403" y="4230886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cāochǎng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2666554" y="4230886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playground; sports field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34901" y="4633466"/>
            <a:ext cx="53213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3112" y="4467523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863352" y="4438948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1701403" y="4457998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tíngchēchǎng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666554" y="4457998"/>
            <a:ext cx="33037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car park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6235601" y="1056977"/>
            <a:ext cx="5321498" cy="0"/>
          </a:xfrm>
          <a:prstGeom prst="line">
            <a:avLst/>
          </a:prstGeom>
          <a:noFill/>
          <a:ln w="19050">
            <a:solidFill>
              <a:srgbClr val="3A5F8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233062" y="888802"/>
            <a:ext cx="129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6438751" y="888802"/>
            <a:ext cx="803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汉字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7302252" y="888802"/>
            <a:ext cx="932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拼音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8292852" y="888802"/>
            <a:ext cx="332953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6235601" y="1301502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283812" y="113555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6464052" y="110698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足球场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7302103" y="1126034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zúqiúchǎng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8267254" y="1126034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football pitch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235601" y="1528614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283812" y="1362670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6464052" y="1334095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篮球场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7302103" y="1353145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lánqiúchǎng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267254" y="1353145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basketball court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6235601" y="1755725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83812" y="1589782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6464052" y="1561207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礼堂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7302103" y="1580257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lǐtáng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8267254" y="1580257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auditorium; hall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6235601" y="1982837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283812" y="1816894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464052" y="1788319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</a:t>
            </a:r>
            <a:endParaRPr lang="en-US" sz="950" dirty="0"/>
          </a:p>
        </p:txBody>
      </p:sp>
      <p:sp>
        <p:nvSpPr>
          <p:cNvPr id="118" name="Text 116"/>
          <p:cNvSpPr/>
          <p:nvPr/>
        </p:nvSpPr>
        <p:spPr>
          <a:xfrm>
            <a:off x="7302103" y="1807369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cāntīng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8267254" y="1807369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dining hall; canteen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6235601" y="2209949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6283812" y="2044005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6464052" y="2015430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男厕所</a:t>
            </a:r>
            <a:endParaRPr lang="en-US" sz="950" dirty="0"/>
          </a:p>
        </p:txBody>
      </p:sp>
      <p:sp>
        <p:nvSpPr>
          <p:cNvPr id="123" name="Text 121"/>
          <p:cNvSpPr/>
          <p:nvPr/>
        </p:nvSpPr>
        <p:spPr>
          <a:xfrm>
            <a:off x="7302103" y="2034480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nán cèsuǒ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8267254" y="2034480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men's toilet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6235601" y="2437061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283812" y="2271117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6464052" y="2242542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女厕所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7302103" y="2261592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nǚ cèsuǒ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8267254" y="2261592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women's toilet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6235601" y="2664172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283812" y="249822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6464052" y="246965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950" dirty="0"/>
          </a:p>
        </p:txBody>
      </p:sp>
      <p:sp>
        <p:nvSpPr>
          <p:cNvPr id="133" name="Text 131"/>
          <p:cNvSpPr/>
          <p:nvPr/>
        </p:nvSpPr>
        <p:spPr>
          <a:xfrm>
            <a:off x="7302103" y="2488704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lóushàng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8267254" y="2488704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upstairs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6235601" y="2891284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283812" y="2725341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23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6464052" y="2696766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950" dirty="0"/>
          </a:p>
        </p:txBody>
      </p:sp>
      <p:sp>
        <p:nvSpPr>
          <p:cNvPr id="138" name="Text 136"/>
          <p:cNvSpPr/>
          <p:nvPr/>
        </p:nvSpPr>
        <p:spPr>
          <a:xfrm>
            <a:off x="7302103" y="2715816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lóuxià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8267254" y="2715816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downstairs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6235601" y="3118396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283812" y="2952452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6464052" y="2923877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上楼</a:t>
            </a:r>
            <a:endParaRPr lang="en-US" sz="950" dirty="0"/>
          </a:p>
        </p:txBody>
      </p:sp>
      <p:sp>
        <p:nvSpPr>
          <p:cNvPr id="143" name="Text 141"/>
          <p:cNvSpPr/>
          <p:nvPr/>
        </p:nvSpPr>
        <p:spPr>
          <a:xfrm>
            <a:off x="7302103" y="2942927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shàng lóu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8267254" y="2942927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upstairs</a:t>
            </a:r>
            <a:endParaRPr lang="en-US" sz="800" dirty="0"/>
          </a:p>
        </p:txBody>
      </p:sp>
      <p:sp>
        <p:nvSpPr>
          <p:cNvPr id="145" name="Shape 143"/>
          <p:cNvSpPr/>
          <p:nvPr/>
        </p:nvSpPr>
        <p:spPr>
          <a:xfrm>
            <a:off x="6235601" y="3345507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283812" y="3179564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6464052" y="3150989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下楼</a:t>
            </a:r>
            <a:endParaRPr lang="en-US" sz="950" dirty="0"/>
          </a:p>
        </p:txBody>
      </p:sp>
      <p:sp>
        <p:nvSpPr>
          <p:cNvPr id="148" name="Text 146"/>
          <p:cNvSpPr/>
          <p:nvPr/>
        </p:nvSpPr>
        <p:spPr>
          <a:xfrm>
            <a:off x="7302103" y="3170039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xià lóu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8267254" y="3170039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 downstairs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6235601" y="3572619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6283812" y="3406676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26</a:t>
            </a:r>
            <a:endParaRPr lang="en-US" sz="700" dirty="0"/>
          </a:p>
        </p:txBody>
      </p:sp>
      <p:sp>
        <p:nvSpPr>
          <p:cNvPr id="152" name="Text 150"/>
          <p:cNvSpPr/>
          <p:nvPr/>
        </p:nvSpPr>
        <p:spPr>
          <a:xfrm>
            <a:off x="6464052" y="3378101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三层</a:t>
            </a:r>
            <a:endParaRPr lang="en-US" sz="950" dirty="0"/>
          </a:p>
        </p:txBody>
      </p:sp>
      <p:sp>
        <p:nvSpPr>
          <p:cNvPr id="153" name="Text 151"/>
          <p:cNvSpPr/>
          <p:nvPr/>
        </p:nvSpPr>
        <p:spPr>
          <a:xfrm>
            <a:off x="7302103" y="3397151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sān céng</a:t>
            </a:r>
            <a:endParaRPr lang="en-US" sz="800" dirty="0"/>
          </a:p>
        </p:txBody>
      </p:sp>
      <p:sp>
        <p:nvSpPr>
          <p:cNvPr id="154" name="Text 152"/>
          <p:cNvSpPr/>
          <p:nvPr/>
        </p:nvSpPr>
        <p:spPr>
          <a:xfrm>
            <a:off x="8267254" y="3397151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third floor</a:t>
            </a:r>
            <a:endParaRPr lang="en-US" sz="800" dirty="0"/>
          </a:p>
        </p:txBody>
      </p:sp>
      <p:sp>
        <p:nvSpPr>
          <p:cNvPr id="155" name="Shape 153"/>
          <p:cNvSpPr/>
          <p:nvPr/>
        </p:nvSpPr>
        <p:spPr>
          <a:xfrm>
            <a:off x="6235601" y="3799731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283812" y="3633788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27</a:t>
            </a:r>
            <a:endParaRPr lang="en-US" sz="700" dirty="0"/>
          </a:p>
        </p:txBody>
      </p:sp>
      <p:sp>
        <p:nvSpPr>
          <p:cNvPr id="157" name="Text 155"/>
          <p:cNvSpPr/>
          <p:nvPr/>
        </p:nvSpPr>
        <p:spPr>
          <a:xfrm>
            <a:off x="6464052" y="3605213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二楼</a:t>
            </a:r>
            <a:endParaRPr lang="en-US" sz="950" dirty="0"/>
          </a:p>
        </p:txBody>
      </p:sp>
      <p:sp>
        <p:nvSpPr>
          <p:cNvPr id="158" name="Text 156"/>
          <p:cNvSpPr/>
          <p:nvPr/>
        </p:nvSpPr>
        <p:spPr>
          <a:xfrm>
            <a:off x="7302103" y="3624263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èr lóu</a:t>
            </a:r>
            <a:endParaRPr lang="en-US" sz="800" dirty="0"/>
          </a:p>
        </p:txBody>
      </p:sp>
      <p:sp>
        <p:nvSpPr>
          <p:cNvPr id="159" name="Text 157"/>
          <p:cNvSpPr/>
          <p:nvPr/>
        </p:nvSpPr>
        <p:spPr>
          <a:xfrm>
            <a:off x="8267254" y="3624263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second floor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6235601" y="4026843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283812" y="386089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</a:t>
            </a:r>
            <a:endParaRPr lang="en-US" sz="700" dirty="0"/>
          </a:p>
        </p:txBody>
      </p:sp>
      <p:sp>
        <p:nvSpPr>
          <p:cNvPr id="162" name="Text 160"/>
          <p:cNvSpPr/>
          <p:nvPr/>
        </p:nvSpPr>
        <p:spPr>
          <a:xfrm>
            <a:off x="6464052" y="3832324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隔壁</a:t>
            </a:r>
            <a:endParaRPr lang="en-US" sz="950" dirty="0"/>
          </a:p>
        </p:txBody>
      </p:sp>
      <p:sp>
        <p:nvSpPr>
          <p:cNvPr id="163" name="Text 161"/>
          <p:cNvSpPr/>
          <p:nvPr/>
        </p:nvSpPr>
        <p:spPr>
          <a:xfrm>
            <a:off x="7302103" y="3851374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gébì</a:t>
            </a:r>
            <a:endParaRPr lang="en-US" sz="800" dirty="0"/>
          </a:p>
        </p:txBody>
      </p:sp>
      <p:sp>
        <p:nvSpPr>
          <p:cNvPr id="164" name="Text 162"/>
          <p:cNvSpPr/>
          <p:nvPr/>
        </p:nvSpPr>
        <p:spPr>
          <a:xfrm>
            <a:off x="8267254" y="3851374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door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6235601" y="4253954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6283812" y="4088011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29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6464052" y="4059436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中间</a:t>
            </a:r>
            <a:endParaRPr lang="en-US" sz="950" dirty="0"/>
          </a:p>
        </p:txBody>
      </p:sp>
      <p:sp>
        <p:nvSpPr>
          <p:cNvPr id="168" name="Text 166"/>
          <p:cNvSpPr/>
          <p:nvPr/>
        </p:nvSpPr>
        <p:spPr>
          <a:xfrm>
            <a:off x="7302103" y="4078486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zhōngjiān</a:t>
            </a:r>
            <a:endParaRPr lang="en-US" sz="800" dirty="0"/>
          </a:p>
        </p:txBody>
      </p:sp>
      <p:sp>
        <p:nvSpPr>
          <p:cNvPr id="169" name="Text 167"/>
          <p:cNvSpPr/>
          <p:nvPr/>
        </p:nvSpPr>
        <p:spPr>
          <a:xfrm>
            <a:off x="8267254" y="4078486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between; centre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6235601" y="4481066"/>
            <a:ext cx="5321498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283812" y="4315123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6464052" y="4286548"/>
            <a:ext cx="8030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旁边</a:t>
            </a:r>
            <a:endParaRPr lang="en-US" sz="950" dirty="0"/>
          </a:p>
        </p:txBody>
      </p:sp>
      <p:sp>
        <p:nvSpPr>
          <p:cNvPr id="173" name="Text 171"/>
          <p:cNvSpPr/>
          <p:nvPr/>
        </p:nvSpPr>
        <p:spPr>
          <a:xfrm>
            <a:off x="7302103" y="4305598"/>
            <a:ext cx="9326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pángbiān</a:t>
            </a:r>
            <a:endParaRPr lang="en-US" sz="800" dirty="0"/>
          </a:p>
        </p:txBody>
      </p:sp>
      <p:sp>
        <p:nvSpPr>
          <p:cNvPr id="174" name="Text 172"/>
          <p:cNvSpPr/>
          <p:nvPr/>
        </p:nvSpPr>
        <p:spPr>
          <a:xfrm>
            <a:off x="8267254" y="4305598"/>
            <a:ext cx="33038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beside; next to</a:t>
            </a:r>
            <a:endParaRPr lang="en-US" sz="800" dirty="0"/>
          </a:p>
        </p:txBody>
      </p:sp>
      <p:sp>
        <p:nvSpPr>
          <p:cNvPr id="175" name="Text 173"/>
          <p:cNvSpPr/>
          <p:nvPr/>
        </p:nvSpPr>
        <p:spPr>
          <a:xfrm>
            <a:off x="634901" y="6115348"/>
            <a:ext cx="10922198" cy="412552"/>
          </a:xfrm>
          <a:prstGeom prst="roundRect">
            <a:avLst>
              <a:gd name="adj" fmla="val 18470"/>
            </a:avLst>
          </a:prstGeom>
          <a:solidFill>
            <a:srgbClr val="F6EDE0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6" name="Text 174"/>
          <p:cNvSpPr/>
          <p:nvPr/>
        </p:nvSpPr>
        <p:spPr>
          <a:xfrm>
            <a:off x="822127" y="6169223"/>
            <a:ext cx="52697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⭐ These 4 words appear on Test 3.2 but were NOT New Words exactly as written in L8 — know them!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6115496" y="6197798"/>
            <a:ext cx="53594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校长室(8) = compact 校长办公室 · 游泳馆(10) = test variant of 游泳池 · 体育场(12) &amp; 运动场(13) = synonyms for sports grounds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9835455" y="6673900"/>
            <a:ext cx="18855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Test 3.2 Vocabulary Grid · 10–14 min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232807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Sentence Pattern Summary (14–16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584150"/>
            <a:ext cx="124358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句型总结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311301" y="736550"/>
            <a:ext cx="3711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Key Sentence Patterns · Review &amp; Produce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8950" y="1190476"/>
            <a:ext cx="5130850" cy="1997720"/>
          </a:xfrm>
          <a:prstGeom prst="roundRect">
            <a:avLst>
              <a:gd name="adj" fmla="val 5086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88950" y="1195239"/>
            <a:ext cx="51308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15038" y="1190476"/>
            <a:ext cx="0" cy="199772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8950" y="3183434"/>
            <a:ext cx="51308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08000" y="1190476"/>
            <a:ext cx="0" cy="1997720"/>
          </a:xfrm>
          <a:prstGeom prst="line">
            <a:avLst/>
          </a:prstGeom>
          <a:noFill/>
          <a:ln w="38100">
            <a:solidFill>
              <a:srgbClr val="3A5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0201" y="1352401"/>
            <a:ext cx="304800" cy="304800"/>
          </a:xfrm>
          <a:prstGeom prst="roundRect">
            <a:avLst>
              <a:gd name="adj" fmla="val 4162500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46733" y="1400026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87401" y="1352401"/>
            <a:ext cx="43041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 / 幢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measure words for facilities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596926" y="1676251"/>
            <a:ext cx="0" cy="228600"/>
          </a:xfrm>
          <a:prstGeom prst="line">
            <a:avLst/>
          </a:prstGeom>
          <a:noFill/>
          <a:ln w="19050">
            <a:solidFill>
              <a:srgbClr val="CFC9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07952" y="1676251"/>
            <a:ext cx="41811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pPr algn="l" indent="0" marL="0">
              <a:buNone/>
            </a:pPr>
            <a:r>
              <a:rPr lang="en-US" sz="12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图书馆。五</a:t>
            </a:r>
            <a:pPr algn="l" indent="0" marL="0">
              <a:buNone/>
            </a:pPr>
            <a:r>
              <a:rPr lang="en-US" sz="125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</a:t>
            </a:r>
            <a:pPr algn="l" indent="0" marL="0">
              <a:buNone/>
            </a:pPr>
            <a:r>
              <a:rPr lang="en-US" sz="12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教学楼。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72200" y="1190476"/>
            <a:ext cx="5130850" cy="1997720"/>
          </a:xfrm>
          <a:prstGeom prst="roundRect">
            <a:avLst>
              <a:gd name="adj" fmla="val 5086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172200" y="1195239"/>
            <a:ext cx="51308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8287" y="1190476"/>
            <a:ext cx="0" cy="199772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3183434"/>
            <a:ext cx="51308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1250" y="1190476"/>
            <a:ext cx="0" cy="1997720"/>
          </a:xfrm>
          <a:prstGeom prst="line">
            <a:avLst/>
          </a:prstGeom>
          <a:noFill/>
          <a:ln w="38100">
            <a:solidFill>
              <a:srgbClr val="2E7D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3450" y="1352401"/>
            <a:ext cx="304800" cy="304800"/>
          </a:xfrm>
          <a:prstGeom prst="roundRect">
            <a:avLst>
              <a:gd name="adj" fmla="val 4162500"/>
            </a:avLst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29983" y="1400026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70650" y="1352401"/>
            <a:ext cx="43041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=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— floor levels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80175" y="1676251"/>
            <a:ext cx="0" cy="228600"/>
          </a:xfrm>
          <a:prstGeom prst="line">
            <a:avLst/>
          </a:prstGeom>
          <a:noFill/>
          <a:ln w="19050">
            <a:solidFill>
              <a:srgbClr val="CFC9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1201" y="1676251"/>
            <a:ext cx="41811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</a:t>
            </a:r>
            <a:pPr algn="l" indent="0" marL="0">
              <a:buNone/>
            </a:pPr>
            <a:r>
              <a:rPr lang="en-US" sz="12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pPr algn="l" indent="0" marL="0">
              <a:buNone/>
            </a:pPr>
            <a:r>
              <a:rPr lang="en-US" sz="12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= 三</a:t>
            </a:r>
            <a:pPr algn="l" indent="0" marL="0">
              <a:buNone/>
            </a:pPr>
            <a:r>
              <a:rPr lang="en-US" sz="125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pPr algn="l" indent="0" marL="0">
              <a:buNone/>
            </a:pPr>
            <a:r>
              <a:rPr lang="en-US" sz="12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8950" y="3340596"/>
            <a:ext cx="5130850" cy="1997720"/>
          </a:xfrm>
          <a:prstGeom prst="roundRect">
            <a:avLst>
              <a:gd name="adj" fmla="val 5086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888950" y="3345359"/>
            <a:ext cx="51308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15038" y="3340596"/>
            <a:ext cx="0" cy="199772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8950" y="5333554"/>
            <a:ext cx="51308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8000" y="3340596"/>
            <a:ext cx="0" cy="1997720"/>
          </a:xfrm>
          <a:prstGeom prst="line">
            <a:avLst/>
          </a:prstGeom>
          <a:noFill/>
          <a:ln w="38100">
            <a:solidFill>
              <a:srgbClr val="C96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30201" y="3502521"/>
            <a:ext cx="304800" cy="304800"/>
          </a:xfrm>
          <a:prstGeom prst="roundRect">
            <a:avLst>
              <a:gd name="adj" fmla="val 41625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246733" y="3550146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587401" y="3502521"/>
            <a:ext cx="43041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Y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位置词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596926" y="3826371"/>
            <a:ext cx="0" cy="228600"/>
          </a:xfrm>
          <a:prstGeom prst="line">
            <a:avLst/>
          </a:prstGeom>
          <a:noFill/>
          <a:ln w="19050">
            <a:solidFill>
              <a:srgbClr val="CFC9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07952" y="3826371"/>
            <a:ext cx="41811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</a:t>
            </a:r>
            <a:pPr algn="l" indent="0" marL="0">
              <a:buNone/>
            </a:pPr>
            <a:r>
              <a:rPr lang="en-US" sz="12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</a:t>
            </a:r>
            <a:pPr algn="l" indent="0" marL="0">
              <a:buNone/>
            </a:pPr>
            <a:r>
              <a:rPr lang="en-US" sz="12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体育馆</a:t>
            </a:r>
            <a:pPr algn="l" indent="0" marL="0">
              <a:buNone/>
            </a:pPr>
            <a:r>
              <a:rPr lang="en-US" sz="125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pPr algn="l" indent="0" marL="0">
              <a:buNone/>
            </a:pPr>
            <a:r>
              <a:rPr lang="en-US" sz="1250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对面。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72200" y="3340596"/>
            <a:ext cx="5130850" cy="1997720"/>
          </a:xfrm>
          <a:prstGeom prst="roundRect">
            <a:avLst>
              <a:gd name="adj" fmla="val 5086"/>
            </a:avLst>
          </a:prstGeom>
          <a:solidFill>
            <a:srgbClr val="F4F2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172200" y="3345359"/>
            <a:ext cx="51308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1298287" y="3340596"/>
            <a:ext cx="0" cy="199772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72200" y="5333554"/>
            <a:ext cx="513085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91250" y="3340596"/>
            <a:ext cx="0" cy="1997720"/>
          </a:xfrm>
          <a:prstGeom prst="line">
            <a:avLst/>
          </a:prstGeom>
          <a:noFill/>
          <a:ln w="38100">
            <a:solidFill>
              <a:srgbClr val="B87A3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3450" y="3502521"/>
            <a:ext cx="304800" cy="304800"/>
          </a:xfrm>
          <a:prstGeom prst="roundRect">
            <a:avLst>
              <a:gd name="adj" fmla="val 41625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529983" y="3550146"/>
            <a:ext cx="730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70650" y="3502521"/>
            <a:ext cx="43041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楼上/楼下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(location) vs </a:t>
            </a:r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上楼/下楼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(movement)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880175" y="3826371"/>
            <a:ext cx="0" cy="228600"/>
          </a:xfrm>
          <a:prstGeom prst="line">
            <a:avLst/>
          </a:prstGeom>
          <a:noFill/>
          <a:ln w="19050">
            <a:solidFill>
              <a:srgbClr val="CFC9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1201" y="3826371"/>
            <a:ext cx="41811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教室在楼上。 / 我们现在要上楼。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88950" y="5490716"/>
            <a:ext cx="10414099" cy="986433"/>
          </a:xfrm>
          <a:prstGeom prst="roundRect">
            <a:avLst>
              <a:gd name="adj" fmla="val 10300"/>
            </a:avLst>
          </a:prstGeom>
          <a:solidFill>
            <a:srgbClr val="F7EAE8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136600" y="5636716"/>
            <a:ext cx="101171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⚠️ Pattern 3 · common error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1136600" y="5922466"/>
            <a:ext cx="10117175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位置词绝不能放在"在"前面！</a:t>
            </a:r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The position word (旁边／中间／对面 etc.) must never come before 在. Always build X 在 Y 的 + 位置词, in that exact order.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9839474" y="6673900"/>
            <a:ext cx="18814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4 Key Patterns Summary · 14–16 min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18520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(16–20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584150"/>
            <a:ext cx="10881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16–20 MIN · CFU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815876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三个检查点 · 3 CFU Checkpoints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1460302"/>
            <a:ext cx="3403550" cy="5016847"/>
          </a:xfrm>
          <a:prstGeom prst="roundRect">
            <a:avLst>
              <a:gd name="adj" fmla="val 3731"/>
            </a:avLst>
          </a:prstGeom>
          <a:solidFill>
            <a:srgbClr val="E9EEF4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4200" y="1657052"/>
            <a:ext cx="30183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4200" y="1920478"/>
            <a:ext cx="30183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词汇检查 · Vocab Check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4200" y="2269629"/>
            <a:ext cx="3018333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 up your exercise book — show me your translation for: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84200" y="2762250"/>
            <a:ext cx="806202" cy="368201"/>
          </a:xfrm>
          <a:prstGeom prst="roundRect">
            <a:avLst>
              <a:gd name="adj" fmla="val 20695"/>
            </a:avLst>
          </a:prstGeom>
          <a:solidFill>
            <a:srgbClr val="3A5F8A">
              <a:alpha val="14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20676" y="2822525"/>
            <a:ext cx="543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66602" y="2762250"/>
            <a:ext cx="806202" cy="368201"/>
          </a:xfrm>
          <a:prstGeom prst="roundRect">
            <a:avLst>
              <a:gd name="adj" fmla="val 20695"/>
            </a:avLst>
          </a:prstGeom>
          <a:solidFill>
            <a:srgbClr val="3A5F8A">
              <a:alpha val="14000"/>
            </a:srgbClr>
          </a:solidFill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03078" y="2822525"/>
            <a:ext cx="5439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84200" y="3231952"/>
            <a:ext cx="2959150" cy="542627"/>
          </a:xfrm>
          <a:prstGeom prst="roundRect">
            <a:avLst>
              <a:gd name="adj" fmla="val 14043"/>
            </a:avLst>
          </a:prstGeom>
          <a:noFill/>
          <a:ln w="9525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20676" y="3330327"/>
            <a:ext cx="27399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0676" y="3498503"/>
            <a:ext cx="273992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Hold-up-book — teacher scans for errors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84200" y="3876080"/>
            <a:ext cx="30183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on board if needed.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94150" y="1460302"/>
            <a:ext cx="3403550" cy="5016847"/>
          </a:xfrm>
          <a:prstGeom prst="roundRect">
            <a:avLst>
              <a:gd name="adj" fmla="val 3731"/>
            </a:avLst>
          </a:prstGeom>
          <a:solidFill>
            <a:srgbClr val="E7F0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16351" y="1657052"/>
            <a:ext cx="30183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16351" y="1920478"/>
            <a:ext cx="30183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句型检查 · Pattern Check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16351" y="2269629"/>
            <a:ext cx="3018333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me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 using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X在Y的旁边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6351" y="2566690"/>
            <a:ext cx="2959150" cy="381000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35401" y="2566690"/>
            <a:ext cx="0" cy="381000"/>
          </a:xfrm>
          <a:prstGeom prst="line">
            <a:avLst/>
          </a:prstGeom>
          <a:noFill/>
          <a:ln w="38100">
            <a:solidFill>
              <a:srgbClr val="2E7D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1401" y="2642890"/>
            <a:ext cx="2720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____在____的旁边。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16351" y="3049191"/>
            <a:ext cx="2959150" cy="720328"/>
          </a:xfrm>
          <a:prstGeom prst="roundRect">
            <a:avLst>
              <a:gd name="adj" fmla="val 10579"/>
            </a:avLst>
          </a:prstGeom>
          <a:noFill/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2826" y="3147566"/>
            <a:ext cx="27399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2826" y="3315742"/>
            <a:ext cx="273992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students.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Class echoes the better one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chorally.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026301" y="1460302"/>
            <a:ext cx="3403699" cy="5016847"/>
          </a:xfrm>
          <a:prstGeom prst="roundRect">
            <a:avLst>
              <a:gd name="adj" fmla="val 3731"/>
            </a:avLst>
          </a:prstGeom>
          <a:solidFill>
            <a:srgbClr val="F7EAE8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248501" y="1657052"/>
            <a:ext cx="30184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48501" y="1920478"/>
            <a:ext cx="30184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改错检查 · Error Check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48501" y="2269629"/>
            <a:ext cx="3018484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找出错误！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Project and correct: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48501" y="2566690"/>
            <a:ext cx="2959298" cy="425351"/>
          </a:xfrm>
          <a:prstGeom prst="roundRect">
            <a:avLst>
              <a:gd name="adj" fmla="val 17915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375452" y="2655540"/>
            <a:ext cx="275950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操场旁边在体育馆。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48501" y="3093541"/>
            <a:ext cx="2959298" cy="720328"/>
          </a:xfrm>
          <a:prstGeom prst="roundRect">
            <a:avLst>
              <a:gd name="adj" fmla="val 10579"/>
            </a:avLst>
          </a:prstGeom>
          <a:noFill/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384977" y="3191917"/>
            <a:ext cx="27400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METHOD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384977" y="3360093"/>
            <a:ext cx="2740075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student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fix it. Answer on next slide 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142339" y="6673900"/>
            <a:ext cx="15725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CFU Checkpoints · 16–20 min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18031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↳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584150"/>
            <a:ext cx="10881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815876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CFU 检查点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62000" y="1460302"/>
            <a:ext cx="3403550" cy="5016847"/>
          </a:xfrm>
          <a:prstGeom prst="roundRect">
            <a:avLst>
              <a:gd name="adj" fmla="val 3731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4200" y="1657052"/>
            <a:ext cx="30183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84200" y="1933277"/>
            <a:ext cx="30183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词汇检查 · Vocab Check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4200" y="2295227"/>
            <a:ext cx="2959150" cy="444401"/>
          </a:xfrm>
          <a:prstGeom prst="roundRect">
            <a:avLst>
              <a:gd name="adj" fmla="val 1714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11151" y="2384078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校长室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09601" y="2417415"/>
            <a:ext cx="12156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principal's office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4200" y="2853928"/>
            <a:ext cx="2959150" cy="444401"/>
          </a:xfrm>
          <a:prstGeom prst="roundRect">
            <a:avLst>
              <a:gd name="adj" fmla="val 17147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11151" y="2942779"/>
            <a:ext cx="582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809601" y="2976116"/>
            <a:ext cx="1079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swimming pool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94150" y="1460302"/>
            <a:ext cx="3403550" cy="5016847"/>
          </a:xfrm>
          <a:prstGeom prst="roundRect">
            <a:avLst>
              <a:gd name="adj" fmla="val 3731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16351" y="1657052"/>
            <a:ext cx="30183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6351" y="1933277"/>
            <a:ext cx="30183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句型检查 · Pattern Check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6351" y="2295227"/>
            <a:ext cx="2959150" cy="469702"/>
          </a:xfrm>
          <a:prstGeom prst="roundRect">
            <a:avLst>
              <a:gd name="adj" fmla="val 16223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8751" y="2396728"/>
            <a:ext cx="27074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图书馆在体育馆的旁边。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6351" y="2879229"/>
            <a:ext cx="3018333" cy="50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Sample answer —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accept any valid X在Y的旁边 sentence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correct word order (位置词 after 的, never before 在).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026301" y="1460302"/>
            <a:ext cx="3403699" cy="5016847"/>
          </a:xfrm>
          <a:prstGeom prst="roundRect">
            <a:avLst>
              <a:gd name="adj" fmla="val 3731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48501" y="1657052"/>
            <a:ext cx="30184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48501" y="1933277"/>
            <a:ext cx="30184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改错检查 · Error Check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48501" y="2295227"/>
            <a:ext cx="128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操场旁边在体育馆。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581555" y="2304752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48501" y="2609552"/>
            <a:ext cx="2959298" cy="469702"/>
          </a:xfrm>
          <a:prstGeom prst="roundRect">
            <a:avLst>
              <a:gd name="adj" fmla="val 16223"/>
            </a:avLst>
          </a:prstGeom>
          <a:solidFill>
            <a:srgbClr val="FFFFFF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400901" y="2711053"/>
            <a:ext cx="27075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操场在体育馆的旁边。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48501" y="3193554"/>
            <a:ext cx="3018484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位置词 "旁边" moves to after 的 — X 在 Y 的 + 位置词。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887521" y="6673900"/>
            <a:ext cx="8124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CFU Answers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22518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量词书写练习 (20–28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558701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20–28 MIN · WE 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790426"/>
            <a:ext cx="106223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活动1 · 量词书写练习（引导）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88950" y="1298377"/>
            <a:ext cx="5142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MODELS · 老师示范 (2 ITEMS)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88950" y="1561802"/>
            <a:ext cx="5041999" cy="876151"/>
          </a:xfrm>
          <a:prstGeom prst="roundRect">
            <a:avLst>
              <a:gd name="adj" fmla="val 11596"/>
            </a:avLst>
          </a:prstGeom>
          <a:solidFill>
            <a:srgbClr val="E9EEF4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85701" y="1707803"/>
            <a:ext cx="47414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一只狗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85701" y="2101453"/>
            <a:ext cx="4741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"狗"是动物——用"只"。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88950" y="2552254"/>
            <a:ext cx="5041999" cy="876151"/>
          </a:xfrm>
          <a:prstGeom prst="roundRect">
            <a:avLst>
              <a:gd name="adj" fmla="val 11596"/>
            </a:avLst>
          </a:prstGeom>
          <a:solidFill>
            <a:srgbClr val="E9EEF4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85701" y="2698254"/>
            <a:ext cx="474146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一张桌子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85701" y="3091904"/>
            <a:ext cx="4741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"桌子"是家具——用"张"。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1050" y="1298377"/>
            <a:ext cx="5142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TURN-AND-TALK · 你们试试 (4 ITEMS, 2 MIN)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61050" y="1561802"/>
            <a:ext cx="5041999" cy="463451"/>
          </a:xfrm>
          <a:prstGeom prst="roundRect">
            <a:avLst>
              <a:gd name="adj" fmla="val 1644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48276" y="1679228"/>
            <a:ext cx="228600" cy="228600"/>
          </a:xfrm>
          <a:prstGeom prst="roundRect">
            <a:avLst>
              <a:gd name="adj" fmla="val 555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38020" y="1717328"/>
            <a:ext cx="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03827" y="1660178"/>
            <a:ext cx="7253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1050" y="2101453"/>
            <a:ext cx="5041999" cy="463451"/>
          </a:xfrm>
          <a:prstGeom prst="roundRect">
            <a:avLst>
              <a:gd name="adj" fmla="val 1644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48276" y="2218879"/>
            <a:ext cx="228600" cy="228600"/>
          </a:xfrm>
          <a:prstGeom prst="roundRect">
            <a:avLst>
              <a:gd name="adj" fmla="val 555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28197" y="2256979"/>
            <a:ext cx="69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03827" y="2199829"/>
            <a:ext cx="7253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1050" y="2641104"/>
            <a:ext cx="5041999" cy="463451"/>
          </a:xfrm>
          <a:prstGeom prst="roundRect">
            <a:avLst>
              <a:gd name="adj" fmla="val 1644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48276" y="2758529"/>
            <a:ext cx="228600" cy="228600"/>
          </a:xfrm>
          <a:prstGeom prst="roundRect">
            <a:avLst>
              <a:gd name="adj" fmla="val 555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28048" y="2796629"/>
            <a:ext cx="70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03827" y="2739479"/>
            <a:ext cx="91963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61050" y="3180755"/>
            <a:ext cx="5041999" cy="463451"/>
          </a:xfrm>
          <a:prstGeom prst="roundRect">
            <a:avLst>
              <a:gd name="adj" fmla="val 16442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48276" y="3298180"/>
            <a:ext cx="228600" cy="228600"/>
          </a:xfrm>
          <a:prstGeom prst="roundRect">
            <a:avLst>
              <a:gd name="adj" fmla="val 5550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527602" y="3336280"/>
            <a:ext cx="711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03827" y="3279130"/>
            <a:ext cx="11139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5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61050" y="3720405"/>
            <a:ext cx="51428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 · WORD BANK (SCRAMBLED)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1050" y="3945731"/>
            <a:ext cx="539651" cy="323850"/>
          </a:xfrm>
          <a:prstGeom prst="roundRect">
            <a:avLst>
              <a:gd name="adj" fmla="val 39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448276" y="3993356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顶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9552" y="3945731"/>
            <a:ext cx="539651" cy="323850"/>
          </a:xfrm>
          <a:prstGeom prst="roundRect">
            <a:avLst>
              <a:gd name="adj" fmla="val 39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076777" y="3993356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条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18053" y="3945731"/>
            <a:ext cx="539651" cy="323850"/>
          </a:xfrm>
          <a:prstGeom prst="roundRect">
            <a:avLst>
              <a:gd name="adj" fmla="val 39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705279" y="3993356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46554" y="3945731"/>
            <a:ext cx="539651" cy="323850"/>
          </a:xfrm>
          <a:prstGeom prst="roundRect">
            <a:avLst>
              <a:gd name="adj" fmla="val 39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333780" y="3993356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75055" y="3945731"/>
            <a:ext cx="539651" cy="323850"/>
          </a:xfrm>
          <a:prstGeom prst="roundRect">
            <a:avLst>
              <a:gd name="adj" fmla="val 39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962281" y="3993356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只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403556" y="3945731"/>
            <a:ext cx="539651" cy="323850"/>
          </a:xfrm>
          <a:prstGeom prst="roundRect">
            <a:avLst>
              <a:gd name="adj" fmla="val 3917647"/>
            </a:avLst>
          </a:prstGeom>
          <a:solidFill>
            <a:srgbClr val="EAE6DC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590782" y="3993356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E5C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88950" y="5849987"/>
            <a:ext cx="5118199" cy="652611"/>
          </a:xfrm>
          <a:prstGeom prst="roundRect">
            <a:avLst>
              <a:gd name="adj" fmla="val 11676"/>
            </a:avLst>
          </a:prstGeom>
          <a:solidFill>
            <a:srgbClr val="F7EAE8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50875" y="5935712"/>
            <a:ext cx="48902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 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50875" y="6091238"/>
            <a:ext cx="4890236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attempts all four remaining items during turn-and-talk.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84850" y="5849987"/>
            <a:ext cx="5118199" cy="652611"/>
          </a:xfrm>
          <a:prstGeom prst="roundRect">
            <a:avLst>
              <a:gd name="adj" fmla="val 11676"/>
            </a:avLst>
          </a:prstGeom>
          <a:solidFill>
            <a:srgbClr val="F6EDE0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346775" y="5935712"/>
            <a:ext cx="48902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346775" y="6091238"/>
            <a:ext cx="489023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Justify your choice aloud, explaining the noun category (e.g. "'车'是交通工具，交通工具用'辆'。").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9935170" y="6673900"/>
            <a:ext cx="17838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We Do · 量词书写练习 · 20–28 min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21826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 量词书写练习 ↳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634901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866626"/>
            <a:ext cx="106223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量词书写练习（引导）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8950" y="1549152"/>
            <a:ext cx="2451050" cy="1108770"/>
          </a:xfrm>
          <a:prstGeom prst="roundRect">
            <a:avLst>
              <a:gd name="adj" fmla="val 11454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67487" y="1771352"/>
            <a:ext cx="8939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23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条</a:t>
            </a:r>
            <a:pPr algn="ctr" indent="0" marL="0">
              <a:buNone/>
            </a:pPr>
            <a:r>
              <a:rPr lang="en-US" sz="2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883960" y="2272903"/>
            <a:ext cx="461031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鱼 → 条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3151" y="1549152"/>
            <a:ext cx="2451199" cy="1108770"/>
          </a:xfrm>
          <a:prstGeom prst="roundRect">
            <a:avLst>
              <a:gd name="adj" fmla="val 11454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21687" y="1771352"/>
            <a:ext cx="8939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23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辆</a:t>
            </a:r>
            <a:pPr algn="ctr" indent="0" marL="0">
              <a:buNone/>
            </a:pPr>
            <a:r>
              <a:rPr lang="en-US" sz="2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807827" y="2272903"/>
            <a:ext cx="1921847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"车"是交通工具，交通工具用"辆"。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97501" y="1549152"/>
            <a:ext cx="2451199" cy="1108770"/>
          </a:xfrm>
          <a:prstGeom prst="roundRect">
            <a:avLst>
              <a:gd name="adj" fmla="val 11454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27117" y="1771352"/>
            <a:ext cx="119181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23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顶</a:t>
            </a:r>
            <a:pPr algn="ctr" indent="0" marL="0">
              <a:buNone/>
            </a:pPr>
            <a:r>
              <a:rPr lang="en-US" sz="2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7129815" y="2272903"/>
            <a:ext cx="586422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帽子 → 顶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51850" y="1549152"/>
            <a:ext cx="2451199" cy="1108770"/>
          </a:xfrm>
          <a:prstGeom prst="roundRect">
            <a:avLst>
              <a:gd name="adj" fmla="val 11454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332546" y="1771352"/>
            <a:ext cx="148965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23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</a:t>
            </a:r>
            <a:pPr algn="ctr" indent="0" marL="0">
              <a:buNone/>
            </a:pPr>
            <a:r>
              <a:rPr lang="en-US" sz="2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721468" y="2272903"/>
            <a:ext cx="711964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教学楼 → 幢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086082" y="6673900"/>
            <a:ext cx="162992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Guided Measure-Word Answers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20970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计时练习 (28–38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41300"/>
            <a:ext cx="15959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28–38 MIN · YOU DO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04331" y="507950"/>
            <a:ext cx="40361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活动2 · 计时练习 Timed Practice Test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584531" y="603200"/>
            <a:ext cx="1845469" cy="238125"/>
          </a:xfrm>
          <a:prstGeom prst="roundRect">
            <a:avLst>
              <a:gd name="adj" fmla="val 5328000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762232" y="641300"/>
            <a:ext cx="15198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+ 5 min · Silent 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62000" y="952351"/>
            <a:ext cx="58279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1 · 量词书写 (5 MIN) — REMAINING 12 NOUNS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2000" y="1190476"/>
            <a:ext cx="1853654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73026" y="128885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52946" y="1323677"/>
            <a:ext cx="440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52376" y="1276201"/>
            <a:ext cx="544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91854" y="1190476"/>
            <a:ext cx="1853803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02880" y="128885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74169" y="1323677"/>
            <a:ext cx="617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82230" y="1276201"/>
            <a:ext cx="544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21857" y="1190476"/>
            <a:ext cx="1853803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32883" y="128885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3874" y="1323677"/>
            <a:ext cx="622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12234" y="1276201"/>
            <a:ext cx="7125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2000" y="1666726"/>
            <a:ext cx="1853654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73026" y="176510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43719" y="1799927"/>
            <a:ext cx="629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52376" y="1752451"/>
            <a:ext cx="544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91854" y="1666726"/>
            <a:ext cx="1853803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802880" y="176510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874020" y="1799927"/>
            <a:ext cx="62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82230" y="1752451"/>
            <a:ext cx="7125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手套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21857" y="1666726"/>
            <a:ext cx="1853803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32883" y="176510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3428" y="1799927"/>
            <a:ext cx="63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12234" y="1752451"/>
            <a:ext cx="7125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钢琴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2000" y="2142976"/>
            <a:ext cx="1853654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73026" y="224135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46398" y="2276177"/>
            <a:ext cx="575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52376" y="2228701"/>
            <a:ext cx="8809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汉语课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691854" y="2142976"/>
            <a:ext cx="1853803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802880" y="224135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873573" y="2276177"/>
            <a:ext cx="628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082230" y="2228701"/>
            <a:ext cx="544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621857" y="2142976"/>
            <a:ext cx="1853803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32883" y="224135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03428" y="2276177"/>
            <a:ext cx="63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012234" y="2228701"/>
            <a:ext cx="544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鞋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62000" y="2619226"/>
            <a:ext cx="1853654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73026" y="271760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21990" y="2752427"/>
            <a:ext cx="1071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52376" y="2704951"/>
            <a:ext cx="7125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西服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691854" y="2619226"/>
            <a:ext cx="1853803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802880" y="271760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861221" y="2752427"/>
            <a:ext cx="880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3082230" y="2704951"/>
            <a:ext cx="7125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621857" y="2619226"/>
            <a:ext cx="1853803" cy="400050"/>
          </a:xfrm>
          <a:prstGeom prst="roundRect">
            <a:avLst>
              <a:gd name="adj" fmla="val 1904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732883" y="2717602"/>
            <a:ext cx="203150" cy="203150"/>
          </a:xfrm>
          <a:prstGeom prst="roundRect">
            <a:avLst>
              <a:gd name="adj" fmla="val 6245287"/>
            </a:avLst>
          </a:prstGeom>
          <a:solidFill>
            <a:srgbClr val="E9EE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782592" y="2752427"/>
            <a:ext cx="10580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012234" y="2704951"/>
            <a:ext cx="7125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l" indent="0" marL="0"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62000" y="3095476"/>
            <a:ext cx="58279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independently against a visible 5-minute countdown. Answers revealed &amp; self-marked next slide →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755011" y="952351"/>
            <a:ext cx="4674989" cy="5550247"/>
          </a:xfrm>
          <a:prstGeom prst="roundRect">
            <a:avLst>
              <a:gd name="adj" fmla="val 2173"/>
            </a:avLst>
          </a:prstGeom>
          <a:solidFill>
            <a:srgbClr val="E7F0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951762" y="1098352"/>
            <a:ext cx="4367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2 · 短文描述 (5 MIN)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951762" y="1336477"/>
            <a:ext cx="436711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short paragraph (</a:t>
            </a:r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4–5 sentences</a:t>
            </a:r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 describing your own school. Must include: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951762" y="1785938"/>
            <a:ext cx="4367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at least one measure word (个/幢)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951762" y="1973163"/>
            <a:ext cx="4367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层=楼 reference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951762" y="2160389"/>
            <a:ext cx="43671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X在Y的位置词 sentence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6951762" y="2398514"/>
            <a:ext cx="4281488" cy="752475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6970812" y="2398514"/>
            <a:ext cx="0" cy="752475"/>
          </a:xfrm>
          <a:prstGeom prst="line">
            <a:avLst/>
          </a:prstGeom>
          <a:noFill/>
          <a:ln w="38100">
            <a:solidFill>
              <a:srgbClr val="2E7D6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16812" y="2474714"/>
            <a:ext cx="4069276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我们学校有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幢教学楼。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教室在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层。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图书馆在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6951762" y="3227189"/>
            <a:ext cx="4281488" cy="473571"/>
          </a:xfrm>
          <a:prstGeom prst="roundRect">
            <a:avLst>
              <a:gd name="adj" fmla="val 16091"/>
            </a:avLst>
          </a:prstGeom>
          <a:solidFill>
            <a:srgbClr val="F6EDE0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088237" y="3312914"/>
            <a:ext cx="4088707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</a:t>
            </a:r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Write 6+ sentences without the frame, using at least one ⭐ test-variant word (校长室, 游泳馆, 体育场 or 运动场) correctly.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951762" y="3776960"/>
            <a:ext cx="43671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Collected for teacher review — not marked in class.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0002441" y="6673900"/>
            <a:ext cx="17152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Timed Practice Test · 28–38 min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202735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 计时练习 ↳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2000" y="609600"/>
            <a:ext cx="10881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2000" y="841325"/>
            <a:ext cx="1088136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Part 1 量词书写 (12 items)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2000" y="1371451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11936" y="1517452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07873" y="1730127"/>
            <a:ext cx="6608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匹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马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986736" y="2085677"/>
            <a:ext cx="1032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67100" y="1371451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06411" y="1517452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12973" y="1730127"/>
            <a:ext cx="6608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55101" y="2085677"/>
            <a:ext cx="1765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tóu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172200" y="1371451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11208" y="1517452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08014" y="1730127"/>
            <a:ext cx="8809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椅子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283084" y="2085677"/>
            <a:ext cx="33078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zhāng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877300" y="1371451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115852" y="1517452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823173" y="1730127"/>
            <a:ext cx="6608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朵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花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0051791" y="2085677"/>
            <a:ext cx="2035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2000" y="2546003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001158" y="2692003"/>
            <a:ext cx="743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97814" y="2904679"/>
            <a:ext cx="8809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副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手套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982941" y="3260229"/>
            <a:ext cx="1108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fù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67100" y="2546003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5651" y="2692003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02914" y="2904679"/>
            <a:ext cx="8809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架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钢琴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677872" y="3260229"/>
            <a:ext cx="1310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72200" y="2546003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414090" y="2692003"/>
            <a:ext cx="68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97956" y="2904679"/>
            <a:ext cx="110103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节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汉语课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382972" y="3260229"/>
            <a:ext cx="1310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jié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877300" y="2546003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116002" y="2692003"/>
            <a:ext cx="752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23173" y="2904679"/>
            <a:ext cx="6608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节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课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0088072" y="3260229"/>
            <a:ext cx="13100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62000" y="3720554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000551" y="3866555"/>
            <a:ext cx="7559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707873" y="4079230"/>
            <a:ext cx="6608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双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鞋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837969" y="4434780"/>
            <a:ext cx="40061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shuāng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67100" y="3720554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679237" y="3866555"/>
            <a:ext cx="1284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02914" y="4079230"/>
            <a:ext cx="8809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套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西服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4653583" y="4434780"/>
            <a:ext cx="1795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tào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72200" y="3720554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395723" y="3866555"/>
            <a:ext cx="10550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08014" y="4079230"/>
            <a:ext cx="8809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位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7354433" y="4434780"/>
            <a:ext cx="1880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wèi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877300" y="3720554"/>
            <a:ext cx="2552700" cy="1022152"/>
          </a:xfrm>
          <a:prstGeom prst="roundRect">
            <a:avLst>
              <a:gd name="adj" fmla="val 9940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0090197" y="3866555"/>
            <a:ext cx="1267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713114" y="4079230"/>
            <a:ext cx="8809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17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件</a:t>
            </a:r>
            <a:pPr algn="ctr" indent="0" marL="0">
              <a:buNone/>
            </a:pPr>
            <a:r>
              <a:rPr lang="en-US" sz="17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衣服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10054219" y="4434780"/>
            <a:ext cx="1987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jiàn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62000" y="4895106"/>
            <a:ext cx="10668000" cy="466725"/>
          </a:xfrm>
          <a:prstGeom prst="roundRect">
            <a:avLst>
              <a:gd name="adj" fmla="val 21769"/>
            </a:avLst>
          </a:prstGeom>
          <a:solidFill>
            <a:srgbClr val="E9EEF4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1009650" y="5028456"/>
            <a:ext cx="103761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Self-mark Part 1 now.</a:t>
            </a:r>
            <a:pPr algn="l" indent="0" marL="0"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Part 2 (short description) is collected for teacher review — not marked in class.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0420052" y="6673900"/>
            <a:ext cx="128927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Timed Practice Answers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19748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Round 1: 词汇闪卡 (38–39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584150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38–39 MIN · GAME · ROUND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803225"/>
            <a:ext cx="1062238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复习问答接力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88950" y="1333351"/>
            <a:ext cx="106223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1 · 词汇闪卡 · Vocab Flash Cards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8950" y="1682502"/>
            <a:ext cx="4956274" cy="345877"/>
          </a:xfrm>
          <a:prstGeom prst="roundRect">
            <a:avLst>
              <a:gd name="adj" fmla="val 3668154"/>
            </a:avLst>
          </a:prstGeom>
          <a:solidFill>
            <a:srgbClr val="F6EDE0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27075" y="1755428"/>
            <a:ext cx="45696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Chinese → Teams call out English. First team wins the point!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8950" y="2231529"/>
            <a:ext cx="2540050" cy="1253877"/>
          </a:xfrm>
          <a:prstGeom prst="roundRect">
            <a:avLst>
              <a:gd name="adj" fmla="val 10129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65734" y="2453729"/>
            <a:ext cx="190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37259" y="2717155"/>
            <a:ext cx="124343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682901" y="2231529"/>
            <a:ext cx="2540050" cy="1253877"/>
          </a:xfrm>
          <a:prstGeom prst="roundRect">
            <a:avLst>
              <a:gd name="adj" fmla="val 10129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49267" y="2453729"/>
            <a:ext cx="2114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31209" y="2717155"/>
            <a:ext cx="124343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游泳馆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76851" y="2231529"/>
            <a:ext cx="2540050" cy="1253877"/>
          </a:xfrm>
          <a:prstGeom prst="roundRect">
            <a:avLst>
              <a:gd name="adj" fmla="val 10129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42920" y="2453729"/>
            <a:ext cx="212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32373" y="2717155"/>
            <a:ext cx="8290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88950" y="4020294"/>
            <a:ext cx="8044011" cy="450652"/>
          </a:xfrm>
          <a:prstGeom prst="roundRect">
            <a:avLst>
              <a:gd name="adj" fmla="val 22545"/>
            </a:avLst>
          </a:prstGeom>
          <a:solidFill>
            <a:srgbClr val="F7EAE8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27075" y="4131320"/>
            <a:ext cx="77191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👁 Teams call out the English — answers on next slide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6863" y="3688556"/>
            <a:ext cx="2116187" cy="1114127"/>
          </a:xfrm>
          <a:prstGeom prst="roundRect">
            <a:avLst>
              <a:gd name="adj" fmla="val 11399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444110" y="3834557"/>
            <a:ext cx="16016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SCOREBOARD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490472" y="4037707"/>
            <a:ext cx="507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59813" y="4250382"/>
            <a:ext cx="558701" cy="406301"/>
          </a:xfrm>
          <a:prstGeom prst="roundRect">
            <a:avLst>
              <a:gd name="adj" fmla="val 18755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624864" y="429637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170914" y="4223296"/>
            <a:ext cx="151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01610" y="4037707"/>
            <a:ext cx="5080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71398" y="4250382"/>
            <a:ext cx="558701" cy="406301"/>
          </a:xfrm>
          <a:prstGeom prst="roundRect">
            <a:avLst>
              <a:gd name="adj" fmla="val 18755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636448" y="429637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841980" y="6673900"/>
            <a:ext cx="8589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Game Round 1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1904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Round 1: 词汇闪卡 ↳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634901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892076"/>
            <a:ext cx="1062238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Round 1 · 词汇闪卡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88950" y="1650802"/>
            <a:ext cx="2540050" cy="1777603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65734" y="1847552"/>
            <a:ext cx="190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2557" y="2136428"/>
            <a:ext cx="932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校医室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34951" y="2692003"/>
            <a:ext cx="2248049" cy="355402"/>
          </a:xfrm>
          <a:prstGeom prst="roundRect">
            <a:avLst>
              <a:gd name="adj" fmla="val 21441"/>
            </a:avLst>
          </a:prstGeom>
          <a:solidFill>
            <a:srgbClr val="F6EDE0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51675" y="2764929"/>
            <a:ext cx="20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school clinic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82901" y="1650802"/>
            <a:ext cx="2540050" cy="1777603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49267" y="1847552"/>
            <a:ext cx="2114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86507" y="2136428"/>
            <a:ext cx="93268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游泳馆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828901" y="2692003"/>
            <a:ext cx="2248049" cy="564952"/>
          </a:xfrm>
          <a:prstGeom prst="roundRect">
            <a:avLst>
              <a:gd name="adj" fmla="val 13488"/>
            </a:avLst>
          </a:prstGeom>
          <a:solidFill>
            <a:srgbClr val="F6EDE0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45626" y="2764929"/>
            <a:ext cx="2014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swimming pool (test variant)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76851" y="1650802"/>
            <a:ext cx="2540050" cy="1777603"/>
          </a:xfrm>
          <a:prstGeom prst="roundRect">
            <a:avLst>
              <a:gd name="adj" fmla="val 7144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42920" y="1847552"/>
            <a:ext cx="212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35906" y="2136428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622852" y="2692003"/>
            <a:ext cx="2248049" cy="355402"/>
          </a:xfrm>
          <a:prstGeom prst="roundRect">
            <a:avLst>
              <a:gd name="adj" fmla="val 21441"/>
            </a:avLst>
          </a:prstGeom>
          <a:solidFill>
            <a:srgbClr val="F6EDE0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739576" y="2764929"/>
            <a:ext cx="2014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upstairs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0449520" y="6673900"/>
            <a:ext cx="12592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Game Round 1 Answers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18691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Round 2: 改错句 (39–41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584150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2 · 39–41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815876"/>
            <a:ext cx="106223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Round 2 · 改错句 · Correct the Sentence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8950" y="1295251"/>
            <a:ext cx="10622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Teams confer </a:t>
            </a:r>
            <a:pPr algn="l" indent="0" marL="0">
              <a:spcAft>
                <a:spcPts val="1600"/>
              </a:spcAft>
              <a:buNone/>
            </a:pPr>
            <a:r>
              <a:rPr lang="en-US" sz="12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seconds</a:t>
            </a:r>
            <a:pPr algn="l" indent="0" marL="0">
              <a:spcAft>
                <a:spcPts val="1600"/>
              </a:spcAft>
              <a:buNone/>
            </a:pPr>
            <a:r>
              <a:rPr lang="en-US" sz="12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then hold up books. </a:t>
            </a:r>
            <a:pPr algn="l" indent="0" marL="0">
              <a:spcAft>
                <a:spcPts val="1600"/>
              </a:spcAft>
              <a:buNone/>
            </a:pPr>
            <a:r>
              <a:rPr lang="en-US" sz="12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team reads the correction aloud for the point!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8950" y="1727002"/>
            <a:ext cx="10414099" cy="749052"/>
          </a:xfrm>
          <a:prstGeom prst="roundRect">
            <a:avLst>
              <a:gd name="adj" fmla="val 16955"/>
            </a:avLst>
          </a:prstGeom>
          <a:solidFill>
            <a:srgbClr val="F7EAE8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61901" y="1923752"/>
            <a:ext cx="355550" cy="355550"/>
          </a:xfrm>
          <a:prstGeom prst="roundRect">
            <a:avLst>
              <a:gd name="adj" fmla="val 3568359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00907" y="1987153"/>
            <a:ext cx="79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20602" y="1925241"/>
            <a:ext cx="265825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❌ 图书馆旁边在礼堂。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88950" y="2628454"/>
            <a:ext cx="10414099" cy="749052"/>
          </a:xfrm>
          <a:prstGeom prst="roundRect">
            <a:avLst>
              <a:gd name="adj" fmla="val 16955"/>
            </a:avLst>
          </a:prstGeom>
          <a:solidFill>
            <a:srgbClr val="F7EAE8"/>
          </a:solidFill>
          <a:ln w="19050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161901" y="2825204"/>
            <a:ext cx="355550" cy="355550"/>
          </a:xfrm>
          <a:prstGeom prst="roundRect">
            <a:avLst>
              <a:gd name="adj" fmla="val 3568359"/>
            </a:avLst>
          </a:prstGeom>
          <a:solidFill>
            <a:srgbClr val="C96A5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00907" y="2888605"/>
            <a:ext cx="790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20602" y="2826693"/>
            <a:ext cx="369431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❌ 停车场中间在教学楼和操场。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88950" y="3555206"/>
            <a:ext cx="10414099" cy="396776"/>
          </a:xfrm>
          <a:prstGeom prst="roundRect">
            <a:avLst>
              <a:gd name="adj" fmla="val 25606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98475" y="3564731"/>
            <a:ext cx="1364010" cy="377726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01626" y="3672632"/>
            <a:ext cx="9768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SCOREBOARD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62485" y="3564731"/>
            <a:ext cx="960468" cy="377726"/>
          </a:xfrm>
          <a:prstGeom prst="rect">
            <a:avLst/>
          </a:prstGeom>
          <a:noFill/>
          <a:ln/>
        </p:spPr>
        <p:txBody>
          <a:bodyPr wrap="square" lIns="203200" tIns="88900" rIns="203200" bIns="889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4121" y="3601194"/>
            <a:ext cx="3573810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208883" y="3601194"/>
            <a:ext cx="0" cy="30480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7930" y="3564731"/>
            <a:ext cx="961379" cy="377726"/>
          </a:xfrm>
          <a:prstGeom prst="rect">
            <a:avLst/>
          </a:prstGeom>
          <a:noFill/>
          <a:ln/>
        </p:spPr>
        <p:txBody>
          <a:bodyPr wrap="square" lIns="203200" tIns="88900" rIns="203200" bIns="8890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20459" y="3601194"/>
            <a:ext cx="3573066" cy="304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725221" y="3601194"/>
            <a:ext cx="0" cy="30480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8950" y="4078932"/>
            <a:ext cx="2721322" cy="326827"/>
          </a:xfrm>
          <a:prstGeom prst="roundRect">
            <a:avLst>
              <a:gd name="adj" fmla="val 23315"/>
            </a:avLst>
          </a:prstGeom>
          <a:noFill/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85701" y="4161383"/>
            <a:ext cx="23743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答案见下一张 · Answers on next slide →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88950" y="4507260"/>
            <a:ext cx="10414099" cy="387251"/>
          </a:xfrm>
          <a:prstGeom prst="roundRect">
            <a:avLst>
              <a:gd name="adj" fmla="val 26236"/>
            </a:avLst>
          </a:prstGeom>
          <a:solidFill>
            <a:srgbClr val="F7EAE8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27075" y="4605635"/>
            <a:ext cx="101366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Scaffold:</a:t>
            </a:r>
            <a:pPr algn="l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teams get 5 seconds to confer · </a:t>
            </a:r>
            <a:pPr algn="l" indent="0" marL="0">
              <a:buNone/>
            </a:pPr>
            <a:r>
              <a:rPr lang="en-US" sz="105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</a:t>
            </a:r>
            <a:pPr algn="l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bonus point if the team also names which word was mis-ordered ("位置词'旁边'放错位置了")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869984" y="6673900"/>
            <a:ext cx="185034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Game Round 2 · 改错句 · 39–41 min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1819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Round 2: 改错句 ↳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584150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866626"/>
            <a:ext cx="106223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Round 2 · 改错句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8950" y="1472952"/>
            <a:ext cx="10414099" cy="1326952"/>
          </a:xfrm>
          <a:prstGeom prst="roundRect">
            <a:avLst>
              <a:gd name="adj" fmla="val 9571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61901" y="1644402"/>
            <a:ext cx="304800" cy="304800"/>
          </a:xfrm>
          <a:prstGeom prst="roundRect">
            <a:avLst>
              <a:gd name="adj" fmla="val 41625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281410" y="1696789"/>
            <a:ext cx="669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19101" y="1682502"/>
            <a:ext cx="1515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图书馆旁边在礼堂。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57252" y="1696789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901" y="2050703"/>
            <a:ext cx="10065562" cy="314325"/>
          </a:xfrm>
          <a:prstGeom prst="rect">
            <a:avLst/>
          </a:prstGeom>
          <a:noFill/>
          <a:ln/>
        </p:spPr>
        <p:txBody>
          <a:bodyPr wrap="square" lIns="45720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图书馆在礼堂的旁边。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61901" y="2466529"/>
            <a:ext cx="10065562" cy="161925"/>
          </a:xfrm>
          <a:prstGeom prst="rect">
            <a:avLst/>
          </a:prstGeom>
          <a:noFill/>
          <a:ln/>
        </p:spPr>
        <p:txBody>
          <a:bodyPr wrap="square" lIns="45720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位置词 "旁边"</a:t>
            </a:r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moves to after 的 — X 在 Y 的 + 位置词。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8950" y="2952304"/>
            <a:ext cx="10414099" cy="1326952"/>
          </a:xfrm>
          <a:prstGeom prst="roundRect">
            <a:avLst>
              <a:gd name="adj" fmla="val 9571"/>
            </a:avLst>
          </a:prstGeom>
          <a:solidFill>
            <a:srgbClr val="F6EDE0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61901" y="3123754"/>
            <a:ext cx="304800" cy="304800"/>
          </a:xfrm>
          <a:prstGeom prst="roundRect">
            <a:avLst>
              <a:gd name="adj" fmla="val 41625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81410" y="3176141"/>
            <a:ext cx="669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19101" y="3161854"/>
            <a:ext cx="2188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6A5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停车场中间在教学楼和操场。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17454" y="3176141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61901" y="3530054"/>
            <a:ext cx="10065562" cy="314325"/>
          </a:xfrm>
          <a:prstGeom prst="rect">
            <a:avLst/>
          </a:prstGeom>
          <a:noFill/>
          <a:ln/>
        </p:spPr>
        <p:txBody>
          <a:bodyPr wrap="square" lIns="45720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停车场在教学楼和操场的中间。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61901" y="3945880"/>
            <a:ext cx="10065562" cy="161925"/>
          </a:xfrm>
          <a:prstGeom prst="rect">
            <a:avLst/>
          </a:prstGeom>
          <a:noFill/>
          <a:ln/>
        </p:spPr>
        <p:txBody>
          <a:bodyPr wrap="square" lIns="45720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位置词 "中间"</a:t>
            </a:r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moves to after 的 — X 在 Y 的 + 位置词。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8950" y="4431655"/>
            <a:ext cx="10414099" cy="412552"/>
          </a:xfrm>
          <a:prstGeom prst="roundRect">
            <a:avLst>
              <a:gd name="adj" fmla="val 24627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27075" y="4542681"/>
            <a:ext cx="101366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Bonus point</a:t>
            </a:r>
            <a:pPr algn="l" indent="0" marL="0">
              <a:buNone/>
            </a:pPr>
            <a:r>
              <a:rPr lang="en-US" sz="10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awarded if the team also correctly named which word was mis-ordered.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049917" y="6673900"/>
            <a:ext cx="16668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Game Round 2 Answers · 改错句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1974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Round 3: 量词问答 (41–43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2E7D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584150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41–43 MIN · GAME · ROUND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803225"/>
            <a:ext cx="1062238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复习问答接力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88950" y="1333351"/>
            <a:ext cx="106223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Round 3 · 量词问答 · Measure Word Challenge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8950" y="1682502"/>
            <a:ext cx="5605165" cy="345877"/>
          </a:xfrm>
          <a:prstGeom prst="roundRect">
            <a:avLst>
              <a:gd name="adj" fmla="val 3668154"/>
            </a:avLst>
          </a:prstGeom>
          <a:solidFill>
            <a:srgbClr val="E7F0EE"/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27075" y="1755428"/>
            <a:ext cx="52314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Teams write the correct measure word — hold up books for the point!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8950" y="2231529"/>
            <a:ext cx="2540050" cy="1215777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65734" y="2453729"/>
            <a:ext cx="190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07619" y="2717155"/>
            <a:ext cx="15025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3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82901" y="2231529"/>
            <a:ext cx="2540050" cy="1215777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49267" y="2453729"/>
            <a:ext cx="2114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01570" y="2717155"/>
            <a:ext cx="150256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3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76851" y="2231529"/>
            <a:ext cx="2540050" cy="1215777"/>
          </a:xfrm>
          <a:prstGeom prst="roundRect">
            <a:avLst>
              <a:gd name="adj" fmla="val 10446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42920" y="2453729"/>
            <a:ext cx="212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01210" y="2717155"/>
            <a:ext cx="189118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30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88950" y="3982194"/>
            <a:ext cx="8044011" cy="450652"/>
          </a:xfrm>
          <a:prstGeom prst="roundRect">
            <a:avLst>
              <a:gd name="adj" fmla="val 22545"/>
            </a:avLst>
          </a:prstGeom>
          <a:solidFill>
            <a:srgbClr val="F7EAE8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27075" y="4093220"/>
            <a:ext cx="77191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👁 Teams write the measure word — answers on next slide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6863" y="3650456"/>
            <a:ext cx="2116187" cy="1114127"/>
          </a:xfrm>
          <a:prstGeom prst="roundRect">
            <a:avLst>
              <a:gd name="adj" fmla="val 11399"/>
            </a:avLst>
          </a:prstGeom>
          <a:solidFill>
            <a:srgbClr val="F4F2EE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444110" y="3796457"/>
            <a:ext cx="16016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SCOREBOARD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490472" y="3999607"/>
            <a:ext cx="5073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59813" y="4212282"/>
            <a:ext cx="558701" cy="406301"/>
          </a:xfrm>
          <a:prstGeom prst="roundRect">
            <a:avLst>
              <a:gd name="adj" fmla="val 18755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624864" y="425827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170914" y="4185196"/>
            <a:ext cx="151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01610" y="3999607"/>
            <a:ext cx="5080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B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471398" y="4212282"/>
            <a:ext cx="558701" cy="406301"/>
          </a:xfrm>
          <a:prstGeom prst="roundRect">
            <a:avLst>
              <a:gd name="adj" fmla="val 18755"/>
            </a:avLst>
          </a:prstGeom>
          <a:solidFill>
            <a:srgbClr val="FFFFFF"/>
          </a:solidFill>
          <a:ln w="19050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636448" y="4258270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695A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0824567" y="6673900"/>
            <a:ext cx="8766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Game Round 3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19250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Round 3: 量词问答 ↳ Answers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634901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ANSWERS REVEALED · 答案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892076"/>
            <a:ext cx="1062238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Round 3 · 量词问答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88950" y="1650802"/>
            <a:ext cx="2540050" cy="1174552"/>
          </a:xfrm>
          <a:prstGeom prst="roundRect">
            <a:avLst>
              <a:gd name="adj" fmla="val 10813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65734" y="1873002"/>
            <a:ext cx="1902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5342" y="2161877"/>
            <a:ext cx="13472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26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顶</a:t>
            </a:r>
            <a:pPr algn="ctr" indent="0" marL="0">
              <a:buNone/>
            </a:pPr>
            <a:r>
              <a:rPr lang="en-US" sz="2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82901" y="1650802"/>
            <a:ext cx="2540050" cy="1174552"/>
          </a:xfrm>
          <a:prstGeom prst="roundRect">
            <a:avLst>
              <a:gd name="adj" fmla="val 10813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9267" y="1873002"/>
            <a:ext cx="2114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79292" y="2161877"/>
            <a:ext cx="134726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26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支</a:t>
            </a:r>
            <a:pPr algn="ctr" indent="0" marL="0">
              <a:buNone/>
            </a:pPr>
            <a:r>
              <a:rPr lang="en-US" sz="2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76851" y="1650802"/>
            <a:ext cx="2540050" cy="1174552"/>
          </a:xfrm>
          <a:prstGeom prst="roundRect">
            <a:avLst>
              <a:gd name="adj" fmla="val 10813"/>
            </a:avLst>
          </a:prstGeom>
          <a:solidFill>
            <a:srgbClr val="FFFFFF"/>
          </a:solidFill>
          <a:ln w="19050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42920" y="1873002"/>
            <a:ext cx="21207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#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04891" y="2161877"/>
            <a:ext cx="168396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pPr algn="ctr" indent="0" marL="0">
              <a:buNone/>
            </a:pPr>
            <a:r>
              <a:rPr lang="en-US" sz="2600" b="1" dirty="0">
                <a:solidFill>
                  <a:srgbClr val="B87A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幢</a:t>
            </a:r>
            <a:pPr algn="ctr" indent="0" marL="0">
              <a:buNone/>
            </a:pPr>
            <a:r>
              <a:rPr lang="en-US" sz="26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教学楼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432107" y="6673900"/>
            <a:ext cx="12769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Game Round 3 Answers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6238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14300"/>
            <a:ext cx="7946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综合复习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01366" y="122188"/>
            <a:ext cx="12650" cy="126950"/>
          </a:xfrm>
          <a:prstGeom prst="rect">
            <a:avLst/>
          </a:prstGeom>
          <a:solidFill>
            <a:srgbClr val="E2DDD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528316" y="114300"/>
            <a:ext cx="26889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Self-Assessment · Exit Ticket (43–50 min)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50" y="0"/>
            <a:ext cx="11176099" cy="38100"/>
          </a:xfrm>
          <a:prstGeom prst="rect">
            <a:avLst/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88950" y="533400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3A5F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8950" y="752475"/>
            <a:ext cx="1062238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Plenary + Exit Ticket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8950" y="1269950"/>
            <a:ext cx="54270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你做到了吗？ · Did You Get There?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8950" y="1593800"/>
            <a:ext cx="1048643" cy="330101"/>
          </a:xfrm>
          <a:prstGeom prst="roundRect">
            <a:avLst>
              <a:gd name="adj" fmla="val 3843460"/>
            </a:avLst>
          </a:prstGeom>
          <a:solidFill>
            <a:srgbClr val="E7F0EE"/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50875" y="1654076"/>
            <a:ext cx="7392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准备好了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26444" y="1593800"/>
            <a:ext cx="919162" cy="330101"/>
          </a:xfrm>
          <a:prstGeom prst="roundRect">
            <a:avLst>
              <a:gd name="adj" fmla="val 3843460"/>
            </a:avLst>
          </a:prstGeom>
          <a:solidFill>
            <a:srgbClr val="F6EDE0"/>
          </a:solidFill>
          <a:ln w="9525">
            <a:solidFill>
              <a:srgbClr val="B87A3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88369" y="1654076"/>
            <a:ext cx="6072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 差不多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34457" y="1593800"/>
            <a:ext cx="1307753" cy="330101"/>
          </a:xfrm>
          <a:prstGeom prst="roundRect">
            <a:avLst>
              <a:gd name="adj" fmla="val 3843460"/>
            </a:avLst>
          </a:prstGeom>
          <a:solidFill>
            <a:srgbClr val="F7EAE8"/>
          </a:solidFill>
          <a:ln w="9525">
            <a:solidFill>
              <a:srgbClr val="C96A5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96382" y="1654076"/>
            <a:ext cx="10035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6A5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 还需要多练习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950" y="2025402"/>
            <a:ext cx="5320605" cy="539353"/>
          </a:xfrm>
          <a:prstGeom prst="roundRect">
            <a:avLst>
              <a:gd name="adj" fmla="val 1412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50875" y="2136428"/>
            <a:ext cx="203150" cy="203150"/>
          </a:xfrm>
          <a:prstGeom prst="roundRect">
            <a:avLst>
              <a:gd name="adj" fmla="val 25006"/>
            </a:avLst>
          </a:prstGeom>
          <a:noFill/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68326" y="2123777"/>
            <a:ext cx="3050667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我能翻译Lesson 8所有测验词汇（中文↔英文）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368326" y="2326184"/>
            <a:ext cx="3050667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Bef>
                <a:spcPts val="100"/>
              </a:spcBef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translate all Test 3.2 vocabulary in both directions.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88950" y="2640955"/>
            <a:ext cx="5320605" cy="539353"/>
          </a:xfrm>
          <a:prstGeom prst="roundRect">
            <a:avLst>
              <a:gd name="adj" fmla="val 1412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50875" y="2751981"/>
            <a:ext cx="203150" cy="203150"/>
          </a:xfrm>
          <a:prstGeom prst="roundRect">
            <a:avLst>
              <a:gd name="adj" fmla="val 25006"/>
            </a:avLst>
          </a:prstGeom>
          <a:noFill/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68326" y="2739330"/>
            <a:ext cx="3435492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我能正确写出18个名词的量词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68326" y="2941737"/>
            <a:ext cx="3435492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Bef>
                <a:spcPts val="100"/>
              </a:spcBef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correctly write the measure word for all 18 practice nouns.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88950" y="3256508"/>
            <a:ext cx="5320605" cy="539353"/>
          </a:xfrm>
          <a:prstGeom prst="roundRect">
            <a:avLst>
              <a:gd name="adj" fmla="val 14128"/>
            </a:avLst>
          </a:prstGeom>
          <a:solidFill>
            <a:srgbClr val="F4F2EE"/>
          </a:solidFill>
          <a:ln w="9525">
            <a:solidFill>
              <a:srgbClr val="E2DDD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050875" y="3367534"/>
            <a:ext cx="203150" cy="203150"/>
          </a:xfrm>
          <a:prstGeom prst="roundRect">
            <a:avLst>
              <a:gd name="adj" fmla="val 25006"/>
            </a:avLst>
          </a:prstGeom>
          <a:noFill/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368326" y="3354884"/>
            <a:ext cx="3515493" cy="189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5"/>
              </a:lnSpc>
              <a:buNone/>
            </a:pPr>
            <a:r>
              <a:rPr lang="en-US" sz="11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我能用"X在Y的……"句型写出完整、正确语序的句子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68326" y="3557290"/>
            <a:ext cx="3515493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spcBef>
                <a:spcPts val="100"/>
              </a:spcBef>
              <a:buNone/>
            </a:pPr>
            <a:r>
              <a:rPr lang="en-US" sz="8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complete, correctly-ordered location-word sentences.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88950" y="3872061"/>
            <a:ext cx="5320605" cy="433983"/>
          </a:xfrm>
          <a:prstGeom prst="rect">
            <a:avLst/>
          </a:prstGeom>
          <a:solidFill>
            <a:srgbClr val="EAE6D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908000" y="3872061"/>
            <a:ext cx="0" cy="433983"/>
          </a:xfrm>
          <a:prstGeom prst="line">
            <a:avLst/>
          </a:prstGeom>
          <a:noFill/>
          <a:ln w="38100">
            <a:solidFill>
              <a:srgbClr val="3A5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4751" y="3973562"/>
            <a:ext cx="5025646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自我总结：我最需要复习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，因为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8950" y="4356795"/>
            <a:ext cx="54270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85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cold-calls 1–2 students to share their sentence.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88906" y="1269950"/>
            <a:ext cx="4813995" cy="5232648"/>
          </a:xfrm>
          <a:prstGeom prst="roundRect">
            <a:avLst>
              <a:gd name="adj" fmla="val 2638"/>
            </a:avLst>
          </a:prstGeom>
          <a:solidFill>
            <a:srgbClr val="E9EEF4"/>
          </a:solidFill>
          <a:ln w="19050">
            <a:solidFill>
              <a:srgbClr val="3A5F8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36556" y="1466701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A253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🎫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066657" y="1480989"/>
            <a:ext cx="18802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5F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出门票 · Exit Ticket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36556" y="1895326"/>
            <a:ext cx="4318695" cy="1170682"/>
          </a:xfrm>
          <a:prstGeom prst="roundRect">
            <a:avLst>
              <a:gd name="adj" fmla="val 6509"/>
            </a:avLst>
          </a:prstGeom>
          <a:solidFill>
            <a:srgbClr val="FFFFFF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88956" y="2022277"/>
            <a:ext cx="4094172" cy="497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用中文写两三句话：介绍你们学校的一个设施，说说它在哪儿。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88956" y="2583656"/>
            <a:ext cx="4094172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2–3 sentences in Chinese: introduce one facility at our school and say where it is.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36556" y="3180308"/>
            <a:ext cx="4318695" cy="576263"/>
          </a:xfrm>
          <a:prstGeom prst="roundRect">
            <a:avLst>
              <a:gd name="adj" fmla="val 13223"/>
            </a:avLst>
          </a:prstGeom>
          <a:solidFill>
            <a:srgbClr val="3A5F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88956" y="3281809"/>
            <a:ext cx="409417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这正是考试3.2会考的格式！</a:t>
            </a:r>
            <a:endParaRPr lang="en-US" sz="1050" dirty="0"/>
          </a:p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This mirrors the exact format Test 3.2 will expect.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736556" y="3870871"/>
            <a:ext cx="440506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circulates and reads over shoulders — look for correct measure words and correct X在Y的位置词 order.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6608862"/>
            <a:ext cx="12192000" cy="0"/>
          </a:xfrm>
          <a:prstGeom prst="line">
            <a:avLst/>
          </a:prstGeom>
          <a:noFill/>
          <a:ln w="9525">
            <a:solidFill>
              <a:srgbClr val="E2DD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950" y="6673900"/>
            <a:ext cx="128305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3 学校设施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9987707" y="6673900"/>
            <a:ext cx="173027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L8 · Plenary · Exit Ticket · 43–50 min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7862" y="1106835"/>
            <a:ext cx="4016127" cy="381000"/>
          </a:xfrm>
          <a:prstGeom prst="roundRect">
            <a:avLst>
              <a:gd name="adj" fmla="val 3330000"/>
            </a:avLst>
          </a:prstGeom>
          <a:solidFill>
            <a:srgbClr val="B87A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06680" y="1183035"/>
            <a:ext cx="35784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🎉 L8 Series Complete · 学校设施全部完成！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696968" y="1665536"/>
            <a:ext cx="27980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2E7D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 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70527" y="2027486"/>
            <a:ext cx="1450797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160"/>
              </a:lnSpc>
              <a:spcAft>
                <a:spcPts val="800"/>
              </a:spcAft>
              <a:buNone/>
            </a:pPr>
            <a:r>
              <a:rPr lang="en-US" sz="560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763674" y="2911227"/>
            <a:ext cx="46645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Stationery · Naming Items &amp; Borrowing Things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29370" y="3400127"/>
            <a:ext cx="8933111" cy="909638"/>
          </a:xfrm>
          <a:prstGeom prst="roundRect">
            <a:avLst>
              <a:gd name="adj" fmla="val 13962"/>
            </a:avLst>
          </a:prstGeom>
          <a:solidFill>
            <a:srgbClr val="E7F0EE"/>
          </a:solidFill>
          <a:ln w="19050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48090" y="3596878"/>
            <a:ext cx="829567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A2535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下节课我们开始学Lesson 9：文具——我们会学怎么说铅笔、橡皮这些文具的名字，还有怎么借东西。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948090" y="3917454"/>
            <a:ext cx="829567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E5C6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Next lesson we start Lesson 9: Stationery — learning to name items like pencils and erasers, and how to borrow things.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75522" y="4512915"/>
            <a:ext cx="984200" cy="787301"/>
          </a:xfrm>
          <a:prstGeom prst="roundRect">
            <a:avLst>
              <a:gd name="adj" fmla="val 12905"/>
            </a:avLst>
          </a:prstGeom>
          <a:solidFill>
            <a:srgbClr val="FFFFFF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08567" y="4636740"/>
            <a:ext cx="5181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00259" y="5014466"/>
            <a:ext cx="3345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pencil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10883" y="4763691"/>
            <a:ext cx="1264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8496" y="4512915"/>
            <a:ext cx="984200" cy="787301"/>
          </a:xfrm>
          <a:prstGeom prst="roundRect">
            <a:avLst>
              <a:gd name="adj" fmla="val 12905"/>
            </a:avLst>
          </a:prstGeom>
          <a:solidFill>
            <a:srgbClr val="FFFFFF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21542" y="4636740"/>
            <a:ext cx="5181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03668" y="5014466"/>
            <a:ext cx="3538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eraser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723857" y="4763691"/>
            <a:ext cx="12645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01470" y="4512915"/>
            <a:ext cx="1014859" cy="787301"/>
          </a:xfrm>
          <a:prstGeom prst="roundRect">
            <a:avLst>
              <a:gd name="adj" fmla="val 12905"/>
            </a:avLst>
          </a:prstGeom>
          <a:solidFill>
            <a:srgbClr val="FFFFFF"/>
          </a:solidFill>
          <a:ln w="9525">
            <a:solidFill>
              <a:srgbClr val="CFC9B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79335" y="4636740"/>
            <a:ext cx="2591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借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234209" y="5014466"/>
            <a:ext cx="5493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95A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borrow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22562" y="5503366"/>
            <a:ext cx="61468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7A3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 今天复习完，测验3.2就准备好了！Well done finishing Unit 3 School Facilities.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2026-07-18T06:22:56Z</dcterms:created>
  <dcterms:modified xsi:type="dcterms:W3CDTF">2026-07-18T06:22:56Z</dcterms:modified>
</cp:coreProperties>
</file>