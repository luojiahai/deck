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90323" y="1667024"/>
            <a:ext cx="34113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6 OF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099984" y="2095649"/>
            <a:ext cx="5991883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0"/>
              </a:lnSpc>
              <a:spcAft>
                <a:spcPts val="1600"/>
              </a:spcAft>
              <a:buNone/>
            </a:pPr>
            <a:r>
              <a:rPr lang="en-US" sz="78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 · 汉字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2635765" y="3289399"/>
            <a:ext cx="69203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Practice + Character Memorisation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841791" y="3819525"/>
            <a:ext cx="25082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6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学校设施 · School Facilities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715000" y="4435376"/>
            <a:ext cx="76200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098179" y="4805214"/>
            <a:ext cx="106724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4435" y="4890939"/>
            <a:ext cx="6547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pPr algn="ctr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17825" y="4790926"/>
            <a:ext cx="2503736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09717" y="4876651"/>
            <a:ext cx="2119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pPr algn="ctr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Unit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73961" y="4790926"/>
            <a:ext cx="1995636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70933" y="4876651"/>
            <a:ext cx="1601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</a:t>
            </a:r>
            <a:pPr algn="ctr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Tracks 30 &amp; 32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21997" y="4790926"/>
            <a:ext cx="1971675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19209" y="4876651"/>
            <a:ext cx="1577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🀄 </a:t>
            </a:r>
            <a:pPr algn="ctr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New Characters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9463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53827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Position Words &amp; Measure Words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45853"/>
            <a:ext cx="5461099" cy="2715518"/>
          </a:xfrm>
          <a:prstGeom prst="roundRect">
            <a:avLst>
              <a:gd name="adj" fmla="val 467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0626" y="1507778"/>
            <a:ext cx="5136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POSITION WORD FLASH (4 MIN)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20626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6351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6351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965127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050852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50852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9627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295352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5352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middle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54128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39853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39853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 side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20626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06351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6351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side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965127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050852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50852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above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209627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295352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下面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95352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below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54128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39853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39853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front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20626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06351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后面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6351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behind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965127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050852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050852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opposite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209627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295352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295352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upstairs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454128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539853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楼下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39853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downstairs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20626" y="3386882"/>
            <a:ext cx="513646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all twelve as a grid.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students to point and give the English meaning.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22950" y="1345853"/>
            <a:ext cx="5461099" cy="2715518"/>
          </a:xfrm>
          <a:prstGeom prst="roundRect">
            <a:avLst>
              <a:gd name="adj" fmla="val 467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435626" y="1507778"/>
            <a:ext cx="5136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MEASURE WORD QUICK FIRE (4 MIN)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35626" y="1771204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32377" y="1866454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6435626" y="2368004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32377" y="2463254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6435626" y="2964805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632377" y="3060055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三＿</a:t>
            </a:r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6435626" y="3561606"/>
            <a:ext cx="513646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completes each with the correct measure word (个/幢/层/楼 from Lessons 1–3).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07950" y="4162871"/>
            <a:ext cx="11176099" cy="41627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531763" y="4162871"/>
            <a:ext cx="0" cy="416272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8726" y="4264372"/>
            <a:ext cx="1093661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今天我们要做两个听力练习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，还要复习更多量词——不只是学校的，还有其他你们学过的词。最后我们要玩一个记汉字的游戏。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5914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736402"/>
            <a:ext cx="101041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1076027"/>
            <a:ext cx="1010412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43000" y="1809304"/>
            <a:ext cx="9906000" cy="1126927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171575" y="1809304"/>
            <a:ext cx="0" cy="1126927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4051" y="1987004"/>
            <a:ext cx="95278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4051" y="2225129"/>
            <a:ext cx="95278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understand spoken descriptions of school layout, revise measure words, and memorise twelve component characters.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3113931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55675" y="3263057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38176" y="3263057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to a description of school locations and tick the correct answer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838176" y="3510558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能听懂关于学校位置的描述并选出正确答案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986659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355675" y="4135785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838176" y="4135785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at least six nouns to their correct measure word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838176" y="4383286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能给至少六个名词配对正确的量词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4859387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355675" y="5008513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838176" y="5008513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and write all twelve of today's characters from memory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838176" y="5256014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能默写今天学的十二个汉字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31722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Character Memorisation Set · p.77 Act.8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十二字记忆 · Character Memorisation Set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4901" y="116502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character aloud twice, class repeats twice. Trace each character once in your exercise book as it is read.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8577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854398" y="2193429"/>
            <a:ext cx="2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35435" y="2460129"/>
            <a:ext cx="2340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9715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44802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561731" y="2193429"/>
            <a:ext cx="3122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3073" y="2460129"/>
            <a:ext cx="3033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940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1027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果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7323832" y="2193429"/>
            <a:ext cx="312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0558" y="2460129"/>
            <a:ext cx="692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fruit; result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921651" y="1466552"/>
            <a:ext cx="2635448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72675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瓜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0090696" y="2193429"/>
            <a:ext cx="30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1898" y="2460129"/>
            <a:ext cx="3748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melon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490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68577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角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1804243" y="3650307"/>
            <a:ext cx="3025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jiǎo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71141" y="3917007"/>
            <a:ext cx="7628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horn; corner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9715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44802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田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4561136" y="3650307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tián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8252" y="3917007"/>
            <a:ext cx="2730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field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5940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21027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食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7358360" y="3650307"/>
            <a:ext cx="2419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193404" y="3917007"/>
            <a:ext cx="5672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food; eat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21651" y="2923431"/>
            <a:ext cx="2635448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972675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虫</a:t>
            </a:r>
            <a:endParaRPr lang="en-US" sz="4200" dirty="0"/>
          </a:p>
        </p:txBody>
      </p:sp>
      <p:sp>
        <p:nvSpPr>
          <p:cNvPr id="39" name="Text 37"/>
          <p:cNvSpPr/>
          <p:nvPr/>
        </p:nvSpPr>
        <p:spPr>
          <a:xfrm>
            <a:off x="9987409" y="3650307"/>
            <a:ext cx="513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chóng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051441" y="3917007"/>
            <a:ext cx="3758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insect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490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68577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鸟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1779240" y="5107335"/>
            <a:ext cx="353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niǎo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831031" y="5374035"/>
            <a:ext cx="2430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9715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44802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羊</a:t>
            </a:r>
            <a:endParaRPr lang="en-US" sz="4200" dirty="0"/>
          </a:p>
        </p:txBody>
      </p:sp>
      <p:sp>
        <p:nvSpPr>
          <p:cNvPr id="47" name="Text 45"/>
          <p:cNvSpPr/>
          <p:nvPr/>
        </p:nvSpPr>
        <p:spPr>
          <a:xfrm>
            <a:off x="4520357" y="5107335"/>
            <a:ext cx="396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yáng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29524" y="5374035"/>
            <a:ext cx="3704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sheep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5940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21027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</a:t>
            </a:r>
            <a:endParaRPr lang="en-US" sz="4200" dirty="0"/>
          </a:p>
        </p:txBody>
      </p:sp>
      <p:sp>
        <p:nvSpPr>
          <p:cNvPr id="51" name="Text 49"/>
          <p:cNvSpPr/>
          <p:nvPr/>
        </p:nvSpPr>
        <p:spPr>
          <a:xfrm>
            <a:off x="7366695" y="5107335"/>
            <a:ext cx="224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jīn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74085" y="5374035"/>
            <a:ext cx="8059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now; present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921651" y="4380458"/>
            <a:ext cx="2635448" cy="1330077"/>
          </a:xfrm>
          <a:prstGeom prst="roundRect">
            <a:avLst>
              <a:gd name="adj" fmla="val 9548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9972675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天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10085784" y="510733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tiān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984647" y="5374035"/>
            <a:ext cx="509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day; sky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4901" y="5812036"/>
            <a:ext cx="10922198" cy="614363"/>
          </a:xfrm>
          <a:prstGeom prst="roundRect">
            <a:avLst>
              <a:gd name="adj" fmla="val 16538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57101" y="5981105"/>
            <a:ext cx="21374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193602" y="5932587"/>
            <a:ext cx="1034412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Teacher: 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"今天" — 你们已经认识这两个字放在一起的意思：today! Keep the explanation brief — these are component characters for a memory game, not vocabulary taught in depth.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335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Measure Word Refresher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609451"/>
            <a:ext cx="101041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量词复习 · Measure Word Refresher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1139577"/>
            <a:ext cx="101041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is a review of general measure words from across the year, not new teaching.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43000" y="1482328"/>
            <a:ext cx="9906000" cy="4950619"/>
          </a:xfrm>
          <a:prstGeom prst="roundRect">
            <a:avLst>
              <a:gd name="adj" fmla="val 2052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52525" y="1491853"/>
            <a:ext cx="9886950" cy="288727"/>
          </a:xfrm>
          <a:prstGeom prst="roundRect">
            <a:avLst>
              <a:gd name="adj" fmla="val 3079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1125" y="1555254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量词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73226" y="1555254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073277" y="1555254"/>
            <a:ext cx="6872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USED FOR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52525" y="178534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1125" y="185350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73226" y="189160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73277" y="189160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default (general)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52525" y="2202656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152525" y="2207419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81125" y="227558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73226" y="2313682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zhuàng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73277" y="2313682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52525" y="262949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81125" y="2697659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73226" y="2735759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céng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73277" y="2735759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floors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2525" y="3046809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1152525" y="305157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81125" y="311973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473226" y="315783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73277" y="315783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floors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152525" y="347364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81125" y="354181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本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2473226" y="3579912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běn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073277" y="3579912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52525" y="3890962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1152525" y="389572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81125" y="3963888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支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473226" y="40019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zhī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73277" y="4001988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152525" y="431780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81125" y="438596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2473226" y="442406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zhāng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073277" y="442406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flat objects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52525" y="4735116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1152525" y="473987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81125" y="4808041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双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473226" y="4846141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shuāng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073277" y="4846141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152525" y="516195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81125" y="5230118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件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473226" y="526821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jiàn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073277" y="5268218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clothing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52525" y="5579269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1152525" y="5584031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381125" y="565219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2473226" y="569029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wèi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4073277" y="569029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people (polite)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52525" y="600610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81125" y="6074271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2473226" y="6112371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zhī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073277" y="6112371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animals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143000" y="6585198"/>
            <a:ext cx="9906000" cy="387251"/>
          </a:xfrm>
          <a:prstGeom prst="rect">
            <a:avLst/>
          </a:prstGeom>
          <a:solidFill>
            <a:srgbClr val="EA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1166813" y="6585198"/>
            <a:ext cx="0" cy="387251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393775" y="6674048"/>
            <a:ext cx="9641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今天的游戏会用到这些量词</a:t>
            </a:r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，还有一些新的名词。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941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60202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4901" y="1266527"/>
            <a:ext cx="3505200" cy="5134421"/>
          </a:xfrm>
          <a:prstGeom prst="roundRect">
            <a:avLst>
              <a:gd name="adj" fmla="val 507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57101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97595" y="1552129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7101" y="1945779"/>
            <a:ext cx="31220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· CHARACTER RECALL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57101" y="2209205"/>
            <a:ext cx="31220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 · 田 · 鸟 · 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7101" y="2615505"/>
            <a:ext cx="3122015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points to 米, 田, 鸟, and 天 on the projector (no pinyin shown), one at a time. Class calls out the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together.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43251" y="1266527"/>
            <a:ext cx="3505349" cy="5134421"/>
          </a:xfrm>
          <a:prstGeom prst="roundRect">
            <a:avLst>
              <a:gd name="adj" fmla="val 5072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65452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691063" y="1552129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5452" y="1945779"/>
            <a:ext cx="3122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65452" y="2209205"/>
            <a:ext cx="31221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 Quick Ask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65452" y="2615505"/>
            <a:ext cx="312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Sam, 一＿书？ </a:t>
            </a:r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本！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65452" y="2945606"/>
            <a:ext cx="312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Priya, 一＿铅笔？ </a:t>
            </a:r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支！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51750" y="1266527"/>
            <a:ext cx="3505200" cy="5134421"/>
          </a:xfrm>
          <a:prstGeom prst="roundRect">
            <a:avLst>
              <a:gd name="adj" fmla="val 5072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73951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399115" y="1552129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3951" y="1945779"/>
            <a:ext cx="31220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3951" y="2209205"/>
            <a:ext cx="31220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哪个对？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273951" y="2615505"/>
            <a:ext cx="3122015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projects: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一个猫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vs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一只猫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Every student points at the correct one.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3951" y="5826323"/>
            <a:ext cx="306079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19951" y="5921573"/>
            <a:ext cx="28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 on next slide →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1851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650950" y="1917799"/>
            <a:ext cx="90679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REVEALED · 答案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50950" y="2232124"/>
            <a:ext cx="906790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50950" y="3044875"/>
            <a:ext cx="8890099" cy="2047726"/>
          </a:xfrm>
          <a:prstGeom prst="roundRect">
            <a:avLst>
              <a:gd name="adj" fmla="val 868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990576" y="3333750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54734" y="3419475"/>
            <a:ext cx="1313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01677" y="3333750"/>
            <a:ext cx="403633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 — 哪个对？ </a:t>
            </a:r>
            <a:pPr algn="l" indent="0" marL="0">
              <a:buNone/>
            </a:pPr>
            <a:r>
              <a:rPr lang="en-US" sz="14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一个猫</a:t>
            </a:r>
            <a:pPr algn="l" indent="0" marL="0">
              <a:buNone/>
            </a:pP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vs 一只猫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01677" y="3708350"/>
            <a:ext cx="3957191" cy="1095375"/>
          </a:xfrm>
          <a:prstGeom prst="roundRect">
            <a:avLst>
              <a:gd name="adj" fmla="val 11594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74628" y="3879800"/>
            <a:ext cx="347951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</a:t>
            </a:r>
            <a:pPr algn="l" indent="0" marL="0">
              <a:buNone/>
            </a:pPr>
            <a:r>
              <a:rPr lang="en-US" sz="26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</a:t>
            </a:r>
            <a:pPr algn="l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猫！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974628" y="4422725"/>
            <a:ext cx="34795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 → </a:t>
            </a:r>
            <a:pPr algn="l" indent="0" marL="0">
              <a:spcBef>
                <a:spcPts val="600"/>
              </a:spcBef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</a:t>
            </a:r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只 is the measure word for animals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0405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Act.4 听力理解一 · 20–28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84002"/>
            <a:ext cx="112441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20–28 MIN · WE DO · ACTIVITY 4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4150" y="837902"/>
            <a:ext cx="112441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活动4 · 听力理解一 </a:t>
            </a:r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(p.73, CD Track 30)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84150" y="1320403"/>
            <a:ext cx="6062514" cy="4438501"/>
          </a:xfrm>
          <a:prstGeom prst="roundRect">
            <a:avLst>
              <a:gd name="adj" fmla="val 3434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506141"/>
            <a:ext cx="199380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活动4 · Guided Listening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65973" y="1491853"/>
            <a:ext cx="1258491" cy="276225"/>
          </a:xfrm>
          <a:prstGeom prst="roundRect">
            <a:avLst>
              <a:gd name="adj" fmla="val 459310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37423" y="1549003"/>
            <a:ext cx="9339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CD Track 30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6351" y="1856929"/>
            <a:ext cx="5618113" cy="1017091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6-row answer grid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your exercise book (label rows 1–6)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plays item 1, pauses, and models the process aloud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2–6 played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at a time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pause briefly after each to tick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track replayed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more, no pausing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check your answers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on projector —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6351" y="2962870"/>
            <a:ext cx="5730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教师示范 · TEACHER MODEL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6351" y="3143845"/>
            <a:ext cx="5618113" cy="400050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30163" y="3143845"/>
            <a:ext cx="0" cy="400050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1677" y="3220045"/>
            <a:ext cx="531938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我听到了＿，所以我选＿。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26014" y="1320403"/>
            <a:ext cx="4681835" cy="884188"/>
          </a:xfrm>
          <a:prstGeom prst="roundRect">
            <a:avLst>
              <a:gd name="adj" fmla="val 14363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48215" y="1479054"/>
            <a:ext cx="4322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YOU'RE LISTENING FOR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148215" y="1672679"/>
            <a:ext cx="432218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Six items about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layout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descriptions of where places are located around the school.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926014" y="2306092"/>
            <a:ext cx="4681835" cy="884188"/>
          </a:xfrm>
          <a:prstGeom prst="roundRect">
            <a:avLst>
              <a:gd name="adj" fmla="val 1436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48215" y="2464743"/>
            <a:ext cx="4322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&amp; SELF-MARK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148215" y="2658368"/>
            <a:ext cx="432218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ticks all 6 items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independently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before answers are revealed on the projector.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84150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6550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36550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ticks all 6 items independently before answers are revealed.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984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53384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453384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Pause the audio after every item (not just the first) for students needing extra time.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17818" y="5860405"/>
            <a:ext cx="3590032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70218" y="5949255"/>
            <a:ext cx="33509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170218" y="6107906"/>
            <a:ext cx="3350937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self-marking, write one full sentence summarising one of the 6 items.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698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Act.10 听力理解二 + 量词小测 · 28–35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84002"/>
            <a:ext cx="112441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28–35 MIN · YOU DO · ACTIVITY 10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4150" y="837902"/>
            <a:ext cx="1124417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活动10 · 听力理解二 + 量词小测 </a:t>
            </a:r>
            <a:pPr algn="l" indent="0" marL="0">
              <a:buNone/>
            </a:pPr>
            <a:r>
              <a:rPr lang="en-US" sz="125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(p.78, CD Track 32)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84150" y="1291828"/>
            <a:ext cx="5372100" cy="4467076"/>
          </a:xfrm>
          <a:prstGeom prst="roundRect">
            <a:avLst>
              <a:gd name="adj" fmla="val 341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487091"/>
            <a:ext cx="2281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活动10 · Independent Listening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4077" y="1463278"/>
            <a:ext cx="1209973" cy="276225"/>
          </a:xfrm>
          <a:prstGeom prst="roundRect">
            <a:avLst>
              <a:gd name="adj" fmla="val 459310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95527" y="1520428"/>
            <a:ext cx="8844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CD Track 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6351" y="1828354"/>
            <a:ext cx="4927699" cy="80352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fresh 6-row answer grid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6 items about building locations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track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straight through once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 pausing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more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checking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—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35601" y="1291828"/>
            <a:ext cx="5372249" cy="4467076"/>
          </a:xfrm>
          <a:prstGeom prst="roundRect">
            <a:avLst>
              <a:gd name="adj" fmla="val 3412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57801" y="1468041"/>
            <a:ext cx="23241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量词小测 · Measure Word 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58934" y="1463278"/>
            <a:ext cx="626715" cy="238125"/>
          </a:xfrm>
          <a:prstGeom prst="roundRect">
            <a:avLst>
              <a:gd name="adj" fmla="val 5328000"/>
            </a:avLst>
          </a:prstGeom>
          <a:solidFill>
            <a:srgbClr val="D9EE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911334" y="1501378"/>
            <a:ext cx="3283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min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57801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29251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3245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0390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0710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7855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8175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95320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56403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727853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331053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502503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项链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57801" y="2266355"/>
            <a:ext cx="5026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correct measure word for each noun in your exercise book.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57801" y="2517130"/>
            <a:ext cx="4927848" cy="672852"/>
          </a:xfrm>
          <a:prstGeom prst="roundRect">
            <a:avLst>
              <a:gd name="adj" fmla="val 15100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603802" y="2612380"/>
            <a:ext cx="47285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 WORD BANK (SCRAMBLED)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603802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49802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11603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257604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19405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765405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7206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273207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35008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781008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42809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88810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4150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36550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6550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students complete the listening grid and measure-word quiz independently.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300984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453384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453384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scrambled word bank alongside the nouns so students match rather than recall.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017818" y="5860405"/>
            <a:ext cx="3590032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170218" y="5949255"/>
            <a:ext cx="33509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170218" y="6107906"/>
            <a:ext cx="3350937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without the word bank; add one more noun + measure word pair of your own.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5661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量词小测 Answers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96901" y="1905149"/>
            <a:ext cx="95861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96901" y="2244775"/>
            <a:ext cx="958616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Measure Word Quiz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96901" y="3003500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160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9018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193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97301" y="3003500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164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022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7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797701" y="3003500"/>
            <a:ext cx="2997398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168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026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201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396901" y="4155877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2160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9018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193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97301" y="4155877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164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1022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197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797701" y="4155877"/>
            <a:ext cx="2997398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6168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项链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3026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201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8996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十二字记忆挑战 · 35–43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7955" y="558701"/>
            <a:ext cx="112960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十二字记忆挑战！Character Memory Challenge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58701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5452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1 · 2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5452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小组学习 · Group Study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1761827"/>
            <a:ext cx="3243155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Display all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characters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(same table from I Do). Study silently — may re-trace in exercise books.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55452" y="2226618"/>
            <a:ext cx="32431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米豆果瓜角田食虫鸟羊今天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09467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6218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2 · 1 MIN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06218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默写 · Hide &amp; Recall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74422" y="1838027"/>
            <a:ext cx="324315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FC9B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474422" y="2704802"/>
            <a:ext cx="3243155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characters hidden.</a:t>
            </a:r>
            <a:pPr algn="ctr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as many of the 12 as you remember — characters only, no talking.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060234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6984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3 · 5 MIN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56984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Team Challenge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56984" y="1761827"/>
            <a:ext cx="3243155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one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a time with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5-sec countdown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All write the character; hold up books. ✓ = 1 point. Reveal 汉字, play all 12.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900815" y="2395538"/>
            <a:ext cx="679252" cy="723900"/>
          </a:xfrm>
          <a:prstGeom prst="roundRect">
            <a:avLst>
              <a:gd name="adj" fmla="val 14958"/>
            </a:avLst>
          </a:prstGeom>
          <a:solidFill>
            <a:srgbClr val="FEFCF7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94708" y="2490788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094708" y="2633663"/>
            <a:ext cx="29146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707017" y="2633663"/>
            <a:ext cx="2107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40541" y="2395538"/>
            <a:ext cx="752177" cy="723900"/>
          </a:xfrm>
          <a:prstGeom prst="roundRect">
            <a:avLst>
              <a:gd name="adj" fmla="val 14035"/>
            </a:avLst>
          </a:prstGeom>
          <a:solidFill>
            <a:srgbClr val="FEFCF7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233705" y="2490788"/>
            <a:ext cx="365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233705" y="2633663"/>
            <a:ext cx="3658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58701" y="5935712"/>
            <a:ext cx="5461099" cy="541437"/>
          </a:xfrm>
          <a:prstGeom prst="roundRect">
            <a:avLst>
              <a:gd name="adj" fmla="val 18765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55452" y="6043613"/>
            <a:ext cx="5168950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Scaffold: In Phase 3, students may refer to their Phase 1 tracing notes.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5935712"/>
            <a:ext cx="5461099" cy="541437"/>
          </a:xfrm>
          <a:prstGeom prst="roundRect">
            <a:avLst>
              <a:gd name="adj" fmla="val 1876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68951" y="6043613"/>
            <a:ext cx="516895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After writing the character, whisper the English gloss to a partner for a bonus point.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0954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11101" y="1225451"/>
            <a:ext cx="5257949" cy="5200948"/>
          </a:xfrm>
          <a:prstGeom prst="roundRect">
            <a:avLst>
              <a:gd name="adj" fmla="val 3419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58751" y="1422202"/>
            <a:ext cx="48579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58751" y="1723727"/>
            <a:ext cx="48579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3 = 完全可以 · 2 = 差不多 · 1 = 还不行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58751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9146" y="2072432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00001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0248" y="2072432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41252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21619" y="2072432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45903" y="1987153"/>
            <a:ext cx="4055007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a description of school locations and tick the correct answer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58751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29146" y="2419796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00001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70248" y="2419796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441252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21619" y="2419796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745903" y="2412802"/>
            <a:ext cx="3294617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at least six nouns to their correct measure word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58751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29146" y="2711797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00001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270248" y="2711797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1252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1619" y="2711797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745903" y="2704802"/>
            <a:ext cx="3965594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Recognise and write all twelve of today's characters from memory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58751" y="2991148"/>
            <a:ext cx="47626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8751" y="3097411"/>
            <a:ext cx="48579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Note any students showing 1 finger on criterion 3 (characters) for extra practice next lesson.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22950" y="1225451"/>
            <a:ext cx="5257949" cy="5200948"/>
          </a:xfrm>
          <a:prstGeom prst="roundRect">
            <a:avLst>
              <a:gd name="adj" fmla="val 3419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70600" y="1422202"/>
            <a:ext cx="48579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70600" y="1723727"/>
            <a:ext cx="4762649" cy="795486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494413" y="1723727"/>
            <a:ext cx="0" cy="795486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5926" y="1838027"/>
            <a:ext cx="44468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— WRITE IN EXERCISE BOOK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695926" y="2031653"/>
            <a:ext cx="444681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two pinyin from today's character set. Write the correct 汉字 from memory.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70600" y="2620714"/>
            <a:ext cx="2317849" cy="799802"/>
          </a:xfrm>
          <a:prstGeom prst="roundRect">
            <a:avLst>
              <a:gd name="adj" fmla="val 12703"/>
            </a:avLst>
          </a:prstGeom>
          <a:solidFill>
            <a:srgbClr val="FEFCF7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570384" y="2741265"/>
            <a:ext cx="2118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A5F8A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guā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91151" y="3290441"/>
            <a:ext cx="2076748" cy="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620714"/>
            <a:ext cx="2317849" cy="799802"/>
          </a:xfrm>
          <a:prstGeom prst="roundRect">
            <a:avLst>
              <a:gd name="adj" fmla="val 12703"/>
            </a:avLst>
          </a:prstGeom>
          <a:solidFill>
            <a:srgbClr val="FEFCF7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015183" y="2741265"/>
            <a:ext cx="2118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A5F8A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niǎo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035951" y="3290441"/>
            <a:ext cx="2076748" cy="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70600" y="3522018"/>
            <a:ext cx="4857902" cy="151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 only</a:t>
            </a:r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 pinyin. Quick individual check, collected at the door.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66461" y="1380381"/>
            <a:ext cx="20590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809393" y="1732806"/>
            <a:ext cx="573215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747735" y="2666256"/>
            <a:ext cx="469638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44220" y="3272582"/>
            <a:ext cx="790355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Aft>
                <a:spcPts val="2200"/>
              </a:spcAft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listening comprehension tracks · measure word review · 12 new characters (米豆果瓜角田食虫鸟羊今天)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92400" y="3765203"/>
            <a:ext cx="7607201" cy="1293168"/>
          </a:xfrm>
          <a:prstGeom prst="roundRect">
            <a:avLst>
              <a:gd name="adj" fmla="val 13749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98420" y="3987403"/>
            <a:ext cx="69951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(L7)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98420" y="4269879"/>
            <a:ext cx="69951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下一课，我们要玩一个部首比赛，还要看城市地图，学怎么重新设计自己的城市！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98420" y="4631829"/>
            <a:ext cx="6995160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a radicals competition, plus city maps — redesigning your own city!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028940" y="5286970"/>
            <a:ext cx="6133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 ·  Unit 3 · 听力·汉字  ·  Lesson 6 of 8  ·  轻松学中文 Book 3 · p.73, 77–78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2026-07-18T06:19:35Z</dcterms:created>
  <dcterms:modified xsi:type="dcterms:W3CDTF">2026-07-18T06:19:35Z</dcterms:modified>
</cp:coreProperties>
</file>