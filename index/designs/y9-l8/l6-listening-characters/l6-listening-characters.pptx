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90323" y="1667024"/>
            <a:ext cx="34113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800"/>
              </a:spcAft>
              <a:buNone/>
            </a:pP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YEAR 9 · UNIT 3 · LESSON 6 OF 8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099984" y="2095649"/>
            <a:ext cx="5991883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7800"/>
              </a:lnSpc>
              <a:spcAft>
                <a:spcPts val="1600"/>
              </a:spcAft>
              <a:buNone/>
            </a:pPr>
            <a:r>
              <a:rPr lang="en-US" sz="78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听力 · 汉字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2635765" y="3289399"/>
            <a:ext cx="69203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400" b="1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Listening Practice + Character Memorisation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841791" y="3819525"/>
            <a:ext cx="250826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600"/>
              </a:spcAft>
              <a:buNone/>
            </a:pPr>
            <a:r>
              <a:rPr lang="en-US" sz="16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学校设施 · School Facilities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715000" y="4435376"/>
            <a:ext cx="762000" cy="50750"/>
          </a:xfrm>
          <a:prstGeom prst="roundRect">
            <a:avLst>
              <a:gd name="adj" fmla="val 50049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098179" y="4805214"/>
            <a:ext cx="1067246" cy="371475"/>
          </a:xfrm>
          <a:prstGeom prst="roundRect">
            <a:avLst>
              <a:gd name="adj" fmla="val 3415385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304435" y="4890939"/>
            <a:ext cx="65473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⏱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50 min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317825" y="4790926"/>
            <a:ext cx="2503736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09717" y="4876651"/>
            <a:ext cx="2119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📚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轻松学中文 Book 3 · Unit 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73961" y="4790926"/>
            <a:ext cx="1995636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170933" y="4876651"/>
            <a:ext cx="1601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🎧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Tracks 30 &amp; 32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21997" y="4790926"/>
            <a:ext cx="1971675" cy="400050"/>
          </a:xfrm>
          <a:prstGeom prst="roundRect">
            <a:avLst>
              <a:gd name="adj" fmla="val 3171429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319209" y="4876651"/>
            <a:ext cx="1577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🀄 </a:t>
            </a:r>
            <a:r>
              <a:rPr lang="en-US" sz="11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New Characters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9463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Review · 0–8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7950" y="609451"/>
            <a:ext cx="11399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0–8 MIN · REVIEW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07950" y="853827"/>
            <a:ext cx="11399621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回顾 · Position Words &amp; Measure Words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7950" y="1345853"/>
            <a:ext cx="5461099" cy="2715518"/>
          </a:xfrm>
          <a:prstGeom prst="roundRect">
            <a:avLst>
              <a:gd name="adj" fmla="val 467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20626" y="1507778"/>
            <a:ext cx="51364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A · POSITION WORD FLASH (4 MIN)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20626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06351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旁边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6351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beside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965127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050852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隔壁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50852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door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209627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295352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中间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95352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the middle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54128" y="1771204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539853" y="1831479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左边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39853" y="2041029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 side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20626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06351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右边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06351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 side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1965127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050852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上面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050852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above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3209627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295352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下面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295352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below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4454128" y="2301329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4539853" y="2361605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前面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539853" y="2571155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front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720626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806351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后面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6351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behind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1965127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2050852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对面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050852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opposite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3209627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295352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楼上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295352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upstairs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4454128" y="2831455"/>
            <a:ext cx="1168301" cy="453926"/>
          </a:xfrm>
          <a:prstGeom prst="roundRect">
            <a:avLst>
              <a:gd name="adj" fmla="val 16787"/>
            </a:avLst>
          </a:prstGeom>
          <a:solidFill>
            <a:srgbClr val="FEFCF7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4539853" y="2891730"/>
            <a:ext cx="101678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楼下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39853" y="3101280"/>
            <a:ext cx="10167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downstairs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720626" y="3386882"/>
            <a:ext cx="5136463" cy="16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all twelve as a grid.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students to point and give the English meaning.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22950" y="1345853"/>
            <a:ext cx="5461099" cy="2715518"/>
          </a:xfrm>
          <a:prstGeom prst="roundRect">
            <a:avLst>
              <a:gd name="adj" fmla="val 4677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435626" y="1507778"/>
            <a:ext cx="513646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PART B · MEASURE WORD QUICK FIRE (4 MIN)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435626" y="1771204"/>
            <a:ext cx="5035748" cy="495300"/>
          </a:xfrm>
          <a:prstGeom prst="roundRect">
            <a:avLst>
              <a:gd name="adj" fmla="val 15385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Text 49"/>
          <p:cNvSpPr/>
          <p:nvPr/>
        </p:nvSpPr>
        <p:spPr>
          <a:xfrm>
            <a:off x="6632377" y="1866454"/>
            <a:ext cx="4735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教学楼</a:t>
            </a:r>
            <a:endParaRPr lang="en-US" sz="1700" dirty="0"/>
          </a:p>
        </p:txBody>
      </p:sp>
      <p:sp>
        <p:nvSpPr>
          <p:cNvPr id="52" name="Text 50"/>
          <p:cNvSpPr/>
          <p:nvPr/>
        </p:nvSpPr>
        <p:spPr>
          <a:xfrm>
            <a:off x="6435626" y="2368004"/>
            <a:ext cx="5035748" cy="495300"/>
          </a:xfrm>
          <a:prstGeom prst="roundRect">
            <a:avLst>
              <a:gd name="adj" fmla="val 15385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6632377" y="2463254"/>
            <a:ext cx="4735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＿</a:t>
            </a: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图书馆</a:t>
            </a:r>
            <a:endParaRPr lang="en-US" sz="1700" dirty="0"/>
          </a:p>
        </p:txBody>
      </p:sp>
      <p:sp>
        <p:nvSpPr>
          <p:cNvPr id="54" name="Text 52"/>
          <p:cNvSpPr/>
          <p:nvPr/>
        </p:nvSpPr>
        <p:spPr>
          <a:xfrm>
            <a:off x="6435626" y="2964805"/>
            <a:ext cx="5035748" cy="495300"/>
          </a:xfrm>
          <a:prstGeom prst="roundRect">
            <a:avLst>
              <a:gd name="adj" fmla="val 15385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6632377" y="3060055"/>
            <a:ext cx="473509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三＿</a:t>
            </a:r>
            <a:r>
              <a:rPr lang="en-US" sz="17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教室</a:t>
            </a:r>
            <a:endParaRPr lang="en-US" sz="1700" dirty="0"/>
          </a:p>
        </p:txBody>
      </p:sp>
      <p:sp>
        <p:nvSpPr>
          <p:cNvPr id="56" name="Text 54"/>
          <p:cNvSpPr/>
          <p:nvPr/>
        </p:nvSpPr>
        <p:spPr>
          <a:xfrm>
            <a:off x="6435626" y="3561606"/>
            <a:ext cx="5136463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Class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chorally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completes each with the correct measure word (个/幢/层/楼 from Lessons 1–3).</a:t>
            </a:r>
            <a:endParaRPr lang="en-US" sz="950" dirty="0"/>
          </a:p>
        </p:txBody>
      </p:sp>
      <p:sp>
        <p:nvSpPr>
          <p:cNvPr id="57" name="Text 55"/>
          <p:cNvSpPr/>
          <p:nvPr/>
        </p:nvSpPr>
        <p:spPr>
          <a:xfrm>
            <a:off x="507950" y="4162871"/>
            <a:ext cx="11176099" cy="416272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Shape 56"/>
          <p:cNvSpPr/>
          <p:nvPr/>
        </p:nvSpPr>
        <p:spPr>
          <a:xfrm>
            <a:off x="531763" y="4162871"/>
            <a:ext cx="0" cy="416272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58726" y="4264372"/>
            <a:ext cx="10936617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今天我们要做两个听力练习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，还要复习更多量词——不只是学校的，还有其他你们学过的词。最后我们要玩一个记汉字的游戏。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5914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 &amp; Success Criteria · 8–10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736402"/>
            <a:ext cx="1010412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8–10 MIN · DISPLAY ON PROJECTOR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" y="1076027"/>
            <a:ext cx="10104120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今日目标 · Today's Goal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143000" y="1809304"/>
            <a:ext cx="9906000" cy="1126927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171575" y="1809304"/>
            <a:ext cx="0" cy="1126927"/>
          </a:xfrm>
          <a:prstGeom prst="line">
            <a:avLst/>
          </a:prstGeom>
          <a:noFill/>
          <a:ln w="57150">
            <a:solidFill>
              <a:srgbClr val="3A5F8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4051" y="1987004"/>
            <a:ext cx="952786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LEARNING INTENTION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54051" y="2225129"/>
            <a:ext cx="9527869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are learning to understand spoken descriptions of school layout, revise measure words, and memorise twelve component characters.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43000" y="3113931"/>
            <a:ext cx="9906000" cy="745778"/>
          </a:xfrm>
          <a:prstGeom prst="roundRect">
            <a:avLst>
              <a:gd name="adj" fmla="val 1362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55675" y="3263057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838176" y="3263057"/>
            <a:ext cx="917811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listen to a description of school locations and tick the correct answer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838176" y="3510558"/>
            <a:ext cx="91781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能听懂关于学校位置的描述并选出正确答案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3986659"/>
            <a:ext cx="9906000" cy="745778"/>
          </a:xfrm>
          <a:prstGeom prst="roundRect">
            <a:avLst>
              <a:gd name="adj" fmla="val 1362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355675" y="4135785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2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838176" y="4135785"/>
            <a:ext cx="917811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match at least six nouns to their correct measure word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838176" y="4383286"/>
            <a:ext cx="91781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能给至少六个名词配对正确的量词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43000" y="4859387"/>
            <a:ext cx="9906000" cy="745778"/>
          </a:xfrm>
          <a:prstGeom prst="roundRect">
            <a:avLst>
              <a:gd name="adj" fmla="val 1362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355675" y="5008513"/>
            <a:ext cx="310896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838176" y="5008513"/>
            <a:ext cx="9178111" cy="22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can recognise and write all twelve of today's characters from memory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838176" y="5256014"/>
            <a:ext cx="917811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能默写今天学的十二个汉字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317226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Character Memorisation Set · p.77 Act.8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34901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十二字记忆 · Character Memorisation Set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4901" y="1165027"/>
            <a:ext cx="1114064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reads each character aloud twice, class repeats twice. Trace each character once in your exercise book as it is read.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466552"/>
            <a:ext cx="2635300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85776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米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854398" y="2193429"/>
            <a:ext cx="2000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35435" y="2460129"/>
            <a:ext cx="23408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rice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97151" y="1466552"/>
            <a:ext cx="2635300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448026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豆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4561731" y="2193429"/>
            <a:ext cx="3122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dòu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3073" y="2460129"/>
            <a:ext cx="3033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bean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59401" y="1466552"/>
            <a:ext cx="2635300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210276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果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7323832" y="2193429"/>
            <a:ext cx="3124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guǒ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130558" y="2460129"/>
            <a:ext cx="6928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fruit; result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921651" y="1466552"/>
            <a:ext cx="2635448" cy="1329928"/>
          </a:xfrm>
          <a:prstGeom prst="roundRect">
            <a:avLst>
              <a:gd name="adj" fmla="val 9549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9972675" y="1621929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瓜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10090696" y="2193429"/>
            <a:ext cx="30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guā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1898" y="2460129"/>
            <a:ext cx="37480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melon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34901" y="2923431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685776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角</a:t>
            </a:r>
            <a:endParaRPr lang="en-US" sz="4200" dirty="0"/>
          </a:p>
        </p:txBody>
      </p:sp>
      <p:sp>
        <p:nvSpPr>
          <p:cNvPr id="27" name="Text 25"/>
          <p:cNvSpPr/>
          <p:nvPr/>
        </p:nvSpPr>
        <p:spPr>
          <a:xfrm>
            <a:off x="1804243" y="3650307"/>
            <a:ext cx="3025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jiǎo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71141" y="3917007"/>
            <a:ext cx="76281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horn; corner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397151" y="2923431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448026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田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4561136" y="3650307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tián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8252" y="3917007"/>
            <a:ext cx="27309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field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59401" y="2923431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210276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食</a:t>
            </a:r>
            <a:endParaRPr lang="en-US" sz="4200" dirty="0"/>
          </a:p>
        </p:txBody>
      </p:sp>
      <p:sp>
        <p:nvSpPr>
          <p:cNvPr id="35" name="Text 33"/>
          <p:cNvSpPr/>
          <p:nvPr/>
        </p:nvSpPr>
        <p:spPr>
          <a:xfrm>
            <a:off x="7358360" y="3650307"/>
            <a:ext cx="24197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shí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193404" y="3917007"/>
            <a:ext cx="56729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food; eat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921651" y="2923431"/>
            <a:ext cx="2635448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9972675" y="3078807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虫</a:t>
            </a:r>
            <a:endParaRPr lang="en-US" sz="4200" dirty="0"/>
          </a:p>
        </p:txBody>
      </p:sp>
      <p:sp>
        <p:nvSpPr>
          <p:cNvPr id="39" name="Text 37"/>
          <p:cNvSpPr/>
          <p:nvPr/>
        </p:nvSpPr>
        <p:spPr>
          <a:xfrm>
            <a:off x="9987409" y="3650307"/>
            <a:ext cx="5138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chóng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0051441" y="3917007"/>
            <a:ext cx="37586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insect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4901" y="4380458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685776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鸟</a:t>
            </a:r>
            <a:endParaRPr lang="en-US" sz="4200" dirty="0"/>
          </a:p>
        </p:txBody>
      </p:sp>
      <p:sp>
        <p:nvSpPr>
          <p:cNvPr id="43" name="Text 41"/>
          <p:cNvSpPr/>
          <p:nvPr/>
        </p:nvSpPr>
        <p:spPr>
          <a:xfrm>
            <a:off x="1779240" y="5107335"/>
            <a:ext cx="3534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niǎo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831031" y="5374035"/>
            <a:ext cx="243039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bird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3397151" y="4380458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4448026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羊</a:t>
            </a:r>
            <a:endParaRPr lang="en-US" sz="4200" dirty="0"/>
          </a:p>
        </p:txBody>
      </p:sp>
      <p:sp>
        <p:nvSpPr>
          <p:cNvPr id="47" name="Text 45"/>
          <p:cNvSpPr/>
          <p:nvPr/>
        </p:nvSpPr>
        <p:spPr>
          <a:xfrm>
            <a:off x="4520357" y="5107335"/>
            <a:ext cx="3966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yáng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529524" y="5374035"/>
            <a:ext cx="37040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sheep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159401" y="4380458"/>
            <a:ext cx="2635300" cy="1330077"/>
          </a:xfrm>
          <a:prstGeom prst="roundRect">
            <a:avLst>
              <a:gd name="adj" fmla="val 9548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7210276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</a:t>
            </a:r>
            <a:endParaRPr lang="en-US" sz="4200" dirty="0"/>
          </a:p>
        </p:txBody>
      </p:sp>
      <p:sp>
        <p:nvSpPr>
          <p:cNvPr id="51" name="Text 49"/>
          <p:cNvSpPr/>
          <p:nvPr/>
        </p:nvSpPr>
        <p:spPr>
          <a:xfrm>
            <a:off x="7366695" y="5107335"/>
            <a:ext cx="2249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jīn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7074085" y="5374035"/>
            <a:ext cx="8059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now; present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921651" y="4380458"/>
            <a:ext cx="2635448" cy="1330077"/>
          </a:xfrm>
          <a:prstGeom prst="roundRect">
            <a:avLst>
              <a:gd name="adj" fmla="val 9548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9972675" y="4535835"/>
            <a:ext cx="544068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天</a:t>
            </a:r>
            <a:endParaRPr lang="en-US" sz="4200" dirty="0"/>
          </a:p>
        </p:txBody>
      </p:sp>
      <p:sp>
        <p:nvSpPr>
          <p:cNvPr id="55" name="Text 53"/>
          <p:cNvSpPr/>
          <p:nvPr/>
        </p:nvSpPr>
        <p:spPr>
          <a:xfrm>
            <a:off x="10085784" y="5107335"/>
            <a:ext cx="3133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tiān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9984647" y="5374035"/>
            <a:ext cx="50945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day; sky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634901" y="5812036"/>
            <a:ext cx="10922198" cy="614363"/>
          </a:xfrm>
          <a:prstGeom prst="roundRect">
            <a:avLst>
              <a:gd name="adj" fmla="val 16538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857101" y="5981105"/>
            <a:ext cx="21374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💡</a:t>
            </a:r>
            <a:endParaRPr lang="en-US" sz="1500" dirty="0"/>
          </a:p>
        </p:txBody>
      </p:sp>
      <p:sp>
        <p:nvSpPr>
          <p:cNvPr id="59" name="Text 57"/>
          <p:cNvSpPr/>
          <p:nvPr/>
        </p:nvSpPr>
        <p:spPr>
          <a:xfrm>
            <a:off x="1193602" y="5932587"/>
            <a:ext cx="1034412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Teacher: 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"今天" — 你们已经认识这两个字放在一起的意思：today! Keep the explanation brief — these are component characters for a memory game, not vocabulary taught in depth.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335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Measure Word Refresher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143000" y="609451"/>
            <a:ext cx="1010412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量词复习 · Measure Word Refresher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1139577"/>
            <a:ext cx="101041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5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This is a review of general measure words from across the year, not new teaching.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43000" y="1482328"/>
            <a:ext cx="9906000" cy="4950619"/>
          </a:xfrm>
          <a:prstGeom prst="roundRect">
            <a:avLst>
              <a:gd name="adj" fmla="val 2052"/>
            </a:avLst>
          </a:prstGeom>
          <a:noFill/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52525" y="1491853"/>
            <a:ext cx="9886950" cy="288727"/>
          </a:xfrm>
          <a:prstGeom prst="roundRect">
            <a:avLst>
              <a:gd name="adj" fmla="val 30790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381125" y="1555254"/>
            <a:ext cx="90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量词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473226" y="1555254"/>
            <a:ext cx="142483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拼音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073277" y="1555254"/>
            <a:ext cx="68723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USED FOR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152525" y="1785342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81125" y="185350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473226" y="189160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gè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73277" y="189160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default (general)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52525" y="2202656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1152525" y="2207419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81125" y="227558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幢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473226" y="2313682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zhuàng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73277" y="2313682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buildings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52525" y="2629495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81125" y="2697659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层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2473226" y="2735759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céng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73277" y="2735759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floors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52525" y="3046809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1152525" y="3051572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381125" y="311973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楼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473226" y="315783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lóu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73277" y="315783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floors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152525" y="3473648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381125" y="3541812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本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2473226" y="3579912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běn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073277" y="3579912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books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52525" y="3890962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1152525" y="3895725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81125" y="3963888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支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2473226" y="400198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zhī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073277" y="4001988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1152525" y="4317802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381125" y="438596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2473226" y="442406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zhāng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073277" y="442406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flat objects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152525" y="4735116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1152525" y="4739878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381125" y="4808041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双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2473226" y="4846141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shuāng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073277" y="4846141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pairs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152525" y="5161955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381125" y="5230118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件</a:t>
            </a:r>
            <a:endParaRPr lang="en-US" sz="1600" dirty="0"/>
          </a:p>
        </p:txBody>
      </p:sp>
      <p:sp>
        <p:nvSpPr>
          <p:cNvPr id="52" name="Text 50"/>
          <p:cNvSpPr/>
          <p:nvPr/>
        </p:nvSpPr>
        <p:spPr>
          <a:xfrm>
            <a:off x="2473226" y="5268218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jiàn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073277" y="5268218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clothing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52525" y="5579269"/>
            <a:ext cx="9886950" cy="422077"/>
          </a:xfrm>
          <a:prstGeom prst="rect">
            <a:avLst/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1152525" y="5584031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381125" y="5652195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endParaRPr lang="en-US" sz="1600" dirty="0"/>
          </a:p>
        </p:txBody>
      </p:sp>
      <p:sp>
        <p:nvSpPr>
          <p:cNvPr id="57" name="Text 55"/>
          <p:cNvSpPr/>
          <p:nvPr/>
        </p:nvSpPr>
        <p:spPr>
          <a:xfrm>
            <a:off x="2473226" y="5690295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wèi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4073277" y="5690295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people (polite)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152525" y="6006108"/>
            <a:ext cx="988695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81125" y="6074271"/>
            <a:ext cx="90672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只</a:t>
            </a:r>
            <a:endParaRPr lang="en-US" sz="1600" dirty="0"/>
          </a:p>
        </p:txBody>
      </p:sp>
      <p:sp>
        <p:nvSpPr>
          <p:cNvPr id="61" name="Text 59"/>
          <p:cNvSpPr/>
          <p:nvPr/>
        </p:nvSpPr>
        <p:spPr>
          <a:xfrm>
            <a:off x="2473226" y="6112371"/>
            <a:ext cx="14248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zhī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073277" y="6112371"/>
            <a:ext cx="68723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animals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143000" y="6585198"/>
            <a:ext cx="9906000" cy="387251"/>
          </a:xfrm>
          <a:prstGeom prst="rect">
            <a:avLst/>
          </a:prstGeom>
          <a:solidFill>
            <a:srgbClr val="EAF4F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Shape 62"/>
          <p:cNvSpPr/>
          <p:nvPr/>
        </p:nvSpPr>
        <p:spPr>
          <a:xfrm>
            <a:off x="1166813" y="6585198"/>
            <a:ext cx="0" cy="387251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393775" y="6674048"/>
            <a:ext cx="964111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今天的游戏会用到这些量词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，还有一些新的名词。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941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Checkpoints · 10–20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34901" y="660202"/>
            <a:ext cx="11140642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检查理解 · CFU Checkpoints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4901" y="1266527"/>
            <a:ext cx="3505200" cy="5134421"/>
          </a:xfrm>
          <a:prstGeom prst="roundRect">
            <a:avLst>
              <a:gd name="adj" fmla="val 5072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57101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997595" y="1552129"/>
            <a:ext cx="759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57101" y="1945779"/>
            <a:ext cx="31220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CHORAL · CHARACTER RECALL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57101" y="2209205"/>
            <a:ext cx="31220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米 · 田 · 鸟 · 天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57101" y="2615505"/>
            <a:ext cx="3122015" cy="607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points to 米, 田, 鸟, and 天 on the projector (no pinyin shown), one at a time. Class calls out the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together.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43251" y="1266527"/>
            <a:ext cx="3505349" cy="5134421"/>
          </a:xfrm>
          <a:prstGeom prst="roundRect">
            <a:avLst>
              <a:gd name="adj" fmla="val 5072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65452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2E7D6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691063" y="1552129"/>
            <a:ext cx="106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65452" y="1945779"/>
            <a:ext cx="31221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COLD CALL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65452" y="2209205"/>
            <a:ext cx="312216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 Quick Ask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565452" y="2615505"/>
            <a:ext cx="312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Sam, 一＿书？ </a:t>
            </a:r>
            <a:r>
              <a:rPr lang="en-US" sz="1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本！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65452" y="2945606"/>
            <a:ext cx="312216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Priya, 一＿铅笔？ </a:t>
            </a:r>
            <a:r>
              <a:rPr lang="en-US" sz="1300" b="1" dirty="0">
                <a:solidFill>
                  <a:srgbClr val="2E7D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→ 支！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051750" y="1266527"/>
            <a:ext cx="3505200" cy="5134421"/>
          </a:xfrm>
          <a:prstGeom prst="roundRect">
            <a:avLst>
              <a:gd name="adj" fmla="val 5072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273951" y="148872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399115" y="1552129"/>
            <a:ext cx="10732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73951" y="1945779"/>
            <a:ext cx="312201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73951" y="2209205"/>
            <a:ext cx="312201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哪个对？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8273951" y="2615505"/>
            <a:ext cx="3122015" cy="405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95"/>
              </a:lnSpc>
              <a:buNone/>
            </a:pP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projects: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一个猫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vs </a:t>
            </a:r>
            <a:r>
              <a:rPr lang="en-US" sz="110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一只猫</a:t>
            </a:r>
            <a:r>
              <a:rPr lang="en-US" sz="11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Every student points at the correct one.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273951" y="5826323"/>
            <a:ext cx="3060799" cy="352425"/>
          </a:xfrm>
          <a:prstGeom prst="roundRect">
            <a:avLst>
              <a:gd name="adj" fmla="val 28829"/>
            </a:avLst>
          </a:prstGeom>
          <a:noFill/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419951" y="5921573"/>
            <a:ext cx="282417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答案见下一张 · Answer on next slide →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18513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 Do · CFU Answers ↳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650950" y="1917799"/>
            <a:ext cx="906790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 REVEALED · 答案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650950" y="2232124"/>
            <a:ext cx="9067901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30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CFU Checkpoints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650950" y="3044875"/>
            <a:ext cx="8890099" cy="2047726"/>
          </a:xfrm>
          <a:prstGeom prst="roundRect">
            <a:avLst>
              <a:gd name="adj" fmla="val 8683"/>
            </a:avLst>
          </a:prstGeom>
          <a:solidFill>
            <a:srgbClr val="F4F2EE"/>
          </a:solidFill>
          <a:ln w="9525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990576" y="3333750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154734" y="3419475"/>
            <a:ext cx="131311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EFCF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701677" y="3333750"/>
            <a:ext cx="403633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Gesture Check — 哪个对？ </a:t>
            </a:r>
            <a:r>
              <a:rPr lang="en-US" sz="140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一个猫</a:t>
            </a:r>
            <a:r>
              <a:rPr lang="en-US" sz="14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vs 一只猫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01677" y="3708350"/>
            <a:ext cx="3957191" cy="1095375"/>
          </a:xfrm>
          <a:prstGeom prst="roundRect">
            <a:avLst>
              <a:gd name="adj" fmla="val 11594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974628" y="3879800"/>
            <a:ext cx="347951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✅ 一</a:t>
            </a:r>
            <a:r>
              <a:rPr lang="en-US" sz="2600" b="1" u="sng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只</a:t>
            </a:r>
            <a:r>
              <a:rPr lang="en-US" sz="26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猫！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974628" y="4422725"/>
            <a:ext cx="347951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个 → </a:t>
            </a:r>
            <a:r>
              <a:rPr lang="en-US" sz="12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</a:t>
            </a:r>
            <a:r>
              <a:rPr lang="en-US" sz="12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| 只 is the measure word for animals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04055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We Do · Act.4 听力理解一 · 20–28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84002"/>
            <a:ext cx="112441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20–28 MIN · WE DO · ACTIVITY 4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84150" y="837902"/>
            <a:ext cx="1124417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活动4 · 听力理解一 </a:t>
            </a:r>
            <a:r>
              <a:rPr lang="en-US" sz="13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(p.73, Track 30)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584150" y="1320403"/>
            <a:ext cx="6062514" cy="4438501"/>
          </a:xfrm>
          <a:prstGeom prst="roundRect">
            <a:avLst>
              <a:gd name="adj" fmla="val 3434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506141"/>
            <a:ext cx="199380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活动4 · Guided Listening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165973" y="1491853"/>
            <a:ext cx="1258491" cy="276225"/>
          </a:xfrm>
          <a:prstGeom prst="roundRect">
            <a:avLst>
              <a:gd name="adj" fmla="val 4593103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337423" y="1549003"/>
            <a:ext cx="9339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Track 30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6351" y="1856929"/>
            <a:ext cx="5618113" cy="1017091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6-row answer grid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in your exercise book (label rows 1–6)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plays item 1, pauses, and models the process aloud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Items 2–6 played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one at a time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pause briefly after each to tick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Full track replayed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more, no pausing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check your answers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on projector —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6351" y="2962870"/>
            <a:ext cx="573047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教师示范 · TEACHER MODEL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6351" y="3143845"/>
            <a:ext cx="5618113" cy="400050"/>
          </a:xfrm>
          <a:prstGeom prst="rect">
            <a:avLst/>
          </a:prstGeom>
          <a:solidFill>
            <a:srgbClr val="EAF0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30163" y="3143845"/>
            <a:ext cx="0" cy="400050"/>
          </a:xfrm>
          <a:prstGeom prst="line">
            <a:avLst/>
          </a:prstGeom>
          <a:noFill/>
          <a:ln w="47625">
            <a:solidFill>
              <a:srgbClr val="3A5F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1677" y="3220045"/>
            <a:ext cx="531938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我听到了＿，所以我选＿。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26014" y="1320403"/>
            <a:ext cx="4681835" cy="884188"/>
          </a:xfrm>
          <a:prstGeom prst="roundRect">
            <a:avLst>
              <a:gd name="adj" fmla="val 14363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148215" y="1479054"/>
            <a:ext cx="4322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WHAT YOU'RE LISTENING FOR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148215" y="1672679"/>
            <a:ext cx="432218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Six items about 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school layout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descriptions of where places are located around the school.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926014" y="2306092"/>
            <a:ext cx="4681835" cy="884188"/>
          </a:xfrm>
          <a:prstGeom prst="roundRect">
            <a:avLst>
              <a:gd name="adj" fmla="val 14363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148215" y="2464743"/>
            <a:ext cx="432218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CHECK &amp; SELF-MARK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148215" y="2658368"/>
            <a:ext cx="4322183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ticks all 6 items </a:t>
            </a:r>
            <a:r>
              <a:rPr lang="en-US" sz="10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independently</a:t>
            </a:r>
            <a:r>
              <a:rPr lang="en-US" sz="10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before answers are revealed on the projector.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84150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6550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1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36550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Every student ticks all 6 items independently before answers are revealed.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300984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453384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453384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Pause the audio after every item (not just the first) for students needing extra time.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17818" y="5860405"/>
            <a:ext cx="3590032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8170218" y="5949255"/>
            <a:ext cx="33509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8170218" y="6107906"/>
            <a:ext cx="3350937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After self-marking, write one full sentence summarising one of the 6 items.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26984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Act.10 听力理解二 + 量词小测 · 28–35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C96A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84150" y="584002"/>
            <a:ext cx="112441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28–35 MIN · YOU DO · ACTIVITY 10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84150" y="837902"/>
            <a:ext cx="11244173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活动10 · 听力理解二 + 量词小测 </a:t>
            </a:r>
            <a:r>
              <a:rPr lang="en-US" sz="125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(p.78, Track 32)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84150" y="1291828"/>
            <a:ext cx="5372100" cy="4467076"/>
          </a:xfrm>
          <a:prstGeom prst="roundRect">
            <a:avLst>
              <a:gd name="adj" fmla="val 3412"/>
            </a:avLst>
          </a:prstGeom>
          <a:solidFill>
            <a:srgbClr val="F4F2EE"/>
          </a:solidFill>
          <a:ln w="19050">
            <a:solidFill>
              <a:srgbClr val="E2DD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06351" y="1487091"/>
            <a:ext cx="22816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活动10 · Independent Listening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24077" y="1463278"/>
            <a:ext cx="1209973" cy="276225"/>
          </a:xfrm>
          <a:prstGeom prst="roundRect">
            <a:avLst>
              <a:gd name="adj" fmla="val 4593103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95527" y="1520428"/>
            <a:ext cx="8844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▶ Track 32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06351" y="1828354"/>
            <a:ext cx="4927699" cy="803523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Draw a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fresh 6-row answer grid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6 items about building locations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track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straight through once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, no pausing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once more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for checking</a:t>
            </a:r>
            <a:endParaRPr lang="en-US" sz="950" dirty="0"/>
          </a:p>
          <a:p>
            <a:pPr algn="l" marL="88900" indent="-88900">
              <a:lnSpc>
                <a:spcPts val="1283"/>
              </a:lnSpc>
              <a:buSzPct val="100000"/>
              <a:buChar char="•"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—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self-mark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35601" y="1291828"/>
            <a:ext cx="5372249" cy="4467076"/>
          </a:xfrm>
          <a:prstGeom prst="roundRect">
            <a:avLst>
              <a:gd name="adj" fmla="val 3412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457801" y="1468041"/>
            <a:ext cx="23241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量词小测 · Measure Word Quiz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758934" y="1463278"/>
            <a:ext cx="626715" cy="238125"/>
          </a:xfrm>
          <a:prstGeom prst="roundRect">
            <a:avLst>
              <a:gd name="adj" fmla="val 5328000"/>
            </a:avLst>
          </a:prstGeom>
          <a:solidFill>
            <a:srgbClr val="D9EEE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911334" y="1501378"/>
            <a:ext cx="32835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min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57801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629251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232452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403902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07102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8178552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781752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953202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汽车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556403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9727853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331053" y="1790254"/>
            <a:ext cx="698450" cy="387251"/>
          </a:xfrm>
          <a:prstGeom prst="roundRect">
            <a:avLst>
              <a:gd name="adj" fmla="val 26236"/>
            </a:avLst>
          </a:prstGeom>
          <a:solidFill>
            <a:srgbClr val="FEFCF7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10502503" y="1860054"/>
            <a:ext cx="36266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项链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57801" y="2266355"/>
            <a:ext cx="502640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Write the correct measure word for each noun in your exercise book.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457801" y="2517130"/>
            <a:ext cx="4927848" cy="672852"/>
          </a:xfrm>
          <a:prstGeom prst="roundRect">
            <a:avLst>
              <a:gd name="adj" fmla="val 15100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603802" y="2612380"/>
            <a:ext cx="47285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75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 WORD BANK (SCRAMBLED)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6603802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749802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11603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257604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619405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765405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127206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273207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条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35008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8781008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架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142809" y="2796480"/>
            <a:ext cx="444401" cy="298252"/>
          </a:xfrm>
          <a:prstGeom prst="roundRect">
            <a:avLst>
              <a:gd name="adj" fmla="val 21291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288810" y="2840831"/>
            <a:ext cx="1554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E5C6E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84150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736550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OTR 2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6550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students complete the listening grid and measure-word quiz independently.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4300984" y="5860405"/>
            <a:ext cx="3589883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4453384" y="5949255"/>
            <a:ext cx="33507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4453384" y="6107906"/>
            <a:ext cx="3350785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the scrambled word bank alongside the nouns so students match rather than recall.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8017818" y="5860405"/>
            <a:ext cx="3590032" cy="616744"/>
          </a:xfrm>
          <a:prstGeom prst="roundRect">
            <a:avLst>
              <a:gd name="adj" fmla="val 16474"/>
            </a:avLst>
          </a:prstGeom>
          <a:solidFill>
            <a:srgbClr val="F4F2E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170218" y="5949255"/>
            <a:ext cx="335093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170218" y="6107906"/>
            <a:ext cx="3350937" cy="28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05"/>
              </a:lnSpc>
              <a:buNone/>
            </a:pPr>
            <a:r>
              <a:rPr lang="en-US" sz="8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Complete without the word bank; add one more noun + measure word pair of your own.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5661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You Do · 量词小测 Answers ↳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B87A3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396901" y="1905149"/>
            <a:ext cx="95861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ANSWERS REVEALED · 答案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396901" y="2244775"/>
            <a:ext cx="958616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答案 · Measure Word Quiz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96901" y="3003500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216051" y="3282851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帽子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901851" y="334476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19301" y="3225701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顶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97301" y="3003500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416451" y="3282851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钢琴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102251" y="334476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701" y="3225701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架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797701" y="3003500"/>
            <a:ext cx="2997398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616851" y="3282851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桌子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02651" y="3344763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620101" y="3225701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张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1396901" y="4155877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216051" y="443522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汽车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901851" y="449713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219301" y="4378077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辆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597301" y="4155877"/>
            <a:ext cx="2997250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16451" y="443522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老师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102251" y="449713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419701" y="4378077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位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7797701" y="4155877"/>
            <a:ext cx="2997398" cy="949226"/>
          </a:xfrm>
          <a:prstGeom prst="roundRect">
            <a:avLst>
              <a:gd name="adj" fmla="val 1605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8616851" y="4435227"/>
            <a:ext cx="570027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项链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9302651" y="4497139"/>
            <a:ext cx="1943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620101" y="4378077"/>
            <a:ext cx="362813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B87A30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条</a:t>
            </a:r>
            <a:endParaRPr lang="en-US" sz="280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8996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 · 十二字记忆挑战 · 35–43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7955" y="558701"/>
            <a:ext cx="1129609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十二字记忆挑战！Character Memory Challenge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58701" y="1060252"/>
            <a:ext cx="3573066" cy="4773960"/>
          </a:xfrm>
          <a:prstGeom prst="roundRect">
            <a:avLst>
              <a:gd name="adj" fmla="val 4265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55452" y="1218902"/>
            <a:ext cx="3243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PHASE 1 · 2 MIN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5452" y="1437977"/>
            <a:ext cx="32431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小组学习 · Group Study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5452" y="1761827"/>
            <a:ext cx="3243155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Display all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12 characters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(same table from I Do). Study silently — may re-trace in exercise books.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55452" y="2226618"/>
            <a:ext cx="3243155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米豆果瓜角田食虫鸟羊今天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309467" y="1060252"/>
            <a:ext cx="3573066" cy="4773960"/>
          </a:xfrm>
          <a:prstGeom prst="roundRect">
            <a:avLst>
              <a:gd name="adj" fmla="val 4265"/>
            </a:avLst>
          </a:prstGeom>
          <a:solidFill>
            <a:srgbClr val="F4F2EE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06218" y="1218902"/>
            <a:ext cx="3243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PHASE 2 · 1 MIN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506218" y="1437977"/>
            <a:ext cx="32431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默写 · Hide &amp; Recall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74422" y="1838027"/>
            <a:ext cx="3243155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600"/>
              </a:spcBef>
              <a:spcAft>
                <a:spcPts val="600"/>
              </a:spcAft>
              <a:buNone/>
            </a:pPr>
            <a:r>
              <a:rPr lang="en-US" sz="4000" b="1" dirty="0">
                <a:solidFill>
                  <a:srgbClr val="CFC9BF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？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4474422" y="2704802"/>
            <a:ext cx="3243155" cy="33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30"/>
              </a:lnSpc>
              <a:buNone/>
            </a:pP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All characters hidden.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Write as many of the 12 as you remember — characters only, no talking.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060234" y="1060252"/>
            <a:ext cx="3573066" cy="4773960"/>
          </a:xfrm>
          <a:prstGeom prst="roundRect">
            <a:avLst>
              <a:gd name="adj" fmla="val 4265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56984" y="1218902"/>
            <a:ext cx="324315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PHASE 3 · 5 MIN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56984" y="1437977"/>
            <a:ext cx="324315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Team Challenge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56984" y="1761827"/>
            <a:ext cx="3243155" cy="506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30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projects one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pinyin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at a time with </a:t>
            </a:r>
            <a:r>
              <a:rPr lang="en-US" sz="950" b="1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5-sec countdown</a:t>
            </a: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. All write the character; hold up books. ✓ = 1 point. Reveal 汉字, play all 12.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900815" y="2395538"/>
            <a:ext cx="679252" cy="723900"/>
          </a:xfrm>
          <a:prstGeom prst="roundRect">
            <a:avLst>
              <a:gd name="adj" fmla="val 14958"/>
            </a:avLst>
          </a:prstGeom>
          <a:solidFill>
            <a:srgbClr val="FEFCF7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094708" y="2490788"/>
            <a:ext cx="29146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LEFT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094708" y="2633663"/>
            <a:ext cx="29146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707017" y="2633663"/>
            <a:ext cx="21070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695A4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VS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040541" y="2395538"/>
            <a:ext cx="752177" cy="723900"/>
          </a:xfrm>
          <a:prstGeom prst="roundRect">
            <a:avLst>
              <a:gd name="adj" fmla="val 14035"/>
            </a:avLst>
          </a:prstGeom>
          <a:solidFill>
            <a:srgbClr val="FEFCF7"/>
          </a:solidFill>
          <a:ln w="19050">
            <a:solidFill>
              <a:srgbClr val="CFC9B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10233705" y="2490788"/>
            <a:ext cx="36584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RIGHT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233705" y="2633663"/>
            <a:ext cx="365849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5F8A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—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58701" y="5935712"/>
            <a:ext cx="5461099" cy="541437"/>
          </a:xfrm>
          <a:prstGeom prst="roundRect">
            <a:avLst>
              <a:gd name="adj" fmla="val 18765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55452" y="6043613"/>
            <a:ext cx="5168950" cy="1628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Scaffold: In Phase 3, students may refer to their Phase 1 tracing notes.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72200" y="5935712"/>
            <a:ext cx="5461099" cy="541437"/>
          </a:xfrm>
          <a:prstGeom prst="roundRect">
            <a:avLst>
              <a:gd name="adj" fmla="val 18765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368951" y="6043613"/>
            <a:ext cx="5168950" cy="32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B87A30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Extension: After writing the character, whisper the English gloss to a partner for a bonus point.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1538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7950" y="126950"/>
            <a:ext cx="86149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L6 · 听力·汉字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1466850" y="128588"/>
            <a:ext cx="12650" cy="139601"/>
          </a:xfrm>
          <a:prstGeom prst="rect">
            <a:avLst/>
          </a:prstGeom>
          <a:solidFill>
            <a:srgbClr val="E2DD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593800" y="126950"/>
            <a:ext cx="109542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Plenary · 43–50 min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07950" y="0"/>
            <a:ext cx="11176099" cy="38100"/>
          </a:xfrm>
          <a:prstGeom prst="rect">
            <a:avLst/>
          </a:prstGeom>
          <a:solidFill>
            <a:srgbClr val="3A5F8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11101" y="634901"/>
            <a:ext cx="10985194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总结 · Wrap-Up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11101" y="1225451"/>
            <a:ext cx="5257949" cy="5200948"/>
          </a:xfrm>
          <a:prstGeom prst="roundRect">
            <a:avLst>
              <a:gd name="adj" fmla="val 3419"/>
            </a:avLst>
          </a:prstGeom>
          <a:solidFill>
            <a:srgbClr val="EAF0F6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58751" y="1422202"/>
            <a:ext cx="48579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REVISIT SUCCESS CRITERIA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58751" y="1723727"/>
            <a:ext cx="48579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Hold up fingers: 3 = 完全可以 · 2 = 差不多 · 1 = 还不行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58751" y="204236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029146" y="2072432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200001" y="204236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270248" y="2072432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441252" y="2042368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521619" y="2072432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745903" y="1987153"/>
            <a:ext cx="4055007" cy="313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Listen to a description of school locations and tick the correct answer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58751" y="238973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29146" y="2419796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200001" y="238973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270248" y="2419796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441252" y="2389733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21619" y="2419796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745903" y="2412802"/>
            <a:ext cx="3294617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Match at least six nouns to their correct measure word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58751" y="268173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1029146" y="2711797"/>
            <a:ext cx="634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200001" y="268173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BF3E7"/>
          </a:solidFill>
          <a:ln w="19050">
            <a:solidFill>
              <a:srgbClr val="B87A3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1270248" y="2711797"/>
            <a:ext cx="6375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1252" y="2681734"/>
            <a:ext cx="203150" cy="203150"/>
          </a:xfrm>
          <a:prstGeom prst="roundRect">
            <a:avLst>
              <a:gd name="adj" fmla="val 450111"/>
            </a:avLst>
          </a:prstGeom>
          <a:solidFill>
            <a:srgbClr val="F7ECE9"/>
          </a:solidFill>
          <a:ln w="19050">
            <a:solidFill>
              <a:srgbClr val="C96A5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521619" y="2711797"/>
            <a:ext cx="4326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745903" y="2704802"/>
            <a:ext cx="3965594" cy="156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5"/>
              </a:lnSpc>
              <a:buNone/>
            </a:pPr>
            <a:r>
              <a:rPr lang="en-US" sz="9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Recognise and write all twelve of today's characters from memory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58751" y="2991148"/>
            <a:ext cx="4762649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8751" y="3097411"/>
            <a:ext cx="4857902" cy="302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note:</a:t>
            </a: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Note any students showing 1 finger on criterion 3 (characters) for extra practice next lesson.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222950" y="1225451"/>
            <a:ext cx="5257949" cy="5200948"/>
          </a:xfrm>
          <a:prstGeom prst="roundRect">
            <a:avLst>
              <a:gd name="adj" fmla="val 3419"/>
            </a:avLst>
          </a:prstGeom>
          <a:solidFill>
            <a:srgbClr val="EAF4F1"/>
          </a:solidFill>
          <a:ln w="19050">
            <a:solidFill>
              <a:srgbClr val="2E7D6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470600" y="1422202"/>
            <a:ext cx="48579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EXIT TICKET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470600" y="1723727"/>
            <a:ext cx="4762649" cy="795486"/>
          </a:xfrm>
          <a:prstGeom prst="rect">
            <a:avLst/>
          </a:prstGeom>
          <a:solidFill>
            <a:srgbClr val="FEFCF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494413" y="1723727"/>
            <a:ext cx="0" cy="795486"/>
          </a:xfrm>
          <a:prstGeom prst="line">
            <a:avLst/>
          </a:prstGeom>
          <a:noFill/>
          <a:ln w="47625">
            <a:solidFill>
              <a:srgbClr val="2E7D6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5926" y="1838027"/>
            <a:ext cx="44468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TASK — WRITE IN EXERCISE BOOK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695926" y="2031653"/>
            <a:ext cx="4446815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Teacher calls out two pinyin from today's character set. Write the correct 汉字 from memory.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470600" y="2620714"/>
            <a:ext cx="2317849" cy="799802"/>
          </a:xfrm>
          <a:prstGeom prst="roundRect">
            <a:avLst>
              <a:gd name="adj" fmla="val 12703"/>
            </a:avLst>
          </a:prstGeom>
          <a:solidFill>
            <a:srgbClr val="FEFCF7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570384" y="2741265"/>
            <a:ext cx="2118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A5F8A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guā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591151" y="3290441"/>
            <a:ext cx="2076748" cy="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915400" y="2620714"/>
            <a:ext cx="2317849" cy="799802"/>
          </a:xfrm>
          <a:prstGeom prst="roundRect">
            <a:avLst>
              <a:gd name="adj" fmla="val 12703"/>
            </a:avLst>
          </a:prstGeom>
          <a:solidFill>
            <a:srgbClr val="FEFCF7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9015183" y="2741265"/>
            <a:ext cx="21182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3A5F8A"/>
                </a:solidFill>
                <a:latin typeface="SF Mono" pitchFamily="34" charset="0"/>
                <a:ea typeface="SF Mono" pitchFamily="34" charset="-122"/>
                <a:cs typeface="SF Mono" pitchFamily="34" charset="-120"/>
              </a:rPr>
              <a:t>niǎo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9035951" y="3290441"/>
            <a:ext cx="2076748" cy="0"/>
          </a:xfrm>
          <a:prstGeom prst="line">
            <a:avLst/>
          </a:prstGeom>
          <a:noFill/>
          <a:ln w="19050">
            <a:solidFill>
              <a:srgbClr val="CFC9B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70600" y="3522018"/>
            <a:ext cx="4857902" cy="151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90"/>
              </a:lnSpc>
              <a:buNone/>
            </a:pPr>
            <a:r>
              <a:rPr lang="en-US" sz="850" b="1" dirty="0">
                <a:solidFill>
                  <a:srgbClr val="C96A5C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汉字 only</a:t>
            </a:r>
            <a:r>
              <a:rPr lang="en-US" sz="8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no pinyin. Quick individual check, collected at the door.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0" y="6608862"/>
            <a:ext cx="12192000" cy="0"/>
          </a:xfrm>
          <a:prstGeom prst="line">
            <a:avLst/>
          </a:prstGeom>
          <a:noFill/>
          <a:ln w="9525">
            <a:solidFill>
              <a:srgbClr val="E2DD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07950" y="6673900"/>
            <a:ext cx="128305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· Unit 3 学校设施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EF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66461" y="1380381"/>
            <a:ext cx="205907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1100" b="1" dirty="0">
                <a:solidFill>
                  <a:srgbClr val="2E7D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LESSON 6 COMPLETE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809393" y="1732806"/>
            <a:ext cx="573215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400" dirty="0">
                <a:solidFill>
                  <a:srgbClr val="1A2535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✅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3747735" y="2666256"/>
            <a:ext cx="4696382" cy="504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28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今天学了 · What We Covered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144220" y="3272582"/>
            <a:ext cx="790355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0"/>
              </a:lnSpc>
              <a:spcAft>
                <a:spcPts val="2200"/>
              </a:spcAft>
              <a:buNone/>
            </a:pPr>
            <a:r>
              <a:rPr lang="en-US" sz="120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 listening comprehension tracks · measure word review · 12 new characters (米豆果瓜角田食虫鸟羊今天)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92400" y="3765203"/>
            <a:ext cx="7607201" cy="1293168"/>
          </a:xfrm>
          <a:prstGeom prst="roundRect">
            <a:avLst>
              <a:gd name="adj" fmla="val 13749"/>
            </a:avLst>
          </a:prstGeom>
          <a:solidFill>
            <a:srgbClr val="F4F2EE"/>
          </a:solidFill>
          <a:ln w="19050">
            <a:solidFill>
              <a:srgbClr val="3A5F8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598420" y="3987403"/>
            <a:ext cx="69951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000" b="1" dirty="0">
                <a:solidFill>
                  <a:srgbClr val="3A5F8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下一课 · NEXT LESSON (L7)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598420" y="4269879"/>
            <a:ext cx="699516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25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A2535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下一课，我们要玩一个部首比赛，还要看城市地图，学怎么重新设计自己的城市！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98420" y="4631829"/>
            <a:ext cx="6995160" cy="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10"/>
              </a:lnSpc>
              <a:buNone/>
            </a:pPr>
            <a:r>
              <a:rPr lang="en-US" sz="1150" dirty="0">
                <a:solidFill>
                  <a:srgbClr val="4E5C6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Next lesson: a radicals competition, plus city maps — redesigning your own city!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028940" y="5286970"/>
            <a:ext cx="61339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695A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Y9 Chinese  ·  Unit 3 · 听力·汉字  ·  Lesson 6 of 8  ·  轻松学中文 Book 3 · p.73, 77–78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2026-07-18T06:19:35Z</dcterms:created>
  <dcterms:modified xsi:type="dcterms:W3CDTF">2026-07-18T06:19:35Z</dcterms:modified>
</cp:coreProperties>
</file>