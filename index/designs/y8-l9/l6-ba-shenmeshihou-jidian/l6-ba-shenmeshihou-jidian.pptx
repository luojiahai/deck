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650950"/>
            <a:ext cx="1243584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-121920" y="1905000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Y8 UNIT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-121920" y="2282726"/>
            <a:ext cx="12435840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6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爱好·舞蹈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-121920" y="3492401"/>
            <a:ext cx="124358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 + 什么时候 vs 几点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-121920" y="4127302"/>
            <a:ext cx="124358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· 50 mins · Grammar + Writing · 轻松学中文 Book 2 · Unit 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87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711101"/>
            <a:ext cx="12191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888950"/>
            <a:ext cx="4023128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5 Vocabulary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498550"/>
            <a:ext cx="5079950" cy="2412950"/>
          </a:xfrm>
          <a:prstGeom prst="roundRect">
            <a:avLst>
              <a:gd name="adj" fmla="val 526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4675" y="1711226"/>
            <a:ext cx="47476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MINI-WHITEBOARD QUICK QUIZ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4675" y="2000101"/>
            <a:ext cx="4654600" cy="10412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writes the prompt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你在干什么呢？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a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full-sentence answer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using different vocabulary each round</a:t>
            </a:r>
            <a:endParaRPr lang="en-US" sz="1100" dirty="0"/>
          </a:p>
          <a:p>
            <a:pPr algn="l" marL="88900" indent="-88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Repeat for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rounds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hold up whiteboards each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22950" y="1498550"/>
            <a:ext cx="53110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(LESSON 5)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22950" y="1828651"/>
            <a:ext cx="2412950" cy="711101"/>
          </a:xfrm>
          <a:prstGeom prst="roundRect">
            <a:avLst>
              <a:gd name="adj" fmla="val 1428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84875" y="1939677"/>
            <a:ext cx="21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4875" y="2168277"/>
            <a:ext cx="2130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doing what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889950" y="1828651"/>
            <a:ext cx="2412950" cy="711101"/>
          </a:xfrm>
          <a:prstGeom prst="roundRect">
            <a:avLst>
              <a:gd name="adj" fmla="val 1428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51875" y="1939677"/>
            <a:ext cx="21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51875" y="2168277"/>
            <a:ext cx="2130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homework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222950" y="2666851"/>
            <a:ext cx="2412950" cy="711101"/>
          </a:xfrm>
          <a:prstGeom prst="roundRect">
            <a:avLst>
              <a:gd name="adj" fmla="val 1428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84875" y="2777877"/>
            <a:ext cx="21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电脑游戏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84875" y="3006477"/>
            <a:ext cx="2130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computer game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889950" y="2666851"/>
            <a:ext cx="2412950" cy="711101"/>
          </a:xfrm>
          <a:prstGeom prst="roundRect">
            <a:avLst>
              <a:gd name="adj" fmla="val 14288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51875" y="2777877"/>
            <a:ext cx="213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51875" y="3006477"/>
            <a:ext cx="21308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222950" y="3505051"/>
            <a:ext cx="5206901" cy="406301"/>
          </a:xfrm>
          <a:prstGeom prst="roundRect">
            <a:avLst>
              <a:gd name="adj" fmla="val 25006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84875" y="3577977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在……呢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4875" y="3806577"/>
            <a:ext cx="49807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process of (doing)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62000" y="4317950"/>
            <a:ext cx="10668000" cy="723900"/>
          </a:xfrm>
          <a:prstGeom prst="rect">
            <a:avLst/>
          </a:prstGeom>
          <a:solidFill>
            <a:srgbClr val="F1E4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76288" y="4317950"/>
            <a:ext cx="0" cy="7239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9175" y="4470350"/>
            <a:ext cx="103858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can now say what you're doing right now. Today you'll read a real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phone conversation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where one friend invites another to play basketball — and learn how to make that kind of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suggestion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yourself."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872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812750"/>
            <a:ext cx="24074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990600"/>
            <a:ext cx="366684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600200"/>
            <a:ext cx="10413950" cy="727025"/>
          </a:xfrm>
          <a:prstGeom prst="rect">
            <a:avLst/>
          </a:prstGeom>
          <a:solidFill>
            <a:srgbClr val="F1E4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03238" y="1600200"/>
            <a:ext cx="0" cy="727025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0676" y="1752600"/>
            <a:ext cx="101786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20676" y="1927175"/>
            <a:ext cx="101786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suggestions using 吧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ask "when" correctly using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 or 几点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8950" y="2539901"/>
            <a:ext cx="45720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94094" y="2549426"/>
            <a:ext cx="4469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73101" y="2616101"/>
            <a:ext cx="9974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Text 2 dialogue </a:t>
            </a:r>
            <a:r>
              <a:rPr lang="en-US" sz="10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(读懂课文二对话)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950" y="3174950"/>
            <a:ext cx="45720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4094" y="3184475"/>
            <a:ext cx="4469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73101" y="3251150"/>
            <a:ext cx="9974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a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suggestion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我们一起去打篮球吧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8950" y="3810000"/>
            <a:ext cx="457200" cy="4572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94094" y="3819525"/>
            <a:ext cx="4469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73101" y="3886200"/>
            <a:ext cx="9974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choose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depending on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what's being asked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720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711101"/>
            <a:ext cx="1141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4901" y="888950"/>
            <a:ext cx="30837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34901" y="1498550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127" y="1609576"/>
            <a:ext cx="31156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127" y="1962001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127" y="2114401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particle: suggestion / proposal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54401" y="1498550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41627" y="1609576"/>
            <a:ext cx="31156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41627" y="1876276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shenme shihou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41627" y="2028676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when; at what time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73901" y="1498550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61127" y="1609576"/>
            <a:ext cx="31156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61127" y="1962001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061127" y="2114401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agree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4901" y="2387501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127" y="2498527"/>
            <a:ext cx="31156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127" y="28509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127" y="30033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can; fine; may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54401" y="2387501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41627" y="2498527"/>
            <a:ext cx="31156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场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441627" y="28509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41627" y="30033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place for activities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73901" y="2387501"/>
            <a:ext cx="3429000" cy="762000"/>
          </a:xfrm>
          <a:prstGeom prst="roundRect">
            <a:avLst>
              <a:gd name="adj" fmla="val 1666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61127" y="2498527"/>
            <a:ext cx="31156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球场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061127" y="28509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qiuchang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061127" y="3003352"/>
            <a:ext cx="31156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court / ground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4901" y="3429000"/>
            <a:ext cx="10668000" cy="727025"/>
          </a:xfrm>
          <a:prstGeom prst="roundRect">
            <a:avLst>
              <a:gd name="adj" fmla="val 13975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73026" y="3590925"/>
            <a:ext cx="10395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(ball) +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(place) → </a:t>
            </a:r>
            <a:r>
              <a:rPr lang="en-US" sz="11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球场</a:t>
            </a:r>
            <a:r>
              <a:rPr lang="en-US" sz="11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"ball-place" = sports court/ground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3026" y="3841700"/>
            <a:ext cx="1039558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 (agree) is the root of 可以 (keyi) — 可以 alone answers "yes, that's fine."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4722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· 课文二 · I Do / We Do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5401" y="660350"/>
            <a:ext cx="17286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TEXT PRESENTATION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5401" y="812750"/>
            <a:ext cx="1830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· 课文二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32950" y="838200"/>
            <a:ext cx="1333500" cy="253901"/>
          </a:xfrm>
          <a:prstGeom prst="roundRect">
            <a:avLst>
              <a:gd name="adj" fmla="val 50019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29331" y="847725"/>
            <a:ext cx="1340739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CD Track 44 · p.84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825401" y="119375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6427" y="126667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4269" y="126667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92126" y="1254026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你好！大生在家吗？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92126" y="1457176"/>
            <a:ext cx="12602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 hao! Dasheng zai jia ma?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25401" y="167640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36427" y="174932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4269" y="174932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92126" y="1736675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我就是。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92126" y="1939826"/>
            <a:ext cx="4402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 jiushi.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825401" y="2158901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6427" y="2231827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4269" y="2231827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92126" y="2219176"/>
            <a:ext cx="9970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你在干什么呢？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92126" y="2422327"/>
            <a:ext cx="9873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 zai ganshenme ne?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25401" y="264155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36427" y="271447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4269" y="271447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92126" y="2701826"/>
            <a:ext cx="24214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我在一边做作业一边玩儿电脑游戏呢。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92126" y="2904976"/>
            <a:ext cx="245149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 zai yibian zuo zuoye yibian wanr diannao youxi ne.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25401" y="312420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36427" y="319712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34269" y="319712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92126" y="3184475"/>
            <a:ext cx="142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我们一起去打篮球吧！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92126" y="3387626"/>
            <a:ext cx="128381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Women yiqi qu da lanqiu ba!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25401" y="3606701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936427" y="3679627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4269" y="3679627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92126" y="3666976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好。什么时候去？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292126" y="3870127"/>
            <a:ext cx="11140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Hao. Shenme shihou qu?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25401" y="408935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936427" y="416227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934269" y="416227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92126" y="4149626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下午四点，好吗？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292126" y="4352776"/>
            <a:ext cx="10404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Xiawu si dian, hao ma?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25401" y="4572000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36427" y="4644926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934269" y="4644926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92126" y="4632275"/>
            <a:ext cx="18517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可以。我们四点在球场上见！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292126" y="4835426"/>
            <a:ext cx="20414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Keyi. Women si dian zai qiuchang shang jian!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25401" y="5054501"/>
            <a:ext cx="10540901" cy="431750"/>
          </a:xfrm>
          <a:prstGeom prst="roundRect">
            <a:avLst>
              <a:gd name="adj" fmla="val 17649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36427" y="5127427"/>
            <a:ext cx="215801" cy="215801"/>
          </a:xfrm>
          <a:prstGeom prst="roundRect">
            <a:avLst>
              <a:gd name="adj" fmla="val 52965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34269" y="5127427"/>
            <a:ext cx="220117" cy="21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292126" y="5114776"/>
            <a:ext cx="11394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好吧。一会儿见！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292126" y="5317927"/>
            <a:ext cx="8654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Hao ba. Yihuir jian!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25401" y="5587901"/>
            <a:ext cx="39107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Listen, read aloud once → 2 Choral read together → 3 Pair read (roles A/B)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5839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 + Comparison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60350"/>
            <a:ext cx="11415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12750"/>
            <a:ext cx="40805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吧 + 什么时候 vs 几点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8950" y="1143000"/>
            <a:ext cx="383792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make a friendly suggestion — and ask "when" the right way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8950" y="1422350"/>
            <a:ext cx="2286000" cy="355550"/>
          </a:xfrm>
          <a:prstGeom prst="roundRect">
            <a:avLst>
              <a:gd name="adj" fmla="val 35719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521" y="1441400"/>
            <a:ext cx="22928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27350" y="1422350"/>
            <a:ext cx="1905000" cy="355550"/>
          </a:xfrm>
          <a:prstGeom prst="roundRect">
            <a:avLst>
              <a:gd name="adj" fmla="val 35719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27731" y="1441400"/>
            <a:ext cx="190423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……吧！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84750" y="1498550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1524000"/>
            <a:ext cx="15670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"Let's go … together!"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8950" y="1955750"/>
            <a:ext cx="10413950" cy="304800"/>
          </a:xfrm>
          <a:prstGeom prst="roundRect">
            <a:avLst>
              <a:gd name="adj" fmla="val 2500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2016026"/>
            <a:ext cx="1399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46877" y="2054126"/>
            <a:ext cx="3238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swimming together!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88950" y="2311301"/>
            <a:ext cx="10413950" cy="304800"/>
          </a:xfrm>
          <a:prstGeom prst="roundRect">
            <a:avLst>
              <a:gd name="adj" fmla="val 2500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76176" y="2371576"/>
            <a:ext cx="15544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46877" y="2409676"/>
            <a:ext cx="3238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play tennis together!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8950" y="2667000"/>
            <a:ext cx="10413950" cy="304800"/>
          </a:xfrm>
          <a:prstGeom prst="roundRect">
            <a:avLst>
              <a:gd name="adj" fmla="val 25000"/>
            </a:avLst>
          </a:prstGeom>
          <a:solidFill>
            <a:srgbClr val="FAEBE9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76176" y="2727275"/>
            <a:ext cx="16689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我们一起去打篮球。</a:t>
            </a:r>
            <a:r>
              <a:rPr lang="en-US" sz="7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no 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46877" y="2765375"/>
            <a:ext cx="32384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Without 吧 it's just a flat statement.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8950" y="3124200"/>
            <a:ext cx="2128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COMPARISON · 什么时候 VS 几点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88950" y="3327350"/>
            <a:ext cx="5079950" cy="1143000"/>
          </a:xfrm>
          <a:prstGeom prst="roundRect">
            <a:avLst>
              <a:gd name="adj" fmla="val 11111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01626" y="3463826"/>
            <a:ext cx="4747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 — ANY TIME FRAME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01626" y="3682901"/>
            <a:ext cx="47476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你什么时候去打篮球？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01626" y="3981301"/>
            <a:ext cx="4747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Can be answered "this afternoon" or "Saturday" — a day, part of day, or season.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22950" y="3327350"/>
            <a:ext cx="5079950" cy="1143000"/>
          </a:xfrm>
          <a:prstGeom prst="roundRect">
            <a:avLst>
              <a:gd name="adj" fmla="val 11111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35626" y="3463826"/>
            <a:ext cx="4747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 — CLOCK TIME ONLY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35626" y="3682901"/>
            <a:ext cx="47476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你几点去打篮球？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35626" y="3981301"/>
            <a:ext cx="47476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be answered with an hour, e.g. 四点 — never a day or season.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148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24000" y="838200"/>
            <a:ext cx="2369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24000" y="1015901"/>
            <a:ext cx="241050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24000" y="1498550"/>
            <a:ext cx="25280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24000" y="1905000"/>
            <a:ext cx="9144000" cy="965150"/>
          </a:xfrm>
          <a:prstGeom prst="roundRect">
            <a:avLst>
              <a:gd name="adj" fmla="val 131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11226" y="2117675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08432" y="2117675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3875" y="2066925"/>
            <a:ext cx="8419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 to a sentence — command or suggestion? </a:t>
            </a:r>
            <a:r>
              <a:rPr lang="en-US" sz="10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for suggestion.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3875" y="2574875"/>
            <a:ext cx="12610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24000" y="2997101"/>
            <a:ext cx="9144000" cy="965150"/>
          </a:xfrm>
          <a:prstGeom prst="roundRect">
            <a:avLst>
              <a:gd name="adj" fmla="val 131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11226" y="32097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08432" y="32097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3875" y="3159026"/>
            <a:ext cx="8419999" cy="21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question do I use to know the exact hour: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? </a:t>
            </a:r>
            <a:r>
              <a:rPr lang="en-US" sz="1000" b="1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93875" y="3666976"/>
            <a:ext cx="12610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24000" y="4089350"/>
            <a:ext cx="9144000" cy="965150"/>
          </a:xfrm>
          <a:prstGeom prst="roundRect">
            <a:avLst>
              <a:gd name="adj" fmla="val 1315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11226" y="43020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08432" y="43020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3875" y="4251275"/>
            <a:ext cx="841999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我们一起去打篮球呢！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 for a suggestion?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3875" y="4759226"/>
            <a:ext cx="12610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073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↷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24000" y="838200"/>
            <a:ext cx="18072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24000" y="1015901"/>
            <a:ext cx="223699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524000" y="1650950"/>
            <a:ext cx="9144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11226" y="183817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08432" y="183817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3875" y="1787426"/>
            <a:ext cx="8419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吧 do to a sentence?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3875" y="2016026"/>
            <a:ext cx="26029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 turns a statement into a suggestion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3875" y="2270075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 softens the sentence into a friendly invitation, not a command or a flat statement.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24000" y="2667000"/>
            <a:ext cx="9144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11226" y="2854226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08432" y="2854226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3875" y="2803475"/>
            <a:ext cx="8419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Which question asks for the exact hour?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3875" y="3032075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3875" y="3286125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 dian — 什么时候 can be answered with any time frame; 几点 must be a clock time.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24000" y="3682901"/>
            <a:ext cx="9144000" cy="1015901"/>
          </a:xfrm>
          <a:prstGeom prst="roundRect">
            <a:avLst>
              <a:gd name="adj" fmla="val 1250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11226" y="3870127"/>
            <a:ext cx="279350" cy="279350"/>
          </a:xfrm>
          <a:prstGeom prst="roundRect">
            <a:avLst>
              <a:gd name="adj" fmla="val 50009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08432" y="3870127"/>
            <a:ext cx="284937" cy="279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3875" y="3819376"/>
            <a:ext cx="8419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check: 我们一起去打篮球呢！ What's wrong?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93875" y="4047976"/>
            <a:ext cx="84199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 marks continuation, not a suggestion — should be 我们一起去打篮球吧！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3875" y="4403527"/>
            <a:ext cx="8419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吧 is the suggestion particle; 呢 only signals an ongoing action or a follow-up question.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871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43000" cy="253901"/>
          </a:xfrm>
          <a:prstGeom prst="roundRect">
            <a:avLst>
              <a:gd name="adj" fmla="val 5001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3471" y="634901"/>
            <a:ext cx="116586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939701"/>
            <a:ext cx="43010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 / 几点 Completion Worksheet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4901" y="1320701"/>
            <a:ext cx="110108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Fill each blank with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什么时候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</a:t>
            </a:r>
            <a:r>
              <a:rPr lang="en-US" sz="9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几点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based on the context clue. Items 1–2 modeled together, then continue independently.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4901" y="165095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17747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3895" y="177477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50727" y="1800076"/>
            <a:ext cx="9846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上课？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92426" y="1850975"/>
            <a:ext cx="8915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—下午两点。→几点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22950" y="165095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33976" y="17747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31945" y="177477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638776" y="1800076"/>
            <a:ext cx="1133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去打球？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280475" y="1850975"/>
            <a:ext cx="9908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—星期六。→什么时候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4901" y="228600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24098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895" y="240982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0727" y="2435126"/>
            <a:ext cx="1133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做作业？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92426" y="2486025"/>
            <a:ext cx="595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—晚上七点。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222950" y="228600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33976" y="24098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31945" y="240982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638776" y="2435126"/>
            <a:ext cx="1133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去游泳？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280475" y="2486025"/>
            <a:ext cx="496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—星期天。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4901" y="2920901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45927" y="3044726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3895" y="3044726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50727" y="3070027"/>
            <a:ext cx="9846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起床？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92426" y="3120926"/>
            <a:ext cx="695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—早上七点半。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22950" y="2920901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33976" y="3044726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31945" y="3044726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638776" y="3070027"/>
            <a:ext cx="128244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去打篮球？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280475" y="3120926"/>
            <a:ext cx="3972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—下午。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34901" y="355595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45927" y="36797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43895" y="367977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50727" y="3705076"/>
            <a:ext cx="9846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睡觉？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692426" y="3755975"/>
            <a:ext cx="5958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—晚上十点。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22950" y="3555950"/>
            <a:ext cx="5206901" cy="558701"/>
          </a:xfrm>
          <a:prstGeom prst="roundRect">
            <a:avLst>
              <a:gd name="adj" fmla="val 1818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33976" y="36797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331945" y="3679775"/>
            <a:ext cx="207213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38776" y="3705076"/>
            <a:ext cx="11335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115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去逛街？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280475" y="3755975"/>
            <a:ext cx="4965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—星期五。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4901" y="431795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87301" y="441945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87301" y="458137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Items 1–2 solved together on the projector before students continue 3–8 independently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254401" y="431795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406801" y="441945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406801" y="458137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2 of their own question–answer pairs, one for each word, and swap with a partner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873901" y="431795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026301" y="441945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26301" y="458137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simultaneous writing; teacher circulates and cold-calls to check answers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926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1143000" cy="253901"/>
          </a:xfrm>
          <a:prstGeom prst="roundRect">
            <a:avLst>
              <a:gd name="adj" fmla="val 50019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3471" y="634901"/>
            <a:ext cx="116586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939701"/>
            <a:ext cx="29481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Invitation Dialogue Writing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4901" y="1524000"/>
            <a:ext cx="4825901" cy="2793950"/>
          </a:xfrm>
          <a:prstGeom prst="roundRect">
            <a:avLst>
              <a:gd name="adj" fmla="val 454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127" y="1711226"/>
            <a:ext cx="45404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127" y="1955602"/>
            <a:ext cx="4451449" cy="9525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write a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 invitation dialogue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一起去……吧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Choose an activity from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Extra Words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list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Follow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4-line skeleton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adapt the Text 2 dialogue</a:t>
            </a:r>
            <a:endParaRPr lang="en-US" sz="950" dirty="0"/>
          </a:p>
          <a:p>
            <a:pPr algn="l" marL="88900" indent="-88900">
              <a:lnSpc>
                <a:spcPts val="142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your dialogue aloud to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another pair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41950" y="1524000"/>
            <a:ext cx="5460950" cy="3810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56238" y="1524000"/>
            <a:ext cx="0" cy="3810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22925" y="1600200"/>
            <a:ext cx="52301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41950" y="2006501"/>
            <a:ext cx="5460950" cy="3810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856238" y="2006501"/>
            <a:ext cx="0" cy="3810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2925" y="2082701"/>
            <a:ext cx="52301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好。什么时候/几点去？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41950" y="2489150"/>
            <a:ext cx="5460950" cy="3810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56238" y="2489150"/>
            <a:ext cx="0" cy="3810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2925" y="2565350"/>
            <a:ext cx="52301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，好吗？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41950" y="2971800"/>
            <a:ext cx="5460950" cy="381000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856238" y="2971800"/>
            <a:ext cx="0" cy="3810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22925" y="3048000"/>
            <a:ext cx="52301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可以。我们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r>
              <a:rPr lang="en-US" sz="11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见！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41950" y="3479750"/>
            <a:ext cx="5460950" cy="762000"/>
          </a:xfrm>
          <a:prstGeom prst="roundRect">
            <a:avLst>
              <a:gd name="adj" fmla="val 166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94350" y="3581251"/>
            <a:ext cx="525927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EXTRA WORDS · 词库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994350" y="3781276"/>
            <a:ext cx="5259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打排球 · 打羽毛球 · 踢足球 · 滑冰 · 逛街 · 唱卡拉ok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4901" y="4572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7301" y="4673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87301" y="483542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4-line skeleton provided, with Text 2 displayed alongside as a model to adapt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54401" y="4572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06801" y="4673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06801" y="483542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reason for declining and re-negotiating — 不行，我四点在做作业，五点可以吗？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873901" y="4572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26301" y="4673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026301" y="483542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pair writes and performs — cold call 2–3 pairs to read aloud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4289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Card-Matching Relay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634901"/>
            <a:ext cx="762000" cy="253901"/>
          </a:xfrm>
          <a:prstGeom prst="roundRect">
            <a:avLst>
              <a:gd name="adj" fmla="val 50019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7281" y="634901"/>
            <a:ext cx="77724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98550" y="634901"/>
            <a:ext cx="888950" cy="253901"/>
          </a:xfrm>
          <a:prstGeom prst="roundRect">
            <a:avLst>
              <a:gd name="adj" fmla="val 5001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99376" y="644426"/>
            <a:ext cx="88729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8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4901" y="965150"/>
            <a:ext cx="410206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Card-Matching Relay · 抢卡接力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901" y="1320701"/>
            <a:ext cx="110108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an English meaning or reads a phrase aloud → first student to grab the right card scores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4901" y="16509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4965" y="16604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76400" y="16509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76464" y="16604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17750" y="16509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17814" y="16604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901" y="22986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4965" y="23081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球场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76400" y="22986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76464" y="23081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17750" y="2298650"/>
            <a:ext cx="965150" cy="571500"/>
          </a:xfrm>
          <a:prstGeom prst="roundRect">
            <a:avLst>
              <a:gd name="adj" fmla="val 17778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17814" y="2308175"/>
            <a:ext cx="9650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3901" y="1650950"/>
            <a:ext cx="7492901" cy="1524000"/>
          </a:xfrm>
          <a:prstGeom prst="roundRect">
            <a:avLst>
              <a:gd name="adj" fmla="val 833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276576" y="1812875"/>
            <a:ext cx="720890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76576" y="2057251"/>
            <a:ext cx="7208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 Teams share a set of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phrase cards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spread face-up on the desk.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76576" y="2333476"/>
            <a:ext cx="7208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 Teacher calls out an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or reads a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phrase aloud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76576" y="2609701"/>
            <a:ext cx="72089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 First student to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grab</a:t>
            </a:r>
            <a:r>
              <a:rPr lang="en-US" sz="95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correct card scores a point for their team.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63901" y="3301901"/>
            <a:ext cx="7492901" cy="558701"/>
          </a:xfrm>
          <a:prstGeom prst="roundRect">
            <a:avLst>
              <a:gd name="adj" fmla="val 18185"/>
            </a:avLst>
          </a:prstGeom>
          <a:solidFill>
            <a:srgbClr val="FAEBE9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251127" y="3387626"/>
            <a:ext cx="726081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English/phrase → students grab the matching card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51127" y="3549551"/>
            <a:ext cx="72608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"when" / shenme shihou → students grab 什么时候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34901" y="4191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7301" y="4292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87301" y="445442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word list stays visible on the board so students can double-check before grabbing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54401" y="4191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06801" y="4292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406801" y="4454426"/>
            <a:ext cx="3186684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take turns as the caller, choosing English or phrase prompts for their team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873901" y="4191000"/>
            <a:ext cx="3429000" cy="888950"/>
          </a:xfrm>
          <a:prstGeom prst="roundRect">
            <a:avLst>
              <a:gd name="adj" fmla="val 1142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26301" y="4292501"/>
            <a:ext cx="31866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026301" y="4454426"/>
            <a:ext cx="3186684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set of phrase cards per team, spread face-up on the desk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007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711101"/>
            <a:ext cx="60084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88950" y="888950"/>
            <a:ext cx="247639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600200"/>
            <a:ext cx="5079950" cy="4191000"/>
          </a:xfrm>
          <a:prstGeom prst="roundRect">
            <a:avLst>
              <a:gd name="adj" fmla="val 30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27075" y="1812875"/>
            <a:ext cx="4695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075" y="2168426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34759" y="2177951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80976" y="2168426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88660" y="2177951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35026" y="2168426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AEBE9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42710" y="2177951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65275" y="2206526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and understand the Text 2 dialogue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27075" y="28289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34759" y="283845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80976" y="28289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388660" y="283845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35026" y="282892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AEBE9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642710" y="283845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65275" y="286702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suggestion using 吧 — 我们一起去打篮球吧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27075" y="34892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E5F0F1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34759" y="349880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80976" y="34892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1E4C8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88660" y="349880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35026" y="3489275"/>
            <a:ext cx="203150" cy="203150"/>
          </a:xfrm>
          <a:prstGeom prst="roundRect">
            <a:avLst>
              <a:gd name="adj" fmla="val 50012"/>
            </a:avLst>
          </a:prstGeom>
          <a:solidFill>
            <a:srgbClr val="FAEBE9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642710" y="3498800"/>
            <a:ext cx="1877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65275" y="3527375"/>
            <a:ext cx="3886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Correctly choose 什么时候 or 几点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22950" y="1600200"/>
            <a:ext cx="5079950" cy="4191000"/>
          </a:xfrm>
          <a:prstGeom prst="roundRect">
            <a:avLst>
              <a:gd name="adj" fmla="val 303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61075" y="1812875"/>
            <a:ext cx="46957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61075" y="2143125"/>
            <a:ext cx="4622750" cy="682526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6475363" y="2143125"/>
            <a:ext cx="0" cy="682526"/>
          </a:xfrm>
          <a:prstGeom prst="line">
            <a:avLst/>
          </a:prstGeom>
          <a:noFill/>
          <a:ln w="28575">
            <a:solidFill>
              <a:srgbClr val="3A7D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67351" y="2270075"/>
            <a:ext cx="43235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67351" y="2470100"/>
            <a:ext cx="43235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inviting a friend to do something, using 吧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61075" y="3260675"/>
            <a:ext cx="4715205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 </a:t>
            </a: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65050"/>
            <a:ext cx="12540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吧 + 什么时候/几点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793950" y="165050"/>
            <a:ext cx="1088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5950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-121920" y="1015901"/>
            <a:ext cx="124358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-121920" y="1304776"/>
            <a:ext cx="1243584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听说综合巩固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-121920" y="1981051"/>
            <a:ext cx="1243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3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5 grammar points from this unit — games + listening practice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25399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2666" y="2727127"/>
            <a:ext cx="1923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2666" y="2974777"/>
            <a:ext cx="1923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except for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0" y="25399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33866" y="2727127"/>
            <a:ext cx="1923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从……开始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33866" y="2974777"/>
            <a:ext cx="1923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starting from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24400" y="25399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15066" y="2727127"/>
            <a:ext cx="1923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在……呢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15066" y="2974777"/>
            <a:ext cx="1923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the process of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05600" y="25399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96266" y="2727127"/>
            <a:ext cx="19236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6266" y="2974777"/>
            <a:ext cx="1923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suggestion particle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0" y="2539901"/>
            <a:ext cx="1905000" cy="888950"/>
          </a:xfrm>
          <a:prstGeom prst="roundRect">
            <a:avLst>
              <a:gd name="adj" fmla="val 1428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77465" y="2727127"/>
            <a:ext cx="19236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 / 几点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77465" y="2965252"/>
            <a:ext cx="1923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when / what time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0901" y="3810000"/>
            <a:ext cx="6349901" cy="762000"/>
          </a:xfrm>
          <a:prstGeom prst="roundRect">
            <a:avLst>
              <a:gd name="adj" fmla="val 1666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8298" y="3936950"/>
            <a:ext cx="58551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68298" y="4111526"/>
            <a:ext cx="58551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Listening + Speaking Consolidation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68298" y="4397276"/>
            <a:ext cx="58551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bringing all 5 grammar points together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6664375"/>
            <a:ext cx="147007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2026-07-25T01:05:45Z</dcterms:created>
  <dcterms:modified xsi:type="dcterms:W3CDTF">2026-07-25T01:05:45Z</dcterms:modified>
</cp:coreProperties>
</file>