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9611" y="1930450"/>
            <a:ext cx="22526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5 OF 8 · Y8 UNIT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05712" y="2187625"/>
            <a:ext cx="78042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000"/>
              </a:lnSpc>
              <a:spcBef>
                <a:spcPts val="600"/>
              </a:spcBef>
              <a:buNone/>
            </a:pPr>
            <a:r>
              <a:rPr lang="en-US" sz="6000" dirty="0">
                <a:solidFill>
                  <a:srgbClr val="EED9A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505151" y="3025825"/>
            <a:ext cx="5181549" cy="101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000"/>
              </a:lnSpc>
              <a:spcBef>
                <a:spcPts val="600"/>
              </a:spcBef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92526" y="4092625"/>
            <a:ext cx="300694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 2 Vocabulary + 在……呢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05386" y="4784675"/>
            <a:ext cx="8242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65923" y="484346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43624" y="4784675"/>
            <a:ext cx="4256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13338" y="484346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91039" y="4784675"/>
            <a:ext cx="9762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 + Listening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00552" y="4843463"/>
            <a:ext cx="25301" cy="25301"/>
          </a:xfrm>
          <a:prstGeom prst="roundRect">
            <a:avLst>
              <a:gd name="adj" fmla="val 361408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978253" y="4784675"/>
            <a:ext cx="14363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2 · Unit 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87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62000" y="8127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62000" y="1019026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4 — 欢欢's Passage + 正在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2000" y="1688902"/>
            <a:ext cx="5207050" cy="1603177"/>
          </a:xfrm>
          <a:prstGeom prst="roundRect">
            <a:avLst>
              <a:gd name="adj" fmla="val 79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4675" y="1901577"/>
            <a:ext cx="48773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4675" y="2165003"/>
            <a:ext cx="4781699" cy="9144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picture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Lesson 4 → class says the 正在 sentence chorally (e.g. 她正在跳舞。)</a:t>
            </a:r>
            <a:endParaRPr lang="en-US" sz="1100" dirty="0"/>
          </a:p>
          <a:p>
            <a:pPr algn="l" marL="76200" indent="-76200">
              <a:lnSpc>
                <a:spcPts val="165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Mini-whiteboard check: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"Write one sentence using 正在."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Hold up on the count of three.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22950" y="1688902"/>
            <a:ext cx="53111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WORDS (LESSON 4 · 欢欢)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22950" y="1952327"/>
            <a:ext cx="793998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59426" y="2025253"/>
            <a:ext cx="53146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9426" y="2234803"/>
            <a:ext cx="5314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(noun)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093148" y="1952327"/>
            <a:ext cx="624483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229624" y="2025253"/>
            <a:ext cx="3585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9624" y="2234803"/>
            <a:ext cx="3585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 dance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7793831" y="1952327"/>
            <a:ext cx="730151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930307" y="2025253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小提琴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30307" y="2234803"/>
            <a:ext cx="4663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violin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600182" y="1952327"/>
            <a:ext cx="882551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736657" y="2025253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拉小提琴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736657" y="2234803"/>
            <a:ext cx="6217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violin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9558933" y="1952327"/>
            <a:ext cx="1034951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695408" y="2025253"/>
            <a:ext cx="7772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从……开始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95408" y="2234803"/>
            <a:ext cx="7772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starting from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0670084" y="1952327"/>
            <a:ext cx="723007" cy="469702"/>
          </a:xfrm>
          <a:prstGeom prst="roundRect">
            <a:avLst>
              <a:gd name="adj" fmla="val 16223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806559" y="2025253"/>
            <a:ext cx="4590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806559" y="2234803"/>
            <a:ext cx="4590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62000" y="3469779"/>
            <a:ext cx="10668000" cy="590550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776288" y="3469779"/>
            <a:ext cx="0" cy="59055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2975" y="3584079"/>
            <a:ext cx="1054131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 know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'happening right now.' Today you'll meet an even stronger version — </a:t>
            </a: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plus three new everyday words: homework, computer games, and basketball."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872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8950" y="1974949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8950" y="2194024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88950" y="2914650"/>
            <a:ext cx="8254901" cy="952500"/>
          </a:xfrm>
          <a:prstGeom prst="rect">
            <a:avLst/>
          </a:prstGeom>
          <a:solidFill>
            <a:srgbClr val="C8943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03238" y="2914650"/>
            <a:ext cx="0" cy="952500"/>
          </a:xfrm>
          <a:prstGeom prst="line">
            <a:avLst/>
          </a:prstGeom>
          <a:noFill/>
          <a:ln w="28575">
            <a:solidFill>
              <a:srgbClr val="C894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0676" y="3067050"/>
            <a:ext cx="797642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120676" y="3219450"/>
            <a:ext cx="7976426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new vocabulary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(homework, computer games, basketball)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how to ask and answer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"what are you doing right now"</a:t>
            </a: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在……呢.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8950" y="4121051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78694" y="4159151"/>
            <a:ext cx="499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19051" y="4121051"/>
            <a:ext cx="4036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作业, 做作业, 电脑游戏, 篮球, 打篮球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950" y="4476601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8871" y="4514701"/>
            <a:ext cx="699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219051" y="4476601"/>
            <a:ext cx="3993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"你在干什么呢？"</a:t>
            </a: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using </a:t>
            </a:r>
            <a:r>
              <a:rPr lang="en-US" sz="12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8950" y="4832152"/>
            <a:ext cx="228600" cy="228600"/>
          </a:xfrm>
          <a:prstGeom prst="roundRect">
            <a:avLst>
              <a:gd name="adj" fmla="val 400000"/>
            </a:avLst>
          </a:prstGeom>
          <a:noFill/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68722" y="4870252"/>
            <a:ext cx="7043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219051" y="4832152"/>
            <a:ext cx="36302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</a:t>
            </a: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identify these activities by ear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1720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71500" y="736550"/>
            <a:ext cx="112699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930176"/>
            <a:ext cx="112699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71500" y="1396901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2526" y="149215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3925" y="1482626"/>
            <a:ext cx="528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jiù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23925" y="1606451"/>
            <a:ext cx="528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just; exactly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349526" y="1396901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60552" y="149215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1951" y="1482626"/>
            <a:ext cx="1609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701951" y="1606451"/>
            <a:ext cx="1609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27700" y="1396901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38726" y="1515963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95926" y="1482626"/>
            <a:ext cx="5354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gàn shénme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695926" y="1606451"/>
            <a:ext cx="5354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to do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905726" y="1396901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016752" y="1492151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58151" y="1482626"/>
            <a:ext cx="767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258151" y="1606451"/>
            <a:ext cx="7675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ptcl: continuation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71500" y="1879402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2526" y="197465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925" y="1965127"/>
            <a:ext cx="4627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yè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23925" y="2088952"/>
            <a:ext cx="4627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profession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349526" y="1879402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460552" y="197465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867001" y="1965127"/>
            <a:ext cx="4505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zuòyè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867001" y="2088952"/>
            <a:ext cx="4505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homework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127700" y="1879402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38726" y="1998464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95926" y="1965127"/>
            <a:ext cx="5931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zuòyè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695926" y="2088952"/>
            <a:ext cx="5931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 homework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905726" y="1879402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016752" y="197465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258151" y="1965127"/>
            <a:ext cx="1783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wán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9258151" y="2088952"/>
            <a:ext cx="1783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71500" y="2361902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2526" y="245715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游戏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88975" y="2447627"/>
            <a:ext cx="2403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yóuxì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88975" y="2571452"/>
            <a:ext cx="24030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349526" y="2361902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60552" y="2480965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电脑游戏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044702" y="2447627"/>
            <a:ext cx="688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diànnǎo yóuxì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044702" y="2571452"/>
            <a:ext cx="688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computer game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27700" y="2361902"/>
            <a:ext cx="2714625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238726" y="245715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80125" y="2447627"/>
            <a:ext cx="2923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80125" y="2571452"/>
            <a:ext cx="2923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905726" y="2361902"/>
            <a:ext cx="2714774" cy="419100"/>
          </a:xfrm>
          <a:prstGeom prst="roundRect">
            <a:avLst>
              <a:gd name="adj" fmla="val 1818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016752" y="245715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423202" y="2447627"/>
            <a:ext cx="4469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lánqiú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9423202" y="2571452"/>
            <a:ext cx="4469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71500" y="2844403"/>
            <a:ext cx="11049000" cy="419100"/>
          </a:xfrm>
          <a:prstGeom prst="roundRect">
            <a:avLst>
              <a:gd name="adj" fmla="val 18182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2526" y="2939653"/>
            <a:ext cx="5052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1254026" y="2930128"/>
            <a:ext cx="65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 lánqiú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254026" y="3053953"/>
            <a:ext cx="65746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basketball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71500" y="3365004"/>
            <a:ext cx="11049000" cy="457200"/>
          </a:xfrm>
          <a:prstGeom prst="roundRect">
            <a:avLst>
              <a:gd name="adj" fmla="val 16667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33425" y="3479304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🏀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06376" y="3450729"/>
            <a:ext cx="38177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打篮球</a:t>
            </a:r>
            <a:r>
              <a:rPr lang="en-US" sz="9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follows the same 打 + ball-sport rule as Lesson 8's 打网球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06376" y="3612654"/>
            <a:ext cx="381773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篮球 = 篮 (basket) + 球 (ball) — 打 + ball-sport = "hit/play [ball sport]".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8781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Pattern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8950" y="76185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8950" y="955477"/>
            <a:ext cx="1062238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你在干什么呢？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88950" y="1361777"/>
            <a:ext cx="106223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ask and answer "what are you doing right now"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8950" y="1650653"/>
            <a:ext cx="799951" cy="476250"/>
          </a:xfrm>
          <a:prstGeom prst="roundRect">
            <a:avLst>
              <a:gd name="adj" fmla="val 2666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85701" y="1745903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77752" y="1650653"/>
            <a:ext cx="1003102" cy="476250"/>
          </a:xfrm>
          <a:prstGeom prst="roundRect">
            <a:avLst>
              <a:gd name="adj" fmla="val 2666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74503" y="1745903"/>
            <a:ext cx="62179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9704" y="1650653"/>
            <a:ext cx="799951" cy="476250"/>
          </a:xfrm>
          <a:prstGeom prst="roundRect">
            <a:avLst>
              <a:gd name="adj" fmla="val 2666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066455" y="1745903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呢？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58505" y="1788765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7105" y="1707803"/>
            <a:ext cx="2422347" cy="361950"/>
          </a:xfrm>
          <a:prstGeom prst="rect">
            <a:avLst/>
          </a:prstGeom>
          <a:noFill/>
          <a:ln/>
        </p:spPr>
        <p:txBody>
          <a:bodyPr wrap="square" lIns="127000" tIns="76200" rIns="127000" bIns="762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"What are you doing [right now]?"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8950" y="2253853"/>
            <a:ext cx="106223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COMPARE · 正在 VS 在……呢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88950" y="2441079"/>
            <a:ext cx="5149900" cy="672852"/>
          </a:xfrm>
          <a:prstGeom prst="roundRect">
            <a:avLst>
              <a:gd name="adj" fmla="val 18875"/>
            </a:avLst>
          </a:prstGeom>
          <a:solidFill>
            <a:srgbClr val="3A7D8C">
              <a:alpha val="10000"/>
            </a:srgbClr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38076" y="2539454"/>
            <a:ext cx="49486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· PLAIN "IN PROGRESS"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038076" y="2669530"/>
            <a:ext cx="4948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我正在做作业。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8076" y="2891730"/>
            <a:ext cx="494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am doing homework (in progress).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153150" y="2441079"/>
            <a:ext cx="5149900" cy="672852"/>
          </a:xfrm>
          <a:prstGeom prst="roundRect">
            <a:avLst>
              <a:gd name="adj" fmla="val 18875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02276" y="2539454"/>
            <a:ext cx="49486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在……呢 · STRONGER, RIGHT NOW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302276" y="2669530"/>
            <a:ext cx="49486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我在做作业呢。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2276" y="2891730"/>
            <a:ext cx="49486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I'm doing homework right this second — and it continues.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88950" y="3240881"/>
            <a:ext cx="10414099" cy="34290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38076" y="3307556"/>
            <a:ext cx="139903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314408" y="3345656"/>
            <a:ext cx="1876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I'm playing a computer game right now.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88950" y="3640931"/>
            <a:ext cx="10414099" cy="342900"/>
          </a:xfrm>
          <a:prstGeom prst="roundRect">
            <a:avLst>
              <a:gd name="adj" fmla="val 2222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38076" y="3707606"/>
            <a:ext cx="1088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57457" y="3745706"/>
            <a:ext cx="15263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I'm playing basketball right now.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88950" y="4040981"/>
            <a:ext cx="10414099" cy="342900"/>
          </a:xfrm>
          <a:prstGeom prst="roundRect">
            <a:avLst>
              <a:gd name="adj" fmla="val 22222"/>
            </a:avLst>
          </a:prstGeom>
          <a:solidFill>
            <a:srgbClr val="D4756B">
              <a:alpha val="10000"/>
            </a:srgbClr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38076" y="4107656"/>
            <a:ext cx="3157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你在干什么呢？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跟猫说话</a:t>
            </a: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呢</a:t>
            </a: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！</a:t>
            </a:r>
            <a:r>
              <a:rPr lang="en-US" sz="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· SILLY EXAMPLE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75105" y="4145756"/>
            <a:ext cx="20183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are you doing? I'm talking to my cat!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1148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8950" y="1617762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8950" y="1836837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8950" y="2351187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 </a:t>
            </a: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· CFU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8950" y="2760762"/>
            <a:ext cx="10414099" cy="803225"/>
          </a:xfrm>
          <a:prstGeom prst="roundRect">
            <a:avLst>
              <a:gd name="adj" fmla="val 1581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76176" y="292268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84225" y="2962275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2477" y="2922687"/>
            <a:ext cx="98260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</a:t>
            </a:r>
            <a:r>
              <a:rPr lang="en-US" sz="15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干什么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 </a:t>
            </a:r>
            <a:r>
              <a:rPr lang="en-US" sz="10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2477" y="3240137"/>
            <a:ext cx="9826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8950" y="3716387"/>
            <a:ext cx="10414099" cy="765125"/>
          </a:xfrm>
          <a:prstGeom prst="roundRect">
            <a:avLst>
              <a:gd name="adj" fmla="val 1659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387831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3917900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2477" y="3878312"/>
            <a:ext cx="9826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do you say "I'm playing basketball right now"? </a:t>
            </a:r>
            <a:r>
              <a:rPr lang="en-US" sz="10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it on your whiteboard.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82477" y="4157663"/>
            <a:ext cx="9826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8950" y="4633913"/>
            <a:ext cx="10414099" cy="784175"/>
          </a:xfrm>
          <a:prstGeom prst="roundRect">
            <a:avLst>
              <a:gd name="adj" fmla="val 1619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76176" y="4795838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71277" y="4835426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82477" y="4795838"/>
            <a:ext cx="98260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Listen: </a:t>
            </a:r>
            <a:r>
              <a:rPr lang="en-US" sz="14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我在做作业呢。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is the person doing?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82477" y="5094238"/>
            <a:ext cx="98260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108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8950" y="155302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8950" y="1772096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888950" y="2438846"/>
            <a:ext cx="10414099" cy="930027"/>
          </a:xfrm>
          <a:prstGeom prst="roundRect">
            <a:avLst>
              <a:gd name="adj" fmla="val 1365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76176" y="257532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184225" y="2614910"/>
            <a:ext cx="643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82477" y="2575322"/>
            <a:ext cx="9826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What does 干什么 mean?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82477" y="2826097"/>
            <a:ext cx="9826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 = "what to do" / "doing what"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82477" y="3079998"/>
            <a:ext cx="98260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gàn shénme — used in 你在干什么呢？ ("What are you doing?")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88950" y="3495824"/>
            <a:ext cx="10414099" cy="930027"/>
          </a:xfrm>
          <a:prstGeom prst="roundRect">
            <a:avLst>
              <a:gd name="adj" fmla="val 1365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3632299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71575" y="3671888"/>
            <a:ext cx="901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82477" y="3632299"/>
            <a:ext cx="9826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"I'm playing basketball right now"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82477" y="3883075"/>
            <a:ext cx="9826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我在打篮球呢。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82477" y="4136975"/>
            <a:ext cx="98260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wǒ zài dǎ lánqiú 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88950" y="4552801"/>
            <a:ext cx="10414099" cy="930027"/>
          </a:xfrm>
          <a:prstGeom prst="roundRect">
            <a:avLst>
              <a:gd name="adj" fmla="val 1365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76176" y="4689277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71277" y="4728865"/>
            <a:ext cx="909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82477" y="4689277"/>
            <a:ext cx="98260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Listen: 我在做作业呢。 What is the person doing?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82477" y="4940052"/>
            <a:ext cx="98260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Doing homework · 做作业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482477" y="5193953"/>
            <a:ext cx="98260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zuò zuòyè — right now, and it continues.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871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807988"/>
            <a:ext cx="815876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846088"/>
            <a:ext cx="5732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577727" y="736550"/>
            <a:ext cx="24650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and Tick · Act.7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4901" y="1206401"/>
            <a:ext cx="650677" cy="247650"/>
          </a:xfrm>
          <a:prstGeom prst="roundRect">
            <a:avLst>
              <a:gd name="adj" fmla="val 5123077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726" y="1254026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61777" y="1236613"/>
            <a:ext cx="520452" cy="187226"/>
          </a:xfrm>
          <a:prstGeom prst="roundRect">
            <a:avLst>
              <a:gd name="adj" fmla="val 6776463"/>
            </a:avLst>
          </a:prstGeom>
          <a:solidFill>
            <a:srgbClr val="3A7D8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50628" y="1268313"/>
            <a:ext cx="349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901" y="1581001"/>
            <a:ext cx="4671417" cy="1556742"/>
          </a:xfrm>
          <a:prstGeom prst="roundRect">
            <a:avLst>
              <a:gd name="adj" fmla="val 815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1742926"/>
            <a:ext cx="44345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6826" y="1974652"/>
            <a:ext cx="4347567" cy="1001167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reads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short sentences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aloud, each describing one person doing one of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activities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below</a:t>
            </a:r>
            <a:endParaRPr lang="en-US" sz="950" dirty="0"/>
          </a:p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Tick the matching picture/word on your worksheet for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sentence</a:t>
            </a:r>
            <a:endParaRPr lang="en-US" sz="950" dirty="0"/>
          </a:p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also write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Chinese sentence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you heard, not just tick the picture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4019" y="1581001"/>
            <a:ext cx="6073080" cy="2186880"/>
          </a:xfrm>
          <a:prstGeom prst="roundRect">
            <a:avLst>
              <a:gd name="adj" fmla="val 580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10969" y="1707952"/>
            <a:ext cx="59355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12 ACTIVITIES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10969" y="1939677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79350" y="1999952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79350" y="2161877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homework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567612" y="1939677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635993" y="1999952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35993" y="2161877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basketball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9524256" y="1939677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9592636" y="1999952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玩电脑游戏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592636" y="2161877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computer game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610969" y="2377678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679350" y="2437954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679350" y="2599879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567612" y="2377678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635993" y="2437954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拉小提琴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635993" y="2599879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violin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9524256" y="2377678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92636" y="2437954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9592636" y="2599879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piano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610969" y="2815679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79350" y="2875955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79350" y="3037880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7567612" y="2815679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635993" y="2875955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35993" y="3037880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9524256" y="2815679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592636" y="2875955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读书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592636" y="3037880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5610969" y="3253680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679350" y="3313956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679350" y="3475881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7567612" y="3253680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635993" y="3313956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7635993" y="3475881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swim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9524256" y="3253680"/>
            <a:ext cx="1905893" cy="387251"/>
          </a:xfrm>
          <a:prstGeom prst="roundRect">
            <a:avLst>
              <a:gd name="adj" fmla="val 19677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9592636" y="3313956"/>
            <a:ext cx="17691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592636" y="3475881"/>
            <a:ext cx="176913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tennis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34901" y="3894832"/>
            <a:ext cx="3589883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23751" y="3958233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723751" y="4078784"/>
            <a:ext cx="34804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12 activities pre-printed with pinyin and pictures on the worksheet; teacher repeats each sentence twice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300984" y="3894832"/>
            <a:ext cx="3589883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389834" y="3958233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4389834" y="4078784"/>
            <a:ext cx="34804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also write the full Chinese sentence they heard, not just tick the picture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967067" y="3894832"/>
            <a:ext cx="3590032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055918" y="3958233"/>
            <a:ext cx="34805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8055918" y="4078784"/>
            <a:ext cx="3480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ticks every item — teacher reveals answers on the projector for instant self-marking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9264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You Do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807988"/>
            <a:ext cx="832098" cy="200025"/>
          </a:xfrm>
          <a:prstGeom prst="roundRect">
            <a:avLst>
              <a:gd name="adj" fmla="val 6342857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846088"/>
            <a:ext cx="58976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593949" y="736550"/>
            <a:ext cx="28018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and Match · Act.13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34901" y="1206401"/>
            <a:ext cx="650677" cy="247650"/>
          </a:xfrm>
          <a:prstGeom prst="roundRect">
            <a:avLst>
              <a:gd name="adj" fmla="val 5123077"/>
            </a:avLst>
          </a:prstGeom>
          <a:solidFill>
            <a:srgbClr val="C8943E">
              <a:alpha val="12000"/>
            </a:srgbClr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8726" y="1254026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61777" y="1236613"/>
            <a:ext cx="582513" cy="187226"/>
          </a:xfrm>
          <a:prstGeom prst="roundRect">
            <a:avLst>
              <a:gd name="adj" fmla="val 6776463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50628" y="1268313"/>
            <a:ext cx="41290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901" y="1581001"/>
            <a:ext cx="5372249" cy="1556742"/>
          </a:xfrm>
          <a:prstGeom prst="roundRect">
            <a:avLst>
              <a:gd name="adj" fmla="val 815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1742926"/>
            <a:ext cx="51493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6826" y="1974652"/>
            <a:ext cx="5048399" cy="1001167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(or a fluent-speaking volunteer) reads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first-person statements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one at a time</a:t>
            </a:r>
            <a:endParaRPr lang="en-US" sz="950" dirty="0"/>
          </a:p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each statement to a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person's name/number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your worksheet</a:t>
            </a:r>
            <a:endParaRPr lang="en-US" sz="950" dirty="0"/>
          </a:p>
          <a:p>
            <a:pPr algn="l" marL="63500" indent="-63500">
              <a:lnSpc>
                <a:spcPts val="1378"/>
              </a:lnSpc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after matching, write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full sentence per person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memory, without looking at the word bank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84850" y="1581001"/>
            <a:ext cx="5372249" cy="2452985"/>
          </a:xfrm>
          <a:prstGeom prst="roundRect">
            <a:avLst>
              <a:gd name="adj" fmla="val 517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4451" y="1707952"/>
            <a:ext cx="51949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PEOPLE · STATEMENTS HEARD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24451" y="1939677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35477" y="1999952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99175" y="2025253"/>
            <a:ext cx="382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6689378" y="2001441"/>
            <a:ext cx="861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我在做作业呢。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324451" y="2276029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35477" y="2336304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91734" y="2361605"/>
            <a:ext cx="53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689378" y="2337792"/>
            <a:ext cx="861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我在打篮球呢。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24451" y="2612380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435477" y="2672655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491585" y="2697956"/>
            <a:ext cx="538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689378" y="2674144"/>
            <a:ext cx="110711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我在玩电脑游戏呢。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324451" y="2948732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435477" y="3009007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91288" y="3034308"/>
            <a:ext cx="5449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6689378" y="3010495"/>
            <a:ext cx="7380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我在跳舞呢。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24451" y="3285083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435477" y="3345359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491585" y="3370659"/>
            <a:ext cx="537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6689378" y="3346847"/>
            <a:ext cx="9839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我在拉小提琴呢。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24451" y="3621435"/>
            <a:ext cx="5093047" cy="285601"/>
          </a:xfrm>
          <a:prstGeom prst="roundRect">
            <a:avLst>
              <a:gd name="adj" fmla="val 26681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435477" y="3681710"/>
            <a:ext cx="165050" cy="165050"/>
          </a:xfrm>
          <a:prstGeom prst="roundRect">
            <a:avLst>
              <a:gd name="adj" fmla="val 554014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91139" y="3707011"/>
            <a:ext cx="546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6689378" y="3683198"/>
            <a:ext cx="8610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我在听音乐呢。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4901" y="4160937"/>
            <a:ext cx="3589883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23751" y="4224338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46" name="Text 44"/>
          <p:cNvSpPr/>
          <p:nvPr/>
        </p:nvSpPr>
        <p:spPr>
          <a:xfrm>
            <a:off x="723751" y="4344888"/>
            <a:ext cx="34804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Fewer distractor activities (6 instead of 12) and a slower reading pace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300984" y="4160937"/>
            <a:ext cx="3589883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389834" y="4224338"/>
            <a:ext cx="3480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49" name="Text 47"/>
          <p:cNvSpPr/>
          <p:nvPr/>
        </p:nvSpPr>
        <p:spPr>
          <a:xfrm>
            <a:off x="4389834" y="4344888"/>
            <a:ext cx="34804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After matching, students write one full sentence per person from memory, without looking at the word bank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967067" y="4160937"/>
            <a:ext cx="3590032" cy="495002"/>
          </a:xfrm>
          <a:prstGeom prst="roundRect">
            <a:avLst>
              <a:gd name="adj" fmla="val 15394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055918" y="4224338"/>
            <a:ext cx="34805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8055918" y="4344888"/>
            <a:ext cx="34805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Listen-and-match — every student responds to every item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6727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Bingo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34901" y="725388"/>
            <a:ext cx="551111" cy="209550"/>
          </a:xfrm>
          <a:prstGeom prst="roundRect">
            <a:avLst>
              <a:gd name="adj" fmla="val 6054545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1851" y="763488"/>
            <a:ext cx="3031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87512" y="711101"/>
            <a:ext cx="624929" cy="238125"/>
          </a:xfrm>
          <a:prstGeom prst="roundRect">
            <a:avLst>
              <a:gd name="adj" fmla="val 532800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11337" y="758726"/>
            <a:ext cx="3848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013942" y="725388"/>
            <a:ext cx="582216" cy="209550"/>
          </a:xfrm>
          <a:prstGeom prst="roundRect">
            <a:avLst>
              <a:gd name="adj" fmla="val 6054545"/>
            </a:avLst>
          </a:prstGeom>
          <a:solidFill>
            <a:srgbClr val="D4756B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28242" y="763488"/>
            <a:ext cx="3606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34901" y="999976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Bingo · 宾狗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4901" y="1415802"/>
            <a:ext cx="111406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 meanings or pinyin → cross off the matching 汉字 — first full line wins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4901" y="1704677"/>
            <a:ext cx="3301901" cy="2165152"/>
          </a:xfrm>
          <a:prstGeom prst="roundRect">
            <a:avLst>
              <a:gd name="adj" fmla="val 5866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951" y="1723727"/>
            <a:ext cx="3263801" cy="412552"/>
          </a:xfrm>
          <a:prstGeom prst="rect">
            <a:avLst/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3071" y="1723727"/>
            <a:ext cx="1109692" cy="412552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1005" y="1723727"/>
            <a:ext cx="1109692" cy="412552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18939" y="1723727"/>
            <a:ext cx="1109692" cy="412552"/>
          </a:xfrm>
          <a:prstGeom prst="rect">
            <a:avLst/>
          </a:prstGeom>
          <a:noFill/>
          <a:ln/>
        </p:spPr>
        <p:txBody>
          <a:bodyPr wrap="square" lIns="0" tIns="63500" rIns="0" bIns="6350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3951" y="2136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84178" y="2331244"/>
            <a:ext cx="4273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干什么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41884" y="2136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143308" y="2331244"/>
            <a:ext cx="28493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作业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29818" y="2136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60045" y="2331244"/>
            <a:ext cx="4273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做作业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951" y="27077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26571" y="2902744"/>
            <a:ext cx="142545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741884" y="2707779"/>
            <a:ext cx="1087934" cy="571500"/>
          </a:xfrm>
          <a:prstGeom prst="rect">
            <a:avLst/>
          </a:prstGeom>
          <a:solidFill>
            <a:srgbClr val="D4756B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04901" y="2893516"/>
            <a:ext cx="3617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G·O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829818" y="27077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231242" y="2902744"/>
            <a:ext cx="28493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951" y="3279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12982" y="3474244"/>
            <a:ext cx="56972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电脑游戏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41884" y="3279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143308" y="3474244"/>
            <a:ext cx="284937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29818" y="3279279"/>
            <a:ext cx="1087934" cy="5715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60045" y="3474244"/>
            <a:ext cx="42733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39952" y="1704677"/>
            <a:ext cx="7417147" cy="1250603"/>
          </a:xfrm>
          <a:prstGeom prst="roundRect">
            <a:avLst>
              <a:gd name="adj" fmla="val 10155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301877" y="1841153"/>
            <a:ext cx="72351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301877" y="2063353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40002" y="2063353"/>
            <a:ext cx="593404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Each student fills a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3×3 grid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today's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vocabulary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their choice of squares, some repeat.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301877" y="2336304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40002" y="2336304"/>
            <a:ext cx="65916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out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meanings or pinyin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one at a time. Find &amp; cross off the matching 汉字 square.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301877" y="2609255"/>
            <a:ext cx="1651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40002" y="2609255"/>
            <a:ext cx="45788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Three in a row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(horizontal, vertical, or diagonal) — call out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宾狗 (Bingo)</a:t>
            </a:r>
            <a:r>
              <a:rPr lang="en-US" sz="10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!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39952" y="3056781"/>
            <a:ext cx="7417147" cy="504676"/>
          </a:xfrm>
          <a:prstGeom prst="roundRect">
            <a:avLst>
              <a:gd name="adj" fmla="val 15099"/>
            </a:avLst>
          </a:prstGeom>
          <a:solidFill>
            <a:srgbClr val="D4756B">
              <a:alpha val="10000"/>
            </a:srgbClr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276427" y="3194745"/>
            <a:ext cx="1748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📣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36728" y="3155156"/>
            <a:ext cx="34060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calls English/pinyin → students cross off 汉字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36728" y="3329732"/>
            <a:ext cx="3406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e.g. "basketball" / lánqiú → students cross off 篮球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4901" y="3971330"/>
            <a:ext cx="3589883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36402" y="4047530"/>
            <a:ext cx="3454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550" dirty="0"/>
          </a:p>
        </p:txBody>
      </p:sp>
      <p:sp>
        <p:nvSpPr>
          <p:cNvPr id="53" name="Text 51"/>
          <p:cNvSpPr/>
          <p:nvPr/>
        </p:nvSpPr>
        <p:spPr>
          <a:xfrm>
            <a:off x="736402" y="4168080"/>
            <a:ext cx="3454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vocabulary list stays visible on the board so students can double-check before crossing off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300984" y="3971330"/>
            <a:ext cx="3589883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402485" y="4047530"/>
            <a:ext cx="345461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550" dirty="0"/>
          </a:p>
        </p:txBody>
      </p:sp>
      <p:sp>
        <p:nvSpPr>
          <p:cNvPr id="56" name="Text 54"/>
          <p:cNvSpPr/>
          <p:nvPr/>
        </p:nvSpPr>
        <p:spPr>
          <a:xfrm>
            <a:off x="4402485" y="4168080"/>
            <a:ext cx="34546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take turns as the caller, choosing English or pinyin prompts for the class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967067" y="3971330"/>
            <a:ext cx="3590032" cy="539651"/>
          </a:xfrm>
          <a:prstGeom prst="roundRect">
            <a:avLst>
              <a:gd name="adj" fmla="val 14120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068568" y="4047530"/>
            <a:ext cx="345477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5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550" dirty="0"/>
          </a:p>
        </p:txBody>
      </p:sp>
      <p:sp>
        <p:nvSpPr>
          <p:cNvPr id="59" name="Text 57"/>
          <p:cNvSpPr/>
          <p:nvPr/>
        </p:nvSpPr>
        <p:spPr>
          <a:xfrm>
            <a:off x="8068568" y="4168080"/>
            <a:ext cx="34547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Blank grids (photocopied) + markers/pens — students fill in today's words themselves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1007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88950" y="2165003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88950" y="2384078"/>
            <a:ext cx="106223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88950" y="3104704"/>
            <a:ext cx="5105400" cy="1765995"/>
          </a:xfrm>
          <a:prstGeom prst="roundRect">
            <a:avLst>
              <a:gd name="adj" fmla="val 719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01626" y="3291929"/>
            <a:ext cx="47736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01626" y="3571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1214" y="3591818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42876" y="3571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382464" y="3591818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584127" y="3571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23715" y="3591818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88778" y="3591818"/>
            <a:ext cx="29972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作业, 做作业, 电脑游戏, 篮球, 打篮球 in Chinese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01626" y="3863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141214" y="3883819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42876" y="3863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82464" y="3883819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584127" y="38632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23715" y="3883819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888778" y="3883819"/>
            <a:ext cx="27693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你在干什么呢？ and answer using 在……呢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01626" y="415528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41214" y="4175820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42876" y="415528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382464" y="4175820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✋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584127" y="415528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DE7D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623715" y="4175820"/>
            <a:ext cx="1263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👎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888778" y="4175820"/>
            <a:ext cx="24686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and identify these activities by ear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97501" y="3104704"/>
            <a:ext cx="5105549" cy="1765995"/>
          </a:xfrm>
          <a:prstGeom prst="roundRect">
            <a:avLst>
              <a:gd name="adj" fmla="val 719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10176" y="3291929"/>
            <a:ext cx="47738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8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10176" y="3571280"/>
            <a:ext cx="4680198" cy="660202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6424464" y="3571280"/>
            <a:ext cx="0" cy="660202"/>
          </a:xfrm>
          <a:prstGeom prst="line">
            <a:avLst/>
          </a:prstGeom>
          <a:noFill/>
          <a:ln w="28575">
            <a:solidFill>
              <a:srgbClr val="3A7D8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1151" y="3698230"/>
            <a:ext cx="44337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591151" y="3875931"/>
            <a:ext cx="443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what you're doing right now, using 在……呢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10176" y="4358432"/>
            <a:ext cx="4773802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 </a:t>
            </a: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3 criteria above.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07950"/>
          </a:xfrm>
          <a:prstGeom prst="rect">
            <a:avLst/>
          </a:prstGeom>
          <a:solidFill>
            <a:srgbClr val="FEFC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91988"/>
            <a:ext cx="160852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L5 · TEXT 2 VOCAB + 在……呢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11884" y="190500"/>
            <a:ext cx="6251" cy="1269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345085" y="187226"/>
            <a:ext cx="1088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410905" y="1608981"/>
            <a:ext cx="13701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L6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312752" y="1843832"/>
            <a:ext cx="3566348" cy="408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20"/>
              </a:lnSpc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吧 · 什么时候 vs 几点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84279" y="2303413"/>
            <a:ext cx="482344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6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phone-call dialogue, making a suggestion, and asking "when"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76749" y="2843064"/>
            <a:ext cx="1777901" cy="1383953"/>
          </a:xfrm>
          <a:prstGeom prst="roundRect">
            <a:avLst>
              <a:gd name="adj" fmla="val 917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75899" y="3030289"/>
            <a:ext cx="13796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📞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5899" y="3547765"/>
            <a:ext cx="1379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Text 2 对话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5899" y="3773091"/>
            <a:ext cx="1379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phone call inviting a friend to play basketball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07050" y="2843064"/>
            <a:ext cx="1777901" cy="1383953"/>
          </a:xfrm>
          <a:prstGeom prst="roundRect">
            <a:avLst>
              <a:gd name="adj" fmla="val 917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06200" y="3030289"/>
            <a:ext cx="13796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06200" y="3547765"/>
            <a:ext cx="1379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一起去……吧！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06200" y="3773091"/>
            <a:ext cx="1379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"Let's go play basketball!" — making a suggestion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37350" y="2843064"/>
            <a:ext cx="1777901" cy="1383953"/>
          </a:xfrm>
          <a:prstGeom prst="roundRect">
            <a:avLst>
              <a:gd name="adj" fmla="val 917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336500" y="3030289"/>
            <a:ext cx="13796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700"/>
              </a:spcAft>
              <a:buNone/>
            </a:pPr>
            <a:r>
              <a:rPr lang="en-US" sz="24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336500" y="3547765"/>
            <a:ext cx="1379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什么时候 vs 几点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36500" y="3773091"/>
            <a:ext cx="13796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"When" (any time) vs "what time" (the hour)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75299" y="4506367"/>
            <a:ext cx="2641402" cy="920502"/>
          </a:xfrm>
          <a:prstGeom prst="roundRect">
            <a:avLst>
              <a:gd name="adj" fmla="val 13797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59781" y="4645968"/>
            <a:ext cx="20724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059781" y="4811018"/>
            <a:ext cx="207243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我们一起去打篮球吧！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59781" y="5134868"/>
            <a:ext cx="20724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let's go play basketball together!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950" y="6651724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2026-07-25T00:56:48Z</dcterms:created>
  <dcterms:modified xsi:type="dcterms:W3CDTF">2026-07-25T00:56:48Z</dcterms:modified>
</cp:coreProperties>
</file>