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76200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LESSON 3 OF 8 · Y8 UNIT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21920" y="1206401"/>
            <a:ext cx="124358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CD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舞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-121920" y="2476500"/>
            <a:ext cx="1243584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爱好·舞蹈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-121920" y="3810000"/>
            <a:ext cx="12435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从……开始 + Duration (Violin)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15901" y="4698950"/>
            <a:ext cx="10159901" cy="514350"/>
          </a:xfrm>
          <a:prstGeom prst="roundRect">
            <a:avLst>
              <a:gd name="adj" fmla="val 148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698950"/>
            <a:ext cx="10159901" cy="514350"/>
          </a:xfrm>
          <a:prstGeom prst="rect">
            <a:avLst/>
          </a:prstGeom>
          <a:noFill/>
          <a:ln/>
        </p:spPr>
        <p:txBody>
          <a:bodyPr wrap="square" lIns="254000" tIns="152400" rIns="254000" bIns="152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Year 8 Chinese · 50 mins · Grammar + Game · 轻松学中文 Book 2 · Unit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34901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2000" y="812750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回顾 · Lesson 2 + L7 Duration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524000"/>
            <a:ext cx="5079950" cy="2667000"/>
          </a:xfrm>
          <a:prstGeom prst="roundRect">
            <a:avLst>
              <a:gd name="adj" fmla="val 476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1524000"/>
            <a:ext cx="5079950" cy="26670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MINI-WHITEBOARD + RAPID FIRE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Write one 除了……以外 sentence on your whiteboard — hold up on the count of three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Flashcard rapid fire: teacher shows a clock/duration image → class says the phrase chorally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2950" y="1524000"/>
            <a:ext cx="53110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 WORDS (L2 + L7)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22950" y="1777901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22950" y="1777901"/>
            <a:ext cx="2412950" cy="558701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除了……以外</a:t>
            </a:r>
            <a:endParaRPr lang="en-US" sz="13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besides X, also 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63000" y="1777901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63000" y="1777901"/>
            <a:ext cx="2412950" cy="558701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有的人在……</a:t>
            </a:r>
            <a:endParaRPr lang="en-US" sz="13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some people are 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2950" y="2412950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2950" y="2412950"/>
            <a:ext cx="2412950" cy="558701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弹钢琴</a:t>
            </a:r>
            <a:endParaRPr lang="en-US" sz="13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play the piano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63000" y="2412950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763000" y="2412950"/>
            <a:ext cx="2412950" cy="558701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半个小时</a:t>
            </a:r>
            <a:endParaRPr lang="en-US" sz="13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half an hour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2950" y="3048000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2950" y="3048000"/>
            <a:ext cx="2412950" cy="558701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一个小时</a:t>
            </a:r>
            <a:endParaRPr lang="en-US" sz="13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one hour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2000" y="4508450"/>
            <a:ext cx="10668000" cy="685800"/>
          </a:xfrm>
          <a:prstGeom prst="rect">
            <a:avLst/>
          </a:prstGeom>
          <a:solidFill>
            <a:srgbClr val="F5ED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2000" y="4508450"/>
            <a:ext cx="10668000" cy="685800"/>
          </a:xfrm>
          <a:prstGeom prst="rect">
            <a:avLst/>
          </a:prstGeom>
          <a:noFill/>
          <a:ln/>
        </p:spPr>
        <p:txBody>
          <a:bodyPr wrap="square" lIns="203200" tIns="152400" rIns="203200" bIns="152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"You already know 弹钢琴 and how to say durations like 半个小时. Today you'll meet a new instrument — violin — which uses a different verb, and combine duration with a new pattern: 从……开始 (starting from)."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910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711101"/>
            <a:ext cx="106222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888950"/>
            <a:ext cx="106222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524000"/>
            <a:ext cx="10413950" cy="1069777"/>
          </a:xfrm>
          <a:prstGeom prst="rect">
            <a:avLst/>
          </a:prstGeom>
          <a:solidFill>
            <a:srgbClr val="F5ED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8950" y="1524000"/>
            <a:ext cx="10413950" cy="1069777"/>
          </a:xfrm>
          <a:prstGeom prst="rect">
            <a:avLst/>
          </a:prstGeom>
          <a:noFill/>
          <a:ln/>
        </p:spPr>
        <p:txBody>
          <a:bodyPr wrap="square" lIns="228600" tIns="177800" rIns="228600" bIns="1778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LEARNING INTENTION</a:t>
            </a:r>
            <a:endParaRPr lang="en-US" sz="8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 are learning to say when we started an activity (从……开始) and how long we do it for, using a new instrument word — violin.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88950" y="2857500"/>
            <a:ext cx="10413950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950" y="2857500"/>
            <a:ext cx="10413950" cy="558701"/>
          </a:xfrm>
          <a:prstGeom prst="rect">
            <a:avLst/>
          </a:prstGeom>
          <a:noFill/>
          <a:ln/>
        </p:spPr>
        <p:txBody>
          <a:bodyPr wrap="square" lIns="254000" tIns="127000" rIns="2540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I can say 拉, 小提琴, 拉小提琴 and know when to use </a:t>
            </a:r>
            <a:r>
              <a:rPr lang="en-US" sz="12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 vs 弹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for instruments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8950" y="3555950"/>
            <a:ext cx="10413950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8950" y="3555950"/>
            <a:ext cx="10413950" cy="558701"/>
          </a:xfrm>
          <a:prstGeom prst="rect">
            <a:avLst/>
          </a:prstGeom>
          <a:noFill/>
          <a:ln/>
        </p:spPr>
        <p:txBody>
          <a:bodyPr wrap="square" lIns="254000" tIns="127000" rIns="2540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I can use 从……开始 to say </a:t>
            </a:r>
            <a:r>
              <a:rPr lang="en-US" sz="12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"starting from age/time X"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8950" y="4254401"/>
            <a:ext cx="10413950" cy="762000"/>
          </a:xfrm>
          <a:prstGeom prst="roundRect">
            <a:avLst>
              <a:gd name="adj" fmla="val 1333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8950" y="4254401"/>
            <a:ext cx="10413950" cy="762000"/>
          </a:xfrm>
          <a:prstGeom prst="rect">
            <a:avLst/>
          </a:prstGeom>
          <a:noFill/>
          <a:ln/>
        </p:spPr>
        <p:txBody>
          <a:bodyPr wrap="square" lIns="254000" tIns="127000" rIns="2540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I can combine 从……开始 with a </a:t>
            </a:r>
            <a:r>
              <a:rPr lang="en-US" sz="12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duration phrase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我每天拉四十五分钟小提琴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1804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New Vocabulary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600"/>
            <a:ext cx="11140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4901" y="787301"/>
            <a:ext cx="111403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 Vocabulary · 词汇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34901" y="1396901"/>
            <a:ext cx="2539901" cy="7620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1396901"/>
            <a:ext cx="2539901" cy="7620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</a:t>
            </a:r>
            <a:endParaRPr lang="en-US" sz="18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lā</a:t>
            </a:r>
            <a:endParaRPr lang="en-US" sz="1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pull; play (bowed string)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01901" y="1396901"/>
            <a:ext cx="2539901" cy="7620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01901" y="1396901"/>
            <a:ext cx="2539901" cy="7620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</a:t>
            </a:r>
            <a:endParaRPr lang="en-US" sz="18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tí</a:t>
            </a:r>
            <a:endParaRPr lang="en-US" sz="1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carry; lift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68901" y="1396901"/>
            <a:ext cx="2539901" cy="762000"/>
          </a:xfrm>
          <a:prstGeom prst="roundRect">
            <a:avLst>
              <a:gd name="adj" fmla="val 16667"/>
            </a:avLst>
          </a:prstGeom>
          <a:solidFill>
            <a:srgbClr val="F5EDE0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68901" y="1396901"/>
            <a:ext cx="2539901" cy="7620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小提琴</a:t>
            </a:r>
            <a:endParaRPr lang="en-US" sz="18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xiǎotíqín</a:t>
            </a:r>
            <a:endParaRPr lang="en-US" sz="1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violin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35901" y="1396901"/>
            <a:ext cx="2920901" cy="762000"/>
          </a:xfrm>
          <a:prstGeom prst="roundRect">
            <a:avLst>
              <a:gd name="adj" fmla="val 16667"/>
            </a:avLst>
          </a:prstGeom>
          <a:solidFill>
            <a:srgbClr val="F5EDE0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35901" y="1396901"/>
            <a:ext cx="2920901" cy="762000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拉小提琴</a:t>
            </a:r>
            <a:endParaRPr lang="en-US" sz="16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lā xiǎotíqín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play the violin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901" y="2476500"/>
            <a:ext cx="111403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INSTRUMENT VERB RULE · 拉 VS 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901" y="2730401"/>
            <a:ext cx="5270450" cy="1396901"/>
          </a:xfrm>
          <a:prstGeom prst="roundRect">
            <a:avLst>
              <a:gd name="adj" fmla="val 9092"/>
            </a:avLst>
          </a:prstGeom>
          <a:solidFill>
            <a:srgbClr val="F5EDE0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2730401"/>
            <a:ext cx="5270450" cy="1396901"/>
          </a:xfrm>
          <a:prstGeom prst="rect">
            <a:avLst/>
          </a:prstGeom>
          <a:noFill/>
          <a:ln/>
        </p:spPr>
        <p:txBody>
          <a:bodyPr wrap="square" lIns="254000" tIns="177800" rIns="254000" bIns="177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 — BOWED STRING INSTRUMENT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拉小提琴 </a:t>
            </a:r>
            <a:r>
              <a:rPr lang="en-US" sz="9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lā xiǎotíqín — "pull" the bow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59401" y="2730401"/>
            <a:ext cx="5397401" cy="1396901"/>
          </a:xfrm>
          <a:prstGeom prst="roundRect">
            <a:avLst>
              <a:gd name="adj" fmla="val 9092"/>
            </a:avLst>
          </a:prstGeom>
          <a:solidFill>
            <a:srgbClr val="E8F0F1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59401" y="2730401"/>
            <a:ext cx="5397401" cy="1396901"/>
          </a:xfrm>
          <a:prstGeom prst="rect">
            <a:avLst/>
          </a:prstGeom>
          <a:noFill/>
          <a:ln/>
        </p:spPr>
        <p:txBody>
          <a:bodyPr wrap="square" lIns="254000" tIns="177800" rIns="254000" bIns="177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 — KEYBOARD / PLUCKED INSTRUMENT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弹钢琴 / 弹吉他 </a:t>
            </a:r>
            <a:r>
              <a:rPr lang="en-US" sz="9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tán gāngqín / tán jítā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4901" y="4254401"/>
            <a:ext cx="111403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 and 弹 are not interchangeable — mixing them up is a common mistake.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921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Key Pattern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09600"/>
            <a:ext cx="106222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787301"/>
            <a:ext cx="1062222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关键句型 · Key Pattern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8950" y="1168301"/>
            <a:ext cx="10622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Say when you started an activity — then add how long you do it for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8950" y="1524000"/>
            <a:ext cx="10413950" cy="507950"/>
          </a:xfrm>
          <a:prstGeom prst="roundRect">
            <a:avLst>
              <a:gd name="adj" fmla="val 2500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950" y="1524000"/>
            <a:ext cx="10413950" cy="50795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我从X岁开始 </a:t>
            </a:r>
            <a:r>
              <a:rPr lang="en-US" sz="16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学Y</a:t>
            </a:r>
            <a:r>
              <a:rPr lang="en-US" sz="16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r>
              <a:rPr lang="en-US" sz="11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"I started learning Y from age X"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8950" y="2184350"/>
            <a:ext cx="10413950" cy="431750"/>
          </a:xfrm>
          <a:prstGeom prst="roundRect">
            <a:avLst>
              <a:gd name="adj" fmla="val 176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950" y="2184350"/>
            <a:ext cx="10413950" cy="43175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我从四岁开始</a:t>
            </a: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学跳舞。 </a:t>
            </a:r>
            <a:r>
              <a:rPr lang="en-US" sz="9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started dancing from age 4.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8950" y="2692301"/>
            <a:ext cx="10413950" cy="431750"/>
          </a:xfrm>
          <a:prstGeom prst="roundRect">
            <a:avLst>
              <a:gd name="adj" fmla="val 176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8950" y="2692301"/>
            <a:ext cx="10413950" cy="43175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我从六岁开始</a:t>
            </a: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拉小提琴。 </a:t>
            </a:r>
            <a:r>
              <a:rPr lang="en-US" sz="9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started playing violin from age 6.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8950" y="3200400"/>
            <a:ext cx="10413950" cy="431750"/>
          </a:xfrm>
          <a:prstGeom prst="roundRect">
            <a:avLst>
              <a:gd name="adj" fmla="val 176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8950" y="3200400"/>
            <a:ext cx="10413950" cy="43175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我每天</a:t>
            </a:r>
            <a:r>
              <a:rPr lang="en-US" sz="13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拉四十五分钟</a:t>
            </a: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小提琴。 </a:t>
            </a:r>
            <a:r>
              <a:rPr lang="en-US" sz="9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play violin 45 min/day. (+duration)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8950" y="3708350"/>
            <a:ext cx="10413950" cy="431750"/>
          </a:xfrm>
          <a:prstGeom prst="roundRect">
            <a:avLst>
              <a:gd name="adj" fmla="val 17649"/>
            </a:avLst>
          </a:prstGeom>
          <a:solidFill>
            <a:srgbClr val="FBEEEC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8950" y="3708350"/>
            <a:ext cx="10413950" cy="43175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我从一岁开始</a:t>
            </a: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拉小提琴！ </a:t>
            </a: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SILLY EXAMPLE</a:t>
            </a: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r>
              <a:rPr lang="en-US" sz="9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started violin from age 1!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8950" y="4254401"/>
            <a:ext cx="10622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从……开始 works with any activity — dancing, an instrument, a sport, anything.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12053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CFU Checkpoints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711101"/>
            <a:ext cx="106222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888950"/>
            <a:ext cx="1062222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88950" y="1333500"/>
            <a:ext cx="10622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Respond as prompted for each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8950" y="1777901"/>
            <a:ext cx="10413950" cy="952500"/>
          </a:xfrm>
          <a:prstGeom prst="roundRect">
            <a:avLst>
              <a:gd name="adj" fmla="val 13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950" y="1777901"/>
            <a:ext cx="10413950" cy="952500"/>
          </a:xfrm>
          <a:prstGeom prst="rect">
            <a:avLst/>
          </a:prstGeom>
          <a:noFill/>
          <a:ln/>
        </p:spPr>
        <p:txBody>
          <a:bodyPr wrap="square" lIns="254000" tIns="177800" rIns="254000" bIns="177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What's the verb for 小提琴? </a:t>
            </a:r>
            <a:r>
              <a:rPr lang="en-US" sz="10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Thumbs up if you remember it's 拉, not 弹.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8950" y="2857500"/>
            <a:ext cx="10413950" cy="952500"/>
          </a:xfrm>
          <a:prstGeom prst="roundRect">
            <a:avLst>
              <a:gd name="adj" fmla="val 13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950" y="2857500"/>
            <a:ext cx="10413950" cy="952500"/>
          </a:xfrm>
          <a:prstGeom prst="rect">
            <a:avLst/>
          </a:prstGeom>
          <a:noFill/>
          <a:ln/>
        </p:spPr>
        <p:txBody>
          <a:bodyPr wrap="square" lIns="254000" tIns="177800" rIns="254000" bIns="177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How do you say "I started swimming from age 7"? </a:t>
            </a:r>
            <a:r>
              <a:rPr lang="en-US" sz="10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 it on your whiteboard.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8950" y="3936950"/>
            <a:ext cx="10413950" cy="952500"/>
          </a:xfrm>
          <a:prstGeom prst="roundRect">
            <a:avLst>
              <a:gd name="adj" fmla="val 13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8950" y="3936950"/>
            <a:ext cx="10413950" cy="952500"/>
          </a:xfrm>
          <a:prstGeom prst="rect">
            <a:avLst/>
          </a:prstGeom>
          <a:noFill/>
          <a:ln/>
        </p:spPr>
        <p:txBody>
          <a:bodyPr wrap="square" lIns="254000" tIns="177800" rIns="254000" bIns="177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Error check: 我从六岁弹小提琴。 What's wrong?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11297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CFU Answers 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711101"/>
            <a:ext cx="106222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888950"/>
            <a:ext cx="1062222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 · Answers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88950" y="1524000"/>
            <a:ext cx="1041395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8950" y="1524000"/>
            <a:ext cx="10413950" cy="888950"/>
          </a:xfrm>
          <a:prstGeom prst="rect">
            <a:avLst/>
          </a:prstGeom>
          <a:noFill/>
          <a:ln/>
        </p:spPr>
        <p:txBody>
          <a:bodyPr wrap="square" lIns="254000" tIns="152400" rIns="254000" bIns="152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What's the verb for 小提琴?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 — 拉小提琴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lā xiǎotíqín — "pull the violin". 拉 is used for bowed string instruments.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8950" y="2539901"/>
            <a:ext cx="1041395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950" y="2539901"/>
            <a:ext cx="10413950" cy="888950"/>
          </a:xfrm>
          <a:prstGeom prst="rect">
            <a:avLst/>
          </a:prstGeom>
          <a:noFill/>
          <a:ln/>
        </p:spPr>
        <p:txBody>
          <a:bodyPr wrap="square" lIns="254000" tIns="152400" rIns="254000" bIns="152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How to say "I started swimming from age 7"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我从七岁开始游泳。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wǒ cóng qī suì kāishǐ yóuyǒng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8950" y="3555950"/>
            <a:ext cx="10413950" cy="1015901"/>
          </a:xfrm>
          <a:prstGeom prst="roundRect">
            <a:avLst>
              <a:gd name="adj" fmla="val 1250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8950" y="3555950"/>
            <a:ext cx="10413950" cy="1015901"/>
          </a:xfrm>
          <a:prstGeom prst="rect">
            <a:avLst/>
          </a:prstGeom>
          <a:noFill/>
          <a:ln/>
        </p:spPr>
        <p:txBody>
          <a:bodyPr wrap="square" lIns="254000" tIns="152400" rIns="254000" bIns="152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Error check: 我从六岁弹小提琴。 What's wrong?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Missing 开始, and wrong verb — should be 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Correct: 我从六岁开始拉小提琴。 弹 is only for keyboard/plucked instruments.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1 · We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34901"/>
            <a:ext cx="2793950" cy="253901"/>
          </a:xfrm>
          <a:prstGeom prst="roundRect">
            <a:avLst>
              <a:gd name="adj" fmla="val 5001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634901"/>
            <a:ext cx="2793950" cy="253901"/>
          </a:xfrm>
          <a:prstGeom prst="rect">
            <a:avLst/>
          </a:prstGeom>
          <a:noFill/>
          <a:ln/>
        </p:spPr>
        <p:txBody>
          <a:bodyPr wrap="square" lIns="177800" tIns="50800" rIns="1778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0901" y="558701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Oral Milestone Practice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2000" y="1143000"/>
            <a:ext cx="1524000" cy="253901"/>
          </a:xfrm>
          <a:prstGeom prst="roundRect">
            <a:avLst>
              <a:gd name="adj" fmla="val 50019"/>
            </a:avLst>
          </a:prstGeom>
          <a:solidFill>
            <a:srgbClr val="F5EDE0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1143000"/>
            <a:ext cx="1524000" cy="253901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12950" y="1143000"/>
            <a:ext cx="1269950" cy="253901"/>
          </a:xfrm>
          <a:prstGeom prst="roundRect">
            <a:avLst>
              <a:gd name="adj" fmla="val 50019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2950" y="1143000"/>
            <a:ext cx="1269950" cy="253901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 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000" y="1650950"/>
            <a:ext cx="5079950" cy="2286000"/>
          </a:xfrm>
          <a:prstGeom prst="roundRect">
            <a:avLst>
              <a:gd name="adj" fmla="val 55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1650950"/>
            <a:ext cx="5079950" cy="22860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INSTRUCTIONS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In pairs, take turns saying when you started four things: walking, talking, learning Chinese, and (if applicable) playing an instrument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Use 我从……岁/年开始…… for each milestone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Extension: add a follow-up duration clause for one milestone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9401" y="1650950"/>
            <a:ext cx="5397401" cy="533400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59401" y="1650950"/>
            <a:ext cx="5397401" cy="5334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我从</a:t>
            </a:r>
            <a:r>
              <a:rPr lang="en-US" sz="15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___</a:t>
            </a:r>
            <a:r>
              <a:rPr lang="en-US" sz="1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岁开始</a:t>
            </a:r>
            <a:r>
              <a:rPr lang="en-US" sz="15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___</a:t>
            </a:r>
            <a:r>
              <a:rPr lang="en-US" sz="1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59401" y="2349401"/>
            <a:ext cx="5397401" cy="1269950"/>
          </a:xfrm>
          <a:prstGeom prst="roundRect">
            <a:avLst>
              <a:gd name="adj" fmla="val 1000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59401" y="2349401"/>
            <a:ext cx="5397401" cy="1269950"/>
          </a:xfrm>
          <a:prstGeom prst="rect">
            <a:avLst/>
          </a:prstGeom>
          <a:noFill/>
          <a:ln/>
        </p:spPr>
        <p:txBody>
          <a:bodyPr wrap="square" lIns="228600" tIns="177800" rIns="228600" bIns="1778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WORD BANK · 4 MILESTONES</a:t>
            </a:r>
            <a:endParaRPr lang="en-US" sz="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走路   说话   学中文   拉/弹 + instrument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2000" y="4191000"/>
            <a:ext cx="342900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4191000"/>
            <a:ext cx="342900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SCAFFOLD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Sentence frame on the board with a word bank of the 4 milestone verbs alongside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1500" y="4191000"/>
            <a:ext cx="342900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81500" y="4191000"/>
            <a:ext cx="342900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EXTENSION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Students add a follow-up duration clause (我从六岁开始学中文，我每个星期学三个小时)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01000" y="4191000"/>
            <a:ext cx="355595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01000" y="4191000"/>
            <a:ext cx="355595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OTR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Every student speaks in pairs simultaneously; teacher cold-calls 2–3 students to share afterward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9694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2 · You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34901"/>
            <a:ext cx="2793950" cy="253901"/>
          </a:xfrm>
          <a:prstGeom prst="roundRect">
            <a:avLst>
              <a:gd name="adj" fmla="val 5001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634901"/>
            <a:ext cx="2793950" cy="253901"/>
          </a:xfrm>
          <a:prstGeom prst="rect">
            <a:avLst/>
          </a:prstGeom>
          <a:noFill/>
          <a:ln/>
        </p:spPr>
        <p:txBody>
          <a:bodyPr wrap="square" lIns="177800" tIns="50800" rIns="1778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0901" y="558701"/>
            <a:ext cx="77724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Pinyin Listening · ou / uo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1143000"/>
            <a:ext cx="1524000" cy="253901"/>
          </a:xfrm>
          <a:prstGeom prst="roundRect">
            <a:avLst>
              <a:gd name="adj" fmla="val 50019"/>
            </a:avLst>
          </a:prstGeom>
          <a:solidFill>
            <a:srgbClr val="F5EDE0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1143000"/>
            <a:ext cx="1524000" cy="253901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12950" y="1143000"/>
            <a:ext cx="1269950" cy="253901"/>
          </a:xfrm>
          <a:prstGeom prst="roundRect">
            <a:avLst>
              <a:gd name="adj" fmla="val 50019"/>
            </a:avLst>
          </a:prstGeom>
          <a:solidFill>
            <a:srgbClr val="FB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2950" y="1143000"/>
            <a:ext cx="1269950" cy="253901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000" y="1650950"/>
            <a:ext cx="5079950" cy="2412950"/>
          </a:xfrm>
          <a:prstGeom prst="roundRect">
            <a:avLst>
              <a:gd name="adj" fmla="val 526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1650950"/>
            <a:ext cx="5079950" cy="241295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INSTRUCTIONS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Teacher reads a series of words/syllables aloud — a mix of ou and uo sounds, drawing on Unit 3 vocabulary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Write the pinyin with correct tone marks on the worksheet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Extension: also write the character and English meaning for each syllable heard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59401" y="1650950"/>
            <a:ext cx="5397401" cy="2412950"/>
          </a:xfrm>
          <a:prstGeom prst="roundRect">
            <a:avLst>
              <a:gd name="adj" fmla="val 526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59401" y="1650950"/>
            <a:ext cx="5397401" cy="241295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WORKED EXAMPLE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舞 → </a:t>
            </a:r>
            <a:r>
              <a:rPr lang="en-US" sz="14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wǔ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 → </a:t>
            </a:r>
            <a:r>
              <a:rPr lang="en-US" sz="14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shuō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 → </a:t>
            </a:r>
            <a:r>
              <a:rPr lang="en-US" sz="14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dōu</a:t>
            </a:r>
            <a:endParaRPr lang="en-US" sz="9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 → </a:t>
            </a:r>
            <a:r>
              <a:rPr lang="en-US" sz="14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zǒu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2000" y="4317950"/>
            <a:ext cx="342900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000" y="4317950"/>
            <a:ext cx="342900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SCAFFOLD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Word bank of possible syllables provided at the bottom of the worksheet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1500" y="4317950"/>
            <a:ext cx="342900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1500" y="4317950"/>
            <a:ext cx="342900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EXTENSION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Students also write the character and English meaning for each syllable they hear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01000" y="4317950"/>
            <a:ext cx="355595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01000" y="4317950"/>
            <a:ext cx="355595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OTR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Listen-and-write; every student responds; teacher reveals answers on the projector for self-marking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13155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 · Running Dictation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09600"/>
            <a:ext cx="1269950" cy="253901"/>
          </a:xfrm>
          <a:prstGeom prst="roundRect">
            <a:avLst>
              <a:gd name="adj" fmla="val 5001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269950" cy="253901"/>
          </a:xfrm>
          <a:prstGeom prst="rect">
            <a:avLst/>
          </a:prstGeom>
          <a:noFill/>
          <a:ln/>
        </p:spPr>
        <p:txBody>
          <a:bodyPr wrap="square" lIns="177800" tIns="50800" rIns="1778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58901" y="609600"/>
            <a:ext cx="1269950" cy="253901"/>
          </a:xfrm>
          <a:prstGeom prst="roundRect">
            <a:avLst>
              <a:gd name="adj" fmla="val 5001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58901" y="609600"/>
            <a:ext cx="1269950" cy="253901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55950" y="609600"/>
            <a:ext cx="1269950" cy="253901"/>
          </a:xfrm>
          <a:prstGeom prst="roundRect">
            <a:avLst>
              <a:gd name="adj" fmla="val 50019"/>
            </a:avLst>
          </a:prstGeom>
          <a:solidFill>
            <a:srgbClr val="FBEE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55950" y="609600"/>
            <a:ext cx="1269950" cy="253901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2000" y="1015901"/>
            <a:ext cx="1088136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Running Dictation · 跑动听写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000" y="1396901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Sentence strips posted around the room — pairs relay-dictate them to win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2000" y="1777901"/>
            <a:ext cx="5181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SENTENCE STRIPS AROUND THE ROOM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2031950"/>
            <a:ext cx="5079950" cy="558701"/>
          </a:xfrm>
          <a:prstGeom prst="roundRect">
            <a:avLst>
              <a:gd name="adj" fmla="val 18185"/>
            </a:avLst>
          </a:prstGeom>
          <a:solidFill>
            <a:srgbClr val="FEFCF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2031950"/>
            <a:ext cx="5079950" cy="558701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📌 我从四岁开始学跳舞。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2000" y="2692301"/>
            <a:ext cx="5079950" cy="558701"/>
          </a:xfrm>
          <a:prstGeom prst="roundRect">
            <a:avLst>
              <a:gd name="adj" fmla="val 18185"/>
            </a:avLst>
          </a:prstGeom>
          <a:solidFill>
            <a:srgbClr val="FEFCF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000" y="2692301"/>
            <a:ext cx="5079950" cy="558701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📌 我从六岁开始拉小提琴。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0" y="3352800"/>
            <a:ext cx="5079950" cy="558701"/>
          </a:xfrm>
          <a:prstGeom prst="roundRect">
            <a:avLst>
              <a:gd name="adj" fmla="val 18185"/>
            </a:avLst>
          </a:prstGeom>
          <a:solidFill>
            <a:srgbClr val="FEFCF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5079950" cy="558701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📌 我每天拉四十五分钟小提琴。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59401" y="1777901"/>
            <a:ext cx="5397401" cy="2158901"/>
          </a:xfrm>
          <a:prstGeom prst="roundRect">
            <a:avLst>
              <a:gd name="adj" fmla="val 588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59401" y="1777901"/>
            <a:ext cx="5397401" cy="2158901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HOW TO PLAY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Sentence strips using 从……开始 are taped up around the classroom/corridor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One student runs to read a sentence, memorises it, runs back, and dictates it to their partner, who writes it down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Partners swap roles each round. First pair to correctly transcribe all sentences wins!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9401" y="4063901"/>
            <a:ext cx="5397401" cy="762000"/>
          </a:xfrm>
          <a:prstGeom prst="roundRect">
            <a:avLst>
              <a:gd name="adj" fmla="val 13333"/>
            </a:avLst>
          </a:prstGeom>
          <a:solidFill>
            <a:srgbClr val="FBEEE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59401" y="4063901"/>
            <a:ext cx="5397401" cy="762000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Setup needed</a:t>
            </a:r>
            <a:endParaRPr lang="en-US" sz="11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Sentence strips taped up around the classroom/corridor, pens and paper for each pair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2000" y="5003750"/>
            <a:ext cx="342900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2000" y="5003750"/>
            <a:ext cx="342900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SCAFFOLD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Shorter, simpler strips posted closer to the classroom door for pairs who need it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81500" y="5003750"/>
            <a:ext cx="342900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81500" y="5003750"/>
            <a:ext cx="342900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EXTENSION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Fast-finishing pairs add a bonus duration clause of their own to an extra blank strip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01000" y="5003750"/>
            <a:ext cx="3555950" cy="1015901"/>
          </a:xfrm>
          <a:prstGeom prst="roundRect">
            <a:avLst>
              <a:gd name="adj" fmla="val 100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01000" y="5003750"/>
            <a:ext cx="3555950" cy="1015901"/>
          </a:xfrm>
          <a:prstGeom prst="rect">
            <a:avLst/>
          </a:prstGeom>
          <a:noFill/>
          <a:ln/>
        </p:spPr>
        <p:txBody>
          <a:bodyPr wrap="square" lIns="177800" tIns="127000" rIns="177800" bIns="1270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OTR</a:t>
            </a:r>
            <a:endParaRPr lang="en-US" sz="8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Every pair runs and writes simultaneously; teacher circulates to check transcriptions as pairs finish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711101"/>
            <a:ext cx="106222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888950"/>
            <a:ext cx="106222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524000"/>
            <a:ext cx="4953000" cy="3682901"/>
          </a:xfrm>
          <a:prstGeom prst="roundRect">
            <a:avLst>
              <a:gd name="adj" fmla="val 344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8950" y="1524000"/>
            <a:ext cx="4953000" cy="3682901"/>
          </a:xfrm>
          <a:prstGeom prst="rect">
            <a:avLst/>
          </a:prstGeom>
          <a:noFill/>
          <a:ln/>
        </p:spPr>
        <p:txBody>
          <a:bodyPr wrap="square" lIns="254000" tIns="203200" rIns="254000" bIns="2032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REVISIT SUCCESS CRITERIA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👍✋👎 Say 拉, 小提琴, 拉小提琴 and know 拉 vs 弹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👍✋👎 Use 从……开始 to say "starting from age/time X"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👍✋👎 Combine 从……开始 with a duration phrase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0" y="1524000"/>
            <a:ext cx="5206901" cy="3682901"/>
          </a:xfrm>
          <a:prstGeom prst="roundRect">
            <a:avLst>
              <a:gd name="adj" fmla="val 344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0" y="1524000"/>
            <a:ext cx="5206901" cy="3682901"/>
          </a:xfrm>
          <a:prstGeom prst="rect">
            <a:avLst/>
          </a:prstGeom>
          <a:noFill/>
          <a:ln/>
        </p:spPr>
        <p:txBody>
          <a:bodyPr wrap="square" lIns="254000" tIns="203200" rIns="254000" bIns="2032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EXIT TICKET</a:t>
            </a:r>
            <a:endParaRPr lang="en-US" sz="9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 one 从……开始 sentence about yourself</a:t>
            </a:r>
            <a:endParaRPr lang="en-US" sz="9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Student volunteer reads each success criterion aloud — class responds with the target word or sentence.</a:t>
            </a:r>
            <a:endParaRPr lang="en-US" sz="9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Self-assess with thumbs against each of the 3 criteria above.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76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从……开始 + DURATION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920901" y="165050"/>
            <a:ext cx="11411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Preview · Next Lesson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-121920" y="888950"/>
            <a:ext cx="124358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COMING UP NEXT · L4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-121920" y="1168301"/>
            <a:ext cx="1243584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课文一 · 欢欢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-121920" y="1777901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Reading the full passage about 欢欢 and her hobbies + 正在 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74950" y="2539901"/>
            <a:ext cx="2412950" cy="1524000"/>
          </a:xfrm>
          <a:prstGeom prst="roundRect">
            <a:avLst>
              <a:gd name="adj" fmla="val 8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74950" y="2539901"/>
            <a:ext cx="2412950" cy="15240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📖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课文一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Reading the full 欢欢 passage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03950" y="2539901"/>
            <a:ext cx="2412950" cy="1524000"/>
          </a:xfrm>
          <a:prstGeom prst="roundRect">
            <a:avLst>
              <a:gd name="adj" fmla="val 8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950" y="2539901"/>
            <a:ext cx="2412950" cy="15240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🔄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Reviewing action-in-progress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55950" y="4444901"/>
            <a:ext cx="5079950" cy="1015901"/>
          </a:xfrm>
          <a:prstGeom prst="roundRect">
            <a:avLst>
              <a:gd name="adj" fmla="val 1250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55950" y="4444901"/>
            <a:ext cx="5079950" cy="1015901"/>
          </a:xfrm>
          <a:prstGeom prst="rect">
            <a:avLst/>
          </a:prstGeom>
          <a:noFill/>
          <a:ln/>
        </p:spPr>
        <p:txBody>
          <a:bodyPr wrap="square" lIns="304800" tIns="152400" rIns="304800" bIns="1524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COMING UP</a:t>
            </a:r>
            <a:endParaRPr lang="en-US" sz="8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欢欢正在……</a:t>
            </a:r>
            <a:endParaRPr lang="en-US" sz="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"Huanhuan is (in the process of) …ing" — putting the week together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6532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638776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2026-07-25T00:50:41Z</dcterms:created>
  <dcterms:modified xsi:type="dcterms:W3CDTF">2026-07-25T00:50:41Z</dcterms:modified>
</cp:coreProperties>
</file>