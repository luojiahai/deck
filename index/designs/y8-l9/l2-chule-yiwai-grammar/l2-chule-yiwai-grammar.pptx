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32950" y="762000"/>
            <a:ext cx="1684121" cy="165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0"/>
              </a:lnSpc>
              <a:buNone/>
            </a:pPr>
            <a:r>
              <a:rPr lang="en-US" sz="13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-121920" y="1905000"/>
            <a:ext cx="124358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OF 8 · Y8 UNIT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-121920" y="2349401"/>
            <a:ext cx="124358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-121920" y="3238500"/>
            <a:ext cx="12435840" cy="101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0"/>
              </a:lnSpc>
              <a:buNone/>
            </a:pPr>
            <a:r>
              <a:rPr lang="en-US" sz="8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爱好</a:t>
            </a:r>
            <a:r>
              <a:rPr lang="en-US" sz="8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8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-121920" y="4508450"/>
            <a:ext cx="1243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 Grammar Deep-Dive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-121920" y="5206901"/>
            <a:ext cx="124358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   ·   50 mins   ·   Grammar + Writing   ·   轻松学中文 Book 2 · Unit 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7226"/>
            <a:ext cx="24480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除了……以外 GRAMMAR · </a:t>
            </a: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812750"/>
            <a:ext cx="10881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62000" y="1019026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Lesson 1 Vocabulary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62000" y="1688902"/>
            <a:ext cx="5207050" cy="1679377"/>
          </a:xfrm>
          <a:prstGeom prst="roundRect">
            <a:avLst>
              <a:gd name="adj" fmla="val 756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74675" y="1901577"/>
            <a:ext cx="48773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MINI-WHITEBOARD QUICK QUIZ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4675" y="2165003"/>
            <a:ext cx="4781699" cy="914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gives 2 English sentences: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"Besides dancing, I also like reading."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/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"Besides sport, I also like music."</a:t>
            </a:r>
            <a:endParaRPr lang="en-US" sz="1100" dirty="0"/>
          </a:p>
          <a:p>
            <a:pPr algn="l" marL="76200" indent="-762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the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translation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hold up their whiteboards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22950" y="1688902"/>
            <a:ext cx="53111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WORDS (LESSON 1)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22950" y="1952327"/>
            <a:ext cx="793998" cy="469702"/>
          </a:xfrm>
          <a:prstGeom prst="roundRect">
            <a:avLst>
              <a:gd name="adj" fmla="val 1622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9426" y="2025253"/>
            <a:ext cx="5314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9426" y="2234803"/>
            <a:ext cx="5314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 (noun)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7093148" y="1952327"/>
            <a:ext cx="624483" cy="469702"/>
          </a:xfrm>
          <a:prstGeom prst="roundRect">
            <a:avLst>
              <a:gd name="adj" fmla="val 1622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29624" y="2025253"/>
            <a:ext cx="3585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跳舞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9624" y="2234803"/>
            <a:ext cx="358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dance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7793831" y="1952327"/>
            <a:ext cx="460325" cy="469702"/>
          </a:xfrm>
          <a:prstGeom prst="roundRect">
            <a:avLst>
              <a:gd name="adj" fmla="val 16554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30307" y="2025253"/>
            <a:ext cx="1911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30307" y="2234803"/>
            <a:ext cx="1911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8330357" y="1952327"/>
            <a:ext cx="731044" cy="469702"/>
          </a:xfrm>
          <a:prstGeom prst="roundRect">
            <a:avLst>
              <a:gd name="adj" fmla="val 1622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466832" y="2025253"/>
            <a:ext cx="4672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66832" y="2234803"/>
            <a:ext cx="467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start; begin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137600" y="1952327"/>
            <a:ext cx="1187351" cy="469702"/>
          </a:xfrm>
          <a:prstGeom prst="roundRect">
            <a:avLst>
              <a:gd name="adj" fmla="val 1622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274076" y="2025253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除了……以外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74076" y="2234803"/>
            <a:ext cx="932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besides; apart from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762000" y="3545979"/>
            <a:ext cx="10668000" cy="584002"/>
          </a:xfrm>
          <a:prstGeom prst="rect">
            <a:avLst/>
          </a:prstGeom>
          <a:solidFill>
            <a:srgbClr val="F8F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776288" y="3545979"/>
            <a:ext cx="0" cy="584002"/>
          </a:xfrm>
          <a:prstGeom prst="line">
            <a:avLst/>
          </a:prstGeom>
          <a:noFill/>
          <a:ln w="28575">
            <a:solidFill>
              <a:srgbClr val="C894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2975" y="3660279"/>
            <a:ext cx="1054131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"Yesterday you built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sentences with word cards. Today you'll write your own from scratch — including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translating from English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and use a similar idea,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有的人……有的人……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to describe a whole scene of people doing different things."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950" y="6645325"/>
            <a:ext cx="13457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7226"/>
            <a:ext cx="24604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除了……以外 GRAMMAR · </a:t>
            </a: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888950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8950" y="1108025"/>
            <a:ext cx="106223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88950" y="1828651"/>
            <a:ext cx="8889950" cy="952202"/>
          </a:xfrm>
          <a:prstGeom prst="rect">
            <a:avLst/>
          </a:prstGeom>
          <a:solidFill>
            <a:srgbClr val="F8F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03238" y="1828651"/>
            <a:ext cx="0" cy="952202"/>
          </a:xfrm>
          <a:prstGeom prst="line">
            <a:avLst/>
          </a:prstGeom>
          <a:noFill/>
          <a:ln w="28575">
            <a:solidFill>
              <a:srgbClr val="C89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0676" y="1981051"/>
            <a:ext cx="86241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20676" y="2133451"/>
            <a:ext cx="8624176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write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longer, more accurate 除了……以外 sentences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including translating from English, and describe a scene using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有的人在……有的人在……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8950" y="3047405"/>
            <a:ext cx="228600" cy="228600"/>
          </a:xfrm>
          <a:prstGeom prst="roundRect">
            <a:avLst>
              <a:gd name="adj" fmla="val 400000"/>
            </a:avLst>
          </a:prstGeom>
          <a:noFill/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78694" y="3085505"/>
            <a:ext cx="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19051" y="3034754"/>
            <a:ext cx="5024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English sentences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into Chinese using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8950" y="3415605"/>
            <a:ext cx="228600" cy="228600"/>
          </a:xfrm>
          <a:prstGeom prst="roundRect">
            <a:avLst>
              <a:gd name="adj" fmla="val 400000"/>
            </a:avLst>
          </a:prstGeom>
          <a:noFill/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68871" y="3453705"/>
            <a:ext cx="69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19051" y="3402955"/>
            <a:ext cx="66660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describe what several people are doing in a picture using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有的人在……有的人在……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8950" y="3783806"/>
            <a:ext cx="228600" cy="228600"/>
          </a:xfrm>
          <a:prstGeom prst="roundRect">
            <a:avLst>
              <a:gd name="adj" fmla="val 400000"/>
            </a:avLst>
          </a:prstGeom>
          <a:noFill/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68722" y="3821906"/>
            <a:ext cx="70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19051" y="3771156"/>
            <a:ext cx="64755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an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original sentence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combining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an activity of my choice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645325"/>
            <a:ext cx="13457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7226"/>
            <a:ext cx="33987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除了……以外 GRAMMAR · </a:t>
            </a: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VOCAB + PATTERNS · 10–20 MIN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736550"/>
            <a:ext cx="11140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34901" y="920651"/>
            <a:ext cx="1114064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+ Key Patterns · 词汇与句型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01" y="1374577"/>
            <a:ext cx="111406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6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RECAP · PINYIN STILL VISIBLE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34901" y="1539627"/>
            <a:ext cx="1492300" cy="304800"/>
          </a:xfrm>
          <a:prstGeom prst="roundRect">
            <a:avLst>
              <a:gd name="adj" fmla="val 25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5927" y="1587252"/>
            <a:ext cx="12956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6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chúle…yǐwài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0601" y="1539627"/>
            <a:ext cx="773609" cy="304800"/>
          </a:xfrm>
          <a:prstGeom prst="roundRect">
            <a:avLst>
              <a:gd name="adj" fmla="val 25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01627" y="1587252"/>
            <a:ext cx="5625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舞蹈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6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wǔdǎo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27611" y="1539627"/>
            <a:ext cx="777627" cy="304800"/>
          </a:xfrm>
          <a:prstGeom prst="roundRect">
            <a:avLst>
              <a:gd name="adj" fmla="val 25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38636" y="1587252"/>
            <a:ext cx="5666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跳舞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6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tiàowǔ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68638" y="1539627"/>
            <a:ext cx="1383506" cy="304800"/>
          </a:xfrm>
          <a:prstGeom prst="roundRect">
            <a:avLst>
              <a:gd name="adj" fmla="val 25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79664" y="1587252"/>
            <a:ext cx="1184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从……开始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6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cóng…kāishǐ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4901" y="1958727"/>
            <a:ext cx="111406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6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VOCABULARY · 新词汇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34901" y="2123777"/>
            <a:ext cx="5416600" cy="507802"/>
          </a:xfrm>
          <a:prstGeom prst="roundRect">
            <a:avLst>
              <a:gd name="adj" fmla="val 25010"/>
            </a:avLst>
          </a:prstGeom>
          <a:solidFill>
            <a:srgbClr val="F8F0E1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2234803"/>
            <a:ext cx="621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有的人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20726" y="2234803"/>
            <a:ext cx="6404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yǒude rén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20726" y="2377678"/>
            <a:ext cx="6404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 people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40351" y="2123777"/>
            <a:ext cx="5416748" cy="507802"/>
          </a:xfrm>
          <a:prstGeom prst="roundRect">
            <a:avLst>
              <a:gd name="adj" fmla="val 25010"/>
            </a:avLst>
          </a:prstGeom>
          <a:solidFill>
            <a:srgbClr val="F8F0E1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02276" y="2272903"/>
            <a:ext cx="18653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有的人在……有的人在……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45376" y="2234803"/>
            <a:ext cx="20265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yǒude rén zài… yǒude rén zài…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45376" y="2377678"/>
            <a:ext cx="20265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 people are …, some people are …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4901" y="2745879"/>
            <a:ext cx="10922198" cy="1044029"/>
          </a:xfrm>
          <a:prstGeom prst="roundRect">
            <a:avLst>
              <a:gd name="adj" fmla="val 1216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96826" y="2950518"/>
            <a:ext cx="455265" cy="142875"/>
          </a:xfrm>
          <a:prstGeom prst="roundRect">
            <a:avLst>
              <a:gd name="adj" fmla="val 8880000"/>
            </a:avLst>
          </a:prstGeom>
          <a:solidFill>
            <a:srgbClr val="EA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73026" y="2969568"/>
            <a:ext cx="3089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RECAP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328291" y="2856905"/>
            <a:ext cx="3037880" cy="330101"/>
          </a:xfrm>
          <a:prstGeom prst="roundRect">
            <a:avLst>
              <a:gd name="adj" fmla="val 23084"/>
            </a:avLst>
          </a:prstGeom>
          <a:solidFill>
            <a:srgbClr val="EDE7D7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464766" y="2917180"/>
            <a:ext cx="28202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除了X以外，我还喜欢Y </a:t>
            </a:r>
            <a:r>
              <a:rPr lang="en-US" sz="7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"Besides X, I also like Y"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6826" y="3250406"/>
            <a:ext cx="5261074" cy="428476"/>
          </a:xfrm>
          <a:prstGeom prst="roundRect">
            <a:avLst>
              <a:gd name="adj" fmla="val 17784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20651" y="3310682"/>
            <a:ext cx="51136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除了音乐</a:t>
            </a:r>
            <a:r>
              <a:rPr lang="en-US" sz="1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以外，我还喜欢</a:t>
            </a: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</a:t>
            </a:r>
            <a:r>
              <a:rPr lang="en-US" sz="1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20651" y="3504307"/>
            <a:ext cx="51136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 music, I also like dance.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134100" y="3250406"/>
            <a:ext cx="5261074" cy="428476"/>
          </a:xfrm>
          <a:prstGeom prst="roundRect">
            <a:avLst>
              <a:gd name="adj" fmla="val 17784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57925" y="3310682"/>
            <a:ext cx="51136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除了游泳</a:t>
            </a:r>
            <a:r>
              <a:rPr lang="en-US" sz="1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以外，她还喜欢</a:t>
            </a: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</a:t>
            </a:r>
            <a:r>
              <a:rPr lang="en-US" sz="1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57925" y="3504307"/>
            <a:ext cx="51136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 swimming, she also likes tennis.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34901" y="3866108"/>
            <a:ext cx="10922198" cy="1209080"/>
          </a:xfrm>
          <a:prstGeom prst="roundRect">
            <a:avLst>
              <a:gd name="adj" fmla="val 1050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96826" y="4070747"/>
            <a:ext cx="355253" cy="142875"/>
          </a:xfrm>
          <a:prstGeom prst="roundRect">
            <a:avLst>
              <a:gd name="adj" fmla="val 8880000"/>
            </a:avLst>
          </a:prstGeom>
          <a:solidFill>
            <a:srgbClr val="FBEF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73026" y="4089797"/>
            <a:ext cx="20691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1228279" y="3977134"/>
            <a:ext cx="3717429" cy="330101"/>
          </a:xfrm>
          <a:prstGeom prst="roundRect">
            <a:avLst>
              <a:gd name="adj" fmla="val 23084"/>
            </a:avLst>
          </a:prstGeom>
          <a:solidFill>
            <a:srgbClr val="EDE7D7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364754" y="4037409"/>
            <a:ext cx="35133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有的人在……有的人在…… </a:t>
            </a:r>
            <a:r>
              <a:rPr lang="en-US" sz="7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"some people are …, some are …"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6826" y="4370636"/>
            <a:ext cx="10598348" cy="428476"/>
          </a:xfrm>
          <a:prstGeom prst="roundRect">
            <a:avLst>
              <a:gd name="adj" fmla="val 17784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20651" y="4430911"/>
            <a:ext cx="105577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有的人在</a:t>
            </a: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跳舞</a:t>
            </a:r>
            <a:r>
              <a:rPr lang="en-US" sz="1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，有的人在</a:t>
            </a: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r>
              <a:rPr lang="en-US" sz="1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20651" y="4624536"/>
            <a:ext cx="105577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 people are dancing, some are singing.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96826" y="4849862"/>
            <a:ext cx="108103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Re-uses 正在/在 (action in progress) from Lesson 7/8 — but with 有的人 (some people) as the subject.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950" y="6645325"/>
            <a:ext cx="13457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7226"/>
            <a:ext cx="27394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除了……以外 GRAMMAR · </a:t>
            </a: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888950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8950" y="1108025"/>
            <a:ext cx="1062238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88950" y="1622375"/>
            <a:ext cx="25280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Respond as prompted for each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68886" y="1636663"/>
            <a:ext cx="399901" cy="152400"/>
          </a:xfrm>
          <a:prstGeom prst="roundRect">
            <a:avLst>
              <a:gd name="adj" fmla="val 8325000"/>
            </a:avLst>
          </a:prstGeom>
          <a:solidFill>
            <a:srgbClr val="EA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70387" y="1655713"/>
            <a:ext cx="2008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88950" y="2031950"/>
            <a:ext cx="10414099" cy="765125"/>
          </a:xfrm>
          <a:prstGeom prst="roundRect">
            <a:avLst>
              <a:gd name="adj" fmla="val 1659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76176" y="219387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84225" y="2233464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2477" y="2193875"/>
            <a:ext cx="6160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"Besides reading, I also like watching TV." 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on your whiteboard.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82477" y="2473226"/>
            <a:ext cx="6160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8950" y="2949476"/>
            <a:ext cx="10414099" cy="784175"/>
          </a:xfrm>
          <a:prstGeom prst="roundRect">
            <a:avLst>
              <a:gd name="adj" fmla="val 1619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76176" y="311140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71575" y="3150989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82477" y="3111401"/>
            <a:ext cx="41051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 with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除了以外音乐，我还喜欢舞蹈？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82477" y="3409801"/>
            <a:ext cx="41051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8950" y="3886051"/>
            <a:ext cx="10414099" cy="765125"/>
          </a:xfrm>
          <a:prstGeom prst="roundRect">
            <a:avLst>
              <a:gd name="adj" fmla="val 1659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76176" y="404797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71277" y="4087564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82477" y="4047976"/>
            <a:ext cx="63416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Look at the park-scene picture — tell your partner </a:t>
            </a: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有的人在……sentence</a:t>
            </a: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482477" y="4327327"/>
            <a:ext cx="63416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45325"/>
            <a:ext cx="13457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7226"/>
            <a:ext cx="26716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除了……以外 GRAMMAR · </a:t>
            </a: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888950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8950" y="1108025"/>
            <a:ext cx="1062238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88950" y="1749326"/>
            <a:ext cx="10414099" cy="876151"/>
          </a:xfrm>
          <a:prstGeom prst="roundRect">
            <a:avLst>
              <a:gd name="adj" fmla="val 1449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76176" y="18731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84225" y="1912739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82477" y="1873151"/>
            <a:ext cx="33237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"Besides reading, I also like watching TV."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82477" y="2104876"/>
            <a:ext cx="33237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除了看书以外，我还喜欢看电视。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82477" y="2358777"/>
            <a:ext cx="33237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chúle kànshū yǐwài, wǒ hái xǐhuan kàn diànshì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88950" y="2739777"/>
            <a:ext cx="10414099" cy="876151"/>
          </a:xfrm>
          <a:prstGeom prst="roundRect">
            <a:avLst>
              <a:gd name="adj" fmla="val 1449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76176" y="28636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71575" y="2903190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82477" y="2863602"/>
            <a:ext cx="46658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 with 除了以外音乐，我还喜欢舞蹈？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82477" y="3095327"/>
            <a:ext cx="46658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Word order: 除了 + item + 以外 → 除了音乐以外，我还喜欢舞蹈。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82477" y="3349228"/>
            <a:ext cx="46658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以外 goes right after the item, not before it.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88950" y="3730228"/>
            <a:ext cx="10414099" cy="876151"/>
          </a:xfrm>
          <a:prstGeom prst="roundRect">
            <a:avLst>
              <a:gd name="adj" fmla="val 1449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76176" y="38540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71277" y="3893641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82477" y="3854053"/>
            <a:ext cx="48718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Look at the park-scene picture — tell your partner one 有的人在……sentence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82477" y="4085779"/>
            <a:ext cx="48718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Example: 有的人在打篮球。有的人在游泳。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482477" y="4339679"/>
            <a:ext cx="48718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Multiple correct answers — any activity shown in the picture is valid.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45325"/>
            <a:ext cx="13457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7226"/>
            <a:ext cx="29937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除了……以外 GRAMMAR · </a:t>
            </a: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 → YOU DO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812750"/>
            <a:ext cx="841325" cy="200025"/>
          </a:xfrm>
          <a:prstGeom prst="roundRect">
            <a:avLst>
              <a:gd name="adj" fmla="val 634285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1851" y="850850"/>
            <a:ext cx="5991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603177" y="736550"/>
            <a:ext cx="243373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Translation Worksheet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4901" y="1215926"/>
            <a:ext cx="650974" cy="247650"/>
          </a:xfrm>
          <a:prstGeom prst="roundRect">
            <a:avLst>
              <a:gd name="adj" fmla="val 5123077"/>
            </a:avLst>
          </a:prstGeom>
          <a:solidFill>
            <a:srgbClr val="F8F0E1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8726" y="1263551"/>
            <a:ext cx="411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9 min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62075" y="1246138"/>
            <a:ext cx="530572" cy="187226"/>
          </a:xfrm>
          <a:prstGeom prst="roundRect">
            <a:avLst>
              <a:gd name="adj" fmla="val 6776463"/>
            </a:avLst>
          </a:prstGeom>
          <a:solidFill>
            <a:srgbClr val="EA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50925" y="1277838"/>
            <a:ext cx="3599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968847" y="1246138"/>
            <a:ext cx="729258" cy="187226"/>
          </a:xfrm>
          <a:prstGeom prst="roundRect">
            <a:avLst>
              <a:gd name="adj" fmla="val 6776463"/>
            </a:avLst>
          </a:prstGeom>
          <a:solidFill>
            <a:srgbClr val="FBEF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57698" y="1277838"/>
            <a:ext cx="5625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YOU DO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4901" y="1590526"/>
            <a:ext cx="5372249" cy="1967061"/>
          </a:xfrm>
          <a:prstGeom prst="roundRect">
            <a:avLst>
              <a:gd name="adj" fmla="val 645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9476" y="1739652"/>
            <a:ext cx="51235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9476" y="1958727"/>
            <a:ext cx="5023098" cy="370731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26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</a:t>
            </a: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English sentences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into Chinese using 除了……以外 — individually first</a:t>
            </a:r>
            <a:endParaRPr lang="en-US" sz="900" dirty="0"/>
          </a:p>
          <a:p>
            <a:pPr algn="l" marL="63500" indent="-63500">
              <a:lnSpc>
                <a:spcPts val="126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Peer-check with a partner using the </a:t>
            </a: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projected answer key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476" y="2423071"/>
            <a:ext cx="50230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476" y="2491234"/>
            <a:ext cx="51235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809476" y="2630835"/>
            <a:ext cx="51235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Besides music, I also like sport.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9476" y="2786360"/>
            <a:ext cx="51235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Besides homework, I also like computer games.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9476" y="2941886"/>
            <a:ext cx="51235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Besides swimming, I also like dance.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9476" y="3097411"/>
            <a:ext cx="51235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Besides reading, I also like listening to music.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9476" y="3252936"/>
            <a:ext cx="51235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 Besides basketball, I also like tennis.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84850" y="1590526"/>
            <a:ext cx="5372249" cy="1076027"/>
          </a:xfrm>
          <a:prstGeom prst="roundRect">
            <a:avLst>
              <a:gd name="adj" fmla="val 1180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24451" y="1730127"/>
            <a:ext cx="5194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L7–L9 HOBBY VOCAB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24451" y="1961852"/>
            <a:ext cx="688181" cy="257175"/>
          </a:xfrm>
          <a:prstGeom prst="roundRect">
            <a:avLst>
              <a:gd name="adj" fmla="val 2963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22827" y="2009477"/>
            <a:ext cx="5012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音乐 </a:t>
            </a:r>
            <a:r>
              <a:rPr lang="en-US" sz="65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music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63383" y="1961852"/>
            <a:ext cx="661095" cy="257175"/>
          </a:xfrm>
          <a:prstGeom prst="roundRect">
            <a:avLst>
              <a:gd name="adj" fmla="val 2963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161758" y="2009477"/>
            <a:ext cx="4736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 </a:t>
            </a:r>
            <a:r>
              <a:rPr lang="en-US" sz="65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5228" y="1961852"/>
            <a:ext cx="863947" cy="257175"/>
          </a:xfrm>
          <a:prstGeom prst="roundRect">
            <a:avLst>
              <a:gd name="adj" fmla="val 2963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873603" y="2009477"/>
            <a:ext cx="6805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作业 </a:t>
            </a:r>
            <a:r>
              <a:rPr lang="en-US" sz="65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homework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9925" y="1961852"/>
            <a:ext cx="1352699" cy="257175"/>
          </a:xfrm>
          <a:prstGeom prst="roundRect">
            <a:avLst>
              <a:gd name="adj" fmla="val 2963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788301" y="2009477"/>
            <a:ext cx="11790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电脑游戏 </a:t>
            </a:r>
            <a:r>
              <a:rPr lang="en-US" sz="65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computer games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93375" y="1961852"/>
            <a:ext cx="657225" cy="257175"/>
          </a:xfrm>
          <a:prstGeom prst="roundRect">
            <a:avLst>
              <a:gd name="adj" fmla="val 2963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191750" y="2009477"/>
            <a:ext cx="4696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 </a:t>
            </a:r>
            <a:r>
              <a:rPr lang="en-US" sz="65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swim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24451" y="2269778"/>
            <a:ext cx="694730" cy="257175"/>
          </a:xfrm>
          <a:prstGeom prst="roundRect">
            <a:avLst>
              <a:gd name="adj" fmla="val 2963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22827" y="2317403"/>
            <a:ext cx="5079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 </a:t>
            </a:r>
            <a:r>
              <a:rPr lang="en-US" sz="65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dance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69931" y="2269778"/>
            <a:ext cx="631775" cy="257175"/>
          </a:xfrm>
          <a:prstGeom prst="roundRect">
            <a:avLst>
              <a:gd name="adj" fmla="val 2963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168307" y="2317403"/>
            <a:ext cx="443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看书 </a:t>
            </a:r>
            <a:r>
              <a:rPr lang="en-US" sz="65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read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52457" y="2269778"/>
            <a:ext cx="1156990" cy="257175"/>
          </a:xfrm>
          <a:prstGeom prst="roundRect">
            <a:avLst>
              <a:gd name="adj" fmla="val 2963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850832" y="2317403"/>
            <a:ext cx="9794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 </a:t>
            </a:r>
            <a:r>
              <a:rPr lang="en-US" sz="65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 to music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960197" y="2269778"/>
            <a:ext cx="974973" cy="257175"/>
          </a:xfrm>
          <a:prstGeom prst="roundRect">
            <a:avLst>
              <a:gd name="adj" fmla="val 2963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058573" y="2317403"/>
            <a:ext cx="7937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 </a:t>
            </a:r>
            <a:r>
              <a:rPr lang="en-US" sz="65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basketball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985921" y="2269778"/>
            <a:ext cx="809625" cy="257175"/>
          </a:xfrm>
          <a:prstGeom prst="roundRect">
            <a:avLst>
              <a:gd name="adj" fmla="val 2963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084296" y="2317403"/>
            <a:ext cx="625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 </a:t>
            </a:r>
            <a:r>
              <a:rPr lang="en-US" sz="65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tennis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4901" y="3684538"/>
            <a:ext cx="3589883" cy="478334"/>
          </a:xfrm>
          <a:prstGeom prst="roundRect">
            <a:avLst>
              <a:gd name="adj" fmla="val 159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23751" y="3747939"/>
            <a:ext cx="34804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723751" y="3868489"/>
            <a:ext cx="34804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printed above each translation line with blanks only for the two hobby words; word bank of hobby vocabulary from L7–L9 provided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300984" y="3684538"/>
            <a:ext cx="3589883" cy="478334"/>
          </a:xfrm>
          <a:prstGeom prst="roundRect">
            <a:avLst>
              <a:gd name="adj" fmla="val 159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389834" y="3747939"/>
            <a:ext cx="34804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550" dirty="0"/>
          </a:p>
        </p:txBody>
      </p:sp>
      <p:sp>
        <p:nvSpPr>
          <p:cNvPr id="52" name="Text 50"/>
          <p:cNvSpPr/>
          <p:nvPr/>
        </p:nvSpPr>
        <p:spPr>
          <a:xfrm>
            <a:off x="4389834" y="3868489"/>
            <a:ext cx="34804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translate 2 extra sentences with no frame provided, and add a third clause of their own invention (reusing 不太 from L8)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967067" y="3684538"/>
            <a:ext cx="3590032" cy="478334"/>
          </a:xfrm>
          <a:prstGeom prst="roundRect">
            <a:avLst>
              <a:gd name="adj" fmla="val 159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055918" y="3747939"/>
            <a:ext cx="34805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550" dirty="0"/>
          </a:p>
        </p:txBody>
      </p:sp>
      <p:sp>
        <p:nvSpPr>
          <p:cNvPr id="55" name="Text 53"/>
          <p:cNvSpPr/>
          <p:nvPr/>
        </p:nvSpPr>
        <p:spPr>
          <a:xfrm>
            <a:off x="8055918" y="3868489"/>
            <a:ext cx="348057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writes every translation — peer-check ensures a second pass on each answer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7950" y="6645325"/>
            <a:ext cx="13457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7226"/>
            <a:ext cx="25163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除了……以外 GRAMMAR · </a:t>
            </a: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YOU DO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812750"/>
            <a:ext cx="857548" cy="200025"/>
          </a:xfrm>
          <a:prstGeom prst="roundRect">
            <a:avLst>
              <a:gd name="adj" fmla="val 634285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1851" y="850850"/>
            <a:ext cx="6157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619399" y="736550"/>
            <a:ext cx="28730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Park-Scene Picture Writing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4901" y="1215926"/>
            <a:ext cx="650974" cy="247650"/>
          </a:xfrm>
          <a:prstGeom prst="roundRect">
            <a:avLst>
              <a:gd name="adj" fmla="val 5123077"/>
            </a:avLst>
          </a:prstGeom>
          <a:solidFill>
            <a:srgbClr val="F8F0E1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8726" y="1263551"/>
            <a:ext cx="411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9 min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62075" y="1246138"/>
            <a:ext cx="594717" cy="187226"/>
          </a:xfrm>
          <a:prstGeom prst="roundRect">
            <a:avLst>
              <a:gd name="adj" fmla="val 6776463"/>
            </a:avLst>
          </a:prstGeom>
          <a:solidFill>
            <a:srgbClr val="FBEF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50925" y="1277838"/>
            <a:ext cx="4253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34901" y="1603177"/>
            <a:ext cx="5104209" cy="1942505"/>
          </a:xfrm>
          <a:prstGeom prst="roundRect">
            <a:avLst>
              <a:gd name="adj" fmla="val 653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9476" y="1777752"/>
            <a:ext cx="48501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09476" y="2031653"/>
            <a:ext cx="4755059" cy="1276052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look at the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printed park-scene picture</a:t>
            </a:r>
            <a:endParaRPr lang="en-US" sz="950" dirty="0"/>
          </a:p>
          <a:p>
            <a:pPr algn="l" marL="63500" indent="-6350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4–5 sentences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describing what different people are doing, using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有的人在……有的人在……</a:t>
            </a:r>
            <a:endParaRPr lang="en-US" sz="950" dirty="0"/>
          </a:p>
          <a:p>
            <a:pPr algn="l" marL="63500" indent="-6350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combine two activities per person using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一边……一边……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Lesson 7 — e.g. 有的人在一边跑步一边听音乐</a:t>
            </a:r>
            <a:endParaRPr lang="en-US" sz="950" dirty="0"/>
          </a:p>
          <a:p>
            <a:pPr algn="l" marL="63500" indent="-6350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call: be ready to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one sentence aloud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2261" y="1603177"/>
            <a:ext cx="5614839" cy="2444651"/>
          </a:xfrm>
          <a:prstGeom prst="roundRect">
            <a:avLst>
              <a:gd name="adj" fmla="val 5195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1386" y="1752302"/>
            <a:ext cx="54229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PARK SCENE · 公园场景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91386" y="1984028"/>
            <a:ext cx="2620119" cy="819001"/>
          </a:xfrm>
          <a:prstGeom prst="roundRect">
            <a:avLst>
              <a:gd name="adj" fmla="val 9304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78431" y="2082403"/>
            <a:ext cx="244602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🏃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8431" y="2396728"/>
            <a:ext cx="24460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跑步区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8431" y="2590354"/>
            <a:ext cx="2446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pǎobù qū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8787705" y="1984028"/>
            <a:ext cx="2620268" cy="819001"/>
          </a:xfrm>
          <a:prstGeom prst="roundRect">
            <a:avLst>
              <a:gd name="adj" fmla="val 9304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874749" y="2082403"/>
            <a:ext cx="244618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🏊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74749" y="2396728"/>
            <a:ext cx="24461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游泳区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74749" y="2590354"/>
            <a:ext cx="24461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yóuyǒng qū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091386" y="2879229"/>
            <a:ext cx="2620119" cy="819001"/>
          </a:xfrm>
          <a:prstGeom prst="roundRect">
            <a:avLst>
              <a:gd name="adj" fmla="val 9304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78431" y="2977604"/>
            <a:ext cx="244602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🏀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78431" y="3291929"/>
            <a:ext cx="24460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打篮球区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8431" y="3485555"/>
            <a:ext cx="2446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lánqiú qū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8787705" y="2879229"/>
            <a:ext cx="2620268" cy="819001"/>
          </a:xfrm>
          <a:prstGeom prst="roundRect">
            <a:avLst>
              <a:gd name="adj" fmla="val 9304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874749" y="2977604"/>
            <a:ext cx="244618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🎤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74749" y="3291929"/>
            <a:ext cx="24461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唱歌区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874749" y="3485555"/>
            <a:ext cx="24461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chànggē qū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091386" y="3774430"/>
            <a:ext cx="542291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Printed park-scene picture, 4 activities labelled with word banks underneath — projected/handout.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34901" y="4187428"/>
            <a:ext cx="3589883" cy="478334"/>
          </a:xfrm>
          <a:prstGeom prst="roundRect">
            <a:avLst>
              <a:gd name="adj" fmla="val 159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23751" y="4250829"/>
            <a:ext cx="34804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723751" y="4371380"/>
            <a:ext cx="34804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Picture has 4 clearly distinct activities labelled with word banks underneath each figure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300984" y="4187428"/>
            <a:ext cx="3589883" cy="478334"/>
          </a:xfrm>
          <a:prstGeom prst="roundRect">
            <a:avLst>
              <a:gd name="adj" fmla="val 159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89834" y="4250829"/>
            <a:ext cx="34804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4389834" y="4371380"/>
            <a:ext cx="34804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combine two activities per person using 一边……一边…… from Lesson 7 (e.g. "有的人在一边跑步一边听音乐")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967067" y="4187428"/>
            <a:ext cx="3590032" cy="478334"/>
          </a:xfrm>
          <a:prstGeom prst="roundRect">
            <a:avLst>
              <a:gd name="adj" fmla="val 159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055918" y="4250829"/>
            <a:ext cx="34805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8055918" y="4371380"/>
            <a:ext cx="348057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3–4 pairs to read one sentence aloud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950" y="6645325"/>
            <a:ext cx="13457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7226"/>
            <a:ext cx="28064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除了……以外 GRAMMAR · </a:t>
            </a: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SENTENCE JUMBLE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725388"/>
            <a:ext cx="561231" cy="209550"/>
          </a:xfrm>
          <a:prstGeom prst="roundRect">
            <a:avLst>
              <a:gd name="adj" fmla="val 6054545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1851" y="763488"/>
            <a:ext cx="3134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7632" y="711101"/>
            <a:ext cx="624929" cy="238125"/>
          </a:xfrm>
          <a:prstGeom prst="roundRect">
            <a:avLst>
              <a:gd name="adj" fmla="val 532800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21457" y="758726"/>
            <a:ext cx="3848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24062" y="725388"/>
            <a:ext cx="582216" cy="209550"/>
          </a:xfrm>
          <a:prstGeom prst="roundRect">
            <a:avLst>
              <a:gd name="adj" fmla="val 6054545"/>
            </a:avLst>
          </a:prstGeom>
          <a:solidFill>
            <a:srgbClr val="FBEF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38363" y="763488"/>
            <a:ext cx="360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34901" y="999976"/>
            <a:ext cx="1114064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Sentence Jumble · 句子拼图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4901" y="1415802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Race to arrange pre-cut word-strip pieces into a correct sentence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4901" y="1717328"/>
            <a:ext cx="5359450" cy="1898005"/>
          </a:xfrm>
          <a:prstGeom prst="roundRect">
            <a:avLst>
              <a:gd name="adj" fmla="val 6691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6351" y="1888778"/>
            <a:ext cx="5116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SET · SCRAMBLED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06351" y="2123629"/>
            <a:ext cx="476101" cy="326827"/>
          </a:xfrm>
          <a:prstGeom prst="roundRect">
            <a:avLst>
              <a:gd name="adj" fmla="val 1165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7377" y="2196554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33202" y="2123629"/>
            <a:ext cx="349151" cy="326827"/>
          </a:xfrm>
          <a:prstGeom prst="roundRect">
            <a:avLst>
              <a:gd name="adj" fmla="val 1165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44228" y="2196554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3104" y="2123629"/>
            <a:ext cx="349151" cy="326827"/>
          </a:xfrm>
          <a:prstGeom prst="roundRect">
            <a:avLst>
              <a:gd name="adj" fmla="val 1165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844129" y="2196554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33005" y="2123629"/>
            <a:ext cx="476101" cy="326827"/>
          </a:xfrm>
          <a:prstGeom prst="roundRect">
            <a:avLst>
              <a:gd name="adj" fmla="val 1165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244030" y="2196554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9856" y="2123629"/>
            <a:ext cx="476101" cy="326827"/>
          </a:xfrm>
          <a:prstGeom prst="roundRect">
            <a:avLst>
              <a:gd name="adj" fmla="val 1165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70882" y="2196554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86708" y="2123629"/>
            <a:ext cx="476101" cy="326827"/>
          </a:xfrm>
          <a:prstGeom prst="roundRect">
            <a:avLst>
              <a:gd name="adj" fmla="val 1165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297734" y="2196554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13559" y="2123629"/>
            <a:ext cx="476101" cy="326827"/>
          </a:xfrm>
          <a:prstGeom prst="roundRect">
            <a:avLst>
              <a:gd name="adj" fmla="val 1165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24585" y="2196554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音乐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40411" y="2123629"/>
            <a:ext cx="349151" cy="326827"/>
          </a:xfrm>
          <a:prstGeom prst="roundRect">
            <a:avLst>
              <a:gd name="adj" fmla="val 1165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351437" y="2196554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6185" y="2577405"/>
            <a:ext cx="51168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arrange correctly 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6351" y="2878931"/>
            <a:ext cx="5016550" cy="564952"/>
          </a:xfrm>
          <a:prstGeom prst="roundRect">
            <a:avLst>
              <a:gd name="adj" fmla="val 13488"/>
            </a:avLst>
          </a:prstGeom>
          <a:solidFill>
            <a:srgbClr val="EAF0F0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42826" y="2977307"/>
            <a:ext cx="48384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除了音乐以外，我还喜欢舞蹈。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2826" y="3212157"/>
            <a:ext cx="48384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 music, I also like dance.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197501" y="1717328"/>
            <a:ext cx="5359598" cy="1635472"/>
          </a:xfrm>
          <a:prstGeom prst="roundRect">
            <a:avLst>
              <a:gd name="adj" fmla="val 776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59426" y="1853803"/>
            <a:ext cx="51364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359426" y="2076004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97551" y="2076004"/>
            <a:ext cx="4893576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Pre-cut sentence-piece sets (word-by-word) for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4–5 sentences</a:t>
            </a: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 mix of 除了……以外 and 有的人在…… — are distributed to pairs/small groups.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59426" y="2477244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97551" y="2477244"/>
            <a:ext cx="4893576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Race to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arrange the pieces</a:t>
            </a: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into a correct sentence and write it out on your whiteboard.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59426" y="2878485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97551" y="2878485"/>
            <a:ext cx="4893576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group with the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order</a:t>
            </a: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raises hands — teacher checks and calls the next sentence.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97501" y="3454301"/>
            <a:ext cx="5359598" cy="495151"/>
          </a:xfrm>
          <a:prstGeom prst="roundRect">
            <a:avLst>
              <a:gd name="adj" fmla="val 15389"/>
            </a:avLst>
          </a:prstGeom>
          <a:solidFill>
            <a:srgbClr val="FBEF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333976" y="3587502"/>
            <a:ext cx="174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✂️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94277" y="3552676"/>
            <a:ext cx="28105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needed: pre-cut word-strip envelopes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94277" y="3727252"/>
            <a:ext cx="28105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set per pair/group — 4–5 sentences, mixing both patterns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34901" y="4063752"/>
            <a:ext cx="3589883" cy="503932"/>
          </a:xfrm>
          <a:prstGeom prst="roundRect">
            <a:avLst>
              <a:gd name="adj" fmla="val 15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36402" y="4139952"/>
            <a:ext cx="3454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736402" y="4260503"/>
            <a:ext cx="345461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Simpler, shorter sentences (fewer pieces) given to pairs needing more support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300984" y="4063752"/>
            <a:ext cx="3589883" cy="503932"/>
          </a:xfrm>
          <a:prstGeom prst="roundRect">
            <a:avLst>
              <a:gd name="adj" fmla="val 15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402485" y="4139952"/>
            <a:ext cx="3454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4402485" y="4260503"/>
            <a:ext cx="345461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 finishers get an extra 6th sentence combining both patterns in one go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967067" y="4063752"/>
            <a:ext cx="3590032" cy="503932"/>
          </a:xfrm>
          <a:prstGeom prst="roundRect">
            <a:avLst>
              <a:gd name="adj" fmla="val 15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068568" y="4139952"/>
            <a:ext cx="34547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8068568" y="4260503"/>
            <a:ext cx="345477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Pre-cut word-strip envelopes, one set per pair/group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950" y="6645325"/>
            <a:ext cx="13457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7226"/>
            <a:ext cx="25917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除了……以外 GRAMMAR · </a:t>
            </a: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888950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8950" y="1108025"/>
            <a:ext cx="106223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88950" y="1828651"/>
            <a:ext cx="5105400" cy="1879104"/>
          </a:xfrm>
          <a:prstGeom prst="roundRect">
            <a:avLst>
              <a:gd name="adj" fmla="val 675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01626" y="2015877"/>
            <a:ext cx="477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01626" y="22952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AF0F0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41214" y="2315766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42876" y="22952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8F0E1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82464" y="2315766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84127" y="22952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BEF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23715" y="2315766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88778" y="2315766"/>
            <a:ext cx="34309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English sentences into Chinese using 除了……以外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1626" y="258722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AF0F0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41214" y="2607766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42876" y="258722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8F0E1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82464" y="2607766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84127" y="258722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BEF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23715" y="2607766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88778" y="2607766"/>
            <a:ext cx="37105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several people's actions using 有的人在……有的人在……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1626" y="28792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AF0F0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41214" y="2899767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42876" y="28792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8F0E1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82464" y="2899767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584127" y="28792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BEF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623715" y="2899767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88778" y="2899767"/>
            <a:ext cx="32853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an original 除了……以外 sentence of my own choice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7501" y="1828651"/>
            <a:ext cx="5105549" cy="1879104"/>
          </a:xfrm>
          <a:prstGeom prst="roundRect">
            <a:avLst>
              <a:gd name="adj" fmla="val 675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410176" y="2015877"/>
            <a:ext cx="4773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10176" y="2295227"/>
            <a:ext cx="4680198" cy="641152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424464" y="2295227"/>
            <a:ext cx="0" cy="641152"/>
          </a:xfrm>
          <a:prstGeom prst="line">
            <a:avLst/>
          </a:prstGeom>
          <a:noFill/>
          <a:ln w="28575">
            <a:solidFill>
              <a:srgbClr val="3A7D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91151" y="2422178"/>
            <a:ext cx="44337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591151" y="2599879"/>
            <a:ext cx="44337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Translate: "Besides basketball, I also like dance."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10176" y="3063329"/>
            <a:ext cx="4773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volunteer reads each success criterion aloud — class responds with the target word or sentence.
</a:t>
            </a: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 with thumbs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against each of the 3 criteria above.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950" y="6645325"/>
            <a:ext cx="13457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7226"/>
            <a:ext cx="26787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除了……以外 GRAMMAR · </a:t>
            </a: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4809" y="888950"/>
            <a:ext cx="10622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4809" y="1123801"/>
            <a:ext cx="10622381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2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从……开始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84809" y="1583382"/>
            <a:ext cx="106223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Saying when you started an activity — plus a new instrument: violin 小提琴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68850" y="2123033"/>
            <a:ext cx="1650950" cy="1383953"/>
          </a:xfrm>
          <a:prstGeom prst="roundRect">
            <a:avLst>
              <a:gd name="adj" fmla="val 917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69269" y="2310259"/>
            <a:ext cx="12501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🎻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69269" y="2827734"/>
            <a:ext cx="125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拉小提琴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69269" y="3053060"/>
            <a:ext cx="12501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the violin — a new instrument verb, 拉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172200" y="2123033"/>
            <a:ext cx="1650950" cy="1383953"/>
          </a:xfrm>
          <a:prstGeom prst="roundRect">
            <a:avLst>
              <a:gd name="adj" fmla="val 917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72619" y="2310259"/>
            <a:ext cx="12501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⏳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72619" y="2827734"/>
            <a:ext cx="125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从……开始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72619" y="3053060"/>
            <a:ext cx="12501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Starting from age/time 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73650" y="3786336"/>
            <a:ext cx="2844552" cy="920502"/>
          </a:xfrm>
          <a:prstGeom prst="roundRect">
            <a:avLst>
              <a:gd name="adj" fmla="val 1379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6100" y="3925937"/>
            <a:ext cx="22796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956100" y="4090987"/>
            <a:ext cx="22796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我从六岁开始拉小提琴。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56100" y="4414838"/>
            <a:ext cx="22796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started playing violin from age six.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645325"/>
            <a:ext cx="13457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2026-07-25T00:56:47Z</dcterms:created>
  <dcterms:modified xsi:type="dcterms:W3CDTF">2026-07-25T00:56:47Z</dcterms:modified>
</cp:coreProperties>
</file>