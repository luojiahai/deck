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05151" y="1541562"/>
            <a:ext cx="51815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1 OF 8 · Y8 UNIT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505151" y="1849487"/>
            <a:ext cx="5181549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6000" dirty="0">
                <a:solidFill>
                  <a:srgbClr val="E8CD8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3505151" y="2992487"/>
            <a:ext cx="5181549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爱好</a:t>
            </a:r>
            <a:r>
              <a:rPr lang="en-US" sz="80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80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505151" y="4462463"/>
            <a:ext cx="51815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200"/>
              </a:spcAft>
              <a:buNone/>
            </a:pPr>
            <a:r>
              <a:rPr lang="en-US" sz="1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Vocabulary + 除了……以外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05151" y="5154513"/>
            <a:ext cx="51815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8 Chinese  ·  50 mins  ·  Vocab + Writing  ·  轻松学中文 Book 2 · Unit 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8707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812750"/>
            <a:ext cx="108813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62000" y="1031825"/>
            <a:ext cx="1088136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2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Unit 3 So Far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62000" y="1676251"/>
            <a:ext cx="5394275" cy="1653183"/>
          </a:xfrm>
          <a:prstGeom prst="roundRect">
            <a:avLst>
              <a:gd name="adj" fmla="val 614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49226" y="1863477"/>
            <a:ext cx="51202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9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FLASHCARD RAPID FIRE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9226" y="2126903"/>
            <a:ext cx="5019824" cy="95190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algn="l" marL="76200" indent="-762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shows an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L7/L8 word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 the projector → class chorally says pinyin + English</a:t>
            </a:r>
            <a:endParaRPr lang="en-US" sz="1000" dirty="0"/>
          </a:p>
          <a:p>
            <a:pPr algn="l" marL="76200" indent="-76200">
              <a:lnSpc>
                <a:spcPts val="1400"/>
              </a:lnSpc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Reverse: teacher says an </a:t>
            </a:r>
            <a:r>
              <a:rPr lang="en-US" sz="10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English hobby sentence starter</a:t>
            </a:r>
            <a:r>
              <a:rPr lang="en-US" sz="10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("I like swimming with my friend") → students write the Chinese on mini whiteboards, hold up on three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10176" y="1676251"/>
            <a:ext cx="512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7 · MUSIC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10176" y="1895326"/>
            <a:ext cx="810816" cy="434876"/>
          </a:xfrm>
          <a:prstGeom prst="roundRect">
            <a:avLst>
              <a:gd name="adj" fmla="val 175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21202" y="1955602"/>
            <a:ext cx="6005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听音乐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21202" y="2155627"/>
            <a:ext cx="6005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listen to music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7284393" y="1895326"/>
            <a:ext cx="788938" cy="434876"/>
          </a:xfrm>
          <a:prstGeom prst="roundRect">
            <a:avLst>
              <a:gd name="adj" fmla="val 175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95418" y="1955602"/>
            <a:ext cx="5782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弹钢琴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95418" y="2155627"/>
            <a:ext cx="57822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the piano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8136731" y="1895326"/>
            <a:ext cx="686246" cy="434876"/>
          </a:xfrm>
          <a:prstGeom prst="roundRect">
            <a:avLst>
              <a:gd name="adj" fmla="val 175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47757" y="1955602"/>
            <a:ext cx="4734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唱歌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47757" y="2155627"/>
            <a:ext cx="47347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sing a song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410176" y="2431703"/>
            <a:ext cx="51202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8 · SPORT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10176" y="2650778"/>
            <a:ext cx="920353" cy="434876"/>
          </a:xfrm>
          <a:prstGeom prst="roundRect">
            <a:avLst>
              <a:gd name="adj" fmla="val 175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521202" y="2711053"/>
            <a:ext cx="7122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跟……一起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21202" y="2911078"/>
            <a:ext cx="7122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together with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7393930" y="2650778"/>
            <a:ext cx="544860" cy="434876"/>
          </a:xfrm>
          <a:prstGeom prst="roundRect">
            <a:avLst>
              <a:gd name="adj" fmla="val 175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504956" y="2711053"/>
            <a:ext cx="3292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不太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04956" y="2911078"/>
            <a:ext cx="3292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 very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8002191" y="2650778"/>
            <a:ext cx="1478905" cy="434876"/>
          </a:xfrm>
          <a:prstGeom prst="roundRect">
            <a:avLst>
              <a:gd name="adj" fmla="val 17522"/>
            </a:avLst>
          </a:prstGeom>
          <a:solidFill>
            <a:srgbClr val="EDE7D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113216" y="2711053"/>
            <a:ext cx="12819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差不多 / 经常 / 常常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113216" y="2911078"/>
            <a:ext cx="12819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about the same / often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62000" y="3481834"/>
            <a:ext cx="10668000" cy="566440"/>
          </a:xfrm>
          <a:prstGeom prst="rect">
            <a:avLst/>
          </a:prstGeom>
          <a:solidFill>
            <a:srgbClr val="F6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781050" y="3481834"/>
            <a:ext cx="0" cy="566440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7801" y="3596134"/>
            <a:ext cx="10479988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"You've now learned two hobby topics — </a:t>
            </a: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music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sport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Today we start our third and final hobby topic in this unit: </a:t>
            </a: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舞蹈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and a new phrase for listing an </a:t>
            </a: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extra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hobby on top of the ones you already know: </a:t>
            </a:r>
            <a:r>
              <a:rPr lang="en-US" sz="9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8724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889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108025"/>
            <a:ext cx="106223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8950" y="1739801"/>
            <a:ext cx="10414099" cy="669727"/>
          </a:xfrm>
          <a:prstGeom prst="rect">
            <a:avLst/>
          </a:prstGeom>
          <a:solidFill>
            <a:srgbClr val="F6EC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908000" y="1739801"/>
            <a:ext cx="0" cy="669727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0201" y="1879402"/>
            <a:ext cx="101690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30201" y="2041327"/>
            <a:ext cx="101690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talk about a new hobby — dance — and use </a:t>
            </a:r>
            <a:r>
              <a:rPr lang="en-US" sz="13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r>
              <a:rPr lang="en-US" sz="13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say "besides X, I also like Y."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88950" y="2612678"/>
            <a:ext cx="1062238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 can say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舞蹈, 跳舞, 从, 开始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 (用拼音说出新词汇)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8950" y="2909739"/>
            <a:ext cx="1062238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 can use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除了……以外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list an extra hobby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除了音乐以外，我还喜欢舞蹈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8950" y="3206800"/>
            <a:ext cx="1062238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 can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and recognise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characters </a:t>
            </a: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平, 土, 角, 页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8950" y="3503861"/>
            <a:ext cx="10622381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 can </a:t>
            </a:r>
            <a:r>
              <a:rPr lang="en-US" sz="11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recognise this unit's key radicals</a:t>
            </a:r>
            <a:r>
              <a:rPr lang="en-US" sz="11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dictation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72040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New Vocabulary · 10–20 min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761851"/>
            <a:ext cx="111406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34901" y="968127"/>
            <a:ext cx="11140642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New Vocabulary · 词汇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34901" y="1485602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5927" y="1583978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5927" y="1875979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chú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745927" y="1999804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834580" y="1485602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ECDA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945606" y="1583978"/>
            <a:ext cx="193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945606" y="1790254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chúle…yǐwài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945606" y="1914079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besides; apart from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34260" y="1485602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45286" y="1583978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145286" y="1875979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145286" y="1999804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233940" y="1485602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44966" y="1583978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蹈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44966" y="1875979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dǎo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344966" y="1999804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9433620" y="1485602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ECDA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544645" y="1583978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44645" y="1875979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wǔdǎo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544645" y="1999804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(noun)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634901" y="2298204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45927" y="2396579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5927" y="2688580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tiào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45927" y="2812405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jump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834580" y="2298204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ECDA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945606" y="2396579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945606" y="2688580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tiàowǔ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2945606" y="2812405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(verb)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5034260" y="2298204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145286" y="2396579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5145286" y="2688580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cóng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145286" y="2812405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7233940" y="2298204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344966" y="2396579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始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344966" y="2688580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shǐ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7344966" y="2812405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begin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9433620" y="2298204"/>
            <a:ext cx="2123480" cy="736402"/>
          </a:xfrm>
          <a:prstGeom prst="roundRect">
            <a:avLst>
              <a:gd name="adj" fmla="val 13797"/>
            </a:avLst>
          </a:prstGeom>
          <a:solidFill>
            <a:srgbClr val="F6ECDA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544645" y="2396579"/>
            <a:ext cx="193945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开始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9544645" y="2688580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kāishǐ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9544645" y="2812405"/>
            <a:ext cx="19394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start; begin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34901" y="3161556"/>
            <a:ext cx="10922198" cy="533102"/>
          </a:xfrm>
          <a:prstGeom prst="roundRect">
            <a:avLst>
              <a:gd name="adj" fmla="val 14294"/>
            </a:avLst>
          </a:prstGeom>
          <a:solidFill>
            <a:srgbClr val="E3EEF0"/>
          </a:solidFill>
          <a:ln w="9525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96826" y="3272582"/>
            <a:ext cx="497964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舞蹈</a:t>
            </a:r>
            <a:r>
              <a:rPr lang="en-US" sz="9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(noun, "a dance") and </a:t>
            </a: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跳舞</a:t>
            </a:r>
            <a:r>
              <a:rPr lang="en-US" sz="950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(verb phrase, "to dance") share the character </a:t>
            </a:r>
            <a:r>
              <a:rPr lang="en-US" sz="9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舞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6826" y="3459807"/>
            <a:ext cx="497964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is a thing, one is an action — and 跳 ("jump") is the clue that dancing involves movement.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35804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Key Sentence Pattern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787301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993577"/>
            <a:ext cx="1062238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关键句型 · Key Sentence Pattern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88950" y="1422202"/>
            <a:ext cx="106223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00"/>
              </a:spcAft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add an extra hobby on top of one you already have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88950" y="1749177"/>
            <a:ext cx="774650" cy="501551"/>
          </a:xfrm>
          <a:prstGeom prst="roundRect">
            <a:avLst>
              <a:gd name="adj" fmla="val 2025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73051" y="1857077"/>
            <a:ext cx="41457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27002" y="1749177"/>
            <a:ext cx="513159" cy="501551"/>
          </a:xfrm>
          <a:prstGeom prst="roundRect">
            <a:avLst>
              <a:gd name="adj" fmla="val 2025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11102" y="1857077"/>
            <a:ext cx="14785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4756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03562" y="1749177"/>
            <a:ext cx="1790402" cy="501551"/>
          </a:xfrm>
          <a:prstGeom prst="roundRect">
            <a:avLst>
              <a:gd name="adj" fmla="val 2025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487662" y="1857077"/>
            <a:ext cx="145064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以外，我还喜欢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57365" y="1749177"/>
            <a:ext cx="506909" cy="501551"/>
          </a:xfrm>
          <a:prstGeom prst="roundRect">
            <a:avLst>
              <a:gd name="adj" fmla="val 20257"/>
            </a:avLst>
          </a:prstGeom>
          <a:solidFill>
            <a:srgbClr val="EDE7D7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341465" y="1857077"/>
            <a:ext cx="14148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27674" y="1885652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32474" y="1918990"/>
            <a:ext cx="15089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"Besides X, I also like Y."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8950" y="2428429"/>
            <a:ext cx="10414099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38076" y="2514154"/>
            <a:ext cx="23575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音乐</a:t>
            </a: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以外，我还喜欢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48813" y="2557016"/>
            <a:ext cx="1637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music, I also like dance.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88950" y="2891879"/>
            <a:ext cx="10414099" cy="400050"/>
          </a:xfrm>
          <a:prstGeom prst="roundRect">
            <a:avLst>
              <a:gd name="adj" fmla="val 1904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38076" y="2977604"/>
            <a:ext cx="25258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</a:t>
            </a: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以外，我还喜欢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打网球。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961834" y="3020467"/>
            <a:ext cx="22359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swimming, I also like playing tennis.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88950" y="3355330"/>
            <a:ext cx="10414099" cy="400050"/>
          </a:xfrm>
          <a:prstGeom prst="roundRect">
            <a:avLst>
              <a:gd name="adj" fmla="val 19048"/>
            </a:avLst>
          </a:prstGeom>
          <a:solidFill>
            <a:srgbClr val="F7E7E5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38076" y="3441055"/>
            <a:ext cx="23575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</a:t>
            </a:r>
            <a:r>
              <a:rPr lang="en-US" sz="13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以外，我还喜欢</a:t>
            </a:r>
            <a:r>
              <a:rPr lang="en-US" sz="13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吃饭！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536484" y="3483918"/>
            <a:ext cx="16703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eating, I also like eating!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402491" y="3498205"/>
            <a:ext cx="7664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888950" y="3907780"/>
            <a:ext cx="1062238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除了 attaches to the </a:t>
            </a: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</a:t>
            </a: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hobby; 以外 appears only </a:t>
            </a:r>
            <a:r>
              <a:rPr lang="en-US" sz="75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once</a:t>
            </a: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right after it.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1480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889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CHECK FOR UNDERSTANDING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108025"/>
            <a:ext cx="106223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理解检查 · CFU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88950" y="1609576"/>
            <a:ext cx="106223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Respond as prompted for each question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8950" y="1968252"/>
            <a:ext cx="10414099" cy="834926"/>
          </a:xfrm>
          <a:prstGeom prst="roundRect">
            <a:avLst>
              <a:gd name="adj" fmla="val 1216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76176" y="2104727"/>
            <a:ext cx="102404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 does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舞蹈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mean?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6176" y="2352377"/>
            <a:ext cx="102404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 if you know.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76176" y="2514302"/>
            <a:ext cx="102404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8950" y="2917478"/>
            <a:ext cx="10414099" cy="834926"/>
          </a:xfrm>
          <a:prstGeom prst="roundRect">
            <a:avLst>
              <a:gd name="adj" fmla="val 1216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76176" y="3053953"/>
            <a:ext cx="102404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How would I say "besides swimming, I also like singing"?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6176" y="3301603"/>
            <a:ext cx="102404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the frame on your whiteboard, blanks OK.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6176" y="3463528"/>
            <a:ext cx="102404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888950" y="3866704"/>
            <a:ext cx="10414099" cy="673001"/>
          </a:xfrm>
          <a:prstGeom prst="roundRect">
            <a:avLst>
              <a:gd name="adj" fmla="val 15097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076176" y="4003179"/>
            <a:ext cx="102404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Error check: </a:t>
            </a:r>
            <a:r>
              <a:rPr lang="en-US" sz="12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我除了音乐以外还喜欢舞蹈以外。</a:t>
            </a:r>
            <a:r>
              <a:rPr lang="en-US" sz="12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What's wrong?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6176" y="4250829"/>
            <a:ext cx="1024044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Answer on next slide →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08707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Answers ↳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88950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ANSWERS REVEALED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108025"/>
            <a:ext cx="1062238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5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答案 · Answers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88950" y="1749326"/>
            <a:ext cx="10414099" cy="857101"/>
          </a:xfrm>
          <a:prstGeom prst="roundRect">
            <a:avLst>
              <a:gd name="adj" fmla="val 1185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76176" y="1873151"/>
            <a:ext cx="10240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What does 舞蹈 mean?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6176" y="2104876"/>
            <a:ext cx="102404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 = dance (the noun)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6176" y="2339727"/>
            <a:ext cx="10240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wǔdǎo — "a dance / dancing" as a thing, not an action.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88950" y="2707928"/>
            <a:ext cx="10414099" cy="857101"/>
          </a:xfrm>
          <a:prstGeom prst="roundRect">
            <a:avLst>
              <a:gd name="adj" fmla="val 1185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076176" y="2831753"/>
            <a:ext cx="10240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"Besides swimming, I also like singing"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76176" y="3063478"/>
            <a:ext cx="102404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除了游泳以外，我还喜欢唱歌。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76176" y="3298329"/>
            <a:ext cx="10240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chúle yóuyǒng yǐwài, wǒ hái xǐhuan chànggē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88950" y="3666530"/>
            <a:ext cx="10414099" cy="857101"/>
          </a:xfrm>
          <a:prstGeom prst="roundRect">
            <a:avLst>
              <a:gd name="adj" fmla="val 11854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76176" y="3790355"/>
            <a:ext cx="102404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</a:t>
            </a:r>
            <a:r>
              <a:rPr lang="en-US" sz="10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Error check: 我除了音乐以外还喜欢舞蹈以外。 What's wrong?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6176" y="4022080"/>
            <a:ext cx="102404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 only appears once — 我除了音乐以外还喜欢舞蹈。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76176" y="4256931"/>
            <a:ext cx="10240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以外 belongs right after the first item only — remove the second 以外.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8719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 · We Do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800100"/>
            <a:ext cx="856655" cy="225326"/>
          </a:xfrm>
          <a:prstGeom prst="roundRect">
            <a:avLst>
              <a:gd name="adj" fmla="val 11272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850850"/>
            <a:ext cx="5628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618506" y="736550"/>
            <a:ext cx="379648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Vocab Tracing &amp; Character Writing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01" y="1215926"/>
            <a:ext cx="675977" cy="247650"/>
          </a:xfrm>
          <a:prstGeom prst="roundRect">
            <a:avLst>
              <a:gd name="adj" fmla="val 102564"/>
            </a:avLst>
          </a:prstGeom>
          <a:solidFill>
            <a:srgbClr val="F6ECDA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376" y="1263551"/>
            <a:ext cx="411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87078" y="1215926"/>
            <a:ext cx="589062" cy="247650"/>
          </a:xfrm>
          <a:prstGeom prst="roundRect">
            <a:avLst>
              <a:gd name="adj" fmla="val 102564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14029" y="1254026"/>
            <a:ext cx="341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34901" y="1590526"/>
            <a:ext cx="3675162" cy="2896642"/>
          </a:xfrm>
          <a:prstGeom prst="roundRect">
            <a:avLst>
              <a:gd name="adj" fmla="val 3508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027" y="1739652"/>
            <a:ext cx="34444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4027" y="1971377"/>
            <a:ext cx="3376910" cy="1061442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each of today's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new words/phrases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three times on the worksheet</a:t>
            </a:r>
            <a:endParaRPr lang="en-US" sz="900" dirty="0"/>
          </a:p>
          <a:p>
            <a:pPr algn="l" marL="69850" indent="-69850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Trace and copy the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 simple characters</a:t>
            </a: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平 / 土 / 角 / 页 on the character worksheet</a:t>
            </a:r>
            <a:endParaRPr lang="en-US" sz="900" dirty="0"/>
          </a:p>
          <a:p>
            <a:pPr algn="l" marL="69850" indent="-69850">
              <a:lnSpc>
                <a:spcPts val="126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cover pinyin/English and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self-quiz from memory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62463" y="1590526"/>
            <a:ext cx="4083695" cy="2896642"/>
          </a:xfrm>
          <a:prstGeom prst="roundRect">
            <a:avLst>
              <a:gd name="adj" fmla="val 3508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89413" y="1717477"/>
            <a:ext cx="39063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BANK · 词库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89413" y="2185541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9413" y="1974503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113365" y="1974503"/>
            <a:ext cx="31195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589413" y="2426643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9413" y="2215604"/>
            <a:ext cx="7770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4734" y="2215604"/>
            <a:ext cx="8001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besides; apart from</a:t>
            </a:r>
            <a:endParaRPr lang="en-US" sz="650" dirty="0"/>
          </a:p>
        </p:txBody>
      </p:sp>
      <p:sp>
        <p:nvSpPr>
          <p:cNvPr id="24" name="Shape 22"/>
          <p:cNvSpPr/>
          <p:nvPr/>
        </p:nvSpPr>
        <p:spPr>
          <a:xfrm>
            <a:off x="4589413" y="2667744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89413" y="2456706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178403" y="2456706"/>
            <a:ext cx="2456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4589413" y="2908846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89413" y="2697807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蹈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56836" y="2697807"/>
            <a:ext cx="1656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skip</a:t>
            </a:r>
            <a:endParaRPr lang="en-US" sz="650" dirty="0"/>
          </a:p>
        </p:txBody>
      </p:sp>
      <p:sp>
        <p:nvSpPr>
          <p:cNvPr id="30" name="Shape 28"/>
          <p:cNvSpPr/>
          <p:nvPr/>
        </p:nvSpPr>
        <p:spPr>
          <a:xfrm>
            <a:off x="4589413" y="3149947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89413" y="2938909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舞蹈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98160" y="2938909"/>
            <a:ext cx="5314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(noun)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4589413" y="3391049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9413" y="3180011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24689" y="3180011"/>
            <a:ext cx="1984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jump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4589413" y="3632150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89413" y="3421112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跳舞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921079" y="3421112"/>
            <a:ext cx="5080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dance (verb)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4589413" y="3873252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89413" y="3662214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231832" y="3662214"/>
            <a:ext cx="19112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</a:t>
            </a:r>
            <a:endParaRPr lang="en-US" sz="650" dirty="0"/>
          </a:p>
        </p:txBody>
      </p:sp>
      <p:sp>
        <p:nvSpPr>
          <p:cNvPr id="42" name="Shape 40"/>
          <p:cNvSpPr/>
          <p:nvPr/>
        </p:nvSpPr>
        <p:spPr>
          <a:xfrm>
            <a:off x="4589413" y="4114354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89413" y="3903315"/>
            <a:ext cx="1296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始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99686" y="3903315"/>
            <a:ext cx="2239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begin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4589413" y="4355455"/>
            <a:ext cx="3829794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89413" y="4144417"/>
            <a:ext cx="2591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开始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61114" y="4144417"/>
            <a:ext cx="4672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start; begin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698557" y="1590526"/>
            <a:ext cx="2858542" cy="2896642"/>
          </a:xfrm>
          <a:prstGeom prst="roundRect">
            <a:avLst>
              <a:gd name="adj" fmla="val 3554"/>
            </a:avLst>
          </a:prstGeom>
          <a:solidFill>
            <a:srgbClr val="F7E7E5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835033" y="1727002"/>
            <a:ext cx="26373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CHARACTER SHEET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835033" y="1958727"/>
            <a:ext cx="304800" cy="304800"/>
          </a:xfrm>
          <a:prstGeom prst="roundRect">
            <a:avLst>
              <a:gd name="adj" fmla="val 20833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904833" y="1996827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平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203234" y="1958727"/>
            <a:ext cx="304800" cy="304800"/>
          </a:xfrm>
          <a:prstGeom prst="roundRect">
            <a:avLst>
              <a:gd name="adj" fmla="val 20833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273034" y="1996827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土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571434" y="1958727"/>
            <a:ext cx="304800" cy="304800"/>
          </a:xfrm>
          <a:prstGeom prst="roundRect">
            <a:avLst>
              <a:gd name="adj" fmla="val 20833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9641235" y="1996827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角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9939635" y="1958727"/>
            <a:ext cx="304800" cy="304800"/>
          </a:xfrm>
          <a:prstGeom prst="roundRect">
            <a:avLst>
              <a:gd name="adj" fmla="val 20833"/>
            </a:avLst>
          </a:prstGeom>
          <a:solidFill>
            <a:srgbClr val="FEFCF7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10009436" y="1996827"/>
            <a:ext cx="168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页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835033" y="2339727"/>
            <a:ext cx="2637303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Stroke-order arrows shown for each. Write one other character you know that shares the same radical, if any.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34901" y="4614118"/>
            <a:ext cx="3589883" cy="513457"/>
          </a:xfrm>
          <a:prstGeom prst="roundRect">
            <a:avLst>
              <a:gd name="adj" fmla="val 148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36402" y="4690318"/>
            <a:ext cx="3454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36402" y="4820394"/>
            <a:ext cx="345461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Pinyin printed above every character on the tracing lines; stroke-order arrows shown for the 4 simple characters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300984" y="4614118"/>
            <a:ext cx="3589883" cy="513457"/>
          </a:xfrm>
          <a:prstGeom prst="roundRect">
            <a:avLst>
              <a:gd name="adj" fmla="val 148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402485" y="4690318"/>
            <a:ext cx="3454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402485" y="4820394"/>
            <a:ext cx="345461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Cover pinyin/English columns and self-quiz meanings from memory; for 平/土/角/页 write a shared-radical character too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967067" y="4614118"/>
            <a:ext cx="3590032" cy="513457"/>
          </a:xfrm>
          <a:prstGeom prst="roundRect">
            <a:avLst>
              <a:gd name="adj" fmla="val 148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8068568" y="4690318"/>
            <a:ext cx="34547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8068568" y="4820394"/>
            <a:ext cx="34547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Every student writes every word — 100% response rate by design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4101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 · We Do → You Do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825401"/>
            <a:ext cx="872877" cy="225326"/>
          </a:xfrm>
          <a:prstGeom prst="roundRect">
            <a:avLst>
              <a:gd name="adj" fmla="val 112726"/>
            </a:avLst>
          </a:prstGeom>
          <a:solidFill>
            <a:srgbClr val="3A7D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876151"/>
            <a:ext cx="57943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634728" y="761851"/>
            <a:ext cx="538451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 Sentence-Building with Word Cards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4901" y="1266676"/>
            <a:ext cx="675977" cy="247650"/>
          </a:xfrm>
          <a:prstGeom prst="roundRect">
            <a:avLst>
              <a:gd name="adj" fmla="val 102564"/>
            </a:avLst>
          </a:prstGeom>
          <a:solidFill>
            <a:srgbClr val="F6ECDA"/>
          </a:solidFill>
          <a:ln w="9525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71376" y="1314301"/>
            <a:ext cx="4110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8 min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387078" y="1266676"/>
            <a:ext cx="589062" cy="247650"/>
          </a:xfrm>
          <a:prstGeom prst="roundRect">
            <a:avLst>
              <a:gd name="adj" fmla="val 102564"/>
            </a:avLst>
          </a:prstGeom>
          <a:solidFill>
            <a:srgbClr val="E3EE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514029" y="1304776"/>
            <a:ext cx="3418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052340" y="1266676"/>
            <a:ext cx="777032" cy="247650"/>
          </a:xfrm>
          <a:prstGeom prst="roundRect">
            <a:avLst>
              <a:gd name="adj" fmla="val 102564"/>
            </a:avLst>
          </a:prstGeom>
          <a:solidFill>
            <a:srgbClr val="F7E7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79290" y="1304776"/>
            <a:ext cx="5335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YOU DO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34901" y="1679377"/>
            <a:ext cx="5359450" cy="1797397"/>
          </a:xfrm>
          <a:prstGeom prst="roundRect">
            <a:avLst>
              <a:gd name="adj" fmla="val 5653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9476" y="1853952"/>
            <a:ext cx="51105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09476" y="2085677"/>
            <a:ext cx="5010299" cy="1165771"/>
          </a:xfrm>
          <a:prstGeom prst="rect">
            <a:avLst/>
          </a:prstGeom>
          <a:noFill/>
          <a:ln/>
        </p:spPr>
        <p:txBody>
          <a:bodyPr wrap="square" lIns="69850" tIns="0" rIns="0" bIns="0" rtlCol="0" anchor="t"/>
          <a:lstStyle/>
          <a:p>
            <a:pPr algn="l" marL="69850" indent="-69850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 pairs, arrange the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cards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a correct sentence</a:t>
            </a:r>
            <a:endParaRPr lang="en-US" sz="950" dirty="0"/>
          </a:p>
          <a:p>
            <a:pPr algn="l" marL="69850" indent="-69850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Copy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 correct sentences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into your books, swapping in different hobby pairs each time</a:t>
            </a:r>
            <a:endParaRPr lang="en-US" sz="950" dirty="0"/>
          </a:p>
          <a:p>
            <a:pPr algn="l" marL="69850" indent="-69850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Extension: write one sentence using a hobby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not on the cards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(from L7/L8), and one about a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family member</a:t>
            </a: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"我爸爸除了……以外，还喜欢……"</a:t>
            </a:r>
            <a:endParaRPr lang="en-US" sz="950" dirty="0"/>
          </a:p>
          <a:p>
            <a:pPr algn="l" marL="69850" indent="-69850">
              <a:lnSpc>
                <a:spcPts val="133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call: be ready to </a:t>
            </a:r>
            <a:r>
              <a:rPr lang="en-US" sz="95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read one sentence aloud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197501" y="1679377"/>
            <a:ext cx="54667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CARDS · 词卡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97501" y="1901577"/>
            <a:ext cx="546050" cy="364927"/>
          </a:xfrm>
          <a:prstGeom prst="roundRect">
            <a:avLst>
              <a:gd name="adj" fmla="val 20881"/>
            </a:avLst>
          </a:prstGeom>
          <a:solidFill>
            <a:srgbClr val="F6ECD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330851" y="1984028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06952" y="1901577"/>
            <a:ext cx="823168" cy="364927"/>
          </a:xfrm>
          <a:prstGeom prst="roundRect">
            <a:avLst>
              <a:gd name="adj" fmla="val 20881"/>
            </a:avLst>
          </a:prstGeom>
          <a:solidFill>
            <a:srgbClr val="E3EEF0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940302" y="1984028"/>
            <a:ext cx="567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[hobby A]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93521" y="1901577"/>
            <a:ext cx="546050" cy="364927"/>
          </a:xfrm>
          <a:prstGeom prst="roundRect">
            <a:avLst>
              <a:gd name="adj" fmla="val 20881"/>
            </a:avLst>
          </a:prstGeom>
          <a:solidFill>
            <a:srgbClr val="F6ECD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826871" y="1984028"/>
            <a:ext cx="284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02972" y="1901577"/>
            <a:ext cx="825252" cy="364927"/>
          </a:xfrm>
          <a:prstGeom prst="roundRect">
            <a:avLst>
              <a:gd name="adj" fmla="val 20881"/>
            </a:avLst>
          </a:prstGeom>
          <a:solidFill>
            <a:srgbClr val="F6ECDA"/>
          </a:solidFill>
          <a:ln w="19050">
            <a:solidFill>
              <a:srgbClr val="C894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436322" y="1984028"/>
            <a:ext cx="5697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我还喜欢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91625" y="1901577"/>
            <a:ext cx="815132" cy="364927"/>
          </a:xfrm>
          <a:prstGeom prst="roundRect">
            <a:avLst>
              <a:gd name="adj" fmla="val 20881"/>
            </a:avLst>
          </a:prstGeom>
          <a:solidFill>
            <a:srgbClr val="E3EEF0"/>
          </a:solidFill>
          <a:ln w="19050">
            <a:solidFill>
              <a:srgbClr val="3A7D8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324975" y="1984028"/>
            <a:ext cx="559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A7D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[hobby B]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97501" y="2418904"/>
            <a:ext cx="5359598" cy="600075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6216551" y="2418904"/>
            <a:ext cx="0" cy="600075"/>
          </a:xfrm>
          <a:prstGeom prst="line">
            <a:avLst/>
          </a:prstGeom>
          <a:noFill/>
          <a:ln w="38100">
            <a:solidFill>
              <a:srgbClr val="C894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651" y="2533204"/>
            <a:ext cx="509122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除了音乐以外，我还喜欢舞蹈。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00651" y="2780854"/>
            <a:ext cx="509122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Frame colour = gold · Hobby colour = teal, so the slots are visually obvious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34901" y="3641824"/>
            <a:ext cx="3589883" cy="513457"/>
          </a:xfrm>
          <a:prstGeom prst="roundRect">
            <a:avLst>
              <a:gd name="adj" fmla="val 148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6402" y="3718024"/>
            <a:ext cx="3454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736402" y="3848100"/>
            <a:ext cx="345461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Word cards colour-coded by slot (除了…以外 = one colour, hobby words = another) so the frame is visually obvious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00984" y="3641824"/>
            <a:ext cx="3589883" cy="513457"/>
          </a:xfrm>
          <a:prstGeom prst="roundRect">
            <a:avLst>
              <a:gd name="adj" fmla="val 148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402485" y="3718024"/>
            <a:ext cx="345461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402485" y="3848100"/>
            <a:ext cx="345461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One sentence with a hobby not on the cards; one sentence about a family member ("我爸爸除了……以外，还喜欢……")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967067" y="3641824"/>
            <a:ext cx="3590032" cy="513457"/>
          </a:xfrm>
          <a:prstGeom prst="roundRect">
            <a:avLst>
              <a:gd name="adj" fmla="val 14841"/>
            </a:avLst>
          </a:prstGeom>
          <a:solidFill>
            <a:srgbClr val="F6F2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68568" y="3718024"/>
            <a:ext cx="34547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068568" y="3848100"/>
            <a:ext cx="345477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4–5 pairs to read one sentence aloud before the game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458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Radical Dictation Grid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4901" y="707975"/>
            <a:ext cx="526405" cy="200025"/>
          </a:xfrm>
          <a:prstGeom prst="roundRect">
            <a:avLst>
              <a:gd name="adj" fmla="val 126984"/>
            </a:avLst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61851" y="746075"/>
            <a:ext cx="27795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262807" y="698450"/>
            <a:ext cx="620762" cy="219075"/>
          </a:xfrm>
          <a:prstGeom prst="roundRect">
            <a:avLst>
              <a:gd name="adj" fmla="val 11594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399282" y="746075"/>
            <a:ext cx="3547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985070" y="707975"/>
            <a:ext cx="1667173" cy="200025"/>
          </a:xfrm>
          <a:prstGeom prst="roundRect">
            <a:avLst>
              <a:gd name="adj" fmla="val 126984"/>
            </a:avLst>
          </a:prstGeom>
          <a:solidFill>
            <a:srgbClr val="F7E7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12020" y="746075"/>
            <a:ext cx="14415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Act.1 Style · Team Competition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34901" y="968276"/>
            <a:ext cx="1114064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部首听写方格 · Radical Dictation Grid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34901" y="1336477"/>
            <a:ext cx="111406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Memorise the radical grid, then write each dictated radical back into its correct square from memory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4901" y="1603177"/>
            <a:ext cx="2920901" cy="2206526"/>
          </a:xfrm>
          <a:prstGeom prst="roundRect">
            <a:avLst>
              <a:gd name="adj" fmla="val 4605"/>
            </a:avLst>
          </a:prstGeom>
          <a:noFill/>
          <a:ln w="19050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3951" y="1622227"/>
            <a:ext cx="2882801" cy="263426"/>
          </a:xfrm>
          <a:prstGeom prst="rect">
            <a:avLst/>
          </a:prstGeom>
          <a:solidFill>
            <a:srgbClr val="D475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123" y="1672977"/>
            <a:ext cx="294045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 × 5 RADICAL GRID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951" y="1885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13209" y="1976140"/>
            <a:ext cx="59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0511" y="1885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475929" y="1976140"/>
            <a:ext cx="87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807071" y="1885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52637" y="1976140"/>
            <a:ext cx="869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383631" y="1885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628900" y="1976140"/>
            <a:ext cx="87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960191" y="1885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205609" y="1976140"/>
            <a:ext cx="87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53951" y="2266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98922" y="2357140"/>
            <a:ext cx="881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0511" y="2266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479054" y="2357140"/>
            <a:ext cx="8091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07071" y="2266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052340" y="2357140"/>
            <a:ext cx="87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83631" y="2266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628602" y="2357140"/>
            <a:ext cx="88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60191" y="2266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177034" y="2357140"/>
            <a:ext cx="14558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951" y="2647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84188" y="2738140"/>
            <a:ext cx="118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30511" y="2647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446907" y="2738140"/>
            <a:ext cx="1464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807071" y="2647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023765" y="2738140"/>
            <a:ext cx="1460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383631" y="2647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599879" y="2738140"/>
            <a:ext cx="146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960191" y="2647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3176588" y="2738140"/>
            <a:ext cx="1464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3951" y="3028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69900" y="3119140"/>
            <a:ext cx="14740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230511" y="3028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450032" y="3119140"/>
            <a:ext cx="1401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807071" y="3028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2023318" y="3119140"/>
            <a:ext cx="1469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18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383631" y="3028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2599581" y="3119140"/>
            <a:ext cx="14755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960191" y="3028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163193" y="3119140"/>
            <a:ext cx="17381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53951" y="3409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870347" y="3500140"/>
            <a:ext cx="1464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230511" y="3409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1433066" y="3500140"/>
            <a:ext cx="174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807071" y="3409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009924" y="3500140"/>
            <a:ext cx="1742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23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2383631" y="3409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2586038" y="3500140"/>
            <a:ext cx="1750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960191" y="3409652"/>
            <a:ext cx="576560" cy="381000"/>
          </a:xfrm>
          <a:prstGeom prst="rect">
            <a:avLst/>
          </a:prstGeom>
          <a:solidFill>
            <a:srgbClr val="FEFCF7"/>
          </a:solidFill>
          <a:ln w="9525">
            <a:solidFill>
              <a:srgbClr val="D5CEB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3162746" y="3500140"/>
            <a:ext cx="174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D5CEB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25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3733502" y="1603177"/>
            <a:ext cx="7823597" cy="1302246"/>
          </a:xfrm>
          <a:prstGeom prst="roundRect">
            <a:avLst>
              <a:gd name="adj" fmla="val 7802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895427" y="1739652"/>
            <a:ext cx="764974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3895427" y="1949202"/>
            <a:ext cx="76497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1. Project the textbook's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"Learn the Radicals" grid (p.81, 25 radicals)</a:t>
            </a: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for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 minute</a:t>
            </a: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students memorise the positions.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3895427" y="2154138"/>
            <a:ext cx="76497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2. Hide the grid. Teacher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dictates radicals</a:t>
            </a: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one at a time by pinyin or meaning.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3895427" y="2359075"/>
            <a:ext cx="76497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3. In teams, students write each radical into its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grid square</a:t>
            </a: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from memory on the blank template.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895427" y="2564011"/>
            <a:ext cx="7649742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🏆 </a:t>
            </a:r>
            <a:r>
              <a:rPr lang="en-US" sz="900" b="1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Most correct squares</a:t>
            </a:r>
            <a:r>
              <a:rPr lang="en-US" sz="900" dirty="0">
                <a:solidFill>
                  <a:srgbClr val="1E2A3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after 15 radicals wins.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733502" y="2994273"/>
            <a:ext cx="7823597" cy="485626"/>
          </a:xfrm>
          <a:prstGeom prst="roundRect">
            <a:avLst>
              <a:gd name="adj" fmla="val 15691"/>
            </a:avLst>
          </a:prstGeom>
          <a:solidFill>
            <a:srgbClr val="F7E7E5"/>
          </a:solidFill>
          <a:ln w="9525">
            <a:solidFill>
              <a:srgbClr val="D4756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3869978" y="3092648"/>
            <a:ext cx="77016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3869978" y="3257699"/>
            <a:ext cx="770165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Textbook radical grid (p.81) on the projector + blank 5×5 grid template per team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3733502" y="3556099"/>
            <a:ext cx="7980069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Radicals drawn from the textbook's own "Learn the Radicals" box, p.81 — teacher displays it briefly before dictating.</a:t>
            </a:r>
            <a:endParaRPr lang="en-US" sz="650" dirty="0"/>
          </a:p>
        </p:txBody>
      </p:sp>
      <p:sp>
        <p:nvSpPr>
          <p:cNvPr id="77" name="Shape 75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0072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88950" y="838051"/>
            <a:ext cx="106223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88950" y="1057126"/>
            <a:ext cx="1062238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24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88950" y="1688902"/>
            <a:ext cx="5105400" cy="2218879"/>
          </a:xfrm>
          <a:prstGeom prst="roundRect">
            <a:avLst>
              <a:gd name="adj" fmla="val 457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88975" y="1863477"/>
            <a:ext cx="47994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88975" y="2120652"/>
            <a:ext cx="479945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</a:t>
            </a: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Say 舞蹈, 跳舞, 从, 开始 in Chinese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88975" y="2347913"/>
            <a:ext cx="479945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</a:t>
            </a: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Use 除了……以外 to list an extra hobby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88975" y="2575173"/>
            <a:ext cx="479945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</a:t>
            </a: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Write and recognise 平, 土, 角, 页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88975" y="2802434"/>
            <a:ext cx="4799457" cy="151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90"/>
              </a:lnSpc>
              <a:spcAft>
                <a:spcPts val="600"/>
              </a:spcAft>
              <a:buNone/>
            </a:pPr>
            <a:r>
              <a:rPr lang="en-US" sz="8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👍 ✋ 👎</a:t>
            </a:r>
            <a:r>
              <a:rPr lang="en-US" sz="8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Recognise this unit's key radicals from dictation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97501" y="1688902"/>
            <a:ext cx="5105549" cy="2218879"/>
          </a:xfrm>
          <a:prstGeom prst="roundRect">
            <a:avLst>
              <a:gd name="adj" fmla="val 4579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97526" y="1863477"/>
            <a:ext cx="47996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80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397526" y="2120652"/>
            <a:ext cx="4705499" cy="593675"/>
          </a:xfrm>
          <a:prstGeom prst="rect">
            <a:avLst/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416576" y="2120652"/>
            <a:ext cx="0" cy="593675"/>
          </a:xfrm>
          <a:prstGeom prst="line">
            <a:avLst/>
          </a:prstGeom>
          <a:noFill/>
          <a:ln w="38100">
            <a:solidFill>
              <a:srgbClr val="3A7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75227" y="2234952"/>
            <a:ext cx="44759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3A7D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575227" y="2400002"/>
            <a:ext cx="44759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Write one sentence about your own hobbies using 除了……以外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97526" y="2828627"/>
            <a:ext cx="4799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 volunteer reads each success criterion aloud — class responds with the target word or sentence.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397526" y="3177778"/>
            <a:ext cx="47996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Self-assess with thumbs</a:t>
            </a: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against each of the 4 criteria above.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97526" y="3384054"/>
            <a:ext cx="479960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D475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Preview:</a:t>
            </a:r>
            <a:r>
              <a:rPr lang="en-US" sz="75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Next lesson we'll practise 除了……以外 some more — writing longer sentences and describing a busy park scene.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EF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3188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187226"/>
            <a:ext cx="1027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L1 · DANCE VOCAB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642021" y="182463"/>
            <a:ext cx="10888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Preview · Next Lesson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C894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92994" y="1633984"/>
            <a:ext cx="14058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7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 NEXT · L2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237153" y="1868835"/>
            <a:ext cx="3717545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 </a:t>
            </a:r>
            <a:r>
              <a:rPr lang="en-US" sz="2800" b="1" dirty="0">
                <a:solidFill>
                  <a:srgbClr val="C8943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深入练习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536118" y="2424410"/>
            <a:ext cx="511976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200"/>
              </a:spcAft>
              <a:buNone/>
            </a:pPr>
            <a:r>
              <a:rPr lang="en-US" sz="12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Longer sentences with 除了……以外 + describing a busy park scene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41899" y="2913311"/>
            <a:ext cx="1777901" cy="1323677"/>
          </a:xfrm>
          <a:prstGeom prst="roundRect">
            <a:avLst>
              <a:gd name="adj" fmla="val 767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441049" y="3100536"/>
            <a:ext cx="137960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✍️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41049" y="3567261"/>
            <a:ext cx="1379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翻译练习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41049" y="3792587"/>
            <a:ext cx="13796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Translation practice, English ↔ Chinese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172200" y="2913311"/>
            <a:ext cx="1777901" cy="1323677"/>
          </a:xfrm>
          <a:prstGeom prst="roundRect">
            <a:avLst>
              <a:gd name="adj" fmla="val 7676"/>
            </a:avLst>
          </a:prstGeom>
          <a:solidFill>
            <a:srgbClr val="F6F2E8"/>
          </a:solidFill>
          <a:ln w="9525">
            <a:solidFill>
              <a:srgbClr val="E5DF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71350" y="3100536"/>
            <a:ext cx="1379601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000000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71350" y="3567261"/>
            <a:ext cx="13796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公园场景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71350" y="3792587"/>
            <a:ext cx="13796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Describing a busy park scene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572149" y="4490889"/>
            <a:ext cx="3047702" cy="910977"/>
          </a:xfrm>
          <a:prstGeom prst="roundRect">
            <a:avLst>
              <a:gd name="adj" fmla="val 11153"/>
            </a:avLst>
          </a:prstGeom>
          <a:solidFill>
            <a:srgbClr val="EDE7D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52568" y="4630489"/>
            <a:ext cx="24868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650" b="1" dirty="0">
                <a:solidFill>
                  <a:srgbClr val="C8943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COMING UP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852568" y="4795540"/>
            <a:ext cx="248686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3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除了……以外，公园里……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52568" y="5119390"/>
            <a:ext cx="248686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800" dirty="0">
                <a:solidFill>
                  <a:srgbClr val="5B66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besides X, in the park there's also...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0" y="6532662"/>
            <a:ext cx="12192000" cy="0"/>
          </a:xfrm>
          <a:prstGeom prst="line">
            <a:avLst/>
          </a:prstGeom>
          <a:noFill/>
          <a:ln w="9525">
            <a:solidFill>
              <a:srgbClr val="E5DF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645325"/>
            <a:ext cx="13923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A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Y8 Chinese · Unit 3 Hobbies 爱好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2026-07-25T00:55:08Z</dcterms:created>
  <dcterms:modified xsi:type="dcterms:W3CDTF">2026-07-25T00:55:08Z</dcterms:modified>
</cp:coreProperties>
</file>