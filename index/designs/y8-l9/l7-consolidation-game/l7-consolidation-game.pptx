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21920" y="762000"/>
            <a:ext cx="12435840" cy="431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0"/>
              </a:lnSpc>
              <a:buNone/>
            </a:pPr>
            <a:r>
              <a:rPr lang="en-US" sz="34000" b="1" dirty="0">
                <a:solidFill>
                  <a:srgbClr val="F6ECD9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34000" dirty="0"/>
          </a:p>
        </p:txBody>
      </p:sp>
      <p:sp>
        <p:nvSpPr>
          <p:cNvPr id="4" name="Text 2"/>
          <p:cNvSpPr/>
          <p:nvPr/>
        </p:nvSpPr>
        <p:spPr>
          <a:xfrm>
            <a:off x="-121920" y="1905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Y8 UNIT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-121920" y="2282726"/>
            <a:ext cx="1243584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8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-121920" y="3778151"/>
            <a:ext cx="12435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Listening + Speaking Consolidation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-121920" y="4413052"/>
            <a:ext cx="124358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6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Listening + Speaking  ·  轻松学中文 Book 2 · Unit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Review · 0–8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2000" y="431750"/>
            <a:ext cx="108813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707975"/>
            <a:ext cx="1088136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6 Review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2000" y="1524000"/>
            <a:ext cx="5079950" cy="2793950"/>
          </a:xfrm>
          <a:prstGeom prst="roundRect">
            <a:avLst>
              <a:gd name="adj" fmla="val 454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25426" y="1787426"/>
            <a:ext cx="46441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 DIALOGUE REDO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5426" y="2149376"/>
            <a:ext cx="464416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Students redo the invitation phone dialogue from memory (Text 2 or their own from Lesson 6), then swap roles.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5426" y="3076426"/>
            <a:ext cx="46441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Mini-whiteboard check: write one 什么时候 or 几点 question and hold it up.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22950" y="1524000"/>
            <a:ext cx="53110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(LESSON 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22950" y="182880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4875" y="1939826"/>
            <a:ext cx="21308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84875" y="2225576"/>
            <a:ext cx="2130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let's… (suggestion)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89950" y="182880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051875" y="1939826"/>
            <a:ext cx="21308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1875" y="2225576"/>
            <a:ext cx="2130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(general)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22950" y="251460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84875" y="2625626"/>
            <a:ext cx="21308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84875" y="2911376"/>
            <a:ext cx="2130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(clock)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89950" y="2514600"/>
            <a:ext cx="2412950" cy="558701"/>
          </a:xfrm>
          <a:prstGeom prst="roundRect">
            <a:avLst>
              <a:gd name="adj" fmla="val 1363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051875" y="2625626"/>
            <a:ext cx="21308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打电话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1875" y="2911376"/>
            <a:ext cx="21308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phone call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2000" y="4698950"/>
            <a:ext cx="10668000" cy="977801"/>
          </a:xfrm>
          <a:prstGeom prst="rect">
            <a:avLst/>
          </a:prstGeom>
          <a:solidFill>
            <a:srgbClr val="F6EC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85813" y="4698950"/>
            <a:ext cx="0" cy="977801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975" y="4902101"/>
            <a:ext cx="102629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"This week you've learned five different grammar points for this unit. Today is about using all five together, fast, in listening and speaking — getting ready for the review lesson and the test."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Learning Intention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8950" y="634901"/>
            <a:ext cx="106222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88950" y="911126"/>
            <a:ext cx="10622229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88950" y="1777901"/>
            <a:ext cx="10159901" cy="1248966"/>
          </a:xfrm>
          <a:prstGeom prst="rect">
            <a:avLst/>
          </a:prstGeom>
          <a:solidFill>
            <a:srgbClr val="F6EC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912763" y="1777901"/>
            <a:ext cx="0" cy="1248966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5926" y="1981051"/>
            <a:ext cx="97446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15926" y="2219176"/>
            <a:ext cx="9744647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use </a:t>
            </a:r>
            <a:r>
              <a:rPr lang="en-US" sz="1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five Lesson 9 grammar patterns</a:t>
            </a:r>
            <a:r>
              <a:rPr lang="en-US" sz="17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together in speaking and listening tasks.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8950" y="3174950"/>
            <a:ext cx="106222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</a:t>
            </a: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identify</a:t>
            </a: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which activity / grammar pattern is being used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8950" y="3657451"/>
            <a:ext cx="1062222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make a correct sentence for each of the </a:t>
            </a: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key grammar patterns</a:t>
            </a: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5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 / 从……开始 / 在……呢 / 吧 / 什么时候 vs 几点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8950" y="4444752"/>
            <a:ext cx="106222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ask and answer questions about </a:t>
            </a: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hobbies fluently</a:t>
            </a: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a partner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I Do · Grammar Recap · 10–20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406301"/>
            <a:ext cx="111403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657076"/>
            <a:ext cx="1114033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五个句型总复习 · All 5 Patterns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4901" y="1149102"/>
            <a:ext cx="111403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teacher-led walkthrough — one example sentence each, no new content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1905000"/>
            <a:ext cx="3555950" cy="1269950"/>
          </a:xfrm>
          <a:prstGeom prst="roundRect">
            <a:avLst>
              <a:gd name="adj" fmla="val 10000"/>
            </a:avLst>
          </a:prstGeom>
          <a:solidFill>
            <a:srgbClr val="F6ECD9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1652" y="2051000"/>
            <a:ext cx="3225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1652" y="2231975"/>
            <a:ext cx="3225698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1652" y="2516237"/>
            <a:ext cx="322569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除了音乐以外，我还喜欢舞蹈。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1652" y="2768798"/>
            <a:ext cx="3225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music, I also like dance.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950" y="1905000"/>
            <a:ext cx="3555950" cy="1269950"/>
          </a:xfrm>
          <a:prstGeom prst="roundRect">
            <a:avLst>
              <a:gd name="adj" fmla="val 10000"/>
            </a:avLst>
          </a:prstGeom>
          <a:solidFill>
            <a:srgbClr val="E8F1F2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14701" y="2051000"/>
            <a:ext cx="3225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14701" y="2231975"/>
            <a:ext cx="3225698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从……开始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14701" y="2516237"/>
            <a:ext cx="322569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我从四岁开始学跳舞。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14701" y="2768798"/>
            <a:ext cx="3225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started learning dance from age four.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01000" y="1905000"/>
            <a:ext cx="3555950" cy="1269950"/>
          </a:xfrm>
          <a:prstGeom prst="roundRect">
            <a:avLst>
              <a:gd name="adj" fmla="val 10000"/>
            </a:avLst>
          </a:prstGeom>
          <a:solidFill>
            <a:srgbClr val="F7E7E5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97751" y="2051000"/>
            <a:ext cx="3225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197751" y="2231975"/>
            <a:ext cx="3225698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在……呢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7751" y="2516237"/>
            <a:ext cx="322569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我在做作业呢。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97751" y="2768798"/>
            <a:ext cx="3225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I'm doing homework (right now).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3365450"/>
            <a:ext cx="2667000" cy="1269950"/>
          </a:xfrm>
          <a:prstGeom prst="roundRect">
            <a:avLst>
              <a:gd name="adj" fmla="val 10000"/>
            </a:avLst>
          </a:prstGeom>
          <a:solidFill>
            <a:srgbClr val="F6ECD9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25751" y="3511451"/>
            <a:ext cx="2318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25751" y="3692426"/>
            <a:ext cx="2318968" cy="233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5751" y="3976687"/>
            <a:ext cx="231896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我们一起去打篮球吧！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25751" y="4229249"/>
            <a:ext cx="2318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go play basketball together!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22950" y="3365450"/>
            <a:ext cx="2667000" cy="1269950"/>
          </a:xfrm>
          <a:prstGeom prst="roundRect">
            <a:avLst>
              <a:gd name="adj" fmla="val 10000"/>
            </a:avLst>
          </a:prstGeom>
          <a:solidFill>
            <a:srgbClr val="E8F1F2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19701" y="3511451"/>
            <a:ext cx="2318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19701" y="3692426"/>
            <a:ext cx="231896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 vs 几点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19701" y="3947666"/>
            <a:ext cx="2318968" cy="4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你什么时候去？——下午四点。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701" y="4414689"/>
            <a:ext cx="2318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are you going? — 4pm.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I Do · CFU Checkpoints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5901" y="431750"/>
            <a:ext cx="103630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5901" y="682526"/>
            <a:ext cx="103630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5901" y="1174552"/>
            <a:ext cx="103630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call, rapid pace — one per pattern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901" y="149855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2376" y="160957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49583" y="160957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84127" y="1622375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one example of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5901" y="2082701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52376" y="21937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49583" y="2193727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84127" y="2206526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one example of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从……开始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5901" y="266700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376" y="277802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49583" y="27780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84127" y="2790825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one example of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15901" y="325115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52376" y="336217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49583" y="336217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84127" y="3374975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one example of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5901" y="3835301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52376" y="39463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49583" y="3946327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84127" y="3959126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one example of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5901" y="441960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7E7E5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52376" y="453062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49583" y="45306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84127" y="4543425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pattern would I use to ask "what time"? </a:t>
            </a:r>
            <a:r>
              <a:rPr lang="en-US" sz="1000" b="1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for 几点.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I Do · CFU Answers ↳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5901" y="431750"/>
            <a:ext cx="103630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15901" y="682526"/>
            <a:ext cx="103630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15901" y="1396901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52376" y="15079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9583" y="1507927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84127" y="1469827"/>
            <a:ext cx="9456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84127" y="1612702"/>
            <a:ext cx="9456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除了篮球以外，我还喜欢跳舞。</a:t>
            </a:r>
            <a:r>
              <a:rPr lang="en-US" sz="9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Besides basketball, I also like dancing.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5901" y="195575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52376" y="206677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49583" y="206677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84127" y="2028676"/>
            <a:ext cx="9456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从……开始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84127" y="2171551"/>
            <a:ext cx="9456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我从五岁开始学游泳。</a:t>
            </a:r>
            <a:r>
              <a:rPr lang="en-US" sz="9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I started learning to swim from age five.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5901" y="251460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2376" y="262562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49583" y="26256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84127" y="2587526"/>
            <a:ext cx="9456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84127" y="2730401"/>
            <a:ext cx="9456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我在看书呢。</a:t>
            </a:r>
            <a:r>
              <a:rPr lang="en-US" sz="9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I'm reading (right now).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5901" y="3073301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2376" y="31843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49583" y="3184327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84127" y="3146227"/>
            <a:ext cx="9456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84127" y="3289102"/>
            <a:ext cx="9456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我们一起去看电影吧！</a:t>
            </a:r>
            <a:r>
              <a:rPr lang="en-US" sz="9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Let's go watch a movie together!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5901" y="3632150"/>
            <a:ext cx="10159901" cy="482501"/>
          </a:xfrm>
          <a:prstGeom prst="roundRect">
            <a:avLst>
              <a:gd name="adj" fmla="val 210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52376" y="374317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49583" y="374317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84127" y="3705076"/>
            <a:ext cx="9456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 vs 几点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84127" y="3847951"/>
            <a:ext cx="9456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你什么时候去跳舞？——晚上七点。</a:t>
            </a:r>
            <a:r>
              <a:rPr lang="en-US" sz="9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When are you going dancing? — 7pm.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5901" y="4191000"/>
            <a:ext cx="10159901" cy="558701"/>
          </a:xfrm>
          <a:prstGeom prst="roundRect">
            <a:avLst>
              <a:gd name="adj" fmla="val 18185"/>
            </a:avLst>
          </a:prstGeom>
          <a:solidFill>
            <a:srgbClr val="F7E7E5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52376" y="430202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49583" y="43020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84127" y="4263926"/>
            <a:ext cx="94563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pattern asks "what time"?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84127" y="4406801"/>
            <a:ext cx="94563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— asks for the exact clock time </a:t>
            </a: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 asks "when" more generally; 几点 wants a number on the clock.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Activity 1 · We 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406301"/>
            <a:ext cx="2539901" cy="279350"/>
          </a:xfrm>
          <a:prstGeom prst="roundRect">
            <a:avLst>
              <a:gd name="adj" fmla="val 5000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02" y="406301"/>
            <a:ext cx="259069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711101"/>
            <a:ext cx="64768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Grammar Relay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4901" y="1168301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    We Do · Act.8-style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650950"/>
            <a:ext cx="4191000" cy="3810000"/>
          </a:xfrm>
          <a:prstGeom prst="roundRect">
            <a:avLst>
              <a:gd name="adj" fmla="val 3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576" y="1863626"/>
            <a:ext cx="3840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7576" y="2171551"/>
            <a:ext cx="38409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Teams line up at the board. Teacher reveals one prompt card at a time (10 total).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7576" y="2692152"/>
            <a:ext cx="38409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The first student in each team runs up and writes a correct sentence using the required pattern.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7576" y="3212753"/>
            <a:ext cx="38409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Team scores a point if correct — teacher or class checks.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7576" y="3733354"/>
            <a:ext cx="38409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Next student in line goes for the next prompt.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950" y="1650950"/>
            <a:ext cx="6477000" cy="3810000"/>
          </a:xfrm>
          <a:prstGeom prst="roundRect">
            <a:avLst>
              <a:gd name="adj" fmla="val 3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83101" y="1854101"/>
            <a:ext cx="61921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RELAY PROMPTS · 10 ITEMS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83101" y="21589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94127" y="22191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besides basketball…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05800" y="21589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16826" y="22191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besides sports, another hobby…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83101" y="26923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94127" y="27525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starting from age 5…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从……开始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05800" y="26923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16826" y="27525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starting from this year…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从……开始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83101" y="32257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94127" y="32859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are you doing right now?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05800" y="32257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16826" y="32859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say you're cooking right now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83101" y="37591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94127" y="38193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invite a friend to swim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05800" y="37591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16826" y="38193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invite a friend to watch a movie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83101" y="42925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394127" y="43527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ask when someone's birthday is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05800" y="4292501"/>
            <a:ext cx="2920901" cy="482501"/>
          </a:xfrm>
          <a:prstGeom prst="roundRect">
            <a:avLst>
              <a:gd name="adj" fmla="val 15793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416826" y="4352776"/>
            <a:ext cx="27528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ask what time practice starts </a:t>
            </a: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4901" y="5651450"/>
            <a:ext cx="3555950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1851" y="5727650"/>
            <a:ext cx="33680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61851" y="5876776"/>
            <a:ext cx="33680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5-pattern recap chart stays projected throughout; struggling teams may consult it before writing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317802" y="5651450"/>
            <a:ext cx="3555950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44752" y="5727650"/>
            <a:ext cx="33680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444752" y="5876776"/>
            <a:ext cx="33680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 correct, a second member adds a follow-up sentence using a different pattern before the next prompt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00851" y="5651450"/>
            <a:ext cx="3555950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127802" y="5727650"/>
            <a:ext cx="33680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127802" y="5876776"/>
            <a:ext cx="33680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Whole-team engagement — every student gets at least 2 turns across the 10 items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Activity 2 · You 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406301"/>
            <a:ext cx="2539901" cy="279350"/>
          </a:xfrm>
          <a:prstGeom prst="roundRect">
            <a:avLst>
              <a:gd name="adj" fmla="val 5000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02" y="406301"/>
            <a:ext cx="2590699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01" y="711101"/>
            <a:ext cx="64768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Mingle Speaking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4901" y="1168301"/>
            <a:ext cx="7772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    You Do · Act.10-style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650950"/>
            <a:ext cx="4191000" cy="3810000"/>
          </a:xfrm>
          <a:prstGeom prst="roundRect">
            <a:avLst>
              <a:gd name="adj" fmla="val 3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576" y="1863626"/>
            <a:ext cx="38409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7576" y="2171551"/>
            <a:ext cx="38409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Circulate the room and ask 8 classmates the questions on the right.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7576" y="2692152"/>
            <a:ext cx="38409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Note down a one-word answer for each on your question sheet.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7576" y="3212753"/>
            <a:ext cx="38409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Extension: ask one unscripted follow-up question after each scripted one.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950" y="1650950"/>
            <a:ext cx="6477000" cy="3810000"/>
          </a:xfrm>
          <a:prstGeom prst="roundRect">
            <a:avLst>
              <a:gd name="adj" fmla="val 333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83101" y="1854101"/>
            <a:ext cx="61921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· 8 TOTAL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83101" y="2235101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94127" y="2308027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你昨天晚上八点在干什么呢？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94127" y="2491978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were you doing at 8pm last night?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305800" y="2235101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16826" y="2308027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你星期六几点打篮球？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6826" y="2491978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do you play basketball on Saturday?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283101" y="3048000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94127" y="3120926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你今天早上七点在做什么呢？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127" y="3304877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were you doing at 7am today?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305800" y="3048000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16826" y="3120926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你什么时候开始学跳舞？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6826" y="3304877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did you start learning dance?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283101" y="3860750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94127" y="3933676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5. 你现在在做作业呢吗？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94127" y="4117628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you doing homework right now?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305800" y="3860750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16826" y="3933676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6. 你星期天几点起床？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6826" y="4117628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 do you get up on Sunday?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83101" y="4673501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94127" y="4746427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7. 除了跳舞以外，你还喜欢什么运动？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127" y="4930378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dance, what other sport?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305800" y="4673501"/>
            <a:ext cx="2920901" cy="736550"/>
          </a:xfrm>
          <a:prstGeom prst="roundRect">
            <a:avLst>
              <a:gd name="adj" fmla="val 10346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416826" y="4746427"/>
            <a:ext cx="2752826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8. 你朋友什么时候一起去游泳？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6826" y="4930378"/>
            <a:ext cx="27528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are you and a friend swimming?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34901" y="5651450"/>
            <a:ext cx="3555950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1851" y="5727650"/>
            <a:ext cx="33680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61851" y="5876776"/>
            <a:ext cx="33680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8 questions pre-printed with pinyin; sentence-frame answers modelled on the board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17802" y="5651450"/>
            <a:ext cx="3555950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44752" y="5727650"/>
            <a:ext cx="33680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444752" y="5876776"/>
            <a:ext cx="33680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ask one unscripted follow-up question of their own choosing after each scripted one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00851" y="5651450"/>
            <a:ext cx="3555950" cy="711101"/>
          </a:xfrm>
          <a:prstGeom prst="roundRect">
            <a:avLst>
              <a:gd name="adj" fmla="val 142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127802" y="5727650"/>
            <a:ext cx="33680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127802" y="5876776"/>
            <a:ext cx="336809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asks and answers 8 times each — high-volume oral practice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Game · Two Truths, One Lie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406301"/>
            <a:ext cx="1143000" cy="279350"/>
          </a:xfrm>
          <a:prstGeom prst="roundRect">
            <a:avLst>
              <a:gd name="adj" fmla="val 5000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3471" y="406301"/>
            <a:ext cx="1165860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05000" y="406301"/>
            <a:ext cx="14248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74950" y="406301"/>
            <a:ext cx="19431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Small Groups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762000"/>
            <a:ext cx="90677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两真一假 · Two Truths, One Lie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34901" y="1203275"/>
            <a:ext cx="9067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says 3 hobby sentences using 3 different L9 patterns — the group votes on the lie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4901" y="1676400"/>
            <a:ext cx="3555950" cy="304800"/>
          </a:xfrm>
          <a:prstGeom prst="roundRect">
            <a:avLst>
              <a:gd name="adj" fmla="val 41667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9341" y="1676400"/>
            <a:ext cx="36270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Round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4901" y="1981200"/>
            <a:ext cx="3555950" cy="2539901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81326" y="1981200"/>
            <a:ext cx="0" cy="2539901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4901" y="4511576"/>
            <a:ext cx="3555950" cy="0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426" y="1981200"/>
            <a:ext cx="0" cy="2539901"/>
          </a:xfrm>
          <a:prstGeom prst="line">
            <a:avLst/>
          </a:prstGeom>
          <a:noFill/>
          <a:ln w="19050">
            <a:solidFill>
              <a:srgbClr val="D47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652" y="2158901"/>
            <a:ext cx="3200400" cy="4572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8127" y="2244626"/>
            <a:ext cx="2985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除了游泳以外，我还喜欢舞蹈。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1652" y="2692301"/>
            <a:ext cx="3200400" cy="4572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8127" y="2778026"/>
            <a:ext cx="2985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我从三岁开始拉小提琴。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1652" y="3225701"/>
            <a:ext cx="3200400" cy="4572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68127" y="3311426"/>
            <a:ext cx="2985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我在学校打篮球呢。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9648" y="3886200"/>
            <a:ext cx="32644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one is the lie?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1676400"/>
            <a:ext cx="6984950" cy="2158901"/>
          </a:xfrm>
          <a:prstGeom prst="roundRect">
            <a:avLst>
              <a:gd name="adj" fmla="val 588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84675" y="1889075"/>
            <a:ext cx="6690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4675" y="2197001"/>
            <a:ext cx="669079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In small groups, each student says 3 sentences about their hobbies, each using a different one of the 5 L9 grammar patterns.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84675" y="2689622"/>
            <a:ext cx="669079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Two sentences are true, one is a lie.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4675" y="2986683"/>
            <a:ext cx="6690792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The group listens and votes on which is the lie — the student then reveals the answer.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4013150"/>
            <a:ext cx="6984950" cy="558701"/>
          </a:xfrm>
          <a:prstGeom prst="roundRect">
            <a:avLst>
              <a:gd name="adj" fmla="val 18185"/>
            </a:avLst>
          </a:prstGeom>
          <a:solidFill>
            <a:srgbClr val="E8F1F2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94200" y="4108400"/>
            <a:ext cx="66713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🛠️ Setup: none beyond the 5-pattern chart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94200" y="4343251"/>
            <a:ext cx="66713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recap chart from earlier stays visible for reference — no extra materials needed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Plenary · 43–50 min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8950" y="558701"/>
            <a:ext cx="106222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88950" y="809476"/>
            <a:ext cx="1062222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88950" y="1524000"/>
            <a:ext cx="4953000" cy="4317950"/>
          </a:xfrm>
          <a:prstGeom prst="roundRect">
            <a:avLst>
              <a:gd name="adj" fmla="val 294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7075" y="1762125"/>
            <a:ext cx="45662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075" y="2146250"/>
            <a:ext cx="45662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   Listen and identify which grammar pattern is being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7075" y="2743051"/>
            <a:ext cx="45662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   Make a correct sentence for each of the 5 key patterns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27075" y="3339852"/>
            <a:ext cx="45662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   Ask and answer questions about hobbies fluently with a partner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22950" y="1524000"/>
            <a:ext cx="5079950" cy="4317950"/>
          </a:xfrm>
          <a:prstGeom prst="roundRect">
            <a:avLst>
              <a:gd name="adj" fmla="val 294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61075" y="1762125"/>
            <a:ext cx="46957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61075" y="2092226"/>
            <a:ext cx="4622750" cy="985838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84888" y="2092226"/>
            <a:ext cx="0" cy="985838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851" y="2244626"/>
            <a:ext cx="42522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11851" y="2463701"/>
            <a:ext cx="4252201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Teacher says one sentence aloud (e.g. 我们一起去游泳吧！) — write which of the 5 grammar patterns it uses.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61075" y="3692426"/>
            <a:ext cx="4715205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gives an example for each. Self-assess with thumbs against each of the 3 criteria above.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26950"/>
            <a:ext cx="11399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CONSOLIDATION  |  Preview · Next Lesson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-121920" y="88895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-121920" y="1190476"/>
            <a:ext cx="124358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· Test Prep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-121920" y="1904851"/>
            <a:ext cx="124358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review before Test 3.3 — characters, listening, and a full practice 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82901" y="2412950"/>
            <a:ext cx="2158901" cy="1650950"/>
          </a:xfrm>
          <a:prstGeom prst="roundRect">
            <a:avLst>
              <a:gd name="adj" fmla="val 769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78241" y="2625626"/>
            <a:ext cx="17682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78241" y="3155752"/>
            <a:ext cx="17682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汉字复习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78241" y="3435102"/>
            <a:ext cx="17682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practice for all Unit 3 vocab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901" y="2412950"/>
            <a:ext cx="2158901" cy="1650950"/>
          </a:xfrm>
          <a:prstGeom prst="roundRect">
            <a:avLst>
              <a:gd name="adj" fmla="val 769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45241" y="2625626"/>
            <a:ext cx="17682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45241" y="3155752"/>
            <a:ext cx="17682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模拟测验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45241" y="3435102"/>
            <a:ext cx="17682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practice test — Test 3.3 prep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1000" y="4444901"/>
            <a:ext cx="3810000" cy="1143000"/>
          </a:xfrm>
          <a:prstGeom prst="roundRect">
            <a:avLst>
              <a:gd name="adj" fmla="val 1111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34155" y="4622602"/>
            <a:ext cx="35236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34155" y="4816227"/>
            <a:ext cx="352369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Unit 3 Test 3.3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34155" y="5140077"/>
            <a:ext cx="35236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Covering all Lesson 9 dance vocab &amp; grammar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950" y="6845350"/>
            <a:ext cx="111760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7950" y="6638925"/>
            <a:ext cx="11399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2026-07-25T00:55:47Z</dcterms:created>
  <dcterms:modified xsi:type="dcterms:W3CDTF">2026-07-25T00:55:47Z</dcterms:modified>
</cp:coreProperties>
</file>