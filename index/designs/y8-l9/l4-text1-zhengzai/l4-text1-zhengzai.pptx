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EFCF7"/>
        </a:solidFill>
      </p:bgPr>
    </p:bg>
    <p:spTree>
      <p:nvGrpSpPr>
        <p:cNvPr id="1" name=""/>
        <p:cNvGrpSpPr/>
        <p:nvPr/>
      </p:nvGrpSpPr>
      <p:grpSpPr>
        <a:xfrm>
          <a:off x="0" y="0"/>
          <a:ext cx="0" cy="0"/>
          <a:chOff x="0" y="0"/>
          <a:chExt cx="0" cy="0"/>
        </a:xfrm>
      </p:grpSpPr>
      <p:sp>
        <p:nvSpPr>
          <p:cNvPr id="2" name="Text 0"/>
          <p:cNvSpPr/>
          <p:nvPr/>
        </p:nvSpPr>
        <p:spPr>
          <a:xfrm>
            <a:off x="-121920" y="1396901"/>
            <a:ext cx="12435840" cy="200025"/>
          </a:xfrm>
          <a:prstGeom prst="rect">
            <a:avLst/>
          </a:prstGeom>
          <a:noFill/>
          <a:ln/>
        </p:spPr>
        <p:txBody>
          <a:bodyPr wrap="square" lIns="0" tIns="0" rIns="0" bIns="0" rtlCol="0" anchor="t"/>
          <a:lstStyle/>
          <a:p>
            <a:pPr algn="ctr" indent="0" marL="0">
              <a:buNone/>
            </a:pPr>
            <a:r>
              <a:rPr lang="en-US" sz="1100" b="1" dirty="0">
                <a:solidFill>
                  <a:srgbClr val="C8943E"/>
                </a:solidFill>
                <a:latin typeface="Noto Sans SC" pitchFamily="34" charset="0"/>
                <a:ea typeface="Noto Sans SC" pitchFamily="34" charset="-122"/>
                <a:cs typeface="Noto Sans SC" pitchFamily="34" charset="-120"/>
              </a:rPr>
              <a:t>LESSON 4 OF 8 · Y8 UNIT 3</a:t>
            </a:r>
            <a:endParaRPr lang="en-US" sz="1100" dirty="0"/>
          </a:p>
        </p:txBody>
      </p:sp>
      <p:sp>
        <p:nvSpPr>
          <p:cNvPr id="3" name="Text 1"/>
          <p:cNvSpPr/>
          <p:nvPr/>
        </p:nvSpPr>
        <p:spPr>
          <a:xfrm>
            <a:off x="-121920" y="1905000"/>
            <a:ext cx="12435840" cy="1133475"/>
          </a:xfrm>
          <a:prstGeom prst="rect">
            <a:avLst/>
          </a:prstGeom>
          <a:noFill/>
          <a:ln/>
        </p:spPr>
        <p:txBody>
          <a:bodyPr wrap="square" lIns="0" tIns="0" rIns="0" bIns="0" rtlCol="0" anchor="t"/>
          <a:lstStyle/>
          <a:p>
            <a:pPr algn="ctr" indent="0" marL="0">
              <a:buNone/>
            </a:pPr>
            <a:r>
              <a:rPr lang="en-US" sz="6400" b="1" dirty="0">
                <a:solidFill>
                  <a:srgbClr val="1E2A38"/>
                </a:solidFill>
                <a:latin typeface="Noto Serif SC" pitchFamily="34" charset="0"/>
                <a:ea typeface="Noto Serif SC" pitchFamily="34" charset="-122"/>
                <a:cs typeface="Noto Serif SC" pitchFamily="34" charset="-120"/>
              </a:rPr>
              <a:t>爱好·舞蹈</a:t>
            </a:r>
            <a:endParaRPr lang="en-US" sz="6400" dirty="0"/>
          </a:p>
        </p:txBody>
      </p:sp>
      <p:sp>
        <p:nvSpPr>
          <p:cNvPr id="4" name="Text 2"/>
          <p:cNvSpPr/>
          <p:nvPr/>
        </p:nvSpPr>
        <p:spPr>
          <a:xfrm>
            <a:off x="-121920" y="3174950"/>
            <a:ext cx="12435840" cy="304800"/>
          </a:xfrm>
          <a:prstGeom prst="rect">
            <a:avLst/>
          </a:prstGeom>
          <a:noFill/>
          <a:ln/>
        </p:spPr>
        <p:txBody>
          <a:bodyPr wrap="square" lIns="0" tIns="0" rIns="0" bIns="0" rtlCol="0" anchor="t"/>
          <a:lstStyle/>
          <a:p>
            <a:pPr algn="ctr" indent="0" marL="0">
              <a:buNone/>
            </a:pPr>
            <a:r>
              <a:rPr lang="en-US" sz="1700" dirty="0">
                <a:solidFill>
                  <a:srgbClr val="8B94A3"/>
                </a:solidFill>
                <a:latin typeface="Noto Sans SC" pitchFamily="34" charset="0"/>
                <a:ea typeface="Noto Sans SC" pitchFamily="34" charset="-122"/>
                <a:cs typeface="Noto Sans SC" pitchFamily="34" charset="-120"/>
              </a:rPr>
              <a:t>Text 1 Passage (欢欢) + 正在 Review</a:t>
            </a:r>
            <a:endParaRPr lang="en-US" sz="1700" dirty="0"/>
          </a:p>
        </p:txBody>
      </p:sp>
      <p:sp>
        <p:nvSpPr>
          <p:cNvPr id="5" name="Text 3"/>
          <p:cNvSpPr/>
          <p:nvPr/>
        </p:nvSpPr>
        <p:spPr>
          <a:xfrm>
            <a:off x="-121920" y="3810000"/>
            <a:ext cx="12435840" cy="209550"/>
          </a:xfrm>
          <a:prstGeom prst="rect">
            <a:avLst/>
          </a:prstGeom>
          <a:noFill/>
          <a:ln/>
        </p:spPr>
        <p:txBody>
          <a:bodyPr wrap="square" lIns="0" tIns="0" rIns="0" bIns="0" rtlCol="0" anchor="t"/>
          <a:lstStyle/>
          <a:p>
            <a:pPr algn="ctr" indent="0" marL="0">
              <a:buNone/>
            </a:pPr>
            <a:r>
              <a:rPr lang="en-US" sz="1200" dirty="0">
                <a:solidFill>
                  <a:srgbClr val="8B94A3"/>
                </a:solidFill>
                <a:latin typeface="Noto Sans SC" pitchFamily="34" charset="0"/>
                <a:ea typeface="Noto Sans SC" pitchFamily="34" charset="-122"/>
                <a:cs typeface="Noto Sans SC" pitchFamily="34" charset="-120"/>
              </a:rPr>
              <a:t>Year 8 Chinese · 50 mins · Reading + Speaking · 轻松学中文 Book 2 · Unit 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Review · 0–8 min</a:t>
            </a:r>
            <a:endParaRPr lang="en-US" sz="800" dirty="0"/>
          </a:p>
        </p:txBody>
      </p:sp>
      <p:sp>
        <p:nvSpPr>
          <p:cNvPr id="4" name="Text 2"/>
          <p:cNvSpPr/>
          <p:nvPr/>
        </p:nvSpPr>
        <p:spPr>
          <a:xfrm>
            <a:off x="762000" y="381000"/>
            <a:ext cx="10881360" cy="161925"/>
          </a:xfrm>
          <a:prstGeom prst="rect">
            <a:avLst/>
          </a:prstGeom>
          <a:noFill/>
          <a:ln/>
        </p:spPr>
        <p:txBody>
          <a:bodyPr wrap="square" lIns="0" tIns="0" rIns="0" bIns="0" rtlCol="0" anchor="t"/>
          <a:lstStyle/>
          <a:p>
            <a:pPr algn="l" indent="0" marL="0">
              <a:buNone/>
            </a:pPr>
            <a:r>
              <a:rPr lang="en-US" sz="900" b="1" dirty="0">
                <a:solidFill>
                  <a:srgbClr val="D4756B"/>
                </a:solidFill>
                <a:latin typeface="Noto Sans SC" pitchFamily="34" charset="0"/>
                <a:ea typeface="Noto Sans SC" pitchFamily="34" charset="-122"/>
                <a:cs typeface="Noto Sans SC" pitchFamily="34" charset="-120"/>
              </a:rPr>
              <a:t>0–8 MIN · REVIEW</a:t>
            </a:r>
            <a:endParaRPr lang="en-US" sz="900" dirty="0"/>
          </a:p>
        </p:txBody>
      </p:sp>
      <p:sp>
        <p:nvSpPr>
          <p:cNvPr id="5" name="Text 3"/>
          <p:cNvSpPr/>
          <p:nvPr/>
        </p:nvSpPr>
        <p:spPr>
          <a:xfrm>
            <a:off x="762000" y="619125"/>
            <a:ext cx="10881360" cy="466725"/>
          </a:xfrm>
          <a:prstGeom prst="rect">
            <a:avLst/>
          </a:prstGeom>
          <a:noFill/>
          <a:ln/>
        </p:spPr>
        <p:txBody>
          <a:bodyPr wrap="square" lIns="0" tIns="0" rIns="0" bIns="0" rtlCol="0" anchor="t"/>
          <a:lstStyle/>
          <a:p>
            <a:pPr algn="l" indent="0" marL="0">
              <a:spcBef>
                <a:spcPts val="600"/>
              </a:spcBef>
              <a:buNone/>
            </a:pPr>
            <a:r>
              <a:rPr lang="en-US" sz="2600" b="1" dirty="0">
                <a:solidFill>
                  <a:srgbClr val="1E2A38"/>
                </a:solidFill>
                <a:latin typeface="Noto Serif SC" pitchFamily="34" charset="0"/>
                <a:ea typeface="Noto Serif SC" pitchFamily="34" charset="-122"/>
                <a:cs typeface="Noto Serif SC" pitchFamily="34" charset="-120"/>
              </a:rPr>
              <a:t>回顾 · Lesson 3 Vocabulary &amp; Pattern</a:t>
            </a:r>
            <a:endParaRPr lang="en-US" sz="2600" dirty="0"/>
          </a:p>
        </p:txBody>
      </p:sp>
      <p:sp>
        <p:nvSpPr>
          <p:cNvPr id="6" name="Text 4"/>
          <p:cNvSpPr/>
          <p:nvPr/>
        </p:nvSpPr>
        <p:spPr>
          <a:xfrm>
            <a:off x="762000" y="1269950"/>
            <a:ext cx="5079950" cy="2539901"/>
          </a:xfrm>
          <a:prstGeom prst="roundRect">
            <a:avLst>
              <a:gd name="adj" fmla="val 4000"/>
            </a:avLst>
          </a:prstGeom>
          <a:solidFill>
            <a:srgbClr val="F6F2E8"/>
          </a:solidFill>
          <a:ln w="9525">
            <a:solidFill>
              <a:srgbClr val="E5DFD0"/>
            </a:solidFill>
          </a:ln>
        </p:spPr>
        <p:txBody>
          <a:bodyPr wrap="square" rtlCol="0" anchor="ctr"/>
          <a:lstStyle/>
          <a:p>
            <a:pPr indent="0" marL="0">
              <a:buNone/>
            </a:pPr>
            <a:endParaRPr lang="en-US" dirty="0"/>
          </a:p>
        </p:txBody>
      </p:sp>
      <p:sp>
        <p:nvSpPr>
          <p:cNvPr id="7" name="Text 5"/>
          <p:cNvSpPr/>
          <p:nvPr/>
        </p:nvSpPr>
        <p:spPr>
          <a:xfrm>
            <a:off x="1000125" y="1482626"/>
            <a:ext cx="4695774" cy="180975"/>
          </a:xfrm>
          <a:prstGeom prst="rect">
            <a:avLst/>
          </a:prstGeom>
          <a:noFill/>
          <a:ln/>
        </p:spPr>
        <p:txBody>
          <a:bodyPr wrap="square" lIns="0" tIns="0" rIns="0" bIns="0" rtlCol="0" anchor="t"/>
          <a:lstStyle/>
          <a:p>
            <a:pPr algn="l" indent="0" marL="0">
              <a:buNone/>
            </a:pPr>
            <a:r>
              <a:rPr lang="en-US" sz="1000" b="1" dirty="0">
                <a:solidFill>
                  <a:srgbClr val="C8943E"/>
                </a:solidFill>
                <a:latin typeface="Noto Sans SC" pitchFamily="34" charset="0"/>
                <a:ea typeface="Noto Sans SC" pitchFamily="34" charset="-122"/>
                <a:cs typeface="Noto Sans SC" pitchFamily="34" charset="-120"/>
              </a:rPr>
              <a:t>PAIR DIALOGUE RECALL</a:t>
            </a:r>
            <a:endParaRPr lang="en-US" sz="1000" dirty="0"/>
          </a:p>
        </p:txBody>
      </p:sp>
      <p:sp>
        <p:nvSpPr>
          <p:cNvPr id="8" name="Text 6"/>
          <p:cNvSpPr/>
          <p:nvPr/>
        </p:nvSpPr>
        <p:spPr>
          <a:xfrm>
            <a:off x="1000125" y="1790551"/>
            <a:ext cx="4695774" cy="419100"/>
          </a:xfrm>
          <a:prstGeom prst="rect">
            <a:avLst/>
          </a:prstGeom>
          <a:noFill/>
          <a:ln/>
        </p:spPr>
        <p:txBody>
          <a:bodyPr wrap="square" lIns="0" tIns="0" rIns="0" bIns="0" rtlCol="0" anchor="t"/>
          <a:lstStyle/>
          <a:p>
            <a:pPr algn="l" indent="0" marL="0">
              <a:lnSpc>
                <a:spcPts val="1650"/>
              </a:lnSpc>
              <a:spcBef>
                <a:spcPts val="1000"/>
              </a:spcBef>
              <a:buNone/>
            </a:pPr>
            <a:r>
              <a:rPr lang="en-US" sz="1100" dirty="0">
                <a:solidFill>
                  <a:srgbClr val="5B6677"/>
                </a:solidFill>
                <a:latin typeface="Noto Sans SC" pitchFamily="34" charset="0"/>
                <a:ea typeface="Noto Sans SC" pitchFamily="34" charset="-122"/>
                <a:cs typeface="Noto Sans SC" pitchFamily="34" charset="-120"/>
              </a:rPr>
              <a:t>1. In pairs, recreate a "从……几岁开始……" mini-exchange from memory, then swap roles</a:t>
            </a:r>
            <a:endParaRPr lang="en-US" sz="1100" dirty="0"/>
          </a:p>
        </p:txBody>
      </p:sp>
      <p:sp>
        <p:nvSpPr>
          <p:cNvPr id="9" name="Text 7"/>
          <p:cNvSpPr/>
          <p:nvPr/>
        </p:nvSpPr>
        <p:spPr>
          <a:xfrm>
            <a:off x="1000125" y="2336602"/>
            <a:ext cx="4695774" cy="209550"/>
          </a:xfrm>
          <a:prstGeom prst="rect">
            <a:avLst/>
          </a:prstGeom>
          <a:noFill/>
          <a:ln/>
        </p:spPr>
        <p:txBody>
          <a:bodyPr wrap="square" lIns="0" tIns="0" rIns="0" bIns="0" rtlCol="0" anchor="t"/>
          <a:lstStyle/>
          <a:p>
            <a:pPr algn="l" indent="0" marL="0">
              <a:lnSpc>
                <a:spcPts val="1650"/>
              </a:lnSpc>
              <a:spcBef>
                <a:spcPts val="1000"/>
              </a:spcBef>
              <a:buNone/>
            </a:pPr>
            <a:r>
              <a:rPr lang="en-US" sz="1100" dirty="0">
                <a:solidFill>
                  <a:srgbClr val="5B6677"/>
                </a:solidFill>
                <a:latin typeface="Noto Sans SC" pitchFamily="34" charset="0"/>
                <a:ea typeface="Noto Sans SC" pitchFamily="34" charset="-122"/>
                <a:cs typeface="Noto Sans SC" pitchFamily="34" charset="-120"/>
              </a:rPr>
              <a:t>2. Follow with 2 mini-whiteboard translation checks</a:t>
            </a:r>
            <a:endParaRPr lang="en-US" sz="1100" dirty="0"/>
          </a:p>
        </p:txBody>
      </p:sp>
      <p:sp>
        <p:nvSpPr>
          <p:cNvPr id="10" name="Text 8"/>
          <p:cNvSpPr/>
          <p:nvPr/>
        </p:nvSpPr>
        <p:spPr>
          <a:xfrm>
            <a:off x="6096000" y="1269950"/>
            <a:ext cx="5440680" cy="180975"/>
          </a:xfrm>
          <a:prstGeom prst="rect">
            <a:avLst/>
          </a:prstGeom>
          <a:noFill/>
          <a:ln/>
        </p:spPr>
        <p:txBody>
          <a:bodyPr wrap="square" lIns="0" tIns="0" rIns="0" bIns="0" rtlCol="0" anchor="t"/>
          <a:lstStyle/>
          <a:p>
            <a:pPr algn="l" indent="0" marL="0">
              <a:buNone/>
            </a:pPr>
            <a:r>
              <a:rPr lang="en-US" sz="1000" b="1" dirty="0">
                <a:solidFill>
                  <a:srgbClr val="3A7D8C"/>
                </a:solidFill>
                <a:latin typeface="Noto Sans SC" pitchFamily="34" charset="0"/>
                <a:ea typeface="Noto Sans SC" pitchFamily="34" charset="-122"/>
                <a:cs typeface="Noto Sans SC" pitchFamily="34" charset="-120"/>
              </a:rPr>
              <a:t>LESSON 3 · VIOLIN + 从……开始</a:t>
            </a:r>
            <a:endParaRPr lang="en-US" sz="1000" dirty="0"/>
          </a:p>
        </p:txBody>
      </p:sp>
      <p:sp>
        <p:nvSpPr>
          <p:cNvPr id="11" name="Text 9"/>
          <p:cNvSpPr/>
          <p:nvPr/>
        </p:nvSpPr>
        <p:spPr>
          <a:xfrm>
            <a:off x="6096000" y="1574750"/>
            <a:ext cx="2412950" cy="558701"/>
          </a:xfrm>
          <a:prstGeom prst="roundRect">
            <a:avLst>
              <a:gd name="adj" fmla="val 13639"/>
            </a:avLst>
          </a:prstGeom>
          <a:solidFill>
            <a:srgbClr val="EDE7D7"/>
          </a:solidFill>
          <a:ln w="9525">
            <a:solidFill>
              <a:srgbClr val="D5CEBB"/>
            </a:solidFill>
          </a:ln>
        </p:spPr>
        <p:txBody>
          <a:bodyPr wrap="square" rtlCol="0" anchor="ctr"/>
          <a:lstStyle/>
          <a:p>
            <a:pPr indent="0" marL="0">
              <a:buNone/>
            </a:pPr>
            <a:endParaRPr lang="en-US" dirty="0"/>
          </a:p>
        </p:txBody>
      </p:sp>
      <p:sp>
        <p:nvSpPr>
          <p:cNvPr id="12" name="Text 10"/>
          <p:cNvSpPr/>
          <p:nvPr/>
        </p:nvSpPr>
        <p:spPr>
          <a:xfrm>
            <a:off x="6232475" y="1660475"/>
            <a:ext cx="2182800" cy="247650"/>
          </a:xfrm>
          <a:prstGeom prst="rect">
            <a:avLst/>
          </a:prstGeom>
          <a:noFill/>
          <a:ln/>
        </p:spPr>
        <p:txBody>
          <a:bodyPr wrap="square" lIns="0" tIns="0" rIns="0" bIns="0" rtlCol="0" anchor="t"/>
          <a:lstStyle/>
          <a:p>
            <a:pPr algn="l" indent="0" marL="0">
              <a:buNone/>
            </a:pPr>
            <a:r>
              <a:rPr lang="en-US" sz="1400" b="1" dirty="0">
                <a:solidFill>
                  <a:srgbClr val="1E2A38"/>
                </a:solidFill>
                <a:latin typeface="Noto Serif SC" pitchFamily="34" charset="0"/>
                <a:ea typeface="Noto Serif SC" pitchFamily="34" charset="-122"/>
                <a:cs typeface="Noto Serif SC" pitchFamily="34" charset="-120"/>
              </a:rPr>
              <a:t>小提琴</a:t>
            </a:r>
            <a:endParaRPr lang="en-US" sz="1400" dirty="0"/>
          </a:p>
        </p:txBody>
      </p:sp>
      <p:sp>
        <p:nvSpPr>
          <p:cNvPr id="13" name="Text 11"/>
          <p:cNvSpPr/>
          <p:nvPr/>
        </p:nvSpPr>
        <p:spPr>
          <a:xfrm>
            <a:off x="6232475" y="1908125"/>
            <a:ext cx="2182800" cy="142875"/>
          </a:xfrm>
          <a:prstGeom prst="rect">
            <a:avLst/>
          </a:prstGeom>
          <a:noFill/>
          <a:ln/>
        </p:spPr>
        <p:txBody>
          <a:bodyPr wrap="square" lIns="0" tIns="0" rIns="0" bIns="0" rtlCol="0" anchor="t"/>
          <a:lstStyle/>
          <a:p>
            <a:pPr algn="l" indent="0" marL="0">
              <a:buNone/>
            </a:pPr>
            <a:r>
              <a:rPr lang="en-US" sz="800" dirty="0">
                <a:solidFill>
                  <a:srgbClr val="8B94A3"/>
                </a:solidFill>
                <a:latin typeface="Noto Sans SC" pitchFamily="34" charset="0"/>
                <a:ea typeface="Noto Sans SC" pitchFamily="34" charset="-122"/>
                <a:cs typeface="Noto Sans SC" pitchFamily="34" charset="-120"/>
              </a:rPr>
              <a:t>violin</a:t>
            </a:r>
            <a:endParaRPr lang="en-US" sz="800" dirty="0"/>
          </a:p>
        </p:txBody>
      </p:sp>
      <p:sp>
        <p:nvSpPr>
          <p:cNvPr id="14" name="Text 12"/>
          <p:cNvSpPr/>
          <p:nvPr/>
        </p:nvSpPr>
        <p:spPr>
          <a:xfrm>
            <a:off x="8763000" y="1574750"/>
            <a:ext cx="2667000" cy="558701"/>
          </a:xfrm>
          <a:prstGeom prst="roundRect">
            <a:avLst>
              <a:gd name="adj" fmla="val 13639"/>
            </a:avLst>
          </a:prstGeom>
          <a:solidFill>
            <a:srgbClr val="EDE7D7"/>
          </a:solidFill>
          <a:ln w="9525">
            <a:solidFill>
              <a:srgbClr val="D5CEBB"/>
            </a:solidFill>
          </a:ln>
        </p:spPr>
        <p:txBody>
          <a:bodyPr wrap="square" rtlCol="0" anchor="ctr"/>
          <a:lstStyle/>
          <a:p>
            <a:pPr indent="0" marL="0">
              <a:buNone/>
            </a:pPr>
            <a:endParaRPr lang="en-US" dirty="0"/>
          </a:p>
        </p:txBody>
      </p:sp>
      <p:sp>
        <p:nvSpPr>
          <p:cNvPr id="15" name="Text 13"/>
          <p:cNvSpPr/>
          <p:nvPr/>
        </p:nvSpPr>
        <p:spPr>
          <a:xfrm>
            <a:off x="8899475" y="1660475"/>
            <a:ext cx="2441930" cy="247650"/>
          </a:xfrm>
          <a:prstGeom prst="rect">
            <a:avLst/>
          </a:prstGeom>
          <a:noFill/>
          <a:ln/>
        </p:spPr>
        <p:txBody>
          <a:bodyPr wrap="square" lIns="0" tIns="0" rIns="0" bIns="0" rtlCol="0" anchor="t"/>
          <a:lstStyle/>
          <a:p>
            <a:pPr algn="l" indent="0" marL="0">
              <a:buNone/>
            </a:pPr>
            <a:r>
              <a:rPr lang="en-US" sz="1400" b="1" dirty="0">
                <a:solidFill>
                  <a:srgbClr val="1E2A38"/>
                </a:solidFill>
                <a:latin typeface="Noto Serif SC" pitchFamily="34" charset="0"/>
                <a:ea typeface="Noto Serif SC" pitchFamily="34" charset="-122"/>
                <a:cs typeface="Noto Serif SC" pitchFamily="34" charset="-120"/>
              </a:rPr>
              <a:t>拉小提琴</a:t>
            </a:r>
            <a:endParaRPr lang="en-US" sz="1400" dirty="0"/>
          </a:p>
        </p:txBody>
      </p:sp>
      <p:sp>
        <p:nvSpPr>
          <p:cNvPr id="16" name="Text 14"/>
          <p:cNvSpPr/>
          <p:nvPr/>
        </p:nvSpPr>
        <p:spPr>
          <a:xfrm>
            <a:off x="8899475" y="1908125"/>
            <a:ext cx="2441930" cy="142875"/>
          </a:xfrm>
          <a:prstGeom prst="rect">
            <a:avLst/>
          </a:prstGeom>
          <a:noFill/>
          <a:ln/>
        </p:spPr>
        <p:txBody>
          <a:bodyPr wrap="square" lIns="0" tIns="0" rIns="0" bIns="0" rtlCol="0" anchor="t"/>
          <a:lstStyle/>
          <a:p>
            <a:pPr algn="l" indent="0" marL="0">
              <a:buNone/>
            </a:pPr>
            <a:r>
              <a:rPr lang="en-US" sz="800" dirty="0">
                <a:solidFill>
                  <a:srgbClr val="8B94A3"/>
                </a:solidFill>
                <a:latin typeface="Noto Sans SC" pitchFamily="34" charset="0"/>
                <a:ea typeface="Noto Sans SC" pitchFamily="34" charset="-122"/>
                <a:cs typeface="Noto Sans SC" pitchFamily="34" charset="-120"/>
              </a:rPr>
              <a:t>play the violin</a:t>
            </a:r>
            <a:endParaRPr lang="en-US" sz="800" dirty="0"/>
          </a:p>
        </p:txBody>
      </p:sp>
      <p:sp>
        <p:nvSpPr>
          <p:cNvPr id="17" name="Text 15"/>
          <p:cNvSpPr/>
          <p:nvPr/>
        </p:nvSpPr>
        <p:spPr>
          <a:xfrm>
            <a:off x="6096000" y="2260550"/>
            <a:ext cx="5334000" cy="558701"/>
          </a:xfrm>
          <a:prstGeom prst="roundRect">
            <a:avLst>
              <a:gd name="adj" fmla="val 13639"/>
            </a:avLst>
          </a:prstGeom>
          <a:solidFill>
            <a:srgbClr val="EDE7D7"/>
          </a:solidFill>
          <a:ln w="9525">
            <a:solidFill>
              <a:srgbClr val="D5CEBB"/>
            </a:solidFill>
          </a:ln>
        </p:spPr>
        <p:txBody>
          <a:bodyPr wrap="square" rtlCol="0" anchor="ctr"/>
          <a:lstStyle/>
          <a:p>
            <a:pPr indent="0" marL="0">
              <a:buNone/>
            </a:pPr>
            <a:endParaRPr lang="en-US" dirty="0"/>
          </a:p>
        </p:txBody>
      </p:sp>
      <p:sp>
        <p:nvSpPr>
          <p:cNvPr id="18" name="Text 16"/>
          <p:cNvSpPr/>
          <p:nvPr/>
        </p:nvSpPr>
        <p:spPr>
          <a:xfrm>
            <a:off x="6232475" y="2346275"/>
            <a:ext cx="5162270" cy="247650"/>
          </a:xfrm>
          <a:prstGeom prst="rect">
            <a:avLst/>
          </a:prstGeom>
          <a:noFill/>
          <a:ln/>
        </p:spPr>
        <p:txBody>
          <a:bodyPr wrap="square" lIns="0" tIns="0" rIns="0" bIns="0" rtlCol="0" anchor="t"/>
          <a:lstStyle/>
          <a:p>
            <a:pPr algn="l" indent="0" marL="0">
              <a:buNone/>
            </a:pPr>
            <a:r>
              <a:rPr lang="en-US" sz="1400" b="1" dirty="0">
                <a:solidFill>
                  <a:srgbClr val="1E2A38"/>
                </a:solidFill>
                <a:latin typeface="Noto Serif SC" pitchFamily="34" charset="0"/>
                <a:ea typeface="Noto Serif SC" pitchFamily="34" charset="-122"/>
                <a:cs typeface="Noto Serif SC" pitchFamily="34" charset="-120"/>
              </a:rPr>
              <a:t>从……开始</a:t>
            </a:r>
            <a:endParaRPr lang="en-US" sz="1400" dirty="0"/>
          </a:p>
        </p:txBody>
      </p:sp>
      <p:sp>
        <p:nvSpPr>
          <p:cNvPr id="19" name="Text 17"/>
          <p:cNvSpPr/>
          <p:nvPr/>
        </p:nvSpPr>
        <p:spPr>
          <a:xfrm>
            <a:off x="6232475" y="2593925"/>
            <a:ext cx="5162270" cy="142875"/>
          </a:xfrm>
          <a:prstGeom prst="rect">
            <a:avLst/>
          </a:prstGeom>
          <a:noFill/>
          <a:ln/>
        </p:spPr>
        <p:txBody>
          <a:bodyPr wrap="square" lIns="0" tIns="0" rIns="0" bIns="0" rtlCol="0" anchor="t"/>
          <a:lstStyle/>
          <a:p>
            <a:pPr algn="l" indent="0" marL="0">
              <a:buNone/>
            </a:pPr>
            <a:r>
              <a:rPr lang="en-US" sz="800" dirty="0">
                <a:solidFill>
                  <a:srgbClr val="8B94A3"/>
                </a:solidFill>
                <a:latin typeface="Noto Sans SC" pitchFamily="34" charset="0"/>
                <a:ea typeface="Noto Sans SC" pitchFamily="34" charset="-122"/>
                <a:cs typeface="Noto Sans SC" pitchFamily="34" charset="-120"/>
              </a:rPr>
              <a:t>starting from…</a:t>
            </a:r>
            <a:endParaRPr lang="en-US" sz="800" dirty="0"/>
          </a:p>
        </p:txBody>
      </p:sp>
      <p:sp>
        <p:nvSpPr>
          <p:cNvPr id="20" name="Text 18"/>
          <p:cNvSpPr/>
          <p:nvPr/>
        </p:nvSpPr>
        <p:spPr>
          <a:xfrm>
            <a:off x="762000" y="4063901"/>
            <a:ext cx="10668000" cy="812602"/>
          </a:xfrm>
          <a:prstGeom prst="rect">
            <a:avLst/>
          </a:prstGeom>
          <a:solidFill>
            <a:srgbClr val="F5EBDA"/>
          </a:solidFill>
          <a:ln/>
        </p:spPr>
        <p:txBody>
          <a:bodyPr wrap="square" rtlCol="0" anchor="ctr"/>
          <a:lstStyle/>
          <a:p>
            <a:pPr indent="0" marL="0">
              <a:buNone/>
            </a:pPr>
            <a:endParaRPr lang="en-US" dirty="0"/>
          </a:p>
        </p:txBody>
      </p:sp>
      <p:sp>
        <p:nvSpPr>
          <p:cNvPr id="21" name="Shape 19"/>
          <p:cNvSpPr/>
          <p:nvPr/>
        </p:nvSpPr>
        <p:spPr>
          <a:xfrm>
            <a:off x="781050" y="4063901"/>
            <a:ext cx="0" cy="812602"/>
          </a:xfrm>
          <a:prstGeom prst="line">
            <a:avLst/>
          </a:prstGeom>
          <a:noFill/>
          <a:ln w="38100">
            <a:solidFill>
              <a:srgbClr val="C8943E"/>
            </a:solidFill>
            <a:prstDash val="solid"/>
          </a:ln>
        </p:spPr>
      </p:sp>
      <p:sp>
        <p:nvSpPr>
          <p:cNvPr id="22" name="Text 20"/>
          <p:cNvSpPr/>
          <p:nvPr/>
        </p:nvSpPr>
        <p:spPr>
          <a:xfrm>
            <a:off x="1028700" y="4241602"/>
            <a:ext cx="10376154" cy="457200"/>
          </a:xfrm>
          <a:prstGeom prst="rect">
            <a:avLst/>
          </a:prstGeom>
          <a:noFill/>
          <a:ln/>
        </p:spPr>
        <p:txBody>
          <a:bodyPr wrap="square" lIns="0" tIns="0" rIns="0" bIns="0" rtlCol="0" anchor="t"/>
          <a:lstStyle/>
          <a:p>
            <a:pPr algn="l" indent="0" marL="0">
              <a:lnSpc>
                <a:spcPts val="1800"/>
              </a:lnSpc>
              <a:buNone/>
            </a:pPr>
            <a:r>
              <a:rPr lang="en-US" sz="1200" dirty="0">
                <a:solidFill>
                  <a:srgbClr val="5B6677"/>
                </a:solidFill>
                <a:latin typeface="Noto Sans SC" pitchFamily="34" charset="0"/>
                <a:ea typeface="Noto Sans SC" pitchFamily="34" charset="-122"/>
                <a:cs typeface="Noto Sans SC" pitchFamily="34" charset="-120"/>
              </a:rPr>
              <a:t>"This week you've learned 除了……以外, 从……开始, and violin vocabulary. Today you'll see it all used together in one real passage — about a girl called 欢欢 — and revisit 正在 (action in progress)."</a:t>
            </a:r>
            <a:endParaRPr lang="en-US" sz="1200" dirty="0"/>
          </a:p>
        </p:txBody>
      </p:sp>
      <p:sp>
        <p:nvSpPr>
          <p:cNvPr id="23" name="Shape 21"/>
          <p:cNvSpPr/>
          <p:nvPr/>
        </p:nvSpPr>
        <p:spPr>
          <a:xfrm>
            <a:off x="762000" y="6685062"/>
            <a:ext cx="10668000" cy="0"/>
          </a:xfrm>
          <a:prstGeom prst="line">
            <a:avLst/>
          </a:prstGeom>
          <a:noFill/>
          <a:ln w="9525">
            <a:solidFill>
              <a:srgbClr val="E5DFD0"/>
            </a:solidFill>
            <a:prstDash val="solid"/>
          </a:ln>
        </p:spPr>
      </p:sp>
      <p:sp>
        <p:nvSpPr>
          <p:cNvPr id="24" name="Text 22"/>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Learning Intention</a:t>
            </a:r>
            <a:endParaRPr lang="en-US" sz="800" dirty="0"/>
          </a:p>
        </p:txBody>
      </p:sp>
      <p:sp>
        <p:nvSpPr>
          <p:cNvPr id="4" name="Text 2"/>
          <p:cNvSpPr/>
          <p:nvPr/>
        </p:nvSpPr>
        <p:spPr>
          <a:xfrm>
            <a:off x="888950" y="457200"/>
            <a:ext cx="10622381" cy="161925"/>
          </a:xfrm>
          <a:prstGeom prst="rect">
            <a:avLst/>
          </a:prstGeom>
          <a:noFill/>
          <a:ln/>
        </p:spPr>
        <p:txBody>
          <a:bodyPr wrap="square" lIns="0" tIns="0" rIns="0" bIns="0" rtlCol="0" anchor="t"/>
          <a:lstStyle/>
          <a:p>
            <a:pPr algn="l" indent="0" marL="0">
              <a:buNone/>
            </a:pPr>
            <a:r>
              <a:rPr lang="en-US" sz="900" b="1" dirty="0">
                <a:solidFill>
                  <a:srgbClr val="D4756B"/>
                </a:solidFill>
                <a:latin typeface="Noto Sans SC" pitchFamily="34" charset="0"/>
                <a:ea typeface="Noto Sans SC" pitchFamily="34" charset="-122"/>
                <a:cs typeface="Noto Sans SC" pitchFamily="34" charset="-120"/>
              </a:rPr>
              <a:t>8–10 MIN · DISPLAY ON PROJECTOR</a:t>
            </a:r>
            <a:endParaRPr lang="en-US" sz="900" dirty="0"/>
          </a:p>
        </p:txBody>
      </p:sp>
      <p:sp>
        <p:nvSpPr>
          <p:cNvPr id="5" name="Text 3"/>
          <p:cNvSpPr/>
          <p:nvPr/>
        </p:nvSpPr>
        <p:spPr>
          <a:xfrm>
            <a:off x="888950" y="695325"/>
            <a:ext cx="10622381" cy="466725"/>
          </a:xfrm>
          <a:prstGeom prst="rect">
            <a:avLst/>
          </a:prstGeom>
          <a:noFill/>
          <a:ln/>
        </p:spPr>
        <p:txBody>
          <a:bodyPr wrap="square" lIns="0" tIns="0" rIns="0" bIns="0" rtlCol="0" anchor="t"/>
          <a:lstStyle/>
          <a:p>
            <a:pPr algn="l" indent="0" marL="0">
              <a:spcBef>
                <a:spcPts val="600"/>
              </a:spcBef>
              <a:buNone/>
            </a:pPr>
            <a:r>
              <a:rPr lang="en-US" sz="2600" b="1" dirty="0">
                <a:solidFill>
                  <a:srgbClr val="1E2A38"/>
                </a:solidFill>
                <a:latin typeface="Noto Serif SC" pitchFamily="34" charset="0"/>
                <a:ea typeface="Noto Serif SC" pitchFamily="34" charset="-122"/>
                <a:cs typeface="Noto Serif SC" pitchFamily="34" charset="-120"/>
              </a:rPr>
              <a:t>今日目标 · Today's Goal</a:t>
            </a:r>
            <a:endParaRPr lang="en-US" sz="2600" dirty="0"/>
          </a:p>
        </p:txBody>
      </p:sp>
      <p:sp>
        <p:nvSpPr>
          <p:cNvPr id="6" name="Text 4"/>
          <p:cNvSpPr/>
          <p:nvPr/>
        </p:nvSpPr>
        <p:spPr>
          <a:xfrm>
            <a:off x="888950" y="1269950"/>
            <a:ext cx="10413950" cy="1078706"/>
          </a:xfrm>
          <a:prstGeom prst="rect">
            <a:avLst/>
          </a:prstGeom>
          <a:solidFill>
            <a:srgbClr val="F5EBDA"/>
          </a:solidFill>
          <a:ln/>
        </p:spPr>
        <p:txBody>
          <a:bodyPr wrap="square" rtlCol="0" anchor="ctr"/>
          <a:lstStyle/>
          <a:p>
            <a:pPr indent="0" marL="0">
              <a:buNone/>
            </a:pPr>
            <a:endParaRPr lang="en-US" dirty="0"/>
          </a:p>
        </p:txBody>
      </p:sp>
      <p:sp>
        <p:nvSpPr>
          <p:cNvPr id="7" name="Shape 5"/>
          <p:cNvSpPr/>
          <p:nvPr/>
        </p:nvSpPr>
        <p:spPr>
          <a:xfrm>
            <a:off x="908000" y="1269950"/>
            <a:ext cx="0" cy="1078706"/>
          </a:xfrm>
          <a:prstGeom prst="line">
            <a:avLst/>
          </a:prstGeom>
          <a:noFill/>
          <a:ln w="38100">
            <a:solidFill>
              <a:srgbClr val="C8943E"/>
            </a:solidFill>
            <a:prstDash val="solid"/>
          </a:ln>
        </p:spPr>
      </p:sp>
      <p:sp>
        <p:nvSpPr>
          <p:cNvPr id="8" name="Text 6"/>
          <p:cNvSpPr/>
          <p:nvPr/>
        </p:nvSpPr>
        <p:spPr>
          <a:xfrm>
            <a:off x="1155650" y="1447651"/>
            <a:ext cx="10117023" cy="161925"/>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LEARNING INTENTION</a:t>
            </a:r>
            <a:endParaRPr lang="en-US" sz="900" dirty="0"/>
          </a:p>
        </p:txBody>
      </p:sp>
      <p:sp>
        <p:nvSpPr>
          <p:cNvPr id="9" name="Text 7"/>
          <p:cNvSpPr/>
          <p:nvPr/>
        </p:nvSpPr>
        <p:spPr>
          <a:xfrm>
            <a:off x="1155650" y="1672977"/>
            <a:ext cx="10117023" cy="497979"/>
          </a:xfrm>
          <a:prstGeom prst="rect">
            <a:avLst/>
          </a:prstGeom>
          <a:noFill/>
          <a:ln/>
        </p:spPr>
        <p:txBody>
          <a:bodyPr wrap="square" lIns="0" tIns="0" rIns="0" bIns="0" rtlCol="0" anchor="t"/>
          <a:lstStyle/>
          <a:p>
            <a:pPr algn="l" indent="0" marL="0">
              <a:lnSpc>
                <a:spcPts val="1960"/>
              </a:lnSpc>
              <a:spcBef>
                <a:spcPts val="500"/>
              </a:spcBef>
              <a:buNone/>
            </a:pPr>
            <a:r>
              <a:rPr lang="en-US" sz="1400" b="1" dirty="0">
                <a:solidFill>
                  <a:srgbClr val="1E2A38"/>
                </a:solidFill>
                <a:latin typeface="Noto Sans SC" pitchFamily="34" charset="0"/>
                <a:ea typeface="Noto Sans SC" pitchFamily="34" charset="-122"/>
                <a:cs typeface="Noto Sans SC" pitchFamily="34" charset="-120"/>
              </a:rPr>
              <a:t>We are learning to read and understand the Text 1 passage about 欢欢's hobbies, and describe actions in progress using 正在.</a:t>
            </a:r>
            <a:endParaRPr lang="en-US" sz="1400" dirty="0"/>
          </a:p>
        </p:txBody>
      </p:sp>
      <p:sp>
        <p:nvSpPr>
          <p:cNvPr id="10" name="Text 8"/>
          <p:cNvSpPr/>
          <p:nvPr/>
        </p:nvSpPr>
        <p:spPr>
          <a:xfrm>
            <a:off x="888950" y="2539901"/>
            <a:ext cx="10413950" cy="558701"/>
          </a:xfrm>
          <a:prstGeom prst="roundRect">
            <a:avLst>
              <a:gd name="adj" fmla="val 13639"/>
            </a:avLst>
          </a:prstGeom>
          <a:solidFill>
            <a:srgbClr val="F6F2E8"/>
          </a:solidFill>
          <a:ln/>
        </p:spPr>
        <p:txBody>
          <a:bodyPr wrap="square" rtlCol="0" anchor="ctr"/>
          <a:lstStyle/>
          <a:p>
            <a:pPr indent="0" marL="0">
              <a:buNone/>
            </a:pPr>
            <a:endParaRPr lang="en-US" dirty="0"/>
          </a:p>
        </p:txBody>
      </p:sp>
      <p:sp>
        <p:nvSpPr>
          <p:cNvPr id="11" name="Text 9"/>
          <p:cNvSpPr/>
          <p:nvPr/>
        </p:nvSpPr>
        <p:spPr>
          <a:xfrm>
            <a:off x="1092101" y="2666851"/>
            <a:ext cx="10207803" cy="209550"/>
          </a:xfrm>
          <a:prstGeom prst="rect">
            <a:avLst/>
          </a:prstGeom>
          <a:noFill/>
          <a:ln/>
        </p:spPr>
        <p:txBody>
          <a:bodyPr wrap="square" lIns="0" tIns="0" rIns="0" bIns="0" rtlCol="0" anchor="t"/>
          <a:lstStyle/>
          <a:p>
            <a:pPr algn="l" indent="0" marL="0">
              <a:buNone/>
            </a:pPr>
            <a:r>
              <a:rPr lang="en-US" sz="1200" b="1" dirty="0">
                <a:solidFill>
                  <a:srgbClr val="5B6677"/>
                </a:solidFill>
                <a:latin typeface="Noto Sans SC" pitchFamily="34" charset="0"/>
                <a:ea typeface="Noto Sans SC" pitchFamily="34" charset="-122"/>
                <a:cs typeface="Noto Sans SC" pitchFamily="34" charset="-120"/>
              </a:rPr>
              <a:t>1.</a:t>
            </a:r>
            <a:r>
              <a:rPr lang="en-US" sz="1200" dirty="0">
                <a:solidFill>
                  <a:srgbClr val="5B6677"/>
                </a:solidFill>
                <a:latin typeface="Noto Sans SC" pitchFamily="34" charset="0"/>
                <a:ea typeface="Noto Sans SC" pitchFamily="34" charset="-122"/>
                <a:cs typeface="Noto Sans SC" pitchFamily="34" charset="-120"/>
              </a:rPr>
              <a:t> I can read and understand 欢欢's passage about her hobbies (dance and violin)</a:t>
            </a:r>
            <a:endParaRPr lang="en-US" sz="1200" dirty="0"/>
          </a:p>
        </p:txBody>
      </p:sp>
      <p:sp>
        <p:nvSpPr>
          <p:cNvPr id="12" name="Text 10"/>
          <p:cNvSpPr/>
          <p:nvPr/>
        </p:nvSpPr>
        <p:spPr>
          <a:xfrm>
            <a:off x="888950" y="3225701"/>
            <a:ext cx="10413950" cy="558701"/>
          </a:xfrm>
          <a:prstGeom prst="roundRect">
            <a:avLst>
              <a:gd name="adj" fmla="val 13639"/>
            </a:avLst>
          </a:prstGeom>
          <a:solidFill>
            <a:srgbClr val="F6F2E8"/>
          </a:solidFill>
          <a:ln/>
        </p:spPr>
        <p:txBody>
          <a:bodyPr wrap="square" rtlCol="0" anchor="ctr"/>
          <a:lstStyle/>
          <a:p>
            <a:pPr indent="0" marL="0">
              <a:buNone/>
            </a:pPr>
            <a:endParaRPr lang="en-US" dirty="0"/>
          </a:p>
        </p:txBody>
      </p:sp>
      <p:sp>
        <p:nvSpPr>
          <p:cNvPr id="13" name="Text 11"/>
          <p:cNvSpPr/>
          <p:nvPr/>
        </p:nvSpPr>
        <p:spPr>
          <a:xfrm>
            <a:off x="1092101" y="3352651"/>
            <a:ext cx="10207803" cy="209550"/>
          </a:xfrm>
          <a:prstGeom prst="rect">
            <a:avLst/>
          </a:prstGeom>
          <a:noFill/>
          <a:ln/>
        </p:spPr>
        <p:txBody>
          <a:bodyPr wrap="square" lIns="0" tIns="0" rIns="0" bIns="0" rtlCol="0" anchor="t"/>
          <a:lstStyle/>
          <a:p>
            <a:pPr algn="l" indent="0" marL="0">
              <a:buNone/>
            </a:pPr>
            <a:r>
              <a:rPr lang="en-US" sz="1200" b="1" dirty="0">
                <a:solidFill>
                  <a:srgbClr val="5B6677"/>
                </a:solidFill>
                <a:latin typeface="Noto Sans SC" pitchFamily="34" charset="0"/>
                <a:ea typeface="Noto Sans SC" pitchFamily="34" charset="-122"/>
                <a:cs typeface="Noto Sans SC" pitchFamily="34" charset="-120"/>
              </a:rPr>
              <a:t>2.</a:t>
            </a:r>
            <a:r>
              <a:rPr lang="en-US" sz="1200" dirty="0">
                <a:solidFill>
                  <a:srgbClr val="5B6677"/>
                </a:solidFill>
                <a:latin typeface="Noto Sans SC" pitchFamily="34" charset="0"/>
                <a:ea typeface="Noto Sans SC" pitchFamily="34" charset="-122"/>
                <a:cs typeface="Noto Sans SC" pitchFamily="34" charset="-120"/>
              </a:rPr>
              <a:t> I can answer comprehension questions about the text, in Chinese where possible</a:t>
            </a:r>
            <a:endParaRPr lang="en-US" sz="1200" dirty="0"/>
          </a:p>
        </p:txBody>
      </p:sp>
      <p:sp>
        <p:nvSpPr>
          <p:cNvPr id="14" name="Text 12"/>
          <p:cNvSpPr/>
          <p:nvPr/>
        </p:nvSpPr>
        <p:spPr>
          <a:xfrm>
            <a:off x="888950" y="3911501"/>
            <a:ext cx="10413950" cy="558701"/>
          </a:xfrm>
          <a:prstGeom prst="roundRect">
            <a:avLst>
              <a:gd name="adj" fmla="val 13639"/>
            </a:avLst>
          </a:prstGeom>
          <a:solidFill>
            <a:srgbClr val="F6F2E8"/>
          </a:solidFill>
          <a:ln/>
        </p:spPr>
        <p:txBody>
          <a:bodyPr wrap="square" rtlCol="0" anchor="ctr"/>
          <a:lstStyle/>
          <a:p>
            <a:pPr indent="0" marL="0">
              <a:buNone/>
            </a:pPr>
            <a:endParaRPr lang="en-US" dirty="0"/>
          </a:p>
        </p:txBody>
      </p:sp>
      <p:sp>
        <p:nvSpPr>
          <p:cNvPr id="15" name="Text 13"/>
          <p:cNvSpPr/>
          <p:nvPr/>
        </p:nvSpPr>
        <p:spPr>
          <a:xfrm>
            <a:off x="1092101" y="4038451"/>
            <a:ext cx="10207803" cy="209550"/>
          </a:xfrm>
          <a:prstGeom prst="rect">
            <a:avLst/>
          </a:prstGeom>
          <a:noFill/>
          <a:ln/>
        </p:spPr>
        <p:txBody>
          <a:bodyPr wrap="square" lIns="0" tIns="0" rIns="0" bIns="0" rtlCol="0" anchor="t"/>
          <a:lstStyle/>
          <a:p>
            <a:pPr algn="l" indent="0" marL="0">
              <a:buNone/>
            </a:pPr>
            <a:r>
              <a:rPr lang="en-US" sz="1200" b="1" dirty="0">
                <a:solidFill>
                  <a:srgbClr val="5B6677"/>
                </a:solidFill>
                <a:latin typeface="Noto Sans SC" pitchFamily="34" charset="0"/>
                <a:ea typeface="Noto Sans SC" pitchFamily="34" charset="-122"/>
                <a:cs typeface="Noto Sans SC" pitchFamily="34" charset="-120"/>
              </a:rPr>
              <a:t>3.</a:t>
            </a:r>
            <a:r>
              <a:rPr lang="en-US" sz="1200" dirty="0">
                <a:solidFill>
                  <a:srgbClr val="5B6677"/>
                </a:solidFill>
                <a:latin typeface="Noto Sans SC" pitchFamily="34" charset="0"/>
                <a:ea typeface="Noto Sans SC" pitchFamily="34" charset="-122"/>
                <a:cs typeface="Noto Sans SC" pitchFamily="34" charset="-120"/>
              </a:rPr>
              <a:t> I can describe pictures of people using 正在 + verb</a:t>
            </a:r>
            <a:endParaRPr lang="en-US" sz="1200" dirty="0"/>
          </a:p>
        </p:txBody>
      </p:sp>
      <p:sp>
        <p:nvSpPr>
          <p:cNvPr id="16" name="Shape 14"/>
          <p:cNvSpPr/>
          <p:nvPr/>
        </p:nvSpPr>
        <p:spPr>
          <a:xfrm>
            <a:off x="762000" y="6685062"/>
            <a:ext cx="10668000" cy="0"/>
          </a:xfrm>
          <a:prstGeom prst="line">
            <a:avLst/>
          </a:prstGeom>
          <a:noFill/>
          <a:ln w="9525">
            <a:solidFill>
              <a:srgbClr val="E5DFD0"/>
            </a:solidFill>
            <a:prstDash val="solid"/>
          </a:ln>
        </p:spPr>
      </p:sp>
      <p:sp>
        <p:nvSpPr>
          <p:cNvPr id="17" name="Text 15"/>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Text 1 · 欢欢 · I Do</a:t>
            </a:r>
            <a:endParaRPr lang="en-US" sz="800" dirty="0"/>
          </a:p>
        </p:txBody>
      </p:sp>
      <p:sp>
        <p:nvSpPr>
          <p:cNvPr id="4" name="Text 2"/>
          <p:cNvSpPr/>
          <p:nvPr/>
        </p:nvSpPr>
        <p:spPr>
          <a:xfrm>
            <a:off x="634901" y="330101"/>
            <a:ext cx="11140642" cy="142875"/>
          </a:xfrm>
          <a:prstGeom prst="rect">
            <a:avLst/>
          </a:prstGeom>
          <a:noFill/>
          <a:ln/>
        </p:spPr>
        <p:txBody>
          <a:bodyPr wrap="square" lIns="0" tIns="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10–20 MIN · I DO · TEXT PRESENTATION</a:t>
            </a:r>
            <a:endParaRPr lang="en-US" sz="800" dirty="0"/>
          </a:p>
        </p:txBody>
      </p:sp>
      <p:sp>
        <p:nvSpPr>
          <p:cNvPr id="5" name="Text 3"/>
          <p:cNvSpPr/>
          <p:nvPr/>
        </p:nvSpPr>
        <p:spPr>
          <a:xfrm>
            <a:off x="634901" y="523726"/>
            <a:ext cx="11140642" cy="390525"/>
          </a:xfrm>
          <a:prstGeom prst="rect">
            <a:avLst/>
          </a:prstGeom>
          <a:noFill/>
          <a:ln/>
        </p:spPr>
        <p:txBody>
          <a:bodyPr wrap="square" lIns="0" tIns="0" rIns="0" bIns="0" rtlCol="0" anchor="t"/>
          <a:lstStyle/>
          <a:p>
            <a:pPr algn="l" indent="0" marL="0">
              <a:spcBef>
                <a:spcPts val="400"/>
              </a:spcBef>
              <a:buNone/>
            </a:pPr>
            <a:r>
              <a:rPr lang="en-US" sz="2200" b="1" dirty="0">
                <a:solidFill>
                  <a:srgbClr val="1E2A38"/>
                </a:solidFill>
                <a:latin typeface="Noto Serif SC" pitchFamily="34" charset="0"/>
                <a:ea typeface="Noto Serif SC" pitchFamily="34" charset="-122"/>
                <a:cs typeface="Noto Serif SC" pitchFamily="34" charset="-120"/>
              </a:rPr>
              <a:t>课文一 · 欢欢</a:t>
            </a:r>
            <a:endParaRPr lang="en-US" sz="2200" dirty="0"/>
          </a:p>
        </p:txBody>
      </p:sp>
      <p:sp>
        <p:nvSpPr>
          <p:cNvPr id="6" name="Text 4"/>
          <p:cNvSpPr/>
          <p:nvPr/>
        </p:nvSpPr>
        <p:spPr>
          <a:xfrm>
            <a:off x="634901" y="965150"/>
            <a:ext cx="7620000" cy="4825901"/>
          </a:xfrm>
          <a:prstGeom prst="roundRect">
            <a:avLst>
              <a:gd name="adj" fmla="val 3158"/>
            </a:avLst>
          </a:prstGeom>
          <a:solidFill>
            <a:srgbClr val="F6F2E8"/>
          </a:solidFill>
          <a:ln w="19050">
            <a:solidFill>
              <a:srgbClr val="E5DFD0"/>
            </a:solidFill>
          </a:ln>
        </p:spPr>
        <p:txBody>
          <a:bodyPr wrap="square" rtlCol="0" anchor="ctr"/>
          <a:lstStyle/>
          <a:p>
            <a:pPr indent="0" marL="0">
              <a:buNone/>
            </a:pPr>
            <a:endParaRPr lang="en-US" dirty="0"/>
          </a:p>
        </p:txBody>
      </p:sp>
      <p:sp>
        <p:nvSpPr>
          <p:cNvPr id="7" name="Text 5"/>
          <p:cNvSpPr/>
          <p:nvPr/>
        </p:nvSpPr>
        <p:spPr>
          <a:xfrm>
            <a:off x="933301" y="1161901"/>
            <a:ext cx="1905000" cy="203150"/>
          </a:xfrm>
          <a:prstGeom prst="roundRect">
            <a:avLst>
              <a:gd name="adj" fmla="val 50012"/>
            </a:avLst>
          </a:prstGeom>
          <a:solidFill>
            <a:srgbClr val="EAF1F2"/>
          </a:solidFill>
          <a:ln w="9525">
            <a:solidFill>
              <a:srgbClr val="3A7D8C"/>
            </a:solidFill>
          </a:ln>
        </p:spPr>
        <p:txBody>
          <a:bodyPr wrap="square" rtlCol="0" anchor="ctr"/>
          <a:lstStyle/>
          <a:p>
            <a:pPr indent="0" marL="0">
              <a:buNone/>
            </a:pPr>
            <a:endParaRPr lang="en-US" dirty="0"/>
          </a:p>
        </p:txBody>
      </p:sp>
      <p:sp>
        <p:nvSpPr>
          <p:cNvPr id="8" name="Text 6"/>
          <p:cNvSpPr/>
          <p:nvPr/>
        </p:nvSpPr>
        <p:spPr>
          <a:xfrm>
            <a:off x="923967" y="1171426"/>
            <a:ext cx="1923669" cy="187226"/>
          </a:xfrm>
          <a:prstGeom prst="rect">
            <a:avLst/>
          </a:prstGeom>
          <a:noFill/>
          <a:ln/>
        </p:spPr>
        <p:txBody>
          <a:bodyPr wrap="square" lIns="0" tIns="25400" rIns="0" bIns="0" rtlCol="0" anchor="t"/>
          <a:lstStyle/>
          <a:p>
            <a:pPr algn="ctr" indent="0" marL="0">
              <a:buNone/>
            </a:pPr>
            <a:r>
              <a:rPr lang="en-US" sz="800" b="1" dirty="0">
                <a:solidFill>
                  <a:srgbClr val="3A7D8C"/>
                </a:solidFill>
                <a:latin typeface="Noto Sans SC" pitchFamily="34" charset="0"/>
                <a:ea typeface="Noto Sans SC" pitchFamily="34" charset="-122"/>
                <a:cs typeface="Noto Sans SC" pitchFamily="34" charset="-120"/>
              </a:rPr>
              <a:t>🎵 CD Track 41 · p.80</a:t>
            </a:r>
            <a:endParaRPr lang="en-US" sz="800" dirty="0"/>
          </a:p>
        </p:txBody>
      </p:sp>
      <p:sp>
        <p:nvSpPr>
          <p:cNvPr id="9" name="Text 7"/>
          <p:cNvSpPr/>
          <p:nvPr/>
        </p:nvSpPr>
        <p:spPr>
          <a:xfrm>
            <a:off x="933301" y="1695301"/>
            <a:ext cx="7163663" cy="1157734"/>
          </a:xfrm>
          <a:prstGeom prst="rect">
            <a:avLst/>
          </a:prstGeom>
          <a:noFill/>
          <a:ln/>
        </p:spPr>
        <p:txBody>
          <a:bodyPr wrap="square" lIns="0" tIns="0" rIns="0" bIns="0" rtlCol="0" anchor="t"/>
          <a:lstStyle/>
          <a:p>
            <a:pPr algn="l" indent="0" marL="0">
              <a:lnSpc>
                <a:spcPts val="3040"/>
              </a:lnSpc>
              <a:spcBef>
                <a:spcPts val="3800"/>
              </a:spcBef>
              <a:buNone/>
            </a:pPr>
            <a:r>
              <a:rPr lang="en-US" sz="1600" dirty="0">
                <a:solidFill>
                  <a:srgbClr val="1E2A38"/>
                </a:solidFill>
                <a:latin typeface="Noto Serif SC" pitchFamily="34" charset="0"/>
                <a:ea typeface="Noto Serif SC" pitchFamily="34" charset="-122"/>
                <a:cs typeface="Noto Serif SC" pitchFamily="34" charset="-120"/>
              </a:rPr>
              <a:t>你好！我叫欢欢。除了音乐以外，我还喜欢舞蹈。我从</a:t>
            </a:r>
            <a:r>
              <a:rPr lang="en-US" sz="1600" b="1" dirty="0">
                <a:solidFill>
                  <a:srgbClr val="C8943E"/>
                </a:solidFill>
                <a:latin typeface="Noto Serif SC" pitchFamily="34" charset="0"/>
                <a:ea typeface="Noto Serif SC" pitchFamily="34" charset="-122"/>
                <a:cs typeface="Noto Serif SC" pitchFamily="34" charset="-120"/>
              </a:rPr>
              <a:t>四岁</a:t>
            </a:r>
            <a:r>
              <a:rPr lang="en-US" sz="1600" dirty="0">
                <a:solidFill>
                  <a:srgbClr val="1E2A38"/>
                </a:solidFill>
                <a:latin typeface="Noto Serif SC" pitchFamily="34" charset="0"/>
                <a:ea typeface="Noto Serif SC" pitchFamily="34" charset="-122"/>
                <a:cs typeface="Noto Serif SC" pitchFamily="34" charset="-120"/>
              </a:rPr>
              <a:t>开始学跳舞。我每个星期二、星期四跳两个小时舞。我从六岁开始拉小提琴。我每天拉四十五分钟小提琴。</a:t>
            </a:r>
            <a:endParaRPr lang="en-US" sz="1600" dirty="0"/>
          </a:p>
        </p:txBody>
      </p:sp>
      <p:sp>
        <p:nvSpPr>
          <p:cNvPr id="10" name="Text 8"/>
          <p:cNvSpPr/>
          <p:nvPr/>
        </p:nvSpPr>
        <p:spPr>
          <a:xfrm>
            <a:off x="933301" y="3056186"/>
            <a:ext cx="7163663" cy="647402"/>
          </a:xfrm>
          <a:prstGeom prst="rect">
            <a:avLst/>
          </a:prstGeom>
          <a:noFill/>
          <a:ln/>
        </p:spPr>
        <p:txBody>
          <a:bodyPr wrap="square" lIns="0" tIns="0" rIns="0" bIns="0" rtlCol="0" anchor="t"/>
          <a:lstStyle/>
          <a:p>
            <a:pPr algn="l" indent="0" marL="0">
              <a:lnSpc>
                <a:spcPts val="1700"/>
              </a:lnSpc>
              <a:spcBef>
                <a:spcPts val="1600"/>
              </a:spcBef>
              <a:buNone/>
            </a:pPr>
            <a:r>
              <a:rPr lang="en-US" sz="1000" dirty="0">
                <a:solidFill>
                  <a:srgbClr val="8B94A3"/>
                </a:solidFill>
                <a:latin typeface="Noto Sans SC" pitchFamily="34" charset="0"/>
                <a:ea typeface="Noto Sans SC" pitchFamily="34" charset="-122"/>
                <a:cs typeface="Noto Sans SC" pitchFamily="34" charset="-120"/>
              </a:rPr>
              <a:t>Nǐ hǎo! Wǒ jiào Huānhuan. Chúle yīnyuè yǐwài, wǒ hái xǐhuan wǔdǎo. Wǒ cóng sì suì kāishǐ xué tiàowǔ. Wǒ měi ge xīngqī'èr, xīngqīsì tiào liǎng ge xiǎoshí wǔ. Wǒ cóng liù suì kāishǐ lā xiǎotíqín. Wǒ měitiān lā sìshíwǔ fēnzhōng xiǎotíqín.</a:t>
            </a:r>
            <a:endParaRPr lang="en-US" sz="1000" dirty="0"/>
          </a:p>
        </p:txBody>
      </p:sp>
      <p:sp>
        <p:nvSpPr>
          <p:cNvPr id="11" name="Text 9"/>
          <p:cNvSpPr/>
          <p:nvPr/>
        </p:nvSpPr>
        <p:spPr>
          <a:xfrm>
            <a:off x="8508950" y="965150"/>
            <a:ext cx="2920901" cy="1269950"/>
          </a:xfrm>
          <a:prstGeom prst="roundRect">
            <a:avLst>
              <a:gd name="adj" fmla="val 10000"/>
            </a:avLst>
          </a:prstGeom>
          <a:solidFill>
            <a:srgbClr val="EDE7D7"/>
          </a:solidFill>
          <a:ln w="9525">
            <a:solidFill>
              <a:srgbClr val="E5DFD0"/>
            </a:solidFill>
          </a:ln>
        </p:spPr>
        <p:txBody>
          <a:bodyPr wrap="square" rtlCol="0" anchor="ctr"/>
          <a:lstStyle/>
          <a:p>
            <a:pPr indent="0" marL="0">
              <a:buNone/>
            </a:pPr>
            <a:endParaRPr lang="en-US" dirty="0"/>
          </a:p>
        </p:txBody>
      </p:sp>
      <p:sp>
        <p:nvSpPr>
          <p:cNvPr id="12" name="Text 10"/>
          <p:cNvSpPr/>
          <p:nvPr/>
        </p:nvSpPr>
        <p:spPr>
          <a:xfrm>
            <a:off x="8670712" y="1152376"/>
            <a:ext cx="2597378" cy="428625"/>
          </a:xfrm>
          <a:prstGeom prst="rect">
            <a:avLst/>
          </a:prstGeom>
          <a:noFill/>
          <a:ln/>
        </p:spPr>
        <p:txBody>
          <a:bodyPr wrap="square" lIns="0" tIns="0" rIns="0" bIns="0" rtlCol="0" anchor="t"/>
          <a:lstStyle/>
          <a:p>
            <a:pPr algn="ctr" indent="0" marL="0">
              <a:buNone/>
            </a:pPr>
            <a:r>
              <a:rPr lang="en-US" sz="2400" b="1" dirty="0">
                <a:solidFill>
                  <a:srgbClr val="C8943E"/>
                </a:solidFill>
                <a:latin typeface="Noto Serif SC" pitchFamily="34" charset="0"/>
                <a:ea typeface="Noto Serif SC" pitchFamily="34" charset="-122"/>
                <a:cs typeface="Noto Serif SC" pitchFamily="34" charset="-120"/>
              </a:rPr>
              <a:t>欢欢</a:t>
            </a:r>
            <a:endParaRPr lang="en-US" sz="2400" dirty="0"/>
          </a:p>
        </p:txBody>
      </p:sp>
      <p:sp>
        <p:nvSpPr>
          <p:cNvPr id="13" name="Text 11"/>
          <p:cNvSpPr/>
          <p:nvPr/>
        </p:nvSpPr>
        <p:spPr>
          <a:xfrm>
            <a:off x="8670712" y="1581001"/>
            <a:ext cx="2597378" cy="161925"/>
          </a:xfrm>
          <a:prstGeom prst="rect">
            <a:avLst/>
          </a:prstGeom>
          <a:noFill/>
          <a:ln/>
        </p:spPr>
        <p:txBody>
          <a:bodyPr wrap="square" lIns="0" tIns="0" rIns="0" bIns="0" rtlCol="0" anchor="t"/>
          <a:lstStyle/>
          <a:p>
            <a:pPr algn="ctr" indent="0" marL="0">
              <a:buNone/>
            </a:pPr>
            <a:r>
              <a:rPr lang="en-US" sz="900" dirty="0">
                <a:solidFill>
                  <a:srgbClr val="8B94A3"/>
                </a:solidFill>
                <a:latin typeface="Noto Sans SC" pitchFamily="34" charset="0"/>
                <a:ea typeface="Noto Sans SC" pitchFamily="34" charset="-122"/>
                <a:cs typeface="Noto Sans SC" pitchFamily="34" charset="-120"/>
              </a:rPr>
              <a:t>Huānhuan</a:t>
            </a:r>
            <a:endParaRPr lang="en-US" sz="900" dirty="0"/>
          </a:p>
        </p:txBody>
      </p:sp>
      <p:sp>
        <p:nvSpPr>
          <p:cNvPr id="14" name="Text 12"/>
          <p:cNvSpPr/>
          <p:nvPr/>
        </p:nvSpPr>
        <p:spPr>
          <a:xfrm>
            <a:off x="8670712" y="1768227"/>
            <a:ext cx="2597378" cy="161925"/>
          </a:xfrm>
          <a:prstGeom prst="rect">
            <a:avLst/>
          </a:prstGeom>
          <a:noFill/>
          <a:ln/>
        </p:spPr>
        <p:txBody>
          <a:bodyPr wrap="square" lIns="0" tIns="0" rIns="0" bIns="0" rtlCol="0" anchor="t"/>
          <a:lstStyle/>
          <a:p>
            <a:pPr algn="ctr" indent="0" marL="0">
              <a:spcBef>
                <a:spcPts val="200"/>
              </a:spcBef>
              <a:buNone/>
            </a:pPr>
            <a:r>
              <a:rPr lang="en-US" sz="900" dirty="0">
                <a:solidFill>
                  <a:srgbClr val="5B6677"/>
                </a:solidFill>
                <a:latin typeface="Noto Sans SC" pitchFamily="34" charset="0"/>
                <a:ea typeface="Noto Sans SC" pitchFamily="34" charset="-122"/>
                <a:cs typeface="Noto Sans SC" pitchFamily="34" charset="-120"/>
              </a:rPr>
              <a:t>Main character · Lesson 4</a:t>
            </a:r>
            <a:endParaRPr lang="en-US" sz="900" dirty="0"/>
          </a:p>
        </p:txBody>
      </p:sp>
      <p:sp>
        <p:nvSpPr>
          <p:cNvPr id="15" name="Text 13"/>
          <p:cNvSpPr/>
          <p:nvPr/>
        </p:nvSpPr>
        <p:spPr>
          <a:xfrm>
            <a:off x="8508950" y="2412950"/>
            <a:ext cx="2920901" cy="961281"/>
          </a:xfrm>
          <a:prstGeom prst="roundRect">
            <a:avLst>
              <a:gd name="adj" fmla="val 10569"/>
            </a:avLst>
          </a:prstGeom>
          <a:solidFill>
            <a:srgbClr val="FBEDEB"/>
          </a:solidFill>
          <a:ln w="19050">
            <a:solidFill>
              <a:srgbClr val="D4756B"/>
            </a:solidFill>
          </a:ln>
        </p:spPr>
        <p:txBody>
          <a:bodyPr wrap="square" rtlCol="0" anchor="ctr"/>
          <a:lstStyle/>
          <a:p>
            <a:pPr indent="0" marL="0">
              <a:buNone/>
            </a:pPr>
            <a:endParaRPr lang="en-US" dirty="0"/>
          </a:p>
        </p:txBody>
      </p:sp>
      <p:sp>
        <p:nvSpPr>
          <p:cNvPr id="16" name="Text 14"/>
          <p:cNvSpPr/>
          <p:nvPr/>
        </p:nvSpPr>
        <p:spPr>
          <a:xfrm>
            <a:off x="8731151" y="2584400"/>
            <a:ext cx="2526030" cy="247650"/>
          </a:xfrm>
          <a:prstGeom prst="rect">
            <a:avLst/>
          </a:prstGeom>
          <a:noFill/>
          <a:ln/>
        </p:spPr>
        <p:txBody>
          <a:bodyPr wrap="square" lIns="0" tIns="0" rIns="0" bIns="0" rtlCol="0" anchor="t"/>
          <a:lstStyle/>
          <a:p>
            <a:pPr algn="l" indent="0" marL="0">
              <a:buNone/>
            </a:pPr>
            <a:r>
              <a:rPr lang="en-US" sz="1200" b="1" dirty="0">
                <a:solidFill>
                  <a:srgbClr val="D4756B"/>
                </a:solidFill>
                <a:latin typeface="Noto Sans SC" pitchFamily="34" charset="0"/>
                <a:ea typeface="Noto Sans SC" pitchFamily="34" charset="-122"/>
                <a:cs typeface="Noto Sans SC" pitchFamily="34" charset="-120"/>
              </a:rPr>
              <a:t>⚠️ 四岁 — not 五岁</a:t>
            </a:r>
            <a:endParaRPr lang="en-US" sz="1200" dirty="0"/>
          </a:p>
        </p:txBody>
      </p:sp>
      <p:sp>
        <p:nvSpPr>
          <p:cNvPr id="17" name="Text 15"/>
          <p:cNvSpPr/>
          <p:nvPr/>
        </p:nvSpPr>
        <p:spPr>
          <a:xfrm>
            <a:off x="8731151" y="2882801"/>
            <a:ext cx="2526030" cy="319980"/>
          </a:xfrm>
          <a:prstGeom prst="rect">
            <a:avLst/>
          </a:prstGeom>
          <a:noFill/>
          <a:ln/>
        </p:spPr>
        <p:txBody>
          <a:bodyPr wrap="square" lIns="0" tIns="0" rIns="0" bIns="0" rtlCol="0" anchor="t"/>
          <a:lstStyle/>
          <a:p>
            <a:pPr algn="l" indent="0" marL="0">
              <a:lnSpc>
                <a:spcPts val="1260"/>
              </a:lnSpc>
              <a:spcBef>
                <a:spcPts val="400"/>
              </a:spcBef>
              <a:buNone/>
            </a:pPr>
            <a:r>
              <a:rPr lang="en-US" sz="900" dirty="0">
                <a:solidFill>
                  <a:srgbClr val="8B94A3"/>
                </a:solidFill>
                <a:latin typeface="Noto Sans SC" pitchFamily="34" charset="0"/>
                <a:ea typeface="Noto Sans SC" pitchFamily="34" charset="-122"/>
                <a:cs typeface="Noto Sans SC" pitchFamily="34" charset="-120"/>
              </a:rPr>
              <a:t>A common mixup — she started dancing at four, not five.</a:t>
            </a:r>
            <a:endParaRPr lang="en-US" sz="900" dirty="0"/>
          </a:p>
        </p:txBody>
      </p:sp>
      <p:sp>
        <p:nvSpPr>
          <p:cNvPr id="18" name="Shape 16"/>
          <p:cNvSpPr/>
          <p:nvPr/>
        </p:nvSpPr>
        <p:spPr>
          <a:xfrm>
            <a:off x="762000" y="6685062"/>
            <a:ext cx="10668000" cy="0"/>
          </a:xfrm>
          <a:prstGeom prst="line">
            <a:avLst/>
          </a:prstGeom>
          <a:noFill/>
          <a:ln w="9525">
            <a:solidFill>
              <a:srgbClr val="E5DFD0"/>
            </a:solidFill>
            <a:prstDash val="solid"/>
          </a:ln>
        </p:spPr>
      </p:sp>
      <p:sp>
        <p:nvSpPr>
          <p:cNvPr id="19" name="Text 17"/>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I Do · Comprehension Questions</a:t>
            </a:r>
            <a:endParaRPr lang="en-US" sz="800" dirty="0"/>
          </a:p>
        </p:txBody>
      </p:sp>
      <p:sp>
        <p:nvSpPr>
          <p:cNvPr id="4" name="Text 2"/>
          <p:cNvSpPr/>
          <p:nvPr/>
        </p:nvSpPr>
        <p:spPr>
          <a:xfrm>
            <a:off x="888950" y="431750"/>
            <a:ext cx="10622381" cy="161925"/>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I DO · CHECK FOR UNDERSTANDING</a:t>
            </a:r>
            <a:endParaRPr lang="en-US" sz="900" dirty="0"/>
          </a:p>
        </p:txBody>
      </p:sp>
      <p:sp>
        <p:nvSpPr>
          <p:cNvPr id="5" name="Text 3"/>
          <p:cNvSpPr/>
          <p:nvPr/>
        </p:nvSpPr>
        <p:spPr>
          <a:xfrm>
            <a:off x="888950" y="657076"/>
            <a:ext cx="10622381" cy="428625"/>
          </a:xfrm>
          <a:prstGeom prst="rect">
            <a:avLst/>
          </a:prstGeom>
          <a:noFill/>
          <a:ln/>
        </p:spPr>
        <p:txBody>
          <a:bodyPr wrap="square" lIns="0" tIns="0" rIns="0" bIns="0" rtlCol="0" anchor="t"/>
          <a:lstStyle/>
          <a:p>
            <a:pPr algn="l" indent="0" marL="0">
              <a:spcBef>
                <a:spcPts val="500"/>
              </a:spcBef>
              <a:buNone/>
            </a:pPr>
            <a:r>
              <a:rPr lang="en-US" sz="2400" b="1" dirty="0">
                <a:solidFill>
                  <a:srgbClr val="1E2A38"/>
                </a:solidFill>
                <a:latin typeface="Noto Serif SC" pitchFamily="34" charset="0"/>
                <a:ea typeface="Noto Serif SC" pitchFamily="34" charset="-122"/>
                <a:cs typeface="Noto Serif SC" pitchFamily="34" charset="-120"/>
              </a:rPr>
              <a:t>理解检查 · Comprehension</a:t>
            </a:r>
            <a:endParaRPr lang="en-US" sz="2400" dirty="0"/>
          </a:p>
        </p:txBody>
      </p:sp>
      <p:sp>
        <p:nvSpPr>
          <p:cNvPr id="6" name="Text 4"/>
          <p:cNvSpPr/>
          <p:nvPr/>
        </p:nvSpPr>
        <p:spPr>
          <a:xfrm>
            <a:off x="888950" y="1149102"/>
            <a:ext cx="10622381" cy="200025"/>
          </a:xfrm>
          <a:prstGeom prst="rect">
            <a:avLst/>
          </a:prstGeom>
          <a:noFill/>
          <a:ln/>
        </p:spPr>
        <p:txBody>
          <a:bodyPr wrap="square" lIns="0" tIns="0" rIns="0" bIns="0" rtlCol="0" anchor="t"/>
          <a:lstStyle/>
          <a:p>
            <a:pPr algn="l" indent="0" marL="0">
              <a:spcBef>
                <a:spcPts val="500"/>
              </a:spcBef>
              <a:buNone/>
            </a:pPr>
            <a:r>
              <a:rPr lang="en-US" sz="1100" dirty="0">
                <a:solidFill>
                  <a:srgbClr val="8B94A3"/>
                </a:solidFill>
                <a:latin typeface="Noto Sans SC" pitchFamily="34" charset="0"/>
                <a:ea typeface="Noto Sans SC" pitchFamily="34" charset="-122"/>
                <a:cs typeface="Noto Sans SC" pitchFamily="34" charset="-120"/>
              </a:rPr>
              <a:t>Answer in Chinese where you can — English is OK for a first attempt</a:t>
            </a:r>
            <a:endParaRPr lang="en-US" sz="1100" dirty="0"/>
          </a:p>
        </p:txBody>
      </p:sp>
      <p:sp>
        <p:nvSpPr>
          <p:cNvPr id="7" name="Text 5"/>
          <p:cNvSpPr/>
          <p:nvPr/>
        </p:nvSpPr>
        <p:spPr>
          <a:xfrm>
            <a:off x="888950" y="1650950"/>
            <a:ext cx="10413950" cy="939701"/>
          </a:xfrm>
          <a:prstGeom prst="roundRect">
            <a:avLst>
              <a:gd name="adj" fmla="val 13515"/>
            </a:avLst>
          </a:prstGeom>
          <a:solidFill>
            <a:srgbClr val="F6F2E8"/>
          </a:solidFill>
          <a:ln w="9525">
            <a:solidFill>
              <a:srgbClr val="E5DFD0"/>
            </a:solidFill>
          </a:ln>
        </p:spPr>
        <p:txBody>
          <a:bodyPr wrap="square" rtlCol="0" anchor="ctr"/>
          <a:lstStyle/>
          <a:p>
            <a:pPr indent="0" marL="0">
              <a:buNone/>
            </a:pPr>
            <a:endParaRPr lang="en-US" dirty="0"/>
          </a:p>
        </p:txBody>
      </p:sp>
      <p:sp>
        <p:nvSpPr>
          <p:cNvPr id="8" name="Text 6"/>
          <p:cNvSpPr/>
          <p:nvPr/>
        </p:nvSpPr>
        <p:spPr>
          <a:xfrm>
            <a:off x="1152376" y="1812875"/>
            <a:ext cx="10084841" cy="266700"/>
          </a:xfrm>
          <a:prstGeom prst="rect">
            <a:avLst/>
          </a:prstGeom>
          <a:noFill/>
          <a:ln/>
        </p:spPr>
        <p:txBody>
          <a:bodyPr wrap="square" lIns="0" tIns="0" rIns="0" bIns="0" rtlCol="0" anchor="t"/>
          <a:lstStyle/>
          <a:p>
            <a:pPr algn="l" indent="0" marL="0">
              <a:buNone/>
            </a:pPr>
            <a:r>
              <a:rPr lang="en-US" sz="1500" b="1" dirty="0">
                <a:solidFill>
                  <a:srgbClr val="1E2A38"/>
                </a:solidFill>
                <a:latin typeface="Noto Serif SC" pitchFamily="34" charset="0"/>
                <a:ea typeface="Noto Serif SC" pitchFamily="34" charset="-122"/>
                <a:cs typeface="Noto Serif SC" pitchFamily="34" charset="-120"/>
              </a:rPr>
              <a:t>1. 欢欢几岁开始跳舞？</a:t>
            </a:r>
            <a:endParaRPr lang="en-US" sz="1500" dirty="0"/>
          </a:p>
        </p:txBody>
      </p:sp>
      <p:sp>
        <p:nvSpPr>
          <p:cNvPr id="9" name="Text 7"/>
          <p:cNvSpPr/>
          <p:nvPr/>
        </p:nvSpPr>
        <p:spPr>
          <a:xfrm>
            <a:off x="1152376" y="2104876"/>
            <a:ext cx="10084841" cy="161925"/>
          </a:xfrm>
          <a:prstGeom prst="rect">
            <a:avLst/>
          </a:prstGeom>
          <a:noFill/>
          <a:ln/>
        </p:spPr>
        <p:txBody>
          <a:bodyPr wrap="square" lIns="0" tIns="0" rIns="0" bIns="0" rtlCol="0" anchor="t"/>
          <a:lstStyle/>
          <a:p>
            <a:pPr algn="l" indent="0" marL="0">
              <a:spcBef>
                <a:spcPts val="200"/>
              </a:spcBef>
              <a:buNone/>
            </a:pPr>
            <a:r>
              <a:rPr lang="en-US" sz="900" dirty="0">
                <a:solidFill>
                  <a:srgbClr val="8B94A3"/>
                </a:solidFill>
                <a:latin typeface="Noto Sans SC" pitchFamily="34" charset="0"/>
                <a:ea typeface="Noto Sans SC" pitchFamily="34" charset="-122"/>
                <a:cs typeface="Noto Sans SC" pitchFamily="34" charset="-120"/>
              </a:rPr>
              <a:t>What age did 欢欢 start dancing?</a:t>
            </a:r>
            <a:endParaRPr lang="en-US" sz="900" dirty="0"/>
          </a:p>
        </p:txBody>
      </p:sp>
      <p:sp>
        <p:nvSpPr>
          <p:cNvPr id="10" name="Text 8"/>
          <p:cNvSpPr/>
          <p:nvPr/>
        </p:nvSpPr>
        <p:spPr>
          <a:xfrm>
            <a:off x="1152376" y="2317552"/>
            <a:ext cx="10084841" cy="161925"/>
          </a:xfrm>
          <a:prstGeom prst="rect">
            <a:avLst/>
          </a:prstGeom>
          <a:noFill/>
          <a:ln/>
        </p:spPr>
        <p:txBody>
          <a:bodyPr wrap="square" lIns="0" tIns="0" rIns="0" bIns="0" rtlCol="0" anchor="t"/>
          <a:lstStyle/>
          <a:p>
            <a:pPr algn="l" indent="0" marL="0">
              <a:spcBef>
                <a:spcPts val="400"/>
              </a:spcBef>
              <a:buNone/>
            </a:pPr>
            <a:r>
              <a:rPr lang="en-US" sz="900" i="1" dirty="0">
                <a:solidFill>
                  <a:srgbClr val="8B94A3"/>
                </a:solidFill>
                <a:latin typeface="Noto Sans SC" pitchFamily="34" charset="0"/>
                <a:ea typeface="Noto Sans SC" pitchFamily="34" charset="-122"/>
                <a:cs typeface="Noto Sans SC" pitchFamily="34" charset="-120"/>
              </a:rPr>
              <a:t>Answer on next slide →</a:t>
            </a:r>
            <a:endParaRPr lang="en-US" sz="900" dirty="0"/>
          </a:p>
        </p:txBody>
      </p:sp>
      <p:sp>
        <p:nvSpPr>
          <p:cNvPr id="11" name="Text 9"/>
          <p:cNvSpPr/>
          <p:nvPr/>
        </p:nvSpPr>
        <p:spPr>
          <a:xfrm>
            <a:off x="888950" y="2743200"/>
            <a:ext cx="10413950" cy="939701"/>
          </a:xfrm>
          <a:prstGeom prst="roundRect">
            <a:avLst>
              <a:gd name="adj" fmla="val 13515"/>
            </a:avLst>
          </a:prstGeom>
          <a:solidFill>
            <a:srgbClr val="F6F2E8"/>
          </a:solidFill>
          <a:ln w="9525">
            <a:solidFill>
              <a:srgbClr val="E5DFD0"/>
            </a:solidFill>
          </a:ln>
        </p:spPr>
        <p:txBody>
          <a:bodyPr wrap="square" rtlCol="0" anchor="ctr"/>
          <a:lstStyle/>
          <a:p>
            <a:pPr indent="0" marL="0">
              <a:buNone/>
            </a:pPr>
            <a:endParaRPr lang="en-US" dirty="0"/>
          </a:p>
        </p:txBody>
      </p:sp>
      <p:sp>
        <p:nvSpPr>
          <p:cNvPr id="12" name="Text 10"/>
          <p:cNvSpPr/>
          <p:nvPr/>
        </p:nvSpPr>
        <p:spPr>
          <a:xfrm>
            <a:off x="1152376" y="2905125"/>
            <a:ext cx="10084841" cy="266700"/>
          </a:xfrm>
          <a:prstGeom prst="rect">
            <a:avLst/>
          </a:prstGeom>
          <a:noFill/>
          <a:ln/>
        </p:spPr>
        <p:txBody>
          <a:bodyPr wrap="square" lIns="0" tIns="0" rIns="0" bIns="0" rtlCol="0" anchor="t"/>
          <a:lstStyle/>
          <a:p>
            <a:pPr algn="l" indent="0" marL="0">
              <a:buNone/>
            </a:pPr>
            <a:r>
              <a:rPr lang="en-US" sz="1500" b="1" dirty="0">
                <a:solidFill>
                  <a:srgbClr val="1E2A38"/>
                </a:solidFill>
                <a:latin typeface="Noto Serif SC" pitchFamily="34" charset="0"/>
                <a:ea typeface="Noto Serif SC" pitchFamily="34" charset="-122"/>
                <a:cs typeface="Noto Serif SC" pitchFamily="34" charset="-120"/>
              </a:rPr>
              <a:t>2. 她每个星期几跳舞？跳几个小时？</a:t>
            </a:r>
            <a:endParaRPr lang="en-US" sz="1500" dirty="0"/>
          </a:p>
        </p:txBody>
      </p:sp>
      <p:sp>
        <p:nvSpPr>
          <p:cNvPr id="13" name="Text 11"/>
          <p:cNvSpPr/>
          <p:nvPr/>
        </p:nvSpPr>
        <p:spPr>
          <a:xfrm>
            <a:off x="1152376" y="3197126"/>
            <a:ext cx="10084841" cy="161925"/>
          </a:xfrm>
          <a:prstGeom prst="rect">
            <a:avLst/>
          </a:prstGeom>
          <a:noFill/>
          <a:ln/>
        </p:spPr>
        <p:txBody>
          <a:bodyPr wrap="square" lIns="0" tIns="0" rIns="0" bIns="0" rtlCol="0" anchor="t"/>
          <a:lstStyle/>
          <a:p>
            <a:pPr algn="l" indent="0" marL="0">
              <a:spcBef>
                <a:spcPts val="200"/>
              </a:spcBef>
              <a:buNone/>
            </a:pPr>
            <a:r>
              <a:rPr lang="en-US" sz="900" dirty="0">
                <a:solidFill>
                  <a:srgbClr val="8B94A3"/>
                </a:solidFill>
                <a:latin typeface="Noto Sans SC" pitchFamily="34" charset="0"/>
                <a:ea typeface="Noto Sans SC" pitchFamily="34" charset="-122"/>
                <a:cs typeface="Noto Sans SC" pitchFamily="34" charset="-120"/>
              </a:rPr>
              <a:t>Which days does she dance, and for how long?</a:t>
            </a:r>
            <a:endParaRPr lang="en-US" sz="900" dirty="0"/>
          </a:p>
        </p:txBody>
      </p:sp>
      <p:sp>
        <p:nvSpPr>
          <p:cNvPr id="14" name="Text 12"/>
          <p:cNvSpPr/>
          <p:nvPr/>
        </p:nvSpPr>
        <p:spPr>
          <a:xfrm>
            <a:off x="1152376" y="3409801"/>
            <a:ext cx="10084841" cy="161925"/>
          </a:xfrm>
          <a:prstGeom prst="rect">
            <a:avLst/>
          </a:prstGeom>
          <a:noFill/>
          <a:ln/>
        </p:spPr>
        <p:txBody>
          <a:bodyPr wrap="square" lIns="0" tIns="0" rIns="0" bIns="0" rtlCol="0" anchor="t"/>
          <a:lstStyle/>
          <a:p>
            <a:pPr algn="l" indent="0" marL="0">
              <a:spcBef>
                <a:spcPts val="400"/>
              </a:spcBef>
              <a:buNone/>
            </a:pPr>
            <a:r>
              <a:rPr lang="en-US" sz="900" i="1" dirty="0">
                <a:solidFill>
                  <a:srgbClr val="8B94A3"/>
                </a:solidFill>
                <a:latin typeface="Noto Sans SC" pitchFamily="34" charset="0"/>
                <a:ea typeface="Noto Sans SC" pitchFamily="34" charset="-122"/>
                <a:cs typeface="Noto Sans SC" pitchFamily="34" charset="-120"/>
              </a:rPr>
              <a:t>Answer on next slide →</a:t>
            </a:r>
            <a:endParaRPr lang="en-US" sz="900" dirty="0"/>
          </a:p>
        </p:txBody>
      </p:sp>
      <p:sp>
        <p:nvSpPr>
          <p:cNvPr id="15" name="Text 13"/>
          <p:cNvSpPr/>
          <p:nvPr/>
        </p:nvSpPr>
        <p:spPr>
          <a:xfrm>
            <a:off x="888950" y="3835301"/>
            <a:ext cx="10413950" cy="939701"/>
          </a:xfrm>
          <a:prstGeom prst="roundRect">
            <a:avLst>
              <a:gd name="adj" fmla="val 13515"/>
            </a:avLst>
          </a:prstGeom>
          <a:solidFill>
            <a:srgbClr val="F6F2E8"/>
          </a:solidFill>
          <a:ln w="9525">
            <a:solidFill>
              <a:srgbClr val="E5DFD0"/>
            </a:solidFill>
          </a:ln>
        </p:spPr>
        <p:txBody>
          <a:bodyPr wrap="square" rtlCol="0" anchor="ctr"/>
          <a:lstStyle/>
          <a:p>
            <a:pPr indent="0" marL="0">
              <a:buNone/>
            </a:pPr>
            <a:endParaRPr lang="en-US" dirty="0"/>
          </a:p>
        </p:txBody>
      </p:sp>
      <p:sp>
        <p:nvSpPr>
          <p:cNvPr id="16" name="Text 14"/>
          <p:cNvSpPr/>
          <p:nvPr/>
        </p:nvSpPr>
        <p:spPr>
          <a:xfrm>
            <a:off x="1152376" y="3997226"/>
            <a:ext cx="10084841" cy="266700"/>
          </a:xfrm>
          <a:prstGeom prst="rect">
            <a:avLst/>
          </a:prstGeom>
          <a:noFill/>
          <a:ln/>
        </p:spPr>
        <p:txBody>
          <a:bodyPr wrap="square" lIns="0" tIns="0" rIns="0" bIns="0" rtlCol="0" anchor="t"/>
          <a:lstStyle/>
          <a:p>
            <a:pPr algn="l" indent="0" marL="0">
              <a:buNone/>
            </a:pPr>
            <a:r>
              <a:rPr lang="en-US" sz="1500" b="1" dirty="0">
                <a:solidFill>
                  <a:srgbClr val="1E2A38"/>
                </a:solidFill>
                <a:latin typeface="Noto Serif SC" pitchFamily="34" charset="0"/>
                <a:ea typeface="Noto Serif SC" pitchFamily="34" charset="-122"/>
                <a:cs typeface="Noto Serif SC" pitchFamily="34" charset="-120"/>
              </a:rPr>
              <a:t>3. 她几岁开始拉小提琴？她每天拉多久？</a:t>
            </a:r>
            <a:endParaRPr lang="en-US" sz="1500" dirty="0"/>
          </a:p>
        </p:txBody>
      </p:sp>
      <p:sp>
        <p:nvSpPr>
          <p:cNvPr id="17" name="Text 15"/>
          <p:cNvSpPr/>
          <p:nvPr/>
        </p:nvSpPr>
        <p:spPr>
          <a:xfrm>
            <a:off x="1152376" y="4289227"/>
            <a:ext cx="10084841" cy="161925"/>
          </a:xfrm>
          <a:prstGeom prst="rect">
            <a:avLst/>
          </a:prstGeom>
          <a:noFill/>
          <a:ln/>
        </p:spPr>
        <p:txBody>
          <a:bodyPr wrap="square" lIns="0" tIns="0" rIns="0" bIns="0" rtlCol="0" anchor="t"/>
          <a:lstStyle/>
          <a:p>
            <a:pPr algn="l" indent="0" marL="0">
              <a:spcBef>
                <a:spcPts val="200"/>
              </a:spcBef>
              <a:buNone/>
            </a:pPr>
            <a:r>
              <a:rPr lang="en-US" sz="900" dirty="0">
                <a:solidFill>
                  <a:srgbClr val="8B94A3"/>
                </a:solidFill>
                <a:latin typeface="Noto Sans SC" pitchFamily="34" charset="0"/>
                <a:ea typeface="Noto Sans SC" pitchFamily="34" charset="-122"/>
                <a:cs typeface="Noto Sans SC" pitchFamily="34" charset="-120"/>
              </a:rPr>
              <a:t>What age did she start violin, and how long each day?</a:t>
            </a:r>
            <a:endParaRPr lang="en-US" sz="900" dirty="0"/>
          </a:p>
        </p:txBody>
      </p:sp>
      <p:sp>
        <p:nvSpPr>
          <p:cNvPr id="18" name="Text 16"/>
          <p:cNvSpPr/>
          <p:nvPr/>
        </p:nvSpPr>
        <p:spPr>
          <a:xfrm>
            <a:off x="1152376" y="4501902"/>
            <a:ext cx="10084841" cy="161925"/>
          </a:xfrm>
          <a:prstGeom prst="rect">
            <a:avLst/>
          </a:prstGeom>
          <a:noFill/>
          <a:ln/>
        </p:spPr>
        <p:txBody>
          <a:bodyPr wrap="square" lIns="0" tIns="0" rIns="0" bIns="0" rtlCol="0" anchor="t"/>
          <a:lstStyle/>
          <a:p>
            <a:pPr algn="l" indent="0" marL="0">
              <a:spcBef>
                <a:spcPts val="400"/>
              </a:spcBef>
              <a:buNone/>
            </a:pPr>
            <a:r>
              <a:rPr lang="en-US" sz="900" i="1" dirty="0">
                <a:solidFill>
                  <a:srgbClr val="8B94A3"/>
                </a:solidFill>
                <a:latin typeface="Noto Sans SC" pitchFamily="34" charset="0"/>
                <a:ea typeface="Noto Sans SC" pitchFamily="34" charset="-122"/>
                <a:cs typeface="Noto Sans SC" pitchFamily="34" charset="-120"/>
              </a:rPr>
              <a:t>Answer on next slide →</a:t>
            </a:r>
            <a:endParaRPr lang="en-US" sz="900" dirty="0"/>
          </a:p>
        </p:txBody>
      </p:sp>
      <p:sp>
        <p:nvSpPr>
          <p:cNvPr id="19" name="Shape 17"/>
          <p:cNvSpPr/>
          <p:nvPr/>
        </p:nvSpPr>
        <p:spPr>
          <a:xfrm>
            <a:off x="762000" y="6685062"/>
            <a:ext cx="10668000" cy="0"/>
          </a:xfrm>
          <a:prstGeom prst="line">
            <a:avLst/>
          </a:prstGeom>
          <a:noFill/>
          <a:ln w="9525">
            <a:solidFill>
              <a:srgbClr val="E5DFD0"/>
            </a:solidFill>
            <a:prstDash val="solid"/>
          </a:ln>
        </p:spPr>
      </p:sp>
      <p:sp>
        <p:nvSpPr>
          <p:cNvPr id="20" name="Text 18"/>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I Do · Answers ↥</a:t>
            </a:r>
            <a:endParaRPr lang="en-US" sz="800" dirty="0"/>
          </a:p>
        </p:txBody>
      </p:sp>
      <p:sp>
        <p:nvSpPr>
          <p:cNvPr id="4" name="Text 2"/>
          <p:cNvSpPr/>
          <p:nvPr/>
        </p:nvSpPr>
        <p:spPr>
          <a:xfrm>
            <a:off x="888950" y="431750"/>
            <a:ext cx="10622381" cy="161925"/>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I DO · ANSWERS REVEALED</a:t>
            </a:r>
            <a:endParaRPr lang="en-US" sz="900" dirty="0"/>
          </a:p>
        </p:txBody>
      </p:sp>
      <p:sp>
        <p:nvSpPr>
          <p:cNvPr id="5" name="Text 3"/>
          <p:cNvSpPr/>
          <p:nvPr/>
        </p:nvSpPr>
        <p:spPr>
          <a:xfrm>
            <a:off x="888950" y="657076"/>
            <a:ext cx="10622381" cy="428625"/>
          </a:xfrm>
          <a:prstGeom prst="rect">
            <a:avLst/>
          </a:prstGeom>
          <a:noFill/>
          <a:ln/>
        </p:spPr>
        <p:txBody>
          <a:bodyPr wrap="square" lIns="0" tIns="0" rIns="0" bIns="0" rtlCol="0" anchor="t"/>
          <a:lstStyle/>
          <a:p>
            <a:pPr algn="l" indent="0" marL="0">
              <a:spcBef>
                <a:spcPts val="500"/>
              </a:spcBef>
              <a:buNone/>
            </a:pPr>
            <a:r>
              <a:rPr lang="en-US" sz="2400" b="1" dirty="0">
                <a:solidFill>
                  <a:srgbClr val="1E2A38"/>
                </a:solidFill>
                <a:latin typeface="Noto Serif SC" pitchFamily="34" charset="0"/>
                <a:ea typeface="Noto Serif SC" pitchFamily="34" charset="-122"/>
                <a:cs typeface="Noto Serif SC" pitchFamily="34" charset="-120"/>
              </a:rPr>
              <a:t>答案 · Answers</a:t>
            </a:r>
            <a:endParaRPr lang="en-US" sz="2400" dirty="0"/>
          </a:p>
        </p:txBody>
      </p:sp>
      <p:sp>
        <p:nvSpPr>
          <p:cNvPr id="6" name="Text 4"/>
          <p:cNvSpPr/>
          <p:nvPr/>
        </p:nvSpPr>
        <p:spPr>
          <a:xfrm>
            <a:off x="888950" y="1320701"/>
            <a:ext cx="10413950" cy="965150"/>
          </a:xfrm>
          <a:prstGeom prst="roundRect">
            <a:avLst>
              <a:gd name="adj" fmla="val 13159"/>
            </a:avLst>
          </a:prstGeom>
          <a:solidFill>
            <a:srgbClr val="F6F2E8"/>
          </a:solidFill>
          <a:ln w="9525">
            <a:solidFill>
              <a:srgbClr val="E5DFD0"/>
            </a:solidFill>
          </a:ln>
        </p:spPr>
        <p:txBody>
          <a:bodyPr wrap="square" rtlCol="0" anchor="ctr"/>
          <a:lstStyle/>
          <a:p>
            <a:pPr indent="0" marL="0">
              <a:buNone/>
            </a:pPr>
            <a:endParaRPr lang="en-US" dirty="0"/>
          </a:p>
        </p:txBody>
      </p:sp>
      <p:sp>
        <p:nvSpPr>
          <p:cNvPr id="7" name="Text 5"/>
          <p:cNvSpPr/>
          <p:nvPr/>
        </p:nvSpPr>
        <p:spPr>
          <a:xfrm>
            <a:off x="1152376" y="1457176"/>
            <a:ext cx="10084841" cy="180975"/>
          </a:xfrm>
          <a:prstGeom prst="rect">
            <a:avLst/>
          </a:prstGeom>
          <a:noFill/>
          <a:ln/>
        </p:spPr>
        <p:txBody>
          <a:bodyPr wrap="square" lIns="0" tIns="0" rIns="0" bIns="0" rtlCol="0" anchor="t"/>
          <a:lstStyle/>
          <a:p>
            <a:pPr algn="l" indent="0" marL="0">
              <a:buNone/>
            </a:pPr>
            <a:r>
              <a:rPr lang="en-US" sz="1000" dirty="0">
                <a:solidFill>
                  <a:srgbClr val="8B94A3"/>
                </a:solidFill>
                <a:latin typeface="Noto Sans SC" pitchFamily="34" charset="0"/>
                <a:ea typeface="Noto Sans SC" pitchFamily="34" charset="-122"/>
                <a:cs typeface="Noto Sans SC" pitchFamily="34" charset="-120"/>
              </a:rPr>
              <a:t>欢欢几岁开始跳舞？</a:t>
            </a:r>
            <a:endParaRPr lang="en-US" sz="1000" dirty="0"/>
          </a:p>
        </p:txBody>
      </p:sp>
      <p:sp>
        <p:nvSpPr>
          <p:cNvPr id="8" name="Text 6"/>
          <p:cNvSpPr/>
          <p:nvPr/>
        </p:nvSpPr>
        <p:spPr>
          <a:xfrm>
            <a:off x="1152376" y="1688902"/>
            <a:ext cx="10084841" cy="266700"/>
          </a:xfrm>
          <a:prstGeom prst="rect">
            <a:avLst/>
          </a:prstGeom>
          <a:noFill/>
          <a:ln/>
        </p:spPr>
        <p:txBody>
          <a:bodyPr wrap="square" lIns="0" tIns="0" rIns="0" bIns="0" rtlCol="0" anchor="t"/>
          <a:lstStyle/>
          <a:p>
            <a:pPr algn="l" indent="0" marL="0">
              <a:spcBef>
                <a:spcPts val="400"/>
              </a:spcBef>
              <a:buNone/>
            </a:pPr>
            <a:r>
              <a:rPr lang="en-US" sz="1500" b="1" dirty="0">
                <a:solidFill>
                  <a:srgbClr val="C8943E"/>
                </a:solidFill>
                <a:latin typeface="Noto Serif SC" pitchFamily="34" charset="0"/>
                <a:ea typeface="Noto Serif SC" pitchFamily="34" charset="-122"/>
                <a:cs typeface="Noto Serif SC" pitchFamily="34" charset="-120"/>
              </a:rPr>
              <a:t>欢欢从四岁开始跳舞。</a:t>
            </a:r>
            <a:endParaRPr lang="en-US" sz="1500" dirty="0"/>
          </a:p>
        </p:txBody>
      </p:sp>
      <p:sp>
        <p:nvSpPr>
          <p:cNvPr id="9" name="Text 7"/>
          <p:cNvSpPr/>
          <p:nvPr/>
        </p:nvSpPr>
        <p:spPr>
          <a:xfrm>
            <a:off x="1152376" y="1980902"/>
            <a:ext cx="10084841" cy="161925"/>
          </a:xfrm>
          <a:prstGeom prst="rect">
            <a:avLst/>
          </a:prstGeom>
          <a:noFill/>
          <a:ln/>
        </p:spPr>
        <p:txBody>
          <a:bodyPr wrap="square" lIns="0" tIns="0" rIns="0" bIns="0" rtlCol="0" anchor="t"/>
          <a:lstStyle/>
          <a:p>
            <a:pPr algn="l" indent="0" marL="0">
              <a:spcBef>
                <a:spcPts val="200"/>
              </a:spcBef>
              <a:buNone/>
            </a:pPr>
            <a:r>
              <a:rPr lang="en-US" sz="900" dirty="0">
                <a:solidFill>
                  <a:srgbClr val="5B6677"/>
                </a:solidFill>
                <a:latin typeface="Noto Sans SC" pitchFamily="34" charset="0"/>
                <a:ea typeface="Noto Sans SC" pitchFamily="34" charset="-122"/>
                <a:cs typeface="Noto Sans SC" pitchFamily="34" charset="-120"/>
              </a:rPr>
              <a:t>She started dancing at age four — not five, a common mixup.</a:t>
            </a:r>
            <a:endParaRPr lang="en-US" sz="900" dirty="0"/>
          </a:p>
        </p:txBody>
      </p:sp>
      <p:sp>
        <p:nvSpPr>
          <p:cNvPr id="10" name="Text 8"/>
          <p:cNvSpPr/>
          <p:nvPr/>
        </p:nvSpPr>
        <p:spPr>
          <a:xfrm>
            <a:off x="888950" y="2438400"/>
            <a:ext cx="10413950" cy="965150"/>
          </a:xfrm>
          <a:prstGeom prst="roundRect">
            <a:avLst>
              <a:gd name="adj" fmla="val 13159"/>
            </a:avLst>
          </a:prstGeom>
          <a:solidFill>
            <a:srgbClr val="F6F2E8"/>
          </a:solidFill>
          <a:ln w="9525">
            <a:solidFill>
              <a:srgbClr val="E5DFD0"/>
            </a:solidFill>
          </a:ln>
        </p:spPr>
        <p:txBody>
          <a:bodyPr wrap="square" rtlCol="0" anchor="ctr"/>
          <a:lstStyle/>
          <a:p>
            <a:pPr indent="0" marL="0">
              <a:buNone/>
            </a:pPr>
            <a:endParaRPr lang="en-US" dirty="0"/>
          </a:p>
        </p:txBody>
      </p:sp>
      <p:sp>
        <p:nvSpPr>
          <p:cNvPr id="11" name="Text 9"/>
          <p:cNvSpPr/>
          <p:nvPr/>
        </p:nvSpPr>
        <p:spPr>
          <a:xfrm>
            <a:off x="1152376" y="2574875"/>
            <a:ext cx="10084841" cy="180975"/>
          </a:xfrm>
          <a:prstGeom prst="rect">
            <a:avLst/>
          </a:prstGeom>
          <a:noFill/>
          <a:ln/>
        </p:spPr>
        <p:txBody>
          <a:bodyPr wrap="square" lIns="0" tIns="0" rIns="0" bIns="0" rtlCol="0" anchor="t"/>
          <a:lstStyle/>
          <a:p>
            <a:pPr algn="l" indent="0" marL="0">
              <a:buNone/>
            </a:pPr>
            <a:r>
              <a:rPr lang="en-US" sz="1000" dirty="0">
                <a:solidFill>
                  <a:srgbClr val="8B94A3"/>
                </a:solidFill>
                <a:latin typeface="Noto Sans SC" pitchFamily="34" charset="0"/>
                <a:ea typeface="Noto Sans SC" pitchFamily="34" charset="-122"/>
                <a:cs typeface="Noto Sans SC" pitchFamily="34" charset="-120"/>
              </a:rPr>
              <a:t>她每个星期几跳舞？跳几个小时？</a:t>
            </a:r>
            <a:endParaRPr lang="en-US" sz="1000" dirty="0"/>
          </a:p>
        </p:txBody>
      </p:sp>
      <p:sp>
        <p:nvSpPr>
          <p:cNvPr id="12" name="Text 10"/>
          <p:cNvSpPr/>
          <p:nvPr/>
        </p:nvSpPr>
        <p:spPr>
          <a:xfrm>
            <a:off x="1152376" y="2806601"/>
            <a:ext cx="10084841" cy="266700"/>
          </a:xfrm>
          <a:prstGeom prst="rect">
            <a:avLst/>
          </a:prstGeom>
          <a:noFill/>
          <a:ln/>
        </p:spPr>
        <p:txBody>
          <a:bodyPr wrap="square" lIns="0" tIns="0" rIns="0" bIns="0" rtlCol="0" anchor="t"/>
          <a:lstStyle/>
          <a:p>
            <a:pPr algn="l" indent="0" marL="0">
              <a:spcBef>
                <a:spcPts val="400"/>
              </a:spcBef>
              <a:buNone/>
            </a:pPr>
            <a:r>
              <a:rPr lang="en-US" sz="1500" b="1" dirty="0">
                <a:solidFill>
                  <a:srgbClr val="C8943E"/>
                </a:solidFill>
                <a:latin typeface="Noto Serif SC" pitchFamily="34" charset="0"/>
                <a:ea typeface="Noto Serif SC" pitchFamily="34" charset="-122"/>
                <a:cs typeface="Noto Serif SC" pitchFamily="34" charset="-120"/>
              </a:rPr>
              <a:t>她星期二、星期四跳舞，跳两个小时。</a:t>
            </a:r>
            <a:endParaRPr lang="en-US" sz="1500" dirty="0"/>
          </a:p>
        </p:txBody>
      </p:sp>
      <p:sp>
        <p:nvSpPr>
          <p:cNvPr id="13" name="Text 11"/>
          <p:cNvSpPr/>
          <p:nvPr/>
        </p:nvSpPr>
        <p:spPr>
          <a:xfrm>
            <a:off x="1152376" y="3098602"/>
            <a:ext cx="10084841" cy="161925"/>
          </a:xfrm>
          <a:prstGeom prst="rect">
            <a:avLst/>
          </a:prstGeom>
          <a:noFill/>
          <a:ln/>
        </p:spPr>
        <p:txBody>
          <a:bodyPr wrap="square" lIns="0" tIns="0" rIns="0" bIns="0" rtlCol="0" anchor="t"/>
          <a:lstStyle/>
          <a:p>
            <a:pPr algn="l" indent="0" marL="0">
              <a:spcBef>
                <a:spcPts val="200"/>
              </a:spcBef>
              <a:buNone/>
            </a:pPr>
            <a:r>
              <a:rPr lang="en-US" sz="900" dirty="0">
                <a:solidFill>
                  <a:srgbClr val="5B6677"/>
                </a:solidFill>
                <a:latin typeface="Noto Sans SC" pitchFamily="34" charset="0"/>
                <a:ea typeface="Noto Sans SC" pitchFamily="34" charset="-122"/>
                <a:cs typeface="Noto Sans SC" pitchFamily="34" charset="-120"/>
              </a:rPr>
              <a:t>Tuesdays and Thursdays, two hours each time.</a:t>
            </a:r>
            <a:endParaRPr lang="en-US" sz="900" dirty="0"/>
          </a:p>
        </p:txBody>
      </p:sp>
      <p:sp>
        <p:nvSpPr>
          <p:cNvPr id="14" name="Text 12"/>
          <p:cNvSpPr/>
          <p:nvPr/>
        </p:nvSpPr>
        <p:spPr>
          <a:xfrm>
            <a:off x="888950" y="3555950"/>
            <a:ext cx="10413950" cy="965150"/>
          </a:xfrm>
          <a:prstGeom prst="roundRect">
            <a:avLst>
              <a:gd name="adj" fmla="val 13159"/>
            </a:avLst>
          </a:prstGeom>
          <a:solidFill>
            <a:srgbClr val="F6F2E8"/>
          </a:solidFill>
          <a:ln w="9525">
            <a:solidFill>
              <a:srgbClr val="E5DFD0"/>
            </a:solidFill>
          </a:ln>
        </p:spPr>
        <p:txBody>
          <a:bodyPr wrap="square" rtlCol="0" anchor="ctr"/>
          <a:lstStyle/>
          <a:p>
            <a:pPr indent="0" marL="0">
              <a:buNone/>
            </a:pPr>
            <a:endParaRPr lang="en-US" dirty="0"/>
          </a:p>
        </p:txBody>
      </p:sp>
      <p:sp>
        <p:nvSpPr>
          <p:cNvPr id="15" name="Text 13"/>
          <p:cNvSpPr/>
          <p:nvPr/>
        </p:nvSpPr>
        <p:spPr>
          <a:xfrm>
            <a:off x="1152376" y="3692426"/>
            <a:ext cx="10084841" cy="180975"/>
          </a:xfrm>
          <a:prstGeom prst="rect">
            <a:avLst/>
          </a:prstGeom>
          <a:noFill/>
          <a:ln/>
        </p:spPr>
        <p:txBody>
          <a:bodyPr wrap="square" lIns="0" tIns="0" rIns="0" bIns="0" rtlCol="0" anchor="t"/>
          <a:lstStyle/>
          <a:p>
            <a:pPr algn="l" indent="0" marL="0">
              <a:buNone/>
            </a:pPr>
            <a:r>
              <a:rPr lang="en-US" sz="1000" dirty="0">
                <a:solidFill>
                  <a:srgbClr val="8B94A3"/>
                </a:solidFill>
                <a:latin typeface="Noto Sans SC" pitchFamily="34" charset="0"/>
                <a:ea typeface="Noto Sans SC" pitchFamily="34" charset="-122"/>
                <a:cs typeface="Noto Sans SC" pitchFamily="34" charset="-120"/>
              </a:rPr>
              <a:t>她几岁开始拉小提琴？她每天拉多久？</a:t>
            </a:r>
            <a:endParaRPr lang="en-US" sz="1000" dirty="0"/>
          </a:p>
        </p:txBody>
      </p:sp>
      <p:sp>
        <p:nvSpPr>
          <p:cNvPr id="16" name="Text 14"/>
          <p:cNvSpPr/>
          <p:nvPr/>
        </p:nvSpPr>
        <p:spPr>
          <a:xfrm>
            <a:off x="1152376" y="3924151"/>
            <a:ext cx="10084841" cy="266700"/>
          </a:xfrm>
          <a:prstGeom prst="rect">
            <a:avLst/>
          </a:prstGeom>
          <a:noFill/>
          <a:ln/>
        </p:spPr>
        <p:txBody>
          <a:bodyPr wrap="square" lIns="0" tIns="0" rIns="0" bIns="0" rtlCol="0" anchor="t"/>
          <a:lstStyle/>
          <a:p>
            <a:pPr algn="l" indent="0" marL="0">
              <a:spcBef>
                <a:spcPts val="400"/>
              </a:spcBef>
              <a:buNone/>
            </a:pPr>
            <a:r>
              <a:rPr lang="en-US" sz="1500" b="1" dirty="0">
                <a:solidFill>
                  <a:srgbClr val="C8943E"/>
                </a:solidFill>
                <a:latin typeface="Noto Serif SC" pitchFamily="34" charset="0"/>
                <a:ea typeface="Noto Serif SC" pitchFamily="34" charset="-122"/>
                <a:cs typeface="Noto Serif SC" pitchFamily="34" charset="-120"/>
              </a:rPr>
              <a:t>她从六岁开始拉小提琴，每天拉四十五分钟。</a:t>
            </a:r>
            <a:endParaRPr lang="en-US" sz="1500" dirty="0"/>
          </a:p>
        </p:txBody>
      </p:sp>
      <p:sp>
        <p:nvSpPr>
          <p:cNvPr id="17" name="Text 15"/>
          <p:cNvSpPr/>
          <p:nvPr/>
        </p:nvSpPr>
        <p:spPr>
          <a:xfrm>
            <a:off x="1152376" y="4216152"/>
            <a:ext cx="10084841" cy="161925"/>
          </a:xfrm>
          <a:prstGeom prst="rect">
            <a:avLst/>
          </a:prstGeom>
          <a:noFill/>
          <a:ln/>
        </p:spPr>
        <p:txBody>
          <a:bodyPr wrap="square" lIns="0" tIns="0" rIns="0" bIns="0" rtlCol="0" anchor="t"/>
          <a:lstStyle/>
          <a:p>
            <a:pPr algn="l" indent="0" marL="0">
              <a:spcBef>
                <a:spcPts val="200"/>
              </a:spcBef>
              <a:buNone/>
            </a:pPr>
            <a:r>
              <a:rPr lang="en-US" sz="900" dirty="0">
                <a:solidFill>
                  <a:srgbClr val="5B6677"/>
                </a:solidFill>
                <a:latin typeface="Noto Sans SC" pitchFamily="34" charset="0"/>
                <a:ea typeface="Noto Sans SC" pitchFamily="34" charset="-122"/>
                <a:cs typeface="Noto Sans SC" pitchFamily="34" charset="-120"/>
              </a:rPr>
              <a:t>She started violin at age six, plays 45 minutes every day.</a:t>
            </a:r>
            <a:endParaRPr lang="en-US" sz="900" dirty="0"/>
          </a:p>
        </p:txBody>
      </p:sp>
      <p:sp>
        <p:nvSpPr>
          <p:cNvPr id="18" name="Shape 16"/>
          <p:cNvSpPr/>
          <p:nvPr/>
        </p:nvSpPr>
        <p:spPr>
          <a:xfrm>
            <a:off x="762000" y="6685062"/>
            <a:ext cx="10668000" cy="0"/>
          </a:xfrm>
          <a:prstGeom prst="line">
            <a:avLst/>
          </a:prstGeom>
          <a:noFill/>
          <a:ln w="9525">
            <a:solidFill>
              <a:srgbClr val="E5DFD0"/>
            </a:solidFill>
            <a:prstDash val="solid"/>
          </a:ln>
        </p:spPr>
      </p:sp>
      <p:sp>
        <p:nvSpPr>
          <p:cNvPr id="19" name="Text 17"/>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I Do · 正在 Recap</a:t>
            </a:r>
            <a:endParaRPr lang="en-US" sz="800" dirty="0"/>
          </a:p>
        </p:txBody>
      </p:sp>
      <p:sp>
        <p:nvSpPr>
          <p:cNvPr id="4" name="Text 2"/>
          <p:cNvSpPr/>
          <p:nvPr/>
        </p:nvSpPr>
        <p:spPr>
          <a:xfrm>
            <a:off x="888950" y="457200"/>
            <a:ext cx="10622381" cy="161925"/>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I DO · QUICK RECAP</a:t>
            </a:r>
            <a:endParaRPr lang="en-US" sz="900" dirty="0"/>
          </a:p>
        </p:txBody>
      </p:sp>
      <p:sp>
        <p:nvSpPr>
          <p:cNvPr id="5" name="Text 3"/>
          <p:cNvSpPr/>
          <p:nvPr/>
        </p:nvSpPr>
        <p:spPr>
          <a:xfrm>
            <a:off x="888950" y="682526"/>
            <a:ext cx="10622381" cy="466725"/>
          </a:xfrm>
          <a:prstGeom prst="rect">
            <a:avLst/>
          </a:prstGeom>
          <a:noFill/>
          <a:ln/>
        </p:spPr>
        <p:txBody>
          <a:bodyPr wrap="square" lIns="0" tIns="0" rIns="0" bIns="0" rtlCol="0" anchor="t"/>
          <a:lstStyle/>
          <a:p>
            <a:pPr algn="l" indent="0" marL="0">
              <a:spcBef>
                <a:spcPts val="500"/>
              </a:spcBef>
              <a:buNone/>
            </a:pPr>
            <a:r>
              <a:rPr lang="en-US" sz="2600" b="1" dirty="0">
                <a:solidFill>
                  <a:srgbClr val="1E2A38"/>
                </a:solidFill>
                <a:latin typeface="Noto Serif SC" pitchFamily="34" charset="0"/>
                <a:ea typeface="Noto Serif SC" pitchFamily="34" charset="-122"/>
                <a:cs typeface="Noto Serif SC" pitchFamily="34" charset="-120"/>
              </a:rPr>
              <a:t>正在 · Action in Progress</a:t>
            </a:r>
            <a:endParaRPr lang="en-US" sz="2600" dirty="0"/>
          </a:p>
        </p:txBody>
      </p:sp>
      <p:sp>
        <p:nvSpPr>
          <p:cNvPr id="6" name="Text 4"/>
          <p:cNvSpPr/>
          <p:nvPr/>
        </p:nvSpPr>
        <p:spPr>
          <a:xfrm>
            <a:off x="888950" y="1212652"/>
            <a:ext cx="10622381" cy="200025"/>
          </a:xfrm>
          <a:prstGeom prst="rect">
            <a:avLst/>
          </a:prstGeom>
          <a:noFill/>
          <a:ln/>
        </p:spPr>
        <p:txBody>
          <a:bodyPr wrap="square" lIns="0" tIns="0" rIns="0" bIns="0" rtlCol="0" anchor="t"/>
          <a:lstStyle/>
          <a:p>
            <a:pPr algn="l" indent="0" marL="0">
              <a:spcBef>
                <a:spcPts val="500"/>
              </a:spcBef>
              <a:buNone/>
            </a:pPr>
            <a:r>
              <a:rPr lang="en-US" sz="1100" dirty="0">
                <a:solidFill>
                  <a:srgbClr val="8B94A3"/>
                </a:solidFill>
                <a:latin typeface="Noto Sans SC" pitchFamily="34" charset="0"/>
                <a:ea typeface="Noto Sans SC" pitchFamily="34" charset="-122"/>
                <a:cs typeface="Noto Sans SC" pitchFamily="34" charset="-120"/>
              </a:rPr>
              <a:t>A quick recap from Lessons 7/8 — before today's practice activities</a:t>
            </a:r>
            <a:endParaRPr lang="en-US" sz="1100" dirty="0"/>
          </a:p>
        </p:txBody>
      </p:sp>
      <p:sp>
        <p:nvSpPr>
          <p:cNvPr id="7" name="Text 5"/>
          <p:cNvSpPr/>
          <p:nvPr/>
        </p:nvSpPr>
        <p:spPr>
          <a:xfrm>
            <a:off x="888950" y="1905000"/>
            <a:ext cx="1396901" cy="558701"/>
          </a:xfrm>
          <a:prstGeom prst="roundRect">
            <a:avLst>
              <a:gd name="adj" fmla="val 18185"/>
            </a:avLst>
          </a:prstGeom>
          <a:solidFill>
            <a:srgbClr val="EDE7D7"/>
          </a:solidFill>
          <a:ln w="19050">
            <a:solidFill>
              <a:srgbClr val="C8943E"/>
            </a:solidFill>
          </a:ln>
        </p:spPr>
        <p:txBody>
          <a:bodyPr wrap="square" rtlCol="0" anchor="ctr"/>
          <a:lstStyle/>
          <a:p>
            <a:pPr indent="0" marL="0">
              <a:buNone/>
            </a:pPr>
            <a:endParaRPr lang="en-US" dirty="0"/>
          </a:p>
        </p:txBody>
      </p:sp>
      <p:sp>
        <p:nvSpPr>
          <p:cNvPr id="8" name="Text 6"/>
          <p:cNvSpPr/>
          <p:nvPr/>
        </p:nvSpPr>
        <p:spPr>
          <a:xfrm>
            <a:off x="894412" y="1924050"/>
            <a:ext cx="1385977" cy="444401"/>
          </a:xfrm>
          <a:prstGeom prst="rect">
            <a:avLst/>
          </a:prstGeom>
          <a:noFill/>
          <a:ln/>
        </p:spPr>
        <p:txBody>
          <a:bodyPr wrap="square" lIns="0" tIns="101600" rIns="0" bIns="0" rtlCol="0" anchor="t"/>
          <a:lstStyle/>
          <a:p>
            <a:pPr algn="ctr" indent="0" marL="0">
              <a:buNone/>
            </a:pPr>
            <a:r>
              <a:rPr lang="en-US" sz="1900" b="1" dirty="0">
                <a:solidFill>
                  <a:srgbClr val="C8943E"/>
                </a:solidFill>
                <a:latin typeface="Noto Serif SC" pitchFamily="34" charset="0"/>
                <a:ea typeface="Noto Serif SC" pitchFamily="34" charset="-122"/>
                <a:cs typeface="Noto Serif SC" pitchFamily="34" charset="-120"/>
              </a:rPr>
              <a:t>正在</a:t>
            </a:r>
            <a:endParaRPr lang="en-US" sz="1900" dirty="0"/>
          </a:p>
        </p:txBody>
      </p:sp>
      <p:sp>
        <p:nvSpPr>
          <p:cNvPr id="9" name="Text 7"/>
          <p:cNvSpPr/>
          <p:nvPr/>
        </p:nvSpPr>
        <p:spPr>
          <a:xfrm>
            <a:off x="2412950" y="2006501"/>
            <a:ext cx="258979" cy="266700"/>
          </a:xfrm>
          <a:prstGeom prst="rect">
            <a:avLst/>
          </a:prstGeom>
          <a:noFill/>
          <a:ln/>
        </p:spPr>
        <p:txBody>
          <a:bodyPr wrap="square" lIns="0" tIns="0" rIns="0" bIns="0" rtlCol="0" anchor="t"/>
          <a:lstStyle/>
          <a:p>
            <a:pPr algn="l" indent="0" marL="0">
              <a:buNone/>
            </a:pPr>
            <a:r>
              <a:rPr lang="en-US" sz="1500" b="1" dirty="0">
                <a:solidFill>
                  <a:srgbClr val="C8943E"/>
                </a:solidFill>
                <a:latin typeface="Noto Sans SC" pitchFamily="34" charset="0"/>
                <a:ea typeface="Noto Sans SC" pitchFamily="34" charset="-122"/>
                <a:cs typeface="Noto Sans SC" pitchFamily="34" charset="-120"/>
              </a:rPr>
              <a:t>+</a:t>
            </a:r>
            <a:endParaRPr lang="en-US" sz="1500" dirty="0"/>
          </a:p>
        </p:txBody>
      </p:sp>
      <p:sp>
        <p:nvSpPr>
          <p:cNvPr id="10" name="Text 8"/>
          <p:cNvSpPr/>
          <p:nvPr/>
        </p:nvSpPr>
        <p:spPr>
          <a:xfrm>
            <a:off x="2793950" y="1905000"/>
            <a:ext cx="1396901" cy="558701"/>
          </a:xfrm>
          <a:prstGeom prst="roundRect">
            <a:avLst>
              <a:gd name="adj" fmla="val 18185"/>
            </a:avLst>
          </a:prstGeom>
          <a:solidFill>
            <a:srgbClr val="EDE7D7"/>
          </a:solidFill>
          <a:ln w="19050">
            <a:solidFill>
              <a:srgbClr val="C8943E"/>
            </a:solidFill>
          </a:ln>
        </p:spPr>
        <p:txBody>
          <a:bodyPr wrap="square" rtlCol="0" anchor="ctr"/>
          <a:lstStyle/>
          <a:p>
            <a:pPr indent="0" marL="0">
              <a:buNone/>
            </a:pPr>
            <a:endParaRPr lang="en-US" dirty="0"/>
          </a:p>
        </p:txBody>
      </p:sp>
      <p:sp>
        <p:nvSpPr>
          <p:cNvPr id="11" name="Text 9"/>
          <p:cNvSpPr/>
          <p:nvPr/>
        </p:nvSpPr>
        <p:spPr>
          <a:xfrm>
            <a:off x="2799412" y="1924050"/>
            <a:ext cx="1385977" cy="444401"/>
          </a:xfrm>
          <a:prstGeom prst="rect">
            <a:avLst/>
          </a:prstGeom>
          <a:noFill/>
          <a:ln/>
        </p:spPr>
        <p:txBody>
          <a:bodyPr wrap="square" lIns="0" tIns="101600" rIns="0" bIns="0" rtlCol="0" anchor="t"/>
          <a:lstStyle/>
          <a:p>
            <a:pPr algn="ctr" indent="0" marL="0">
              <a:buNone/>
            </a:pPr>
            <a:r>
              <a:rPr lang="en-US" sz="1900" b="1" dirty="0">
                <a:solidFill>
                  <a:srgbClr val="1E2A38"/>
                </a:solidFill>
                <a:latin typeface="Noto Serif SC" pitchFamily="34" charset="0"/>
                <a:ea typeface="Noto Serif SC" pitchFamily="34" charset="-122"/>
                <a:cs typeface="Noto Serif SC" pitchFamily="34" charset="-120"/>
              </a:rPr>
              <a:t>verb</a:t>
            </a:r>
            <a:endParaRPr lang="en-US" sz="1900" dirty="0"/>
          </a:p>
        </p:txBody>
      </p:sp>
      <p:sp>
        <p:nvSpPr>
          <p:cNvPr id="12" name="Text 10"/>
          <p:cNvSpPr/>
          <p:nvPr/>
        </p:nvSpPr>
        <p:spPr>
          <a:xfrm>
            <a:off x="4317950" y="2006501"/>
            <a:ext cx="258979" cy="209550"/>
          </a:xfrm>
          <a:prstGeom prst="rect">
            <a:avLst/>
          </a:prstGeom>
          <a:noFill/>
          <a:ln/>
        </p:spPr>
        <p:txBody>
          <a:bodyPr wrap="square" lIns="0" tIns="0" rIns="0" bIns="0" rtlCol="0" anchor="t"/>
          <a:lstStyle/>
          <a:p>
            <a:pPr algn="l" indent="0" marL="0">
              <a:buNone/>
            </a:pPr>
            <a:r>
              <a:rPr lang="en-US" sz="1200" dirty="0">
                <a:solidFill>
                  <a:srgbClr val="8B94A3"/>
                </a:solidFill>
                <a:latin typeface="Noto Sans SC" pitchFamily="34" charset="0"/>
                <a:ea typeface="Noto Sans SC" pitchFamily="34" charset="-122"/>
                <a:cs typeface="Noto Sans SC" pitchFamily="34" charset="-120"/>
              </a:rPr>
              <a:t>→</a:t>
            </a:r>
            <a:endParaRPr lang="en-US" sz="1200" dirty="0"/>
          </a:p>
        </p:txBody>
      </p:sp>
      <p:sp>
        <p:nvSpPr>
          <p:cNvPr id="13" name="Text 11"/>
          <p:cNvSpPr/>
          <p:nvPr/>
        </p:nvSpPr>
        <p:spPr>
          <a:xfrm>
            <a:off x="4698950" y="2006501"/>
            <a:ext cx="5181549" cy="247650"/>
          </a:xfrm>
          <a:prstGeom prst="rect">
            <a:avLst/>
          </a:prstGeom>
          <a:noFill/>
          <a:ln/>
        </p:spPr>
        <p:txBody>
          <a:bodyPr wrap="square" lIns="0" tIns="0" rIns="0" bIns="0" rtlCol="0" anchor="t"/>
          <a:lstStyle/>
          <a:p>
            <a:pPr algn="l" indent="0" marL="0">
              <a:buNone/>
            </a:pPr>
            <a:r>
              <a:rPr lang="en-US" sz="1400" dirty="0">
                <a:solidFill>
                  <a:srgbClr val="5B6677"/>
                </a:solidFill>
                <a:latin typeface="Noto Serif SC" pitchFamily="34" charset="0"/>
                <a:ea typeface="Noto Serif SC" pitchFamily="34" charset="-122"/>
                <a:cs typeface="Noto Serif SC" pitchFamily="34" charset="-120"/>
              </a:rPr>
              <a:t>"[subject] is doing [verb] right now"</a:t>
            </a:r>
            <a:endParaRPr lang="en-US" sz="1400" dirty="0"/>
          </a:p>
        </p:txBody>
      </p:sp>
      <p:sp>
        <p:nvSpPr>
          <p:cNvPr id="14" name="Text 12"/>
          <p:cNvSpPr/>
          <p:nvPr/>
        </p:nvSpPr>
        <p:spPr>
          <a:xfrm>
            <a:off x="888950" y="2844701"/>
            <a:ext cx="7620000" cy="634901"/>
          </a:xfrm>
          <a:prstGeom prst="roundRect">
            <a:avLst>
              <a:gd name="adj" fmla="val 16003"/>
            </a:avLst>
          </a:prstGeom>
          <a:solidFill>
            <a:srgbClr val="F6F2E8"/>
          </a:solidFill>
          <a:ln w="9525">
            <a:solidFill>
              <a:srgbClr val="E5DFD0"/>
            </a:solidFill>
          </a:ln>
        </p:spPr>
        <p:txBody>
          <a:bodyPr wrap="square" rtlCol="0" anchor="ctr"/>
          <a:lstStyle/>
          <a:p>
            <a:pPr indent="0" marL="0">
              <a:buNone/>
            </a:pPr>
            <a:endParaRPr lang="en-US" dirty="0"/>
          </a:p>
        </p:txBody>
      </p:sp>
      <p:sp>
        <p:nvSpPr>
          <p:cNvPr id="15" name="Text 13"/>
          <p:cNvSpPr/>
          <p:nvPr/>
        </p:nvSpPr>
        <p:spPr>
          <a:xfrm>
            <a:off x="1152376" y="3006626"/>
            <a:ext cx="7235011" cy="342900"/>
          </a:xfrm>
          <a:prstGeom prst="rect">
            <a:avLst/>
          </a:prstGeom>
          <a:noFill/>
          <a:ln/>
        </p:spPr>
        <p:txBody>
          <a:bodyPr wrap="square" lIns="0" tIns="0" rIns="0" bIns="0" rtlCol="0" anchor="t"/>
          <a:lstStyle/>
          <a:p>
            <a:pPr algn="l" indent="0" marL="0">
              <a:buNone/>
            </a:pPr>
            <a:r>
              <a:rPr lang="en-US" sz="1900" dirty="0">
                <a:solidFill>
                  <a:srgbClr val="1E2A38"/>
                </a:solidFill>
                <a:latin typeface="Noto Serif SC" pitchFamily="34" charset="0"/>
                <a:ea typeface="Noto Serif SC" pitchFamily="34" charset="-122"/>
                <a:cs typeface="Noto Serif SC" pitchFamily="34" charset="-120"/>
              </a:rPr>
              <a:t>她</a:t>
            </a:r>
            <a:r>
              <a:rPr lang="en-US" sz="1900" b="1" dirty="0">
                <a:solidFill>
                  <a:srgbClr val="C8943E"/>
                </a:solidFill>
                <a:latin typeface="Noto Serif SC" pitchFamily="34" charset="0"/>
                <a:ea typeface="Noto Serif SC" pitchFamily="34" charset="-122"/>
                <a:cs typeface="Noto Serif SC" pitchFamily="34" charset="-120"/>
              </a:rPr>
              <a:t>正在</a:t>
            </a:r>
            <a:r>
              <a:rPr lang="en-US" sz="1900" dirty="0">
                <a:solidFill>
                  <a:srgbClr val="1E2A38"/>
                </a:solidFill>
                <a:latin typeface="Noto Serif SC" pitchFamily="34" charset="0"/>
                <a:ea typeface="Noto Serif SC" pitchFamily="34" charset="-122"/>
                <a:cs typeface="Noto Serif SC" pitchFamily="34" charset="-120"/>
              </a:rPr>
              <a:t>跳舞。</a:t>
            </a:r>
            <a:r>
              <a:rPr lang="en-US" sz="1100" dirty="0">
                <a:solidFill>
                  <a:srgbClr val="8B94A3"/>
                </a:solidFill>
                <a:latin typeface="Noto Serif SC" pitchFamily="34" charset="0"/>
                <a:ea typeface="Noto Serif SC" pitchFamily="34" charset="-122"/>
                <a:cs typeface="Noto Serif SC" pitchFamily="34" charset="-120"/>
              </a:rPr>
              <a:t> She is dancing right now.</a:t>
            </a:r>
            <a:endParaRPr lang="en-US" sz="1900" dirty="0"/>
          </a:p>
        </p:txBody>
      </p:sp>
      <p:sp>
        <p:nvSpPr>
          <p:cNvPr id="16" name="Text 14"/>
          <p:cNvSpPr/>
          <p:nvPr/>
        </p:nvSpPr>
        <p:spPr>
          <a:xfrm>
            <a:off x="888950" y="3759101"/>
            <a:ext cx="1905000" cy="228600"/>
          </a:xfrm>
          <a:prstGeom prst="roundRect">
            <a:avLst>
              <a:gd name="adj" fmla="val 50000"/>
            </a:avLst>
          </a:prstGeom>
          <a:solidFill>
            <a:srgbClr val="EAF1F2"/>
          </a:solidFill>
          <a:ln w="9525">
            <a:solidFill>
              <a:srgbClr val="3A7D8C"/>
            </a:solidFill>
          </a:ln>
        </p:spPr>
        <p:txBody>
          <a:bodyPr wrap="square" rtlCol="0" anchor="ctr"/>
          <a:lstStyle/>
          <a:p>
            <a:pPr indent="0" marL="0">
              <a:buNone/>
            </a:pPr>
            <a:endParaRPr lang="en-US" dirty="0"/>
          </a:p>
        </p:txBody>
      </p:sp>
      <p:sp>
        <p:nvSpPr>
          <p:cNvPr id="17" name="Text 15"/>
          <p:cNvSpPr/>
          <p:nvPr/>
        </p:nvSpPr>
        <p:spPr>
          <a:xfrm>
            <a:off x="879616" y="3768626"/>
            <a:ext cx="1923669" cy="228600"/>
          </a:xfrm>
          <a:prstGeom prst="rect">
            <a:avLst/>
          </a:prstGeom>
          <a:noFill/>
          <a:ln/>
        </p:spPr>
        <p:txBody>
          <a:bodyPr wrap="square" lIns="0" tIns="38100" rIns="0" bIns="0" rtlCol="0" anchor="t"/>
          <a:lstStyle/>
          <a:p>
            <a:pPr algn="ctr" indent="0" marL="0">
              <a:buNone/>
            </a:pPr>
            <a:r>
              <a:rPr lang="en-US" sz="900" b="1" dirty="0">
                <a:solidFill>
                  <a:srgbClr val="3A7D8C"/>
                </a:solidFill>
                <a:latin typeface="Noto Sans SC" pitchFamily="34" charset="0"/>
                <a:ea typeface="Noto Sans SC" pitchFamily="34" charset="-122"/>
                <a:cs typeface="Noto Sans SC" pitchFamily="34" charset="-120"/>
              </a:rPr>
              <a:t>📌 Remember</a:t>
            </a:r>
            <a:endParaRPr lang="en-US" sz="900" dirty="0"/>
          </a:p>
        </p:txBody>
      </p:sp>
      <p:sp>
        <p:nvSpPr>
          <p:cNvPr id="18" name="Text 16"/>
          <p:cNvSpPr/>
          <p:nvPr/>
        </p:nvSpPr>
        <p:spPr>
          <a:xfrm>
            <a:off x="2997101" y="3784550"/>
            <a:ext cx="7772400" cy="180975"/>
          </a:xfrm>
          <a:prstGeom prst="rect">
            <a:avLst/>
          </a:prstGeom>
          <a:noFill/>
          <a:ln/>
        </p:spPr>
        <p:txBody>
          <a:bodyPr wrap="square" lIns="0" tIns="0" rIns="0" bIns="0" rtlCol="0" anchor="t"/>
          <a:lstStyle/>
          <a:p>
            <a:pPr algn="l" indent="0" marL="0">
              <a:buNone/>
            </a:pPr>
            <a:r>
              <a:rPr lang="en-US" sz="1000" dirty="0">
                <a:solidFill>
                  <a:srgbClr val="8B94A3"/>
                </a:solidFill>
                <a:latin typeface="Noto Sans SC" pitchFamily="34" charset="0"/>
                <a:ea typeface="Noto Sans SC" pitchFamily="34" charset="-122"/>
                <a:cs typeface="Noto Sans SC" pitchFamily="34" charset="-120"/>
              </a:rPr>
              <a:t>正在 describes an action happening at this exact moment — not a habit or a plan.</a:t>
            </a:r>
            <a:endParaRPr lang="en-US" sz="1000" dirty="0"/>
          </a:p>
        </p:txBody>
      </p:sp>
      <p:sp>
        <p:nvSpPr>
          <p:cNvPr id="19" name="Shape 17"/>
          <p:cNvSpPr/>
          <p:nvPr/>
        </p:nvSpPr>
        <p:spPr>
          <a:xfrm>
            <a:off x="762000" y="6685062"/>
            <a:ext cx="10668000" cy="0"/>
          </a:xfrm>
          <a:prstGeom prst="line">
            <a:avLst/>
          </a:prstGeom>
          <a:noFill/>
          <a:ln w="9525">
            <a:solidFill>
              <a:srgbClr val="E5DFD0"/>
            </a:solidFill>
            <a:prstDash val="solid"/>
          </a:ln>
        </p:spPr>
      </p:sp>
      <p:sp>
        <p:nvSpPr>
          <p:cNvPr id="20" name="Text 18"/>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Activity 1 · We Do · 20–28 min</a:t>
            </a:r>
            <a:endParaRPr lang="en-US" sz="800" dirty="0"/>
          </a:p>
        </p:txBody>
      </p:sp>
      <p:sp>
        <p:nvSpPr>
          <p:cNvPr id="4" name="Text 2"/>
          <p:cNvSpPr/>
          <p:nvPr/>
        </p:nvSpPr>
        <p:spPr>
          <a:xfrm>
            <a:off x="634901" y="400050"/>
            <a:ext cx="1001464" cy="219075"/>
          </a:xfrm>
          <a:prstGeom prst="roundRect">
            <a:avLst>
              <a:gd name="adj" fmla="val 52174"/>
            </a:avLst>
          </a:prstGeom>
          <a:solidFill>
            <a:srgbClr val="3A7D8C"/>
          </a:solidFill>
          <a:ln/>
        </p:spPr>
        <p:txBody>
          <a:bodyPr wrap="square" rtlCol="0" anchor="ctr"/>
          <a:lstStyle/>
          <a:p>
            <a:pPr indent="0" marL="0">
              <a:buNone/>
            </a:pPr>
            <a:endParaRPr lang="en-US" dirty="0"/>
          </a:p>
        </p:txBody>
      </p:sp>
      <p:sp>
        <p:nvSpPr>
          <p:cNvPr id="5" name="Text 3"/>
          <p:cNvSpPr/>
          <p:nvPr/>
        </p:nvSpPr>
        <p:spPr>
          <a:xfrm>
            <a:off x="787301" y="438150"/>
            <a:ext cx="710598" cy="142875"/>
          </a:xfrm>
          <a:prstGeom prst="rect">
            <a:avLst/>
          </a:prstGeom>
          <a:noFill/>
          <a:ln/>
        </p:spPr>
        <p:txBody>
          <a:bodyPr wrap="square" lIns="0" tIns="0" rIns="0" bIns="0" rtlCol="0" anchor="t"/>
          <a:lstStyle/>
          <a:p>
            <a:pPr algn="l" indent="0" marL="0">
              <a:buNone/>
            </a:pPr>
            <a:r>
              <a:rPr lang="en-US" sz="800" b="1" dirty="0">
                <a:solidFill>
                  <a:srgbClr val="FFFFFF"/>
                </a:solidFill>
                <a:latin typeface="Noto Sans SC" pitchFamily="34" charset="0"/>
                <a:ea typeface="Noto Sans SC" pitchFamily="34" charset="-122"/>
                <a:cs typeface="Noto Sans SC" pitchFamily="34" charset="-120"/>
              </a:rPr>
              <a:t>ACTIVITY 1</a:t>
            </a:r>
            <a:endParaRPr lang="en-US" sz="800" dirty="0"/>
          </a:p>
        </p:txBody>
      </p:sp>
      <p:sp>
        <p:nvSpPr>
          <p:cNvPr id="6" name="Text 4"/>
          <p:cNvSpPr/>
          <p:nvPr/>
        </p:nvSpPr>
        <p:spPr>
          <a:xfrm>
            <a:off x="634901" y="695325"/>
            <a:ext cx="11140642" cy="390525"/>
          </a:xfrm>
          <a:prstGeom prst="rect">
            <a:avLst/>
          </a:prstGeom>
          <a:noFill/>
          <a:ln/>
        </p:spPr>
        <p:txBody>
          <a:bodyPr wrap="square" lIns="0" tIns="0" rIns="0" bIns="0" rtlCol="0" anchor="t"/>
          <a:lstStyle/>
          <a:p>
            <a:pPr algn="l" indent="0" marL="0">
              <a:spcBef>
                <a:spcPts val="600"/>
              </a:spcBef>
              <a:buNone/>
            </a:pPr>
            <a:r>
              <a:rPr lang="en-US" sz="2200" b="1" dirty="0">
                <a:solidFill>
                  <a:srgbClr val="1E2A38"/>
                </a:solidFill>
                <a:latin typeface="Noto Serif SC" pitchFamily="34" charset="0"/>
                <a:ea typeface="Noto Serif SC" pitchFamily="34" charset="-122"/>
                <a:cs typeface="Noto Serif SC" pitchFamily="34" charset="-120"/>
              </a:rPr>
              <a:t>朗读与问答 · Choral + Partner Reading</a:t>
            </a:r>
            <a:endParaRPr lang="en-US" sz="2200" dirty="0"/>
          </a:p>
        </p:txBody>
      </p:sp>
      <p:sp>
        <p:nvSpPr>
          <p:cNvPr id="7" name="Text 5"/>
          <p:cNvSpPr/>
          <p:nvPr/>
        </p:nvSpPr>
        <p:spPr>
          <a:xfrm>
            <a:off x="634901" y="1162050"/>
            <a:ext cx="776734" cy="266700"/>
          </a:xfrm>
          <a:prstGeom prst="roundRect">
            <a:avLst>
              <a:gd name="adj" fmla="val 42857"/>
            </a:avLst>
          </a:prstGeom>
          <a:solidFill>
            <a:srgbClr val="F5EBDA"/>
          </a:solidFill>
          <a:ln w="9525">
            <a:solidFill>
              <a:srgbClr val="C8943E"/>
            </a:solidFill>
          </a:ln>
        </p:spPr>
        <p:txBody>
          <a:bodyPr wrap="square" rtlCol="0" anchor="ctr"/>
          <a:lstStyle/>
          <a:p>
            <a:pPr indent="0" marL="0">
              <a:buNone/>
            </a:pPr>
            <a:endParaRPr lang="en-US" dirty="0"/>
          </a:p>
        </p:txBody>
      </p:sp>
      <p:sp>
        <p:nvSpPr>
          <p:cNvPr id="8" name="Text 6"/>
          <p:cNvSpPr/>
          <p:nvPr/>
        </p:nvSpPr>
        <p:spPr>
          <a:xfrm>
            <a:off x="796826" y="1209675"/>
            <a:ext cx="461942" cy="171450"/>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 8 min</a:t>
            </a:r>
            <a:endParaRPr lang="en-US" sz="900" dirty="0"/>
          </a:p>
        </p:txBody>
      </p:sp>
      <p:sp>
        <p:nvSpPr>
          <p:cNvPr id="9" name="Text 7"/>
          <p:cNvSpPr/>
          <p:nvPr/>
        </p:nvSpPr>
        <p:spPr>
          <a:xfrm>
            <a:off x="1567011" y="1171575"/>
            <a:ext cx="712291" cy="238125"/>
          </a:xfrm>
          <a:prstGeom prst="roundRect">
            <a:avLst>
              <a:gd name="adj" fmla="val 48000"/>
            </a:avLst>
          </a:prstGeom>
          <a:solidFill>
            <a:srgbClr val="EAF1F2"/>
          </a:solidFill>
          <a:ln/>
        </p:spPr>
        <p:txBody>
          <a:bodyPr wrap="square" rtlCol="0" anchor="ctr"/>
          <a:lstStyle/>
          <a:p>
            <a:pPr indent="0" marL="0">
              <a:buNone/>
            </a:pPr>
            <a:endParaRPr lang="en-US" dirty="0"/>
          </a:p>
        </p:txBody>
      </p:sp>
      <p:sp>
        <p:nvSpPr>
          <p:cNvPr id="10" name="Text 8"/>
          <p:cNvSpPr/>
          <p:nvPr/>
        </p:nvSpPr>
        <p:spPr>
          <a:xfrm>
            <a:off x="1719411" y="1209675"/>
            <a:ext cx="415641" cy="161925"/>
          </a:xfrm>
          <a:prstGeom prst="rect">
            <a:avLst/>
          </a:prstGeom>
          <a:noFill/>
          <a:ln/>
        </p:spPr>
        <p:txBody>
          <a:bodyPr wrap="square" lIns="0" tIns="0" rIns="0" bIns="0" rtlCol="0" anchor="t"/>
          <a:lstStyle/>
          <a:p>
            <a:pPr algn="l" indent="0" marL="0">
              <a:buNone/>
            </a:pPr>
            <a:r>
              <a:rPr lang="en-US" sz="900" b="1" dirty="0">
                <a:solidFill>
                  <a:srgbClr val="3A7D8C"/>
                </a:solidFill>
                <a:latin typeface="Noto Sans SC" pitchFamily="34" charset="0"/>
                <a:ea typeface="Noto Sans SC" pitchFamily="34" charset="-122"/>
                <a:cs typeface="Noto Sans SC" pitchFamily="34" charset="-120"/>
              </a:rPr>
              <a:t>WE DO</a:t>
            </a:r>
            <a:endParaRPr lang="en-US" sz="900" dirty="0"/>
          </a:p>
        </p:txBody>
      </p:sp>
      <p:sp>
        <p:nvSpPr>
          <p:cNvPr id="11" name="Text 9"/>
          <p:cNvSpPr/>
          <p:nvPr/>
        </p:nvSpPr>
        <p:spPr>
          <a:xfrm>
            <a:off x="634901" y="1650950"/>
            <a:ext cx="6096000" cy="2793950"/>
          </a:xfrm>
          <a:prstGeom prst="roundRect">
            <a:avLst>
              <a:gd name="adj" fmla="val 4546"/>
            </a:avLst>
          </a:prstGeom>
          <a:solidFill>
            <a:srgbClr val="F6F2E8"/>
          </a:solidFill>
          <a:ln w="9525">
            <a:solidFill>
              <a:srgbClr val="E5DFD0"/>
            </a:solidFill>
          </a:ln>
        </p:spPr>
        <p:txBody>
          <a:bodyPr wrap="square" rtlCol="0" anchor="ctr"/>
          <a:lstStyle/>
          <a:p>
            <a:pPr indent="0" marL="0">
              <a:buNone/>
            </a:pPr>
            <a:endParaRPr lang="en-US" dirty="0"/>
          </a:p>
        </p:txBody>
      </p:sp>
      <p:sp>
        <p:nvSpPr>
          <p:cNvPr id="12" name="Text 10"/>
          <p:cNvSpPr/>
          <p:nvPr/>
        </p:nvSpPr>
        <p:spPr>
          <a:xfrm>
            <a:off x="923776" y="1889075"/>
            <a:ext cx="5628614" cy="161925"/>
          </a:xfrm>
          <a:prstGeom prst="rect">
            <a:avLst/>
          </a:prstGeom>
          <a:noFill/>
          <a:ln/>
        </p:spPr>
        <p:txBody>
          <a:bodyPr wrap="square" lIns="0" tIns="0" rIns="0" bIns="0" rtlCol="0" anchor="t"/>
          <a:lstStyle/>
          <a:p>
            <a:pPr algn="l" indent="0" marL="0">
              <a:buNone/>
            </a:pPr>
            <a:r>
              <a:rPr lang="en-US" sz="900" b="1" dirty="0">
                <a:solidFill>
                  <a:srgbClr val="3A7D8C"/>
                </a:solidFill>
                <a:latin typeface="Noto Sans SC" pitchFamily="34" charset="0"/>
                <a:ea typeface="Noto Sans SC" pitchFamily="34" charset="-122"/>
                <a:cs typeface="Noto Sans SC" pitchFamily="34" charset="-120"/>
              </a:rPr>
              <a:t>INSTRUCTIONS</a:t>
            </a:r>
            <a:endParaRPr lang="en-US" sz="900" dirty="0"/>
          </a:p>
        </p:txBody>
      </p:sp>
      <p:sp>
        <p:nvSpPr>
          <p:cNvPr id="13" name="Text 11"/>
          <p:cNvSpPr/>
          <p:nvPr/>
        </p:nvSpPr>
        <p:spPr>
          <a:xfrm>
            <a:off x="923776" y="2203400"/>
            <a:ext cx="5628614" cy="228600"/>
          </a:xfrm>
          <a:prstGeom prst="rect">
            <a:avLst/>
          </a:prstGeom>
          <a:noFill/>
          <a:ln/>
        </p:spPr>
        <p:txBody>
          <a:bodyPr wrap="square" lIns="0" tIns="0" rIns="0" bIns="0" rtlCol="0" anchor="t"/>
          <a:lstStyle/>
          <a:p>
            <a:pPr algn="l" indent="0" marL="0">
              <a:lnSpc>
                <a:spcPts val="1800"/>
              </a:lnSpc>
              <a:spcBef>
                <a:spcPts val="1200"/>
              </a:spcBef>
              <a:buNone/>
            </a:pPr>
            <a:r>
              <a:rPr lang="en-US" sz="1200" dirty="0">
                <a:solidFill>
                  <a:srgbClr val="5B6677"/>
                </a:solidFill>
                <a:latin typeface="Noto Sans SC" pitchFamily="34" charset="0"/>
                <a:ea typeface="Noto Sans SC" pitchFamily="34" charset="-122"/>
                <a:cs typeface="Noto Sans SC" pitchFamily="34" charset="-120"/>
              </a:rPr>
              <a:t>1. Class reads the passage chorally once more</a:t>
            </a:r>
            <a:endParaRPr lang="en-US" sz="1200" dirty="0"/>
          </a:p>
        </p:txBody>
      </p:sp>
      <p:sp>
        <p:nvSpPr>
          <p:cNvPr id="14" name="Text 12"/>
          <p:cNvSpPr/>
          <p:nvPr/>
        </p:nvSpPr>
        <p:spPr>
          <a:xfrm>
            <a:off x="923776" y="2558951"/>
            <a:ext cx="5628614" cy="457200"/>
          </a:xfrm>
          <a:prstGeom prst="rect">
            <a:avLst/>
          </a:prstGeom>
          <a:noFill/>
          <a:ln/>
        </p:spPr>
        <p:txBody>
          <a:bodyPr wrap="square" lIns="0" tIns="0" rIns="0" bIns="0" rtlCol="0" anchor="t"/>
          <a:lstStyle/>
          <a:p>
            <a:pPr algn="l" indent="0" marL="0">
              <a:lnSpc>
                <a:spcPts val="1800"/>
              </a:lnSpc>
              <a:spcBef>
                <a:spcPts val="1000"/>
              </a:spcBef>
              <a:buNone/>
            </a:pPr>
            <a:r>
              <a:rPr lang="en-US" sz="1200" dirty="0">
                <a:solidFill>
                  <a:srgbClr val="5B6677"/>
                </a:solidFill>
                <a:latin typeface="Noto Sans SC" pitchFamily="34" charset="0"/>
                <a:ea typeface="Noto Sans SC" pitchFamily="34" charset="-122"/>
                <a:cs typeface="Noto Sans SC" pitchFamily="34" charset="-120"/>
              </a:rPr>
              <a:t>2. In pairs, take turns asking and answering the 3 comprehension questions aloud — then swap</a:t>
            </a:r>
            <a:endParaRPr lang="en-US" sz="1200" dirty="0"/>
          </a:p>
        </p:txBody>
      </p:sp>
      <p:sp>
        <p:nvSpPr>
          <p:cNvPr id="15" name="Text 13"/>
          <p:cNvSpPr/>
          <p:nvPr/>
        </p:nvSpPr>
        <p:spPr>
          <a:xfrm>
            <a:off x="923776" y="3143101"/>
            <a:ext cx="5628614" cy="228600"/>
          </a:xfrm>
          <a:prstGeom prst="rect">
            <a:avLst/>
          </a:prstGeom>
          <a:noFill/>
          <a:ln/>
        </p:spPr>
        <p:txBody>
          <a:bodyPr wrap="square" lIns="0" tIns="0" rIns="0" bIns="0" rtlCol="0" anchor="t"/>
          <a:lstStyle/>
          <a:p>
            <a:pPr algn="l" indent="0" marL="0">
              <a:lnSpc>
                <a:spcPts val="1800"/>
              </a:lnSpc>
              <a:spcBef>
                <a:spcPts val="1000"/>
              </a:spcBef>
              <a:buNone/>
            </a:pPr>
            <a:r>
              <a:rPr lang="en-US" sz="1200" dirty="0">
                <a:solidFill>
                  <a:srgbClr val="5B6677"/>
                </a:solidFill>
                <a:latin typeface="Noto Sans SC" pitchFamily="34" charset="0"/>
                <a:ea typeface="Noto Sans SC" pitchFamily="34" charset="-122"/>
                <a:cs typeface="Noto Sans SC" pitchFamily="34" charset="-120"/>
              </a:rPr>
              <a:t>3. Extension: partners add one extra question of their own</a:t>
            </a:r>
            <a:endParaRPr lang="en-US" sz="1200" dirty="0"/>
          </a:p>
        </p:txBody>
      </p:sp>
      <p:sp>
        <p:nvSpPr>
          <p:cNvPr id="16" name="Text 14"/>
          <p:cNvSpPr/>
          <p:nvPr/>
        </p:nvSpPr>
        <p:spPr>
          <a:xfrm>
            <a:off x="6984950" y="1650950"/>
            <a:ext cx="4317950" cy="2793950"/>
          </a:xfrm>
          <a:prstGeom prst="roundRect">
            <a:avLst>
              <a:gd name="adj" fmla="val 4546"/>
            </a:avLst>
          </a:prstGeom>
          <a:solidFill>
            <a:srgbClr val="EDE7D7"/>
          </a:solidFill>
          <a:ln/>
        </p:spPr>
        <p:txBody>
          <a:bodyPr wrap="square" rtlCol="0" anchor="ctr"/>
          <a:lstStyle/>
          <a:p>
            <a:pPr indent="0" marL="0">
              <a:buNone/>
            </a:pPr>
            <a:endParaRPr lang="en-US" dirty="0"/>
          </a:p>
        </p:txBody>
      </p:sp>
      <p:sp>
        <p:nvSpPr>
          <p:cNvPr id="17" name="Text 15"/>
          <p:cNvSpPr/>
          <p:nvPr/>
        </p:nvSpPr>
        <p:spPr>
          <a:xfrm>
            <a:off x="7238851" y="1879550"/>
            <a:ext cx="3886352" cy="161925"/>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QUESTIONS TO ASK</a:t>
            </a:r>
            <a:endParaRPr lang="en-US" sz="900" dirty="0"/>
          </a:p>
        </p:txBody>
      </p:sp>
      <p:sp>
        <p:nvSpPr>
          <p:cNvPr id="18" name="Text 16"/>
          <p:cNvSpPr/>
          <p:nvPr/>
        </p:nvSpPr>
        <p:spPr>
          <a:xfrm>
            <a:off x="7238851" y="2193875"/>
            <a:ext cx="3886352" cy="200025"/>
          </a:xfrm>
          <a:prstGeom prst="rect">
            <a:avLst/>
          </a:prstGeom>
          <a:noFill/>
          <a:ln/>
        </p:spPr>
        <p:txBody>
          <a:bodyPr wrap="square" lIns="0" tIns="0" rIns="0" bIns="0" rtlCol="0" anchor="t"/>
          <a:lstStyle/>
          <a:p>
            <a:pPr algn="l" indent="0" marL="0">
              <a:spcBef>
                <a:spcPts val="1200"/>
              </a:spcBef>
              <a:buNone/>
            </a:pPr>
            <a:r>
              <a:rPr lang="en-US" sz="1100" dirty="0">
                <a:solidFill>
                  <a:srgbClr val="5B6677"/>
                </a:solidFill>
                <a:latin typeface="Noto Serif SC" pitchFamily="34" charset="0"/>
                <a:ea typeface="Noto Serif SC" pitchFamily="34" charset="-122"/>
                <a:cs typeface="Noto Serif SC" pitchFamily="34" charset="-120"/>
              </a:rPr>
              <a:t>Q1 · 欢欢几岁开始跳舞？</a:t>
            </a:r>
            <a:endParaRPr lang="en-US" sz="1100" dirty="0"/>
          </a:p>
        </p:txBody>
      </p:sp>
      <p:sp>
        <p:nvSpPr>
          <p:cNvPr id="19" name="Text 17"/>
          <p:cNvSpPr/>
          <p:nvPr/>
        </p:nvSpPr>
        <p:spPr>
          <a:xfrm>
            <a:off x="7238851" y="2495401"/>
            <a:ext cx="3886352" cy="200025"/>
          </a:xfrm>
          <a:prstGeom prst="rect">
            <a:avLst/>
          </a:prstGeom>
          <a:noFill/>
          <a:ln/>
        </p:spPr>
        <p:txBody>
          <a:bodyPr wrap="square" lIns="0" tIns="0" rIns="0" bIns="0" rtlCol="0" anchor="t"/>
          <a:lstStyle/>
          <a:p>
            <a:pPr algn="l" indent="0" marL="0">
              <a:spcBef>
                <a:spcPts val="800"/>
              </a:spcBef>
              <a:buNone/>
            </a:pPr>
            <a:r>
              <a:rPr lang="en-US" sz="1100" dirty="0">
                <a:solidFill>
                  <a:srgbClr val="5B6677"/>
                </a:solidFill>
                <a:latin typeface="Noto Serif SC" pitchFamily="34" charset="0"/>
                <a:ea typeface="Noto Serif SC" pitchFamily="34" charset="-122"/>
                <a:cs typeface="Noto Serif SC" pitchFamily="34" charset="-120"/>
              </a:rPr>
              <a:t>Q2 · 她每个星期几跳舞？跳几个小时？</a:t>
            </a:r>
            <a:endParaRPr lang="en-US" sz="1100" dirty="0"/>
          </a:p>
        </p:txBody>
      </p:sp>
      <p:sp>
        <p:nvSpPr>
          <p:cNvPr id="20" name="Text 18"/>
          <p:cNvSpPr/>
          <p:nvPr/>
        </p:nvSpPr>
        <p:spPr>
          <a:xfrm>
            <a:off x="7238851" y="2796927"/>
            <a:ext cx="3886352" cy="200025"/>
          </a:xfrm>
          <a:prstGeom prst="rect">
            <a:avLst/>
          </a:prstGeom>
          <a:noFill/>
          <a:ln/>
        </p:spPr>
        <p:txBody>
          <a:bodyPr wrap="square" lIns="0" tIns="0" rIns="0" bIns="0" rtlCol="0" anchor="t"/>
          <a:lstStyle/>
          <a:p>
            <a:pPr algn="l" indent="0" marL="0">
              <a:spcBef>
                <a:spcPts val="800"/>
              </a:spcBef>
              <a:buNone/>
            </a:pPr>
            <a:r>
              <a:rPr lang="en-US" sz="1100" dirty="0">
                <a:solidFill>
                  <a:srgbClr val="5B6677"/>
                </a:solidFill>
                <a:latin typeface="Noto Serif SC" pitchFamily="34" charset="0"/>
                <a:ea typeface="Noto Serif SC" pitchFamily="34" charset="-122"/>
                <a:cs typeface="Noto Serif SC" pitchFamily="34" charset="-120"/>
              </a:rPr>
              <a:t>Q3 · 她几岁开始拉小提琴？她每天拉多久？</a:t>
            </a:r>
            <a:endParaRPr lang="en-US" sz="1100" dirty="0"/>
          </a:p>
        </p:txBody>
      </p:sp>
      <p:sp>
        <p:nvSpPr>
          <p:cNvPr id="21" name="Text 19"/>
          <p:cNvSpPr/>
          <p:nvPr/>
        </p:nvSpPr>
        <p:spPr>
          <a:xfrm>
            <a:off x="634901" y="4648200"/>
            <a:ext cx="3555950" cy="1269950"/>
          </a:xfrm>
          <a:prstGeom prst="roundRect">
            <a:avLst>
              <a:gd name="adj" fmla="val 8000"/>
            </a:avLst>
          </a:prstGeom>
          <a:solidFill>
            <a:srgbClr val="F6F2E8"/>
          </a:solidFill>
          <a:ln/>
        </p:spPr>
        <p:txBody>
          <a:bodyPr wrap="square" rtlCol="0" anchor="ctr"/>
          <a:lstStyle/>
          <a:p>
            <a:pPr indent="0" marL="0">
              <a:buNone/>
            </a:pPr>
            <a:endParaRPr lang="en-US" dirty="0"/>
          </a:p>
        </p:txBody>
      </p:sp>
      <p:sp>
        <p:nvSpPr>
          <p:cNvPr id="22" name="Text 20"/>
          <p:cNvSpPr/>
          <p:nvPr/>
        </p:nvSpPr>
        <p:spPr>
          <a:xfrm>
            <a:off x="812602" y="4775150"/>
            <a:ext cx="3264560" cy="142875"/>
          </a:xfrm>
          <a:prstGeom prst="rect">
            <a:avLst/>
          </a:prstGeom>
          <a:noFill/>
          <a:ln/>
        </p:spPr>
        <p:txBody>
          <a:bodyPr wrap="square" lIns="0" tIns="0" rIns="0" bIns="0" rtlCol="0" anchor="t"/>
          <a:lstStyle/>
          <a:p>
            <a:pPr algn="l" indent="0" marL="0">
              <a:buNone/>
            </a:pPr>
            <a:r>
              <a:rPr lang="en-US" sz="800" b="1" dirty="0">
                <a:solidFill>
                  <a:srgbClr val="3A7D8C"/>
                </a:solidFill>
                <a:latin typeface="Noto Sans SC" pitchFamily="34" charset="0"/>
                <a:ea typeface="Noto Sans SC" pitchFamily="34" charset="-122"/>
                <a:cs typeface="Noto Sans SC" pitchFamily="34" charset="-120"/>
              </a:rPr>
              <a:t>SCAFFOLD</a:t>
            </a:r>
            <a:endParaRPr lang="en-US" sz="800" dirty="0"/>
          </a:p>
        </p:txBody>
      </p:sp>
      <p:sp>
        <p:nvSpPr>
          <p:cNvPr id="23" name="Text 21"/>
          <p:cNvSpPr/>
          <p:nvPr/>
        </p:nvSpPr>
        <p:spPr>
          <a:xfrm>
            <a:off x="812602" y="4968776"/>
            <a:ext cx="3264560" cy="308372"/>
          </a:xfrm>
          <a:prstGeom prst="rect">
            <a:avLst/>
          </a:prstGeom>
          <a:noFill/>
          <a:ln/>
        </p:spPr>
        <p:txBody>
          <a:bodyPr wrap="square" lIns="0" tIns="0" rIns="0" bIns="0" rtlCol="0" anchor="t"/>
          <a:lstStyle/>
          <a:p>
            <a:pPr algn="l" indent="0" marL="0">
              <a:lnSpc>
                <a:spcPts val="1215"/>
              </a:lnSpc>
              <a:spcBef>
                <a:spcPts val="400"/>
              </a:spcBef>
              <a:buNone/>
            </a:pPr>
            <a:r>
              <a:rPr lang="en-US" sz="900" dirty="0">
                <a:solidFill>
                  <a:srgbClr val="5B6677"/>
                </a:solidFill>
                <a:latin typeface="Noto Sans SC" pitchFamily="34" charset="0"/>
                <a:ea typeface="Noto Sans SC" pitchFamily="34" charset="-122"/>
                <a:cs typeface="Noto Sans SC" pitchFamily="34" charset="-120"/>
              </a:rPr>
              <a:t>Questions and answer sentence frames printed alongside the passage; pinyin visible</a:t>
            </a:r>
            <a:endParaRPr lang="en-US" sz="900" dirty="0"/>
          </a:p>
        </p:txBody>
      </p:sp>
      <p:sp>
        <p:nvSpPr>
          <p:cNvPr id="24" name="Text 22"/>
          <p:cNvSpPr/>
          <p:nvPr/>
        </p:nvSpPr>
        <p:spPr>
          <a:xfrm>
            <a:off x="4381500" y="4648200"/>
            <a:ext cx="3555950" cy="1269950"/>
          </a:xfrm>
          <a:prstGeom prst="roundRect">
            <a:avLst>
              <a:gd name="adj" fmla="val 8000"/>
            </a:avLst>
          </a:prstGeom>
          <a:solidFill>
            <a:srgbClr val="F6F2E8"/>
          </a:solidFill>
          <a:ln/>
        </p:spPr>
        <p:txBody>
          <a:bodyPr wrap="square" rtlCol="0" anchor="ctr"/>
          <a:lstStyle/>
          <a:p>
            <a:pPr indent="0" marL="0">
              <a:buNone/>
            </a:pPr>
            <a:endParaRPr lang="en-US" dirty="0"/>
          </a:p>
        </p:txBody>
      </p:sp>
      <p:sp>
        <p:nvSpPr>
          <p:cNvPr id="25" name="Text 23"/>
          <p:cNvSpPr/>
          <p:nvPr/>
        </p:nvSpPr>
        <p:spPr>
          <a:xfrm>
            <a:off x="4559201" y="4775150"/>
            <a:ext cx="3264560" cy="142875"/>
          </a:xfrm>
          <a:prstGeom prst="rect">
            <a:avLst/>
          </a:prstGeom>
          <a:noFill/>
          <a:ln/>
        </p:spPr>
        <p:txBody>
          <a:bodyPr wrap="square" lIns="0" tIns="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EXTENSION</a:t>
            </a:r>
            <a:endParaRPr lang="en-US" sz="800" dirty="0"/>
          </a:p>
        </p:txBody>
      </p:sp>
      <p:sp>
        <p:nvSpPr>
          <p:cNvPr id="26" name="Text 24"/>
          <p:cNvSpPr/>
          <p:nvPr/>
        </p:nvSpPr>
        <p:spPr>
          <a:xfrm>
            <a:off x="4559201" y="4968776"/>
            <a:ext cx="3264560" cy="308372"/>
          </a:xfrm>
          <a:prstGeom prst="rect">
            <a:avLst/>
          </a:prstGeom>
          <a:noFill/>
          <a:ln/>
        </p:spPr>
        <p:txBody>
          <a:bodyPr wrap="square" lIns="0" tIns="0" rIns="0" bIns="0" rtlCol="0" anchor="t"/>
          <a:lstStyle/>
          <a:p>
            <a:pPr algn="l" indent="0" marL="0">
              <a:lnSpc>
                <a:spcPts val="1215"/>
              </a:lnSpc>
              <a:spcBef>
                <a:spcPts val="400"/>
              </a:spcBef>
              <a:buNone/>
            </a:pPr>
            <a:r>
              <a:rPr lang="en-US" sz="900" dirty="0">
                <a:solidFill>
                  <a:srgbClr val="5B6677"/>
                </a:solidFill>
                <a:latin typeface="Noto Sans SC" pitchFamily="34" charset="0"/>
                <a:ea typeface="Noto Sans SC" pitchFamily="34" charset="-122"/>
                <a:cs typeface="Noto Sans SC" pitchFamily="34" charset="-120"/>
              </a:rPr>
              <a:t>Partners add one extra question of their own about the passage</a:t>
            </a:r>
            <a:endParaRPr lang="en-US" sz="900" dirty="0"/>
          </a:p>
        </p:txBody>
      </p:sp>
      <p:sp>
        <p:nvSpPr>
          <p:cNvPr id="27" name="Text 25"/>
          <p:cNvSpPr/>
          <p:nvPr/>
        </p:nvSpPr>
        <p:spPr>
          <a:xfrm>
            <a:off x="8127950" y="4648200"/>
            <a:ext cx="3174950" cy="1269950"/>
          </a:xfrm>
          <a:prstGeom prst="roundRect">
            <a:avLst>
              <a:gd name="adj" fmla="val 8000"/>
            </a:avLst>
          </a:prstGeom>
          <a:solidFill>
            <a:srgbClr val="F6F2E8"/>
          </a:solidFill>
          <a:ln/>
        </p:spPr>
        <p:txBody>
          <a:bodyPr wrap="square" rtlCol="0" anchor="ctr"/>
          <a:lstStyle/>
          <a:p>
            <a:pPr indent="0" marL="0">
              <a:buNone/>
            </a:pPr>
            <a:endParaRPr lang="en-US" dirty="0"/>
          </a:p>
        </p:txBody>
      </p:sp>
      <p:sp>
        <p:nvSpPr>
          <p:cNvPr id="28" name="Text 26"/>
          <p:cNvSpPr/>
          <p:nvPr/>
        </p:nvSpPr>
        <p:spPr>
          <a:xfrm>
            <a:off x="8305651" y="4775150"/>
            <a:ext cx="2875940" cy="142875"/>
          </a:xfrm>
          <a:prstGeom prst="rect">
            <a:avLst/>
          </a:prstGeom>
          <a:noFill/>
          <a:ln/>
        </p:spPr>
        <p:txBody>
          <a:bodyPr wrap="square" lIns="0" tIns="0" rIns="0" bIns="0" rtlCol="0" anchor="t"/>
          <a:lstStyle/>
          <a:p>
            <a:pPr algn="l" indent="0" marL="0">
              <a:buNone/>
            </a:pPr>
            <a:r>
              <a:rPr lang="en-US" sz="800" b="1" dirty="0">
                <a:solidFill>
                  <a:srgbClr val="D4756B"/>
                </a:solidFill>
                <a:latin typeface="Noto Sans SC" pitchFamily="34" charset="0"/>
                <a:ea typeface="Noto Sans SC" pitchFamily="34" charset="-122"/>
                <a:cs typeface="Noto Sans SC" pitchFamily="34" charset="-120"/>
              </a:rPr>
              <a:t>OTR</a:t>
            </a:r>
            <a:endParaRPr lang="en-US" sz="800" dirty="0"/>
          </a:p>
        </p:txBody>
      </p:sp>
      <p:sp>
        <p:nvSpPr>
          <p:cNvPr id="29" name="Text 27"/>
          <p:cNvSpPr/>
          <p:nvPr/>
        </p:nvSpPr>
        <p:spPr>
          <a:xfrm>
            <a:off x="8305651" y="4968776"/>
            <a:ext cx="2875940" cy="308372"/>
          </a:xfrm>
          <a:prstGeom prst="rect">
            <a:avLst/>
          </a:prstGeom>
          <a:noFill/>
          <a:ln/>
        </p:spPr>
        <p:txBody>
          <a:bodyPr wrap="square" lIns="0" tIns="0" rIns="0" bIns="0" rtlCol="0" anchor="t"/>
          <a:lstStyle/>
          <a:p>
            <a:pPr algn="l" indent="0" marL="0">
              <a:lnSpc>
                <a:spcPts val="1215"/>
              </a:lnSpc>
              <a:spcBef>
                <a:spcPts val="400"/>
              </a:spcBef>
              <a:buNone/>
            </a:pPr>
            <a:r>
              <a:rPr lang="en-US" sz="900" dirty="0">
                <a:solidFill>
                  <a:srgbClr val="5B6677"/>
                </a:solidFill>
                <a:latin typeface="Noto Sans SC" pitchFamily="34" charset="0"/>
                <a:ea typeface="Noto Sans SC" pitchFamily="34" charset="-122"/>
                <a:cs typeface="Noto Sans SC" pitchFamily="34" charset="-120"/>
              </a:rPr>
              <a:t>Turn-and-talk — every student both asks and answers</a:t>
            </a:r>
            <a:endParaRPr lang="en-US" sz="900" dirty="0"/>
          </a:p>
        </p:txBody>
      </p:sp>
      <p:sp>
        <p:nvSpPr>
          <p:cNvPr id="30" name="Shape 28"/>
          <p:cNvSpPr/>
          <p:nvPr/>
        </p:nvSpPr>
        <p:spPr>
          <a:xfrm>
            <a:off x="762000" y="6685062"/>
            <a:ext cx="10668000" cy="0"/>
          </a:xfrm>
          <a:prstGeom prst="line">
            <a:avLst/>
          </a:prstGeom>
          <a:noFill/>
          <a:ln w="9525">
            <a:solidFill>
              <a:srgbClr val="E5DFD0"/>
            </a:solidFill>
            <a:prstDash val="solid"/>
          </a:ln>
        </p:spPr>
      </p:sp>
      <p:sp>
        <p:nvSpPr>
          <p:cNvPr id="31" name="Text 29"/>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Activity 2 · You Do · 28–36 min</a:t>
            </a:r>
            <a:endParaRPr lang="en-US" sz="800" dirty="0"/>
          </a:p>
        </p:txBody>
      </p:sp>
      <p:sp>
        <p:nvSpPr>
          <p:cNvPr id="4" name="Text 2"/>
          <p:cNvSpPr/>
          <p:nvPr/>
        </p:nvSpPr>
        <p:spPr>
          <a:xfrm>
            <a:off x="634901" y="349151"/>
            <a:ext cx="1019919" cy="219075"/>
          </a:xfrm>
          <a:prstGeom prst="roundRect">
            <a:avLst>
              <a:gd name="adj" fmla="val 52174"/>
            </a:avLst>
          </a:prstGeom>
          <a:solidFill>
            <a:srgbClr val="3A7D8C"/>
          </a:solidFill>
          <a:ln/>
        </p:spPr>
        <p:txBody>
          <a:bodyPr wrap="square" rtlCol="0" anchor="ctr"/>
          <a:lstStyle/>
          <a:p>
            <a:pPr indent="0" marL="0">
              <a:buNone/>
            </a:pPr>
            <a:endParaRPr lang="en-US" dirty="0"/>
          </a:p>
        </p:txBody>
      </p:sp>
      <p:sp>
        <p:nvSpPr>
          <p:cNvPr id="5" name="Text 3"/>
          <p:cNvSpPr/>
          <p:nvPr/>
        </p:nvSpPr>
        <p:spPr>
          <a:xfrm>
            <a:off x="787301" y="387251"/>
            <a:ext cx="729422" cy="142875"/>
          </a:xfrm>
          <a:prstGeom prst="rect">
            <a:avLst/>
          </a:prstGeom>
          <a:noFill/>
          <a:ln/>
        </p:spPr>
        <p:txBody>
          <a:bodyPr wrap="square" lIns="0" tIns="0" rIns="0" bIns="0" rtlCol="0" anchor="t"/>
          <a:lstStyle/>
          <a:p>
            <a:pPr algn="l" indent="0" marL="0">
              <a:buNone/>
            </a:pPr>
            <a:r>
              <a:rPr lang="en-US" sz="800" b="1" dirty="0">
                <a:solidFill>
                  <a:srgbClr val="FFFFFF"/>
                </a:solidFill>
                <a:latin typeface="Noto Sans SC" pitchFamily="34" charset="0"/>
                <a:ea typeface="Noto Sans SC" pitchFamily="34" charset="-122"/>
                <a:cs typeface="Noto Sans SC" pitchFamily="34" charset="-120"/>
              </a:rPr>
              <a:t>ACTIVITY 2</a:t>
            </a:r>
            <a:endParaRPr lang="en-US" sz="800" dirty="0"/>
          </a:p>
        </p:txBody>
      </p:sp>
      <p:sp>
        <p:nvSpPr>
          <p:cNvPr id="6" name="Text 4"/>
          <p:cNvSpPr/>
          <p:nvPr/>
        </p:nvSpPr>
        <p:spPr>
          <a:xfrm>
            <a:off x="634901" y="631627"/>
            <a:ext cx="11140642" cy="352425"/>
          </a:xfrm>
          <a:prstGeom prst="rect">
            <a:avLst/>
          </a:prstGeom>
          <a:noFill/>
          <a:ln/>
        </p:spPr>
        <p:txBody>
          <a:bodyPr wrap="square" lIns="0" tIns="0" rIns="0" bIns="0" rtlCol="0" anchor="t"/>
          <a:lstStyle/>
          <a:p>
            <a:pPr algn="l" indent="0" marL="0">
              <a:spcBef>
                <a:spcPts val="500"/>
              </a:spcBef>
              <a:buNone/>
            </a:pPr>
            <a:r>
              <a:rPr lang="en-US" sz="2000" b="1" dirty="0">
                <a:solidFill>
                  <a:srgbClr val="1E2A38"/>
                </a:solidFill>
                <a:latin typeface="Noto Serif SC" pitchFamily="34" charset="0"/>
                <a:ea typeface="Noto Serif SC" pitchFamily="34" charset="-122"/>
                <a:cs typeface="Noto Serif SC" pitchFamily="34" charset="-120"/>
              </a:rPr>
              <a:t>9 图 正在 · Picture Writing</a:t>
            </a:r>
            <a:endParaRPr lang="en-US" sz="2000" dirty="0"/>
          </a:p>
        </p:txBody>
      </p:sp>
      <p:sp>
        <p:nvSpPr>
          <p:cNvPr id="7" name="Text 5"/>
          <p:cNvSpPr/>
          <p:nvPr/>
        </p:nvSpPr>
        <p:spPr>
          <a:xfrm>
            <a:off x="634901" y="1047452"/>
            <a:ext cx="726877" cy="247650"/>
          </a:xfrm>
          <a:prstGeom prst="roundRect">
            <a:avLst>
              <a:gd name="adj" fmla="val 46154"/>
            </a:avLst>
          </a:prstGeom>
          <a:solidFill>
            <a:srgbClr val="F5EBDA"/>
          </a:solidFill>
          <a:ln w="9525">
            <a:solidFill>
              <a:srgbClr val="C8943E"/>
            </a:solidFill>
          </a:ln>
        </p:spPr>
        <p:txBody>
          <a:bodyPr wrap="square" rtlCol="0" anchor="ctr"/>
          <a:lstStyle/>
          <a:p>
            <a:pPr indent="0" marL="0">
              <a:buNone/>
            </a:pPr>
            <a:endParaRPr lang="en-US" dirty="0"/>
          </a:p>
        </p:txBody>
      </p:sp>
      <p:sp>
        <p:nvSpPr>
          <p:cNvPr id="8" name="Text 6"/>
          <p:cNvSpPr/>
          <p:nvPr/>
        </p:nvSpPr>
        <p:spPr>
          <a:xfrm>
            <a:off x="796826" y="1095077"/>
            <a:ext cx="411087" cy="152400"/>
          </a:xfrm>
          <a:prstGeom prst="rect">
            <a:avLst/>
          </a:prstGeom>
          <a:noFill/>
          <a:ln/>
        </p:spPr>
        <p:txBody>
          <a:bodyPr wrap="square" lIns="0" tIns="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 8 min</a:t>
            </a:r>
            <a:endParaRPr lang="en-US" sz="800" dirty="0"/>
          </a:p>
        </p:txBody>
      </p:sp>
      <p:sp>
        <p:nvSpPr>
          <p:cNvPr id="9" name="Text 7"/>
          <p:cNvSpPr/>
          <p:nvPr/>
        </p:nvSpPr>
        <p:spPr>
          <a:xfrm>
            <a:off x="1517154" y="1056977"/>
            <a:ext cx="732383" cy="219075"/>
          </a:xfrm>
          <a:prstGeom prst="roundRect">
            <a:avLst>
              <a:gd name="adj" fmla="val 52174"/>
            </a:avLst>
          </a:prstGeom>
          <a:solidFill>
            <a:srgbClr val="FBEDEB"/>
          </a:solidFill>
          <a:ln/>
        </p:spPr>
        <p:txBody>
          <a:bodyPr wrap="square" rtlCol="0" anchor="ctr"/>
          <a:lstStyle/>
          <a:p>
            <a:pPr indent="0" marL="0">
              <a:buNone/>
            </a:pPr>
            <a:endParaRPr lang="en-US" dirty="0"/>
          </a:p>
        </p:txBody>
      </p:sp>
      <p:sp>
        <p:nvSpPr>
          <p:cNvPr id="10" name="Text 8"/>
          <p:cNvSpPr/>
          <p:nvPr/>
        </p:nvSpPr>
        <p:spPr>
          <a:xfrm>
            <a:off x="1669554" y="1095077"/>
            <a:ext cx="436135" cy="142875"/>
          </a:xfrm>
          <a:prstGeom prst="rect">
            <a:avLst/>
          </a:prstGeom>
          <a:noFill/>
          <a:ln/>
        </p:spPr>
        <p:txBody>
          <a:bodyPr wrap="square" lIns="0" tIns="0" rIns="0" bIns="0" rtlCol="0" anchor="t"/>
          <a:lstStyle/>
          <a:p>
            <a:pPr algn="l" indent="0" marL="0">
              <a:buNone/>
            </a:pPr>
            <a:r>
              <a:rPr lang="en-US" sz="800" b="1" dirty="0">
                <a:solidFill>
                  <a:srgbClr val="D4756B"/>
                </a:solidFill>
                <a:latin typeface="Noto Sans SC" pitchFamily="34" charset="0"/>
                <a:ea typeface="Noto Sans SC" pitchFamily="34" charset="-122"/>
                <a:cs typeface="Noto Sans SC" pitchFamily="34" charset="-120"/>
              </a:rPr>
              <a:t>YOU DO</a:t>
            </a:r>
            <a:endParaRPr lang="en-US" sz="800" dirty="0"/>
          </a:p>
        </p:txBody>
      </p:sp>
      <p:sp>
        <p:nvSpPr>
          <p:cNvPr id="11" name="Text 9"/>
          <p:cNvSpPr/>
          <p:nvPr/>
        </p:nvSpPr>
        <p:spPr>
          <a:xfrm>
            <a:off x="634901" y="1219200"/>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12" name="Text 10"/>
          <p:cNvSpPr/>
          <p:nvPr/>
        </p:nvSpPr>
        <p:spPr>
          <a:xfrm>
            <a:off x="625566" y="1228725"/>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1 · 跳舞</a:t>
            </a:r>
            <a:endParaRPr lang="en-US" sz="1200" dirty="0"/>
          </a:p>
        </p:txBody>
      </p:sp>
      <p:sp>
        <p:nvSpPr>
          <p:cNvPr id="13" name="Text 11"/>
          <p:cNvSpPr/>
          <p:nvPr/>
        </p:nvSpPr>
        <p:spPr>
          <a:xfrm>
            <a:off x="625566" y="1514475"/>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dancing</a:t>
            </a:r>
            <a:endParaRPr lang="en-US" sz="700" dirty="0"/>
          </a:p>
        </p:txBody>
      </p:sp>
      <p:sp>
        <p:nvSpPr>
          <p:cNvPr id="14" name="Text 12"/>
          <p:cNvSpPr/>
          <p:nvPr/>
        </p:nvSpPr>
        <p:spPr>
          <a:xfrm>
            <a:off x="2616101" y="1219200"/>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15" name="Text 13"/>
          <p:cNvSpPr/>
          <p:nvPr/>
        </p:nvSpPr>
        <p:spPr>
          <a:xfrm>
            <a:off x="2606766" y="1228725"/>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2 · 拉小提琴</a:t>
            </a:r>
            <a:endParaRPr lang="en-US" sz="1200" dirty="0"/>
          </a:p>
        </p:txBody>
      </p:sp>
      <p:sp>
        <p:nvSpPr>
          <p:cNvPr id="16" name="Text 14"/>
          <p:cNvSpPr/>
          <p:nvPr/>
        </p:nvSpPr>
        <p:spPr>
          <a:xfrm>
            <a:off x="2606766" y="1514475"/>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playing violin</a:t>
            </a:r>
            <a:endParaRPr lang="en-US" sz="700" dirty="0"/>
          </a:p>
        </p:txBody>
      </p:sp>
      <p:sp>
        <p:nvSpPr>
          <p:cNvPr id="17" name="Text 15"/>
          <p:cNvSpPr/>
          <p:nvPr/>
        </p:nvSpPr>
        <p:spPr>
          <a:xfrm>
            <a:off x="4597301" y="1219200"/>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18" name="Text 16"/>
          <p:cNvSpPr/>
          <p:nvPr/>
        </p:nvSpPr>
        <p:spPr>
          <a:xfrm>
            <a:off x="4587966" y="1228725"/>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3 · 弹钢琴</a:t>
            </a:r>
            <a:endParaRPr lang="en-US" sz="1200" dirty="0"/>
          </a:p>
        </p:txBody>
      </p:sp>
      <p:sp>
        <p:nvSpPr>
          <p:cNvPr id="19" name="Text 17"/>
          <p:cNvSpPr/>
          <p:nvPr/>
        </p:nvSpPr>
        <p:spPr>
          <a:xfrm>
            <a:off x="4587966" y="1514475"/>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playing piano</a:t>
            </a:r>
            <a:endParaRPr lang="en-US" sz="700" dirty="0"/>
          </a:p>
        </p:txBody>
      </p:sp>
      <p:sp>
        <p:nvSpPr>
          <p:cNvPr id="20" name="Text 18"/>
          <p:cNvSpPr/>
          <p:nvPr/>
        </p:nvSpPr>
        <p:spPr>
          <a:xfrm>
            <a:off x="634901" y="1803350"/>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21" name="Text 19"/>
          <p:cNvSpPr/>
          <p:nvPr/>
        </p:nvSpPr>
        <p:spPr>
          <a:xfrm>
            <a:off x="625566" y="1812875"/>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4 · 唱歌</a:t>
            </a:r>
            <a:endParaRPr lang="en-US" sz="1200" dirty="0"/>
          </a:p>
        </p:txBody>
      </p:sp>
      <p:sp>
        <p:nvSpPr>
          <p:cNvPr id="22" name="Text 20"/>
          <p:cNvSpPr/>
          <p:nvPr/>
        </p:nvSpPr>
        <p:spPr>
          <a:xfrm>
            <a:off x="625566" y="2098625"/>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singing</a:t>
            </a:r>
            <a:endParaRPr lang="en-US" sz="700" dirty="0"/>
          </a:p>
        </p:txBody>
      </p:sp>
      <p:sp>
        <p:nvSpPr>
          <p:cNvPr id="23" name="Text 21"/>
          <p:cNvSpPr/>
          <p:nvPr/>
        </p:nvSpPr>
        <p:spPr>
          <a:xfrm>
            <a:off x="2616101" y="1803350"/>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24" name="Text 22"/>
          <p:cNvSpPr/>
          <p:nvPr/>
        </p:nvSpPr>
        <p:spPr>
          <a:xfrm>
            <a:off x="2606766" y="1812875"/>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5 · 听音乐</a:t>
            </a:r>
            <a:endParaRPr lang="en-US" sz="1200" dirty="0"/>
          </a:p>
        </p:txBody>
      </p:sp>
      <p:sp>
        <p:nvSpPr>
          <p:cNvPr id="25" name="Text 23"/>
          <p:cNvSpPr/>
          <p:nvPr/>
        </p:nvSpPr>
        <p:spPr>
          <a:xfrm>
            <a:off x="2606766" y="2098625"/>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listening to music</a:t>
            </a:r>
            <a:endParaRPr lang="en-US" sz="700" dirty="0"/>
          </a:p>
        </p:txBody>
      </p:sp>
      <p:sp>
        <p:nvSpPr>
          <p:cNvPr id="26" name="Text 24"/>
          <p:cNvSpPr/>
          <p:nvPr/>
        </p:nvSpPr>
        <p:spPr>
          <a:xfrm>
            <a:off x="4597301" y="1803350"/>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27" name="Text 25"/>
          <p:cNvSpPr/>
          <p:nvPr/>
        </p:nvSpPr>
        <p:spPr>
          <a:xfrm>
            <a:off x="4587966" y="1812875"/>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6 · 跑步</a:t>
            </a:r>
            <a:endParaRPr lang="en-US" sz="1200" dirty="0"/>
          </a:p>
        </p:txBody>
      </p:sp>
      <p:sp>
        <p:nvSpPr>
          <p:cNvPr id="28" name="Text 26"/>
          <p:cNvSpPr/>
          <p:nvPr/>
        </p:nvSpPr>
        <p:spPr>
          <a:xfrm>
            <a:off x="4587966" y="2098625"/>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running</a:t>
            </a:r>
            <a:endParaRPr lang="en-US" sz="700" dirty="0"/>
          </a:p>
        </p:txBody>
      </p:sp>
      <p:sp>
        <p:nvSpPr>
          <p:cNvPr id="29" name="Text 27"/>
          <p:cNvSpPr/>
          <p:nvPr/>
        </p:nvSpPr>
        <p:spPr>
          <a:xfrm>
            <a:off x="634901" y="2387501"/>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30" name="Text 28"/>
          <p:cNvSpPr/>
          <p:nvPr/>
        </p:nvSpPr>
        <p:spPr>
          <a:xfrm>
            <a:off x="625566" y="2397026"/>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7 · 游泳</a:t>
            </a:r>
            <a:endParaRPr lang="en-US" sz="1200" dirty="0"/>
          </a:p>
        </p:txBody>
      </p:sp>
      <p:sp>
        <p:nvSpPr>
          <p:cNvPr id="31" name="Text 29"/>
          <p:cNvSpPr/>
          <p:nvPr/>
        </p:nvSpPr>
        <p:spPr>
          <a:xfrm>
            <a:off x="625566" y="2682776"/>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swimming</a:t>
            </a:r>
            <a:endParaRPr lang="en-US" sz="700" dirty="0"/>
          </a:p>
        </p:txBody>
      </p:sp>
      <p:sp>
        <p:nvSpPr>
          <p:cNvPr id="32" name="Text 30"/>
          <p:cNvSpPr/>
          <p:nvPr/>
        </p:nvSpPr>
        <p:spPr>
          <a:xfrm>
            <a:off x="2616101" y="2387501"/>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33" name="Text 31"/>
          <p:cNvSpPr/>
          <p:nvPr/>
        </p:nvSpPr>
        <p:spPr>
          <a:xfrm>
            <a:off x="2606766" y="2397026"/>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8 · 打网球</a:t>
            </a:r>
            <a:endParaRPr lang="en-US" sz="1200" dirty="0"/>
          </a:p>
        </p:txBody>
      </p:sp>
      <p:sp>
        <p:nvSpPr>
          <p:cNvPr id="34" name="Text 32"/>
          <p:cNvSpPr/>
          <p:nvPr/>
        </p:nvSpPr>
        <p:spPr>
          <a:xfrm>
            <a:off x="2606766" y="2682776"/>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playing tennis</a:t>
            </a:r>
            <a:endParaRPr lang="en-US" sz="700" dirty="0"/>
          </a:p>
        </p:txBody>
      </p:sp>
      <p:sp>
        <p:nvSpPr>
          <p:cNvPr id="35" name="Text 33"/>
          <p:cNvSpPr/>
          <p:nvPr/>
        </p:nvSpPr>
        <p:spPr>
          <a:xfrm>
            <a:off x="4597301" y="2387501"/>
            <a:ext cx="1905000" cy="507950"/>
          </a:xfrm>
          <a:prstGeom prst="roundRect">
            <a:avLst>
              <a:gd name="adj" fmla="val 15001"/>
            </a:avLst>
          </a:prstGeom>
          <a:solidFill>
            <a:srgbClr val="F6F2E8"/>
          </a:solidFill>
          <a:ln w="9525">
            <a:solidFill>
              <a:srgbClr val="E5DFD0"/>
            </a:solidFill>
          </a:ln>
        </p:spPr>
        <p:txBody>
          <a:bodyPr wrap="square" rtlCol="0" anchor="ctr"/>
          <a:lstStyle/>
          <a:p>
            <a:pPr indent="0" marL="0">
              <a:buNone/>
            </a:pPr>
            <a:endParaRPr lang="en-US" dirty="0"/>
          </a:p>
        </p:txBody>
      </p:sp>
      <p:sp>
        <p:nvSpPr>
          <p:cNvPr id="36" name="Text 34"/>
          <p:cNvSpPr/>
          <p:nvPr/>
        </p:nvSpPr>
        <p:spPr>
          <a:xfrm>
            <a:off x="4587966" y="2397026"/>
            <a:ext cx="1923669" cy="285750"/>
          </a:xfrm>
          <a:prstGeom prst="rect">
            <a:avLst/>
          </a:prstGeom>
          <a:noFill/>
          <a:ln/>
        </p:spPr>
        <p:txBody>
          <a:bodyPr wrap="square" lIns="0" tIns="762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9 · 读书</a:t>
            </a:r>
            <a:endParaRPr lang="en-US" sz="1200" dirty="0"/>
          </a:p>
        </p:txBody>
      </p:sp>
      <p:sp>
        <p:nvSpPr>
          <p:cNvPr id="37" name="Text 35"/>
          <p:cNvSpPr/>
          <p:nvPr/>
        </p:nvSpPr>
        <p:spPr>
          <a:xfrm>
            <a:off x="4587966" y="2682776"/>
            <a:ext cx="1923669" cy="123825"/>
          </a:xfrm>
          <a:prstGeom prst="rect">
            <a:avLst/>
          </a:prstGeom>
          <a:noFill/>
          <a:ln/>
        </p:spPr>
        <p:txBody>
          <a:bodyPr wrap="square" lIns="0" tIns="0" rIns="0" bIns="0" rtlCol="0" anchor="t"/>
          <a:lstStyle/>
          <a:p>
            <a:pPr algn="ctr" indent="0" marL="0">
              <a:buNone/>
            </a:pPr>
            <a:r>
              <a:rPr lang="en-US" sz="700" dirty="0">
                <a:solidFill>
                  <a:srgbClr val="8B94A3"/>
                </a:solidFill>
                <a:latin typeface="Noto Sans SC" pitchFamily="34" charset="0"/>
                <a:ea typeface="Noto Sans SC" pitchFamily="34" charset="-122"/>
                <a:cs typeface="Noto Sans SC" pitchFamily="34" charset="-120"/>
              </a:rPr>
              <a:t>reading</a:t>
            </a:r>
            <a:endParaRPr lang="en-US" sz="700" dirty="0"/>
          </a:p>
        </p:txBody>
      </p:sp>
      <p:sp>
        <p:nvSpPr>
          <p:cNvPr id="38" name="Text 36"/>
          <p:cNvSpPr/>
          <p:nvPr/>
        </p:nvSpPr>
        <p:spPr>
          <a:xfrm>
            <a:off x="6858000" y="1219200"/>
            <a:ext cx="4698950" cy="2184350"/>
          </a:xfrm>
          <a:prstGeom prst="roundRect">
            <a:avLst>
              <a:gd name="adj" fmla="val 5814"/>
            </a:avLst>
          </a:prstGeom>
          <a:solidFill>
            <a:srgbClr val="F6F2E8"/>
          </a:solidFill>
          <a:ln w="9525">
            <a:solidFill>
              <a:srgbClr val="E5DFD0"/>
            </a:solidFill>
          </a:ln>
        </p:spPr>
        <p:txBody>
          <a:bodyPr wrap="square" rtlCol="0" anchor="ctr"/>
          <a:lstStyle/>
          <a:p>
            <a:pPr indent="0" marL="0">
              <a:buNone/>
            </a:pPr>
            <a:endParaRPr lang="en-US" dirty="0"/>
          </a:p>
        </p:txBody>
      </p:sp>
      <p:sp>
        <p:nvSpPr>
          <p:cNvPr id="39" name="Text 37"/>
          <p:cNvSpPr/>
          <p:nvPr/>
        </p:nvSpPr>
        <p:spPr>
          <a:xfrm>
            <a:off x="7096125" y="1406426"/>
            <a:ext cx="4307154" cy="142875"/>
          </a:xfrm>
          <a:prstGeom prst="rect">
            <a:avLst/>
          </a:prstGeom>
          <a:noFill/>
          <a:ln/>
        </p:spPr>
        <p:txBody>
          <a:bodyPr wrap="square" lIns="0" tIns="0" rIns="0" bIns="0" rtlCol="0" anchor="t"/>
          <a:lstStyle/>
          <a:p>
            <a:pPr algn="l" indent="0" marL="0">
              <a:buNone/>
            </a:pPr>
            <a:r>
              <a:rPr lang="en-US" sz="800" b="1" dirty="0">
                <a:solidFill>
                  <a:srgbClr val="3A7D8C"/>
                </a:solidFill>
                <a:latin typeface="Noto Sans SC" pitchFamily="34" charset="0"/>
                <a:ea typeface="Noto Sans SC" pitchFamily="34" charset="-122"/>
                <a:cs typeface="Noto Sans SC" pitchFamily="34" charset="-120"/>
              </a:rPr>
              <a:t>INSTRUCTIONS</a:t>
            </a:r>
            <a:endParaRPr lang="en-US" sz="800" dirty="0"/>
          </a:p>
        </p:txBody>
      </p:sp>
      <p:sp>
        <p:nvSpPr>
          <p:cNvPr id="40" name="Text 38"/>
          <p:cNvSpPr/>
          <p:nvPr/>
        </p:nvSpPr>
        <p:spPr>
          <a:xfrm>
            <a:off x="7096125" y="1650802"/>
            <a:ext cx="4307154" cy="177701"/>
          </a:xfrm>
          <a:prstGeom prst="rect">
            <a:avLst/>
          </a:prstGeom>
          <a:noFill/>
          <a:ln/>
        </p:spPr>
        <p:txBody>
          <a:bodyPr wrap="square" lIns="0" tIns="0" rIns="0" bIns="0" rtlCol="0" anchor="t"/>
          <a:lstStyle/>
          <a:p>
            <a:pPr algn="l" indent="0" marL="0">
              <a:lnSpc>
                <a:spcPts val="1400"/>
              </a:lnSpc>
              <a:spcBef>
                <a:spcPts val="800"/>
              </a:spcBef>
              <a:buNone/>
            </a:pPr>
            <a:r>
              <a:rPr lang="en-US" sz="1000" dirty="0">
                <a:solidFill>
                  <a:srgbClr val="5B6677"/>
                </a:solidFill>
                <a:latin typeface="Noto Sans SC" pitchFamily="34" charset="0"/>
                <a:ea typeface="Noto Sans SC" pitchFamily="34" charset="-122"/>
                <a:cs typeface="Noto Sans SC" pitchFamily="34" charset="-120"/>
              </a:rPr>
              <a:t>1. For each of the 9 pictures, write a 正在 sentence in your books</a:t>
            </a:r>
            <a:endParaRPr lang="en-US" sz="1000" dirty="0"/>
          </a:p>
        </p:txBody>
      </p:sp>
      <p:sp>
        <p:nvSpPr>
          <p:cNvPr id="41" name="Text 39"/>
          <p:cNvSpPr/>
          <p:nvPr/>
        </p:nvSpPr>
        <p:spPr>
          <a:xfrm>
            <a:off x="7096125" y="1904702"/>
            <a:ext cx="4307154" cy="177701"/>
          </a:xfrm>
          <a:prstGeom prst="rect">
            <a:avLst/>
          </a:prstGeom>
          <a:noFill/>
          <a:ln/>
        </p:spPr>
        <p:txBody>
          <a:bodyPr wrap="square" lIns="0" tIns="0" rIns="0" bIns="0" rtlCol="0" anchor="t"/>
          <a:lstStyle/>
          <a:p>
            <a:pPr algn="l" indent="0" marL="0">
              <a:lnSpc>
                <a:spcPts val="1400"/>
              </a:lnSpc>
              <a:spcBef>
                <a:spcPts val="600"/>
              </a:spcBef>
              <a:buNone/>
            </a:pPr>
            <a:r>
              <a:rPr lang="en-US" sz="1000" dirty="0">
                <a:solidFill>
                  <a:srgbClr val="5B6677"/>
                </a:solidFill>
                <a:latin typeface="Noto Sans SC" pitchFamily="34" charset="0"/>
                <a:ea typeface="Noto Sans SC" pitchFamily="34" charset="-122"/>
                <a:cs typeface="Noto Sans SC" pitchFamily="34" charset="-120"/>
              </a:rPr>
              <a:t>2. Extension: add a time/duration detail to 3 of the 9 sentences</a:t>
            </a:r>
            <a:endParaRPr lang="en-US" sz="1000" dirty="0"/>
          </a:p>
        </p:txBody>
      </p:sp>
      <p:sp>
        <p:nvSpPr>
          <p:cNvPr id="42" name="Text 40"/>
          <p:cNvSpPr/>
          <p:nvPr/>
        </p:nvSpPr>
        <p:spPr>
          <a:xfrm>
            <a:off x="7096125" y="2158603"/>
            <a:ext cx="4307154" cy="177701"/>
          </a:xfrm>
          <a:prstGeom prst="rect">
            <a:avLst/>
          </a:prstGeom>
          <a:noFill/>
          <a:ln/>
        </p:spPr>
        <p:txBody>
          <a:bodyPr wrap="square" lIns="0" tIns="0" rIns="0" bIns="0" rtlCol="0" anchor="t"/>
          <a:lstStyle/>
          <a:p>
            <a:pPr algn="l" indent="0" marL="0">
              <a:lnSpc>
                <a:spcPts val="1400"/>
              </a:lnSpc>
              <a:spcBef>
                <a:spcPts val="600"/>
              </a:spcBef>
              <a:buNone/>
            </a:pPr>
            <a:r>
              <a:rPr lang="en-US" sz="1000" dirty="0">
                <a:solidFill>
                  <a:srgbClr val="5B6677"/>
                </a:solidFill>
                <a:latin typeface="Noto Sans SC" pitchFamily="34" charset="0"/>
                <a:ea typeface="Noto Sans SC" pitchFamily="34" charset="-122"/>
                <a:cs typeface="Noto Sans SC" pitchFamily="34" charset="-120"/>
              </a:rPr>
              <a:t>3. Cold call: be ready to share one sentence before the game</a:t>
            </a:r>
            <a:endParaRPr lang="en-US" sz="1000" dirty="0"/>
          </a:p>
        </p:txBody>
      </p:sp>
      <p:sp>
        <p:nvSpPr>
          <p:cNvPr id="43" name="Text 41"/>
          <p:cNvSpPr/>
          <p:nvPr/>
        </p:nvSpPr>
        <p:spPr>
          <a:xfrm>
            <a:off x="7096125" y="2828925"/>
            <a:ext cx="4241750" cy="381000"/>
          </a:xfrm>
          <a:prstGeom prst="rect">
            <a:avLst/>
          </a:prstGeom>
          <a:solidFill>
            <a:srgbClr val="EDE7D7"/>
          </a:solidFill>
          <a:ln/>
        </p:spPr>
        <p:txBody>
          <a:bodyPr wrap="square" rtlCol="0" anchor="ctr"/>
          <a:lstStyle/>
          <a:p>
            <a:pPr indent="0" marL="0">
              <a:buNone/>
            </a:pPr>
            <a:endParaRPr lang="en-US" dirty="0"/>
          </a:p>
        </p:txBody>
      </p:sp>
      <p:sp>
        <p:nvSpPr>
          <p:cNvPr id="44" name="Shape 42"/>
          <p:cNvSpPr/>
          <p:nvPr/>
        </p:nvSpPr>
        <p:spPr>
          <a:xfrm>
            <a:off x="7115175" y="2828925"/>
            <a:ext cx="0" cy="381000"/>
          </a:xfrm>
          <a:prstGeom prst="line">
            <a:avLst/>
          </a:prstGeom>
          <a:noFill/>
          <a:ln w="38100">
            <a:solidFill>
              <a:srgbClr val="C8943E"/>
            </a:solidFill>
            <a:prstDash val="solid"/>
          </a:ln>
        </p:spPr>
      </p:sp>
      <p:sp>
        <p:nvSpPr>
          <p:cNvPr id="45" name="Text 43"/>
          <p:cNvSpPr/>
          <p:nvPr/>
        </p:nvSpPr>
        <p:spPr>
          <a:xfrm>
            <a:off x="7261175" y="2905125"/>
            <a:ext cx="4028745" cy="200025"/>
          </a:xfrm>
          <a:prstGeom prst="rect">
            <a:avLst/>
          </a:prstGeom>
          <a:noFill/>
          <a:ln/>
        </p:spPr>
        <p:txBody>
          <a:bodyPr wrap="square" lIns="0" tIns="0" rIns="0" bIns="0" rtlCol="0" anchor="t"/>
          <a:lstStyle/>
          <a:p>
            <a:pPr algn="l" indent="0" marL="0">
              <a:buNone/>
            </a:pPr>
            <a:r>
              <a:rPr lang="en-US" sz="1100" b="1" dirty="0">
                <a:solidFill>
                  <a:srgbClr val="1E2A38"/>
                </a:solidFill>
                <a:latin typeface="Noto Serif SC" pitchFamily="34" charset="0"/>
                <a:ea typeface="Noto Serif SC" pitchFamily="34" charset="-122"/>
                <a:cs typeface="Noto Serif SC" pitchFamily="34" charset="-120"/>
              </a:rPr>
              <a:t>她正在跳舞，她每个星期跳两次。</a:t>
            </a:r>
            <a:endParaRPr lang="en-US" sz="1100" dirty="0"/>
          </a:p>
        </p:txBody>
      </p:sp>
      <p:sp>
        <p:nvSpPr>
          <p:cNvPr id="46" name="Text 44"/>
          <p:cNvSpPr/>
          <p:nvPr/>
        </p:nvSpPr>
        <p:spPr>
          <a:xfrm>
            <a:off x="634901" y="3124200"/>
            <a:ext cx="3555950" cy="990600"/>
          </a:xfrm>
          <a:prstGeom prst="roundRect">
            <a:avLst>
              <a:gd name="adj" fmla="val 10256"/>
            </a:avLst>
          </a:prstGeom>
          <a:solidFill>
            <a:srgbClr val="F6F2E8"/>
          </a:solidFill>
          <a:ln/>
        </p:spPr>
        <p:txBody>
          <a:bodyPr wrap="square" rtlCol="0" anchor="ctr"/>
          <a:lstStyle/>
          <a:p>
            <a:pPr indent="0" marL="0">
              <a:buNone/>
            </a:pPr>
            <a:endParaRPr lang="en-US" dirty="0"/>
          </a:p>
        </p:txBody>
      </p:sp>
      <p:sp>
        <p:nvSpPr>
          <p:cNvPr id="47" name="Text 45"/>
          <p:cNvSpPr/>
          <p:nvPr/>
        </p:nvSpPr>
        <p:spPr>
          <a:xfrm>
            <a:off x="812602" y="3251150"/>
            <a:ext cx="3264560" cy="142875"/>
          </a:xfrm>
          <a:prstGeom prst="rect">
            <a:avLst/>
          </a:prstGeom>
          <a:noFill/>
          <a:ln/>
        </p:spPr>
        <p:txBody>
          <a:bodyPr wrap="square" lIns="0" tIns="0" rIns="0" bIns="0" rtlCol="0" anchor="t"/>
          <a:lstStyle/>
          <a:p>
            <a:pPr algn="l" indent="0" marL="0">
              <a:buNone/>
            </a:pPr>
            <a:r>
              <a:rPr lang="en-US" sz="800" b="1" dirty="0">
                <a:solidFill>
                  <a:srgbClr val="3A7D8C"/>
                </a:solidFill>
                <a:latin typeface="Noto Sans SC" pitchFamily="34" charset="0"/>
                <a:ea typeface="Noto Sans SC" pitchFamily="34" charset="-122"/>
                <a:cs typeface="Noto Sans SC" pitchFamily="34" charset="-120"/>
              </a:rPr>
              <a:t>SCAFFOLD</a:t>
            </a:r>
            <a:endParaRPr lang="en-US" sz="800" dirty="0"/>
          </a:p>
        </p:txBody>
      </p:sp>
      <p:sp>
        <p:nvSpPr>
          <p:cNvPr id="48" name="Text 46"/>
          <p:cNvSpPr/>
          <p:nvPr/>
        </p:nvSpPr>
        <p:spPr>
          <a:xfrm>
            <a:off x="812602" y="3444776"/>
            <a:ext cx="3264560" cy="297061"/>
          </a:xfrm>
          <a:prstGeom prst="rect">
            <a:avLst/>
          </a:prstGeom>
          <a:noFill/>
          <a:ln/>
        </p:spPr>
        <p:txBody>
          <a:bodyPr wrap="square" lIns="0" tIns="0" rIns="0" bIns="0" rtlCol="0" anchor="t"/>
          <a:lstStyle/>
          <a:p>
            <a:pPr algn="l" indent="0" marL="0">
              <a:lnSpc>
                <a:spcPts val="1170"/>
              </a:lnSpc>
              <a:spcBef>
                <a:spcPts val="400"/>
              </a:spcBef>
              <a:buNone/>
            </a:pPr>
            <a:r>
              <a:rPr lang="en-US" sz="900" dirty="0">
                <a:solidFill>
                  <a:srgbClr val="5B6677"/>
                </a:solidFill>
                <a:latin typeface="Noto Sans SC" pitchFamily="34" charset="0"/>
                <a:ea typeface="Noto Sans SC" pitchFamily="34" charset="-122"/>
                <a:cs typeface="Noto Sans SC" pitchFamily="34" charset="-120"/>
              </a:rPr>
              <a:t>Word bank of the 9 activity verbs/phrases provided; pinyin visible</a:t>
            </a:r>
            <a:endParaRPr lang="en-US" sz="900" dirty="0"/>
          </a:p>
        </p:txBody>
      </p:sp>
      <p:sp>
        <p:nvSpPr>
          <p:cNvPr id="49" name="Text 47"/>
          <p:cNvSpPr/>
          <p:nvPr/>
        </p:nvSpPr>
        <p:spPr>
          <a:xfrm>
            <a:off x="4381500" y="3124200"/>
            <a:ext cx="3555950" cy="990600"/>
          </a:xfrm>
          <a:prstGeom prst="roundRect">
            <a:avLst>
              <a:gd name="adj" fmla="val 10256"/>
            </a:avLst>
          </a:prstGeom>
          <a:solidFill>
            <a:srgbClr val="F6F2E8"/>
          </a:solidFill>
          <a:ln/>
        </p:spPr>
        <p:txBody>
          <a:bodyPr wrap="square" rtlCol="0" anchor="ctr"/>
          <a:lstStyle/>
          <a:p>
            <a:pPr indent="0" marL="0">
              <a:buNone/>
            </a:pPr>
            <a:endParaRPr lang="en-US" dirty="0"/>
          </a:p>
        </p:txBody>
      </p:sp>
      <p:sp>
        <p:nvSpPr>
          <p:cNvPr id="50" name="Text 48"/>
          <p:cNvSpPr/>
          <p:nvPr/>
        </p:nvSpPr>
        <p:spPr>
          <a:xfrm>
            <a:off x="4559201" y="3251150"/>
            <a:ext cx="3264560" cy="142875"/>
          </a:xfrm>
          <a:prstGeom prst="rect">
            <a:avLst/>
          </a:prstGeom>
          <a:noFill/>
          <a:ln/>
        </p:spPr>
        <p:txBody>
          <a:bodyPr wrap="square" lIns="0" tIns="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EXTENSION</a:t>
            </a:r>
            <a:endParaRPr lang="en-US" sz="800" dirty="0"/>
          </a:p>
        </p:txBody>
      </p:sp>
      <p:sp>
        <p:nvSpPr>
          <p:cNvPr id="51" name="Text 49"/>
          <p:cNvSpPr/>
          <p:nvPr/>
        </p:nvSpPr>
        <p:spPr>
          <a:xfrm>
            <a:off x="4559201" y="3444776"/>
            <a:ext cx="3264560" cy="148530"/>
          </a:xfrm>
          <a:prstGeom prst="rect">
            <a:avLst/>
          </a:prstGeom>
          <a:noFill/>
          <a:ln/>
        </p:spPr>
        <p:txBody>
          <a:bodyPr wrap="square" lIns="0" tIns="0" rIns="0" bIns="0" rtlCol="0" anchor="t"/>
          <a:lstStyle/>
          <a:p>
            <a:pPr algn="l" indent="0" marL="0">
              <a:lnSpc>
                <a:spcPts val="1170"/>
              </a:lnSpc>
              <a:spcBef>
                <a:spcPts val="400"/>
              </a:spcBef>
              <a:buNone/>
            </a:pPr>
            <a:r>
              <a:rPr lang="en-US" sz="900" dirty="0">
                <a:solidFill>
                  <a:srgbClr val="5B6677"/>
                </a:solidFill>
                <a:latin typeface="Noto Sans SC" pitchFamily="34" charset="0"/>
                <a:ea typeface="Noto Sans SC" pitchFamily="34" charset="-122"/>
                <a:cs typeface="Noto Sans SC" pitchFamily="34" charset="-120"/>
              </a:rPr>
              <a:t>Add a time/duration detail to 3 of the 9 sentences</a:t>
            </a:r>
            <a:endParaRPr lang="en-US" sz="900" dirty="0"/>
          </a:p>
        </p:txBody>
      </p:sp>
      <p:sp>
        <p:nvSpPr>
          <p:cNvPr id="52" name="Text 50"/>
          <p:cNvSpPr/>
          <p:nvPr/>
        </p:nvSpPr>
        <p:spPr>
          <a:xfrm>
            <a:off x="8127950" y="3124200"/>
            <a:ext cx="3174950" cy="990600"/>
          </a:xfrm>
          <a:prstGeom prst="roundRect">
            <a:avLst>
              <a:gd name="adj" fmla="val 10256"/>
            </a:avLst>
          </a:prstGeom>
          <a:solidFill>
            <a:srgbClr val="F6F2E8"/>
          </a:solidFill>
          <a:ln/>
        </p:spPr>
        <p:txBody>
          <a:bodyPr wrap="square" rtlCol="0" anchor="ctr"/>
          <a:lstStyle/>
          <a:p>
            <a:pPr indent="0" marL="0">
              <a:buNone/>
            </a:pPr>
            <a:endParaRPr lang="en-US" dirty="0"/>
          </a:p>
        </p:txBody>
      </p:sp>
      <p:sp>
        <p:nvSpPr>
          <p:cNvPr id="53" name="Text 51"/>
          <p:cNvSpPr/>
          <p:nvPr/>
        </p:nvSpPr>
        <p:spPr>
          <a:xfrm>
            <a:off x="8305651" y="3251150"/>
            <a:ext cx="2875940" cy="142875"/>
          </a:xfrm>
          <a:prstGeom prst="rect">
            <a:avLst/>
          </a:prstGeom>
          <a:noFill/>
          <a:ln/>
        </p:spPr>
        <p:txBody>
          <a:bodyPr wrap="square" lIns="0" tIns="0" rIns="0" bIns="0" rtlCol="0" anchor="t"/>
          <a:lstStyle/>
          <a:p>
            <a:pPr algn="l" indent="0" marL="0">
              <a:buNone/>
            </a:pPr>
            <a:r>
              <a:rPr lang="en-US" sz="800" b="1" dirty="0">
                <a:solidFill>
                  <a:srgbClr val="D4756B"/>
                </a:solidFill>
                <a:latin typeface="Noto Sans SC" pitchFamily="34" charset="0"/>
                <a:ea typeface="Noto Sans SC" pitchFamily="34" charset="-122"/>
                <a:cs typeface="Noto Sans SC" pitchFamily="34" charset="-120"/>
              </a:rPr>
              <a:t>OTR</a:t>
            </a:r>
            <a:endParaRPr lang="en-US" sz="800" dirty="0"/>
          </a:p>
        </p:txBody>
      </p:sp>
      <p:sp>
        <p:nvSpPr>
          <p:cNvPr id="54" name="Text 52"/>
          <p:cNvSpPr/>
          <p:nvPr/>
        </p:nvSpPr>
        <p:spPr>
          <a:xfrm>
            <a:off x="8305651" y="3444776"/>
            <a:ext cx="2875940" cy="297061"/>
          </a:xfrm>
          <a:prstGeom prst="rect">
            <a:avLst/>
          </a:prstGeom>
          <a:noFill/>
          <a:ln/>
        </p:spPr>
        <p:txBody>
          <a:bodyPr wrap="square" lIns="0" tIns="0" rIns="0" bIns="0" rtlCol="0" anchor="t"/>
          <a:lstStyle/>
          <a:p>
            <a:pPr algn="l" indent="0" marL="0">
              <a:lnSpc>
                <a:spcPts val="1170"/>
              </a:lnSpc>
              <a:spcBef>
                <a:spcPts val="400"/>
              </a:spcBef>
              <a:buNone/>
            </a:pPr>
            <a:r>
              <a:rPr lang="en-US" sz="900" dirty="0">
                <a:solidFill>
                  <a:srgbClr val="5B6677"/>
                </a:solidFill>
                <a:latin typeface="Noto Sans SC" pitchFamily="34" charset="0"/>
                <a:ea typeface="Noto Sans SC" pitchFamily="34" charset="-122"/>
                <a:cs typeface="Noto Sans SC" pitchFamily="34" charset="-120"/>
              </a:rPr>
              <a:t>Cold call 4–5 students to share one sentence each</a:t>
            </a:r>
            <a:endParaRPr lang="en-US" sz="900" dirty="0"/>
          </a:p>
        </p:txBody>
      </p:sp>
      <p:sp>
        <p:nvSpPr>
          <p:cNvPr id="55" name="Shape 53"/>
          <p:cNvSpPr/>
          <p:nvPr/>
        </p:nvSpPr>
        <p:spPr>
          <a:xfrm>
            <a:off x="762000" y="6685062"/>
            <a:ext cx="10668000" cy="0"/>
          </a:xfrm>
          <a:prstGeom prst="line">
            <a:avLst/>
          </a:prstGeom>
          <a:noFill/>
          <a:ln w="9525">
            <a:solidFill>
              <a:srgbClr val="E5DFD0"/>
            </a:solidFill>
            <a:prstDash val="solid"/>
          </a:ln>
        </p:spPr>
      </p:sp>
      <p:sp>
        <p:nvSpPr>
          <p:cNvPr id="56" name="Text 54"/>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Game · Find Someone Who · 36–43 min</a:t>
            </a:r>
            <a:endParaRPr lang="en-US" sz="800" dirty="0"/>
          </a:p>
        </p:txBody>
      </p:sp>
      <p:sp>
        <p:nvSpPr>
          <p:cNvPr id="4" name="Text 2"/>
          <p:cNvSpPr/>
          <p:nvPr/>
        </p:nvSpPr>
        <p:spPr>
          <a:xfrm>
            <a:off x="634901" y="349151"/>
            <a:ext cx="672257" cy="219075"/>
          </a:xfrm>
          <a:prstGeom prst="roundRect">
            <a:avLst>
              <a:gd name="adj" fmla="val 52174"/>
            </a:avLst>
          </a:prstGeom>
          <a:solidFill>
            <a:srgbClr val="D4756B"/>
          </a:solidFill>
          <a:ln/>
        </p:spPr>
        <p:txBody>
          <a:bodyPr wrap="square" rtlCol="0" anchor="ctr"/>
          <a:lstStyle/>
          <a:p>
            <a:pPr indent="0" marL="0">
              <a:buNone/>
            </a:pPr>
            <a:endParaRPr lang="en-US" dirty="0"/>
          </a:p>
        </p:txBody>
      </p:sp>
      <p:sp>
        <p:nvSpPr>
          <p:cNvPr id="5" name="Text 3"/>
          <p:cNvSpPr/>
          <p:nvPr/>
        </p:nvSpPr>
        <p:spPr>
          <a:xfrm>
            <a:off x="787301" y="387251"/>
            <a:ext cx="374806" cy="142875"/>
          </a:xfrm>
          <a:prstGeom prst="rect">
            <a:avLst/>
          </a:prstGeom>
          <a:noFill/>
          <a:ln/>
        </p:spPr>
        <p:txBody>
          <a:bodyPr wrap="square" lIns="0" tIns="0" rIns="0" bIns="0" rtlCol="0" anchor="t"/>
          <a:lstStyle/>
          <a:p>
            <a:pPr algn="l" indent="0" marL="0">
              <a:buNone/>
            </a:pPr>
            <a:r>
              <a:rPr lang="en-US" sz="800" b="1" dirty="0">
                <a:solidFill>
                  <a:srgbClr val="FFFFFF"/>
                </a:solidFill>
                <a:latin typeface="Noto Sans SC" pitchFamily="34" charset="0"/>
                <a:ea typeface="Noto Sans SC" pitchFamily="34" charset="-122"/>
                <a:cs typeface="Noto Sans SC" pitchFamily="34" charset="-120"/>
              </a:rPr>
              <a:t>GAME</a:t>
            </a:r>
            <a:endParaRPr lang="en-US" sz="800" dirty="0"/>
          </a:p>
        </p:txBody>
      </p:sp>
      <p:sp>
        <p:nvSpPr>
          <p:cNvPr id="6" name="Text 4"/>
          <p:cNvSpPr/>
          <p:nvPr/>
        </p:nvSpPr>
        <p:spPr>
          <a:xfrm>
            <a:off x="1462534" y="339626"/>
            <a:ext cx="721221" cy="247650"/>
          </a:xfrm>
          <a:prstGeom prst="roundRect">
            <a:avLst>
              <a:gd name="adj" fmla="val 46154"/>
            </a:avLst>
          </a:prstGeom>
          <a:solidFill>
            <a:srgbClr val="F6F2E8"/>
          </a:solidFill>
          <a:ln w="9525">
            <a:solidFill>
              <a:srgbClr val="E5DFD0"/>
            </a:solidFill>
          </a:ln>
        </p:spPr>
        <p:txBody>
          <a:bodyPr wrap="square" rtlCol="0" anchor="ctr"/>
          <a:lstStyle/>
          <a:p>
            <a:pPr indent="0" marL="0">
              <a:buNone/>
            </a:pPr>
            <a:endParaRPr lang="en-US" dirty="0"/>
          </a:p>
        </p:txBody>
      </p:sp>
      <p:sp>
        <p:nvSpPr>
          <p:cNvPr id="7" name="Text 5"/>
          <p:cNvSpPr/>
          <p:nvPr/>
        </p:nvSpPr>
        <p:spPr>
          <a:xfrm>
            <a:off x="1624459" y="387251"/>
            <a:ext cx="405319" cy="152400"/>
          </a:xfrm>
          <a:prstGeom prst="rect">
            <a:avLst/>
          </a:prstGeom>
          <a:noFill/>
          <a:ln/>
        </p:spPr>
        <p:txBody>
          <a:bodyPr wrap="square" lIns="0" tIns="0" rIns="0" bIns="0" rtlCol="0" anchor="t"/>
          <a:lstStyle/>
          <a:p>
            <a:pPr algn="l" indent="0" marL="0">
              <a:buNone/>
            </a:pPr>
            <a:r>
              <a:rPr lang="en-US" sz="800" b="1" dirty="0">
                <a:solidFill>
                  <a:srgbClr val="5B6677"/>
                </a:solidFill>
                <a:latin typeface="Noto Sans SC" pitchFamily="34" charset="0"/>
                <a:ea typeface="Noto Sans SC" pitchFamily="34" charset="-122"/>
                <a:cs typeface="Noto Sans SC" pitchFamily="34" charset="-120"/>
              </a:rPr>
              <a:t>⏱ 7 min</a:t>
            </a:r>
            <a:endParaRPr lang="en-US" sz="800" dirty="0"/>
          </a:p>
        </p:txBody>
      </p:sp>
      <p:sp>
        <p:nvSpPr>
          <p:cNvPr id="8" name="Text 6"/>
          <p:cNvSpPr/>
          <p:nvPr/>
        </p:nvSpPr>
        <p:spPr>
          <a:xfrm>
            <a:off x="2339132" y="349151"/>
            <a:ext cx="719584" cy="219075"/>
          </a:xfrm>
          <a:prstGeom prst="roundRect">
            <a:avLst>
              <a:gd name="adj" fmla="val 52174"/>
            </a:avLst>
          </a:prstGeom>
          <a:solidFill>
            <a:srgbClr val="FBEDEB"/>
          </a:solidFill>
          <a:ln/>
        </p:spPr>
        <p:txBody>
          <a:bodyPr wrap="square" rtlCol="0" anchor="ctr"/>
          <a:lstStyle/>
          <a:p>
            <a:pPr indent="0" marL="0">
              <a:buNone/>
            </a:pPr>
            <a:endParaRPr lang="en-US" dirty="0"/>
          </a:p>
        </p:txBody>
      </p:sp>
      <p:sp>
        <p:nvSpPr>
          <p:cNvPr id="9" name="Text 7"/>
          <p:cNvSpPr/>
          <p:nvPr/>
        </p:nvSpPr>
        <p:spPr>
          <a:xfrm>
            <a:off x="2491532" y="387251"/>
            <a:ext cx="423080" cy="142875"/>
          </a:xfrm>
          <a:prstGeom prst="rect">
            <a:avLst/>
          </a:prstGeom>
          <a:noFill/>
          <a:ln/>
        </p:spPr>
        <p:txBody>
          <a:bodyPr wrap="square" lIns="0" tIns="0" rIns="0" bIns="0" rtlCol="0" anchor="t"/>
          <a:lstStyle/>
          <a:p>
            <a:pPr algn="l" indent="0" marL="0">
              <a:buNone/>
            </a:pPr>
            <a:r>
              <a:rPr lang="en-US" sz="800" b="1" dirty="0">
                <a:solidFill>
                  <a:srgbClr val="D4756B"/>
                </a:solidFill>
                <a:latin typeface="Noto Sans SC" pitchFamily="34" charset="0"/>
                <a:ea typeface="Noto Sans SC" pitchFamily="34" charset="-122"/>
                <a:cs typeface="Noto Sans SC" pitchFamily="34" charset="-120"/>
              </a:rPr>
              <a:t>MINGLE</a:t>
            </a:r>
            <a:endParaRPr lang="en-US" sz="800" dirty="0"/>
          </a:p>
        </p:txBody>
      </p:sp>
      <p:sp>
        <p:nvSpPr>
          <p:cNvPr id="10" name="Text 8"/>
          <p:cNvSpPr/>
          <p:nvPr/>
        </p:nvSpPr>
        <p:spPr>
          <a:xfrm>
            <a:off x="634901" y="663476"/>
            <a:ext cx="11140642" cy="390525"/>
          </a:xfrm>
          <a:prstGeom prst="rect">
            <a:avLst/>
          </a:prstGeom>
          <a:noFill/>
          <a:ln/>
        </p:spPr>
        <p:txBody>
          <a:bodyPr wrap="square" lIns="0" tIns="0" rIns="0" bIns="0" rtlCol="0" anchor="t"/>
          <a:lstStyle/>
          <a:p>
            <a:pPr algn="l" indent="0" marL="0">
              <a:spcBef>
                <a:spcPts val="600"/>
              </a:spcBef>
              <a:buNone/>
            </a:pPr>
            <a:r>
              <a:rPr lang="en-US" sz="2200" b="1" dirty="0">
                <a:solidFill>
                  <a:srgbClr val="1E2A38"/>
                </a:solidFill>
                <a:latin typeface="Noto Serif SC" pitchFamily="34" charset="0"/>
                <a:ea typeface="Noto Serif SC" pitchFamily="34" charset="-122"/>
                <a:cs typeface="Noto Serif SC" pitchFamily="34" charset="-120"/>
              </a:rPr>
              <a:t>Find Someone Who · 你正在做什么？</a:t>
            </a:r>
            <a:endParaRPr lang="en-US" sz="2200" dirty="0"/>
          </a:p>
        </p:txBody>
      </p:sp>
      <p:sp>
        <p:nvSpPr>
          <p:cNvPr id="11" name="Text 9"/>
          <p:cNvSpPr/>
          <p:nvPr/>
        </p:nvSpPr>
        <p:spPr>
          <a:xfrm>
            <a:off x="634901" y="1104751"/>
            <a:ext cx="11140642" cy="200025"/>
          </a:xfrm>
          <a:prstGeom prst="rect">
            <a:avLst/>
          </a:prstGeom>
          <a:noFill/>
          <a:ln/>
        </p:spPr>
        <p:txBody>
          <a:bodyPr wrap="square" lIns="0" tIns="0" rIns="0" bIns="0" rtlCol="0" anchor="t"/>
          <a:lstStyle/>
          <a:p>
            <a:pPr algn="l" indent="0" marL="0">
              <a:spcBef>
                <a:spcPts val="400"/>
              </a:spcBef>
              <a:buNone/>
            </a:pPr>
            <a:r>
              <a:rPr lang="en-US" sz="1100" dirty="0">
                <a:solidFill>
                  <a:srgbClr val="8B94A3"/>
                </a:solidFill>
                <a:latin typeface="Noto Sans SC" pitchFamily="34" charset="0"/>
                <a:ea typeface="Noto Sans SC" pitchFamily="34" charset="-122"/>
                <a:cs typeface="Noto Sans SC" pitchFamily="34" charset="-120"/>
              </a:rPr>
              <a:t>Each student secretly holds an activity card — circulate and quiz classmates to find a match</a:t>
            </a:r>
            <a:endParaRPr lang="en-US" sz="1100" dirty="0"/>
          </a:p>
        </p:txBody>
      </p:sp>
      <p:sp>
        <p:nvSpPr>
          <p:cNvPr id="12" name="Text 10"/>
          <p:cNvSpPr/>
          <p:nvPr/>
        </p:nvSpPr>
        <p:spPr>
          <a:xfrm>
            <a:off x="634901" y="1777901"/>
            <a:ext cx="5334000" cy="2667000"/>
          </a:xfrm>
          <a:prstGeom prst="roundRect">
            <a:avLst>
              <a:gd name="adj" fmla="val 4762"/>
            </a:avLst>
          </a:prstGeom>
          <a:solidFill>
            <a:srgbClr val="F6F2E8"/>
          </a:solidFill>
          <a:ln w="9525">
            <a:solidFill>
              <a:srgbClr val="E5DFD0"/>
            </a:solidFill>
          </a:ln>
        </p:spPr>
        <p:txBody>
          <a:bodyPr wrap="square" rtlCol="0" anchor="ctr"/>
          <a:lstStyle/>
          <a:p>
            <a:pPr indent="0" marL="0">
              <a:buNone/>
            </a:pPr>
            <a:endParaRPr lang="en-US" dirty="0"/>
          </a:p>
        </p:txBody>
      </p:sp>
      <p:sp>
        <p:nvSpPr>
          <p:cNvPr id="13" name="Text 11"/>
          <p:cNvSpPr/>
          <p:nvPr/>
        </p:nvSpPr>
        <p:spPr>
          <a:xfrm>
            <a:off x="923776" y="2016026"/>
            <a:ext cx="4851374" cy="161925"/>
          </a:xfrm>
          <a:prstGeom prst="rect">
            <a:avLst/>
          </a:prstGeom>
          <a:noFill/>
          <a:ln/>
        </p:spPr>
        <p:txBody>
          <a:bodyPr wrap="square" lIns="0" tIns="0" rIns="0" bIns="0" rtlCol="0" anchor="t"/>
          <a:lstStyle/>
          <a:p>
            <a:pPr algn="l" indent="0" marL="0">
              <a:buNone/>
            </a:pPr>
            <a:r>
              <a:rPr lang="en-US" sz="900" b="1" dirty="0">
                <a:solidFill>
                  <a:srgbClr val="D4756B"/>
                </a:solidFill>
                <a:latin typeface="Noto Sans SC" pitchFamily="34" charset="0"/>
                <a:ea typeface="Noto Sans SC" pitchFamily="34" charset="-122"/>
                <a:cs typeface="Noto Sans SC" pitchFamily="34" charset="-120"/>
              </a:rPr>
              <a:t>HOW TO PLAY</a:t>
            </a:r>
            <a:endParaRPr lang="en-US" sz="900" dirty="0"/>
          </a:p>
        </p:txBody>
      </p:sp>
      <p:sp>
        <p:nvSpPr>
          <p:cNvPr id="14" name="Text 12"/>
          <p:cNvSpPr/>
          <p:nvPr/>
        </p:nvSpPr>
        <p:spPr>
          <a:xfrm>
            <a:off x="923776" y="2330351"/>
            <a:ext cx="4851374" cy="457200"/>
          </a:xfrm>
          <a:prstGeom prst="rect">
            <a:avLst/>
          </a:prstGeom>
          <a:noFill/>
          <a:ln/>
        </p:spPr>
        <p:txBody>
          <a:bodyPr wrap="square" lIns="0" tIns="0" rIns="0" bIns="0" rtlCol="0" anchor="t"/>
          <a:lstStyle/>
          <a:p>
            <a:pPr algn="l" indent="0" marL="0">
              <a:lnSpc>
                <a:spcPts val="1800"/>
              </a:lnSpc>
              <a:spcBef>
                <a:spcPts val="1200"/>
              </a:spcBef>
              <a:buNone/>
            </a:pPr>
            <a:r>
              <a:rPr lang="en-US" sz="1200" dirty="0">
                <a:solidFill>
                  <a:srgbClr val="1E2A38"/>
                </a:solidFill>
                <a:latin typeface="Noto Sans SC" pitchFamily="34" charset="0"/>
                <a:ea typeface="Noto Sans SC" pitchFamily="34" charset="-122"/>
                <a:cs typeface="Noto Sans SC" pitchFamily="34" charset="-120"/>
              </a:rPr>
              <a:t>1. Each student is secretly assigned an activity card (跳舞, 拉小提琴, 打篮球, 做作业, etc.)</a:t>
            </a:r>
            <a:endParaRPr lang="en-US" sz="1200" dirty="0"/>
          </a:p>
        </p:txBody>
      </p:sp>
      <p:sp>
        <p:nvSpPr>
          <p:cNvPr id="15" name="Text 13"/>
          <p:cNvSpPr/>
          <p:nvPr/>
        </p:nvSpPr>
        <p:spPr>
          <a:xfrm>
            <a:off x="923776" y="2914501"/>
            <a:ext cx="4851374" cy="457200"/>
          </a:xfrm>
          <a:prstGeom prst="rect">
            <a:avLst/>
          </a:prstGeom>
          <a:noFill/>
          <a:ln/>
        </p:spPr>
        <p:txBody>
          <a:bodyPr wrap="square" lIns="0" tIns="0" rIns="0" bIns="0" rtlCol="0" anchor="t"/>
          <a:lstStyle/>
          <a:p>
            <a:pPr algn="l" indent="0" marL="0">
              <a:lnSpc>
                <a:spcPts val="1800"/>
              </a:lnSpc>
              <a:spcBef>
                <a:spcPts val="1000"/>
              </a:spcBef>
              <a:buNone/>
            </a:pPr>
            <a:r>
              <a:rPr lang="en-US" sz="1200" dirty="0">
                <a:solidFill>
                  <a:srgbClr val="1E2A38"/>
                </a:solidFill>
                <a:latin typeface="Noto Sans SC" pitchFamily="34" charset="0"/>
                <a:ea typeface="Noto Sans SC" pitchFamily="34" charset="-122"/>
                <a:cs typeface="Noto Sans SC" pitchFamily="34" charset="-120"/>
              </a:rPr>
              <a:t>2. Teacher calls a clue — "Find someone who is dancing" — students ask 你正在做什么？</a:t>
            </a:r>
            <a:endParaRPr lang="en-US" sz="1200" dirty="0"/>
          </a:p>
        </p:txBody>
      </p:sp>
      <p:sp>
        <p:nvSpPr>
          <p:cNvPr id="16" name="Text 14"/>
          <p:cNvSpPr/>
          <p:nvPr/>
        </p:nvSpPr>
        <p:spPr>
          <a:xfrm>
            <a:off x="923776" y="3498652"/>
            <a:ext cx="4851374" cy="228600"/>
          </a:xfrm>
          <a:prstGeom prst="rect">
            <a:avLst/>
          </a:prstGeom>
          <a:noFill/>
          <a:ln/>
        </p:spPr>
        <p:txBody>
          <a:bodyPr wrap="square" lIns="0" tIns="0" rIns="0" bIns="0" rtlCol="0" anchor="t"/>
          <a:lstStyle/>
          <a:p>
            <a:pPr algn="l" indent="0" marL="0">
              <a:lnSpc>
                <a:spcPts val="1800"/>
              </a:lnSpc>
              <a:spcBef>
                <a:spcPts val="1000"/>
              </a:spcBef>
              <a:buNone/>
            </a:pPr>
            <a:r>
              <a:rPr lang="en-US" sz="1200" dirty="0">
                <a:solidFill>
                  <a:srgbClr val="1E2A38"/>
                </a:solidFill>
                <a:latin typeface="Noto Sans SC" pitchFamily="34" charset="0"/>
                <a:ea typeface="Noto Sans SC" pitchFamily="34" charset="-122"/>
                <a:cs typeface="Noto Sans SC" pitchFamily="34" charset="-120"/>
              </a:rPr>
              <a:t>3. Match found? Pair up and raise hands</a:t>
            </a:r>
            <a:endParaRPr lang="en-US" sz="1200" dirty="0"/>
          </a:p>
        </p:txBody>
      </p:sp>
      <p:sp>
        <p:nvSpPr>
          <p:cNvPr id="17" name="Text 15"/>
          <p:cNvSpPr/>
          <p:nvPr/>
        </p:nvSpPr>
        <p:spPr>
          <a:xfrm>
            <a:off x="6349901" y="1777901"/>
            <a:ext cx="4953000" cy="2667000"/>
          </a:xfrm>
          <a:prstGeom prst="roundRect">
            <a:avLst>
              <a:gd name="adj" fmla="val 4762"/>
            </a:avLst>
          </a:prstGeom>
          <a:solidFill>
            <a:srgbClr val="EDE7D7"/>
          </a:solidFill>
          <a:ln/>
        </p:spPr>
        <p:txBody>
          <a:bodyPr wrap="square" rtlCol="0" anchor="ctr"/>
          <a:lstStyle/>
          <a:p>
            <a:pPr indent="0" marL="0">
              <a:buNone/>
            </a:pPr>
            <a:endParaRPr lang="en-US" dirty="0"/>
          </a:p>
        </p:txBody>
      </p:sp>
      <p:sp>
        <p:nvSpPr>
          <p:cNvPr id="18" name="Text 16"/>
          <p:cNvSpPr/>
          <p:nvPr/>
        </p:nvSpPr>
        <p:spPr>
          <a:xfrm>
            <a:off x="6603802" y="2006501"/>
            <a:ext cx="4534102" cy="161925"/>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SAMPLE ACTIVITY CARDS</a:t>
            </a:r>
            <a:endParaRPr lang="en-US" sz="900" dirty="0"/>
          </a:p>
        </p:txBody>
      </p:sp>
      <p:sp>
        <p:nvSpPr>
          <p:cNvPr id="19" name="Text 17"/>
          <p:cNvSpPr/>
          <p:nvPr/>
        </p:nvSpPr>
        <p:spPr>
          <a:xfrm>
            <a:off x="6603802" y="2184202"/>
            <a:ext cx="1396901" cy="330101"/>
          </a:xfrm>
          <a:prstGeom prst="roundRect">
            <a:avLst>
              <a:gd name="adj" fmla="val 23084"/>
            </a:avLst>
          </a:prstGeom>
          <a:solidFill>
            <a:srgbClr val="FEFCF7"/>
          </a:solidFill>
          <a:ln w="9525">
            <a:solidFill>
              <a:srgbClr val="D5CEBB"/>
            </a:solidFill>
          </a:ln>
        </p:spPr>
        <p:txBody>
          <a:bodyPr wrap="square" rtlCol="0" anchor="ctr"/>
          <a:lstStyle/>
          <a:p>
            <a:pPr indent="0" marL="0">
              <a:buNone/>
            </a:pPr>
            <a:endParaRPr lang="en-US" dirty="0"/>
          </a:p>
        </p:txBody>
      </p:sp>
      <p:sp>
        <p:nvSpPr>
          <p:cNvPr id="20" name="Text 18"/>
          <p:cNvSpPr/>
          <p:nvPr/>
        </p:nvSpPr>
        <p:spPr>
          <a:xfrm>
            <a:off x="6599548" y="2193727"/>
            <a:ext cx="1405408" cy="260300"/>
          </a:xfrm>
          <a:prstGeom prst="rect">
            <a:avLst/>
          </a:prstGeom>
          <a:noFill/>
          <a:ln/>
        </p:spPr>
        <p:txBody>
          <a:bodyPr wrap="square" lIns="0" tIns="508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跳舞</a:t>
            </a:r>
            <a:endParaRPr lang="en-US" sz="1200" dirty="0"/>
          </a:p>
        </p:txBody>
      </p:sp>
      <p:sp>
        <p:nvSpPr>
          <p:cNvPr id="21" name="Text 19"/>
          <p:cNvSpPr/>
          <p:nvPr/>
        </p:nvSpPr>
        <p:spPr>
          <a:xfrm>
            <a:off x="8127802" y="2184202"/>
            <a:ext cx="1650950" cy="330101"/>
          </a:xfrm>
          <a:prstGeom prst="roundRect">
            <a:avLst>
              <a:gd name="adj" fmla="val 23084"/>
            </a:avLst>
          </a:prstGeom>
          <a:solidFill>
            <a:srgbClr val="FEFCF7"/>
          </a:solidFill>
          <a:ln w="9525">
            <a:solidFill>
              <a:srgbClr val="D5CEBB"/>
            </a:solidFill>
          </a:ln>
        </p:spPr>
        <p:txBody>
          <a:bodyPr wrap="square" rtlCol="0" anchor="ctr"/>
          <a:lstStyle/>
          <a:p>
            <a:pPr indent="0" marL="0">
              <a:buNone/>
            </a:pPr>
            <a:endParaRPr lang="en-US" dirty="0"/>
          </a:p>
        </p:txBody>
      </p:sp>
      <p:sp>
        <p:nvSpPr>
          <p:cNvPr id="22" name="Text 20"/>
          <p:cNvSpPr/>
          <p:nvPr/>
        </p:nvSpPr>
        <p:spPr>
          <a:xfrm>
            <a:off x="8121008" y="2193727"/>
            <a:ext cx="1664538" cy="260300"/>
          </a:xfrm>
          <a:prstGeom prst="rect">
            <a:avLst/>
          </a:prstGeom>
          <a:noFill/>
          <a:ln/>
        </p:spPr>
        <p:txBody>
          <a:bodyPr wrap="square" lIns="0" tIns="508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拉小提琴</a:t>
            </a:r>
            <a:endParaRPr lang="en-US" sz="1200" dirty="0"/>
          </a:p>
        </p:txBody>
      </p:sp>
      <p:sp>
        <p:nvSpPr>
          <p:cNvPr id="23" name="Text 21"/>
          <p:cNvSpPr/>
          <p:nvPr/>
        </p:nvSpPr>
        <p:spPr>
          <a:xfrm>
            <a:off x="9905851" y="2184202"/>
            <a:ext cx="1396901" cy="330101"/>
          </a:xfrm>
          <a:prstGeom prst="roundRect">
            <a:avLst>
              <a:gd name="adj" fmla="val 23084"/>
            </a:avLst>
          </a:prstGeom>
          <a:solidFill>
            <a:srgbClr val="FEFCF7"/>
          </a:solidFill>
          <a:ln w="9525">
            <a:solidFill>
              <a:srgbClr val="D5CEBB"/>
            </a:solidFill>
          </a:ln>
        </p:spPr>
        <p:txBody>
          <a:bodyPr wrap="square" rtlCol="0" anchor="ctr"/>
          <a:lstStyle/>
          <a:p>
            <a:pPr indent="0" marL="0">
              <a:buNone/>
            </a:pPr>
            <a:endParaRPr lang="en-US" dirty="0"/>
          </a:p>
        </p:txBody>
      </p:sp>
      <p:sp>
        <p:nvSpPr>
          <p:cNvPr id="24" name="Text 22"/>
          <p:cNvSpPr/>
          <p:nvPr/>
        </p:nvSpPr>
        <p:spPr>
          <a:xfrm>
            <a:off x="9901598" y="2193727"/>
            <a:ext cx="1405408" cy="260300"/>
          </a:xfrm>
          <a:prstGeom prst="rect">
            <a:avLst/>
          </a:prstGeom>
          <a:noFill/>
          <a:ln/>
        </p:spPr>
        <p:txBody>
          <a:bodyPr wrap="square" lIns="0" tIns="508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打篮球</a:t>
            </a:r>
            <a:endParaRPr lang="en-US" sz="1200" dirty="0"/>
          </a:p>
        </p:txBody>
      </p:sp>
      <p:sp>
        <p:nvSpPr>
          <p:cNvPr id="25" name="Text 23"/>
          <p:cNvSpPr/>
          <p:nvPr/>
        </p:nvSpPr>
        <p:spPr>
          <a:xfrm>
            <a:off x="6603802" y="2590651"/>
            <a:ext cx="1396901" cy="330101"/>
          </a:xfrm>
          <a:prstGeom prst="roundRect">
            <a:avLst>
              <a:gd name="adj" fmla="val 23084"/>
            </a:avLst>
          </a:prstGeom>
          <a:solidFill>
            <a:srgbClr val="FEFCF7"/>
          </a:solidFill>
          <a:ln w="9525">
            <a:solidFill>
              <a:srgbClr val="D5CEBB"/>
            </a:solidFill>
          </a:ln>
        </p:spPr>
        <p:txBody>
          <a:bodyPr wrap="square" rtlCol="0" anchor="ctr"/>
          <a:lstStyle/>
          <a:p>
            <a:pPr indent="0" marL="0">
              <a:buNone/>
            </a:pPr>
            <a:endParaRPr lang="en-US" dirty="0"/>
          </a:p>
        </p:txBody>
      </p:sp>
      <p:sp>
        <p:nvSpPr>
          <p:cNvPr id="26" name="Text 24"/>
          <p:cNvSpPr/>
          <p:nvPr/>
        </p:nvSpPr>
        <p:spPr>
          <a:xfrm>
            <a:off x="6599548" y="2600176"/>
            <a:ext cx="1405408" cy="260300"/>
          </a:xfrm>
          <a:prstGeom prst="rect">
            <a:avLst/>
          </a:prstGeom>
          <a:noFill/>
          <a:ln/>
        </p:spPr>
        <p:txBody>
          <a:bodyPr wrap="square" lIns="0" tIns="508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做作业</a:t>
            </a:r>
            <a:endParaRPr lang="en-US" sz="1200" dirty="0"/>
          </a:p>
        </p:txBody>
      </p:sp>
      <p:sp>
        <p:nvSpPr>
          <p:cNvPr id="27" name="Text 25"/>
          <p:cNvSpPr/>
          <p:nvPr/>
        </p:nvSpPr>
        <p:spPr>
          <a:xfrm>
            <a:off x="8127802" y="2590651"/>
            <a:ext cx="1396901" cy="330101"/>
          </a:xfrm>
          <a:prstGeom prst="roundRect">
            <a:avLst>
              <a:gd name="adj" fmla="val 23084"/>
            </a:avLst>
          </a:prstGeom>
          <a:solidFill>
            <a:srgbClr val="FEFCF7"/>
          </a:solidFill>
          <a:ln w="9525">
            <a:solidFill>
              <a:srgbClr val="D5CEBB"/>
            </a:solidFill>
          </a:ln>
        </p:spPr>
        <p:txBody>
          <a:bodyPr wrap="square" rtlCol="0" anchor="ctr"/>
          <a:lstStyle/>
          <a:p>
            <a:pPr indent="0" marL="0">
              <a:buNone/>
            </a:pPr>
            <a:endParaRPr lang="en-US" dirty="0"/>
          </a:p>
        </p:txBody>
      </p:sp>
      <p:sp>
        <p:nvSpPr>
          <p:cNvPr id="28" name="Text 26"/>
          <p:cNvSpPr/>
          <p:nvPr/>
        </p:nvSpPr>
        <p:spPr>
          <a:xfrm>
            <a:off x="8123548" y="2600176"/>
            <a:ext cx="1405408" cy="260300"/>
          </a:xfrm>
          <a:prstGeom prst="rect">
            <a:avLst/>
          </a:prstGeom>
          <a:noFill/>
          <a:ln/>
        </p:spPr>
        <p:txBody>
          <a:bodyPr wrap="square" lIns="0" tIns="508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游泳</a:t>
            </a:r>
            <a:endParaRPr lang="en-US" sz="1200" dirty="0"/>
          </a:p>
        </p:txBody>
      </p:sp>
      <p:sp>
        <p:nvSpPr>
          <p:cNvPr id="29" name="Text 27"/>
          <p:cNvSpPr/>
          <p:nvPr/>
        </p:nvSpPr>
        <p:spPr>
          <a:xfrm>
            <a:off x="9651802" y="2590651"/>
            <a:ext cx="1396901" cy="330101"/>
          </a:xfrm>
          <a:prstGeom prst="roundRect">
            <a:avLst>
              <a:gd name="adj" fmla="val 23084"/>
            </a:avLst>
          </a:prstGeom>
          <a:solidFill>
            <a:srgbClr val="FEFCF7"/>
          </a:solidFill>
          <a:ln w="9525">
            <a:solidFill>
              <a:srgbClr val="D5CEBB"/>
            </a:solidFill>
          </a:ln>
        </p:spPr>
        <p:txBody>
          <a:bodyPr wrap="square" rtlCol="0" anchor="ctr"/>
          <a:lstStyle/>
          <a:p>
            <a:pPr indent="0" marL="0">
              <a:buNone/>
            </a:pPr>
            <a:endParaRPr lang="en-US" dirty="0"/>
          </a:p>
        </p:txBody>
      </p:sp>
      <p:sp>
        <p:nvSpPr>
          <p:cNvPr id="30" name="Text 28"/>
          <p:cNvSpPr/>
          <p:nvPr/>
        </p:nvSpPr>
        <p:spPr>
          <a:xfrm>
            <a:off x="9647548" y="2600176"/>
            <a:ext cx="1405408" cy="260300"/>
          </a:xfrm>
          <a:prstGeom prst="rect">
            <a:avLst/>
          </a:prstGeom>
          <a:noFill/>
          <a:ln/>
        </p:spPr>
        <p:txBody>
          <a:bodyPr wrap="square" lIns="0" tIns="50800" rIns="0" bIns="0" rtlCol="0" anchor="t"/>
          <a:lstStyle/>
          <a:p>
            <a:pPr algn="ctr" indent="0" marL="0">
              <a:buNone/>
            </a:pPr>
            <a:r>
              <a:rPr lang="en-US" sz="1200" b="1" dirty="0">
                <a:solidFill>
                  <a:srgbClr val="1E2A38"/>
                </a:solidFill>
                <a:latin typeface="Noto Serif SC" pitchFamily="34" charset="0"/>
                <a:ea typeface="Noto Serif SC" pitchFamily="34" charset="-122"/>
                <a:cs typeface="Noto Serif SC" pitchFamily="34" charset="-120"/>
              </a:rPr>
              <a:t>弹钢琴</a:t>
            </a:r>
            <a:endParaRPr lang="en-US" sz="1200" dirty="0"/>
          </a:p>
        </p:txBody>
      </p:sp>
      <p:sp>
        <p:nvSpPr>
          <p:cNvPr id="31" name="Text 29"/>
          <p:cNvSpPr/>
          <p:nvPr/>
        </p:nvSpPr>
        <p:spPr>
          <a:xfrm>
            <a:off x="6603802" y="3174802"/>
            <a:ext cx="4444901" cy="762000"/>
          </a:xfrm>
          <a:prstGeom prst="roundRect">
            <a:avLst>
              <a:gd name="adj" fmla="val 10000"/>
            </a:avLst>
          </a:prstGeom>
          <a:solidFill>
            <a:srgbClr val="FBEDEB"/>
          </a:solidFill>
          <a:ln w="19050">
            <a:solidFill>
              <a:srgbClr val="D4756B"/>
            </a:solidFill>
          </a:ln>
        </p:spPr>
        <p:txBody>
          <a:bodyPr wrap="square" rtlCol="0" anchor="ctr"/>
          <a:lstStyle/>
          <a:p>
            <a:pPr indent="0" marL="0">
              <a:buNone/>
            </a:pPr>
            <a:endParaRPr lang="en-US" dirty="0"/>
          </a:p>
        </p:txBody>
      </p:sp>
      <p:sp>
        <p:nvSpPr>
          <p:cNvPr id="32" name="Text 30"/>
          <p:cNvSpPr/>
          <p:nvPr/>
        </p:nvSpPr>
        <p:spPr>
          <a:xfrm>
            <a:off x="6775252" y="3295352"/>
            <a:ext cx="4184041" cy="247650"/>
          </a:xfrm>
          <a:prstGeom prst="rect">
            <a:avLst/>
          </a:prstGeom>
          <a:noFill/>
          <a:ln/>
        </p:spPr>
        <p:txBody>
          <a:bodyPr wrap="square" lIns="0" tIns="0" rIns="0" bIns="0" rtlCol="0" anchor="t"/>
          <a:lstStyle/>
          <a:p>
            <a:pPr algn="l" indent="0" marL="0">
              <a:buNone/>
            </a:pPr>
            <a:r>
              <a:rPr lang="en-US" sz="1400" b="1" dirty="0">
                <a:solidFill>
                  <a:srgbClr val="D4756B"/>
                </a:solidFill>
                <a:latin typeface="Noto Serif SC" pitchFamily="34" charset="0"/>
                <a:ea typeface="Noto Serif SC" pitchFamily="34" charset="-122"/>
                <a:cs typeface="Noto Serif SC" pitchFamily="34" charset="-120"/>
              </a:rPr>
              <a:t>你正在做什么？</a:t>
            </a:r>
            <a:endParaRPr lang="en-US" sz="1400" dirty="0"/>
          </a:p>
        </p:txBody>
      </p:sp>
      <p:sp>
        <p:nvSpPr>
          <p:cNvPr id="33" name="Text 31"/>
          <p:cNvSpPr/>
          <p:nvPr/>
        </p:nvSpPr>
        <p:spPr>
          <a:xfrm>
            <a:off x="6775252" y="3568303"/>
            <a:ext cx="4184041" cy="161925"/>
          </a:xfrm>
          <a:prstGeom prst="rect">
            <a:avLst/>
          </a:prstGeom>
          <a:noFill/>
          <a:ln/>
        </p:spPr>
        <p:txBody>
          <a:bodyPr wrap="square" lIns="0" tIns="0" rIns="0" bIns="0" rtlCol="0" anchor="t"/>
          <a:lstStyle/>
          <a:p>
            <a:pPr algn="l" indent="0" marL="0">
              <a:spcBef>
                <a:spcPts val="200"/>
              </a:spcBef>
              <a:buNone/>
            </a:pPr>
            <a:r>
              <a:rPr lang="en-US" sz="900" dirty="0">
                <a:solidFill>
                  <a:srgbClr val="8B94A3"/>
                </a:solidFill>
                <a:latin typeface="Noto Sans SC" pitchFamily="34" charset="0"/>
                <a:ea typeface="Noto Sans SC" pitchFamily="34" charset="-122"/>
                <a:cs typeface="Noto Sans SC" pitchFamily="34" charset="-120"/>
              </a:rPr>
              <a:t>"What are you doing right now?" — asked to check the match</a:t>
            </a:r>
            <a:endParaRPr lang="en-US" sz="900" dirty="0"/>
          </a:p>
        </p:txBody>
      </p:sp>
      <p:sp>
        <p:nvSpPr>
          <p:cNvPr id="34" name="Text 32"/>
          <p:cNvSpPr/>
          <p:nvPr/>
        </p:nvSpPr>
        <p:spPr>
          <a:xfrm>
            <a:off x="634901" y="4648200"/>
            <a:ext cx="5334000" cy="990600"/>
          </a:xfrm>
          <a:prstGeom prst="roundRect">
            <a:avLst>
              <a:gd name="adj" fmla="val 10256"/>
            </a:avLst>
          </a:prstGeom>
          <a:solidFill>
            <a:srgbClr val="F6F2E8"/>
          </a:solidFill>
          <a:ln/>
        </p:spPr>
        <p:txBody>
          <a:bodyPr wrap="square" rtlCol="0" anchor="ctr"/>
          <a:lstStyle/>
          <a:p>
            <a:pPr indent="0" marL="0">
              <a:buNone/>
            </a:pPr>
            <a:endParaRPr lang="en-US" dirty="0"/>
          </a:p>
        </p:txBody>
      </p:sp>
      <p:sp>
        <p:nvSpPr>
          <p:cNvPr id="35" name="Text 33"/>
          <p:cNvSpPr/>
          <p:nvPr/>
        </p:nvSpPr>
        <p:spPr>
          <a:xfrm>
            <a:off x="812602" y="4775150"/>
            <a:ext cx="5078170" cy="142875"/>
          </a:xfrm>
          <a:prstGeom prst="rect">
            <a:avLst/>
          </a:prstGeom>
          <a:noFill/>
          <a:ln/>
        </p:spPr>
        <p:txBody>
          <a:bodyPr wrap="square" lIns="0" tIns="0" rIns="0" bIns="0" rtlCol="0" anchor="t"/>
          <a:lstStyle/>
          <a:p>
            <a:pPr algn="l" indent="0" marL="0">
              <a:buNone/>
            </a:pPr>
            <a:r>
              <a:rPr lang="en-US" sz="800" b="1" dirty="0">
                <a:solidFill>
                  <a:srgbClr val="3A7D8C"/>
                </a:solidFill>
                <a:latin typeface="Noto Sans SC" pitchFamily="34" charset="0"/>
                <a:ea typeface="Noto Sans SC" pitchFamily="34" charset="-122"/>
                <a:cs typeface="Noto Sans SC" pitchFamily="34" charset="-120"/>
              </a:rPr>
              <a:t>SETUP NEEDED</a:t>
            </a:r>
            <a:endParaRPr lang="en-US" sz="800" dirty="0"/>
          </a:p>
        </p:txBody>
      </p:sp>
      <p:sp>
        <p:nvSpPr>
          <p:cNvPr id="36" name="Text 34"/>
          <p:cNvSpPr/>
          <p:nvPr/>
        </p:nvSpPr>
        <p:spPr>
          <a:xfrm>
            <a:off x="812602" y="4968776"/>
            <a:ext cx="5078170" cy="171301"/>
          </a:xfrm>
          <a:prstGeom prst="rect">
            <a:avLst/>
          </a:prstGeom>
          <a:noFill/>
          <a:ln/>
        </p:spPr>
        <p:txBody>
          <a:bodyPr wrap="square" lIns="0" tIns="0" rIns="0" bIns="0" rtlCol="0" anchor="t"/>
          <a:lstStyle/>
          <a:p>
            <a:pPr algn="l" indent="0" marL="0">
              <a:lnSpc>
                <a:spcPts val="1350"/>
              </a:lnSpc>
              <a:spcBef>
                <a:spcPts val="400"/>
              </a:spcBef>
              <a:buNone/>
            </a:pPr>
            <a:r>
              <a:rPr lang="en-US" sz="1000" dirty="0">
                <a:solidFill>
                  <a:srgbClr val="5B6677"/>
                </a:solidFill>
                <a:latin typeface="Noto Sans SC" pitchFamily="34" charset="0"/>
                <a:ea typeface="Noto Sans SC" pitchFamily="34" charset="-122"/>
                <a:cs typeface="Noto Sans SC" pitchFamily="34" charset="-120"/>
              </a:rPr>
              <a:t>One activity card per student, clue list for the teacher to call out</a:t>
            </a:r>
            <a:endParaRPr lang="en-US" sz="1000" dirty="0"/>
          </a:p>
        </p:txBody>
      </p:sp>
      <p:sp>
        <p:nvSpPr>
          <p:cNvPr id="37" name="Text 35"/>
          <p:cNvSpPr/>
          <p:nvPr/>
        </p:nvSpPr>
        <p:spPr>
          <a:xfrm>
            <a:off x="6222950" y="4648200"/>
            <a:ext cx="5079950" cy="990600"/>
          </a:xfrm>
          <a:prstGeom prst="roundRect">
            <a:avLst>
              <a:gd name="adj" fmla="val 10256"/>
            </a:avLst>
          </a:prstGeom>
          <a:solidFill>
            <a:srgbClr val="F6F2E8"/>
          </a:solidFill>
          <a:ln/>
        </p:spPr>
        <p:txBody>
          <a:bodyPr wrap="square" rtlCol="0" anchor="ctr"/>
          <a:lstStyle/>
          <a:p>
            <a:pPr indent="0" marL="0">
              <a:buNone/>
            </a:pPr>
            <a:endParaRPr lang="en-US" dirty="0"/>
          </a:p>
        </p:txBody>
      </p:sp>
      <p:sp>
        <p:nvSpPr>
          <p:cNvPr id="38" name="Text 36"/>
          <p:cNvSpPr/>
          <p:nvPr/>
        </p:nvSpPr>
        <p:spPr>
          <a:xfrm>
            <a:off x="6400651" y="4775150"/>
            <a:ext cx="4819040" cy="142875"/>
          </a:xfrm>
          <a:prstGeom prst="rect">
            <a:avLst/>
          </a:prstGeom>
          <a:noFill/>
          <a:ln/>
        </p:spPr>
        <p:txBody>
          <a:bodyPr wrap="square" lIns="0" tIns="0" rIns="0" bIns="0" rtlCol="0" anchor="t"/>
          <a:lstStyle/>
          <a:p>
            <a:pPr algn="l" indent="0" marL="0">
              <a:buNone/>
            </a:pPr>
            <a:r>
              <a:rPr lang="en-US" sz="800" b="1" dirty="0">
                <a:solidFill>
                  <a:srgbClr val="D4756B"/>
                </a:solidFill>
                <a:latin typeface="Noto Sans SC" pitchFamily="34" charset="0"/>
                <a:ea typeface="Noto Sans SC" pitchFamily="34" charset="-122"/>
                <a:cs typeface="Noto Sans SC" pitchFamily="34" charset="-120"/>
              </a:rPr>
              <a:t>OTR</a:t>
            </a:r>
            <a:endParaRPr lang="en-US" sz="800" dirty="0"/>
          </a:p>
        </p:txBody>
      </p:sp>
      <p:sp>
        <p:nvSpPr>
          <p:cNvPr id="39" name="Text 37"/>
          <p:cNvSpPr/>
          <p:nvPr/>
        </p:nvSpPr>
        <p:spPr>
          <a:xfrm>
            <a:off x="6400651" y="4968776"/>
            <a:ext cx="4819040" cy="342602"/>
          </a:xfrm>
          <a:prstGeom prst="rect">
            <a:avLst/>
          </a:prstGeom>
          <a:noFill/>
          <a:ln/>
        </p:spPr>
        <p:txBody>
          <a:bodyPr wrap="square" lIns="0" tIns="0" rIns="0" bIns="0" rtlCol="0" anchor="t"/>
          <a:lstStyle/>
          <a:p>
            <a:pPr algn="l" indent="0" marL="0">
              <a:lnSpc>
                <a:spcPts val="1350"/>
              </a:lnSpc>
              <a:spcBef>
                <a:spcPts val="400"/>
              </a:spcBef>
              <a:buNone/>
            </a:pPr>
            <a:r>
              <a:rPr lang="en-US" sz="1000" dirty="0">
                <a:solidFill>
                  <a:srgbClr val="5B6677"/>
                </a:solidFill>
                <a:latin typeface="Noto Sans SC" pitchFamily="34" charset="0"/>
                <a:ea typeface="Noto Sans SC" pitchFamily="34" charset="-122"/>
                <a:cs typeface="Noto Sans SC" pitchFamily="34" charset="-120"/>
              </a:rPr>
              <a:t>Every student asks and answers repeatedly during the mingle — full-class response rate</a:t>
            </a:r>
            <a:endParaRPr lang="en-US" sz="1000" dirty="0"/>
          </a:p>
        </p:txBody>
      </p:sp>
      <p:sp>
        <p:nvSpPr>
          <p:cNvPr id="40" name="Shape 38"/>
          <p:cNvSpPr/>
          <p:nvPr/>
        </p:nvSpPr>
        <p:spPr>
          <a:xfrm>
            <a:off x="762000" y="6685062"/>
            <a:ext cx="10668000" cy="0"/>
          </a:xfrm>
          <a:prstGeom prst="line">
            <a:avLst/>
          </a:prstGeom>
          <a:noFill/>
          <a:ln w="9525">
            <a:solidFill>
              <a:srgbClr val="E5DFD0"/>
            </a:solidFill>
            <a:prstDash val="solid"/>
          </a:ln>
        </p:spPr>
      </p:sp>
      <p:sp>
        <p:nvSpPr>
          <p:cNvPr id="41" name="Text 39"/>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Plenary · 43–50 min</a:t>
            </a:r>
            <a:endParaRPr lang="en-US" sz="800" dirty="0"/>
          </a:p>
        </p:txBody>
      </p:sp>
      <p:sp>
        <p:nvSpPr>
          <p:cNvPr id="4" name="Text 2"/>
          <p:cNvSpPr/>
          <p:nvPr/>
        </p:nvSpPr>
        <p:spPr>
          <a:xfrm>
            <a:off x="888950" y="457200"/>
            <a:ext cx="10622381" cy="161925"/>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PLENARY</a:t>
            </a:r>
            <a:endParaRPr lang="en-US" sz="900" dirty="0"/>
          </a:p>
        </p:txBody>
      </p:sp>
      <p:sp>
        <p:nvSpPr>
          <p:cNvPr id="5" name="Text 3"/>
          <p:cNvSpPr/>
          <p:nvPr/>
        </p:nvSpPr>
        <p:spPr>
          <a:xfrm>
            <a:off x="888950" y="682526"/>
            <a:ext cx="10622381" cy="466725"/>
          </a:xfrm>
          <a:prstGeom prst="rect">
            <a:avLst/>
          </a:prstGeom>
          <a:noFill/>
          <a:ln/>
        </p:spPr>
        <p:txBody>
          <a:bodyPr wrap="square" lIns="0" tIns="0" rIns="0" bIns="0" rtlCol="0" anchor="t"/>
          <a:lstStyle/>
          <a:p>
            <a:pPr algn="l" indent="0" marL="0">
              <a:spcBef>
                <a:spcPts val="500"/>
              </a:spcBef>
              <a:buNone/>
            </a:pPr>
            <a:r>
              <a:rPr lang="en-US" sz="2600" b="1" dirty="0">
                <a:solidFill>
                  <a:srgbClr val="1E2A38"/>
                </a:solidFill>
                <a:latin typeface="Noto Serif SC" pitchFamily="34" charset="0"/>
                <a:ea typeface="Noto Serif SC" pitchFamily="34" charset="-122"/>
                <a:cs typeface="Noto Serif SC" pitchFamily="34" charset="-120"/>
              </a:rPr>
              <a:t>总结 · Wrap-Up</a:t>
            </a:r>
            <a:endParaRPr lang="en-US" sz="2600" dirty="0"/>
          </a:p>
        </p:txBody>
      </p:sp>
      <p:sp>
        <p:nvSpPr>
          <p:cNvPr id="6" name="Text 4"/>
          <p:cNvSpPr/>
          <p:nvPr/>
        </p:nvSpPr>
        <p:spPr>
          <a:xfrm>
            <a:off x="888950" y="1346150"/>
            <a:ext cx="5079950" cy="4317950"/>
          </a:xfrm>
          <a:prstGeom prst="roundRect">
            <a:avLst>
              <a:gd name="adj" fmla="val 2941"/>
            </a:avLst>
          </a:prstGeom>
          <a:solidFill>
            <a:srgbClr val="F6F2E8"/>
          </a:solidFill>
          <a:ln w="9525">
            <a:solidFill>
              <a:srgbClr val="E5DFD0"/>
            </a:solidFill>
          </a:ln>
        </p:spPr>
        <p:txBody>
          <a:bodyPr wrap="square" rtlCol="0" anchor="ctr"/>
          <a:lstStyle/>
          <a:p>
            <a:pPr indent="0" marL="0">
              <a:buNone/>
            </a:pPr>
            <a:endParaRPr lang="en-US" dirty="0"/>
          </a:p>
        </p:txBody>
      </p:sp>
      <p:sp>
        <p:nvSpPr>
          <p:cNvPr id="7" name="Text 5"/>
          <p:cNvSpPr/>
          <p:nvPr/>
        </p:nvSpPr>
        <p:spPr>
          <a:xfrm>
            <a:off x="1177826" y="1584275"/>
            <a:ext cx="4592244" cy="161925"/>
          </a:xfrm>
          <a:prstGeom prst="rect">
            <a:avLst/>
          </a:prstGeom>
          <a:noFill/>
          <a:ln/>
        </p:spPr>
        <p:txBody>
          <a:bodyPr wrap="square" lIns="0" tIns="0" rIns="0" bIns="0" rtlCol="0" anchor="t"/>
          <a:lstStyle/>
          <a:p>
            <a:pPr algn="l" indent="0" marL="0">
              <a:buNone/>
            </a:pPr>
            <a:r>
              <a:rPr lang="en-US" sz="900" b="1" dirty="0">
                <a:solidFill>
                  <a:srgbClr val="C8943E"/>
                </a:solidFill>
                <a:latin typeface="Noto Sans SC" pitchFamily="34" charset="0"/>
                <a:ea typeface="Noto Sans SC" pitchFamily="34" charset="-122"/>
                <a:cs typeface="Noto Sans SC" pitchFamily="34" charset="-120"/>
              </a:rPr>
              <a:t>REVISIT SUCCESS CRITERIA</a:t>
            </a:r>
            <a:endParaRPr lang="en-US" sz="900" dirty="0"/>
          </a:p>
        </p:txBody>
      </p:sp>
      <p:sp>
        <p:nvSpPr>
          <p:cNvPr id="8" name="Text 6"/>
          <p:cNvSpPr/>
          <p:nvPr/>
        </p:nvSpPr>
        <p:spPr>
          <a:xfrm>
            <a:off x="1177826" y="1949351"/>
            <a:ext cx="4592244" cy="195560"/>
          </a:xfrm>
          <a:prstGeom prst="rect">
            <a:avLst/>
          </a:prstGeom>
          <a:noFill/>
          <a:ln/>
        </p:spPr>
        <p:txBody>
          <a:bodyPr wrap="square" lIns="0" tIns="0" rIns="0" bIns="0" rtlCol="0" anchor="t"/>
          <a:lstStyle/>
          <a:p>
            <a:pPr algn="l" indent="0" marL="0">
              <a:lnSpc>
                <a:spcPts val="1540"/>
              </a:lnSpc>
              <a:spcBef>
                <a:spcPts val="1600"/>
              </a:spcBef>
              <a:buNone/>
            </a:pPr>
            <a:r>
              <a:rPr lang="en-US" sz="1100" dirty="0">
                <a:solidFill>
                  <a:srgbClr val="5B6677"/>
                </a:solidFill>
                <a:latin typeface="Noto Sans SC" pitchFamily="34" charset="0"/>
                <a:ea typeface="Noto Sans SC" pitchFamily="34" charset="-122"/>
                <a:cs typeface="Noto Sans SC" pitchFamily="34" charset="-120"/>
              </a:rPr>
              <a:t>👍✋👎   Read and understand 欢欢's passage about her hobbies</a:t>
            </a:r>
            <a:endParaRPr lang="en-US" sz="1100" dirty="0"/>
          </a:p>
        </p:txBody>
      </p:sp>
      <p:sp>
        <p:nvSpPr>
          <p:cNvPr id="9" name="Text 7"/>
          <p:cNvSpPr/>
          <p:nvPr/>
        </p:nvSpPr>
        <p:spPr>
          <a:xfrm>
            <a:off x="1177826" y="2348061"/>
            <a:ext cx="4592244" cy="391120"/>
          </a:xfrm>
          <a:prstGeom prst="rect">
            <a:avLst/>
          </a:prstGeom>
          <a:noFill/>
          <a:ln/>
        </p:spPr>
        <p:txBody>
          <a:bodyPr wrap="square" lIns="0" tIns="0" rIns="0" bIns="0" rtlCol="0" anchor="t"/>
          <a:lstStyle/>
          <a:p>
            <a:pPr algn="l" indent="0" marL="0">
              <a:lnSpc>
                <a:spcPts val="1540"/>
              </a:lnSpc>
              <a:spcBef>
                <a:spcPts val="1600"/>
              </a:spcBef>
              <a:buNone/>
            </a:pPr>
            <a:r>
              <a:rPr lang="en-US" sz="1100" dirty="0">
                <a:solidFill>
                  <a:srgbClr val="5B6677"/>
                </a:solidFill>
                <a:latin typeface="Noto Sans SC" pitchFamily="34" charset="0"/>
                <a:ea typeface="Noto Sans SC" pitchFamily="34" charset="-122"/>
                <a:cs typeface="Noto Sans SC" pitchFamily="34" charset="-120"/>
              </a:rPr>
              <a:t>👍✋👎   Answer comprehension questions, in Chinese where possible</a:t>
            </a:r>
            <a:endParaRPr lang="en-US" sz="1100" dirty="0"/>
          </a:p>
        </p:txBody>
      </p:sp>
      <p:sp>
        <p:nvSpPr>
          <p:cNvPr id="10" name="Text 8"/>
          <p:cNvSpPr/>
          <p:nvPr/>
        </p:nvSpPr>
        <p:spPr>
          <a:xfrm>
            <a:off x="1177826" y="2942332"/>
            <a:ext cx="4592244" cy="195560"/>
          </a:xfrm>
          <a:prstGeom prst="rect">
            <a:avLst/>
          </a:prstGeom>
          <a:noFill/>
          <a:ln/>
        </p:spPr>
        <p:txBody>
          <a:bodyPr wrap="square" lIns="0" tIns="0" rIns="0" bIns="0" rtlCol="0" anchor="t"/>
          <a:lstStyle/>
          <a:p>
            <a:pPr algn="l" indent="0" marL="0">
              <a:lnSpc>
                <a:spcPts val="1540"/>
              </a:lnSpc>
              <a:spcBef>
                <a:spcPts val="1600"/>
              </a:spcBef>
              <a:buNone/>
            </a:pPr>
            <a:r>
              <a:rPr lang="en-US" sz="1100" dirty="0">
                <a:solidFill>
                  <a:srgbClr val="5B6677"/>
                </a:solidFill>
                <a:latin typeface="Noto Sans SC" pitchFamily="34" charset="0"/>
                <a:ea typeface="Noto Sans SC" pitchFamily="34" charset="-122"/>
                <a:cs typeface="Noto Sans SC" pitchFamily="34" charset="-120"/>
              </a:rPr>
              <a:t>👍✋👎   Describe pictures of people using 正在 + verb</a:t>
            </a:r>
            <a:endParaRPr lang="en-US" sz="1100" dirty="0"/>
          </a:p>
        </p:txBody>
      </p:sp>
      <p:sp>
        <p:nvSpPr>
          <p:cNvPr id="11" name="Text 9"/>
          <p:cNvSpPr/>
          <p:nvPr/>
        </p:nvSpPr>
        <p:spPr>
          <a:xfrm>
            <a:off x="6222950" y="1346150"/>
            <a:ext cx="5079950" cy="4317950"/>
          </a:xfrm>
          <a:prstGeom prst="roundRect">
            <a:avLst>
              <a:gd name="adj" fmla="val 2941"/>
            </a:avLst>
          </a:prstGeom>
          <a:solidFill>
            <a:srgbClr val="F6F2E8"/>
          </a:solidFill>
          <a:ln w="9525">
            <a:solidFill>
              <a:srgbClr val="E5DFD0"/>
            </a:solidFill>
          </a:ln>
        </p:spPr>
        <p:txBody>
          <a:bodyPr wrap="square" rtlCol="0" anchor="ctr"/>
          <a:lstStyle/>
          <a:p>
            <a:pPr indent="0" marL="0">
              <a:buNone/>
            </a:pPr>
            <a:endParaRPr lang="en-US" dirty="0"/>
          </a:p>
        </p:txBody>
      </p:sp>
      <p:sp>
        <p:nvSpPr>
          <p:cNvPr id="12" name="Text 10"/>
          <p:cNvSpPr/>
          <p:nvPr/>
        </p:nvSpPr>
        <p:spPr>
          <a:xfrm>
            <a:off x="6511826" y="1584275"/>
            <a:ext cx="4592244" cy="161925"/>
          </a:xfrm>
          <a:prstGeom prst="rect">
            <a:avLst/>
          </a:prstGeom>
          <a:noFill/>
          <a:ln/>
        </p:spPr>
        <p:txBody>
          <a:bodyPr wrap="square" lIns="0" tIns="0" rIns="0" bIns="0" rtlCol="0" anchor="t"/>
          <a:lstStyle/>
          <a:p>
            <a:pPr algn="l" indent="0" marL="0">
              <a:buNone/>
            </a:pPr>
            <a:r>
              <a:rPr lang="en-US" sz="900" b="1" dirty="0">
                <a:solidFill>
                  <a:srgbClr val="3A7D8C"/>
                </a:solidFill>
                <a:latin typeface="Noto Sans SC" pitchFamily="34" charset="0"/>
                <a:ea typeface="Noto Sans SC" pitchFamily="34" charset="-122"/>
                <a:cs typeface="Noto Sans SC" pitchFamily="34" charset="-120"/>
              </a:rPr>
              <a:t>EXIT TICKET</a:t>
            </a:r>
            <a:endParaRPr lang="en-US" sz="900" dirty="0"/>
          </a:p>
        </p:txBody>
      </p:sp>
      <p:sp>
        <p:nvSpPr>
          <p:cNvPr id="13" name="Text 11"/>
          <p:cNvSpPr/>
          <p:nvPr/>
        </p:nvSpPr>
        <p:spPr>
          <a:xfrm>
            <a:off x="6511826" y="1787426"/>
            <a:ext cx="4521101" cy="1269950"/>
          </a:xfrm>
          <a:prstGeom prst="rect">
            <a:avLst/>
          </a:prstGeom>
          <a:solidFill>
            <a:srgbClr val="EDE7D7"/>
          </a:solidFill>
          <a:ln/>
        </p:spPr>
        <p:txBody>
          <a:bodyPr wrap="square" rtlCol="0" anchor="ctr"/>
          <a:lstStyle/>
          <a:p>
            <a:pPr indent="0" marL="0">
              <a:buNone/>
            </a:pPr>
            <a:endParaRPr lang="en-US" dirty="0"/>
          </a:p>
        </p:txBody>
      </p:sp>
      <p:sp>
        <p:nvSpPr>
          <p:cNvPr id="14" name="Shape 12"/>
          <p:cNvSpPr/>
          <p:nvPr/>
        </p:nvSpPr>
        <p:spPr>
          <a:xfrm>
            <a:off x="6530876" y="1787426"/>
            <a:ext cx="0" cy="1269950"/>
          </a:xfrm>
          <a:prstGeom prst="line">
            <a:avLst/>
          </a:prstGeom>
          <a:noFill/>
          <a:ln w="38100">
            <a:solidFill>
              <a:srgbClr val="3A7D8C"/>
            </a:solidFill>
            <a:prstDash val="solid"/>
          </a:ln>
        </p:spPr>
      </p:sp>
      <p:sp>
        <p:nvSpPr>
          <p:cNvPr id="15" name="Text 13"/>
          <p:cNvSpPr/>
          <p:nvPr/>
        </p:nvSpPr>
        <p:spPr>
          <a:xfrm>
            <a:off x="6753076" y="1939826"/>
            <a:ext cx="4158234" cy="142875"/>
          </a:xfrm>
          <a:prstGeom prst="rect">
            <a:avLst/>
          </a:prstGeom>
          <a:noFill/>
          <a:ln/>
        </p:spPr>
        <p:txBody>
          <a:bodyPr wrap="square" lIns="0" tIns="0" rIns="0" bIns="0" rtlCol="0" anchor="t"/>
          <a:lstStyle/>
          <a:p>
            <a:pPr algn="l" indent="0" marL="0">
              <a:buNone/>
            </a:pPr>
            <a:r>
              <a:rPr lang="en-US" sz="800" b="1" dirty="0">
                <a:solidFill>
                  <a:srgbClr val="3A7D8C"/>
                </a:solidFill>
                <a:latin typeface="Noto Sans SC" pitchFamily="34" charset="0"/>
                <a:ea typeface="Noto Sans SC" pitchFamily="34" charset="-122"/>
                <a:cs typeface="Noto Sans SC" pitchFamily="34" charset="-120"/>
              </a:rPr>
              <a:t>TASK</a:t>
            </a:r>
            <a:endParaRPr lang="en-US" sz="800" dirty="0"/>
          </a:p>
        </p:txBody>
      </p:sp>
      <p:sp>
        <p:nvSpPr>
          <p:cNvPr id="16" name="Text 14"/>
          <p:cNvSpPr/>
          <p:nvPr/>
        </p:nvSpPr>
        <p:spPr>
          <a:xfrm>
            <a:off x="6753076" y="2158901"/>
            <a:ext cx="4158234" cy="461963"/>
          </a:xfrm>
          <a:prstGeom prst="rect">
            <a:avLst/>
          </a:prstGeom>
          <a:noFill/>
          <a:ln/>
        </p:spPr>
        <p:txBody>
          <a:bodyPr wrap="square" lIns="0" tIns="0" rIns="0" bIns="0" rtlCol="0" anchor="t"/>
          <a:lstStyle/>
          <a:p>
            <a:pPr algn="l" indent="0" marL="0">
              <a:lnSpc>
                <a:spcPts val="1820"/>
              </a:lnSpc>
              <a:spcBef>
                <a:spcPts val="600"/>
              </a:spcBef>
              <a:buNone/>
            </a:pPr>
            <a:r>
              <a:rPr lang="en-US" sz="1300" b="1" dirty="0">
                <a:solidFill>
                  <a:srgbClr val="1E2A38"/>
                </a:solidFill>
                <a:latin typeface="Noto Serif SC" pitchFamily="34" charset="0"/>
                <a:ea typeface="Noto Serif SC" pitchFamily="34" charset="-122"/>
                <a:cs typeface="Noto Serif SC" pitchFamily="34" charset="-120"/>
              </a:rPr>
              <a:t>Answer in Chinese: 欢欢几岁开始拉小提琴？Then write one 正在 sentence about yourself right now.</a:t>
            </a:r>
            <a:endParaRPr lang="en-US" sz="1300" dirty="0"/>
          </a:p>
        </p:txBody>
      </p:sp>
      <p:sp>
        <p:nvSpPr>
          <p:cNvPr id="17" name="Text 15"/>
          <p:cNvSpPr/>
          <p:nvPr/>
        </p:nvSpPr>
        <p:spPr>
          <a:xfrm>
            <a:off x="6511826" y="3651200"/>
            <a:ext cx="4592244" cy="571054"/>
          </a:xfrm>
          <a:prstGeom prst="rect">
            <a:avLst/>
          </a:prstGeom>
          <a:noFill/>
          <a:ln/>
        </p:spPr>
        <p:txBody>
          <a:bodyPr wrap="square" lIns="0" tIns="0" rIns="0" bIns="0" rtlCol="0" anchor="t"/>
          <a:lstStyle/>
          <a:p>
            <a:pPr algn="l" indent="0" marL="0">
              <a:lnSpc>
                <a:spcPts val="1500"/>
              </a:lnSpc>
              <a:spcBef>
                <a:spcPts val="15000"/>
              </a:spcBef>
              <a:buNone/>
            </a:pPr>
            <a:r>
              <a:rPr lang="en-US" sz="1000" dirty="0">
                <a:solidFill>
                  <a:srgbClr val="8B94A3"/>
                </a:solidFill>
                <a:latin typeface="Noto Sans SC" pitchFamily="34" charset="0"/>
                <a:ea typeface="Noto Sans SC" pitchFamily="34" charset="-122"/>
                <a:cs typeface="Noto Sans SC" pitchFamily="34" charset="-120"/>
              </a:rPr>
              <a:t>Student volunteer reads each success criterion aloud — class responds with the target word or sentence. Self-assess with thumbs against each of the 3 criteria.</a:t>
            </a:r>
            <a:endParaRPr lang="en-US" sz="1000" dirty="0"/>
          </a:p>
        </p:txBody>
      </p:sp>
      <p:sp>
        <p:nvSpPr>
          <p:cNvPr id="18" name="Shape 16"/>
          <p:cNvSpPr/>
          <p:nvPr/>
        </p:nvSpPr>
        <p:spPr>
          <a:xfrm>
            <a:off x="762000" y="6685062"/>
            <a:ext cx="10668000" cy="0"/>
          </a:xfrm>
          <a:prstGeom prst="line">
            <a:avLst/>
          </a:prstGeom>
          <a:noFill/>
          <a:ln w="9525">
            <a:solidFill>
              <a:srgbClr val="E5DFD0"/>
            </a:solidFill>
            <a:prstDash val="solid"/>
          </a:ln>
        </p:spPr>
      </p:sp>
      <p:sp>
        <p:nvSpPr>
          <p:cNvPr id="19" name="Text 17"/>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EFCF7"/>
        </a:solidFill>
      </p:bgPr>
    </p:bg>
    <p:spTree>
      <p:nvGrpSpPr>
        <p:cNvPr id="1" name=""/>
        <p:cNvGrpSpPr/>
        <p:nvPr/>
      </p:nvGrpSpPr>
      <p:grpSpPr>
        <a:xfrm>
          <a:off x="0" y="0"/>
          <a:ext cx="0" cy="0"/>
          <a:chOff x="0" y="0"/>
          <a:chExt cx="0" cy="0"/>
        </a:xfrm>
      </p:grpSpPr>
      <p:sp>
        <p:nvSpPr>
          <p:cNvPr id="2" name="Shape 0"/>
          <p:cNvSpPr/>
          <p:nvPr/>
        </p:nvSpPr>
        <p:spPr>
          <a:xfrm>
            <a:off x="762000" y="249138"/>
            <a:ext cx="10668000" cy="0"/>
          </a:xfrm>
          <a:prstGeom prst="line">
            <a:avLst/>
          </a:prstGeom>
          <a:noFill/>
          <a:ln w="9525">
            <a:solidFill>
              <a:srgbClr val="E5DFD0"/>
            </a:solidFill>
            <a:prstDash val="solid"/>
          </a:ln>
        </p:spPr>
      </p:sp>
      <p:sp>
        <p:nvSpPr>
          <p:cNvPr id="3" name="Text 1"/>
          <p:cNvSpPr/>
          <p:nvPr/>
        </p:nvSpPr>
        <p:spPr>
          <a:xfrm>
            <a:off x="762000" y="0"/>
            <a:ext cx="10881360" cy="193625"/>
          </a:xfrm>
          <a:prstGeom prst="rect">
            <a:avLst/>
          </a:prstGeom>
          <a:noFill/>
          <a:ln/>
        </p:spPr>
        <p:txBody>
          <a:bodyPr wrap="square" lIns="0" tIns="50800" rIns="0" bIns="0" rtlCol="0" anchor="t"/>
          <a:lstStyle/>
          <a:p>
            <a:pPr algn="l" indent="0" marL="0">
              <a:buNone/>
            </a:pPr>
            <a:r>
              <a:rPr lang="en-US" sz="800" b="1" dirty="0">
                <a:solidFill>
                  <a:srgbClr val="C8943E"/>
                </a:solidFill>
                <a:latin typeface="Noto Sans SC" pitchFamily="34" charset="0"/>
                <a:ea typeface="Noto Sans SC" pitchFamily="34" charset="-122"/>
                <a:cs typeface="Noto Sans SC" pitchFamily="34" charset="-120"/>
              </a:rPr>
              <a:t>L4 · TEXT 1 + 正在   |   Preview · Next Lesson</a:t>
            </a:r>
            <a:endParaRPr lang="en-US" sz="800" dirty="0"/>
          </a:p>
        </p:txBody>
      </p:sp>
      <p:sp>
        <p:nvSpPr>
          <p:cNvPr id="4" name="Text 2"/>
          <p:cNvSpPr/>
          <p:nvPr/>
        </p:nvSpPr>
        <p:spPr>
          <a:xfrm>
            <a:off x="-121920" y="1015901"/>
            <a:ext cx="12435840" cy="180975"/>
          </a:xfrm>
          <a:prstGeom prst="rect">
            <a:avLst/>
          </a:prstGeom>
          <a:noFill/>
          <a:ln/>
        </p:spPr>
        <p:txBody>
          <a:bodyPr wrap="square" lIns="0" tIns="0" rIns="0" bIns="0" rtlCol="0" anchor="t"/>
          <a:lstStyle/>
          <a:p>
            <a:pPr algn="ctr" indent="0" marL="0">
              <a:buNone/>
            </a:pPr>
            <a:r>
              <a:rPr lang="en-US" sz="1000" b="1" dirty="0">
                <a:solidFill>
                  <a:srgbClr val="C8943E"/>
                </a:solidFill>
                <a:latin typeface="Noto Sans SC" pitchFamily="34" charset="0"/>
                <a:ea typeface="Noto Sans SC" pitchFamily="34" charset="-122"/>
                <a:cs typeface="Noto Sans SC" pitchFamily="34" charset="-120"/>
              </a:rPr>
              <a:t>COMING UP NEXT · L5</a:t>
            </a:r>
            <a:endParaRPr lang="en-US" sz="1000" dirty="0"/>
          </a:p>
        </p:txBody>
      </p:sp>
      <p:sp>
        <p:nvSpPr>
          <p:cNvPr id="5" name="Text 3"/>
          <p:cNvSpPr/>
          <p:nvPr/>
        </p:nvSpPr>
        <p:spPr>
          <a:xfrm>
            <a:off x="-121920" y="1273076"/>
            <a:ext cx="12435840" cy="714375"/>
          </a:xfrm>
          <a:prstGeom prst="rect">
            <a:avLst/>
          </a:prstGeom>
          <a:noFill/>
          <a:ln/>
        </p:spPr>
        <p:txBody>
          <a:bodyPr wrap="square" lIns="0" tIns="0" rIns="0" bIns="0" rtlCol="0" anchor="t"/>
          <a:lstStyle/>
          <a:p>
            <a:pPr algn="ctr" indent="0" marL="0">
              <a:spcBef>
                <a:spcPts val="600"/>
              </a:spcBef>
              <a:buNone/>
            </a:pPr>
            <a:r>
              <a:rPr lang="en-US" sz="4000" b="1" dirty="0">
                <a:solidFill>
                  <a:srgbClr val="1E2A38"/>
                </a:solidFill>
                <a:latin typeface="Noto Serif SC" pitchFamily="34" charset="0"/>
                <a:ea typeface="Noto Serif SC" pitchFamily="34" charset="-122"/>
                <a:cs typeface="Noto Serif SC" pitchFamily="34" charset="-120"/>
              </a:rPr>
              <a:t>在……呢</a:t>
            </a:r>
            <a:endParaRPr lang="en-US" sz="4000" dirty="0"/>
          </a:p>
        </p:txBody>
      </p:sp>
      <p:sp>
        <p:nvSpPr>
          <p:cNvPr id="6" name="Text 4"/>
          <p:cNvSpPr/>
          <p:nvPr/>
        </p:nvSpPr>
        <p:spPr>
          <a:xfrm>
            <a:off x="-121920" y="2063651"/>
            <a:ext cx="12435840" cy="247650"/>
          </a:xfrm>
          <a:prstGeom prst="rect">
            <a:avLst/>
          </a:prstGeom>
          <a:noFill/>
          <a:ln/>
        </p:spPr>
        <p:txBody>
          <a:bodyPr wrap="square" lIns="0" tIns="0" rIns="0" bIns="0" rtlCol="0" anchor="t"/>
          <a:lstStyle/>
          <a:p>
            <a:pPr algn="ctr" indent="0" marL="0">
              <a:spcBef>
                <a:spcPts val="600"/>
              </a:spcBef>
              <a:buNone/>
            </a:pPr>
            <a:r>
              <a:rPr lang="en-US" sz="1400" dirty="0">
                <a:solidFill>
                  <a:srgbClr val="8B94A3"/>
                </a:solidFill>
                <a:latin typeface="Noto Sans SC" pitchFamily="34" charset="0"/>
                <a:ea typeface="Noto Sans SC" pitchFamily="34" charset="-122"/>
                <a:cs typeface="Noto Sans SC" pitchFamily="34" charset="-120"/>
              </a:rPr>
              <a:t>New words — homework, computer games, basketball — plus a stronger way to say "right now"</a:t>
            </a:r>
            <a:endParaRPr lang="en-US" sz="1400" dirty="0"/>
          </a:p>
        </p:txBody>
      </p:sp>
      <p:sp>
        <p:nvSpPr>
          <p:cNvPr id="7" name="Text 5"/>
          <p:cNvSpPr/>
          <p:nvPr/>
        </p:nvSpPr>
        <p:spPr>
          <a:xfrm>
            <a:off x="1650950" y="2793950"/>
            <a:ext cx="2667000" cy="1396901"/>
          </a:xfrm>
          <a:prstGeom prst="roundRect">
            <a:avLst>
              <a:gd name="adj" fmla="val 9092"/>
            </a:avLst>
          </a:prstGeom>
          <a:solidFill>
            <a:srgbClr val="F6F2E8"/>
          </a:solidFill>
          <a:ln w="9525">
            <a:solidFill>
              <a:srgbClr val="E5DFD0"/>
            </a:solidFill>
          </a:ln>
        </p:spPr>
        <p:txBody>
          <a:bodyPr wrap="square" rtlCol="0" anchor="ctr"/>
          <a:lstStyle/>
          <a:p>
            <a:pPr indent="0" marL="0">
              <a:buNone/>
            </a:pPr>
            <a:endParaRPr lang="en-US" dirty="0"/>
          </a:p>
        </p:txBody>
      </p:sp>
      <p:sp>
        <p:nvSpPr>
          <p:cNvPr id="8" name="Text 6"/>
          <p:cNvSpPr/>
          <p:nvPr/>
        </p:nvSpPr>
        <p:spPr>
          <a:xfrm>
            <a:off x="1633996" y="2981176"/>
            <a:ext cx="2700909" cy="466725"/>
          </a:xfrm>
          <a:prstGeom prst="rect">
            <a:avLst/>
          </a:prstGeom>
          <a:noFill/>
          <a:ln/>
        </p:spPr>
        <p:txBody>
          <a:bodyPr wrap="square" lIns="0" tIns="0" rIns="0" bIns="0" rtlCol="0" anchor="t"/>
          <a:lstStyle/>
          <a:p>
            <a:pPr algn="ctr" indent="0" marL="0">
              <a:buNone/>
            </a:pPr>
            <a:r>
              <a:rPr lang="en-US" sz="2600" dirty="0">
                <a:solidFill>
                  <a:srgbClr val="000000"/>
                </a:solidFill>
                <a:latin typeface="Noto Sans SC" pitchFamily="34" charset="0"/>
                <a:ea typeface="Noto Sans SC" pitchFamily="34" charset="-122"/>
                <a:cs typeface="Noto Sans SC" pitchFamily="34" charset="-120"/>
              </a:rPr>
              <a:t>📝</a:t>
            </a:r>
            <a:endParaRPr lang="en-US" sz="2600" dirty="0"/>
          </a:p>
        </p:txBody>
      </p:sp>
      <p:sp>
        <p:nvSpPr>
          <p:cNvPr id="9" name="Text 7"/>
          <p:cNvSpPr/>
          <p:nvPr/>
        </p:nvSpPr>
        <p:spPr>
          <a:xfrm>
            <a:off x="1633996" y="3524101"/>
            <a:ext cx="2700909" cy="247650"/>
          </a:xfrm>
          <a:prstGeom prst="rect">
            <a:avLst/>
          </a:prstGeom>
          <a:noFill/>
          <a:ln/>
        </p:spPr>
        <p:txBody>
          <a:bodyPr wrap="square" lIns="0" tIns="0" rIns="0" bIns="0" rtlCol="0" anchor="t"/>
          <a:lstStyle/>
          <a:p>
            <a:pPr algn="ctr" indent="0" marL="0">
              <a:spcBef>
                <a:spcPts val="600"/>
              </a:spcBef>
              <a:buNone/>
            </a:pPr>
            <a:r>
              <a:rPr lang="en-US" sz="1400" b="1" dirty="0">
                <a:solidFill>
                  <a:srgbClr val="1E2A38"/>
                </a:solidFill>
                <a:latin typeface="Noto Serif SC" pitchFamily="34" charset="0"/>
                <a:ea typeface="Noto Serif SC" pitchFamily="34" charset="-122"/>
                <a:cs typeface="Noto Serif SC" pitchFamily="34" charset="-120"/>
              </a:rPr>
              <a:t>作业 · 做作业</a:t>
            </a:r>
            <a:endParaRPr lang="en-US" sz="1400" dirty="0"/>
          </a:p>
        </p:txBody>
      </p:sp>
      <p:sp>
        <p:nvSpPr>
          <p:cNvPr id="10" name="Text 8"/>
          <p:cNvSpPr/>
          <p:nvPr/>
        </p:nvSpPr>
        <p:spPr>
          <a:xfrm>
            <a:off x="1633996" y="3771751"/>
            <a:ext cx="2700909" cy="161925"/>
          </a:xfrm>
          <a:prstGeom prst="rect">
            <a:avLst/>
          </a:prstGeom>
          <a:noFill/>
          <a:ln/>
        </p:spPr>
        <p:txBody>
          <a:bodyPr wrap="square" lIns="0" tIns="0" rIns="0" bIns="0" rtlCol="0" anchor="t"/>
          <a:lstStyle/>
          <a:p>
            <a:pPr algn="ctr" indent="0" marL="0">
              <a:buNone/>
            </a:pPr>
            <a:r>
              <a:rPr lang="en-US" sz="900" dirty="0">
                <a:solidFill>
                  <a:srgbClr val="8B94A3"/>
                </a:solidFill>
                <a:latin typeface="Noto Sans SC" pitchFamily="34" charset="0"/>
                <a:ea typeface="Noto Sans SC" pitchFamily="34" charset="-122"/>
                <a:cs typeface="Noto Sans SC" pitchFamily="34" charset="-120"/>
              </a:rPr>
              <a:t>homework; do homework</a:t>
            </a:r>
            <a:endParaRPr lang="en-US" sz="900" dirty="0"/>
          </a:p>
        </p:txBody>
      </p:sp>
      <p:sp>
        <p:nvSpPr>
          <p:cNvPr id="11" name="Text 9"/>
          <p:cNvSpPr/>
          <p:nvPr/>
        </p:nvSpPr>
        <p:spPr>
          <a:xfrm>
            <a:off x="4762500" y="2793950"/>
            <a:ext cx="2667000" cy="1396901"/>
          </a:xfrm>
          <a:prstGeom prst="roundRect">
            <a:avLst>
              <a:gd name="adj" fmla="val 9092"/>
            </a:avLst>
          </a:prstGeom>
          <a:solidFill>
            <a:srgbClr val="F6F2E8"/>
          </a:solidFill>
          <a:ln w="9525">
            <a:solidFill>
              <a:srgbClr val="E5DFD0"/>
            </a:solidFill>
          </a:ln>
        </p:spPr>
        <p:txBody>
          <a:bodyPr wrap="square" rtlCol="0" anchor="ctr"/>
          <a:lstStyle/>
          <a:p>
            <a:pPr indent="0" marL="0">
              <a:buNone/>
            </a:pPr>
            <a:endParaRPr lang="en-US" dirty="0"/>
          </a:p>
        </p:txBody>
      </p:sp>
      <p:sp>
        <p:nvSpPr>
          <p:cNvPr id="12" name="Text 10"/>
          <p:cNvSpPr/>
          <p:nvPr/>
        </p:nvSpPr>
        <p:spPr>
          <a:xfrm>
            <a:off x="4745546" y="2981176"/>
            <a:ext cx="2700909" cy="466725"/>
          </a:xfrm>
          <a:prstGeom prst="rect">
            <a:avLst/>
          </a:prstGeom>
          <a:noFill/>
          <a:ln/>
        </p:spPr>
        <p:txBody>
          <a:bodyPr wrap="square" lIns="0" tIns="0" rIns="0" bIns="0" rtlCol="0" anchor="t"/>
          <a:lstStyle/>
          <a:p>
            <a:pPr algn="ctr" indent="0" marL="0">
              <a:buNone/>
            </a:pPr>
            <a:r>
              <a:rPr lang="en-US" sz="2600" dirty="0">
                <a:solidFill>
                  <a:srgbClr val="000000"/>
                </a:solidFill>
                <a:latin typeface="Noto Sans SC" pitchFamily="34" charset="0"/>
                <a:ea typeface="Noto Sans SC" pitchFamily="34" charset="-122"/>
                <a:cs typeface="Noto Sans SC" pitchFamily="34" charset="-120"/>
              </a:rPr>
              <a:t>🎮</a:t>
            </a:r>
            <a:endParaRPr lang="en-US" sz="2600" dirty="0"/>
          </a:p>
        </p:txBody>
      </p:sp>
      <p:sp>
        <p:nvSpPr>
          <p:cNvPr id="13" name="Text 11"/>
          <p:cNvSpPr/>
          <p:nvPr/>
        </p:nvSpPr>
        <p:spPr>
          <a:xfrm>
            <a:off x="4745546" y="3524101"/>
            <a:ext cx="2700909" cy="247650"/>
          </a:xfrm>
          <a:prstGeom prst="rect">
            <a:avLst/>
          </a:prstGeom>
          <a:noFill/>
          <a:ln/>
        </p:spPr>
        <p:txBody>
          <a:bodyPr wrap="square" lIns="0" tIns="0" rIns="0" bIns="0" rtlCol="0" anchor="t"/>
          <a:lstStyle/>
          <a:p>
            <a:pPr algn="ctr" indent="0" marL="0">
              <a:spcBef>
                <a:spcPts val="600"/>
              </a:spcBef>
              <a:buNone/>
            </a:pPr>
            <a:r>
              <a:rPr lang="en-US" sz="1400" b="1" dirty="0">
                <a:solidFill>
                  <a:srgbClr val="1E2A38"/>
                </a:solidFill>
                <a:latin typeface="Noto Serif SC" pitchFamily="34" charset="0"/>
                <a:ea typeface="Noto Serif SC" pitchFamily="34" charset="-122"/>
                <a:cs typeface="Noto Serif SC" pitchFamily="34" charset="-120"/>
              </a:rPr>
              <a:t>电脑游戏</a:t>
            </a:r>
            <a:endParaRPr lang="en-US" sz="1400" dirty="0"/>
          </a:p>
        </p:txBody>
      </p:sp>
      <p:sp>
        <p:nvSpPr>
          <p:cNvPr id="14" name="Text 12"/>
          <p:cNvSpPr/>
          <p:nvPr/>
        </p:nvSpPr>
        <p:spPr>
          <a:xfrm>
            <a:off x="4745546" y="3771751"/>
            <a:ext cx="2700909" cy="161925"/>
          </a:xfrm>
          <a:prstGeom prst="rect">
            <a:avLst/>
          </a:prstGeom>
          <a:noFill/>
          <a:ln/>
        </p:spPr>
        <p:txBody>
          <a:bodyPr wrap="square" lIns="0" tIns="0" rIns="0" bIns="0" rtlCol="0" anchor="t"/>
          <a:lstStyle/>
          <a:p>
            <a:pPr algn="ctr" indent="0" marL="0">
              <a:buNone/>
            </a:pPr>
            <a:r>
              <a:rPr lang="en-US" sz="900" dirty="0">
                <a:solidFill>
                  <a:srgbClr val="8B94A3"/>
                </a:solidFill>
                <a:latin typeface="Noto Sans SC" pitchFamily="34" charset="0"/>
                <a:ea typeface="Noto Sans SC" pitchFamily="34" charset="-122"/>
                <a:cs typeface="Noto Sans SC" pitchFamily="34" charset="-120"/>
              </a:rPr>
              <a:t>computer game</a:t>
            </a:r>
            <a:endParaRPr lang="en-US" sz="900" dirty="0"/>
          </a:p>
        </p:txBody>
      </p:sp>
      <p:sp>
        <p:nvSpPr>
          <p:cNvPr id="15" name="Text 13"/>
          <p:cNvSpPr/>
          <p:nvPr/>
        </p:nvSpPr>
        <p:spPr>
          <a:xfrm>
            <a:off x="7873901" y="2793950"/>
            <a:ext cx="2667000" cy="1396901"/>
          </a:xfrm>
          <a:prstGeom prst="roundRect">
            <a:avLst>
              <a:gd name="adj" fmla="val 9092"/>
            </a:avLst>
          </a:prstGeom>
          <a:solidFill>
            <a:srgbClr val="F6F2E8"/>
          </a:solidFill>
          <a:ln w="9525">
            <a:solidFill>
              <a:srgbClr val="E5DFD0"/>
            </a:solidFill>
          </a:ln>
        </p:spPr>
        <p:txBody>
          <a:bodyPr wrap="square" rtlCol="0" anchor="ctr"/>
          <a:lstStyle/>
          <a:p>
            <a:pPr indent="0" marL="0">
              <a:buNone/>
            </a:pPr>
            <a:endParaRPr lang="en-US" dirty="0"/>
          </a:p>
        </p:txBody>
      </p:sp>
      <p:sp>
        <p:nvSpPr>
          <p:cNvPr id="16" name="Text 14"/>
          <p:cNvSpPr/>
          <p:nvPr/>
        </p:nvSpPr>
        <p:spPr>
          <a:xfrm>
            <a:off x="7856946" y="2981176"/>
            <a:ext cx="2700909" cy="466725"/>
          </a:xfrm>
          <a:prstGeom prst="rect">
            <a:avLst/>
          </a:prstGeom>
          <a:noFill/>
          <a:ln/>
        </p:spPr>
        <p:txBody>
          <a:bodyPr wrap="square" lIns="0" tIns="0" rIns="0" bIns="0" rtlCol="0" anchor="t"/>
          <a:lstStyle/>
          <a:p>
            <a:pPr algn="ctr" indent="0" marL="0">
              <a:buNone/>
            </a:pPr>
            <a:r>
              <a:rPr lang="en-US" sz="2600" dirty="0">
                <a:solidFill>
                  <a:srgbClr val="000000"/>
                </a:solidFill>
                <a:latin typeface="Noto Sans SC" pitchFamily="34" charset="0"/>
                <a:ea typeface="Noto Sans SC" pitchFamily="34" charset="-122"/>
                <a:cs typeface="Noto Sans SC" pitchFamily="34" charset="-120"/>
              </a:rPr>
              <a:t>🏀</a:t>
            </a:r>
            <a:endParaRPr lang="en-US" sz="2600" dirty="0"/>
          </a:p>
        </p:txBody>
      </p:sp>
      <p:sp>
        <p:nvSpPr>
          <p:cNvPr id="17" name="Text 15"/>
          <p:cNvSpPr/>
          <p:nvPr/>
        </p:nvSpPr>
        <p:spPr>
          <a:xfrm>
            <a:off x="7856946" y="3524101"/>
            <a:ext cx="2700909" cy="247650"/>
          </a:xfrm>
          <a:prstGeom prst="rect">
            <a:avLst/>
          </a:prstGeom>
          <a:noFill/>
          <a:ln/>
        </p:spPr>
        <p:txBody>
          <a:bodyPr wrap="square" lIns="0" tIns="0" rIns="0" bIns="0" rtlCol="0" anchor="t"/>
          <a:lstStyle/>
          <a:p>
            <a:pPr algn="ctr" indent="0" marL="0">
              <a:spcBef>
                <a:spcPts val="600"/>
              </a:spcBef>
              <a:buNone/>
            </a:pPr>
            <a:r>
              <a:rPr lang="en-US" sz="1400" b="1" dirty="0">
                <a:solidFill>
                  <a:srgbClr val="1E2A38"/>
                </a:solidFill>
                <a:latin typeface="Noto Serif SC" pitchFamily="34" charset="0"/>
                <a:ea typeface="Noto Serif SC" pitchFamily="34" charset="-122"/>
                <a:cs typeface="Noto Serif SC" pitchFamily="34" charset="-120"/>
              </a:rPr>
              <a:t>篮球 · 打篮球</a:t>
            </a:r>
            <a:endParaRPr lang="en-US" sz="1400" dirty="0"/>
          </a:p>
        </p:txBody>
      </p:sp>
      <p:sp>
        <p:nvSpPr>
          <p:cNvPr id="18" name="Text 16"/>
          <p:cNvSpPr/>
          <p:nvPr/>
        </p:nvSpPr>
        <p:spPr>
          <a:xfrm>
            <a:off x="7856946" y="3771751"/>
            <a:ext cx="2700909" cy="161925"/>
          </a:xfrm>
          <a:prstGeom prst="rect">
            <a:avLst/>
          </a:prstGeom>
          <a:noFill/>
          <a:ln/>
        </p:spPr>
        <p:txBody>
          <a:bodyPr wrap="square" lIns="0" tIns="0" rIns="0" bIns="0" rtlCol="0" anchor="t"/>
          <a:lstStyle/>
          <a:p>
            <a:pPr algn="ctr" indent="0" marL="0">
              <a:buNone/>
            </a:pPr>
            <a:r>
              <a:rPr lang="en-US" sz="900" dirty="0">
                <a:solidFill>
                  <a:srgbClr val="8B94A3"/>
                </a:solidFill>
                <a:latin typeface="Noto Sans SC" pitchFamily="34" charset="0"/>
                <a:ea typeface="Noto Sans SC" pitchFamily="34" charset="-122"/>
                <a:cs typeface="Noto Sans SC" pitchFamily="34" charset="-120"/>
              </a:rPr>
              <a:t>basketball; play basketball</a:t>
            </a:r>
            <a:endParaRPr lang="en-US" sz="900" dirty="0"/>
          </a:p>
        </p:txBody>
      </p:sp>
      <p:sp>
        <p:nvSpPr>
          <p:cNvPr id="19" name="Text 17"/>
          <p:cNvSpPr/>
          <p:nvPr/>
        </p:nvSpPr>
        <p:spPr>
          <a:xfrm>
            <a:off x="3555950" y="4572000"/>
            <a:ext cx="5079950" cy="1015901"/>
          </a:xfrm>
          <a:prstGeom prst="roundRect">
            <a:avLst>
              <a:gd name="adj" fmla="val 12501"/>
            </a:avLst>
          </a:prstGeom>
          <a:solidFill>
            <a:srgbClr val="EDE7D7"/>
          </a:solidFill>
          <a:ln/>
        </p:spPr>
        <p:txBody>
          <a:bodyPr wrap="square" rtlCol="0" anchor="ctr"/>
          <a:lstStyle/>
          <a:p>
            <a:pPr indent="0" marL="0">
              <a:buNone/>
            </a:pPr>
            <a:endParaRPr lang="en-US" dirty="0"/>
          </a:p>
        </p:txBody>
      </p:sp>
      <p:sp>
        <p:nvSpPr>
          <p:cNvPr id="20" name="Text 18"/>
          <p:cNvSpPr/>
          <p:nvPr/>
        </p:nvSpPr>
        <p:spPr>
          <a:xfrm>
            <a:off x="3816047" y="4724400"/>
            <a:ext cx="4559757" cy="142875"/>
          </a:xfrm>
          <a:prstGeom prst="rect">
            <a:avLst/>
          </a:prstGeom>
          <a:noFill/>
          <a:ln/>
        </p:spPr>
        <p:txBody>
          <a:bodyPr wrap="square" lIns="0" tIns="0" rIns="0" bIns="0" rtlCol="0" anchor="t"/>
          <a:lstStyle/>
          <a:p>
            <a:pPr algn="ctr" indent="0" marL="0">
              <a:buNone/>
            </a:pPr>
            <a:r>
              <a:rPr lang="en-US" sz="800" b="1" dirty="0">
                <a:solidFill>
                  <a:srgbClr val="C8943E"/>
                </a:solidFill>
                <a:latin typeface="Noto Sans SC" pitchFamily="34" charset="0"/>
                <a:ea typeface="Noto Sans SC" pitchFamily="34" charset="-122"/>
                <a:cs typeface="Noto Sans SC" pitchFamily="34" charset="-120"/>
              </a:rPr>
              <a:t>COMING UP</a:t>
            </a:r>
            <a:endParaRPr lang="en-US" sz="800" dirty="0"/>
          </a:p>
        </p:txBody>
      </p:sp>
      <p:sp>
        <p:nvSpPr>
          <p:cNvPr id="21" name="Text 19"/>
          <p:cNvSpPr/>
          <p:nvPr/>
        </p:nvSpPr>
        <p:spPr>
          <a:xfrm>
            <a:off x="3816047" y="4918025"/>
            <a:ext cx="4559757" cy="342900"/>
          </a:xfrm>
          <a:prstGeom prst="rect">
            <a:avLst/>
          </a:prstGeom>
          <a:noFill/>
          <a:ln/>
        </p:spPr>
        <p:txBody>
          <a:bodyPr wrap="square" lIns="0" tIns="0" rIns="0" bIns="0" rtlCol="0" anchor="t"/>
          <a:lstStyle/>
          <a:p>
            <a:pPr algn="ctr" indent="0" marL="0">
              <a:spcBef>
                <a:spcPts val="400"/>
              </a:spcBef>
              <a:buNone/>
            </a:pPr>
            <a:r>
              <a:rPr lang="en-US" sz="1900" b="1" dirty="0">
                <a:solidFill>
                  <a:srgbClr val="1E2A38"/>
                </a:solidFill>
                <a:latin typeface="Noto Serif SC" pitchFamily="34" charset="0"/>
                <a:ea typeface="Noto Serif SC" pitchFamily="34" charset="-122"/>
                <a:cs typeface="Noto Serif SC" pitchFamily="34" charset="-120"/>
              </a:rPr>
              <a:t>你在干什么呢？</a:t>
            </a:r>
            <a:endParaRPr lang="en-US" sz="1900" dirty="0"/>
          </a:p>
        </p:txBody>
      </p:sp>
      <p:sp>
        <p:nvSpPr>
          <p:cNvPr id="22" name="Text 20"/>
          <p:cNvSpPr/>
          <p:nvPr/>
        </p:nvSpPr>
        <p:spPr>
          <a:xfrm>
            <a:off x="3816047" y="5299025"/>
            <a:ext cx="4559757" cy="180975"/>
          </a:xfrm>
          <a:prstGeom prst="rect">
            <a:avLst/>
          </a:prstGeom>
          <a:noFill/>
          <a:ln/>
        </p:spPr>
        <p:txBody>
          <a:bodyPr wrap="square" lIns="0" tIns="0" rIns="0" bIns="0" rtlCol="0" anchor="t"/>
          <a:lstStyle/>
          <a:p>
            <a:pPr algn="ctr" indent="0" marL="0">
              <a:spcBef>
                <a:spcPts val="300"/>
              </a:spcBef>
              <a:buNone/>
            </a:pPr>
            <a:r>
              <a:rPr lang="en-US" sz="1000" dirty="0">
                <a:solidFill>
                  <a:srgbClr val="5B6677"/>
                </a:solidFill>
                <a:latin typeface="Noto Sans SC" pitchFamily="34" charset="0"/>
                <a:ea typeface="Noto Sans SC" pitchFamily="34" charset="-122"/>
                <a:cs typeface="Noto Sans SC" pitchFamily="34" charset="-120"/>
              </a:rPr>
              <a:t>stronger than 正在</a:t>
            </a:r>
            <a:endParaRPr lang="en-US" sz="1000" dirty="0"/>
          </a:p>
        </p:txBody>
      </p:sp>
      <p:sp>
        <p:nvSpPr>
          <p:cNvPr id="23" name="Shape 21"/>
          <p:cNvSpPr/>
          <p:nvPr/>
        </p:nvSpPr>
        <p:spPr>
          <a:xfrm>
            <a:off x="762000" y="6685062"/>
            <a:ext cx="10668000" cy="0"/>
          </a:xfrm>
          <a:prstGeom prst="line">
            <a:avLst/>
          </a:prstGeom>
          <a:noFill/>
          <a:ln w="9525">
            <a:solidFill>
              <a:srgbClr val="E5DFD0"/>
            </a:solidFill>
            <a:prstDash val="solid"/>
          </a:ln>
        </p:spPr>
      </p:sp>
      <p:sp>
        <p:nvSpPr>
          <p:cNvPr id="24" name="Text 22"/>
          <p:cNvSpPr/>
          <p:nvPr/>
        </p:nvSpPr>
        <p:spPr>
          <a:xfrm>
            <a:off x="762000" y="6689824"/>
            <a:ext cx="10881360" cy="161925"/>
          </a:xfrm>
          <a:prstGeom prst="rect">
            <a:avLst/>
          </a:prstGeom>
          <a:noFill/>
          <a:ln/>
        </p:spPr>
        <p:txBody>
          <a:bodyPr wrap="square" lIns="0" tIns="38100" rIns="0" bIns="0" rtlCol="0" anchor="t"/>
          <a:lstStyle/>
          <a:p>
            <a:pPr algn="l" indent="0" marL="0">
              <a:buNone/>
            </a:pPr>
            <a:r>
              <a:rPr lang="en-US" sz="700" dirty="0">
                <a:solidFill>
                  <a:srgbClr val="8B94A3"/>
                </a:solidFill>
                <a:latin typeface="Noto Sans SC" pitchFamily="34" charset="0"/>
                <a:ea typeface="Noto Sans SC" pitchFamily="34" charset="-122"/>
                <a:cs typeface="Noto Sans SC" pitchFamily="34" charset="-120"/>
              </a:rPr>
              <a:t>Y8 Chinese · Unit 3 Hobbies 爱好</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2026-07-25T00:50:47Z</dcterms:created>
  <dcterms:modified xsi:type="dcterms:W3CDTF">2026-07-25T00:50:47Z</dcterms:modified>
</cp:coreProperties>
</file>