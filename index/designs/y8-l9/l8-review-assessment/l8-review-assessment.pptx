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0" y="762000"/>
            <a:ext cx="1684121" cy="1650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0"/>
              </a:lnSpc>
              <a:buNone/>
            </a:pPr>
            <a:r>
              <a:rPr lang="en-US" sz="13000" b="1" dirty="0">
                <a:solidFill>
                  <a:srgbClr val="F5E9D2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舞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3546442" y="2365474"/>
            <a:ext cx="50989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LESSON 8 OF 8 · Y8 UNIT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46442" y="2698849"/>
            <a:ext cx="5098968" cy="8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0"/>
              </a:lnSpc>
              <a:spcAft>
                <a:spcPts val="400"/>
              </a:spcAft>
              <a:buNone/>
            </a:pPr>
            <a:r>
              <a:rPr lang="en-US" sz="7000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爱好</a:t>
            </a:r>
            <a:r>
              <a:rPr lang="en-US" sz="7000" b="1" dirty="0">
                <a:solidFill>
                  <a:srgbClr val="C8943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·</a:t>
            </a:r>
            <a:r>
              <a:rPr lang="en-US" sz="7000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舞蹈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3546442" y="3638550"/>
            <a:ext cx="50989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200"/>
              </a:spcAft>
              <a:buNone/>
            </a:pPr>
            <a:r>
              <a:rPr lang="en-US" sz="16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Review + Test 3.3 Prep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46442" y="4330601"/>
            <a:ext cx="50989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Year 8 Chinese  ·  50 mins  ·  Review + Test Prep  ·  轻松学中文 Book 2 · Unit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61925"/>
            <a:ext cx="25691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L8 · REVIEW + TEST PREP | </a:t>
            </a:r>
            <a:r>
              <a:rPr lang="en-US" sz="7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REVIEW · 0–8 MIN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62000" y="660350"/>
            <a:ext cx="108813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2000" y="853976"/>
            <a:ext cx="1088136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回顾 · Five-Pattern Quick-Fire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000" y="1371451"/>
            <a:ext cx="10668000" cy="786110"/>
          </a:xfrm>
          <a:prstGeom prst="roundRect">
            <a:avLst>
              <a:gd name="adj" fmla="val 1292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23925" y="1495276"/>
            <a:ext cx="105510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RAPID MINI-WHITEBOARD QUIZ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23925" y="1692027"/>
            <a:ext cx="10344150" cy="316409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48"/>
              </a:lnSpc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Teacher reads </a:t>
            </a:r>
            <a:r>
              <a:rPr lang="en-US" sz="85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one prompt per pattern</a:t>
            </a: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students write a sentence or translation</a:t>
            </a:r>
            <a:endParaRPr lang="en-US" sz="850" dirty="0"/>
          </a:p>
          <a:p>
            <a:pPr algn="l" marL="76200" indent="-76200">
              <a:lnSpc>
                <a:spcPts val="1148"/>
              </a:lnSpc>
              <a:spcAft>
                <a:spcPts val="200"/>
              </a:spcAft>
              <a:buSzPct val="100000"/>
              <a:buChar char="•"/>
            </a:pPr>
            <a:r>
              <a:rPr lang="en-US" sz="85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Hold up on the count of three</a:t>
            </a: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after every prompt — teacher scans the room before moving 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62000" y="2271861"/>
            <a:ext cx="10668000" cy="301526"/>
          </a:xfrm>
          <a:prstGeom prst="roundRect">
            <a:avLst>
              <a:gd name="adj" fmla="val 2106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8950" y="2333774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57560" y="2360712"/>
            <a:ext cx="411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68152" y="2322612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除了……以外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66554" y="2351187"/>
            <a:ext cx="24253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Translate: "Besides dancing, I also like singing."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2000" y="2624138"/>
            <a:ext cx="10668000" cy="301526"/>
          </a:xfrm>
          <a:prstGeom prst="roundRect">
            <a:avLst>
              <a:gd name="adj" fmla="val 2106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88950" y="2686050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49523" y="2712988"/>
            <a:ext cx="57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68152" y="2674888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从……开始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66554" y="2703463"/>
            <a:ext cx="23112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Translate: "I started learning dance at age 4."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2000" y="2976414"/>
            <a:ext cx="10668000" cy="301526"/>
          </a:xfrm>
          <a:prstGeom prst="roundRect">
            <a:avLst>
              <a:gd name="adj" fmla="val 2106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88950" y="3038326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49226" y="3065264"/>
            <a:ext cx="58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68152" y="3027164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正在 / 在……呢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66554" y="3055739"/>
            <a:ext cx="19080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Translate: "She is dancing right now."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2000" y="3328690"/>
            <a:ext cx="10668000" cy="301526"/>
          </a:xfrm>
          <a:prstGeom prst="roundRect">
            <a:avLst>
              <a:gd name="adj" fmla="val 2106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8950" y="339060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48928" y="3417540"/>
            <a:ext cx="587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68152" y="3379440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吧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66554" y="3408015"/>
            <a:ext cx="21779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Turn into a suggestion: 我们一起跳舞 → ___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2000" y="3680966"/>
            <a:ext cx="10668000" cy="301526"/>
          </a:xfrm>
          <a:prstGeom prst="roundRect">
            <a:avLst>
              <a:gd name="adj" fmla="val 2106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88950" y="374287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49375" y="3769816"/>
            <a:ext cx="5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168152" y="3731716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什么时候 vs 几点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66554" y="3760291"/>
            <a:ext cx="2790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Fill the gap: ___你开始做作业？(open time, not the hour)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2000" y="4083993"/>
            <a:ext cx="10668000" cy="328761"/>
          </a:xfrm>
          <a:prstGeom prst="rect">
            <a:avLst/>
          </a:prstGeom>
          <a:solidFill>
            <a:srgbClr val="F7EE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776288" y="4083993"/>
            <a:ext cx="0" cy="328761"/>
          </a:xfrm>
          <a:prstGeom prst="line">
            <a:avLst/>
          </a:prstGeom>
          <a:noFill/>
          <a:ln w="28575">
            <a:solidFill>
              <a:srgbClr val="C894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2975" y="4172843"/>
            <a:ext cx="10541318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"Five grammar patterns, one full unit of dance vocabulary — today we pull every piece together and make sure it's </a:t>
            </a:r>
            <a:r>
              <a:rPr lang="en-US" sz="8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solid before Test 3.3</a:t>
            </a: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."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950" y="66706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61925"/>
            <a:ext cx="25706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L8 · REVIEW + TEST PREP | </a:t>
            </a:r>
            <a:r>
              <a:rPr lang="en-US" sz="7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88950" y="1789361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8950" y="2008436"/>
            <a:ext cx="106223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88950" y="2729061"/>
            <a:ext cx="10414099" cy="685800"/>
          </a:xfrm>
          <a:prstGeom prst="rect">
            <a:avLst/>
          </a:prstGeom>
          <a:solidFill>
            <a:srgbClr val="F7EE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03238" y="2729061"/>
            <a:ext cx="0" cy="685800"/>
          </a:xfrm>
          <a:prstGeom prst="line">
            <a:avLst/>
          </a:prstGeom>
          <a:noFill/>
          <a:ln w="28575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0676" y="2881461"/>
            <a:ext cx="10178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LEARNING INTENTION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20676" y="3033861"/>
            <a:ext cx="10178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 are learning to </a:t>
            </a:r>
            <a:r>
              <a:rPr lang="en-US" sz="13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review and consolidate everything from Lesson 9 (Dance)</a:t>
            </a:r>
            <a:r>
              <a:rPr lang="en-US" sz="13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ahead of the unit test.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8950" y="3681413"/>
            <a:ext cx="228600" cy="228600"/>
          </a:xfrm>
          <a:prstGeom prst="roundRect">
            <a:avLst>
              <a:gd name="adj" fmla="val 400000"/>
            </a:avLst>
          </a:prstGeom>
          <a:noFill/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8694" y="3719512"/>
            <a:ext cx="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19051" y="3668762"/>
            <a:ext cx="6437581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can write the </a:t>
            </a:r>
            <a:r>
              <a:rPr lang="en-US" sz="12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simple characters</a:t>
            </a:r>
            <a:r>
              <a:rPr lang="en-US" sz="12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from this lesson from dictation — </a:t>
            </a:r>
            <a:r>
              <a:rPr lang="en-US" sz="1200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 / 土 / 角 / 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8950" y="4049613"/>
            <a:ext cx="228600" cy="228600"/>
          </a:xfrm>
          <a:prstGeom prst="roundRect">
            <a:avLst>
              <a:gd name="adj" fmla="val 400000"/>
            </a:avLst>
          </a:prstGeom>
          <a:noFill/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68871" y="4087713"/>
            <a:ext cx="699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19051" y="4036963"/>
            <a:ext cx="5380110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can use </a:t>
            </a:r>
            <a:r>
              <a:rPr lang="en-US" sz="12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all 5 Lesson 9 grammar patterns</a:t>
            </a:r>
            <a:r>
              <a:rPr lang="en-US" sz="12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correctly in a mixed 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8950" y="4417814"/>
            <a:ext cx="228600" cy="228600"/>
          </a:xfrm>
          <a:prstGeom prst="roundRect">
            <a:avLst>
              <a:gd name="adj" fmla="val 400000"/>
            </a:avLst>
          </a:prstGeom>
          <a:noFill/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8722" y="4455914"/>
            <a:ext cx="704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19051" y="4405164"/>
            <a:ext cx="624645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can recall the </a:t>
            </a:r>
            <a:r>
              <a:rPr lang="en-US" sz="12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Lesson 9 test vocabulary list</a:t>
            </a:r>
            <a:r>
              <a:rPr lang="en-US" sz="12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</a:t>
            </a:r>
            <a:r>
              <a:rPr lang="en-US" sz="1200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跳舞, 舞蹈, 篮球场, 网球场</a:t>
            </a:r>
            <a:r>
              <a:rPr lang="en-US" sz="12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and more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8950" y="4849564"/>
            <a:ext cx="10414099" cy="396776"/>
          </a:xfrm>
          <a:prstGeom prst="roundRect">
            <a:avLst>
              <a:gd name="adj" fmla="val 19205"/>
            </a:avLst>
          </a:prstGeom>
          <a:solidFill>
            <a:srgbClr val="EAF2F3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50875" y="4947940"/>
            <a:ext cx="53321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📋 Test 3.3 vocabulary list shown next — so you know exactly what's being assessed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950" y="66706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61925"/>
            <a:ext cx="38473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L8 · REVIEW + TEST PREP | </a:t>
            </a:r>
            <a:r>
              <a:rPr lang="en-US" sz="7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DO · TEST 3.3 VOCABULARY RECAP · 10–20 MIN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34901" y="634901"/>
            <a:ext cx="11140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10–20 MIN · I DO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34901" y="793552"/>
            <a:ext cx="1114064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20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Test 3.3 词汇 · Vocabulary Recap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4901" y="1158627"/>
            <a:ext cx="111406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Everything on the test — read through once together, chorally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34901" y="1566416"/>
            <a:ext cx="5334149" cy="0"/>
          </a:xfrm>
          <a:prstGeom prst="line">
            <a:avLst/>
          </a:prstGeom>
          <a:noFill/>
          <a:ln w="9525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901" y="1412528"/>
            <a:ext cx="10362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汉字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727002" y="1412528"/>
            <a:ext cx="10362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Pinyin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819102" y="1412528"/>
            <a:ext cx="3615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English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34901" y="1826568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651" y="162818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跳舞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77752" y="162818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tiàowǔ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69853" y="1628180"/>
            <a:ext cx="441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 dance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4901" y="1831330"/>
            <a:ext cx="5334149" cy="234851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4901" y="2061418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651" y="186303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游戏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77752" y="186303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yóuxì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869853" y="1863030"/>
            <a:ext cx="2744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game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4901" y="2296269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651" y="2097881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舞蹈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77752" y="2097881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wǔdǎo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69853" y="2097881"/>
            <a:ext cx="654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dance (noun)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4901" y="2301032"/>
            <a:ext cx="5334149" cy="234851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34901" y="2531120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651" y="2332732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电脑游戏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77752" y="2332732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diànnǎo yóuxì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869853" y="2332732"/>
            <a:ext cx="7866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computer game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34901" y="2765971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651" y="2567583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功课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777752" y="2567583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gōngkè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869853" y="2567583"/>
            <a:ext cx="5147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homework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4901" y="2770733"/>
            <a:ext cx="5334149" cy="234851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34901" y="3000821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651" y="2802434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做作业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777752" y="2802434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zuò zuòyè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69853" y="2802434"/>
            <a:ext cx="6776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 homework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34901" y="3235672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651" y="3037284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什么时候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777752" y="3037284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shénme shíhou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869853" y="3037284"/>
            <a:ext cx="2606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when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4901" y="3240435"/>
            <a:ext cx="5334149" cy="234851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634901" y="3470523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651" y="3272135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干什么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777752" y="3272135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gàn shénme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869853" y="3272135"/>
            <a:ext cx="4027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 what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4901" y="3705374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651" y="3506986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时候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777752" y="3506986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shíhou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869853" y="3506986"/>
            <a:ext cx="6891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time; moment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22950" y="1566416"/>
            <a:ext cx="5334149" cy="0"/>
          </a:xfrm>
          <a:prstGeom prst="line">
            <a:avLst/>
          </a:prstGeom>
          <a:noFill/>
          <a:ln w="9525">
            <a:solidFill>
              <a:srgbClr val="C8943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22950" y="1412528"/>
            <a:ext cx="10362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汉字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315051" y="1412528"/>
            <a:ext cx="10362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Pinyin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407152" y="1412528"/>
            <a:ext cx="3615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English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222950" y="1826568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73701" y="162818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篮球场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65802" y="162818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lánqiúchǎng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457902" y="1628180"/>
            <a:ext cx="8091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basketball court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22950" y="1831330"/>
            <a:ext cx="5334149" cy="234851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6222950" y="2061418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73701" y="186303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网球场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365802" y="186303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wǎngqiúchǎng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457902" y="1863030"/>
            <a:ext cx="6016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tennis court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222950" y="2296269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73701" y="2097881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一点儿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365802" y="2097881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yìdiǎnr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457902" y="2097881"/>
            <a:ext cx="4851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little bit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222950" y="2301032"/>
            <a:ext cx="5334149" cy="234851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6222950" y="2531120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73701" y="2332732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一点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365802" y="2332732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yī diǎn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457902" y="2332732"/>
            <a:ext cx="4379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o'clock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222950" y="2765971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73701" y="2567583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一起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365802" y="2567583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yìqǐ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457902" y="2567583"/>
            <a:ext cx="4244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together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222950" y="2770733"/>
            <a:ext cx="5334149" cy="234851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6222950" y="3000821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73701" y="2802434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一块 / 一元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365802" y="2802434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yí kuài / yì yuán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457902" y="2802434"/>
            <a:ext cx="359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dollar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222950" y="3235672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73701" y="3037284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一会儿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365802" y="3037284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yíhuìr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8457902" y="3037284"/>
            <a:ext cx="6102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little while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222950" y="3240435"/>
            <a:ext cx="5334149" cy="234851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Shape 86"/>
          <p:cNvSpPr/>
          <p:nvPr/>
        </p:nvSpPr>
        <p:spPr>
          <a:xfrm>
            <a:off x="6222950" y="3470523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73701" y="3272135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跟……一起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365802" y="3272135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gēn…yìqǐ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457902" y="3272135"/>
            <a:ext cx="6697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together with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6222950" y="3705374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273701" y="3506986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一边……一边……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7365802" y="3506986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yìbiān…yìbiān…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8457902" y="3506986"/>
            <a:ext cx="887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doing while doing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6222950" y="3710136"/>
            <a:ext cx="5334149" cy="234851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Shape 95"/>
          <p:cNvSpPr/>
          <p:nvPr/>
        </p:nvSpPr>
        <p:spPr>
          <a:xfrm>
            <a:off x="6222950" y="3940225"/>
            <a:ext cx="533414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73701" y="3741837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除了……以外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365802" y="3741837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chúle…yǐwài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8457902" y="3741837"/>
            <a:ext cx="3839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besides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634901" y="4046488"/>
            <a:ext cx="3573066" cy="488007"/>
          </a:xfrm>
          <a:prstGeom prst="roundRect">
            <a:avLst>
              <a:gd name="adj" fmla="val 15615"/>
            </a:avLst>
          </a:prstGeom>
          <a:solidFill>
            <a:srgbClr val="FAECEA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771376" y="4132213"/>
            <a:ext cx="33661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 Near-homophones — say slowly!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771376" y="4319439"/>
            <a:ext cx="3366117" cy="119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一点儿 (a little bit) / 一点 (1 o'clock) / 一块 (1 dollar) / 一会儿 (a little while)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4309467" y="4046488"/>
            <a:ext cx="3573066" cy="488007"/>
          </a:xfrm>
          <a:prstGeom prst="roundRect">
            <a:avLst>
              <a:gd name="adj" fmla="val 15615"/>
            </a:avLst>
          </a:prstGeom>
          <a:solidFill>
            <a:srgbClr val="EAF2F3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4445943" y="4132213"/>
            <a:ext cx="33661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🏀 篮球场 / 网球场 extend 球场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4445943" y="4328964"/>
            <a:ext cx="3366117" cy="119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球场 (L6) + specific sport = the court name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7984034" y="4046488"/>
            <a:ext cx="3573066" cy="488007"/>
          </a:xfrm>
          <a:prstGeom prst="roundRect">
            <a:avLst>
              <a:gd name="adj" fmla="val 15615"/>
            </a:avLst>
          </a:prstGeom>
          <a:solidFill>
            <a:srgbClr val="F7EED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106"/>
          <p:cNvSpPr/>
          <p:nvPr/>
        </p:nvSpPr>
        <p:spPr>
          <a:xfrm>
            <a:off x="8120509" y="4132213"/>
            <a:ext cx="33661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💡 功课 = synonym for 作业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8120509" y="4328964"/>
            <a:ext cx="3366117" cy="119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May appear on the test though not in the New Words list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07950" y="66706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61925"/>
            <a:ext cx="27508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L8 · REVIEW + TEST PREP | </a:t>
            </a:r>
            <a:r>
              <a:rPr lang="en-US" sz="7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DO · COMMON ERRORS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5401" y="711101"/>
            <a:ext cx="107520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5401" y="917377"/>
            <a:ext cx="1075202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常见错误 · Common Errors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5401" y="1498402"/>
            <a:ext cx="10541198" cy="598438"/>
          </a:xfrm>
          <a:prstGeom prst="roundRect">
            <a:avLst>
              <a:gd name="adj" fmla="val 12733"/>
            </a:avLst>
          </a:prstGeom>
          <a:solidFill>
            <a:srgbClr val="FAECEA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2627" y="1609427"/>
            <a:ext cx="142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53877" y="1609427"/>
            <a:ext cx="65386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从五岁开始跳舞</a:t>
            </a:r>
            <a:r>
              <a:rPr lang="en-US" sz="1100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从四岁开始跳舞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53877" y="1834753"/>
            <a:ext cx="6538683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common mixup from workbook exercises — 欢欢 started dancing at </a:t>
            </a:r>
            <a:r>
              <a:rPr lang="en-US" sz="85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 4</a:t>
            </a: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, not 5. Double-check the number every time.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5401" y="2198340"/>
            <a:ext cx="10541198" cy="598438"/>
          </a:xfrm>
          <a:prstGeom prst="roundRect">
            <a:avLst>
              <a:gd name="adj" fmla="val 12733"/>
            </a:avLst>
          </a:prstGeom>
          <a:solidFill>
            <a:srgbClr val="FAECEA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12627" y="2309366"/>
            <a:ext cx="142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53877" y="2309366"/>
            <a:ext cx="58186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什么时候 </a:t>
            </a:r>
            <a:r>
              <a:rPr lang="en-US" sz="11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</a:t>
            </a:r>
            <a:r>
              <a:rPr lang="en-US" sz="1100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几点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53877" y="2534692"/>
            <a:ext cx="581867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什么时候 = </a:t>
            </a:r>
            <a:r>
              <a:rPr lang="en-US" sz="85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when</a:t>
            </a: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(any time frame — day, age, season…). 几点 = </a:t>
            </a:r>
            <a:r>
              <a:rPr lang="en-US" sz="85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what time</a:t>
            </a: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(the hour only). Don't swap them.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5401" y="2898279"/>
            <a:ext cx="10541198" cy="598438"/>
          </a:xfrm>
          <a:prstGeom prst="roundRect">
            <a:avLst>
              <a:gd name="adj" fmla="val 12733"/>
            </a:avLst>
          </a:prstGeom>
          <a:solidFill>
            <a:srgbClr val="FAECEA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12627" y="3009305"/>
            <a:ext cx="142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53877" y="3009305"/>
            <a:ext cx="6491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吧 </a:t>
            </a:r>
            <a:r>
              <a:rPr lang="en-US" sz="11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</a:t>
            </a:r>
            <a:r>
              <a:rPr lang="en-US" sz="1100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53877" y="3234630"/>
            <a:ext cx="6491320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吧 = </a:t>
            </a:r>
            <a:r>
              <a:rPr lang="en-US" sz="85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suggestion</a:t>
            </a: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("let's…", "how about…"). 呢 = </a:t>
            </a:r>
            <a:r>
              <a:rPr lang="en-US" sz="85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continuation</a:t>
            </a: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("[subject] is still …-ing"). Don't confuse the two particles.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5401" y="3598218"/>
            <a:ext cx="10541198" cy="598438"/>
          </a:xfrm>
          <a:prstGeom prst="roundRect">
            <a:avLst>
              <a:gd name="adj" fmla="val 12733"/>
            </a:avLst>
          </a:prstGeom>
          <a:solidFill>
            <a:srgbClr val="FAECEA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12627" y="3709243"/>
            <a:ext cx="142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53877" y="3709243"/>
            <a:ext cx="57921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拉小提琴 </a:t>
            </a:r>
            <a:r>
              <a:rPr lang="en-US" sz="11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</a:t>
            </a:r>
            <a:r>
              <a:rPr lang="en-US" sz="1100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弹钢琴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53877" y="3934569"/>
            <a:ext cx="5792108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Instrument verbs are </a:t>
            </a:r>
            <a:r>
              <a:rPr lang="en-US" sz="85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not interchangeable</a:t>
            </a: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拉 (pull/draw a bow) for 小提琴, 弹 (pluck/press keys) for 钢琴.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6706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61925"/>
            <a:ext cx="28279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L8 · REVIEW + TEST PREP | </a:t>
            </a:r>
            <a:r>
              <a:rPr lang="en-US" sz="7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DO · CFU CHECKPOINTS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88950" y="1827907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DO · CHECK FOR UNDERSTANDING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88950" y="2046982"/>
            <a:ext cx="1062238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5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理解检查 · CFU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88950" y="2561332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Respond as prompted — expected response shown directly below each question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2945457"/>
            <a:ext cx="10414099" cy="1055043"/>
          </a:xfrm>
          <a:prstGeom prst="roundRect">
            <a:avLst>
              <a:gd name="adj" fmla="val 963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76176" y="310738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84225" y="3146971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82477" y="3107382"/>
            <a:ext cx="45793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Thumbs up if 欢欢 started dancing at age 4, not 5. </a:t>
            </a:r>
            <a:r>
              <a:rPr lang="en-US" sz="65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THUMBS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82477" y="3412182"/>
            <a:ext cx="4489549" cy="426393"/>
          </a:xfrm>
          <a:prstGeom prst="rect">
            <a:avLst/>
          </a:prstGeom>
          <a:solidFill>
            <a:srgbClr val="EAF2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492002" y="3412182"/>
            <a:ext cx="0" cy="426393"/>
          </a:xfrm>
          <a:prstGeom prst="line">
            <a:avLst/>
          </a:prstGeom>
          <a:noFill/>
          <a:ln w="19050">
            <a:solidFill>
              <a:srgbClr val="3A7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15827" y="3475583"/>
            <a:ext cx="43267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EXPECTED RESPONSE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615827" y="3615184"/>
            <a:ext cx="43267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👍 Thumbs up — 欢欢 started at </a:t>
            </a:r>
            <a:r>
              <a:rPr lang="en-US" sz="9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四岁</a:t>
            </a:r>
            <a:r>
              <a:rPr lang="en-US" sz="9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, confirming from 从四岁开始跳舞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8950" y="4152900"/>
            <a:ext cx="10414099" cy="1055043"/>
          </a:xfrm>
          <a:prstGeom prst="roundRect">
            <a:avLst>
              <a:gd name="adj" fmla="val 963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76176" y="431482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71575" y="4354413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82477" y="4314825"/>
            <a:ext cx="6962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What's the difference between 什么时候 and 几点? Turn and tell your partner. </a:t>
            </a:r>
            <a:r>
              <a:rPr lang="en-US" sz="65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TURN &amp; TELL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482477" y="4619625"/>
            <a:ext cx="6826300" cy="426393"/>
          </a:xfrm>
          <a:prstGeom prst="rect">
            <a:avLst/>
          </a:prstGeom>
          <a:solidFill>
            <a:srgbClr val="EAF2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492002" y="4619625"/>
            <a:ext cx="0" cy="426393"/>
          </a:xfrm>
          <a:prstGeom prst="line">
            <a:avLst/>
          </a:prstGeom>
          <a:noFill/>
          <a:ln w="19050">
            <a:solidFill>
              <a:srgbClr val="3A7D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15827" y="4683026"/>
            <a:ext cx="67102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EXPECTED RESPONSE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615827" y="4822627"/>
            <a:ext cx="67102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什么时候 = </a:t>
            </a:r>
            <a:r>
              <a:rPr lang="en-US" sz="9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when</a:t>
            </a:r>
            <a:r>
              <a:rPr lang="en-US" sz="9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(any time frame — day, age, season…); 几点 = </a:t>
            </a:r>
            <a:r>
              <a:rPr lang="en-US" sz="9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what time</a:t>
            </a:r>
            <a:r>
              <a:rPr lang="en-US" sz="9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(the hour only)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6706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61925"/>
            <a:ext cx="25703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L8 · REVIEW + TEST PREP | </a:t>
            </a:r>
            <a:r>
              <a:rPr lang="en-US" sz="7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ACTIVITY 1 · WE DO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34901" y="681038"/>
            <a:ext cx="815876" cy="200025"/>
          </a:xfrm>
          <a:prstGeom prst="roundRect">
            <a:avLst>
              <a:gd name="adj" fmla="val 12698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719138"/>
            <a:ext cx="5732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ACTIVITY 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552277" y="609600"/>
            <a:ext cx="25648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Character Dictation Grid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34901" y="977801"/>
            <a:ext cx="600075" cy="212527"/>
          </a:xfrm>
          <a:prstGeom prst="roundRect">
            <a:avLst>
              <a:gd name="adj" fmla="val 119514"/>
            </a:avLst>
          </a:prstGeom>
          <a:solidFill>
            <a:srgbClr val="F7EED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5927" y="1012627"/>
            <a:ext cx="385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⏱ 8 min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311176" y="1001613"/>
            <a:ext cx="497681" cy="164902"/>
          </a:xfrm>
          <a:prstGeom prst="roundRect">
            <a:avLst>
              <a:gd name="adj" fmla="val 154031"/>
            </a:avLst>
          </a:prstGeom>
          <a:solidFill>
            <a:srgbClr val="EAF2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00026" y="1026914"/>
            <a:ext cx="3263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 DO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634901" y="1291828"/>
            <a:ext cx="3048000" cy="2324100"/>
          </a:xfrm>
          <a:prstGeom prst="roundRect">
            <a:avLst>
              <a:gd name="adj" fmla="val 4372"/>
            </a:avLst>
          </a:prstGeom>
          <a:noFill/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3951" y="1310878"/>
            <a:ext cx="601861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1576" y="1345704"/>
            <a:ext cx="294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865882" y="14156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平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55812" y="13108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03437" y="1345704"/>
            <a:ext cx="41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1467892" y="14156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57821" y="13108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05446" y="1345704"/>
            <a:ext cx="41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2069902" y="14156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59831" y="13108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07456" y="1345704"/>
            <a:ext cx="418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671911" y="14156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61841" y="13108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09466" y="1345704"/>
            <a:ext cx="41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3273921" y="14156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951" y="1768078"/>
            <a:ext cx="601861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01576" y="1802904"/>
            <a:ext cx="420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865882" y="18728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55812" y="17680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303437" y="1802904"/>
            <a:ext cx="382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1467892" y="18728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士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857821" y="17680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905446" y="1802904"/>
            <a:ext cx="418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2069902" y="18728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豆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459831" y="17680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507456" y="1802904"/>
            <a:ext cx="420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2671911" y="18728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夕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061841" y="17680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109466" y="1802904"/>
            <a:ext cx="71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3273921" y="18728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心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3951" y="2225278"/>
            <a:ext cx="601861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01576" y="2260104"/>
            <a:ext cx="587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865882" y="23300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目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255812" y="22252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303437" y="2260104"/>
            <a:ext cx="704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1467892" y="23300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方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857821" y="22252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905446" y="2260104"/>
            <a:ext cx="707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2069902" y="23300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平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2459831" y="22252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507456" y="2260104"/>
            <a:ext cx="711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2671911" y="23300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土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061841" y="22252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109466" y="2260104"/>
            <a:ext cx="707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3273921" y="23300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角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53951" y="2682478"/>
            <a:ext cx="601861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01576" y="2717304"/>
            <a:ext cx="713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865882" y="27872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页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255812" y="26824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303437" y="2717304"/>
            <a:ext cx="675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1467892" y="27872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包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1857821" y="26824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905446" y="2717304"/>
            <a:ext cx="711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500" dirty="0"/>
          </a:p>
        </p:txBody>
      </p:sp>
      <p:sp>
        <p:nvSpPr>
          <p:cNvPr id="66" name="Text 64"/>
          <p:cNvSpPr/>
          <p:nvPr/>
        </p:nvSpPr>
        <p:spPr>
          <a:xfrm>
            <a:off x="2069902" y="27872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止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2459831" y="26824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2507456" y="2717304"/>
            <a:ext cx="713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500" dirty="0"/>
          </a:p>
        </p:txBody>
      </p:sp>
      <p:sp>
        <p:nvSpPr>
          <p:cNvPr id="69" name="Text 67"/>
          <p:cNvSpPr/>
          <p:nvPr/>
        </p:nvSpPr>
        <p:spPr>
          <a:xfrm>
            <a:off x="2671911" y="27872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士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3061841" y="26824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3109466" y="2717304"/>
            <a:ext cx="831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3273921" y="27872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豆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53951" y="3139678"/>
            <a:ext cx="601861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701576" y="3174504"/>
            <a:ext cx="704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500" dirty="0"/>
          </a:p>
        </p:txBody>
      </p:sp>
      <p:sp>
        <p:nvSpPr>
          <p:cNvPr id="75" name="Text 73"/>
          <p:cNvSpPr/>
          <p:nvPr/>
        </p:nvSpPr>
        <p:spPr>
          <a:xfrm>
            <a:off x="865882" y="32444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夕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1255812" y="31396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303437" y="3174504"/>
            <a:ext cx="822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500" dirty="0"/>
          </a:p>
        </p:txBody>
      </p:sp>
      <p:sp>
        <p:nvSpPr>
          <p:cNvPr id="78" name="Text 76"/>
          <p:cNvSpPr/>
          <p:nvPr/>
        </p:nvSpPr>
        <p:spPr>
          <a:xfrm>
            <a:off x="1467892" y="32444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心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1857821" y="31396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1905446" y="3174504"/>
            <a:ext cx="825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500" dirty="0"/>
          </a:p>
        </p:txBody>
      </p:sp>
      <p:sp>
        <p:nvSpPr>
          <p:cNvPr id="81" name="Text 79"/>
          <p:cNvSpPr/>
          <p:nvPr/>
        </p:nvSpPr>
        <p:spPr>
          <a:xfrm>
            <a:off x="2069902" y="32444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目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2459831" y="31396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2507456" y="3174504"/>
            <a:ext cx="830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2671911" y="32444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方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3061841" y="3139678"/>
            <a:ext cx="602010" cy="4572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3109466" y="3174504"/>
            <a:ext cx="82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500" dirty="0"/>
          </a:p>
        </p:txBody>
      </p:sp>
      <p:sp>
        <p:nvSpPr>
          <p:cNvPr id="87" name="Text 85"/>
          <p:cNvSpPr/>
          <p:nvPr/>
        </p:nvSpPr>
        <p:spPr>
          <a:xfrm>
            <a:off x="3273921" y="3244453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平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3886051" y="1291828"/>
            <a:ext cx="7671048" cy="1084957"/>
          </a:xfrm>
          <a:prstGeom prst="roundRect">
            <a:avLst>
              <a:gd name="adj" fmla="val 936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4047976" y="1415653"/>
            <a:ext cx="74941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047976" y="1602879"/>
            <a:ext cx="7347198" cy="62478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8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Grid displayed for </a:t>
            </a:r>
            <a:r>
              <a:rPr lang="en-US" sz="8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 seconds</a:t>
            </a:r>
            <a:r>
              <a:rPr lang="en-US" sz="8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to memorise each numbered square — then </a:t>
            </a:r>
            <a:r>
              <a:rPr lang="en-US" sz="8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hidden</a:t>
            </a:r>
            <a:r>
              <a:rPr lang="en-US" sz="8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.</a:t>
            </a:r>
            <a:endParaRPr lang="en-US" sz="800" dirty="0"/>
          </a:p>
          <a:p>
            <a:pPr algn="l" marL="76200" indent="-76200">
              <a:lnSpc>
                <a:spcPts val="108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Teacher </a:t>
            </a:r>
            <a:r>
              <a:rPr lang="en-US" sz="8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dictates one character at a time</a:t>
            </a:r>
            <a:r>
              <a:rPr lang="en-US" sz="8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by pinyin or meaning.</a:t>
            </a:r>
            <a:endParaRPr lang="en-US" sz="800" dirty="0"/>
          </a:p>
          <a:p>
            <a:pPr algn="l" marL="76200" indent="-76200">
              <a:lnSpc>
                <a:spcPts val="108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Students write it into the </a:t>
            </a:r>
            <a:r>
              <a:rPr lang="en-US" sz="8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matching numbered square</a:t>
            </a:r>
            <a:r>
              <a:rPr lang="en-US" sz="8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on their blank grid template.</a:t>
            </a:r>
            <a:endParaRPr lang="en-US" sz="800" dirty="0"/>
          </a:p>
          <a:p>
            <a:pPr algn="l" marL="76200" indent="-76200">
              <a:lnSpc>
                <a:spcPts val="108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 as a </a:t>
            </a:r>
            <a:r>
              <a:rPr lang="en-US" sz="8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team competition</a:t>
            </a:r>
            <a:r>
              <a:rPr lang="en-US" sz="8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most correct squares wins.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3886051" y="2465636"/>
            <a:ext cx="7671048" cy="441275"/>
          </a:xfrm>
          <a:prstGeom prst="roundRect">
            <a:avLst>
              <a:gd name="adj" fmla="val 17268"/>
            </a:avLst>
          </a:prstGeom>
          <a:solidFill>
            <a:srgbClr val="FAECEA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4022527" y="2551361"/>
            <a:ext cx="7546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Characters: 平 土 角 页 (new) + 包 止 士 豆 夕 心 目 方 (review, L7–L8)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4022527" y="2706886"/>
            <a:ext cx="75460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Pool of 12 characters cycled across the 25 grid squares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634901" y="3704779"/>
            <a:ext cx="3581400" cy="354657"/>
          </a:xfrm>
          <a:prstGeom prst="roundRect">
            <a:avLst>
              <a:gd name="adj" fmla="val 214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736402" y="3768179"/>
            <a:ext cx="34459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SCAFFOLD</a:t>
            </a:r>
            <a:endParaRPr lang="en-US" sz="550" dirty="0"/>
          </a:p>
        </p:txBody>
      </p:sp>
      <p:sp>
        <p:nvSpPr>
          <p:cNvPr id="96" name="Text 94"/>
          <p:cNvSpPr/>
          <p:nvPr/>
        </p:nvSpPr>
        <p:spPr>
          <a:xfrm>
            <a:off x="736402" y="3888730"/>
            <a:ext cx="3445966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Grid stays partially visible (pinyin labelled); teacher repeats each item twice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4305151" y="3704779"/>
            <a:ext cx="3581549" cy="354657"/>
          </a:xfrm>
          <a:prstGeom prst="roundRect">
            <a:avLst>
              <a:gd name="adj" fmla="val 214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4406652" y="3768179"/>
            <a:ext cx="34461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EXTENSION</a:t>
            </a:r>
            <a:endParaRPr lang="en-US" sz="550" dirty="0"/>
          </a:p>
        </p:txBody>
      </p:sp>
      <p:sp>
        <p:nvSpPr>
          <p:cNvPr id="99" name="Text 97"/>
          <p:cNvSpPr/>
          <p:nvPr/>
        </p:nvSpPr>
        <p:spPr>
          <a:xfrm>
            <a:off x="4406652" y="3888730"/>
            <a:ext cx="3446118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Students also write one compound word using each dictated character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7975550" y="3704779"/>
            <a:ext cx="3581400" cy="354657"/>
          </a:xfrm>
          <a:prstGeom prst="roundRect">
            <a:avLst>
              <a:gd name="adj" fmla="val 214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8077051" y="3768179"/>
            <a:ext cx="34459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OTR</a:t>
            </a:r>
            <a:endParaRPr lang="en-US" sz="550" dirty="0"/>
          </a:p>
        </p:txBody>
      </p:sp>
      <p:sp>
        <p:nvSpPr>
          <p:cNvPr id="102" name="Text 100"/>
          <p:cNvSpPr/>
          <p:nvPr/>
        </p:nvSpPr>
        <p:spPr>
          <a:xfrm>
            <a:off x="8077051" y="3888730"/>
            <a:ext cx="3445966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Every student writes every dictated item — team format keeps engagement high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7950" y="66706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61925"/>
            <a:ext cx="26210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L8 · REVIEW + TEST PREP | </a:t>
            </a:r>
            <a:r>
              <a:rPr lang="en-US" sz="7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ACTIVITY 2 · YOU DO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34901" y="731788"/>
            <a:ext cx="832098" cy="200025"/>
          </a:xfrm>
          <a:prstGeom prst="roundRect">
            <a:avLst>
              <a:gd name="adj" fmla="val 126984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769888"/>
            <a:ext cx="5897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ACTIVITY 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568500" y="660350"/>
            <a:ext cx="33483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Test 3.3-Style Practice Worksheet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34901" y="1066651"/>
            <a:ext cx="600373" cy="212527"/>
          </a:xfrm>
          <a:prstGeom prst="roundRect">
            <a:avLst>
              <a:gd name="adj" fmla="val 119514"/>
            </a:avLst>
          </a:prstGeom>
          <a:solidFill>
            <a:srgbClr val="F7EED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5927" y="1101477"/>
            <a:ext cx="385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⏱ 9 min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311473" y="1090464"/>
            <a:ext cx="555575" cy="164902"/>
          </a:xfrm>
          <a:prstGeom prst="roundRect">
            <a:avLst>
              <a:gd name="adj" fmla="val 154031"/>
            </a:avLst>
          </a:prstGeom>
          <a:solidFill>
            <a:srgbClr val="FAEC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00324" y="1115764"/>
            <a:ext cx="3854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YOU DO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634901" y="1418779"/>
            <a:ext cx="3556099" cy="1015454"/>
          </a:xfrm>
          <a:prstGeom prst="roundRect">
            <a:avLst>
              <a:gd name="adj" fmla="val 1000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1567904"/>
            <a:ext cx="32968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1 · PICTURE MATCHING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96826" y="1790105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5762" y="1813917"/>
            <a:ext cx="35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025426" y="1777454"/>
            <a:ext cx="30637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Match each picture to the correct Chinese word from today's vocabulary list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6826" y="2160836"/>
            <a:ext cx="3232249" cy="124271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lnSpc>
                <a:spcPts val="980"/>
              </a:lnSpc>
              <a:buSzPct val="100000"/>
              <a:buChar char="•"/>
            </a:pPr>
            <a:r>
              <a:rPr lang="en-US" sz="7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Word bank provided alongside the pictures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317950" y="1418779"/>
            <a:ext cx="3556099" cy="1015454"/>
          </a:xfrm>
          <a:prstGeom prst="roundRect">
            <a:avLst>
              <a:gd name="adj" fmla="val 1000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79875" y="1567904"/>
            <a:ext cx="32968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2 · PATTERN TRANSLATION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79875" y="1790105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31816" y="1813917"/>
            <a:ext cx="494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708475" y="1777454"/>
            <a:ext cx="30637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Translate </a:t>
            </a:r>
            <a:r>
              <a:rPr lang="en-US" sz="9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sentence per pattern</a:t>
            </a:r>
            <a:r>
              <a:rPr lang="en-US" sz="9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all 5 grammar patterns, E→C or C→E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79875" y="2160836"/>
            <a:ext cx="3232249" cy="124271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lnSpc>
                <a:spcPts val="980"/>
              </a:lnSpc>
              <a:buSzPct val="100000"/>
              <a:buChar char="•"/>
            </a:pPr>
            <a:r>
              <a:rPr lang="en-US" sz="7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Sentence frames provided for each pattern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001000" y="1418779"/>
            <a:ext cx="3556099" cy="1015454"/>
          </a:xfrm>
          <a:prstGeom prst="roundRect">
            <a:avLst>
              <a:gd name="adj" fmla="val 1000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62925" y="1567904"/>
            <a:ext cx="32968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3 · PERSONAL ANSWERS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162925" y="1790105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214717" y="1813917"/>
            <a:ext cx="497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8391525" y="1777454"/>
            <a:ext cx="306372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personal-answer questions</a:t>
            </a:r>
            <a:r>
              <a:rPr lang="en-US" sz="9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e.g. 你从几岁开始学中文？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62925" y="2160836"/>
            <a:ext cx="3232249" cy="124271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lnSpc>
                <a:spcPts val="980"/>
              </a:lnSpc>
              <a:buSzPct val="100000"/>
              <a:buChar char="•"/>
            </a:pPr>
            <a:r>
              <a:rPr lang="en-US" sz="7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Answer in a full Chinese sentence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34901" y="2548533"/>
            <a:ext cx="10922198" cy="460325"/>
          </a:xfrm>
          <a:prstGeom prst="roundRect">
            <a:avLst>
              <a:gd name="adj" fmla="val 16554"/>
            </a:avLst>
          </a:prstGeom>
          <a:solidFill>
            <a:srgbClr val="F7EED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96826" y="2634258"/>
            <a:ext cx="1329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28700" y="2634258"/>
            <a:ext cx="35628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Extension: free-writing item — no frame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8700" y="2799308"/>
            <a:ext cx="35628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Write 3 sentences about your own hobbies, using </a:t>
            </a:r>
            <a:r>
              <a:rPr lang="en-US" sz="70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different Lesson 9 patterns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34901" y="3110359"/>
            <a:ext cx="3581400" cy="354657"/>
          </a:xfrm>
          <a:prstGeom prst="roundRect">
            <a:avLst>
              <a:gd name="adj" fmla="val 214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36402" y="3173760"/>
            <a:ext cx="34459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SCAFFOLD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736402" y="3294311"/>
            <a:ext cx="3445966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Word bank for picture-matching; sentence frames for the translation section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305151" y="3110359"/>
            <a:ext cx="3581549" cy="354657"/>
          </a:xfrm>
          <a:prstGeom prst="roundRect">
            <a:avLst>
              <a:gd name="adj" fmla="val 214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06652" y="3173760"/>
            <a:ext cx="34461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EXTENSION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4406652" y="3294311"/>
            <a:ext cx="3446118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Free-writing item — 3 hobby sentences using 3 different L9 patterns, no frame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975550" y="3110359"/>
            <a:ext cx="3581400" cy="354657"/>
          </a:xfrm>
          <a:prstGeom prst="roundRect">
            <a:avLst>
              <a:gd name="adj" fmla="val 214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077051" y="3173760"/>
            <a:ext cx="34459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OTR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8077051" y="3294311"/>
            <a:ext cx="3445966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Independent work, then peer-swap against a projected answer key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950" y="66706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61925"/>
            <a:ext cx="30785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L8 · REVIEW + TEST PREP | </a:t>
            </a:r>
            <a:r>
              <a:rPr lang="en-US" sz="7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GAME · ODD ONE OUT · 6 MIN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34901" y="692051"/>
            <a:ext cx="537567" cy="200025"/>
          </a:xfrm>
          <a:prstGeom prst="roundRect">
            <a:avLst>
              <a:gd name="adj" fmla="val 126984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730151"/>
            <a:ext cx="2893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Game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299418" y="634901"/>
            <a:ext cx="301241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谁不是同类？· Odd One Out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880824" y="681038"/>
            <a:ext cx="676275" cy="222052"/>
          </a:xfrm>
          <a:prstGeom prst="roundRect">
            <a:avLst>
              <a:gd name="adj" fmla="val 114388"/>
            </a:avLst>
          </a:prstGeom>
          <a:solidFill>
            <a:srgbClr val="FAECEA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017300" y="715863"/>
            <a:ext cx="411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⏱ 6 min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4901" y="1025426"/>
            <a:ext cx="11140642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Teacher projects </a:t>
            </a:r>
            <a:r>
              <a:rPr lang="en-US" sz="85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words at a time</a:t>
            </a: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3 from one category, 1 from another. Students </a:t>
            </a:r>
            <a:r>
              <a:rPr lang="en-US" sz="85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identify and explain</a:t>
            </a: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which one doesn't belong and why.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34901" y="1252686"/>
            <a:ext cx="111406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6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ROUND 1 · VOCABULARY CATEGORY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634901" y="1417737"/>
            <a:ext cx="2654350" cy="724793"/>
          </a:xfrm>
          <a:prstGeom prst="roundRect">
            <a:avLst>
              <a:gd name="adj" fmla="val 14018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25297" y="1541562"/>
            <a:ext cx="673557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什么时候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58694" y="1764804"/>
            <a:ext cx="6067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shénme shíhou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856192" y="1904405"/>
            <a:ext cx="21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when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390751" y="1417737"/>
            <a:ext cx="2654498" cy="724793"/>
          </a:xfrm>
          <a:prstGeom prst="roundRect">
            <a:avLst>
              <a:gd name="adj" fmla="val 14018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49499" y="1541562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几点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93976" y="1764804"/>
            <a:ext cx="2480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jǐ diǎn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516709" y="1904405"/>
            <a:ext cx="4024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what time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146750" y="1417737"/>
            <a:ext cx="2654350" cy="724793"/>
          </a:xfrm>
          <a:prstGeom prst="roundRect">
            <a:avLst>
              <a:gd name="adj" fmla="val 14018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05498" y="1541562"/>
            <a:ext cx="33685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时候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41022" y="1764804"/>
            <a:ext cx="265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shíhou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7193923" y="1904405"/>
            <a:ext cx="5598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time; moment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902601" y="1417737"/>
            <a:ext cx="2654498" cy="724793"/>
          </a:xfrm>
          <a:prstGeom prst="roundRect">
            <a:avLst>
              <a:gd name="adj" fmla="val 14018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977247" y="1541562"/>
            <a:ext cx="505206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篮球场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88329" y="1764804"/>
            <a:ext cx="4830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lánqiúchǎng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9901193" y="1904405"/>
            <a:ext cx="6573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basketball court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34901" y="2218730"/>
            <a:ext cx="111406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65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ROUND 2 · 吧 VS 呢 IN CONTEXT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34901" y="2383780"/>
            <a:ext cx="2654350" cy="585192"/>
          </a:xfrm>
          <a:prstGeom prst="roundRect">
            <a:avLst>
              <a:gd name="adj" fmla="val 17362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456945" y="2507605"/>
            <a:ext cx="101026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我们跳舞吧。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709702" y="2730847"/>
            <a:ext cx="504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Let's dance!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390751" y="2383780"/>
            <a:ext cx="2654498" cy="585192"/>
          </a:xfrm>
          <a:prstGeom prst="roundRect">
            <a:avLst>
              <a:gd name="adj" fmla="val 17362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97046" y="2507605"/>
            <a:ext cx="84190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你先走吧。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62818" y="2730847"/>
            <a:ext cx="5102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You go first.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146750" y="2383780"/>
            <a:ext cx="2654350" cy="585192"/>
          </a:xfrm>
          <a:prstGeom prst="roundRect">
            <a:avLst>
              <a:gd name="adj" fmla="val 17362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052896" y="2507605"/>
            <a:ext cx="84190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一起来吧！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90431" y="2730847"/>
            <a:ext cx="566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Come join us!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902601" y="2383780"/>
            <a:ext cx="2654498" cy="585192"/>
          </a:xfrm>
          <a:prstGeom prst="roundRect">
            <a:avLst>
              <a:gd name="adj" fmla="val 17362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724645" y="2507605"/>
            <a:ext cx="101026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妹妹跳舞呢。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761382" y="2730847"/>
            <a:ext cx="936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Little sister is dancing.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34901" y="3045172"/>
            <a:ext cx="10922198" cy="392311"/>
          </a:xfrm>
          <a:prstGeom prst="roundRect">
            <a:avLst>
              <a:gd name="adj" fmla="val 25898"/>
            </a:avLst>
          </a:prstGeom>
          <a:noFill/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22127" y="3143548"/>
            <a:ext cx="17487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🎲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5077" y="3174653"/>
            <a:ext cx="68926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Rounds 3–8</a:t>
            </a:r>
            <a:r>
              <a:rPr lang="en-US" sz="7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teacher prepares 6–8 total "odd one out" sets covering the whole unit (vocabulary categories + grammar particles) before class.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950" y="66706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61925"/>
            <a:ext cx="26965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L8 · REVIEW + TEST PREP | </a:t>
            </a:r>
            <a:r>
              <a:rPr lang="en-US" sz="7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PLENARY · 43–50 MIN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5401" y="1886099"/>
            <a:ext cx="107520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PLENARY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5401" y="2092375"/>
            <a:ext cx="1075202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总结 · Final Wrap-Up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5401" y="2686050"/>
            <a:ext cx="5181749" cy="1733699"/>
          </a:xfrm>
          <a:prstGeom prst="roundRect">
            <a:avLst>
              <a:gd name="adj" fmla="val 586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2627" y="2847975"/>
            <a:ext cx="49034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REVISIT SUCCESS CRITERIA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12627" y="3092351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EAF2F3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44327" y="3105001"/>
            <a:ext cx="116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👍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222028" y="3092351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7EED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53728" y="3105001"/>
            <a:ext cx="116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✋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431429" y="3092351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AECEA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63129" y="3105001"/>
            <a:ext cx="116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👎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697980" y="3108424"/>
            <a:ext cx="1736342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Write 平/土/角/页 from dictation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12627" y="333985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EAF2F3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44327" y="3352502"/>
            <a:ext cx="116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👍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222028" y="333985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7EED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53728" y="3352502"/>
            <a:ext cx="116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✋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431429" y="333985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AECEA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63129" y="3352502"/>
            <a:ext cx="116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👎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697980" y="3355925"/>
            <a:ext cx="249491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 all 5 Lesson 9 grammar patterns correctly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12627" y="358735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EAF2F3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44327" y="3600004"/>
            <a:ext cx="116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👍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222028" y="358735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7EED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53728" y="3600004"/>
            <a:ext cx="116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✋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431429" y="358735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AECEA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463129" y="3600004"/>
            <a:ext cx="116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👎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697980" y="3603427"/>
            <a:ext cx="2108719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Recall the Lesson 9 test vocabulary list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84850" y="2686050"/>
            <a:ext cx="5181749" cy="1733699"/>
          </a:xfrm>
          <a:prstGeom prst="roundRect">
            <a:avLst>
              <a:gd name="adj" fmla="val 586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72076" y="2847975"/>
            <a:ext cx="49034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EXIT TICKET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72076" y="3092351"/>
            <a:ext cx="4807297" cy="787747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386364" y="3092351"/>
            <a:ext cx="0" cy="787747"/>
          </a:xfrm>
          <a:prstGeom prst="line">
            <a:avLst/>
          </a:prstGeom>
          <a:noFill/>
          <a:ln w="28575">
            <a:solidFill>
              <a:srgbClr val="3A7D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0252" y="3206651"/>
            <a:ext cx="45895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650" b="1" dirty="0">
                <a:solidFill>
                  <a:srgbClr val="3A7D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540252" y="3371701"/>
            <a:ext cx="4589511" cy="394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150" b="1" dirty="0">
                <a:solidFill>
                  <a:srgbClr val="1E2A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Write 3 sentences about your own hobbies, each using a different Lesson 9 grammar pattern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72076" y="3981599"/>
            <a:ext cx="490344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This is the </a:t>
            </a:r>
            <a:r>
              <a:rPr lang="en-US" sz="750" b="1" dirty="0">
                <a:solidFill>
                  <a:srgbClr val="D475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final self-check before the test</a:t>
            </a:r>
            <a:r>
              <a:rPr lang="en-US" sz="75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traffic-light your confidence on your mini whiteboard against each success criterion above.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25401" y="4559350"/>
            <a:ext cx="10541198" cy="641152"/>
          </a:xfrm>
          <a:prstGeom prst="roundRect">
            <a:avLst>
              <a:gd name="adj" fmla="val 15847"/>
            </a:avLst>
          </a:prstGeom>
          <a:solidFill>
            <a:srgbClr val="F7EED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38076" y="4722763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🎉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93627" y="4695825"/>
            <a:ext cx="3410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Well done — that's the full Dance unit covered!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393627" y="4921151"/>
            <a:ext cx="3410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Next up: Test 3.3, then a new unit.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950" y="66706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2026-07-25T01:00:13Z</dcterms:created>
  <dcterms:modified xsi:type="dcterms:W3CDTF">2026-07-25T01:00:13Z</dcterms:modified>
</cp:coreProperties>
</file>