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14729" y="1828949"/>
            <a:ext cx="27625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OF 8 · Y8 UNIT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838539" y="2206675"/>
            <a:ext cx="514922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C9C2B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505151" y="2816126"/>
            <a:ext cx="5181549" cy="10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000"/>
              </a:lnSpc>
              <a:spcAft>
                <a:spcPts val="800"/>
              </a:spcAft>
              <a:buNone/>
            </a:pPr>
            <a:r>
              <a:rPr lang="en-US" sz="8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阅读</a:t>
            </a:r>
            <a:pPr algn="ctr" indent="0" marL="0">
              <a:lnSpc>
                <a:spcPts val="8000"/>
              </a:lnSpc>
              <a:spcAft>
                <a:spcPts val="800"/>
              </a:spcAft>
              <a:buNone/>
            </a:pPr>
            <a:r>
              <a:rPr lang="en-US" sz="8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pPr algn="ctr" indent="0" marL="0">
              <a:lnSpc>
                <a:spcPts val="8000"/>
              </a:lnSpc>
              <a:spcAft>
                <a:spcPts val="800"/>
              </a:spcAft>
              <a:buNone/>
            </a:pPr>
            <a:r>
              <a:rPr lang="en-US" sz="8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艺术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5715000" y="3933676"/>
            <a:ext cx="762000" cy="3810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39284" y="4124176"/>
            <a:ext cx="29132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Art Vocabulary + Text 2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641533" y="4848076"/>
            <a:ext cx="69089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　·　50 mins　·　Reading + Writing　·　轻松学中文 Book 2 · p.64　·　CD Track 34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60350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WARM-UP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66626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Mini Whiteboard Review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472952"/>
            <a:ext cx="5473750" cy="739378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5452" y="163160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8950" y="1696641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37952" y="1631603"/>
            <a:ext cx="2738708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Write: "I like playing piano while singing."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37952" y="1853654"/>
            <a:ext cx="27387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我喜欢一边弹钢琴，一边唱歌。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59401" y="1472952"/>
            <a:ext cx="5473898" cy="739378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6152" y="163160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77000" y="1696641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38652" y="1631603"/>
            <a:ext cx="2602388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Write: "She reads for 1 hour every day."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38652" y="1853654"/>
            <a:ext cx="26023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她每天读一个小时的书。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8701" y="2339280"/>
            <a:ext cx="5473750" cy="790873"/>
          </a:xfrm>
          <a:prstGeom prst="roundRect">
            <a:avLst>
              <a:gd name="adj" fmla="val 1445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55452" y="2497931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75854" y="2562969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37952" y="2497931"/>
            <a:ext cx="2703490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word with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ao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a word with </a:t>
            </a:r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37952" y="2719983"/>
            <a:ext cx="27034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Any correct answer accepted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59401" y="2339280"/>
            <a:ext cx="5473898" cy="790873"/>
          </a:xfrm>
          <a:prstGeom prst="roundRect">
            <a:avLst>
              <a:gd name="adj" fmla="val 1445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56152" y="2497931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76107" y="2562969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38652" y="2497931"/>
            <a:ext cx="1549015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</a:t>
            </a:r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爱好</a:t>
            </a:r>
            <a:pPr algn="l" indent="0" marL="0">
              <a:lnSpc>
                <a:spcPts val="1755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mean?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38652" y="2771477"/>
            <a:ext cx="15490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hobby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8701" y="3295204"/>
            <a:ext cx="11074598" cy="532656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82513" y="3295204"/>
            <a:ext cx="0" cy="53265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4926" y="3460254"/>
            <a:ext cx="10781169" cy="202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We've been talking about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music hobbies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Today we add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reading and art hobbies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and meet two new grammar words: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8895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686818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GOAL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31194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学习目标 · LI / SC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651820"/>
            <a:ext cx="10769798" cy="827336"/>
          </a:xfrm>
          <a:prstGeom prst="rect">
            <a:avLst/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4913" y="2651820"/>
            <a:ext cx="0" cy="827336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2627" y="2842320"/>
            <a:ext cx="10418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12627" y="3048595"/>
            <a:ext cx="10418659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talk about reading and art hobbies</a:t>
            </a:r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3733056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SUCCESS CRITERIA — BY THE END OF TODAY I CAN...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4040981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1177" y="4109145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0951" y="4028331"/>
            <a:ext cx="51974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3 types of paintings in Chinese: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国画儿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油画儿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水彩画儿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1101" y="4523482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9568" y="4591645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0951" y="4510832"/>
            <a:ext cx="456491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what I like to read: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小说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(novel) and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杂志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(magazine)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1101" y="5005983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9270" y="5074146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0951" y="4993332"/>
            <a:ext cx="504811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Read, annotate, and answer questions about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2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writing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8–20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03077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33202"/>
            <a:ext cx="5499199" cy="577602"/>
          </a:xfrm>
          <a:prstGeom prst="roundRect">
            <a:avLst>
              <a:gd name="adj" fmla="val 1759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9400" y="1464766"/>
            <a:ext cx="72532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17452" y="1453753"/>
            <a:ext cx="5083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xiǎoshuō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17452" y="1628329"/>
            <a:ext cx="5083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novel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7950" y="1999655"/>
            <a:ext cx="5499199" cy="577602"/>
          </a:xfrm>
          <a:prstGeom prst="roundRect">
            <a:avLst>
              <a:gd name="adj" fmla="val 1759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79400" y="2131219"/>
            <a:ext cx="72532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杂志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17452" y="2120205"/>
            <a:ext cx="5360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zázhì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17452" y="2294781"/>
            <a:ext cx="5360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magazine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7950" y="2666107"/>
            <a:ext cx="5499199" cy="577602"/>
          </a:xfrm>
          <a:prstGeom prst="roundRect">
            <a:avLst>
              <a:gd name="adj" fmla="val 1759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9400" y="2797671"/>
            <a:ext cx="72532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画儿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17452" y="2786658"/>
            <a:ext cx="10986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huàr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517452" y="2961233"/>
            <a:ext cx="10986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drawing or painting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7950" y="3332559"/>
            <a:ext cx="5499199" cy="577602"/>
          </a:xfrm>
          <a:prstGeom prst="roundRect">
            <a:avLst>
              <a:gd name="adj" fmla="val 17590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9400" y="3464123"/>
            <a:ext cx="72532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17452" y="3453110"/>
            <a:ext cx="455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dōu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17452" y="3627686"/>
            <a:ext cx="4551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all; both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7950" y="3999012"/>
            <a:ext cx="5499199" cy="577602"/>
          </a:xfrm>
          <a:prstGeom prst="roundRect">
            <a:avLst>
              <a:gd name="adj" fmla="val 17590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79400" y="4130576"/>
            <a:ext cx="72532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517452" y="4119562"/>
            <a:ext cx="16141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zhèngzài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517452" y="4294138"/>
            <a:ext cx="16141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the process of (right now)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84850" y="1333202"/>
            <a:ext cx="5499199" cy="3650307"/>
          </a:xfrm>
          <a:prstGeom prst="roundRect">
            <a:avLst>
              <a:gd name="adj" fmla="val 3131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81601" y="1491853"/>
            <a:ext cx="52078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PAINTING TYPES · 画儿 PATTERN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381601" y="1761679"/>
            <a:ext cx="5105698" cy="339626"/>
          </a:xfrm>
          <a:prstGeom prst="roundRect">
            <a:avLst>
              <a:gd name="adj" fmla="val 22436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521202" y="1850529"/>
            <a:ext cx="49230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</a:t>
            </a:r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prefix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画儿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just learn the prefix!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81601" y="2190155"/>
            <a:ext cx="5105698" cy="819001"/>
          </a:xfrm>
          <a:prstGeom prst="roundRect">
            <a:avLst>
              <a:gd name="adj" fmla="val 10855"/>
            </a:avLst>
          </a:prstGeom>
          <a:solidFill>
            <a:srgbClr val="FEFCF7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540252" y="2456706"/>
            <a:ext cx="4663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124402" y="2509093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78452" y="2298055"/>
            <a:ext cx="89458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国画儿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378452" y="2583805"/>
            <a:ext cx="8945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guóhuàr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378452" y="2748855"/>
            <a:ext cx="8945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painting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381601" y="3098006"/>
            <a:ext cx="5105698" cy="819001"/>
          </a:xfrm>
          <a:prstGeom prst="roundRect">
            <a:avLst>
              <a:gd name="adj" fmla="val 10855"/>
            </a:avLst>
          </a:prstGeom>
          <a:solidFill>
            <a:srgbClr val="FEFCF7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540252" y="3364557"/>
            <a:ext cx="4663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124402" y="3416945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378452" y="3205907"/>
            <a:ext cx="6217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378452" y="3491657"/>
            <a:ext cx="6217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yóuhuàr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378452" y="3656707"/>
            <a:ext cx="6217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oil painting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381601" y="4005858"/>
            <a:ext cx="5105698" cy="819001"/>
          </a:xfrm>
          <a:prstGeom prst="roundRect">
            <a:avLst>
              <a:gd name="adj" fmla="val 10855"/>
            </a:avLst>
          </a:prstGeom>
          <a:solidFill>
            <a:srgbClr val="FEFCF7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540252" y="4300984"/>
            <a:ext cx="46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水彩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124402" y="4324796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78452" y="4113758"/>
            <a:ext cx="829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水彩画儿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378452" y="4399508"/>
            <a:ext cx="8290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shuǐcǎihuàr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378452" y="4564559"/>
            <a:ext cx="8290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watercolour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07950" y="5123111"/>
            <a:ext cx="5518249" cy="639961"/>
          </a:xfrm>
          <a:prstGeom prst="roundRect">
            <a:avLst>
              <a:gd name="adj" fmla="val 1587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92051" y="5256461"/>
            <a:ext cx="35989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</a:t>
            </a:r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dōu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2051" y="5475536"/>
            <a:ext cx="3598986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Means "all / both" — deep dive in L7.7. Spot it in Text 2 today!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65800" y="5123111"/>
            <a:ext cx="5518249" cy="639961"/>
          </a:xfrm>
          <a:prstGeom prst="roundRect">
            <a:avLst>
              <a:gd name="adj" fmla="val 1587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49901" y="5256461"/>
            <a:ext cx="33589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</a:t>
            </a:r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zhèngzài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349901" y="5475536"/>
            <a:ext cx="3358982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Means "right now / in the process of" — deep dive in L7.6.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336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2 · 20–30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92051"/>
            <a:ext cx="11857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98898" y="634901"/>
            <a:ext cx="1056084" cy="257175"/>
          </a:xfrm>
          <a:prstGeom prst="roundRect">
            <a:avLst>
              <a:gd name="adj" fmla="val 4933333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057549" y="692051"/>
            <a:ext cx="7535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♪ CD Track 34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58701" y="993577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课文二 · Text 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8701" y="1587252"/>
            <a:ext cx="360164" cy="219075"/>
          </a:xfrm>
          <a:prstGeom prst="roundRect">
            <a:avLst>
              <a:gd name="adj" fmla="val 579130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98302" y="1625352"/>
            <a:ext cx="825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265" y="1536502"/>
            <a:ext cx="1632204" cy="33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你有什么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8701" y="2045643"/>
            <a:ext cx="360908" cy="219075"/>
          </a:xfrm>
          <a:prstGeom prst="roundRect">
            <a:avLst>
              <a:gd name="adj" fmla="val 579130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8302" y="2083743"/>
            <a:ext cx="833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2009" y="1994892"/>
            <a:ext cx="2331720" cy="33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我喜欢看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杂志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58701" y="2504033"/>
            <a:ext cx="360164" cy="219075"/>
          </a:xfrm>
          <a:prstGeom prst="roundRect">
            <a:avLst>
              <a:gd name="adj" fmla="val 579130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8302" y="2542133"/>
            <a:ext cx="825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265" y="2453283"/>
            <a:ext cx="1865376" cy="33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吗？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58701" y="2962424"/>
            <a:ext cx="360908" cy="219075"/>
          </a:xfrm>
          <a:prstGeom prst="roundRect">
            <a:avLst>
              <a:gd name="adj" fmla="val 579130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302" y="3000524"/>
            <a:ext cx="833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2009" y="2911673"/>
            <a:ext cx="5596128" cy="33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水彩画儿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喜欢画。我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学画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国画儿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8701" y="3420814"/>
            <a:ext cx="360164" cy="219075"/>
          </a:xfrm>
          <a:prstGeom prst="roundRect">
            <a:avLst>
              <a:gd name="adj" fmla="val 579130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98302" y="3458914"/>
            <a:ext cx="825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1265" y="3370064"/>
            <a:ext cx="2098548" cy="33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我也在学画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国画儿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725049" y="1536502"/>
            <a:ext cx="2908250" cy="3215580"/>
          </a:xfrm>
          <a:prstGeom prst="roundRect">
            <a:avLst>
              <a:gd name="adj" fmla="val 4367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972699" y="1758702"/>
            <a:ext cx="2461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SEQUENCE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972699" y="2079278"/>
            <a:ext cx="2412950" cy="625376"/>
          </a:xfrm>
          <a:prstGeom prst="roundRect">
            <a:avLst>
              <a:gd name="adj" fmla="val 14215"/>
            </a:avLst>
          </a:prstGeom>
          <a:solidFill>
            <a:srgbClr val="FEFCF7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144149" y="223956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264997" y="2291953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588550" y="2212628"/>
            <a:ext cx="11858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closed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588550" y="2418904"/>
            <a:ext cx="11858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Books / screens away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972699" y="2831604"/>
            <a:ext cx="2412950" cy="625376"/>
          </a:xfrm>
          <a:prstGeom prst="roundRect">
            <a:avLst>
              <a:gd name="adj" fmla="val 14215"/>
            </a:avLst>
          </a:prstGeom>
          <a:solidFill>
            <a:srgbClr val="FEFCF7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144149" y="2991892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252347" y="3044279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88550" y="2964954"/>
            <a:ext cx="13956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Follow along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588550" y="3171230"/>
            <a:ext cx="13956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silently as you listen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972699" y="3583930"/>
            <a:ext cx="2412950" cy="625376"/>
          </a:xfrm>
          <a:prstGeom prst="roundRect">
            <a:avLst>
              <a:gd name="adj" fmla="val 14215"/>
            </a:avLst>
          </a:prstGeom>
          <a:solidFill>
            <a:srgbClr val="FEFCF7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144149" y="3744218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51900" y="3796605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588550" y="3717280"/>
            <a:ext cx="14644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read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588550" y="3923556"/>
            <a:ext cx="14644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it together with the CD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924440" y="4387007"/>
            <a:ext cx="2461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p.64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21551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2 Comprehension · 30–38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841177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理解问题 · Comprehension Questions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333202"/>
            <a:ext cx="10769798" cy="476250"/>
          </a:xfrm>
          <a:prstGeom prst="roundRect">
            <a:avLst>
              <a:gd name="adj" fmla="val 21333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301" y="1466552"/>
            <a:ext cx="1053190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Write your answers in full Chinese sentences in your exercise book.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1101" y="1961852"/>
            <a:ext cx="10769798" cy="672852"/>
          </a:xfrm>
          <a:prstGeom prst="roundRect">
            <a:avLst>
              <a:gd name="adj" fmla="val 16987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58751" y="212050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2072" y="2193429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92002" y="2155329"/>
            <a:ext cx="99360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喜欢看什么？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1101" y="2736205"/>
            <a:ext cx="10769798" cy="672852"/>
          </a:xfrm>
          <a:prstGeom prst="roundRect">
            <a:avLst>
              <a:gd name="adj" fmla="val 16987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58751" y="289485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88231" y="2967782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92002" y="2929682"/>
            <a:ext cx="99360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喜欢画什么？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1101" y="3510558"/>
            <a:ext cx="10769798" cy="672852"/>
          </a:xfrm>
          <a:prstGeom prst="roundRect">
            <a:avLst>
              <a:gd name="adj" fmla="val 16987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3669209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87785" y="3742134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92002" y="3704034"/>
            <a:ext cx="99360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正在学什么？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1101" y="4284911"/>
            <a:ext cx="10769798" cy="672852"/>
          </a:xfrm>
          <a:prstGeom prst="roundRect">
            <a:avLst>
              <a:gd name="adj" fmla="val 16987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58751" y="444356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87338" y="4516487"/>
            <a:ext cx="1003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92002" y="4478387"/>
            <a:ext cx="99360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 也在学什么？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1101" y="5059263"/>
            <a:ext cx="10769798" cy="672852"/>
          </a:xfrm>
          <a:prstGeom prst="roundRect">
            <a:avLst>
              <a:gd name="adj" fmla="val 1698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58751" y="521791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87934" y="5290840"/>
            <a:ext cx="989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92002" y="5252740"/>
            <a:ext cx="99360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你喜欢看小说吗？用中文回答。</a:t>
            </a:r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Open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2053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071116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290191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858417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11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— then share with your partner.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1101" y="2287042"/>
            <a:ext cx="10769798" cy="1098947"/>
          </a:xfrm>
          <a:prstGeom prst="roundRect">
            <a:avLst>
              <a:gd name="adj" fmla="val 11556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84052" y="2509242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37345" y="2585442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68202" y="2509242"/>
            <a:ext cx="983254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小说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杂志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68202" y="2782788"/>
            <a:ext cx="98325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about what you read...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568202" y="3001863"/>
            <a:ext cx="9832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C2B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1101" y="3563689"/>
            <a:ext cx="10769798" cy="1098947"/>
          </a:xfrm>
          <a:prstGeom prst="roundRect">
            <a:avLst>
              <a:gd name="adj" fmla="val 11556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84052" y="378589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22313" y="3862090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68202" y="3785890"/>
            <a:ext cx="983254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you spot 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Text 2? What does that whole sentence mean?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68202" y="4059436"/>
            <a:ext cx="98325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it, then translate the full sentence into English.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568202" y="4278511"/>
            <a:ext cx="9832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C2B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1101" y="4840337"/>
            <a:ext cx="10769798" cy="1098947"/>
          </a:xfrm>
          <a:prstGeom prst="roundRect">
            <a:avLst>
              <a:gd name="adj" fmla="val 11556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84052" y="5062538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21866" y="5138738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68202" y="5062538"/>
            <a:ext cx="983254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lnSpc>
                <a:spcPts val="175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tell us about an action?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68202" y="5336084"/>
            <a:ext cx="98325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is it different from just saying 我学…?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568202" y="5555159"/>
            <a:ext cx="98325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C2B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0032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307009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REVEALED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526084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参考答案 · Answers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195959"/>
            <a:ext cx="10769798" cy="1069777"/>
          </a:xfrm>
          <a:prstGeom prst="roundRect">
            <a:avLst>
              <a:gd name="adj" fmla="val 11872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380059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2072" y="2452985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92002" y="2380059"/>
            <a:ext cx="99360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小说 and 杂志?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92002" y="2624435"/>
            <a:ext cx="9936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小说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novel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 long work of fiction you read cover to cover. 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杂志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magazine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 periodical with articles, pictures, and features.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1101" y="3405336"/>
            <a:ext cx="10769798" cy="1069777"/>
          </a:xfrm>
          <a:prstGeom prst="roundRect">
            <a:avLst>
              <a:gd name="adj" fmla="val 11872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58751" y="3589437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88231" y="3662362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92002" y="3589437"/>
            <a:ext cx="99360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都 in Text 2 — what does the sentence mean?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92002" y="3833812"/>
            <a:ext cx="9936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油画儿、水彩画儿，我都喜欢画。</a:t>
            </a:r>
            <a:pPr algn="l" indent="0" marL="0">
              <a:lnSpc>
                <a:spcPts val="1800"/>
              </a:lnSpc>
              <a:buNone/>
            </a:pP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"Oil painting, watercolour — I like painting 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." </a:t>
            </a:r>
            <a:pPr algn="l" indent="0" marL="0">
              <a:lnSpc>
                <a:spcPts val="1800"/>
              </a:lnSpc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 (dōu) bundles a list together: "all / both of these"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1101" y="4614714"/>
            <a:ext cx="10769798" cy="1088678"/>
          </a:xfrm>
          <a:prstGeom prst="roundRect">
            <a:avLst>
              <a:gd name="adj" fmla="val 11665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479881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87785" y="4871740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92002" y="4798814"/>
            <a:ext cx="99360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正在 tell us about an action?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492002" y="5043190"/>
            <a:ext cx="9936072" cy="476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lnSpc>
                <a:spcPts val="195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marks an action </a:t>
            </a:r>
            <a:pPr algn="l" indent="0" marL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happening right now</a:t>
            </a:r>
            <a:pPr algn="l" indent="0" marL="0">
              <a:lnSpc>
                <a:spcPts val="195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at this moment. </a:t>
            </a:r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我正在学画国画儿。</a:t>
            </a:r>
            <a:pPr algn="l" indent="0" marL="0">
              <a:lnSpc>
                <a:spcPts val="195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"I am </a:t>
            </a:r>
            <a:pPr algn="l" indent="0" marL="0">
              <a:lnSpc>
                <a:spcPts val="1950"/>
              </a:lnSpc>
              <a:buNone/>
            </a:pPr>
            <a:r>
              <a:rPr lang="en-US" sz="1200" b="1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currently</a:t>
            </a:r>
            <a:pPr algn="l" indent="0" marL="0">
              <a:lnSpc>
                <a:spcPts val="195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learning to paint Chinese painting." </a:t>
            </a:r>
            <a:pPr algn="l" indent="0" marL="0">
              <a:lnSpc>
                <a:spcPts val="1950"/>
              </a:lnSpc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Deep dive next lesson — L7.6!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8503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Annotate Text 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82526"/>
            <a:ext cx="976015" cy="219075"/>
          </a:xfrm>
          <a:prstGeom prst="roundRect">
            <a:avLst>
              <a:gd name="adj" fmla="val 579130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720626"/>
            <a:ext cx="6846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23566" y="596801"/>
            <a:ext cx="346403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注释课文 · Annotate Text 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7950" y="1088827"/>
            <a:ext cx="751136" cy="266700"/>
          </a:xfrm>
          <a:prstGeom prst="roundRect">
            <a:avLst>
              <a:gd name="adj" fmla="val 475714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7076" y="1136452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73386" y="1112639"/>
            <a:ext cx="682377" cy="219075"/>
          </a:xfrm>
          <a:prstGeom prst="roundRect">
            <a:avLst>
              <a:gd name="adj" fmla="val 579130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12987" y="1150739"/>
            <a:ext cx="4112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950" y="1507927"/>
            <a:ext cx="5486400" cy="4233863"/>
          </a:xfrm>
          <a:prstGeom prst="roundRect">
            <a:avLst>
              <a:gd name="adj" fmla="val 2700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30151" y="1692027"/>
            <a:ext cx="51428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课文二 · TEXT 2 · CD TRACK 34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30151" y="1977777"/>
            <a:ext cx="296912" cy="183952"/>
          </a:xfrm>
          <a:prstGeom prst="roundRect">
            <a:avLst>
              <a:gd name="adj" fmla="val 6897071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4451" y="2003078"/>
            <a:ext cx="696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41363" y="1939677"/>
            <a:ext cx="1269087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你有什么爱好？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0151" y="2337048"/>
            <a:ext cx="297656" cy="183952"/>
          </a:xfrm>
          <a:prstGeom prst="roundRect">
            <a:avLst>
              <a:gd name="adj" fmla="val 6897071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4451" y="2362349"/>
            <a:ext cx="704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42107" y="2298948"/>
            <a:ext cx="1813003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我喜欢看小说和杂志。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0151" y="2696319"/>
            <a:ext cx="296912" cy="183952"/>
          </a:xfrm>
          <a:prstGeom prst="roundRect">
            <a:avLst>
              <a:gd name="adj" fmla="val 6897071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44451" y="2721620"/>
            <a:ext cx="696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41363" y="2658219"/>
            <a:ext cx="1450342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你喜欢画画儿吗？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0151" y="3055590"/>
            <a:ext cx="297656" cy="183952"/>
          </a:xfrm>
          <a:prstGeom prst="roundRect">
            <a:avLst>
              <a:gd name="adj" fmla="val 6897071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44451" y="3080891"/>
            <a:ext cx="704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42107" y="3017490"/>
            <a:ext cx="4351026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油画儿、水彩画儿，我都喜欢画。我正在学画国画儿。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0151" y="3414861"/>
            <a:ext cx="296912" cy="183952"/>
          </a:xfrm>
          <a:prstGeom prst="roundRect">
            <a:avLst>
              <a:gd name="adj" fmla="val 6897071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44451" y="3440162"/>
            <a:ext cx="696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41363" y="3376761"/>
            <a:ext cx="1631749" cy="25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我也在学画国画儿。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97501" y="1507927"/>
            <a:ext cx="55962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TO DO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197501" y="1780877"/>
            <a:ext cx="5486549" cy="914102"/>
          </a:xfrm>
          <a:prstGeom prst="roundRect">
            <a:avLst>
              <a:gd name="adj" fmla="val 1111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79062" y="2104579"/>
            <a:ext cx="2589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62452" y="1926878"/>
            <a:ext cx="2528611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Copy Text 2 or use your worksheet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97501" y="2796480"/>
            <a:ext cx="5486549" cy="914102"/>
          </a:xfrm>
          <a:prstGeom prst="roundRect">
            <a:avLst>
              <a:gd name="adj" fmla="val 1111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379062" y="3120182"/>
            <a:ext cx="2589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📌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62452" y="2942481"/>
            <a:ext cx="2739771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Underline each new vocabulary word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62452" y="3156347"/>
            <a:ext cx="27397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小说 · 杂志 · 画儿 · 国画儿 · 油画儿 · 水彩画儿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97501" y="3812084"/>
            <a:ext cx="5486549" cy="914102"/>
          </a:xfrm>
          <a:prstGeom prst="roundRect">
            <a:avLst>
              <a:gd name="adj" fmla="val 1111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79062" y="4135785"/>
            <a:ext cx="2589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🖊️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62452" y="3958084"/>
            <a:ext cx="3828211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English meaning above each word in pencil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97501" y="4827687"/>
            <a:ext cx="5486549" cy="914102"/>
          </a:xfrm>
          <a:prstGeom prst="roundRect">
            <a:avLst>
              <a:gd name="adj" fmla="val 1111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79062" y="5151388"/>
            <a:ext cx="2589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⭕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762452" y="4973687"/>
            <a:ext cx="2240789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Circle </a:t>
            </a:r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762452" y="5187553"/>
            <a:ext cx="22407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are your grammar preview words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7950" y="5881390"/>
            <a:ext cx="3649117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7551" y="5982891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47551" y="6154341"/>
            <a:ext cx="3437314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your vocab list visible while annotating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271367" y="5881390"/>
            <a:ext cx="3649117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410968" y="5982891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410968" y="6154341"/>
            <a:ext cx="3437314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Also annotate the 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一边……一边……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duration structures from previous lessons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8034784" y="5881390"/>
            <a:ext cx="3649266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174385" y="5982891"/>
            <a:ext cx="3437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174385" y="6154341"/>
            <a:ext cx="3437465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circulates — check annotations and correct errors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24180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Comprehension Questions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82526"/>
            <a:ext cx="994470" cy="219075"/>
          </a:xfrm>
          <a:prstGeom prst="roundRect">
            <a:avLst>
              <a:gd name="adj" fmla="val 579130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720626"/>
            <a:ext cx="7034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42021" y="596801"/>
            <a:ext cx="460271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理解问答 · Comprehension Questions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7950" y="1088827"/>
            <a:ext cx="751136" cy="266700"/>
          </a:xfrm>
          <a:prstGeom prst="roundRect">
            <a:avLst>
              <a:gd name="adj" fmla="val 4757143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7076" y="1136452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73386" y="1112639"/>
            <a:ext cx="755600" cy="219075"/>
          </a:xfrm>
          <a:prstGeom prst="roundRect">
            <a:avLst>
              <a:gd name="adj" fmla="val 579130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12987" y="1150739"/>
            <a:ext cx="4859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950" y="1495127"/>
            <a:ext cx="8001298" cy="622102"/>
          </a:xfrm>
          <a:prstGeom prst="roundRect">
            <a:avLst>
              <a:gd name="adj" fmla="val 1633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30151" y="1641128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3650" y="1706166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12652" y="1672828"/>
            <a:ext cx="72158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喜欢看什么？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7950" y="2218730"/>
            <a:ext cx="8001298" cy="622102"/>
          </a:xfrm>
          <a:prstGeom prst="roundRect">
            <a:avLst>
              <a:gd name="adj" fmla="val 1633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30151" y="236473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50999" y="2429768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12652" y="2396430"/>
            <a:ext cx="72158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喜欢画什么？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7950" y="2942332"/>
            <a:ext cx="8001298" cy="622102"/>
          </a:xfrm>
          <a:prstGeom prst="roundRect">
            <a:avLst>
              <a:gd name="adj" fmla="val 1633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0151" y="308833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50553" y="3153370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12652" y="3120033"/>
            <a:ext cx="72158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正在学什么？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7950" y="3665934"/>
            <a:ext cx="8001298" cy="622102"/>
          </a:xfrm>
          <a:prstGeom prst="roundRect">
            <a:avLst>
              <a:gd name="adj" fmla="val 1633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30151" y="3811935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50106" y="3876973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212652" y="3843635"/>
            <a:ext cx="72158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 也在学什么？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7950" y="4389537"/>
            <a:ext cx="8001298" cy="622102"/>
          </a:xfrm>
          <a:prstGeom prst="roundRect">
            <a:avLst>
              <a:gd name="adj" fmla="val 16332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30151" y="4535537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50702" y="4600575"/>
            <a:ext cx="906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212652" y="4567238"/>
            <a:ext cx="72158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你喜欢看小说吗？用中文回答。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763149" y="1495127"/>
            <a:ext cx="29793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· Q5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763149" y="1729978"/>
            <a:ext cx="2920901" cy="63490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8786961" y="1729978"/>
            <a:ext cx="0" cy="63490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13924" y="1895029"/>
            <a:ext cx="25163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（不）</a:t>
            </a:r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喜欢看</a:t>
            </a:r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763149" y="2466380"/>
            <a:ext cx="29793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blank with: 小说 / 杂志 / or another book type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7950" y="5151239"/>
            <a:ext cx="3649117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47551" y="5252740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7551" y="5424190"/>
            <a:ext cx="3437314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the sentence frame for Q5; refer to Text 2 for Qs 1–4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271367" y="5151239"/>
            <a:ext cx="3649117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410968" y="5252740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410968" y="5424190"/>
            <a:ext cx="3437314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3-sentence summary of Text 2 in your own words, then add your own art/reading hobby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034784" y="5151239"/>
            <a:ext cx="3649266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174385" y="5252740"/>
            <a:ext cx="3437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174385" y="5424190"/>
            <a:ext cx="3437465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Cold-call 2 students for Q1 and Q5 at the end of the activity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20625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3 · Write About Myself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82526"/>
            <a:ext cx="994916" cy="219075"/>
          </a:xfrm>
          <a:prstGeom prst="roundRect">
            <a:avLst>
              <a:gd name="adj" fmla="val 5791304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720626"/>
            <a:ext cx="703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42467" y="596801"/>
            <a:ext cx="39062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写我自己 · Write About Myself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7950" y="1088827"/>
            <a:ext cx="744885" cy="266700"/>
          </a:xfrm>
          <a:prstGeom prst="roundRect">
            <a:avLst>
              <a:gd name="adj" fmla="val 4757143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7076" y="1136452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67135" y="1112639"/>
            <a:ext cx="755600" cy="219075"/>
          </a:xfrm>
          <a:prstGeom prst="roundRect">
            <a:avLst>
              <a:gd name="adj" fmla="val 5791304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06736" y="1150739"/>
            <a:ext cx="4859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950" y="1482477"/>
            <a:ext cx="11176099" cy="1009352"/>
          </a:xfrm>
          <a:prstGeom prst="roundRect">
            <a:avLst>
              <a:gd name="adj" fmla="val 11324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30151" y="1844278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8827" y="1892796"/>
            <a:ext cx="7512662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</a:t>
            </a:r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4–5 sentence paragraph</a:t>
            </a:r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your own reading and art hobbies. Use the sentence starters below.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950" y="2631430"/>
            <a:ext cx="55961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STARTERS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7950" y="2879080"/>
            <a:ext cx="5486400" cy="701576"/>
          </a:xfrm>
          <a:prstGeom prst="roundRect">
            <a:avLst>
              <a:gd name="adj" fmla="val 12671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2051" y="3179118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5952" y="3012430"/>
            <a:ext cx="113322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45952" y="3285381"/>
            <a:ext cx="11332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…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950" y="3669506"/>
            <a:ext cx="5486400" cy="701576"/>
          </a:xfrm>
          <a:prstGeom prst="roundRect">
            <a:avLst>
              <a:gd name="adj" fmla="val 12671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92051" y="396954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45952" y="3802856"/>
            <a:ext cx="14958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45952" y="4075807"/>
            <a:ext cx="14958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…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7950" y="4459932"/>
            <a:ext cx="5486400" cy="701576"/>
          </a:xfrm>
          <a:prstGeom prst="roundRect">
            <a:avLst>
              <a:gd name="adj" fmla="val 12671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2051" y="4759970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45952" y="4593282"/>
            <a:ext cx="14503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，我都喜欢。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45952" y="4866233"/>
            <a:ext cx="14503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 I like both / all.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7950" y="5250359"/>
            <a:ext cx="5486400" cy="701576"/>
          </a:xfrm>
          <a:prstGeom prst="roundRect">
            <a:avLst>
              <a:gd name="adj" fmla="val 12671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92051" y="5550396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45952" y="5383709"/>
            <a:ext cx="14272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我正在学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45952" y="5656659"/>
            <a:ext cx="14272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am currently learning …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97501" y="2631430"/>
            <a:ext cx="55962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VOCABULARY TO USE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197501" y="2879080"/>
            <a:ext cx="5486549" cy="891927"/>
          </a:xfrm>
          <a:prstGeom prst="roundRect">
            <a:avLst>
              <a:gd name="adj" fmla="val 11391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394252" y="3037731"/>
            <a:ext cx="51949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97501" y="3885307"/>
            <a:ext cx="5486549" cy="891927"/>
          </a:xfrm>
          <a:prstGeom prst="roundRect">
            <a:avLst>
              <a:gd name="adj" fmla="val 11391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94252" y="4043958"/>
            <a:ext cx="51949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PAINTING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7950" y="6078885"/>
            <a:ext cx="3649117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47551" y="6180386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7551" y="6351836"/>
            <a:ext cx="3437314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OK to write one sentence in English if you're stuck — then try to translate it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271367" y="6078885"/>
            <a:ext cx="3649117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410968" y="6180386"/>
            <a:ext cx="34373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410968" y="6351836"/>
            <a:ext cx="3437314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Free write 6–7 sentences without using the starters — express yourself!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034784" y="6078885"/>
            <a:ext cx="3649266" cy="665559"/>
          </a:xfrm>
          <a:prstGeom prst="roundRect">
            <a:avLst>
              <a:gd name="adj" fmla="val 133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174385" y="6180386"/>
            <a:ext cx="3437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174385" y="6351836"/>
            <a:ext cx="3437465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2–3 volunteers share their paragraph with the class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031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Last 5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6035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866626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 Up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9600" y="1523851"/>
            <a:ext cx="5440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SUCCESS CRITERIA REVISIT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9600" y="1819126"/>
            <a:ext cx="5334000" cy="628501"/>
          </a:xfrm>
          <a:prstGeom prst="roundRect">
            <a:avLst>
              <a:gd name="adj" fmla="val 181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275" y="199370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13358" y="2042815"/>
            <a:ext cx="989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54026" y="1993702"/>
            <a:ext cx="450890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you name 3 painting types?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国画儿 · 油画儿 · 水彩画儿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2574578"/>
            <a:ext cx="5334000" cy="628501"/>
          </a:xfrm>
          <a:prstGeom prst="roundRect">
            <a:avLst>
              <a:gd name="adj" fmla="val 181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2275" y="274915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3358" y="2798266"/>
            <a:ext cx="989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54026" y="2749153"/>
            <a:ext cx="356407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you say what you like to read? </a:t>
            </a:r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小说 · 杂志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3330029"/>
            <a:ext cx="5334000" cy="628501"/>
          </a:xfrm>
          <a:prstGeom prst="roundRect">
            <a:avLst>
              <a:gd name="adj" fmla="val 181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275" y="350460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13358" y="3553718"/>
            <a:ext cx="989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54026" y="3504605"/>
            <a:ext cx="380452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you read and answer questions about Text 2?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48400" y="1523851"/>
            <a:ext cx="5334000" cy="3086398"/>
          </a:xfrm>
          <a:prstGeom prst="roundRect">
            <a:avLst>
              <a:gd name="adj" fmla="val 4115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21351" y="1768376"/>
            <a:ext cx="1019473" cy="212527"/>
          </a:xfrm>
          <a:prstGeom prst="roundRect">
            <a:avLst>
              <a:gd name="adj" fmla="val 5969736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657826" y="1803202"/>
            <a:ext cx="7614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521351" y="2120503"/>
            <a:ext cx="4883860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Aft>
                <a:spcPts val="11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into Chinese:</a:t>
            </a:r>
            <a:endParaRPr lang="en-US" sz="1200" dirty="0"/>
          </a:p>
          <a:p>
            <a:pPr algn="l" indent="0" marL="0">
              <a:lnSpc>
                <a:spcPts val="1740"/>
              </a:lnSpc>
              <a:spcAft>
                <a:spcPts val="1100"/>
              </a:spcAft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like painting. I like both Chinese painting and watercolour."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21351" y="2701826"/>
            <a:ext cx="4788098" cy="453926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545163" y="2701826"/>
            <a:ext cx="0" cy="453926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46677" y="2828776"/>
            <a:ext cx="44727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like painting. I like both Chinese painting and watercolour."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21351" y="3295352"/>
            <a:ext cx="4788098" cy="1092696"/>
          </a:xfrm>
          <a:prstGeom prst="roundRect">
            <a:avLst>
              <a:gd name="adj" fmla="val 929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18102" y="3454003"/>
            <a:ext cx="4482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ANSWER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718102" y="3660279"/>
            <a:ext cx="4482489" cy="569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我喜欢画画儿。</a:t>
            </a:r>
            <a:endParaRPr lang="en-US" sz="14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国画儿、水彩画儿，我都喜欢画。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704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ART VOCAB + TEXT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9373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0689" y="144363"/>
            <a:ext cx="1141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42864" y="993577"/>
            <a:ext cx="9061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289798" y="1282452"/>
            <a:ext cx="1612404" cy="282476"/>
          </a:xfrm>
          <a:prstGeom prst="roundRect">
            <a:avLst>
              <a:gd name="adj" fmla="val 4491461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00318" y="1352252"/>
            <a:ext cx="11913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· L6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95777" y="1768078"/>
            <a:ext cx="500044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 · Present Progressive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088231" y="2431554"/>
            <a:ext cx="401553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something is happening </a:t>
            </a:r>
            <a:pPr algn="ctr" indent="0" marL="0">
              <a:spcAft>
                <a:spcPts val="2400"/>
              </a:spcAft>
              <a:buNone/>
            </a:pPr>
            <a:r>
              <a:rPr lang="en-US" sz="14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now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79949" y="2984004"/>
            <a:ext cx="4432102" cy="2524869"/>
          </a:xfrm>
          <a:prstGeom prst="roundRect">
            <a:avLst>
              <a:gd name="adj" fmla="val 6036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373169" y="3282404"/>
            <a:ext cx="3445663" cy="57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60"/>
              </a:lnSpc>
              <a:spcAft>
                <a:spcPts val="1400"/>
              </a:spcAft>
              <a:buNone/>
            </a:pPr>
            <a:r>
              <a:rPr lang="en-US" sz="3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pPr algn="ctr" indent="0" marL="0">
              <a:lnSpc>
                <a:spcPts val="4560"/>
              </a:lnSpc>
              <a:spcAft>
                <a:spcPts val="1400"/>
              </a:spcAft>
              <a:buNone/>
            </a:pPr>
            <a:r>
              <a:rPr lang="en-US" sz="3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pPr algn="ctr" indent="0" marL="0">
              <a:lnSpc>
                <a:spcPts val="4560"/>
              </a:lnSpc>
              <a:spcAft>
                <a:spcPts val="1400"/>
              </a:spcAft>
              <a:buNone/>
            </a:pPr>
            <a:r>
              <a:rPr lang="en-US" sz="3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pPr algn="ctr" indent="0" marL="0">
              <a:lnSpc>
                <a:spcPts val="4560"/>
              </a:lnSpc>
              <a:spcAft>
                <a:spcPts val="1400"/>
              </a:spcAft>
              <a:buNone/>
            </a:pPr>
            <a:r>
              <a:rPr lang="en-US" sz="3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800" dirty="0"/>
          </a:p>
        </p:txBody>
      </p:sp>
      <p:sp>
        <p:nvSpPr>
          <p:cNvPr id="14" name="Shape 12"/>
          <p:cNvSpPr/>
          <p:nvPr/>
        </p:nvSpPr>
        <p:spPr>
          <a:xfrm>
            <a:off x="5309146" y="4039195"/>
            <a:ext cx="0" cy="815727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70451" y="4128046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18725" y="4439096"/>
            <a:ext cx="1108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tā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10527" y="4613672"/>
            <a:ext cx="1272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414046" y="4039195"/>
            <a:ext cx="0" cy="815727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54232" y="4128046"/>
            <a:ext cx="414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608539" y="4439096"/>
            <a:ext cx="5059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zhèngzài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536126" y="4613672"/>
            <a:ext cx="6509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now ←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2417" y="4128046"/>
            <a:ext cx="6217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40689" y="4439096"/>
            <a:ext cx="685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tán gāngqín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709304" y="4613672"/>
            <a:ext cx="5481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piano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73169" y="4981873"/>
            <a:ext cx="3445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"He is playing the piano (right now)."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12925" y="5788223"/>
            <a:ext cx="57661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</a:t>
            </a:r>
            <a:pPr algn="ct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+ verb</a:t>
            </a:r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say what people are doing at this moment.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2026-06-30T02:51:27Z</dcterms:created>
  <dcterms:modified xsi:type="dcterms:W3CDTF">2026-06-30T02:51:27Z</dcterms:modified>
</cp:coreProperties>
</file>