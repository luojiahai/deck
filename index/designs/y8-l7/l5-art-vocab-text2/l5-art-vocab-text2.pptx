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14729" y="1828949"/>
            <a:ext cx="276254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400"/>
              </a:spcAft>
              <a:buNone/>
            </a:pPr>
            <a:r>
              <a:rPr lang="en-US" sz="11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LESSON 5 OF 8 · Y8 UNIT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838539" y="2206675"/>
            <a:ext cx="514922" cy="507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C9C2B2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🎨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3505151" y="2816126"/>
            <a:ext cx="5181549" cy="1016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000"/>
              </a:lnSpc>
              <a:spcAft>
                <a:spcPts val="800"/>
              </a:spcAft>
              <a:buNone/>
            </a:pPr>
            <a:r>
              <a:rPr lang="en-US" sz="80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阅读</a:t>
            </a:r>
            <a:r>
              <a:rPr lang="en-US" sz="80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·</a:t>
            </a:r>
            <a:r>
              <a:rPr lang="en-US" sz="80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艺术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5715000" y="3933676"/>
            <a:ext cx="762000" cy="38100"/>
          </a:xfrm>
          <a:prstGeom prst="roundRect">
            <a:avLst>
              <a:gd name="adj" fmla="val 66667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639284" y="4124176"/>
            <a:ext cx="291328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0"/>
              </a:spcAft>
              <a:buNone/>
            </a:pPr>
            <a:r>
              <a:rPr lang="en-US" sz="1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Art Vocabulary + Text 2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2641533" y="4848076"/>
            <a:ext cx="690893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Year 8 Chinese　·　50 mins　·　Reading + Writing　·　轻松学中文 Book 2 · p.64　·　CD Track 34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6513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44363"/>
            <a:ext cx="170491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L5 · ART VOCAB + TEXT 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293739" y="146000"/>
            <a:ext cx="12650" cy="139601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420689" y="144363"/>
            <a:ext cx="91310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Review · 0–8 min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58701" y="660350"/>
            <a:ext cx="1129609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0–8 MIN · WARM-UP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58701" y="866626"/>
            <a:ext cx="1129609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400"/>
              </a:spcAft>
              <a:buNone/>
            </a:pPr>
            <a:r>
              <a:rPr lang="en-US" sz="24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Mini Whiteboard Review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58701" y="1472952"/>
            <a:ext cx="5473750" cy="739378"/>
          </a:xfrm>
          <a:prstGeom prst="roundRect">
            <a:avLst>
              <a:gd name="adj" fmla="val 15459"/>
            </a:avLst>
          </a:prstGeom>
          <a:solidFill>
            <a:srgbClr val="F6F2E8"/>
          </a:solidFill>
          <a:ln w="19050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55452" y="1631603"/>
            <a:ext cx="330101" cy="330101"/>
          </a:xfrm>
          <a:prstGeom prst="roundRect">
            <a:avLst>
              <a:gd name="adj" fmla="val 277006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888950" y="1696641"/>
            <a:ext cx="6436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237952" y="1631603"/>
            <a:ext cx="2738708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Write: "I like playing piano while singing."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237952" y="1853654"/>
            <a:ext cx="273870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我喜欢一边弹钢琴，一边唱歌。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159401" y="1472952"/>
            <a:ext cx="5473898" cy="739378"/>
          </a:xfrm>
          <a:prstGeom prst="roundRect">
            <a:avLst>
              <a:gd name="adj" fmla="val 15459"/>
            </a:avLst>
          </a:prstGeom>
          <a:solidFill>
            <a:srgbClr val="F6F2E8"/>
          </a:solidFill>
          <a:ln w="19050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356152" y="1631603"/>
            <a:ext cx="330101" cy="330101"/>
          </a:xfrm>
          <a:prstGeom prst="roundRect">
            <a:avLst>
              <a:gd name="adj" fmla="val 277006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477000" y="1696641"/>
            <a:ext cx="9017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838652" y="1631603"/>
            <a:ext cx="2602388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Write: "She reads for 1 hour every day."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838652" y="1853654"/>
            <a:ext cx="260238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她每天读一个小时的书。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58701" y="2339280"/>
            <a:ext cx="5473750" cy="790873"/>
          </a:xfrm>
          <a:prstGeom prst="roundRect">
            <a:avLst>
              <a:gd name="adj" fmla="val 14452"/>
            </a:avLst>
          </a:prstGeom>
          <a:solidFill>
            <a:srgbClr val="F6F2E8"/>
          </a:solidFill>
          <a:ln w="19050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755452" y="2497931"/>
            <a:ext cx="330101" cy="330101"/>
          </a:xfrm>
          <a:prstGeom prst="roundRect">
            <a:avLst>
              <a:gd name="adj" fmla="val 277006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875854" y="2562969"/>
            <a:ext cx="9093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237952" y="2497931"/>
            <a:ext cx="2703490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Write a word with </a:t>
            </a:r>
            <a:r>
              <a:rPr lang="en-US" sz="10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ao</a:t>
            </a:r>
            <a:r>
              <a:rPr lang="en-US" sz="10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and a word with </a:t>
            </a:r>
            <a:r>
              <a:rPr lang="en-US" sz="10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ou</a:t>
            </a:r>
            <a:r>
              <a:rPr lang="en-US" sz="10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237952" y="2719983"/>
            <a:ext cx="270349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i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Any correct answer accepted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159401" y="2339280"/>
            <a:ext cx="5473898" cy="790873"/>
          </a:xfrm>
          <a:prstGeom prst="roundRect">
            <a:avLst>
              <a:gd name="adj" fmla="val 14452"/>
            </a:avLst>
          </a:prstGeom>
          <a:solidFill>
            <a:srgbClr val="F6F2E8"/>
          </a:solidFill>
          <a:ln w="19050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356152" y="2497931"/>
            <a:ext cx="330101" cy="330101"/>
          </a:xfrm>
          <a:prstGeom prst="roundRect">
            <a:avLst>
              <a:gd name="adj" fmla="val 277006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6476107" y="2562969"/>
            <a:ext cx="9199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838652" y="2497931"/>
            <a:ext cx="1549015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0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What does </a:t>
            </a:r>
            <a:r>
              <a:rPr lang="en-US" sz="13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爱好</a:t>
            </a:r>
            <a:r>
              <a:rPr lang="en-US" sz="10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mean?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838652" y="2771477"/>
            <a:ext cx="154901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hobby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58701" y="3295204"/>
            <a:ext cx="11074598" cy="532656"/>
          </a:xfrm>
          <a:prstGeom prst="rect">
            <a:avLst/>
          </a:prstGeom>
          <a:solidFill>
            <a:srgbClr val="F8F0D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582513" y="3295204"/>
            <a:ext cx="0" cy="532656"/>
          </a:xfrm>
          <a:prstGeom prst="line">
            <a:avLst/>
          </a:prstGeom>
          <a:noFill/>
          <a:ln w="47625">
            <a:solidFill>
              <a:srgbClr val="C8943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34926" y="3460254"/>
            <a:ext cx="10781169" cy="2025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95"/>
              </a:lnSpc>
              <a:buNone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We've been talking about </a:t>
            </a:r>
            <a:r>
              <a:rPr lang="en-US" sz="11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music hobbies</a:t>
            </a: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. Today we add </a:t>
            </a:r>
            <a:r>
              <a:rPr lang="en-US" sz="11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reading and art hobbies</a:t>
            </a: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and meet two new grammar words: </a:t>
            </a:r>
            <a:r>
              <a:rPr lang="en-US" sz="11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都</a:t>
            </a: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and </a:t>
            </a:r>
            <a:r>
              <a:rPr lang="en-US" sz="11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正在</a:t>
            </a: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0" y="6573887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7950" y="6656338"/>
            <a:ext cx="148783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6513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44363"/>
            <a:ext cx="170491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L5 · ART VOCAB + TEXT 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293739" y="146000"/>
            <a:ext cx="12650" cy="139601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420689" y="144363"/>
            <a:ext cx="188951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Learning Intention &amp; Success Criteria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11101" y="1686818"/>
            <a:ext cx="1098519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TODAY'S GOAL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11101" y="1931194"/>
            <a:ext cx="10985194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0"/>
              </a:spcAft>
              <a:buNone/>
            </a:pPr>
            <a:r>
              <a:rPr lang="en-US" sz="26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学习目标 · LI / SC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711101" y="2651820"/>
            <a:ext cx="10769798" cy="827336"/>
          </a:xfrm>
          <a:prstGeom prst="rect">
            <a:avLst/>
          </a:prstGeom>
          <a:solidFill>
            <a:srgbClr val="EDF3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734913" y="2651820"/>
            <a:ext cx="0" cy="827336"/>
          </a:xfrm>
          <a:prstGeom prst="line">
            <a:avLst/>
          </a:prstGeom>
          <a:noFill/>
          <a:ln w="47625">
            <a:solidFill>
              <a:srgbClr val="3A7D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12627" y="2842320"/>
            <a:ext cx="1041865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8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LEARNING INTENTION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012627" y="3048595"/>
            <a:ext cx="10418659" cy="24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We are learning to </a:t>
            </a:r>
            <a:r>
              <a:rPr lang="en-US" sz="14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talk about reading and art hobbies</a:t>
            </a:r>
            <a:r>
              <a:rPr lang="en-US" sz="14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in Chinese.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11101" y="3733056"/>
            <a:ext cx="1098519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SUCCESS CRITERIA — BY THE END OF TODAY I CAN...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11101" y="4040981"/>
            <a:ext cx="317450" cy="317450"/>
          </a:xfrm>
          <a:prstGeom prst="roundRect">
            <a:avLst>
              <a:gd name="adj" fmla="val 288045"/>
            </a:avLst>
          </a:prstGeom>
          <a:noFill/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841177" y="4109145"/>
            <a:ext cx="5844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80951" y="4028331"/>
            <a:ext cx="51974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Name 3 types of paintings in Chinese: </a:t>
            </a:r>
            <a:r>
              <a:rPr lang="en-US" sz="13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国画儿</a:t>
            </a:r>
            <a:r>
              <a:rPr lang="en-US" sz="13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</a:t>
            </a:r>
            <a:r>
              <a:rPr lang="en-US" sz="13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油画儿</a:t>
            </a:r>
            <a:r>
              <a:rPr lang="en-US" sz="13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</a:t>
            </a:r>
            <a:r>
              <a:rPr lang="en-US" sz="13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水彩画儿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11101" y="4523482"/>
            <a:ext cx="317450" cy="317450"/>
          </a:xfrm>
          <a:prstGeom prst="roundRect">
            <a:avLst>
              <a:gd name="adj" fmla="val 288045"/>
            </a:avLst>
          </a:prstGeom>
          <a:noFill/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829568" y="4591645"/>
            <a:ext cx="8212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80951" y="4510832"/>
            <a:ext cx="456491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Say what I like to read: </a:t>
            </a:r>
            <a:r>
              <a:rPr lang="en-US" sz="13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小说</a:t>
            </a:r>
            <a:r>
              <a:rPr lang="en-US" sz="13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(novel) and </a:t>
            </a:r>
            <a:r>
              <a:rPr lang="en-US" sz="13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杂志</a:t>
            </a:r>
            <a:r>
              <a:rPr lang="en-US" sz="13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(magazine)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11101" y="5005983"/>
            <a:ext cx="317450" cy="317450"/>
          </a:xfrm>
          <a:prstGeom prst="roundRect">
            <a:avLst>
              <a:gd name="adj" fmla="val 288045"/>
            </a:avLst>
          </a:prstGeom>
          <a:noFill/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829270" y="5074146"/>
            <a:ext cx="8273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80951" y="4993332"/>
            <a:ext cx="5048113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Read, annotate, and answer questions about </a:t>
            </a:r>
            <a:r>
              <a:rPr lang="en-US" sz="13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Text 2</a:t>
            </a:r>
            <a:r>
              <a:rPr lang="en-US" sz="13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in writing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0" y="6573887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7950" y="6656338"/>
            <a:ext cx="148783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6513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44363"/>
            <a:ext cx="170491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L5 · ART VOCAB + TEXT 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293739" y="146000"/>
            <a:ext cx="12650" cy="139601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420689" y="144363"/>
            <a:ext cx="176199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New Vocabulary · 8–20 min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07950" y="609451"/>
            <a:ext cx="1139962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8–20 MIN · I DO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07950" y="803077"/>
            <a:ext cx="11399621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100"/>
              </a:spcAft>
              <a:buNone/>
            </a:pPr>
            <a:r>
              <a:rPr lang="en-US" sz="2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New Vocabulary · 词汇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07950" y="1333202"/>
            <a:ext cx="5499199" cy="577602"/>
          </a:xfrm>
          <a:prstGeom prst="roundRect">
            <a:avLst>
              <a:gd name="adj" fmla="val 17590"/>
            </a:avLst>
          </a:prstGeom>
          <a:solidFill>
            <a:srgbClr val="F6F2E8"/>
          </a:solidFill>
          <a:ln w="19050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79400" y="1464766"/>
            <a:ext cx="725323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小说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17452" y="1453753"/>
            <a:ext cx="50839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xiǎoshuō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517452" y="1628329"/>
            <a:ext cx="50839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novel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07950" y="1999655"/>
            <a:ext cx="5499199" cy="577602"/>
          </a:xfrm>
          <a:prstGeom prst="roundRect">
            <a:avLst>
              <a:gd name="adj" fmla="val 17590"/>
            </a:avLst>
          </a:prstGeom>
          <a:solidFill>
            <a:srgbClr val="F6F2E8"/>
          </a:solidFill>
          <a:ln w="19050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79400" y="2131219"/>
            <a:ext cx="725323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杂志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517452" y="2120205"/>
            <a:ext cx="53602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zázhì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517452" y="2294781"/>
            <a:ext cx="53602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magazine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07950" y="2666107"/>
            <a:ext cx="5499199" cy="577602"/>
          </a:xfrm>
          <a:prstGeom prst="roundRect">
            <a:avLst>
              <a:gd name="adj" fmla="val 17590"/>
            </a:avLst>
          </a:prstGeom>
          <a:solidFill>
            <a:srgbClr val="F6F2E8"/>
          </a:solidFill>
          <a:ln w="19050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79400" y="2797671"/>
            <a:ext cx="725323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画儿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517452" y="2786658"/>
            <a:ext cx="109861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huàr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517452" y="2961233"/>
            <a:ext cx="109861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drawing or painting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07950" y="3332559"/>
            <a:ext cx="5499199" cy="577602"/>
          </a:xfrm>
          <a:prstGeom prst="roundRect">
            <a:avLst>
              <a:gd name="adj" fmla="val 17590"/>
            </a:avLst>
          </a:prstGeom>
          <a:solidFill>
            <a:srgbClr val="F8F0DF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79400" y="3464123"/>
            <a:ext cx="725323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D4756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都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517452" y="3453110"/>
            <a:ext cx="45511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dōu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517452" y="3627686"/>
            <a:ext cx="45511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all; both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07950" y="3999012"/>
            <a:ext cx="5499199" cy="577602"/>
          </a:xfrm>
          <a:prstGeom prst="roundRect">
            <a:avLst>
              <a:gd name="adj" fmla="val 17590"/>
            </a:avLst>
          </a:prstGeom>
          <a:solidFill>
            <a:srgbClr val="F8F0DF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679400" y="4130576"/>
            <a:ext cx="725323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D4756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正在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517452" y="4119562"/>
            <a:ext cx="161413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zhèngzài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517452" y="4294138"/>
            <a:ext cx="161413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in the process of (right now)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184850" y="1333202"/>
            <a:ext cx="5499199" cy="3650307"/>
          </a:xfrm>
          <a:prstGeom prst="roundRect">
            <a:avLst>
              <a:gd name="adj" fmla="val 3131"/>
            </a:avLst>
          </a:prstGeom>
          <a:solidFill>
            <a:srgbClr val="F6F2E8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6381601" y="1491853"/>
            <a:ext cx="520781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PAINTING TYPES · 画儿 PATTERN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381601" y="1761679"/>
            <a:ext cx="5105698" cy="339626"/>
          </a:xfrm>
          <a:prstGeom prst="roundRect">
            <a:avLst>
              <a:gd name="adj" fmla="val 22436"/>
            </a:avLst>
          </a:prstGeom>
          <a:solidFill>
            <a:srgbClr val="F8F0D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6521202" y="1850529"/>
            <a:ext cx="492302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Pattern: </a:t>
            </a: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prefix</a:t>
            </a: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+ </a:t>
            </a: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画儿</a:t>
            </a: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just learn the prefix!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381601" y="2190155"/>
            <a:ext cx="5105698" cy="819001"/>
          </a:xfrm>
          <a:prstGeom prst="roundRect">
            <a:avLst>
              <a:gd name="adj" fmla="val 10855"/>
            </a:avLst>
          </a:prstGeom>
          <a:solidFill>
            <a:srgbClr val="FEFCF7"/>
          </a:solidFill>
          <a:ln w="19050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6540252" y="2456706"/>
            <a:ext cx="46634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国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124402" y="2509093"/>
            <a:ext cx="12964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D5CEB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378452" y="2298055"/>
            <a:ext cx="89458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国画儿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378452" y="2583805"/>
            <a:ext cx="89458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guóhuàr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7378452" y="2748855"/>
            <a:ext cx="89458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8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Chinese painting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6381601" y="3098006"/>
            <a:ext cx="5105698" cy="819001"/>
          </a:xfrm>
          <a:prstGeom prst="roundRect">
            <a:avLst>
              <a:gd name="adj" fmla="val 10855"/>
            </a:avLst>
          </a:prstGeom>
          <a:solidFill>
            <a:srgbClr val="FEFCF7"/>
          </a:solidFill>
          <a:ln w="19050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6540252" y="3364557"/>
            <a:ext cx="46634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油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7124402" y="3416945"/>
            <a:ext cx="12964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D5CEB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378452" y="3205907"/>
            <a:ext cx="62179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油画儿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7378452" y="3491657"/>
            <a:ext cx="62179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yóuhuàr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7378452" y="3656707"/>
            <a:ext cx="62179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8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oil painting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81601" y="4005858"/>
            <a:ext cx="5105698" cy="819001"/>
          </a:xfrm>
          <a:prstGeom prst="roundRect">
            <a:avLst>
              <a:gd name="adj" fmla="val 10855"/>
            </a:avLst>
          </a:prstGeom>
          <a:solidFill>
            <a:srgbClr val="FEFCF7"/>
          </a:solidFill>
          <a:ln w="19050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6540252" y="4300984"/>
            <a:ext cx="4663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水彩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7124402" y="4324796"/>
            <a:ext cx="12964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D5CEB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7378452" y="4113758"/>
            <a:ext cx="82900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水彩画儿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7378452" y="4399508"/>
            <a:ext cx="82900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shuǐcǎihuàr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7378452" y="4564559"/>
            <a:ext cx="82900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8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watercolour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507950" y="5123111"/>
            <a:ext cx="5518249" cy="639961"/>
          </a:xfrm>
          <a:prstGeom prst="roundRect">
            <a:avLst>
              <a:gd name="adj" fmla="val 15876"/>
            </a:avLst>
          </a:prstGeom>
          <a:solidFill>
            <a:srgbClr val="EDF3F4"/>
          </a:solidFill>
          <a:ln w="19050">
            <a:solidFill>
              <a:srgbClr val="3A7D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692051" y="5256461"/>
            <a:ext cx="359898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Preview · </a:t>
            </a:r>
            <a:r>
              <a:rPr lang="en-US" sz="10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都</a:t>
            </a:r>
            <a:r>
              <a:rPr lang="en-US" sz="10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dōu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692051" y="5475536"/>
            <a:ext cx="3598986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Means "all / both" — deep dive in L7.7. Spot it in Text 2 today!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6165800" y="5123111"/>
            <a:ext cx="5518249" cy="639961"/>
          </a:xfrm>
          <a:prstGeom prst="roundRect">
            <a:avLst>
              <a:gd name="adj" fmla="val 15876"/>
            </a:avLst>
          </a:prstGeom>
          <a:solidFill>
            <a:srgbClr val="EDF3F4"/>
          </a:solidFill>
          <a:ln w="19050">
            <a:solidFill>
              <a:srgbClr val="3A7D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6349901" y="5256461"/>
            <a:ext cx="335898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Preview · </a:t>
            </a:r>
            <a:r>
              <a:rPr lang="en-US" sz="10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正在</a:t>
            </a:r>
            <a:r>
              <a:rPr lang="en-US" sz="10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zhèngzài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6349901" y="5475536"/>
            <a:ext cx="3358982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Means "right now / in the process of" — deep dive in L7.6.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0" y="6573887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07950" y="6656338"/>
            <a:ext cx="148783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6513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44363"/>
            <a:ext cx="170491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L5 · ART VOCAB + TEXT 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293739" y="146000"/>
            <a:ext cx="12650" cy="139601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420689" y="144363"/>
            <a:ext cx="133603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Text 2 · 20–30 min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58701" y="692051"/>
            <a:ext cx="118574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20–30 MIN · I DO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898898" y="634901"/>
            <a:ext cx="1056084" cy="257175"/>
          </a:xfrm>
          <a:prstGeom prst="roundRect">
            <a:avLst>
              <a:gd name="adj" fmla="val 4933333"/>
            </a:avLst>
          </a:prstGeom>
          <a:solidFill>
            <a:srgbClr val="FBF1F0"/>
          </a:solidFill>
          <a:ln w="19050">
            <a:solidFill>
              <a:srgbClr val="D475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057549" y="692051"/>
            <a:ext cx="75355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♪ CD Track 34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58701" y="993577"/>
            <a:ext cx="1129609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2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课文二 · Text 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58701" y="1587252"/>
            <a:ext cx="360164" cy="219075"/>
          </a:xfrm>
          <a:prstGeom prst="roundRect">
            <a:avLst>
              <a:gd name="adj" fmla="val 5791304"/>
            </a:avLst>
          </a:prstGeom>
          <a:solidFill>
            <a:srgbClr val="EDF3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98302" y="1625352"/>
            <a:ext cx="8258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071265" y="1536502"/>
            <a:ext cx="1632204" cy="33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10"/>
              </a:lnSpc>
              <a:buNone/>
            </a:pPr>
            <a:r>
              <a:rPr lang="en-US" sz="18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你有什么</a:t>
            </a:r>
            <a:r>
              <a:rPr lang="en-US" sz="18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爱好</a:t>
            </a:r>
            <a:r>
              <a:rPr lang="en-US" sz="18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？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58701" y="2045643"/>
            <a:ext cx="360908" cy="219075"/>
          </a:xfrm>
          <a:prstGeom prst="roundRect">
            <a:avLst>
              <a:gd name="adj" fmla="val 5791304"/>
            </a:avLst>
          </a:prstGeom>
          <a:solidFill>
            <a:srgbClr val="F8F0D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98302" y="2083743"/>
            <a:ext cx="8334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072009" y="1994892"/>
            <a:ext cx="2331720" cy="33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10"/>
              </a:lnSpc>
              <a:buNone/>
            </a:pPr>
            <a:r>
              <a:rPr lang="en-US" sz="18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我喜欢看</a:t>
            </a:r>
            <a:r>
              <a:rPr lang="en-US" sz="18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小说</a:t>
            </a:r>
            <a:r>
              <a:rPr lang="en-US" sz="18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和</a:t>
            </a:r>
            <a:r>
              <a:rPr lang="en-US" sz="18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杂志</a:t>
            </a:r>
            <a:r>
              <a:rPr lang="en-US" sz="18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58701" y="2504033"/>
            <a:ext cx="360164" cy="219075"/>
          </a:xfrm>
          <a:prstGeom prst="roundRect">
            <a:avLst>
              <a:gd name="adj" fmla="val 5791304"/>
            </a:avLst>
          </a:prstGeom>
          <a:solidFill>
            <a:srgbClr val="EDF3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98302" y="2542133"/>
            <a:ext cx="8258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71265" y="2453283"/>
            <a:ext cx="1865376" cy="33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10"/>
              </a:lnSpc>
              <a:buNone/>
            </a:pPr>
            <a:r>
              <a:rPr lang="en-US" sz="18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你喜欢</a:t>
            </a:r>
            <a:r>
              <a:rPr lang="en-US" sz="18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画画儿</a:t>
            </a:r>
            <a:r>
              <a:rPr lang="en-US" sz="18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吗？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58701" y="2962424"/>
            <a:ext cx="360908" cy="219075"/>
          </a:xfrm>
          <a:prstGeom prst="roundRect">
            <a:avLst>
              <a:gd name="adj" fmla="val 5791304"/>
            </a:avLst>
          </a:prstGeom>
          <a:solidFill>
            <a:srgbClr val="F8F0D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98302" y="3000524"/>
            <a:ext cx="8334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072009" y="2911673"/>
            <a:ext cx="5596128" cy="33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10"/>
              </a:lnSpc>
              <a:buNone/>
            </a:pPr>
            <a:r>
              <a:rPr lang="en-US" sz="18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油画儿</a:t>
            </a:r>
            <a:r>
              <a:rPr lang="en-US" sz="18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、</a:t>
            </a:r>
            <a:r>
              <a:rPr lang="en-US" sz="18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水彩画儿</a:t>
            </a:r>
            <a:r>
              <a:rPr lang="en-US" sz="18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，我</a:t>
            </a:r>
            <a:r>
              <a:rPr lang="en-US" sz="1800" b="1" dirty="0">
                <a:solidFill>
                  <a:srgbClr val="D4756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都</a:t>
            </a:r>
            <a:r>
              <a:rPr lang="en-US" sz="18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喜欢画。我</a:t>
            </a:r>
            <a:r>
              <a:rPr lang="en-US" sz="18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正在</a:t>
            </a:r>
            <a:r>
              <a:rPr lang="en-US" sz="18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学画</a:t>
            </a:r>
            <a:r>
              <a:rPr lang="en-US" sz="18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国画儿</a:t>
            </a:r>
            <a:r>
              <a:rPr lang="en-US" sz="18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58701" y="3420814"/>
            <a:ext cx="360164" cy="219075"/>
          </a:xfrm>
          <a:prstGeom prst="roundRect">
            <a:avLst>
              <a:gd name="adj" fmla="val 5791304"/>
            </a:avLst>
          </a:prstGeom>
          <a:solidFill>
            <a:srgbClr val="EDF3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98302" y="3458914"/>
            <a:ext cx="8258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071265" y="3370064"/>
            <a:ext cx="2098548" cy="33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10"/>
              </a:lnSpc>
              <a:buNone/>
            </a:pPr>
            <a:r>
              <a:rPr lang="en-US" sz="18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我也在学画</a:t>
            </a:r>
            <a:r>
              <a:rPr lang="en-US" sz="18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国画儿</a:t>
            </a:r>
            <a:r>
              <a:rPr lang="en-US" sz="18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8725049" y="1536502"/>
            <a:ext cx="2908250" cy="3215580"/>
          </a:xfrm>
          <a:prstGeom prst="roundRect">
            <a:avLst>
              <a:gd name="adj" fmla="val 4367"/>
            </a:avLst>
          </a:prstGeom>
          <a:solidFill>
            <a:srgbClr val="F6F2E8"/>
          </a:solidFill>
          <a:ln w="19050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8972699" y="1758702"/>
            <a:ext cx="246120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LISTENING SEQUENCE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8972699" y="2079278"/>
            <a:ext cx="2412950" cy="625376"/>
          </a:xfrm>
          <a:prstGeom prst="roundRect">
            <a:avLst>
              <a:gd name="adj" fmla="val 14215"/>
            </a:avLst>
          </a:prstGeom>
          <a:solidFill>
            <a:srgbClr val="FEFCF7"/>
          </a:solidFill>
          <a:ln w="19050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9144149" y="2239566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9264997" y="2291953"/>
            <a:ext cx="6436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588550" y="2212628"/>
            <a:ext cx="118589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Listen closed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9588550" y="2418904"/>
            <a:ext cx="118589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8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Books / screens away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8972699" y="2831604"/>
            <a:ext cx="2412950" cy="625376"/>
          </a:xfrm>
          <a:prstGeom prst="roundRect">
            <a:avLst>
              <a:gd name="adj" fmla="val 14215"/>
            </a:avLst>
          </a:prstGeom>
          <a:solidFill>
            <a:srgbClr val="FEFCF7"/>
          </a:solidFill>
          <a:ln w="19050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9144149" y="2991892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9252347" y="3044279"/>
            <a:ext cx="9017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588550" y="2964954"/>
            <a:ext cx="139569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Follow along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9588550" y="3171230"/>
            <a:ext cx="139569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8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Read silently as you listen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8972699" y="3583930"/>
            <a:ext cx="2412950" cy="625376"/>
          </a:xfrm>
          <a:prstGeom prst="roundRect">
            <a:avLst>
              <a:gd name="adj" fmla="val 14215"/>
            </a:avLst>
          </a:prstGeom>
          <a:solidFill>
            <a:srgbClr val="FEFCF7"/>
          </a:solidFill>
          <a:ln w="19050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9144149" y="3744218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D475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9251900" y="3796605"/>
            <a:ext cx="9093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9588550" y="3717280"/>
            <a:ext cx="146446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Choral read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9588550" y="3923556"/>
            <a:ext cx="146446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8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Say it together with the CD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8924440" y="4387007"/>
            <a:ext cx="246120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Bef>
                <a:spcPts val="400"/>
              </a:spcBef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轻松学中文 Book 2 · p.64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0" y="6573887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07950" y="6656338"/>
            <a:ext cx="148783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6513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44363"/>
            <a:ext cx="170491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L5 · ART VOCAB + TEXT 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293739" y="146000"/>
            <a:ext cx="12650" cy="139601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420689" y="144363"/>
            <a:ext cx="215517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Text 2 Comprehension · 30–38 min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11101" y="634901"/>
            <a:ext cx="1098519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30–38 MIN · I DO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11101" y="841177"/>
            <a:ext cx="10985194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理解问题 · Comprehension Questions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11101" y="1333202"/>
            <a:ext cx="10769798" cy="476250"/>
          </a:xfrm>
          <a:prstGeom prst="roundRect">
            <a:avLst>
              <a:gd name="adj" fmla="val 21333"/>
            </a:avLst>
          </a:prstGeom>
          <a:solidFill>
            <a:srgbClr val="F8F0DF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33301" y="1466552"/>
            <a:ext cx="1053190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📝 Write your answers in full Chinese sentences in your exercise book.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11101" y="1961852"/>
            <a:ext cx="10769798" cy="672852"/>
          </a:xfrm>
          <a:prstGeom prst="roundRect">
            <a:avLst>
              <a:gd name="adj" fmla="val 16987"/>
            </a:avLst>
          </a:prstGeom>
          <a:solidFill>
            <a:srgbClr val="F6F2E8"/>
          </a:solidFill>
          <a:ln w="19050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958751" y="2120503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102072" y="2193429"/>
            <a:ext cx="7013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492002" y="2155329"/>
            <a:ext cx="993607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B 喜欢看什么？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11101" y="2736205"/>
            <a:ext cx="10769798" cy="672852"/>
          </a:xfrm>
          <a:prstGeom prst="roundRect">
            <a:avLst>
              <a:gd name="adj" fmla="val 16987"/>
            </a:avLst>
          </a:prstGeom>
          <a:solidFill>
            <a:srgbClr val="F6F2E8"/>
          </a:solidFill>
          <a:ln w="19050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958751" y="2894856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088231" y="2967782"/>
            <a:ext cx="9852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492002" y="2929682"/>
            <a:ext cx="993607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B 喜欢画什么？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11101" y="3510558"/>
            <a:ext cx="10769798" cy="672852"/>
          </a:xfrm>
          <a:prstGeom prst="roundRect">
            <a:avLst>
              <a:gd name="adj" fmla="val 16987"/>
            </a:avLst>
          </a:prstGeom>
          <a:solidFill>
            <a:srgbClr val="F6F2E8"/>
          </a:solidFill>
          <a:ln w="19050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958751" y="3669209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1087785" y="3742134"/>
            <a:ext cx="9928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492002" y="3704034"/>
            <a:ext cx="993607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B 正在学什么？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11101" y="4284911"/>
            <a:ext cx="10769798" cy="672852"/>
          </a:xfrm>
          <a:prstGeom prst="roundRect">
            <a:avLst>
              <a:gd name="adj" fmla="val 16987"/>
            </a:avLst>
          </a:prstGeom>
          <a:solidFill>
            <a:srgbClr val="F6F2E8"/>
          </a:solidFill>
          <a:ln w="19050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958751" y="4443561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1087338" y="4516487"/>
            <a:ext cx="10034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492002" y="4478387"/>
            <a:ext cx="993607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A 也在学什么？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11101" y="5059263"/>
            <a:ext cx="10769798" cy="672852"/>
          </a:xfrm>
          <a:prstGeom prst="roundRect">
            <a:avLst>
              <a:gd name="adj" fmla="val 16987"/>
            </a:avLst>
          </a:prstGeom>
          <a:solidFill>
            <a:srgbClr val="EDF3F4"/>
          </a:solidFill>
          <a:ln w="19050">
            <a:solidFill>
              <a:srgbClr val="3A7D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958751" y="5217914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1087934" y="5290840"/>
            <a:ext cx="9897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492002" y="5252740"/>
            <a:ext cx="993607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你喜欢看小说吗？用中文回答。</a:t>
            </a:r>
            <a:r>
              <a:rPr lang="en-US" sz="8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Open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0" y="6573887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7950" y="6656338"/>
            <a:ext cx="148783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6513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44363"/>
            <a:ext cx="170491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L5 · ART VOCAB + TEXT 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293739" y="146000"/>
            <a:ext cx="12650" cy="139601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420689" y="144363"/>
            <a:ext cx="120532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CFU Checkpoints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11101" y="1071116"/>
            <a:ext cx="1098519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CHECK FOR UNDERSTANDING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11101" y="1290191"/>
            <a:ext cx="10985194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26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理解检查 · CFU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711101" y="1858417"/>
            <a:ext cx="1098519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800"/>
              </a:spcAft>
              <a:buNone/>
            </a:pPr>
            <a:r>
              <a:rPr lang="en-US" sz="1100" i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Think — then share with your partner.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11101" y="2287042"/>
            <a:ext cx="10769798" cy="1098947"/>
          </a:xfrm>
          <a:prstGeom prst="roundRect">
            <a:avLst>
              <a:gd name="adj" fmla="val 11556"/>
            </a:avLst>
          </a:prstGeom>
          <a:solidFill>
            <a:srgbClr val="F6F2E8"/>
          </a:solidFill>
          <a:ln w="19050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984052" y="2509242"/>
            <a:ext cx="381000" cy="381000"/>
          </a:xfrm>
          <a:prstGeom prst="roundRect">
            <a:avLst>
              <a:gd name="adj" fmla="val 240000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137345" y="2585442"/>
            <a:ext cx="759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568202" y="2509242"/>
            <a:ext cx="9832541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What's the difference between </a:t>
            </a:r>
            <a:r>
              <a:rPr lang="en-US" sz="13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小说</a:t>
            </a:r>
            <a:r>
              <a:rPr lang="en-US" sz="13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and </a:t>
            </a:r>
            <a:r>
              <a:rPr lang="en-US" sz="13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杂志</a:t>
            </a:r>
            <a:r>
              <a:rPr lang="en-US" sz="13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?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568202" y="2782788"/>
            <a:ext cx="983254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i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Think about what you read...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568202" y="3001863"/>
            <a:ext cx="983254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C9C2B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Answer on next slide →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11101" y="3563689"/>
            <a:ext cx="10769798" cy="1098947"/>
          </a:xfrm>
          <a:prstGeom prst="roundRect">
            <a:avLst>
              <a:gd name="adj" fmla="val 11556"/>
            </a:avLst>
          </a:prstGeom>
          <a:solidFill>
            <a:srgbClr val="F6F2E8"/>
          </a:solidFill>
          <a:ln w="19050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984052" y="3785890"/>
            <a:ext cx="381000" cy="381000"/>
          </a:xfrm>
          <a:prstGeom prst="roundRect">
            <a:avLst>
              <a:gd name="adj" fmla="val 240000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122313" y="3862090"/>
            <a:ext cx="1064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568202" y="3785890"/>
            <a:ext cx="9832541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Can you spot </a:t>
            </a:r>
            <a:r>
              <a:rPr lang="en-US" sz="13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都</a:t>
            </a:r>
            <a:r>
              <a:rPr lang="en-US" sz="13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in Text 2? What does that whole sentence mean?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568202" y="4059436"/>
            <a:ext cx="983254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i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Find it, then translate the full sentence into English.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568202" y="4278511"/>
            <a:ext cx="983254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C9C2B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Answer on next slide →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11101" y="4840337"/>
            <a:ext cx="10769798" cy="1098947"/>
          </a:xfrm>
          <a:prstGeom prst="roundRect">
            <a:avLst>
              <a:gd name="adj" fmla="val 11556"/>
            </a:avLst>
          </a:prstGeom>
          <a:solidFill>
            <a:srgbClr val="F6F2E8"/>
          </a:solidFill>
          <a:ln w="19050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984052" y="5062538"/>
            <a:ext cx="381000" cy="381000"/>
          </a:xfrm>
          <a:prstGeom prst="roundRect">
            <a:avLst>
              <a:gd name="adj" fmla="val 240000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1121866" y="5138738"/>
            <a:ext cx="1073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568202" y="5062538"/>
            <a:ext cx="9832541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What does </a:t>
            </a:r>
            <a:r>
              <a:rPr lang="en-US" sz="13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正在</a:t>
            </a:r>
            <a:r>
              <a:rPr lang="en-US" sz="13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tell us about an action?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568202" y="5336084"/>
            <a:ext cx="983254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i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How is it different from just saying 我学…?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568202" y="5555159"/>
            <a:ext cx="983254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C9C2B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Answer on next slide →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0" y="6573887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7950" y="6656338"/>
            <a:ext cx="148783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6513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44363"/>
            <a:ext cx="170491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L5 · ART VOCAB + TEXT 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293739" y="146000"/>
            <a:ext cx="12650" cy="139601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420689" y="144363"/>
            <a:ext cx="100327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CFU Answers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11101" y="1307009"/>
            <a:ext cx="1098519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CFU REVEALED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11101" y="1526084"/>
            <a:ext cx="10985194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600"/>
              </a:spcAft>
              <a:buNone/>
            </a:pPr>
            <a:r>
              <a:rPr lang="en-US" sz="26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参考答案 · Answers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711101" y="2195959"/>
            <a:ext cx="10769798" cy="1069777"/>
          </a:xfrm>
          <a:prstGeom prst="roundRect">
            <a:avLst>
              <a:gd name="adj" fmla="val 11872"/>
            </a:avLst>
          </a:prstGeom>
          <a:solidFill>
            <a:srgbClr val="EDF3F4"/>
          </a:solidFill>
          <a:ln w="19050">
            <a:solidFill>
              <a:srgbClr val="3A7D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58751" y="2380059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102072" y="2452985"/>
            <a:ext cx="7013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492002" y="2380059"/>
            <a:ext cx="993607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What's the difference between 小说 and 杂志?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492002" y="2624435"/>
            <a:ext cx="9936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小说</a:t>
            </a: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= </a:t>
            </a:r>
            <a:r>
              <a:rPr lang="en-US" sz="12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novel</a:t>
            </a: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a long work of fiction you read cover to cover. </a:t>
            </a:r>
            <a:r>
              <a:rPr lang="en-US" sz="12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杂志</a:t>
            </a: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= </a:t>
            </a:r>
            <a:r>
              <a:rPr lang="en-US" sz="12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magazine</a:t>
            </a: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a periodical with articles, pictures, and features.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11101" y="3405336"/>
            <a:ext cx="10769798" cy="1069777"/>
          </a:xfrm>
          <a:prstGeom prst="roundRect">
            <a:avLst>
              <a:gd name="adj" fmla="val 11872"/>
            </a:avLst>
          </a:prstGeom>
          <a:solidFill>
            <a:srgbClr val="F8F0DF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958751" y="3589437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088231" y="3662362"/>
            <a:ext cx="9852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492002" y="3589437"/>
            <a:ext cx="993607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Spot 都 in Text 2 — what does the sentence mean?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492002" y="3833812"/>
            <a:ext cx="9936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油画儿、水彩画儿，我都喜欢画。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"Oil painting, watercolour — I like painting 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both</a:t>
            </a: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." </a:t>
            </a:r>
            <a:r>
              <a:rPr lang="en-US" sz="9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都 (dōu) bundles a list together: "all / both of these"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11101" y="4614714"/>
            <a:ext cx="10769798" cy="1088678"/>
          </a:xfrm>
          <a:prstGeom prst="roundRect">
            <a:avLst>
              <a:gd name="adj" fmla="val 11665"/>
            </a:avLst>
          </a:prstGeom>
          <a:solidFill>
            <a:srgbClr val="FBF1F0"/>
          </a:solidFill>
          <a:ln w="19050">
            <a:solidFill>
              <a:srgbClr val="D475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958751" y="4798814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D475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1087785" y="4871740"/>
            <a:ext cx="9928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492002" y="4798814"/>
            <a:ext cx="993607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What does 正在 tell us about an action?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492002" y="5043190"/>
            <a:ext cx="9936072" cy="476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正在</a:t>
            </a: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marks an action </a:t>
            </a:r>
            <a:r>
              <a:rPr lang="en-US" sz="12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happening right now</a:t>
            </a: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, at this moment. </a:t>
            </a:r>
            <a:r>
              <a:rPr lang="en-US" sz="13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我正在学画国画儿。</a:t>
            </a: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= "I am </a:t>
            </a:r>
            <a:r>
              <a:rPr lang="en-US" sz="1200" b="1" i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currently</a:t>
            </a: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learning to paint Chinese painting." </a:t>
            </a:r>
            <a:r>
              <a:rPr lang="en-US" sz="9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Deep dive next lesson — L7.6!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0" y="6573887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7950" y="6656338"/>
            <a:ext cx="148783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6513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44363"/>
            <a:ext cx="170491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L5 · ART VOCAB + TEXT 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293739" y="146000"/>
            <a:ext cx="12650" cy="139601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420689" y="144363"/>
            <a:ext cx="185034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We Do · Activity 1 · Annotate Text 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07950" y="682526"/>
            <a:ext cx="976015" cy="219075"/>
          </a:xfrm>
          <a:prstGeom prst="roundRect">
            <a:avLst>
              <a:gd name="adj" fmla="val 5791304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60350" y="720626"/>
            <a:ext cx="68463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ACTIVITY 1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623566" y="596801"/>
            <a:ext cx="3464031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注释课文 · Annotate Text 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07950" y="1088827"/>
            <a:ext cx="751136" cy="266700"/>
          </a:xfrm>
          <a:prstGeom prst="roundRect">
            <a:avLst>
              <a:gd name="adj" fmla="val 4757143"/>
            </a:avLst>
          </a:prstGeom>
          <a:solidFill>
            <a:srgbClr val="EDF3F4"/>
          </a:solidFill>
          <a:ln w="9525">
            <a:solidFill>
              <a:srgbClr val="3A7D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57076" y="1136452"/>
            <a:ext cx="46194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⏱ 8 min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373386" y="1112639"/>
            <a:ext cx="682377" cy="219075"/>
          </a:xfrm>
          <a:prstGeom prst="roundRect">
            <a:avLst>
              <a:gd name="adj" fmla="val 5791304"/>
            </a:avLst>
          </a:prstGeom>
          <a:solidFill>
            <a:srgbClr val="EDF3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512987" y="1150739"/>
            <a:ext cx="41123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WE DO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07950" y="1507927"/>
            <a:ext cx="5486400" cy="4233863"/>
          </a:xfrm>
          <a:prstGeom prst="roundRect">
            <a:avLst>
              <a:gd name="adj" fmla="val 2700"/>
            </a:avLst>
          </a:prstGeom>
          <a:solidFill>
            <a:srgbClr val="F6F2E8"/>
          </a:solidFill>
          <a:ln w="19050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30151" y="1692027"/>
            <a:ext cx="514283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en-US" sz="75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课文二 · TEXT 2 · CD TRACK 34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730151" y="1977777"/>
            <a:ext cx="296912" cy="183952"/>
          </a:xfrm>
          <a:prstGeom prst="roundRect">
            <a:avLst>
              <a:gd name="adj" fmla="val 6897071"/>
            </a:avLst>
          </a:prstGeom>
          <a:solidFill>
            <a:srgbClr val="EDF3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844451" y="2003078"/>
            <a:ext cx="6967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141363" y="1939677"/>
            <a:ext cx="1269087" cy="257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你有什么爱好？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30151" y="2337048"/>
            <a:ext cx="297656" cy="183952"/>
          </a:xfrm>
          <a:prstGeom prst="roundRect">
            <a:avLst>
              <a:gd name="adj" fmla="val 6897071"/>
            </a:avLst>
          </a:prstGeom>
          <a:solidFill>
            <a:srgbClr val="F8F0D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844451" y="2362349"/>
            <a:ext cx="7043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142107" y="2298948"/>
            <a:ext cx="1813003" cy="257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我喜欢看小说和杂志。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30151" y="2696319"/>
            <a:ext cx="296912" cy="183952"/>
          </a:xfrm>
          <a:prstGeom prst="roundRect">
            <a:avLst>
              <a:gd name="adj" fmla="val 6897071"/>
            </a:avLst>
          </a:prstGeom>
          <a:solidFill>
            <a:srgbClr val="EDF3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844451" y="2721620"/>
            <a:ext cx="6967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1141363" y="2658219"/>
            <a:ext cx="1450342" cy="257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你喜欢画画儿吗？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30151" y="3055590"/>
            <a:ext cx="297656" cy="183952"/>
          </a:xfrm>
          <a:prstGeom prst="roundRect">
            <a:avLst>
              <a:gd name="adj" fmla="val 6897071"/>
            </a:avLst>
          </a:prstGeom>
          <a:solidFill>
            <a:srgbClr val="F8F0D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844451" y="3080891"/>
            <a:ext cx="7043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1142107" y="3017490"/>
            <a:ext cx="4351026" cy="257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油画儿、水彩画儿，我都喜欢画。我正在学画国画儿。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30151" y="3414861"/>
            <a:ext cx="296912" cy="183952"/>
          </a:xfrm>
          <a:prstGeom prst="roundRect">
            <a:avLst>
              <a:gd name="adj" fmla="val 6897071"/>
            </a:avLst>
          </a:prstGeom>
          <a:solidFill>
            <a:srgbClr val="EDF3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844451" y="3440162"/>
            <a:ext cx="6967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1141363" y="3376761"/>
            <a:ext cx="1631749" cy="257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我也在学画国画儿。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197501" y="1507927"/>
            <a:ext cx="559628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WHAT TO DO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6197501" y="1780877"/>
            <a:ext cx="5486549" cy="914102"/>
          </a:xfrm>
          <a:prstGeom prst="roundRect">
            <a:avLst>
              <a:gd name="adj" fmla="val 11115"/>
            </a:avLst>
          </a:prstGeom>
          <a:solidFill>
            <a:srgbClr val="F6F2E8"/>
          </a:solidFill>
          <a:ln w="19050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6379062" y="2104579"/>
            <a:ext cx="25897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✏️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762452" y="1926878"/>
            <a:ext cx="2528611" cy="188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1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Copy Text 2 or use your worksheet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197501" y="2796480"/>
            <a:ext cx="5486549" cy="914102"/>
          </a:xfrm>
          <a:prstGeom prst="roundRect">
            <a:avLst>
              <a:gd name="adj" fmla="val 11115"/>
            </a:avLst>
          </a:prstGeom>
          <a:solidFill>
            <a:srgbClr val="F6F2E8"/>
          </a:solidFill>
          <a:ln w="19050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6379062" y="3120182"/>
            <a:ext cx="25897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📌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762452" y="2942481"/>
            <a:ext cx="2739771" cy="188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1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Underline each new vocabulary word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762452" y="3156347"/>
            <a:ext cx="273977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小说 · 杂志 · 画儿 · 国画儿 · 油画儿 · 水彩画儿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197501" y="3812084"/>
            <a:ext cx="5486549" cy="914102"/>
          </a:xfrm>
          <a:prstGeom prst="roundRect">
            <a:avLst>
              <a:gd name="adj" fmla="val 11115"/>
            </a:avLst>
          </a:prstGeom>
          <a:solidFill>
            <a:srgbClr val="F6F2E8"/>
          </a:solidFill>
          <a:ln w="19050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6379062" y="4135785"/>
            <a:ext cx="25897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🖊️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6762452" y="3958084"/>
            <a:ext cx="3828211" cy="188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1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Write the English meaning above each word in pencil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197501" y="4827687"/>
            <a:ext cx="5486549" cy="914102"/>
          </a:xfrm>
          <a:prstGeom prst="roundRect">
            <a:avLst>
              <a:gd name="adj" fmla="val 11115"/>
            </a:avLst>
          </a:prstGeom>
          <a:solidFill>
            <a:srgbClr val="F6F2E8"/>
          </a:solidFill>
          <a:ln w="19050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6379062" y="5151388"/>
            <a:ext cx="25897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⭕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6762452" y="4973687"/>
            <a:ext cx="2240789" cy="188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1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Circle </a:t>
            </a:r>
            <a:r>
              <a:rPr lang="en-US" sz="11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都</a:t>
            </a:r>
            <a:r>
              <a:rPr lang="en-US" sz="11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and </a:t>
            </a:r>
            <a:r>
              <a:rPr lang="en-US" sz="11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正在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762452" y="5187553"/>
            <a:ext cx="224078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These are your grammar preview words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07950" y="5881390"/>
            <a:ext cx="3649117" cy="665559"/>
          </a:xfrm>
          <a:prstGeom prst="roundRect">
            <a:avLst>
              <a:gd name="adj" fmla="val 13357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647551" y="5982891"/>
            <a:ext cx="343731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SCAFFOLD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647551" y="6154341"/>
            <a:ext cx="3437314" cy="145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Keep your vocab list visible while annotating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4271367" y="5881390"/>
            <a:ext cx="3649117" cy="665559"/>
          </a:xfrm>
          <a:prstGeom prst="roundRect">
            <a:avLst>
              <a:gd name="adj" fmla="val 13357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4410968" y="5982891"/>
            <a:ext cx="343731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EXTENSION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4410968" y="6154341"/>
            <a:ext cx="3437314" cy="2911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Also annotate the </a:t>
            </a:r>
            <a:r>
              <a:rPr lang="en-US" sz="8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一边……一边……</a:t>
            </a:r>
            <a:r>
              <a:rPr lang="en-US" sz="8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and duration structures from previous lessons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8034784" y="5881390"/>
            <a:ext cx="3649266" cy="665559"/>
          </a:xfrm>
          <a:prstGeom prst="roundRect">
            <a:avLst>
              <a:gd name="adj" fmla="val 13357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8174385" y="5982891"/>
            <a:ext cx="343746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OTR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8174385" y="6154341"/>
            <a:ext cx="3437465" cy="145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circulates — check annotations and correct errors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0" y="6573887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07950" y="6656338"/>
            <a:ext cx="148783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6513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44363"/>
            <a:ext cx="170491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L5 · ART VOCAB + TEXT 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293739" y="146000"/>
            <a:ext cx="12650" cy="139601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420689" y="144363"/>
            <a:ext cx="241809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You Do · Activity 2 · Comprehension Questions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07950" y="682526"/>
            <a:ext cx="994470" cy="219075"/>
          </a:xfrm>
          <a:prstGeom prst="roundRect">
            <a:avLst>
              <a:gd name="adj" fmla="val 5791304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60350" y="720626"/>
            <a:ext cx="70346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ACTIVITY 2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642021" y="596801"/>
            <a:ext cx="4602718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理解问答 · Comprehension Questions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07950" y="1088827"/>
            <a:ext cx="751136" cy="266700"/>
          </a:xfrm>
          <a:prstGeom prst="roundRect">
            <a:avLst>
              <a:gd name="adj" fmla="val 4757143"/>
            </a:avLst>
          </a:prstGeom>
          <a:solidFill>
            <a:srgbClr val="F8F0DF"/>
          </a:solidFill>
          <a:ln w="9525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57076" y="1136452"/>
            <a:ext cx="46194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⏱ 8 min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373386" y="1112639"/>
            <a:ext cx="755600" cy="219075"/>
          </a:xfrm>
          <a:prstGeom prst="roundRect">
            <a:avLst>
              <a:gd name="adj" fmla="val 5791304"/>
            </a:avLst>
          </a:prstGeom>
          <a:solidFill>
            <a:srgbClr val="F8F0D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512987" y="1150739"/>
            <a:ext cx="48592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YOU DO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07950" y="1495127"/>
            <a:ext cx="8001298" cy="622102"/>
          </a:xfrm>
          <a:prstGeom prst="roundRect">
            <a:avLst>
              <a:gd name="adj" fmla="val 16332"/>
            </a:avLst>
          </a:prstGeom>
          <a:solidFill>
            <a:srgbClr val="F6F2E8"/>
          </a:solidFill>
          <a:ln w="19050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30151" y="1641128"/>
            <a:ext cx="330101" cy="330101"/>
          </a:xfrm>
          <a:prstGeom prst="roundRect">
            <a:avLst>
              <a:gd name="adj" fmla="val 277006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863650" y="1706166"/>
            <a:ext cx="6436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212652" y="1672828"/>
            <a:ext cx="721588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B 喜欢看什么？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07950" y="2218730"/>
            <a:ext cx="8001298" cy="622102"/>
          </a:xfrm>
          <a:prstGeom prst="roundRect">
            <a:avLst>
              <a:gd name="adj" fmla="val 16332"/>
            </a:avLst>
          </a:prstGeom>
          <a:solidFill>
            <a:srgbClr val="F6F2E8"/>
          </a:solidFill>
          <a:ln w="19050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730151" y="2364730"/>
            <a:ext cx="330101" cy="330101"/>
          </a:xfrm>
          <a:prstGeom prst="roundRect">
            <a:avLst>
              <a:gd name="adj" fmla="val 277006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850999" y="2429768"/>
            <a:ext cx="9017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212652" y="2396430"/>
            <a:ext cx="721588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B 喜欢画什么？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07950" y="2942332"/>
            <a:ext cx="8001298" cy="622102"/>
          </a:xfrm>
          <a:prstGeom prst="roundRect">
            <a:avLst>
              <a:gd name="adj" fmla="val 16332"/>
            </a:avLst>
          </a:prstGeom>
          <a:solidFill>
            <a:srgbClr val="F6F2E8"/>
          </a:solidFill>
          <a:ln w="19050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730151" y="3088332"/>
            <a:ext cx="330101" cy="330101"/>
          </a:xfrm>
          <a:prstGeom prst="roundRect">
            <a:avLst>
              <a:gd name="adj" fmla="val 277006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850553" y="3153370"/>
            <a:ext cx="9093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212652" y="3120033"/>
            <a:ext cx="721588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B 正在学什么？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507950" y="3665934"/>
            <a:ext cx="8001298" cy="622102"/>
          </a:xfrm>
          <a:prstGeom prst="roundRect">
            <a:avLst>
              <a:gd name="adj" fmla="val 16332"/>
            </a:avLst>
          </a:prstGeom>
          <a:solidFill>
            <a:srgbClr val="F6F2E8"/>
          </a:solidFill>
          <a:ln w="19050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730151" y="3811935"/>
            <a:ext cx="330101" cy="330101"/>
          </a:xfrm>
          <a:prstGeom prst="roundRect">
            <a:avLst>
              <a:gd name="adj" fmla="val 277006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850106" y="3876973"/>
            <a:ext cx="9199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212652" y="3843635"/>
            <a:ext cx="721588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A 也在学什么？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507950" y="4389537"/>
            <a:ext cx="8001298" cy="622102"/>
          </a:xfrm>
          <a:prstGeom prst="roundRect">
            <a:avLst>
              <a:gd name="adj" fmla="val 16332"/>
            </a:avLst>
          </a:prstGeom>
          <a:solidFill>
            <a:srgbClr val="EDF3F4"/>
          </a:solidFill>
          <a:ln w="19050">
            <a:solidFill>
              <a:srgbClr val="3A7D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730151" y="4535537"/>
            <a:ext cx="330101" cy="330101"/>
          </a:xfrm>
          <a:prstGeom prst="roundRect">
            <a:avLst>
              <a:gd name="adj" fmla="val 277006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850702" y="4600575"/>
            <a:ext cx="9062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212652" y="4567238"/>
            <a:ext cx="721588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你喜欢看小说吗？用中文回答。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8763149" y="1495127"/>
            <a:ext cx="297931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75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SENTENCE FRAME · Q5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8763149" y="1729978"/>
            <a:ext cx="2920901" cy="634901"/>
          </a:xfrm>
          <a:prstGeom prst="rect">
            <a:avLst/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Shape 34"/>
          <p:cNvSpPr/>
          <p:nvPr/>
        </p:nvSpPr>
        <p:spPr>
          <a:xfrm>
            <a:off x="8786961" y="1729978"/>
            <a:ext cx="0" cy="634901"/>
          </a:xfrm>
          <a:prstGeom prst="line">
            <a:avLst/>
          </a:prstGeom>
          <a:noFill/>
          <a:ln w="47625">
            <a:solidFill>
              <a:srgbClr val="C8943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013924" y="1895029"/>
            <a:ext cx="251631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</a:t>
            </a:r>
            <a:r>
              <a:rPr lang="en-US" sz="1500" b="1" dirty="0">
                <a:solidFill>
                  <a:srgbClr val="8B94A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（不）</a:t>
            </a:r>
            <a:r>
              <a:rPr lang="en-US" sz="15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喜欢看</a:t>
            </a:r>
            <a:r>
              <a:rPr lang="en-US" sz="15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8763149" y="2466380"/>
            <a:ext cx="2979319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buNone/>
            </a:pPr>
            <a:r>
              <a:rPr lang="en-US" sz="900" i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Fill the blank with: 小说 / 杂志 / or another book type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07950" y="5151239"/>
            <a:ext cx="3649117" cy="665559"/>
          </a:xfrm>
          <a:prstGeom prst="roundRect">
            <a:avLst>
              <a:gd name="adj" fmla="val 13357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647551" y="5252740"/>
            <a:ext cx="343731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SCAFFOLD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647551" y="5424190"/>
            <a:ext cx="3437314" cy="145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Use the sentence frame for Q5; refer to Text 2 for Qs 1–4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271367" y="5151239"/>
            <a:ext cx="3649117" cy="665559"/>
          </a:xfrm>
          <a:prstGeom prst="roundRect">
            <a:avLst>
              <a:gd name="adj" fmla="val 13357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4410968" y="5252740"/>
            <a:ext cx="343731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EXTENSION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4410968" y="5424190"/>
            <a:ext cx="3437314" cy="2911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Write a 3-sentence summary of Text 2 in your own words, then add your own art/reading hobby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8034784" y="5151239"/>
            <a:ext cx="3649266" cy="665559"/>
          </a:xfrm>
          <a:prstGeom prst="roundRect">
            <a:avLst>
              <a:gd name="adj" fmla="val 13357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8174385" y="5252740"/>
            <a:ext cx="343746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OTR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8174385" y="5424190"/>
            <a:ext cx="3437465" cy="145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Cold-call 2 students for Q1 and Q5 at the end of the activity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0" y="6573887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07950" y="6656338"/>
            <a:ext cx="148783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6513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44363"/>
            <a:ext cx="170491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L5 · ART VOCAB + TEXT 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293739" y="146000"/>
            <a:ext cx="12650" cy="139601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420689" y="144363"/>
            <a:ext cx="206257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You Do · Activity 3 · Write About Myself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D475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07950" y="682526"/>
            <a:ext cx="994916" cy="219075"/>
          </a:xfrm>
          <a:prstGeom prst="roundRect">
            <a:avLst>
              <a:gd name="adj" fmla="val 5791304"/>
            </a:avLst>
          </a:prstGeom>
          <a:solidFill>
            <a:srgbClr val="D475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60350" y="720626"/>
            <a:ext cx="70391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ACTIVITY 3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642467" y="596801"/>
            <a:ext cx="3906238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写我自己 · Write About Myself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07950" y="1088827"/>
            <a:ext cx="744885" cy="266700"/>
          </a:xfrm>
          <a:prstGeom prst="roundRect">
            <a:avLst>
              <a:gd name="adj" fmla="val 4757143"/>
            </a:avLst>
          </a:prstGeom>
          <a:solidFill>
            <a:srgbClr val="FBF1F0"/>
          </a:solidFill>
          <a:ln w="9525">
            <a:solidFill>
              <a:srgbClr val="D475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57076" y="1136452"/>
            <a:ext cx="45556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⏱ 7 min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367135" y="1112639"/>
            <a:ext cx="755600" cy="219075"/>
          </a:xfrm>
          <a:prstGeom prst="roundRect">
            <a:avLst>
              <a:gd name="adj" fmla="val 5791304"/>
            </a:avLst>
          </a:prstGeom>
          <a:solidFill>
            <a:srgbClr val="FBF1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506736" y="1150739"/>
            <a:ext cx="48592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YOU DO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07950" y="1482477"/>
            <a:ext cx="11176099" cy="1009352"/>
          </a:xfrm>
          <a:prstGeom prst="roundRect">
            <a:avLst>
              <a:gd name="adj" fmla="val 11324"/>
            </a:avLst>
          </a:prstGeom>
          <a:solidFill>
            <a:srgbClr val="FBF1F0"/>
          </a:solidFill>
          <a:ln w="19050">
            <a:solidFill>
              <a:srgbClr val="D475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30151" y="1844278"/>
            <a:ext cx="22345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16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✍️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88827" y="1892796"/>
            <a:ext cx="7512662" cy="188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1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Write a </a:t>
            </a:r>
            <a:r>
              <a:rPr lang="en-US" sz="11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4–5 sentence paragraph</a:t>
            </a:r>
            <a:r>
              <a:rPr lang="en-US" sz="11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about your own reading and art hobbies. Use the sentence starters below.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7950" y="2631430"/>
            <a:ext cx="559612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en-US" sz="75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SENTENCE STARTERS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507950" y="2879080"/>
            <a:ext cx="5486400" cy="701576"/>
          </a:xfrm>
          <a:prstGeom prst="roundRect">
            <a:avLst>
              <a:gd name="adj" fmla="val 12671"/>
            </a:avLst>
          </a:prstGeom>
          <a:solidFill>
            <a:srgbClr val="F6F2E8"/>
          </a:solidFill>
          <a:ln w="19050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92051" y="3179118"/>
            <a:ext cx="101501" cy="101501"/>
          </a:xfrm>
          <a:prstGeom prst="roundRect">
            <a:avLst>
              <a:gd name="adj" fmla="val 900878"/>
            </a:avLst>
          </a:prstGeom>
          <a:solidFill>
            <a:srgbClr val="D475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945952" y="3012430"/>
            <a:ext cx="113322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我喜欢</a:t>
            </a:r>
            <a:r>
              <a:rPr lang="en-US" sz="14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45952" y="3285381"/>
            <a:ext cx="113322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like …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07950" y="3669506"/>
            <a:ext cx="5486400" cy="701576"/>
          </a:xfrm>
          <a:prstGeom prst="roundRect">
            <a:avLst>
              <a:gd name="adj" fmla="val 12671"/>
            </a:avLst>
          </a:prstGeom>
          <a:solidFill>
            <a:srgbClr val="F6F2E8"/>
          </a:solidFill>
          <a:ln w="19050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92051" y="3969544"/>
            <a:ext cx="101501" cy="101501"/>
          </a:xfrm>
          <a:prstGeom prst="roundRect">
            <a:avLst>
              <a:gd name="adj" fmla="val 900878"/>
            </a:avLst>
          </a:prstGeom>
          <a:solidFill>
            <a:srgbClr val="D475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945952" y="3802856"/>
            <a:ext cx="149588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我不太喜欢</a:t>
            </a:r>
            <a:r>
              <a:rPr lang="en-US" sz="14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45952" y="4075807"/>
            <a:ext cx="149588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don't really like …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07950" y="4459932"/>
            <a:ext cx="5486400" cy="701576"/>
          </a:xfrm>
          <a:prstGeom prst="roundRect">
            <a:avLst>
              <a:gd name="adj" fmla="val 12671"/>
            </a:avLst>
          </a:prstGeom>
          <a:solidFill>
            <a:srgbClr val="F6F2E8"/>
          </a:solidFill>
          <a:ln w="19050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92051" y="4759970"/>
            <a:ext cx="101501" cy="101501"/>
          </a:xfrm>
          <a:prstGeom prst="roundRect">
            <a:avLst>
              <a:gd name="adj" fmla="val 900878"/>
            </a:avLst>
          </a:prstGeom>
          <a:solidFill>
            <a:srgbClr val="D475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945952" y="4593282"/>
            <a:ext cx="145034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，我都喜欢。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45952" y="4866233"/>
            <a:ext cx="145034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… I like both / all.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07950" y="5250359"/>
            <a:ext cx="5486400" cy="701576"/>
          </a:xfrm>
          <a:prstGeom prst="roundRect">
            <a:avLst>
              <a:gd name="adj" fmla="val 12671"/>
            </a:avLst>
          </a:prstGeom>
          <a:solidFill>
            <a:srgbClr val="F6F2E8"/>
          </a:solidFill>
          <a:ln w="19050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692051" y="5550396"/>
            <a:ext cx="101501" cy="101501"/>
          </a:xfrm>
          <a:prstGeom prst="roundRect">
            <a:avLst>
              <a:gd name="adj" fmla="val 900878"/>
            </a:avLst>
          </a:prstGeom>
          <a:solidFill>
            <a:srgbClr val="D475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945952" y="5383709"/>
            <a:ext cx="142726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我正在学</a:t>
            </a:r>
            <a:r>
              <a:rPr lang="en-US" sz="14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945952" y="5656659"/>
            <a:ext cx="142726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am currently learning …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197501" y="2631430"/>
            <a:ext cx="559628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en-US" sz="75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VOCABULARY TO USE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6197501" y="2879080"/>
            <a:ext cx="5486549" cy="891927"/>
          </a:xfrm>
          <a:prstGeom prst="roundRect">
            <a:avLst>
              <a:gd name="adj" fmla="val 11391"/>
            </a:avLst>
          </a:prstGeom>
          <a:solidFill>
            <a:srgbClr val="F6F2E8"/>
          </a:solidFill>
          <a:ln w="19050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6394252" y="3037731"/>
            <a:ext cx="519490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00"/>
              </a:spcAft>
              <a:buNone/>
            </a:pPr>
            <a:r>
              <a:rPr lang="en-US" sz="900" b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READING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197501" y="3885307"/>
            <a:ext cx="5486549" cy="891927"/>
          </a:xfrm>
          <a:prstGeom prst="roundRect">
            <a:avLst>
              <a:gd name="adj" fmla="val 11391"/>
            </a:avLst>
          </a:prstGeom>
          <a:solidFill>
            <a:srgbClr val="F6F2E8"/>
          </a:solidFill>
          <a:ln w="19050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6394252" y="4043958"/>
            <a:ext cx="519490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00"/>
              </a:spcAft>
              <a:buNone/>
            </a:pPr>
            <a:r>
              <a:rPr lang="en-US" sz="900" b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PAINTING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07950" y="6078885"/>
            <a:ext cx="3649117" cy="665559"/>
          </a:xfrm>
          <a:prstGeom prst="roundRect">
            <a:avLst>
              <a:gd name="adj" fmla="val 13357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647551" y="6180386"/>
            <a:ext cx="343731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SCAFFOLD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647551" y="6351836"/>
            <a:ext cx="3437314" cy="2911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OK to write one sentence in English if you're stuck — then try to translate it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271367" y="6078885"/>
            <a:ext cx="3649117" cy="665559"/>
          </a:xfrm>
          <a:prstGeom prst="roundRect">
            <a:avLst>
              <a:gd name="adj" fmla="val 13357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4410968" y="6180386"/>
            <a:ext cx="343731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EXTENSION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4410968" y="6351836"/>
            <a:ext cx="3437314" cy="2911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Free write 6–7 sentences without using the starters — express yourself!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8034784" y="6078885"/>
            <a:ext cx="3649266" cy="665559"/>
          </a:xfrm>
          <a:prstGeom prst="roundRect">
            <a:avLst>
              <a:gd name="adj" fmla="val 13357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8174385" y="6180386"/>
            <a:ext cx="343746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OTR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8174385" y="6351836"/>
            <a:ext cx="3437465" cy="145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2–3 volunteers share their paragraph with the class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0" y="6573887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07950" y="6656338"/>
            <a:ext cx="148783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6513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44363"/>
            <a:ext cx="170491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L5 · ART VOCAB + TEXT 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293739" y="146000"/>
            <a:ext cx="12650" cy="139601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420689" y="144363"/>
            <a:ext cx="103196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Plenary · Last 5 min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09600" y="660350"/>
            <a:ext cx="1119225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PLENARY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09600" y="866626"/>
            <a:ext cx="11192256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800"/>
              </a:spcAft>
              <a:buNone/>
            </a:pPr>
            <a:r>
              <a:rPr lang="en-US" sz="24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总结 · Wrap Up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09600" y="1523851"/>
            <a:ext cx="544068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8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SUCCESS CRITERIA REVISIT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09600" y="1819126"/>
            <a:ext cx="5334000" cy="628501"/>
          </a:xfrm>
          <a:prstGeom prst="roundRect">
            <a:avLst>
              <a:gd name="adj" fmla="val 18186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822275" y="1993702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913358" y="2042815"/>
            <a:ext cx="9897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✓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254026" y="1993702"/>
            <a:ext cx="4508903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Can you name 3 painting types? </a:t>
            </a:r>
            <a:r>
              <a:rPr lang="en-US" sz="12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国画儿 · 油画儿 · 水彩画儿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09600" y="2574578"/>
            <a:ext cx="5334000" cy="628501"/>
          </a:xfrm>
          <a:prstGeom prst="roundRect">
            <a:avLst>
              <a:gd name="adj" fmla="val 18186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822275" y="2749153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913358" y="2798266"/>
            <a:ext cx="9897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✓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254026" y="2749153"/>
            <a:ext cx="356407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Can you say what you like to read? </a:t>
            </a:r>
            <a:r>
              <a:rPr lang="en-US" sz="12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小说 · 杂志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09600" y="3330029"/>
            <a:ext cx="5334000" cy="628501"/>
          </a:xfrm>
          <a:prstGeom prst="roundRect">
            <a:avLst>
              <a:gd name="adj" fmla="val 18186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822275" y="3504605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913358" y="3553718"/>
            <a:ext cx="9897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✓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254026" y="3504605"/>
            <a:ext cx="3804529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Can you read and answer questions about Text 2?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48400" y="1523851"/>
            <a:ext cx="5334000" cy="3086398"/>
          </a:xfrm>
          <a:prstGeom prst="roundRect">
            <a:avLst>
              <a:gd name="adj" fmla="val 4115"/>
            </a:avLst>
          </a:prstGeom>
          <a:solidFill>
            <a:srgbClr val="F6F2E8"/>
          </a:solidFill>
          <a:ln w="19050">
            <a:solidFill>
              <a:srgbClr val="D475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521351" y="1768376"/>
            <a:ext cx="1019473" cy="212527"/>
          </a:xfrm>
          <a:prstGeom prst="roundRect">
            <a:avLst>
              <a:gd name="adj" fmla="val 5969736"/>
            </a:avLst>
          </a:prstGeom>
          <a:solidFill>
            <a:srgbClr val="FBF1F0"/>
          </a:solidFill>
          <a:ln w="9525">
            <a:solidFill>
              <a:srgbClr val="D475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657826" y="1803202"/>
            <a:ext cx="76145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EXIT TICKET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521351" y="2120503"/>
            <a:ext cx="4883860" cy="441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0"/>
              </a:lnSpc>
              <a:spcAft>
                <a:spcPts val="1100"/>
              </a:spcAft>
              <a:buNone/>
            </a:pP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Translate into Chinese:</a:t>
            </a:r>
            <a:endParaRPr lang="en-US" sz="1200" dirty="0"/>
          </a:p>
          <a:p>
            <a:pPr algn="l" indent="0" marL="0">
              <a:lnSpc>
                <a:spcPts val="1740"/>
              </a:lnSpc>
              <a:spcAft>
                <a:spcPts val="1100"/>
              </a:spcAft>
              <a:buNone/>
            </a:pP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"I like painting. I like both Chinese painting and watercolour."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521351" y="2701826"/>
            <a:ext cx="4788098" cy="453926"/>
          </a:xfrm>
          <a:prstGeom prst="rect">
            <a:avLst/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6545163" y="2701826"/>
            <a:ext cx="0" cy="453926"/>
          </a:xfrm>
          <a:prstGeom prst="line">
            <a:avLst/>
          </a:prstGeom>
          <a:noFill/>
          <a:ln w="47625">
            <a:solidFill>
              <a:srgbClr val="D4756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46677" y="2828776"/>
            <a:ext cx="447277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"I like painting. I like both Chinese painting and watercolour."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521351" y="3295352"/>
            <a:ext cx="4788098" cy="1092696"/>
          </a:xfrm>
          <a:prstGeom prst="roundRect">
            <a:avLst>
              <a:gd name="adj" fmla="val 9298"/>
            </a:avLst>
          </a:prstGeom>
          <a:solidFill>
            <a:srgbClr val="F8F0DF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6718102" y="3454003"/>
            <a:ext cx="448248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MODEL ANSWER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718102" y="3660279"/>
            <a:ext cx="4482489" cy="5691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我喜欢画画儿。</a:t>
            </a:r>
            <a:endParaRPr lang="en-US" sz="1400" dirty="0"/>
          </a:p>
          <a:p>
            <a:pPr algn="l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国画儿、水彩画儿，我都喜欢画。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0" y="6573887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7950" y="6656338"/>
            <a:ext cx="148783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6513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44363"/>
            <a:ext cx="170491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L5 · ART VOCAB + TEXT 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293739" y="146000"/>
            <a:ext cx="12650" cy="139601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420689" y="144363"/>
            <a:ext cx="114111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Preview · Next Lesson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642864" y="993577"/>
            <a:ext cx="90612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9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COMING UP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289798" y="1282452"/>
            <a:ext cx="1612404" cy="282476"/>
          </a:xfrm>
          <a:prstGeom prst="roundRect">
            <a:avLst>
              <a:gd name="adj" fmla="val 4491461"/>
            </a:avLst>
          </a:prstGeom>
          <a:solidFill>
            <a:srgbClr val="EDF3F4"/>
          </a:solidFill>
          <a:ln w="19050">
            <a:solidFill>
              <a:srgbClr val="3A7D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500318" y="1352252"/>
            <a:ext cx="119136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NEXT LESSON · L6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595777" y="1768078"/>
            <a:ext cx="5000446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34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正在 · Present Progressive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4088231" y="2431554"/>
            <a:ext cx="401553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400"/>
              </a:spcAft>
              <a:buNone/>
            </a:pPr>
            <a:r>
              <a:rPr lang="en-US" sz="14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How to say something is happening </a:t>
            </a:r>
            <a:r>
              <a:rPr lang="en-US" sz="1400" i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right now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879949" y="2984004"/>
            <a:ext cx="4432102" cy="2524869"/>
          </a:xfrm>
          <a:prstGeom prst="roundRect">
            <a:avLst>
              <a:gd name="adj" fmla="val 6036"/>
            </a:avLst>
          </a:prstGeom>
          <a:solidFill>
            <a:srgbClr val="F6F2E8"/>
          </a:solidFill>
          <a:ln w="19050">
            <a:solidFill>
              <a:srgbClr val="3A7D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373169" y="3282404"/>
            <a:ext cx="3445663" cy="579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560"/>
              </a:lnSpc>
              <a:spcAft>
                <a:spcPts val="1400"/>
              </a:spcAft>
              <a:buNone/>
            </a:pPr>
            <a:r>
              <a:rPr lang="en-US" sz="38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他</a:t>
            </a:r>
            <a:r>
              <a:rPr lang="en-US" sz="38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正在</a:t>
            </a:r>
            <a:r>
              <a:rPr lang="en-US" sz="38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弹钢琴</a:t>
            </a:r>
            <a:r>
              <a:rPr lang="en-US" sz="38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3800" dirty="0"/>
          </a:p>
        </p:txBody>
      </p:sp>
      <p:sp>
        <p:nvSpPr>
          <p:cNvPr id="14" name="Shape 12"/>
          <p:cNvSpPr/>
          <p:nvPr/>
        </p:nvSpPr>
        <p:spPr>
          <a:xfrm>
            <a:off x="5309146" y="4039195"/>
            <a:ext cx="0" cy="815727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70451" y="4128046"/>
            <a:ext cx="20736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他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918725" y="4439096"/>
            <a:ext cx="11081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tā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910527" y="4613672"/>
            <a:ext cx="12721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8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he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414046" y="4039195"/>
            <a:ext cx="0" cy="815727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54232" y="4128046"/>
            <a:ext cx="41457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正在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608539" y="4439096"/>
            <a:ext cx="50596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zhèngzài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536126" y="4613672"/>
            <a:ext cx="65093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85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right now ←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6672417" y="4128046"/>
            <a:ext cx="62179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弹钢琴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640689" y="4439096"/>
            <a:ext cx="68539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tán gāngqín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709304" y="4613672"/>
            <a:ext cx="54816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8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play piano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373169" y="4981873"/>
            <a:ext cx="34456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"He is playing the piano (right now)."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212925" y="5788223"/>
            <a:ext cx="576614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Next lesson: </a:t>
            </a:r>
            <a:r>
              <a:rPr lang="en-US" sz="13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正在 + verb</a:t>
            </a:r>
            <a:r>
              <a:rPr lang="en-US" sz="13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say what people are doing at this moment.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0" y="6573887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7950" y="6656338"/>
            <a:ext cx="148783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2026-06-30T02:51:27Z</dcterms:created>
  <dcterms:modified xsi:type="dcterms:W3CDTF">2026-06-30T02:51:27Z</dcterms:modified>
</cp:coreProperties>
</file>