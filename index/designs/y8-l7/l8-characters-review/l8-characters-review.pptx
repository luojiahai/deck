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72820" y="1900238"/>
            <a:ext cx="444635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8 OF 8 · FINAL LESSON · Y8 UNIT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439312" y="2227213"/>
            <a:ext cx="570027" cy="558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400"/>
              </a:lnSpc>
              <a:buNone/>
            </a:pPr>
            <a:r>
              <a:rPr lang="en-US" sz="4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包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353712" y="2227213"/>
            <a:ext cx="570027" cy="558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400"/>
              </a:lnSpc>
              <a:buNone/>
            </a:pPr>
            <a:r>
              <a:rPr lang="en-US" sz="4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止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268112" y="2227213"/>
            <a:ext cx="570027" cy="558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400"/>
              </a:lnSpc>
              <a:buNone/>
            </a:pPr>
            <a:r>
              <a:rPr lang="en-US" sz="4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士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182512" y="2227213"/>
            <a:ext cx="570027" cy="558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400"/>
              </a:lnSpc>
              <a:buNone/>
            </a:pPr>
            <a:r>
              <a:rPr lang="en-US" sz="4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豆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2468932" y="2989213"/>
            <a:ext cx="7253987" cy="101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000"/>
              </a:lnSpc>
              <a:spcAft>
                <a:spcPts val="1000"/>
              </a:spcAft>
              <a:buNone/>
            </a:pPr>
            <a:r>
              <a:rPr lang="en-US" sz="80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汉字</a:t>
            </a:r>
            <a:pPr algn="ctr" indent="0" marL="0">
              <a:lnSpc>
                <a:spcPts val="8000"/>
              </a:lnSpc>
              <a:spcAft>
                <a:spcPts val="1000"/>
              </a:spcAft>
              <a:buNone/>
            </a:pPr>
            <a:r>
              <a:rPr lang="en-US" sz="8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·</a:t>
            </a:r>
            <a:pPr algn="ctr" indent="0" marL="0">
              <a:lnSpc>
                <a:spcPts val="8000"/>
              </a:lnSpc>
              <a:spcAft>
                <a:spcPts val="1000"/>
              </a:spcAft>
              <a:buNone/>
            </a:pPr>
            <a:r>
              <a:rPr lang="en-US" sz="80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综合写作</a:t>
            </a:r>
            <a:endParaRPr lang="en-US" sz="8000" dirty="0"/>
          </a:p>
        </p:txBody>
      </p:sp>
      <p:sp>
        <p:nvSpPr>
          <p:cNvPr id="8" name="Text 6"/>
          <p:cNvSpPr/>
          <p:nvPr/>
        </p:nvSpPr>
        <p:spPr>
          <a:xfrm>
            <a:off x="3880259" y="4132213"/>
            <a:ext cx="443148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600"/>
              </a:spcAft>
              <a:buNone/>
            </a:pPr>
            <a:r>
              <a:rPr lang="en-US" sz="1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Simple Characters + Extended Writing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258620" y="4776639"/>
            <a:ext cx="567461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8 Chinese　·　50 mins　·　Reading + Writing　·　轻松学中文 Book 2 · p.65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09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汉字·综合写作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698427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5377" y="144363"/>
            <a:ext cx="9131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0–8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634901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WHITEBOARD ROUND-UP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828526"/>
            <a:ext cx="11399621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Grammar Review · 语法复习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07950" y="1269802"/>
            <a:ext cx="11399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300"/>
              </a:spcAft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Mini whiteboards ready — 4 rounds, one per structure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7950" y="1615827"/>
            <a:ext cx="5524500" cy="1485602"/>
          </a:xfrm>
          <a:prstGeom prst="roundRect">
            <a:avLst>
              <a:gd name="adj" fmla="val 8549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20626" y="1777752"/>
            <a:ext cx="406301" cy="406301"/>
          </a:xfrm>
          <a:prstGeom prst="roundRect">
            <a:avLst>
              <a:gd name="adj" fmla="val 225055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83741" y="1857077"/>
            <a:ext cx="8167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79327" y="1777752"/>
            <a:ext cx="463125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一边……一边…… · STRUCTURE 1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279327" y="1939677"/>
            <a:ext cx="463125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一边……一边……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79327" y="2276177"/>
            <a:ext cx="463125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any correct sentence using 一边……一边……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279327" y="2491978"/>
            <a:ext cx="46312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e.g. 我一边听音乐，一边画画儿。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279327" y="2707928"/>
            <a:ext cx="1410444" cy="231577"/>
          </a:xfrm>
          <a:prstGeom prst="roundRect">
            <a:avLst>
              <a:gd name="adj" fmla="val 5478653"/>
            </a:avLst>
          </a:prstGeom>
          <a:solidFill>
            <a:srgbClr val="EDF3F4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415802" y="2742754"/>
            <a:ext cx="116024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 Write on whiteboard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6159401" y="1615827"/>
            <a:ext cx="5524649" cy="1485602"/>
          </a:xfrm>
          <a:prstGeom prst="roundRect">
            <a:avLst>
              <a:gd name="adj" fmla="val 8549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372076" y="1777752"/>
            <a:ext cx="406301" cy="406301"/>
          </a:xfrm>
          <a:prstGeom prst="roundRect">
            <a:avLst>
              <a:gd name="adj" fmla="val 22505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518970" y="1857077"/>
            <a:ext cx="11461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930777" y="1777752"/>
            <a:ext cx="463140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Duration · STRUCTURE 2 · 时量补语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6930777" y="1939677"/>
            <a:ext cx="463140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时量补语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930777" y="2276177"/>
            <a:ext cx="4631409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Write: "He plays guitar for 45 minutes every day."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930777" y="2491978"/>
            <a:ext cx="46314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他每天弹三刻钟的吉他。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930777" y="2707928"/>
            <a:ext cx="1410444" cy="231577"/>
          </a:xfrm>
          <a:prstGeom prst="roundRect">
            <a:avLst>
              <a:gd name="adj" fmla="val 5478653"/>
            </a:avLst>
          </a:prstGeom>
          <a:solidFill>
            <a:srgbClr val="EDF3F4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7067252" y="2742754"/>
            <a:ext cx="116024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 Write on whiteboard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507950" y="3228380"/>
            <a:ext cx="5524500" cy="1485602"/>
          </a:xfrm>
          <a:prstGeom prst="roundRect">
            <a:avLst>
              <a:gd name="adj" fmla="val 8549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20626" y="3390305"/>
            <a:ext cx="406301" cy="406301"/>
          </a:xfrm>
          <a:prstGeom prst="roundRect">
            <a:avLst>
              <a:gd name="adj" fmla="val 225055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867073" y="3469630"/>
            <a:ext cx="11552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279327" y="3390305"/>
            <a:ext cx="463125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正在 · STRUCTURE 3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279327" y="3552230"/>
            <a:ext cx="463125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正在……呢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279327" y="3888730"/>
            <a:ext cx="463125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a 正在 sentence about someone in this room.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279327" y="4104531"/>
            <a:ext cx="46312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e.g. ＿＿正在＿＿呢。　(open answer)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279327" y="4320480"/>
            <a:ext cx="1410444" cy="231577"/>
          </a:xfrm>
          <a:prstGeom prst="roundRect">
            <a:avLst>
              <a:gd name="adj" fmla="val 5478653"/>
            </a:avLst>
          </a:prstGeom>
          <a:solidFill>
            <a:srgbClr val="EDF3F4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415802" y="4355306"/>
            <a:ext cx="116024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 Write on whiteboard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6159401" y="3228380"/>
            <a:ext cx="5524649" cy="1485602"/>
          </a:xfrm>
          <a:prstGeom prst="roundRect">
            <a:avLst>
              <a:gd name="adj" fmla="val 8549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372076" y="3390305"/>
            <a:ext cx="406301" cy="406301"/>
          </a:xfrm>
          <a:prstGeom prst="roundRect">
            <a:avLst>
              <a:gd name="adj" fmla="val 225055"/>
            </a:avLst>
          </a:prstGeom>
          <a:solidFill>
            <a:srgbClr val="6B7D9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517928" y="3469630"/>
            <a:ext cx="11689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930777" y="3390305"/>
            <a:ext cx="463140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都 · STRUCTURE 4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930777" y="3552230"/>
            <a:ext cx="463140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……，都……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6930777" y="3888730"/>
            <a:ext cx="4631409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a 都 sentence about 2 or more hobbies.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930777" y="4104531"/>
            <a:ext cx="46314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e.g. 弹钢琴、唱歌，我都喜欢。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930777" y="4320480"/>
            <a:ext cx="1410444" cy="231577"/>
          </a:xfrm>
          <a:prstGeom prst="roundRect">
            <a:avLst>
              <a:gd name="adj" fmla="val 5478653"/>
            </a:avLst>
          </a:prstGeom>
          <a:solidFill>
            <a:srgbClr val="EDF3F4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7067252" y="4355306"/>
            <a:ext cx="116024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 Write on whiteboard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507950" y="4866382"/>
            <a:ext cx="11176099" cy="453926"/>
          </a:xfrm>
          <a:prstGeom prst="rect">
            <a:avLst/>
          </a:prstGeom>
          <a:solidFill>
            <a:srgbClr val="F8F0D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Shape 45"/>
          <p:cNvSpPr/>
          <p:nvPr/>
        </p:nvSpPr>
        <p:spPr>
          <a:xfrm>
            <a:off x="531763" y="4866382"/>
            <a:ext cx="0" cy="453926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58726" y="4993332"/>
            <a:ext cx="109366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You've learned a lot this unit. Today you put it all together — plus 4 new simple characters!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09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汉字·综合写作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698427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5377" y="144363"/>
            <a:ext cx="18895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&amp; Success Criteria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931640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DISPLAY ON PROJECTOR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2150715"/>
            <a:ext cx="1098519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11101" y="2782491"/>
            <a:ext cx="10769798" cy="798016"/>
          </a:xfrm>
          <a:prstGeom prst="rect">
            <a:avLst/>
          </a:prstGeom>
          <a:solidFill>
            <a:srgbClr val="F8F0D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734913" y="2782491"/>
            <a:ext cx="0" cy="798016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12627" y="2960191"/>
            <a:ext cx="104186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12627" y="3153817"/>
            <a:ext cx="10418659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write </a:t>
            </a:r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simple Chinese characters</a:t>
            </a:r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consolidate all Lesson 7 language in </a:t>
            </a:r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extended writing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11101" y="3821757"/>
            <a:ext cx="317450" cy="317450"/>
          </a:xfrm>
          <a:prstGeom prst="roundRect">
            <a:avLst>
              <a:gd name="adj" fmla="val 288045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41177" y="3889921"/>
            <a:ext cx="584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0951" y="3809107"/>
            <a:ext cx="6200462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and recognise the </a:t>
            </a:r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simple characters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 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包 (bāo) · 止 (zhǐ) · 士 (shì) · 豆 (dòu)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11101" y="4291459"/>
            <a:ext cx="317450" cy="317450"/>
          </a:xfrm>
          <a:prstGeom prst="roundRect">
            <a:avLst>
              <a:gd name="adj" fmla="val 288045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29568" y="4359622"/>
            <a:ext cx="821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0951" y="4278809"/>
            <a:ext cx="7322755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picture captions using Lesson 7 vocabulary and structures — e.g. 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正在…… / 每天……的……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11101" y="4761161"/>
            <a:ext cx="317450" cy="317450"/>
          </a:xfrm>
          <a:prstGeom prst="roundRect">
            <a:avLst>
              <a:gd name="adj" fmla="val 288045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29270" y="4829324"/>
            <a:ext cx="827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0951" y="4748510"/>
            <a:ext cx="10124765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a short paragraph about my own hobbies using at least </a:t>
            </a:r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of the 4 L7 grammar structures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 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一边……一边…… · 时量 · 正在 · 都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09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汉字·综合写作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698427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5377" y="144363"/>
            <a:ext cx="168017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Simple Characters · Act. 8 (p.65)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634901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NEW CHARACTERS TODAY · 今天学的字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828526"/>
            <a:ext cx="11399621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 Simple Characters · 四个简单的汉字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07950" y="1396752"/>
            <a:ext cx="2660749" cy="4419600"/>
          </a:xfrm>
          <a:prstGeom prst="roundRect">
            <a:avLst>
              <a:gd name="adj" fmla="val 5728"/>
            </a:avLst>
          </a:prstGeom>
          <a:solidFill>
            <a:srgbClr val="F8F0DF"/>
          </a:solidFill>
          <a:ln w="19050">
            <a:solidFill>
              <a:srgbClr val="D4B56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561207" y="1618952"/>
            <a:ext cx="5651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strokes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203275" y="1863328"/>
            <a:ext cx="1295501" cy="1269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0"/>
              </a:lnSpc>
              <a:spcAft>
                <a:spcPts val="600"/>
              </a:spcAft>
              <a:buNone/>
            </a:pPr>
            <a:r>
              <a:rPr lang="en-US" sz="10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包</a:t>
            </a:r>
            <a:endParaRPr lang="en-US" sz="10000" dirty="0"/>
          </a:p>
        </p:txBody>
      </p:sp>
      <p:sp>
        <p:nvSpPr>
          <p:cNvPr id="12" name="Text 10"/>
          <p:cNvSpPr/>
          <p:nvPr/>
        </p:nvSpPr>
        <p:spPr>
          <a:xfrm>
            <a:off x="1631752" y="3209479"/>
            <a:ext cx="42141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bāo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14611" y="3561904"/>
            <a:ext cx="86437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bag / wrap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647825" y="3847654"/>
            <a:ext cx="381000" cy="25301"/>
          </a:xfrm>
          <a:prstGeom prst="roundRect">
            <a:avLst>
              <a:gd name="adj" fmla="val 10039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489472" y="3949154"/>
            <a:ext cx="7115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STROKES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82029" y="4142780"/>
            <a:ext cx="2312593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i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Outer wrap radical 勹 + inner 已 (already)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46400" y="1396752"/>
            <a:ext cx="2660749" cy="4419600"/>
          </a:xfrm>
          <a:prstGeom prst="roundRect">
            <a:avLst>
              <a:gd name="adj" fmla="val 5728"/>
            </a:avLst>
          </a:prstGeom>
          <a:solidFill>
            <a:srgbClr val="EDF3F4"/>
          </a:solidFill>
          <a:ln w="19050">
            <a:solidFill>
              <a:srgbClr val="9CC0C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399211" y="1618952"/>
            <a:ext cx="5660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strokes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041725" y="1863328"/>
            <a:ext cx="1295501" cy="1269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0"/>
              </a:lnSpc>
              <a:spcAft>
                <a:spcPts val="600"/>
              </a:spcAft>
              <a:buNone/>
            </a:pPr>
            <a:r>
              <a:rPr lang="en-US" sz="100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止</a:t>
            </a:r>
            <a:endParaRPr lang="en-US" sz="10000" dirty="0"/>
          </a:p>
        </p:txBody>
      </p:sp>
      <p:sp>
        <p:nvSpPr>
          <p:cNvPr id="20" name="Text 18"/>
          <p:cNvSpPr/>
          <p:nvPr/>
        </p:nvSpPr>
        <p:spPr>
          <a:xfrm>
            <a:off x="4516338" y="3209479"/>
            <a:ext cx="32713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zhǐ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508004" y="3561904"/>
            <a:ext cx="34414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stop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486275" y="3847654"/>
            <a:ext cx="381000" cy="25301"/>
          </a:xfrm>
          <a:prstGeom prst="roundRect">
            <a:avLst>
              <a:gd name="adj" fmla="val 10039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327475" y="3949154"/>
            <a:ext cx="71241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STROKES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900142" y="4142780"/>
            <a:ext cx="155326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i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Resembles a foot mid-step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184850" y="1396752"/>
            <a:ext cx="2660749" cy="4419600"/>
          </a:xfrm>
          <a:prstGeom prst="roundRect">
            <a:avLst>
              <a:gd name="adj" fmla="val 5728"/>
            </a:avLst>
          </a:prstGeom>
          <a:solidFill>
            <a:srgbClr val="FBF1F0"/>
          </a:solidFill>
          <a:ln w="19050">
            <a:solidFill>
              <a:srgbClr val="E8B4A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238107" y="1618952"/>
            <a:ext cx="5653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strokes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880175" y="1863328"/>
            <a:ext cx="1295501" cy="1269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0"/>
              </a:lnSpc>
              <a:spcAft>
                <a:spcPts val="600"/>
              </a:spcAft>
              <a:buNone/>
            </a:pPr>
            <a:r>
              <a:rPr lang="en-US" sz="100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士</a:t>
            </a:r>
            <a:endParaRPr lang="en-US" sz="10000" dirty="0"/>
          </a:p>
        </p:txBody>
      </p:sp>
      <p:sp>
        <p:nvSpPr>
          <p:cNvPr id="28" name="Text 26"/>
          <p:cNvSpPr/>
          <p:nvPr/>
        </p:nvSpPr>
        <p:spPr>
          <a:xfrm>
            <a:off x="7352258" y="3209479"/>
            <a:ext cx="3323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shì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740128" y="3561904"/>
            <a:ext cx="158119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scholar / gentleman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324725" y="3847654"/>
            <a:ext cx="381000" cy="25301"/>
          </a:xfrm>
          <a:prstGeom prst="roundRect">
            <a:avLst>
              <a:gd name="adj" fmla="val 100391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166223" y="3949154"/>
            <a:ext cx="7118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STROKES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630963" y="4142780"/>
            <a:ext cx="176852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i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Like 土 but top stroke is longer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9023300" y="1396752"/>
            <a:ext cx="2660749" cy="4419600"/>
          </a:xfrm>
          <a:prstGeom prst="roundRect">
            <a:avLst>
              <a:gd name="adj" fmla="val 5728"/>
            </a:avLst>
          </a:prstGeom>
          <a:solidFill>
            <a:srgbClr val="F8F0DF"/>
          </a:solidFill>
          <a:ln w="19050">
            <a:solidFill>
              <a:srgbClr val="D4B56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0078938" y="1618952"/>
            <a:ext cx="5603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 strokes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9718625" y="1863328"/>
            <a:ext cx="1295501" cy="1269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0"/>
              </a:lnSpc>
              <a:spcAft>
                <a:spcPts val="600"/>
              </a:spcAft>
              <a:buNone/>
            </a:pPr>
            <a:r>
              <a:rPr lang="en-US" sz="10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豆</a:t>
            </a:r>
            <a:endParaRPr lang="en-US" sz="10000" dirty="0"/>
          </a:p>
        </p:txBody>
      </p:sp>
      <p:sp>
        <p:nvSpPr>
          <p:cNvPr id="36" name="Text 34"/>
          <p:cNvSpPr/>
          <p:nvPr/>
        </p:nvSpPr>
        <p:spPr>
          <a:xfrm>
            <a:off x="10143083" y="3209479"/>
            <a:ext cx="429607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dòu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167342" y="3561904"/>
            <a:ext cx="3799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bean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0163175" y="3847654"/>
            <a:ext cx="381000" cy="25301"/>
          </a:xfrm>
          <a:prstGeom prst="roundRect">
            <a:avLst>
              <a:gd name="adj" fmla="val 10039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10007203" y="3949154"/>
            <a:ext cx="7066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 STROKES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9197379" y="4142780"/>
            <a:ext cx="2312593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i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Top=lid · middle=container · bottom=feet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09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汉字·综合写作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698427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5377" y="144363"/>
            <a:ext cx="9880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Stroke Order · 笔顺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609451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STROKE ORDER GUIDE · 笔顺示意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790426"/>
            <a:ext cx="1139962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100"/>
              </a:spcAft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Follow the stroke order — then copy each character 5 times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07950" y="1282452"/>
            <a:ext cx="11176099" cy="949226"/>
          </a:xfrm>
          <a:prstGeom prst="roundRect">
            <a:avLst>
              <a:gd name="adj" fmla="val 13379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1741140" y="1291977"/>
            <a:ext cx="0" cy="930176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8327" y="1418927"/>
            <a:ext cx="466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包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014561" y="1914227"/>
            <a:ext cx="22922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bāo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923604" y="1434852"/>
            <a:ext cx="476250" cy="476250"/>
          </a:xfrm>
          <a:prstGeom prst="roundRect">
            <a:avLst>
              <a:gd name="adj" fmla="val 13333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034629" y="1545878"/>
            <a:ext cx="259131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⌒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114104" y="1936403"/>
            <a:ext cx="9715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①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501354" y="1652290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55255" y="1434852"/>
            <a:ext cx="476250" cy="476250"/>
          </a:xfrm>
          <a:prstGeom prst="roundRect">
            <a:avLst>
              <a:gd name="adj" fmla="val 13333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866281" y="1545878"/>
            <a:ext cx="259131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勹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898130" y="1936403"/>
            <a:ext cx="1943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①②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333006" y="1652290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586907" y="1434852"/>
            <a:ext cx="476250" cy="476250"/>
          </a:xfrm>
          <a:prstGeom prst="roundRect">
            <a:avLst>
              <a:gd name="adj" fmla="val 13333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596432" y="1418927"/>
            <a:ext cx="466344" cy="5080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勹巳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3682157" y="1936403"/>
            <a:ext cx="2914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①②③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4164657" y="1652290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418558" y="1434852"/>
            <a:ext cx="476250" cy="476250"/>
          </a:xfrm>
          <a:prstGeom prst="roundRect">
            <a:avLst>
              <a:gd name="adj" fmla="val 13333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529584" y="1545878"/>
            <a:ext cx="259131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包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496842" y="1936403"/>
            <a:ext cx="32607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④⑤ ✓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8393460" y="1291977"/>
            <a:ext cx="0" cy="930176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75923" y="1476226"/>
            <a:ext cx="297931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STROKES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575923" y="1657201"/>
            <a:ext cx="2979319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Seen in: </a:t>
            </a:r>
            <a:pPr algn="l"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书包</a:t>
            </a:r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(school bag)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575923" y="1866602"/>
            <a:ext cx="2979319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Rule: outer wrap 勹 </a:t>
            </a:r>
            <a:pPr algn="l" indent="0" marL="0">
              <a:lnSpc>
                <a:spcPts val="1350"/>
              </a:lnSpc>
              <a:buNone/>
            </a:pPr>
            <a:r>
              <a:rPr lang="en-US" sz="1000" i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before</a:t>
            </a:r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inner 已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7950" y="2333179"/>
            <a:ext cx="11176099" cy="949226"/>
          </a:xfrm>
          <a:prstGeom prst="roundRect">
            <a:avLst>
              <a:gd name="adj" fmla="val 13379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Shape 31"/>
          <p:cNvSpPr/>
          <p:nvPr/>
        </p:nvSpPr>
        <p:spPr>
          <a:xfrm>
            <a:off x="1741140" y="2342704"/>
            <a:ext cx="0" cy="930176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98327" y="2469654"/>
            <a:ext cx="466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止</a:t>
            </a:r>
            <a:endParaRPr lang="en-US" sz="3600" dirty="0"/>
          </a:p>
        </p:txBody>
      </p:sp>
      <p:sp>
        <p:nvSpPr>
          <p:cNvPr id="35" name="Text 33"/>
          <p:cNvSpPr/>
          <p:nvPr/>
        </p:nvSpPr>
        <p:spPr>
          <a:xfrm>
            <a:off x="1040309" y="2964954"/>
            <a:ext cx="1767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zhǐ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923604" y="2485579"/>
            <a:ext cx="476250" cy="476250"/>
          </a:xfrm>
          <a:prstGeom prst="roundRect">
            <a:avLst>
              <a:gd name="adj" fmla="val 13333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2034629" y="2596604"/>
            <a:ext cx="259131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丨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2114104" y="2987129"/>
            <a:ext cx="9715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①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2501354" y="2703016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2755255" y="2485579"/>
            <a:ext cx="476250" cy="476250"/>
          </a:xfrm>
          <a:prstGeom prst="roundRect">
            <a:avLst>
              <a:gd name="adj" fmla="val 13333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2866281" y="2596604"/>
            <a:ext cx="259131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卜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2898130" y="2987129"/>
            <a:ext cx="1943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①②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3333006" y="2703016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3586907" y="2485579"/>
            <a:ext cx="476250" cy="476250"/>
          </a:xfrm>
          <a:prstGeom prst="roundRect">
            <a:avLst>
              <a:gd name="adj" fmla="val 13333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3697932" y="2596604"/>
            <a:ext cx="259131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止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3777407" y="2987129"/>
            <a:ext cx="9715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③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4164657" y="2703016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4418558" y="2485579"/>
            <a:ext cx="476250" cy="476250"/>
          </a:xfrm>
          <a:prstGeom prst="roundRect">
            <a:avLst>
              <a:gd name="adj" fmla="val 13333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4529584" y="2596604"/>
            <a:ext cx="259131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止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4544467" y="2987129"/>
            <a:ext cx="2289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④ ✓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8393460" y="2342704"/>
            <a:ext cx="0" cy="930176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575923" y="2526953"/>
            <a:ext cx="297931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STROKES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8575923" y="2707928"/>
            <a:ext cx="2979319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Seen in: </a:t>
            </a:r>
            <a:pPr algn="l"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停止</a:t>
            </a:r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(to stop)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575923" y="2917329"/>
            <a:ext cx="2979319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Looks like a foot mid-step going left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507950" y="3383905"/>
            <a:ext cx="11176099" cy="949226"/>
          </a:xfrm>
          <a:prstGeom prst="roundRect">
            <a:avLst>
              <a:gd name="adj" fmla="val 13379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Shape 54"/>
          <p:cNvSpPr/>
          <p:nvPr/>
        </p:nvSpPr>
        <p:spPr>
          <a:xfrm>
            <a:off x="1741140" y="3393430"/>
            <a:ext cx="0" cy="930176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8327" y="3520380"/>
            <a:ext cx="466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士</a:t>
            </a:r>
            <a:endParaRPr lang="en-US" sz="3600" dirty="0"/>
          </a:p>
        </p:txBody>
      </p:sp>
      <p:sp>
        <p:nvSpPr>
          <p:cNvPr id="58" name="Text 56"/>
          <p:cNvSpPr/>
          <p:nvPr/>
        </p:nvSpPr>
        <p:spPr>
          <a:xfrm>
            <a:off x="1039118" y="4015680"/>
            <a:ext cx="1789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shì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1923604" y="3536305"/>
            <a:ext cx="476250" cy="476250"/>
          </a:xfrm>
          <a:prstGeom prst="roundRect">
            <a:avLst>
              <a:gd name="adj" fmla="val 13333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2034629" y="3647331"/>
            <a:ext cx="259131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endParaRPr lang="en-US" sz="2000" dirty="0"/>
          </a:p>
        </p:txBody>
      </p:sp>
      <p:sp>
        <p:nvSpPr>
          <p:cNvPr id="61" name="Text 59"/>
          <p:cNvSpPr/>
          <p:nvPr/>
        </p:nvSpPr>
        <p:spPr>
          <a:xfrm>
            <a:off x="2114104" y="4037856"/>
            <a:ext cx="9715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①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2501354" y="3753743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2755255" y="3536305"/>
            <a:ext cx="476250" cy="476250"/>
          </a:xfrm>
          <a:prstGeom prst="roundRect">
            <a:avLst>
              <a:gd name="adj" fmla="val 13333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2866281" y="3647331"/>
            <a:ext cx="259131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干</a:t>
            </a:r>
            <a:endParaRPr lang="en-US" sz="2000" dirty="0"/>
          </a:p>
        </p:txBody>
      </p:sp>
      <p:sp>
        <p:nvSpPr>
          <p:cNvPr id="65" name="Text 63"/>
          <p:cNvSpPr/>
          <p:nvPr/>
        </p:nvSpPr>
        <p:spPr>
          <a:xfrm>
            <a:off x="2898130" y="4037856"/>
            <a:ext cx="1943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①②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3333006" y="3753743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3586907" y="3536305"/>
            <a:ext cx="476250" cy="476250"/>
          </a:xfrm>
          <a:prstGeom prst="roundRect">
            <a:avLst>
              <a:gd name="adj" fmla="val 13333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3697932" y="3647331"/>
            <a:ext cx="259131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士</a:t>
            </a:r>
            <a:endParaRPr lang="en-US" sz="2000" dirty="0"/>
          </a:p>
        </p:txBody>
      </p:sp>
      <p:sp>
        <p:nvSpPr>
          <p:cNvPr id="69" name="Text 67"/>
          <p:cNvSpPr/>
          <p:nvPr/>
        </p:nvSpPr>
        <p:spPr>
          <a:xfrm>
            <a:off x="3712815" y="4037856"/>
            <a:ext cx="2289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③ ✓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8393460" y="3393430"/>
            <a:ext cx="0" cy="930176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8575923" y="3577679"/>
            <a:ext cx="297931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STROKES (fewest!)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8575923" y="3758654"/>
            <a:ext cx="2979319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Compare: </a:t>
            </a:r>
            <a:pPr algn="l"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土</a:t>
            </a:r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(soil) — top is </a:t>
            </a:r>
            <a:pPr algn="l" indent="0" marL="0">
              <a:lnSpc>
                <a:spcPts val="1350"/>
              </a:lnSpc>
              <a:buNone/>
            </a:pPr>
            <a:r>
              <a:rPr lang="en-US" sz="1000" i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longer</a:t>
            </a:r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士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8575923" y="3968055"/>
            <a:ext cx="2979319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Think: a scholar stands tall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507950" y="4434632"/>
            <a:ext cx="11176099" cy="949226"/>
          </a:xfrm>
          <a:prstGeom prst="roundRect">
            <a:avLst>
              <a:gd name="adj" fmla="val 13379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Shape 73"/>
          <p:cNvSpPr/>
          <p:nvPr/>
        </p:nvSpPr>
        <p:spPr>
          <a:xfrm>
            <a:off x="1741140" y="4444157"/>
            <a:ext cx="0" cy="930176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98327" y="4571107"/>
            <a:ext cx="466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豆</a:t>
            </a:r>
            <a:endParaRPr lang="en-US" sz="3600" dirty="0"/>
          </a:p>
        </p:txBody>
      </p:sp>
      <p:sp>
        <p:nvSpPr>
          <p:cNvPr id="77" name="Text 75"/>
          <p:cNvSpPr/>
          <p:nvPr/>
        </p:nvSpPr>
        <p:spPr>
          <a:xfrm>
            <a:off x="1016198" y="5066407"/>
            <a:ext cx="22588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dòu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1923604" y="4587032"/>
            <a:ext cx="476250" cy="476250"/>
          </a:xfrm>
          <a:prstGeom prst="roundRect">
            <a:avLst>
              <a:gd name="adj" fmla="val 13333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2034629" y="4698057"/>
            <a:ext cx="259131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endParaRPr lang="en-US" sz="2000" dirty="0"/>
          </a:p>
        </p:txBody>
      </p:sp>
      <p:sp>
        <p:nvSpPr>
          <p:cNvPr id="80" name="Text 78"/>
          <p:cNvSpPr/>
          <p:nvPr/>
        </p:nvSpPr>
        <p:spPr>
          <a:xfrm>
            <a:off x="2114104" y="5088582"/>
            <a:ext cx="9715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①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2501354" y="4804470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82" name="Text 80"/>
          <p:cNvSpPr/>
          <p:nvPr/>
        </p:nvSpPr>
        <p:spPr>
          <a:xfrm>
            <a:off x="2755255" y="4587032"/>
            <a:ext cx="476250" cy="476250"/>
          </a:xfrm>
          <a:prstGeom prst="roundRect">
            <a:avLst>
              <a:gd name="adj" fmla="val 13333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Text 81"/>
          <p:cNvSpPr/>
          <p:nvPr/>
        </p:nvSpPr>
        <p:spPr>
          <a:xfrm>
            <a:off x="2866281" y="4698057"/>
            <a:ext cx="259131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口</a:t>
            </a:r>
            <a:endParaRPr lang="en-US" sz="2000" dirty="0"/>
          </a:p>
        </p:txBody>
      </p:sp>
      <p:sp>
        <p:nvSpPr>
          <p:cNvPr id="84" name="Text 82"/>
          <p:cNvSpPr/>
          <p:nvPr/>
        </p:nvSpPr>
        <p:spPr>
          <a:xfrm>
            <a:off x="2849314" y="5088582"/>
            <a:ext cx="2937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①—④</a:t>
            </a:r>
            <a:endParaRPr lang="en-US" sz="750" dirty="0"/>
          </a:p>
        </p:txBody>
      </p:sp>
      <p:sp>
        <p:nvSpPr>
          <p:cNvPr id="85" name="Text 83"/>
          <p:cNvSpPr/>
          <p:nvPr/>
        </p:nvSpPr>
        <p:spPr>
          <a:xfrm>
            <a:off x="3333006" y="4804470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86" name="Text 84"/>
          <p:cNvSpPr/>
          <p:nvPr/>
        </p:nvSpPr>
        <p:spPr>
          <a:xfrm>
            <a:off x="3586907" y="4587032"/>
            <a:ext cx="476250" cy="476250"/>
          </a:xfrm>
          <a:prstGeom prst="roundRect">
            <a:avLst>
              <a:gd name="adj" fmla="val 13333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Text 85"/>
          <p:cNvSpPr/>
          <p:nvPr/>
        </p:nvSpPr>
        <p:spPr>
          <a:xfrm>
            <a:off x="3697932" y="4698057"/>
            <a:ext cx="259131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豆</a:t>
            </a:r>
            <a:endParaRPr lang="en-US" sz="2000" dirty="0"/>
          </a:p>
        </p:txBody>
      </p:sp>
      <p:sp>
        <p:nvSpPr>
          <p:cNvPr id="88" name="Text 86"/>
          <p:cNvSpPr/>
          <p:nvPr/>
        </p:nvSpPr>
        <p:spPr>
          <a:xfrm>
            <a:off x="3680966" y="5088582"/>
            <a:ext cx="2937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①—⑥</a:t>
            </a:r>
            <a:endParaRPr lang="en-US" sz="750" dirty="0"/>
          </a:p>
        </p:txBody>
      </p:sp>
      <p:sp>
        <p:nvSpPr>
          <p:cNvPr id="89" name="Text 87"/>
          <p:cNvSpPr/>
          <p:nvPr/>
        </p:nvSpPr>
        <p:spPr>
          <a:xfrm>
            <a:off x="4164657" y="4804470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90" name="Text 88"/>
          <p:cNvSpPr/>
          <p:nvPr/>
        </p:nvSpPr>
        <p:spPr>
          <a:xfrm>
            <a:off x="4418558" y="4587032"/>
            <a:ext cx="476250" cy="476250"/>
          </a:xfrm>
          <a:prstGeom prst="roundRect">
            <a:avLst>
              <a:gd name="adj" fmla="val 13333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Text 89"/>
          <p:cNvSpPr/>
          <p:nvPr/>
        </p:nvSpPr>
        <p:spPr>
          <a:xfrm>
            <a:off x="4529584" y="4698057"/>
            <a:ext cx="259131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豆</a:t>
            </a:r>
            <a:endParaRPr lang="en-US" sz="2000" dirty="0"/>
          </a:p>
        </p:txBody>
      </p:sp>
      <p:sp>
        <p:nvSpPr>
          <p:cNvPr id="92" name="Text 90"/>
          <p:cNvSpPr/>
          <p:nvPr/>
        </p:nvSpPr>
        <p:spPr>
          <a:xfrm>
            <a:off x="4544467" y="5088582"/>
            <a:ext cx="2289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⑦ ✓</a:t>
            </a:r>
            <a:endParaRPr lang="en-US" sz="750" dirty="0"/>
          </a:p>
        </p:txBody>
      </p:sp>
      <p:sp>
        <p:nvSpPr>
          <p:cNvPr id="93" name="Shape 91"/>
          <p:cNvSpPr/>
          <p:nvPr/>
        </p:nvSpPr>
        <p:spPr>
          <a:xfrm>
            <a:off x="8393460" y="4444157"/>
            <a:ext cx="0" cy="930176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575923" y="4628406"/>
            <a:ext cx="297931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 STROKES (most today)</a:t>
            </a:r>
            <a:endParaRPr lang="en-US" sz="800" dirty="0"/>
          </a:p>
        </p:txBody>
      </p:sp>
      <p:sp>
        <p:nvSpPr>
          <p:cNvPr id="95" name="Text 93"/>
          <p:cNvSpPr/>
          <p:nvPr/>
        </p:nvSpPr>
        <p:spPr>
          <a:xfrm>
            <a:off x="8575923" y="4809381"/>
            <a:ext cx="2979319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Think: </a:t>
            </a:r>
            <a:pPr algn="l" indent="0" marL="0">
              <a:lnSpc>
                <a:spcPts val="1350"/>
              </a:lnSpc>
              <a:buNone/>
            </a:pPr>
            <a:r>
              <a:rPr lang="en-US" sz="1000" i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lid</a:t>
            </a:r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+ </a:t>
            </a:r>
            <a:pPr algn="l" indent="0" marL="0">
              <a:lnSpc>
                <a:spcPts val="1350"/>
              </a:lnSpc>
              <a:buNone/>
            </a:pPr>
            <a:r>
              <a:rPr lang="en-US" sz="1000" i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container</a:t>
            </a:r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+ </a:t>
            </a:r>
            <a:pPr algn="l" indent="0" marL="0">
              <a:lnSpc>
                <a:spcPts val="1350"/>
              </a:lnSpc>
              <a:buNone/>
            </a:pPr>
            <a:r>
              <a:rPr lang="en-US" sz="1000" i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feet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8575923" y="5018782"/>
            <a:ext cx="2979319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Seen in: </a:t>
            </a:r>
            <a:pPr algn="l"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豆腐</a:t>
            </a:r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(tofu), </a:t>
            </a:r>
            <a:pPr algn="l"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豆浆</a:t>
            </a:r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(soy milk)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507950" y="5510808"/>
            <a:ext cx="11176099" cy="403027"/>
          </a:xfrm>
          <a:prstGeom prst="roundRect">
            <a:avLst>
              <a:gd name="adj" fmla="val 25209"/>
            </a:avLst>
          </a:prstGeom>
          <a:solidFill>
            <a:srgbClr val="EDF3F4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Text 96"/>
          <p:cNvSpPr/>
          <p:nvPr/>
        </p:nvSpPr>
        <p:spPr>
          <a:xfrm>
            <a:off x="695176" y="5621834"/>
            <a:ext cx="533714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✏ Copy each character 5 times — follow stroke order · strokes stay on projector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09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汉字·综合写作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698427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5377" y="144363"/>
            <a:ext cx="14104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 Paragraph · 示范短文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771376"/>
            <a:ext cx="87773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 · 示范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546175" y="609451"/>
            <a:ext cx="50672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Read, notice the structures, then write your own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07950" y="1088827"/>
            <a:ext cx="7645598" cy="4460081"/>
          </a:xfrm>
          <a:prstGeom prst="roundRect">
            <a:avLst>
              <a:gd name="adj" fmla="val 2847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06351" y="1336477"/>
            <a:ext cx="718977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TEACHER'S MODEL PARAGRAPH · 老师的示范短文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806351" y="1596777"/>
            <a:ext cx="718977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我有很多爱好。我喜欢</a:t>
            </a:r>
            <a:pPr algn="l" indent="0" marL="0">
              <a:lnSpc>
                <a:spcPts val="3600"/>
              </a:lnSpc>
              <a:buNone/>
            </a:pPr>
            <a:r>
              <a:rPr lang="en-US" sz="1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</a:t>
            </a:r>
            <a:pPr algn="l" indent="0" marL="0">
              <a:lnSpc>
                <a:spcPts val="3600"/>
              </a:lnSpc>
              <a:buNone/>
            </a:pP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听音乐，</a:t>
            </a:r>
            <a:pPr algn="l" indent="0" marL="0">
              <a:lnSpc>
                <a:spcPts val="3600"/>
              </a:lnSpc>
              <a:buNone/>
            </a:pPr>
            <a:r>
              <a:rPr lang="en-US" sz="1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</a:t>
            </a:r>
            <a:pPr algn="l" indent="0" marL="0">
              <a:lnSpc>
                <a:spcPts val="3600"/>
              </a:lnSpc>
              <a:buNone/>
            </a:pP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画画儿。</a:t>
            </a:r>
            <a:endParaRPr lang="en-US" sz="1800" dirty="0"/>
          </a:p>
          <a:p>
            <a:pPr algn="l" indent="0" marL="0">
              <a:lnSpc>
                <a:spcPts val="3600"/>
              </a:lnSpc>
              <a:buNone/>
            </a:pP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油画儿、国画儿，我</a:t>
            </a:r>
            <a:endParaRPr lang="en-US" sz="1800" dirty="0"/>
          </a:p>
          <a:p>
            <a:pPr algn="l" indent="0" marL="0">
              <a:lnSpc>
                <a:spcPts val="3600"/>
              </a:lnSpc>
              <a:buNone/>
            </a:pPr>
            <a:r>
              <a:rPr lang="en-US" sz="1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都</a:t>
            </a:r>
            <a:pPr algn="l" indent="0" marL="0">
              <a:lnSpc>
                <a:spcPts val="3600"/>
              </a:lnSpc>
              <a:buNone/>
            </a:pP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喜欢画。</a:t>
            </a:r>
            <a:endParaRPr lang="en-US" sz="1800" dirty="0"/>
          </a:p>
          <a:p>
            <a:pPr algn="l" indent="0" marL="0">
              <a:lnSpc>
                <a:spcPts val="3600"/>
              </a:lnSpc>
              <a:buNone/>
            </a:pP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我每天画</a:t>
            </a:r>
            <a:endParaRPr lang="en-US" sz="1800" dirty="0"/>
          </a:p>
          <a:p>
            <a:pPr algn="l" indent="0" marL="0">
              <a:lnSpc>
                <a:spcPts val="3600"/>
              </a:lnSpc>
              <a:buNone/>
            </a:pPr>
            <a:r>
              <a:rPr lang="en-US" sz="18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半个小时</a:t>
            </a:r>
            <a:pPr algn="l" indent="0" marL="0">
              <a:lnSpc>
                <a:spcPts val="3600"/>
              </a:lnSpc>
              <a:buNone/>
            </a:pP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的画儿。</a:t>
            </a:r>
            <a:endParaRPr lang="en-US" sz="1800" dirty="0"/>
          </a:p>
          <a:p>
            <a:pPr algn="l" indent="0" marL="0">
              <a:lnSpc>
                <a:spcPts val="3600"/>
              </a:lnSpc>
              <a:buNone/>
            </a:pP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我现在</a:t>
            </a:r>
            <a:endParaRPr lang="en-US" sz="1800" dirty="0"/>
          </a:p>
          <a:p>
            <a:pPr algn="l" indent="0" marL="0">
              <a:lnSpc>
                <a:spcPts val="3600"/>
              </a:lnSpc>
              <a:buNone/>
            </a:pPr>
            <a:r>
              <a:rPr lang="en-US" sz="1800" b="1" dirty="0">
                <a:solidFill>
                  <a:srgbClr val="3A8A5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</a:t>
            </a:r>
            <a:pPr algn="l" indent="0" marL="0">
              <a:lnSpc>
                <a:spcPts val="3600"/>
              </a:lnSpc>
              <a:buNone/>
            </a:pP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学画国画儿。</a:t>
            </a:r>
            <a:endParaRPr lang="en-US" sz="1800" dirty="0"/>
          </a:p>
          <a:p>
            <a:pPr algn="l" indent="0" marL="0">
              <a:lnSpc>
                <a:spcPts val="3600"/>
              </a:lnSpc>
              <a:buNone/>
            </a:pP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我也喜欢读书。我每天读</a:t>
            </a:r>
            <a:endParaRPr lang="en-US" sz="1800" dirty="0"/>
          </a:p>
          <a:p>
            <a:pPr algn="l" indent="0" marL="0">
              <a:lnSpc>
                <a:spcPts val="3600"/>
              </a:lnSpc>
              <a:buNone/>
            </a:pPr>
            <a:r>
              <a:rPr lang="en-US" sz="18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一个小时</a:t>
            </a:r>
            <a:pPr algn="l" indent="0" marL="0">
              <a:lnSpc>
                <a:spcPts val="3600"/>
              </a:lnSpc>
              <a:buNone/>
            </a:pP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的书。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382149" y="1088827"/>
            <a:ext cx="33679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GRAMMAR STRUCTURES · 语法结构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382149" y="1371302"/>
            <a:ext cx="3301901" cy="790426"/>
          </a:xfrm>
          <a:prstGeom prst="roundRect">
            <a:avLst>
              <a:gd name="adj" fmla="val 12854"/>
            </a:avLst>
          </a:prstGeom>
          <a:solidFill>
            <a:srgbClr val="EDF3F4"/>
          </a:solidFill>
          <a:ln w="9525">
            <a:solidFill>
              <a:srgbClr val="9CC0C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544074" y="1495127"/>
            <a:ext cx="303761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STRUCTURE 1 · 一边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8544074" y="1644253"/>
            <a:ext cx="30376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一边……一边……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544074" y="1885504"/>
            <a:ext cx="303761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doing two things simultaneously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382149" y="2276029"/>
            <a:ext cx="3301901" cy="790426"/>
          </a:xfrm>
          <a:prstGeom prst="roundRect">
            <a:avLst>
              <a:gd name="adj" fmla="val 12854"/>
            </a:avLst>
          </a:prstGeom>
          <a:solidFill>
            <a:srgbClr val="FBF1F0"/>
          </a:solidFill>
          <a:ln w="9525">
            <a:solidFill>
              <a:srgbClr val="E8B4A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544074" y="2399854"/>
            <a:ext cx="303761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STRUCTURE 2 · DURATION · 时量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8544074" y="2548979"/>
            <a:ext cx="30376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V + 时量 + 的 + O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544074" y="2790230"/>
            <a:ext cx="303761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half an hour / one hour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382149" y="3180755"/>
            <a:ext cx="3301901" cy="790426"/>
          </a:xfrm>
          <a:prstGeom prst="roundRect">
            <a:avLst>
              <a:gd name="adj" fmla="val 12854"/>
            </a:avLst>
          </a:prstGeom>
          <a:solidFill>
            <a:srgbClr val="EEF6F1"/>
          </a:solidFill>
          <a:ln w="9525">
            <a:solidFill>
              <a:srgbClr val="A8CCB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544074" y="3304580"/>
            <a:ext cx="303761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3A8A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STRUCTURE 3 · 正在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8544074" y="3453705"/>
            <a:ext cx="30376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3A8A5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 + V + 呢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44074" y="3694956"/>
            <a:ext cx="303761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present continuous / right now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382149" y="4085481"/>
            <a:ext cx="3301901" cy="790426"/>
          </a:xfrm>
          <a:prstGeom prst="roundRect">
            <a:avLst>
              <a:gd name="adj" fmla="val 12854"/>
            </a:avLst>
          </a:prstGeom>
          <a:solidFill>
            <a:srgbClr val="F8F0DF"/>
          </a:solidFill>
          <a:ln w="9525">
            <a:solidFill>
              <a:srgbClr val="D4B56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544074" y="4209306"/>
            <a:ext cx="303761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STRUCTURE 4 · 都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8544074" y="4358432"/>
            <a:ext cx="30376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……，都……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544074" y="4599682"/>
            <a:ext cx="303761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both / all (after the list)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8382149" y="4990207"/>
            <a:ext cx="3301901" cy="558701"/>
          </a:xfrm>
          <a:prstGeom prst="roundRect">
            <a:avLst>
              <a:gd name="adj" fmla="val 18185"/>
            </a:avLst>
          </a:prstGeom>
          <a:solidFill>
            <a:srgbClr val="EDF3F4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8544074" y="5088582"/>
            <a:ext cx="3037612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Goal: 4–6 sentences · use at least 2 structures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09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汉字·综合写作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698427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5377" y="144363"/>
            <a:ext cx="18119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 for Understanding · 理解确认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634901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CFU · QUICK CHECK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828526"/>
            <a:ext cx="1098519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 · 理解确认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11101" y="1295251"/>
            <a:ext cx="1098519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Discuss with a partner first — then whiteboards up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11101" y="1653927"/>
            <a:ext cx="10769798" cy="1670298"/>
          </a:xfrm>
          <a:prstGeom prst="roundRect">
            <a:avLst>
              <a:gd name="adj" fmla="val 760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949226" y="1841153"/>
            <a:ext cx="457200" cy="457200"/>
          </a:xfrm>
          <a:prstGeom prst="roundRect">
            <a:avLst>
              <a:gd name="adj" fmla="val 2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132433" y="1926878"/>
            <a:ext cx="9244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84127" y="1828502"/>
            <a:ext cx="985182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STROKE COUNT · 笔画数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584127" y="2025253"/>
            <a:ext cx="9851821" cy="257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of today's 4 characters has the </a:t>
            </a:r>
            <a:pPr algn="l" indent="0" marL="0">
              <a:lnSpc>
                <a:spcPts val="2030"/>
              </a:lnSpc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fewest strokes</a:t>
            </a:r>
            <a:pPr algn="l" indent="0" marL="0">
              <a:lnSpc>
                <a:spcPts val="203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 (Point or write it.)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584127" y="2397323"/>
            <a:ext cx="1087934" cy="752326"/>
          </a:xfrm>
          <a:prstGeom prst="roundRect">
            <a:avLst>
              <a:gd name="adj" fmla="val 11817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806327" y="2505224"/>
            <a:ext cx="65640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806327" y="2651224"/>
            <a:ext cx="656403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包 (5)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799011" y="2397323"/>
            <a:ext cx="1087934" cy="752326"/>
          </a:xfrm>
          <a:prstGeom prst="roundRect">
            <a:avLst>
              <a:gd name="adj" fmla="val 11817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021211" y="2505224"/>
            <a:ext cx="65640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021211" y="2651224"/>
            <a:ext cx="656403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止 (4)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013895" y="2397323"/>
            <a:ext cx="1087934" cy="752326"/>
          </a:xfrm>
          <a:prstGeom prst="roundRect">
            <a:avLst>
              <a:gd name="adj" fmla="val 11817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236095" y="2505224"/>
            <a:ext cx="65640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4236095" y="2651224"/>
            <a:ext cx="656403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士 (3)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228779" y="2397323"/>
            <a:ext cx="1087934" cy="752326"/>
          </a:xfrm>
          <a:prstGeom prst="roundRect">
            <a:avLst>
              <a:gd name="adj" fmla="val 11817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450979" y="2505224"/>
            <a:ext cx="65640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5450979" y="2651224"/>
            <a:ext cx="656403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豆 (7)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11101" y="3476625"/>
            <a:ext cx="10769798" cy="1670298"/>
          </a:xfrm>
          <a:prstGeom prst="roundRect">
            <a:avLst>
              <a:gd name="adj" fmla="val 760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949226" y="3663851"/>
            <a:ext cx="457200" cy="457200"/>
          </a:xfrm>
          <a:prstGeom prst="roundRect">
            <a:avLst>
              <a:gd name="adj" fmla="val 2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1113979" y="3749576"/>
            <a:ext cx="13024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584127" y="3651200"/>
            <a:ext cx="985182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VISUAL MEMORY · 形象记忆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1584127" y="3847951"/>
            <a:ext cx="9851821" cy="257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character looks like </a:t>
            </a:r>
            <a:pPr algn="l" indent="0" marL="0">
              <a:lnSpc>
                <a:spcPts val="2030"/>
              </a:lnSpc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"a container with a lid and feet"</a:t>
            </a:r>
            <a:pPr algn="l" indent="0" marL="0">
              <a:lnSpc>
                <a:spcPts val="203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584127" y="4220021"/>
            <a:ext cx="723900" cy="752326"/>
          </a:xfrm>
          <a:prstGeom prst="roundRect">
            <a:avLst>
              <a:gd name="adj" fmla="val 12281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806327" y="4327922"/>
            <a:ext cx="28508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1806327" y="4473922"/>
            <a:ext cx="28508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包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2434977" y="4220021"/>
            <a:ext cx="723900" cy="752326"/>
          </a:xfrm>
          <a:prstGeom prst="roundRect">
            <a:avLst>
              <a:gd name="adj" fmla="val 12281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2657177" y="4327922"/>
            <a:ext cx="28508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2657177" y="4473922"/>
            <a:ext cx="28508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止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3285827" y="4220021"/>
            <a:ext cx="723900" cy="752326"/>
          </a:xfrm>
          <a:prstGeom prst="roundRect">
            <a:avLst>
              <a:gd name="adj" fmla="val 12281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3508028" y="4327922"/>
            <a:ext cx="28508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3508028" y="4473922"/>
            <a:ext cx="28508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士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4136678" y="4220021"/>
            <a:ext cx="723900" cy="752326"/>
          </a:xfrm>
          <a:prstGeom prst="roundRect">
            <a:avLst>
              <a:gd name="adj" fmla="val 12281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4358878" y="4327922"/>
            <a:ext cx="28508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358878" y="4473922"/>
            <a:ext cx="28508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豆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711101" y="5299323"/>
            <a:ext cx="10769798" cy="1175147"/>
          </a:xfrm>
          <a:prstGeom prst="roundRect">
            <a:avLst>
              <a:gd name="adj" fmla="val 1080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949226" y="5486549"/>
            <a:ext cx="457200" cy="457200"/>
          </a:xfrm>
          <a:prstGeom prst="roundRect">
            <a:avLst>
              <a:gd name="adj" fmla="val 2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1113383" y="5572274"/>
            <a:ext cx="13131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1584127" y="5473898"/>
            <a:ext cx="985182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PARAGRAPH ANALYSIS · 短文分析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1584127" y="5670649"/>
            <a:ext cx="9851821" cy="257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the model paragraph, how many different grammar structures are used? Name one.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1584127" y="6042720"/>
            <a:ext cx="2451497" cy="257175"/>
          </a:xfrm>
          <a:prstGeom prst="roundRect">
            <a:avLst>
              <a:gd name="adj" fmla="val 4933333"/>
            </a:avLst>
          </a:prstGeom>
          <a:solidFill>
            <a:srgbClr val="EDF3F4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1746052" y="6090345"/>
            <a:ext cx="21702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 Write your answer on your whiteboard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09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汉字·综合写作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698427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5377" y="144363"/>
            <a:ext cx="10126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CFU Answers · 答案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634901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· 答案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828526"/>
            <a:ext cx="1098519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 · Answers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11101" y="1295251"/>
            <a:ext cx="1098519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Let's go through them together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11101" y="1653927"/>
            <a:ext cx="10769798" cy="1168152"/>
          </a:xfrm>
          <a:prstGeom prst="roundRect">
            <a:avLst>
              <a:gd name="adj" fmla="val 10872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949226" y="1841153"/>
            <a:ext cx="457200" cy="457200"/>
          </a:xfrm>
          <a:prstGeom prst="roundRect">
            <a:avLst>
              <a:gd name="adj" fmla="val 2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132433" y="1926878"/>
            <a:ext cx="9244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84127" y="1828502"/>
            <a:ext cx="985182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character has the fewest strokes?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84127" y="2139553"/>
            <a:ext cx="518261" cy="507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40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士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2269927" y="2155031"/>
            <a:ext cx="2316388" cy="257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士 (shì)</a:t>
            </a:r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only </a:t>
            </a:r>
            <a:pPr algn="l" indent="0" marL="0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strokes</a:t>
            </a:r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!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269927" y="2450902"/>
            <a:ext cx="231638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包=5 · 止=4 · 士=3 · 豆=7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45546" y="2274391"/>
            <a:ext cx="515392" cy="238125"/>
          </a:xfrm>
          <a:prstGeom prst="roundRect">
            <a:avLst>
              <a:gd name="adj" fmla="val 5328000"/>
            </a:avLst>
          </a:prstGeom>
          <a:solidFill>
            <a:srgbClr val="EEF6F1"/>
          </a:solidFill>
          <a:ln w="9525">
            <a:solidFill>
              <a:srgbClr val="A8CCB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007471" y="2322016"/>
            <a:ext cx="1953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8A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 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11101" y="2974479"/>
            <a:ext cx="10769798" cy="1168152"/>
          </a:xfrm>
          <a:prstGeom prst="roundRect">
            <a:avLst>
              <a:gd name="adj" fmla="val 10872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49226" y="3161705"/>
            <a:ext cx="457200" cy="457200"/>
          </a:xfrm>
          <a:prstGeom prst="roundRect">
            <a:avLst>
              <a:gd name="adj" fmla="val 2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113979" y="3247430"/>
            <a:ext cx="13024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584127" y="3149054"/>
            <a:ext cx="985182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character looks like "a container with a lid and feet"?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584127" y="3460105"/>
            <a:ext cx="518261" cy="507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40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豆</a:t>
            </a:r>
            <a:endParaRPr lang="en-US" sz="4000" dirty="0"/>
          </a:p>
        </p:txBody>
      </p:sp>
      <p:sp>
        <p:nvSpPr>
          <p:cNvPr id="24" name="Text 22"/>
          <p:cNvSpPr/>
          <p:nvPr/>
        </p:nvSpPr>
        <p:spPr>
          <a:xfrm>
            <a:off x="2269927" y="3585121"/>
            <a:ext cx="4622605" cy="257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豆 (dòu)</a:t>
            </a:r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top=lid, middle=container, bottom=feet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106543" y="3594943"/>
            <a:ext cx="513904" cy="238125"/>
          </a:xfrm>
          <a:prstGeom prst="roundRect">
            <a:avLst>
              <a:gd name="adj" fmla="val 5328000"/>
            </a:avLst>
          </a:prstGeom>
          <a:solidFill>
            <a:srgbClr val="EEF6F1"/>
          </a:solidFill>
          <a:ln w="9525">
            <a:solidFill>
              <a:srgbClr val="A8CCB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268468" y="3642568"/>
            <a:ext cx="19385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8A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 D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11101" y="4295031"/>
            <a:ext cx="10769798" cy="1336774"/>
          </a:xfrm>
          <a:prstGeom prst="roundRect">
            <a:avLst>
              <a:gd name="adj" fmla="val 9500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949226" y="4482257"/>
            <a:ext cx="457200" cy="457200"/>
          </a:xfrm>
          <a:prstGeom prst="roundRect">
            <a:avLst>
              <a:gd name="adj" fmla="val 2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1113383" y="4567982"/>
            <a:ext cx="13131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584127" y="4469606"/>
            <a:ext cx="985182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many grammar structures in the model paragraph? Name one.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584127" y="4780657"/>
            <a:ext cx="9851821" cy="257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structures</a:t>
            </a:r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all four L7 patterns!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584127" y="5101828"/>
            <a:ext cx="1625352" cy="355402"/>
          </a:xfrm>
          <a:prstGeom prst="roundRect">
            <a:avLst>
              <a:gd name="adj" fmla="val 25014"/>
            </a:avLst>
          </a:prstGeom>
          <a:solidFill>
            <a:srgbClr val="ED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736527" y="5165229"/>
            <a:ext cx="13469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一边……一边……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310979" y="5101828"/>
            <a:ext cx="2512219" cy="355402"/>
          </a:xfrm>
          <a:prstGeom prst="roundRect">
            <a:avLst>
              <a:gd name="adj" fmla="val 25014"/>
            </a:avLst>
          </a:prstGeom>
          <a:solidFill>
            <a:srgbClr val="FBF1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3463379" y="5165229"/>
            <a:ext cx="22515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半个小时 / 一个小时 (duration)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924699" y="5101828"/>
            <a:ext cx="635050" cy="355402"/>
          </a:xfrm>
          <a:prstGeom prst="roundRect">
            <a:avLst>
              <a:gd name="adj" fmla="val 25014"/>
            </a:avLst>
          </a:prstGeom>
          <a:solidFill>
            <a:srgbClr val="EEF6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077099" y="5165229"/>
            <a:ext cx="336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8A5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661249" y="5101828"/>
            <a:ext cx="469999" cy="355402"/>
          </a:xfrm>
          <a:prstGeom prst="roundRect">
            <a:avLst>
              <a:gd name="adj" fmla="val 25014"/>
            </a:avLst>
          </a:prstGeom>
          <a:solidFill>
            <a:srgbClr val="F8F0D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813649" y="5165229"/>
            <a:ext cx="168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都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09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汉字·综合写作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698427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5377" y="144363"/>
            <a:ext cx="207592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Character Writing · 8–16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82526"/>
            <a:ext cx="1026616" cy="244376"/>
          </a:xfrm>
          <a:prstGeom prst="roundRect">
            <a:avLst>
              <a:gd name="adj" fmla="val 5191713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6402" y="733276"/>
            <a:ext cx="6846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737717" y="609451"/>
            <a:ext cx="394327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Character Writing · Act. 8 (p.65)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58701" y="1101477"/>
            <a:ext cx="802035" cy="292001"/>
          </a:xfrm>
          <a:prstGeom prst="roundRect">
            <a:avLst>
              <a:gd name="adj" fmla="val 4344951"/>
            </a:avLst>
          </a:prstGeom>
          <a:solidFill>
            <a:srgbClr val="F8F0DF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33276" y="1161752"/>
            <a:ext cx="4619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8 min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475036" y="1125289"/>
            <a:ext cx="1243013" cy="244376"/>
          </a:xfrm>
          <a:prstGeom prst="roundRect">
            <a:avLst>
              <a:gd name="adj" fmla="val 5191713"/>
            </a:avLst>
          </a:prstGeom>
          <a:solidFill>
            <a:srgbClr val="ED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614636" y="1176040"/>
            <a:ext cx="98308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→ YOU DO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58701" y="1545878"/>
            <a:ext cx="5435650" cy="2922687"/>
          </a:xfrm>
          <a:prstGeom prst="roundRect">
            <a:avLst>
              <a:gd name="adj" fmla="val 434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20626" y="1707803"/>
            <a:ext cx="2505075" cy="1248668"/>
          </a:xfrm>
          <a:prstGeom prst="roundRect">
            <a:avLst>
              <a:gd name="adj" fmla="val 7120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7101" y="2103537"/>
            <a:ext cx="466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包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1428601" y="1944886"/>
            <a:ext cx="16938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bāo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428601" y="2119461"/>
            <a:ext cx="169383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bag / wrap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428601" y="2325737"/>
            <a:ext cx="169383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STROKES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28601" y="2497187"/>
            <a:ext cx="222200" cy="222200"/>
          </a:xfrm>
          <a:prstGeom prst="roundRect">
            <a:avLst>
              <a:gd name="adj" fmla="val 17147"/>
            </a:avLst>
          </a:prstGeom>
          <a:solidFill>
            <a:srgbClr val="F6F2E8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688902" y="2497187"/>
            <a:ext cx="222200" cy="222200"/>
          </a:xfrm>
          <a:prstGeom prst="roundRect">
            <a:avLst>
              <a:gd name="adj" fmla="val 17147"/>
            </a:avLst>
          </a:prstGeom>
          <a:solidFill>
            <a:srgbClr val="F6F2E8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949202" y="2497187"/>
            <a:ext cx="222200" cy="222200"/>
          </a:xfrm>
          <a:prstGeom prst="roundRect">
            <a:avLst>
              <a:gd name="adj" fmla="val 17147"/>
            </a:avLst>
          </a:prstGeom>
          <a:solidFill>
            <a:srgbClr val="F6F2E8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2209502" y="2497187"/>
            <a:ext cx="222200" cy="222200"/>
          </a:xfrm>
          <a:prstGeom prst="roundRect">
            <a:avLst>
              <a:gd name="adj" fmla="val 17147"/>
            </a:avLst>
          </a:prstGeom>
          <a:solidFill>
            <a:srgbClr val="F6F2E8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2469803" y="2497187"/>
            <a:ext cx="222200" cy="222200"/>
          </a:xfrm>
          <a:prstGeom prst="roundRect">
            <a:avLst>
              <a:gd name="adj" fmla="val 17147"/>
            </a:avLst>
          </a:prstGeom>
          <a:solidFill>
            <a:srgbClr val="F6F2E8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327202" y="1707803"/>
            <a:ext cx="2505224" cy="1248668"/>
          </a:xfrm>
          <a:prstGeom prst="roundRect">
            <a:avLst>
              <a:gd name="adj" fmla="val 7120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3463677" y="2103537"/>
            <a:ext cx="466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止</a:t>
            </a:r>
            <a:endParaRPr lang="en-US" sz="3600" dirty="0"/>
          </a:p>
        </p:txBody>
      </p:sp>
      <p:sp>
        <p:nvSpPr>
          <p:cNvPr id="27" name="Text 25"/>
          <p:cNvSpPr/>
          <p:nvPr/>
        </p:nvSpPr>
        <p:spPr>
          <a:xfrm>
            <a:off x="4035177" y="1944886"/>
            <a:ext cx="169398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zhǐ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035177" y="2119461"/>
            <a:ext cx="1693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stop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035177" y="2325737"/>
            <a:ext cx="169398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STROKES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035177" y="2497187"/>
            <a:ext cx="222200" cy="222200"/>
          </a:xfrm>
          <a:prstGeom prst="roundRect">
            <a:avLst>
              <a:gd name="adj" fmla="val 17147"/>
            </a:avLst>
          </a:prstGeom>
          <a:solidFill>
            <a:srgbClr val="F6F2E8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295477" y="2497187"/>
            <a:ext cx="222200" cy="222200"/>
          </a:xfrm>
          <a:prstGeom prst="roundRect">
            <a:avLst>
              <a:gd name="adj" fmla="val 17147"/>
            </a:avLst>
          </a:prstGeom>
          <a:solidFill>
            <a:srgbClr val="F6F2E8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555778" y="2497187"/>
            <a:ext cx="222200" cy="222200"/>
          </a:xfrm>
          <a:prstGeom prst="roundRect">
            <a:avLst>
              <a:gd name="adj" fmla="val 17147"/>
            </a:avLst>
          </a:prstGeom>
          <a:solidFill>
            <a:srgbClr val="F6F2E8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816078" y="2497187"/>
            <a:ext cx="222200" cy="222200"/>
          </a:xfrm>
          <a:prstGeom prst="roundRect">
            <a:avLst>
              <a:gd name="adj" fmla="val 17147"/>
            </a:avLst>
          </a:prstGeom>
          <a:solidFill>
            <a:srgbClr val="F6F2E8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076379" y="2497187"/>
            <a:ext cx="222200" cy="222200"/>
          </a:xfrm>
          <a:prstGeom prst="roundRect">
            <a:avLst>
              <a:gd name="adj" fmla="val 17147"/>
            </a:avLst>
          </a:prstGeom>
          <a:solidFill>
            <a:srgbClr val="F6F2E8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720626" y="3057971"/>
            <a:ext cx="2505075" cy="1248668"/>
          </a:xfrm>
          <a:prstGeom prst="roundRect">
            <a:avLst>
              <a:gd name="adj" fmla="val 7120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857101" y="3453705"/>
            <a:ext cx="466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士</a:t>
            </a:r>
            <a:endParaRPr lang="en-US" sz="3600" dirty="0"/>
          </a:p>
        </p:txBody>
      </p:sp>
      <p:sp>
        <p:nvSpPr>
          <p:cNvPr id="37" name="Text 35"/>
          <p:cNvSpPr/>
          <p:nvPr/>
        </p:nvSpPr>
        <p:spPr>
          <a:xfrm>
            <a:off x="1428601" y="3295055"/>
            <a:ext cx="16938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shì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428601" y="3469630"/>
            <a:ext cx="169383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scholar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428601" y="3675906"/>
            <a:ext cx="169383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STROKES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1428601" y="3847356"/>
            <a:ext cx="222200" cy="222200"/>
          </a:xfrm>
          <a:prstGeom prst="roundRect">
            <a:avLst>
              <a:gd name="adj" fmla="val 17147"/>
            </a:avLst>
          </a:prstGeom>
          <a:solidFill>
            <a:srgbClr val="F6F2E8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1688902" y="3847356"/>
            <a:ext cx="222200" cy="222200"/>
          </a:xfrm>
          <a:prstGeom prst="roundRect">
            <a:avLst>
              <a:gd name="adj" fmla="val 17147"/>
            </a:avLst>
          </a:prstGeom>
          <a:solidFill>
            <a:srgbClr val="F6F2E8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1949202" y="3847356"/>
            <a:ext cx="222200" cy="222200"/>
          </a:xfrm>
          <a:prstGeom prst="roundRect">
            <a:avLst>
              <a:gd name="adj" fmla="val 17147"/>
            </a:avLst>
          </a:prstGeom>
          <a:solidFill>
            <a:srgbClr val="F6F2E8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2209502" y="3847356"/>
            <a:ext cx="222200" cy="222200"/>
          </a:xfrm>
          <a:prstGeom prst="roundRect">
            <a:avLst>
              <a:gd name="adj" fmla="val 17147"/>
            </a:avLst>
          </a:prstGeom>
          <a:solidFill>
            <a:srgbClr val="F6F2E8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2469803" y="3847356"/>
            <a:ext cx="222200" cy="222200"/>
          </a:xfrm>
          <a:prstGeom prst="roundRect">
            <a:avLst>
              <a:gd name="adj" fmla="val 17147"/>
            </a:avLst>
          </a:prstGeom>
          <a:solidFill>
            <a:srgbClr val="F6F2E8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3327202" y="3057971"/>
            <a:ext cx="2505224" cy="1248668"/>
          </a:xfrm>
          <a:prstGeom prst="roundRect">
            <a:avLst>
              <a:gd name="adj" fmla="val 7120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3463677" y="3453705"/>
            <a:ext cx="466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豆</a:t>
            </a:r>
            <a:endParaRPr lang="en-US" sz="3600" dirty="0"/>
          </a:p>
        </p:txBody>
      </p:sp>
      <p:sp>
        <p:nvSpPr>
          <p:cNvPr id="47" name="Text 45"/>
          <p:cNvSpPr/>
          <p:nvPr/>
        </p:nvSpPr>
        <p:spPr>
          <a:xfrm>
            <a:off x="4035177" y="3295055"/>
            <a:ext cx="169398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dòu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035177" y="3469630"/>
            <a:ext cx="1693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bean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035177" y="3675906"/>
            <a:ext cx="169398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 STROKES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4035177" y="3847356"/>
            <a:ext cx="222200" cy="222200"/>
          </a:xfrm>
          <a:prstGeom prst="roundRect">
            <a:avLst>
              <a:gd name="adj" fmla="val 17147"/>
            </a:avLst>
          </a:prstGeom>
          <a:solidFill>
            <a:srgbClr val="F6F2E8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4295477" y="3847356"/>
            <a:ext cx="222200" cy="222200"/>
          </a:xfrm>
          <a:prstGeom prst="roundRect">
            <a:avLst>
              <a:gd name="adj" fmla="val 17147"/>
            </a:avLst>
          </a:prstGeom>
          <a:solidFill>
            <a:srgbClr val="F6F2E8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4555778" y="3847356"/>
            <a:ext cx="222200" cy="222200"/>
          </a:xfrm>
          <a:prstGeom prst="roundRect">
            <a:avLst>
              <a:gd name="adj" fmla="val 17147"/>
            </a:avLst>
          </a:prstGeom>
          <a:solidFill>
            <a:srgbClr val="F6F2E8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4816078" y="3847356"/>
            <a:ext cx="222200" cy="222200"/>
          </a:xfrm>
          <a:prstGeom prst="roundRect">
            <a:avLst>
              <a:gd name="adj" fmla="val 17147"/>
            </a:avLst>
          </a:prstGeom>
          <a:solidFill>
            <a:srgbClr val="F6F2E8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5076379" y="3847356"/>
            <a:ext cx="222200" cy="222200"/>
          </a:xfrm>
          <a:prstGeom prst="roundRect">
            <a:avLst>
              <a:gd name="adj" fmla="val 17147"/>
            </a:avLst>
          </a:prstGeom>
          <a:solidFill>
            <a:srgbClr val="F6F2E8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6197501" y="1545878"/>
            <a:ext cx="5435798" cy="1342132"/>
          </a:xfrm>
          <a:prstGeom prst="roundRect">
            <a:avLst>
              <a:gd name="adj" fmla="val 946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6410176" y="1707803"/>
            <a:ext cx="51106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 · 说明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410176" y="1984028"/>
            <a:ext cx="5010448" cy="678656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45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each character </a:t>
            </a:r>
            <a:pPr algn="l" indent="0" marL="0">
              <a:lnSpc>
                <a:spcPts val="145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times</a:t>
            </a:r>
            <a:pPr algn="l" indent="0" marL="0">
              <a:lnSpc>
                <a:spcPts val="145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following stroke order</a:t>
            </a:r>
            <a:endParaRPr lang="en-US" sz="1000" dirty="0"/>
          </a:p>
          <a:p>
            <a:pPr algn="l" marL="88900" indent="-88900">
              <a:lnSpc>
                <a:spcPts val="145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the </a:t>
            </a:r>
            <a:pPr algn="l" indent="0" marL="0">
              <a:lnSpc>
                <a:spcPts val="145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pinyin and English meaning</a:t>
            </a:r>
            <a:pPr algn="l" indent="0" marL="0">
              <a:lnSpc>
                <a:spcPts val="145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next to each character</a:t>
            </a:r>
            <a:endParaRPr lang="en-US" sz="1000" dirty="0"/>
          </a:p>
          <a:p>
            <a:pPr algn="l" marL="88900" indent="-88900">
              <a:lnSpc>
                <a:spcPts val="145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 stroke order — the guide stays on the projector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6197501" y="3014960"/>
            <a:ext cx="5435798" cy="1453604"/>
          </a:xfrm>
          <a:prstGeom prst="roundRect">
            <a:avLst>
              <a:gd name="adj" fmla="val 7863"/>
            </a:avLst>
          </a:prstGeom>
          <a:solidFill>
            <a:srgbClr val="EDF3F4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6384727" y="3151436"/>
            <a:ext cx="516257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MINI WHITEBOARD CHECK · 4 ROUNDS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6384727" y="3383161"/>
            <a:ext cx="1409998" cy="317302"/>
          </a:xfrm>
          <a:prstGeom prst="roundRect">
            <a:avLst>
              <a:gd name="adj" fmla="val 28017"/>
            </a:avLst>
          </a:prstGeom>
          <a:solidFill>
            <a:srgbClr val="FEFCF7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6521202" y="3456087"/>
            <a:ext cx="115978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① "bag/wrap" → 包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7870924" y="3383161"/>
            <a:ext cx="1107579" cy="317302"/>
          </a:xfrm>
          <a:prstGeom prst="roundRect">
            <a:avLst>
              <a:gd name="adj" fmla="val 28017"/>
            </a:avLst>
          </a:prstGeom>
          <a:solidFill>
            <a:srgbClr val="FEFCF7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8007400" y="3456087"/>
            <a:ext cx="85132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② "stop" → 止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9054703" y="3383161"/>
            <a:ext cx="1276796" cy="317302"/>
          </a:xfrm>
          <a:prstGeom prst="roundRect">
            <a:avLst>
              <a:gd name="adj" fmla="val 28017"/>
            </a:avLst>
          </a:prstGeom>
          <a:solidFill>
            <a:srgbClr val="FEFCF7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9191179" y="3456087"/>
            <a:ext cx="10239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③ "scholar" → 士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6384727" y="3776662"/>
            <a:ext cx="1134070" cy="317302"/>
          </a:xfrm>
          <a:prstGeom prst="roundRect">
            <a:avLst>
              <a:gd name="adj" fmla="val 28017"/>
            </a:avLst>
          </a:prstGeom>
          <a:solidFill>
            <a:srgbClr val="FEFCF7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6521202" y="3849588"/>
            <a:ext cx="8783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④ "bean" → 豆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6384727" y="4170164"/>
            <a:ext cx="516257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says meaning in English → students write Chinese character from memory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558701" y="4620964"/>
            <a:ext cx="3623816" cy="694432"/>
          </a:xfrm>
          <a:prstGeom prst="roundRect">
            <a:avLst>
              <a:gd name="adj" fmla="val 1280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685651" y="4722465"/>
            <a:ext cx="343731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685651" y="4893915"/>
            <a:ext cx="3437314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Stroke order stays on projector — glance at slide 05 if unsure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4284018" y="4620964"/>
            <a:ext cx="3623816" cy="694432"/>
          </a:xfrm>
          <a:prstGeom prst="roundRect">
            <a:avLst>
              <a:gd name="adj" fmla="val 1280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4410968" y="4722465"/>
            <a:ext cx="343731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4410968" y="4893915"/>
            <a:ext cx="3437314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each character in a phrase or sentence (e.g. 我的书包、停止跑步)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8009334" y="4620964"/>
            <a:ext cx="3623965" cy="694432"/>
          </a:xfrm>
          <a:prstGeom prst="roundRect">
            <a:avLst>
              <a:gd name="adj" fmla="val 1280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8136285" y="4722465"/>
            <a:ext cx="343746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8136285" y="4893915"/>
            <a:ext cx="343746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Whiteboard hold-up — teacher sees every student's answer in every round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09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汉字·综合写作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698427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5377" y="144363"/>
            <a:ext cx="24483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Picture Caption Writing · 16–23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57225"/>
            <a:ext cx="1045071" cy="244376"/>
          </a:xfrm>
          <a:prstGeom prst="roundRect">
            <a:avLst>
              <a:gd name="adj" fmla="val 5191713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6402" y="707975"/>
            <a:ext cx="70346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756172" y="584150"/>
            <a:ext cx="404043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Picture Caption Writing · Act. 14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58701" y="1063526"/>
            <a:ext cx="795784" cy="292001"/>
          </a:xfrm>
          <a:prstGeom prst="roundRect">
            <a:avLst>
              <a:gd name="adj" fmla="val 4344951"/>
            </a:avLst>
          </a:prstGeom>
          <a:solidFill>
            <a:srgbClr val="F8F0DF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33276" y="1123801"/>
            <a:ext cx="45556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7 min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468785" y="1087338"/>
            <a:ext cx="1243013" cy="244376"/>
          </a:xfrm>
          <a:prstGeom prst="roundRect">
            <a:avLst>
              <a:gd name="adj" fmla="val 5191713"/>
            </a:avLst>
          </a:prstGeom>
          <a:solidFill>
            <a:srgbClr val="F8F0D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608386" y="1138089"/>
            <a:ext cx="98308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→ YOU DO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58701" y="1482477"/>
            <a:ext cx="790873" cy="238125"/>
          </a:xfrm>
          <a:prstGeom prst="roundRect">
            <a:avLst>
              <a:gd name="adj" fmla="val 5328000"/>
            </a:avLst>
          </a:prstGeom>
          <a:solidFill>
            <a:srgbClr val="F8F0DF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20626" y="1530102"/>
            <a:ext cx="47636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Minimum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451074" y="1511052"/>
            <a:ext cx="906668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a caption for each picture — use at least one grammar structure across the 4 captions · Include </a:t>
            </a:r>
            <a:pPr algn="l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 正在 sentence</a:t>
            </a:r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&amp; </a:t>
            </a:r>
            <a:pPr algn="l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 喜欢 sentence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8701" y="1847552"/>
            <a:ext cx="2673400" cy="1956197"/>
          </a:xfrm>
          <a:prstGeom prst="roundRect">
            <a:avLst>
              <a:gd name="adj" fmla="val 584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781026" y="1984028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838176" y="2012603"/>
            <a:ext cx="11658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①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666726" y="2276029"/>
            <a:ext cx="466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🎨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1291144" y="2796629"/>
            <a:ext cx="1208365" cy="362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画画儿</a:t>
            </a:r>
            <a:pPr algn="ctr" indent="0" marL="0">
              <a:lnSpc>
                <a:spcPts val="156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painting / drawing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82526" y="3410248"/>
            <a:ext cx="2425750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2526" y="3670399"/>
            <a:ext cx="2425750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59051" y="1847552"/>
            <a:ext cx="2673400" cy="1956197"/>
          </a:xfrm>
          <a:prstGeom prst="roundRect">
            <a:avLst>
              <a:gd name="adj" fmla="val 584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581376" y="1984028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638526" y="2012603"/>
            <a:ext cx="11658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②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467076" y="2276029"/>
            <a:ext cx="466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📚</a:t>
            </a:r>
            <a:endParaRPr lang="en-US" sz="3600" dirty="0"/>
          </a:p>
        </p:txBody>
      </p:sp>
      <p:sp>
        <p:nvSpPr>
          <p:cNvPr id="28" name="Text 26"/>
          <p:cNvSpPr/>
          <p:nvPr/>
        </p:nvSpPr>
        <p:spPr>
          <a:xfrm>
            <a:off x="4450056" y="2796629"/>
            <a:ext cx="491240" cy="362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读书</a:t>
            </a:r>
            <a:pPr algn="ctr" indent="0" marL="0">
              <a:lnSpc>
                <a:spcPts val="156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reading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82876" y="3410248"/>
            <a:ext cx="2425750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82876" y="3670399"/>
            <a:ext cx="2425750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59401" y="1847552"/>
            <a:ext cx="2673400" cy="1956197"/>
          </a:xfrm>
          <a:prstGeom prst="roundRect">
            <a:avLst>
              <a:gd name="adj" fmla="val 584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381726" y="1984028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438876" y="2012603"/>
            <a:ext cx="11658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③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038826" y="2276029"/>
            <a:ext cx="932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🎸🎤</a:t>
            </a:r>
            <a:endParaRPr lang="en-US" sz="3600" dirty="0"/>
          </a:p>
        </p:txBody>
      </p:sp>
      <p:sp>
        <p:nvSpPr>
          <p:cNvPr id="35" name="Text 33"/>
          <p:cNvSpPr/>
          <p:nvPr/>
        </p:nvSpPr>
        <p:spPr>
          <a:xfrm>
            <a:off x="6980648" y="2796629"/>
            <a:ext cx="1030906" cy="362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弹吉他 + 唱歌</a:t>
            </a:r>
            <a:pPr algn="ctr" indent="0" marL="0">
              <a:lnSpc>
                <a:spcPts val="156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guitar + singing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283226" y="3410248"/>
            <a:ext cx="2425750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283226" y="3670399"/>
            <a:ext cx="2425750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959751" y="1847552"/>
            <a:ext cx="2673548" cy="1956197"/>
          </a:xfrm>
          <a:prstGeom prst="roundRect">
            <a:avLst>
              <a:gd name="adj" fmla="val 584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10182225" y="1984028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10239375" y="2012603"/>
            <a:ext cx="11658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④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067925" y="2276029"/>
            <a:ext cx="466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📺</a:t>
            </a:r>
            <a:endParaRPr lang="en-US" sz="3600" dirty="0"/>
          </a:p>
        </p:txBody>
      </p:sp>
      <p:sp>
        <p:nvSpPr>
          <p:cNvPr id="42" name="Text 40"/>
          <p:cNvSpPr/>
          <p:nvPr/>
        </p:nvSpPr>
        <p:spPr>
          <a:xfrm>
            <a:off x="9891512" y="2796629"/>
            <a:ext cx="809878" cy="362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看电视</a:t>
            </a:r>
            <a:pPr algn="ctr" indent="0" marL="0">
              <a:lnSpc>
                <a:spcPts val="156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watching TV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9083576" y="3410248"/>
            <a:ext cx="2425898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083576" y="3670399"/>
            <a:ext cx="2425898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58701" y="3930700"/>
            <a:ext cx="11074598" cy="549176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Shape 44"/>
          <p:cNvSpPr/>
          <p:nvPr/>
        </p:nvSpPr>
        <p:spPr>
          <a:xfrm>
            <a:off x="582513" y="3930700"/>
            <a:ext cx="0" cy="549176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84027" y="4138613"/>
            <a:ext cx="115371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FRAMES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2169021" y="4045000"/>
            <a:ext cx="1390352" cy="320576"/>
          </a:xfrm>
          <a:prstGeom prst="roundRect">
            <a:avLst>
              <a:gd name="adj" fmla="val 19808"/>
            </a:avLst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2305496" y="4105275"/>
            <a:ext cx="11397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</a:t>
            </a:r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呢。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686324" y="4045000"/>
            <a:ext cx="1250752" cy="320576"/>
          </a:xfrm>
          <a:prstGeom prst="roundRect">
            <a:avLst>
              <a:gd name="adj" fmla="val 19808"/>
            </a:avLst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3822799" y="4105275"/>
            <a:ext cx="99735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</a:t>
            </a:r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064026" y="4045000"/>
            <a:ext cx="1390650" cy="320576"/>
          </a:xfrm>
          <a:prstGeom prst="roundRect">
            <a:avLst>
              <a:gd name="adj" fmla="val 19808"/>
            </a:avLst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5200501" y="4105275"/>
            <a:ext cx="114005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每天</a:t>
            </a:r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的</a:t>
            </a:r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6581626" y="4045000"/>
            <a:ext cx="1530251" cy="320576"/>
          </a:xfrm>
          <a:prstGeom prst="roundRect">
            <a:avLst>
              <a:gd name="adj" fmla="val 19808"/>
            </a:avLst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6718102" y="4105275"/>
            <a:ext cx="128244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、</a:t>
            </a:r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，他都</a:t>
            </a:r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558701" y="4594175"/>
            <a:ext cx="3623816" cy="694432"/>
          </a:xfrm>
          <a:prstGeom prst="roundRect">
            <a:avLst>
              <a:gd name="adj" fmla="val 1280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685651" y="4695676"/>
            <a:ext cx="343731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685651" y="4867126"/>
            <a:ext cx="3437314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frames above stay visible — choose which frame fits each picture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284018" y="4594175"/>
            <a:ext cx="3623816" cy="694432"/>
          </a:xfrm>
          <a:prstGeom prst="roundRect">
            <a:avLst>
              <a:gd name="adj" fmla="val 1280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4410968" y="4695676"/>
            <a:ext cx="343731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4410968" y="4867126"/>
            <a:ext cx="3437314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2 sentences per picture: one 正在 (right now) + one habitual sentence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8009334" y="4594175"/>
            <a:ext cx="3623965" cy="694432"/>
          </a:xfrm>
          <a:prstGeom prst="roundRect">
            <a:avLst>
              <a:gd name="adj" fmla="val 1280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8136285" y="4695676"/>
            <a:ext cx="343746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50" dirty="0"/>
          </a:p>
        </p:txBody>
      </p:sp>
      <p:sp>
        <p:nvSpPr>
          <p:cNvPr id="64" name="Text 62"/>
          <p:cNvSpPr/>
          <p:nvPr/>
        </p:nvSpPr>
        <p:spPr>
          <a:xfrm>
            <a:off x="8136285" y="4867126"/>
            <a:ext cx="343746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2–3 students read their caption aloud for picture ① or ③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09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汉字·综合写作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698427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5377" y="144363"/>
            <a:ext cx="24120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 · My Hobbies Paragraph · 23–31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57225"/>
            <a:ext cx="1045518" cy="244376"/>
          </a:xfrm>
          <a:prstGeom prst="roundRect">
            <a:avLst>
              <a:gd name="adj" fmla="val 5191713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6402" y="707975"/>
            <a:ext cx="70391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756618" y="584150"/>
            <a:ext cx="429971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My Hobbies Paragraph · 我的爱好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58701" y="1063526"/>
            <a:ext cx="802035" cy="292001"/>
          </a:xfrm>
          <a:prstGeom prst="roundRect">
            <a:avLst>
              <a:gd name="adj" fmla="val 4344951"/>
            </a:avLst>
          </a:prstGeom>
          <a:solidFill>
            <a:srgbClr val="FBF1F0"/>
          </a:solidFill>
          <a:ln w="9525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33276" y="1123801"/>
            <a:ext cx="4619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8 min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475036" y="1087338"/>
            <a:ext cx="706785" cy="244376"/>
          </a:xfrm>
          <a:prstGeom prst="roundRect">
            <a:avLst>
              <a:gd name="adj" fmla="val 5191713"/>
            </a:avLst>
          </a:prstGeom>
          <a:solidFill>
            <a:srgbClr val="FBF1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614636" y="1138089"/>
            <a:ext cx="43613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58701" y="1507927"/>
            <a:ext cx="7950547" cy="3167955"/>
          </a:xfrm>
          <a:prstGeom prst="roundRect">
            <a:avLst>
              <a:gd name="adj" fmla="val 4009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58726" y="1669852"/>
            <a:ext cx="77015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REQUIREMENTS · 要求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58726" y="1914227"/>
            <a:ext cx="7550497" cy="463451"/>
          </a:xfrm>
          <a:prstGeom prst="roundRect">
            <a:avLst>
              <a:gd name="adj" fmla="val 19182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95201" y="2012603"/>
            <a:ext cx="2040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✏️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09526" y="2051596"/>
            <a:ext cx="2823112" cy="188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4–6 sentences</a:t>
            </a:r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about your own hobbies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58726" y="2453878"/>
            <a:ext cx="7550497" cy="463451"/>
          </a:xfrm>
          <a:prstGeom prst="roundRect">
            <a:avLst>
              <a:gd name="adj" fmla="val 19182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95201" y="2552254"/>
            <a:ext cx="2040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🔢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209526" y="2591246"/>
            <a:ext cx="2755559" cy="188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Use </a:t>
            </a:r>
            <a:pPr algn="l" indent="0" marL="0">
              <a:lnSpc>
                <a:spcPts val="1485"/>
              </a:lnSpc>
              <a:buNone/>
            </a:pPr>
            <a:r>
              <a:rPr lang="en-US" sz="11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≥2 of the 4</a:t>
            </a:r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L7 grammar structures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58726" y="2993529"/>
            <a:ext cx="7550497" cy="463451"/>
          </a:xfrm>
          <a:prstGeom prst="roundRect">
            <a:avLst>
              <a:gd name="adj" fmla="val 19182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95201" y="3091904"/>
            <a:ext cx="2040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📖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209526" y="3130897"/>
            <a:ext cx="2958673" cy="188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Use </a:t>
            </a:r>
            <a:pPr algn="l" indent="0" marL="0">
              <a:lnSpc>
                <a:spcPts val="1485"/>
              </a:lnSpc>
              <a:buNone/>
            </a:pPr>
            <a:r>
              <a:rPr lang="en-US" sz="11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≥4 different hobby vocabulary words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58726" y="3533180"/>
            <a:ext cx="7550497" cy="463451"/>
          </a:xfrm>
          <a:prstGeom prst="roundRect">
            <a:avLst>
              <a:gd name="adj" fmla="val 19182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95201" y="3631555"/>
            <a:ext cx="2040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🏷️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09526" y="3670548"/>
            <a:ext cx="3901836" cy="188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Label structures in margin: circle each one in its colour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58726" y="4098131"/>
            <a:ext cx="7550497" cy="415826"/>
          </a:xfrm>
          <a:prstGeom prst="roundRect">
            <a:avLst>
              <a:gd name="adj" fmla="val 21379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858100" y="4206032"/>
            <a:ext cx="735174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 pinyin — characters only!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58701" y="4802832"/>
            <a:ext cx="7950547" cy="1221879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582513" y="4802832"/>
            <a:ext cx="0" cy="1221879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84027" y="4917132"/>
            <a:ext cx="76984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 (REFERENCE)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784027" y="5113883"/>
            <a:ext cx="7698471" cy="796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我有很多爱好。我喜欢</a:t>
            </a:r>
            <a:pPr algn="l" indent="0" marL="0">
              <a:lnSpc>
                <a:spcPts val="2090"/>
              </a:lnSpc>
              <a:buNone/>
            </a:pPr>
            <a:r>
              <a:rPr lang="en-US" sz="11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</a:t>
            </a:r>
            <a:pPr algn="l" indent="0" marL="0">
              <a:lnSpc>
                <a:spcPts val="209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听音乐，</a:t>
            </a:r>
            <a:pPr algn="l" indent="0" marL="0">
              <a:lnSpc>
                <a:spcPts val="2090"/>
              </a:lnSpc>
              <a:buNone/>
            </a:pPr>
            <a:r>
              <a:rPr lang="en-US" sz="11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</a:t>
            </a:r>
            <a:pPr algn="l" indent="0" marL="0">
              <a:lnSpc>
                <a:spcPts val="209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画画儿。</a:t>
            </a:r>
            <a:endParaRPr lang="en-US" sz="1100" dirty="0"/>
          </a:p>
          <a:p>
            <a:pPr algn="l" indent="0" marL="0">
              <a:lnSpc>
                <a:spcPts val="209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油画儿、国画儿，我</a:t>
            </a:r>
            <a:endParaRPr lang="en-US" sz="1100" dirty="0"/>
          </a:p>
          <a:p>
            <a:pPr algn="l" indent="0" marL="0">
              <a:lnSpc>
                <a:spcPts val="2090"/>
              </a:lnSpc>
              <a:buNone/>
            </a:pPr>
            <a:r>
              <a:rPr lang="en-US" sz="11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都</a:t>
            </a:r>
            <a:pPr algn="l" indent="0" marL="0">
              <a:lnSpc>
                <a:spcPts val="209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喜欢画。我每天画</a:t>
            </a:r>
            <a:pPr algn="l" indent="0" marL="0">
              <a:lnSpc>
                <a:spcPts val="2090"/>
              </a:lnSpc>
              <a:buNone/>
            </a:pPr>
            <a:r>
              <a:rPr lang="en-US" sz="11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半个小时</a:t>
            </a:r>
            <a:pPr algn="l" indent="0" marL="0">
              <a:lnSpc>
                <a:spcPts val="209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的画儿。</a:t>
            </a:r>
            <a:endParaRPr lang="en-US" sz="1100" dirty="0"/>
          </a:p>
          <a:p>
            <a:pPr algn="l" indent="0" marL="0">
              <a:lnSpc>
                <a:spcPts val="209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我现在</a:t>
            </a:r>
            <a:endParaRPr lang="en-US" sz="1100" dirty="0"/>
          </a:p>
          <a:p>
            <a:pPr algn="l" indent="0" marL="0">
              <a:lnSpc>
                <a:spcPts val="2090"/>
              </a:lnSpc>
              <a:buNone/>
            </a:pPr>
            <a:r>
              <a:rPr lang="en-US" sz="1100" b="1" dirty="0">
                <a:solidFill>
                  <a:srgbClr val="3A8A5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</a:t>
            </a:r>
            <a:pPr algn="l" indent="0" marL="0">
              <a:lnSpc>
                <a:spcPts val="209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学画国画儿。我每天读</a:t>
            </a:r>
            <a:pPr algn="l" indent="0" marL="0">
              <a:lnSpc>
                <a:spcPts val="2090"/>
              </a:lnSpc>
              <a:buNone/>
            </a:pPr>
            <a:r>
              <a:rPr lang="en-US" sz="11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一个小时</a:t>
            </a:r>
            <a:pPr algn="l" indent="0" marL="0">
              <a:lnSpc>
                <a:spcPts val="209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的书。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712398" y="1507927"/>
            <a:ext cx="297931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GRAMMAR LABEL KEY · 语法标注颜色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712398" y="1777603"/>
            <a:ext cx="2920901" cy="476250"/>
          </a:xfrm>
          <a:prstGeom prst="roundRect">
            <a:avLst>
              <a:gd name="adj" fmla="val 18667"/>
            </a:avLst>
          </a:prstGeom>
          <a:solidFill>
            <a:srgbClr val="EDF3F4"/>
          </a:solidFill>
          <a:ln w="9525">
            <a:solidFill>
              <a:srgbClr val="9CC0C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8861524" y="1939528"/>
            <a:ext cx="152400" cy="152400"/>
          </a:xfrm>
          <a:prstGeom prst="roundRect">
            <a:avLst>
              <a:gd name="adj" fmla="val 6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9140875" y="1901428"/>
            <a:ext cx="15534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一边……一边……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790783" y="1944291"/>
            <a:ext cx="7072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BLUE circle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8712398" y="2355354"/>
            <a:ext cx="2920901" cy="476250"/>
          </a:xfrm>
          <a:prstGeom prst="roundRect">
            <a:avLst>
              <a:gd name="adj" fmla="val 18667"/>
            </a:avLst>
          </a:prstGeom>
          <a:solidFill>
            <a:srgbClr val="FBF1F0"/>
          </a:solidFill>
          <a:ln w="9525">
            <a:solidFill>
              <a:srgbClr val="E8B4A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8861524" y="2517279"/>
            <a:ext cx="152400" cy="152400"/>
          </a:xfrm>
          <a:prstGeom prst="roundRect">
            <a:avLst>
              <a:gd name="adj" fmla="val 60000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9140875" y="2479179"/>
            <a:ext cx="16274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Duration 时量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10863411" y="2522041"/>
            <a:ext cx="6331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RED circle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8712398" y="2933105"/>
            <a:ext cx="2920901" cy="476250"/>
          </a:xfrm>
          <a:prstGeom prst="roundRect">
            <a:avLst>
              <a:gd name="adj" fmla="val 18667"/>
            </a:avLst>
          </a:prstGeom>
          <a:solidFill>
            <a:srgbClr val="EEF6F1"/>
          </a:solidFill>
          <a:ln w="9525">
            <a:solidFill>
              <a:srgbClr val="A8CCB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8861524" y="3095030"/>
            <a:ext cx="152400" cy="152400"/>
          </a:xfrm>
          <a:prstGeom prst="roundRect">
            <a:avLst>
              <a:gd name="adj" fmla="val 600000"/>
            </a:avLst>
          </a:prstGeom>
          <a:solidFill>
            <a:srgbClr val="3A8A5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9140875" y="3056930"/>
            <a:ext cx="14577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8A5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正在……呢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10697021" y="3099792"/>
            <a:ext cx="80289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GREEN circle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8712398" y="3510855"/>
            <a:ext cx="2920901" cy="476250"/>
          </a:xfrm>
          <a:prstGeom prst="roundRect">
            <a:avLst>
              <a:gd name="adj" fmla="val 18667"/>
            </a:avLst>
          </a:prstGeom>
          <a:solidFill>
            <a:srgbClr val="F8F0DF"/>
          </a:solidFill>
          <a:ln w="9525">
            <a:solidFill>
              <a:srgbClr val="D4B56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8861524" y="3672780"/>
            <a:ext cx="152400" cy="152400"/>
          </a:xfrm>
          <a:prstGeom prst="roundRect">
            <a:avLst>
              <a:gd name="adj" fmla="val 6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9140875" y="3634680"/>
            <a:ext cx="13616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……，都……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10602813" y="3677543"/>
            <a:ext cx="89898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ORANGE circle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558701" y="6151662"/>
            <a:ext cx="3623816" cy="694432"/>
          </a:xfrm>
          <a:prstGeom prst="roundRect">
            <a:avLst>
              <a:gd name="adj" fmla="val 1280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685651" y="6253163"/>
            <a:ext cx="343731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685651" y="6424613"/>
            <a:ext cx="3437314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 paragraph above stays visible — use it as a template, swap your own hobbies in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284018" y="6151662"/>
            <a:ext cx="3623816" cy="694432"/>
          </a:xfrm>
          <a:prstGeom prst="roundRect">
            <a:avLst>
              <a:gd name="adj" fmla="val 1280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4410968" y="6253163"/>
            <a:ext cx="343731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4410968" y="6424613"/>
            <a:ext cx="3437314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7–8 sentences, use ALL 4 structures, then hide the model and write from memory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8009334" y="6151662"/>
            <a:ext cx="3623965" cy="694432"/>
          </a:xfrm>
          <a:prstGeom prst="roundRect">
            <a:avLst>
              <a:gd name="adj" fmla="val 1280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8136285" y="6253163"/>
            <a:ext cx="343746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8136285" y="6424613"/>
            <a:ext cx="343746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2–3 volunteers read their paragraph aloud — class ticks each grammar structure they hear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09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汉字·综合写作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698427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5377" y="144363"/>
            <a:ext cx="103621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31–42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727025"/>
            <a:ext cx="246242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Plenary · 课尾总结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8112" y="584150"/>
            <a:ext cx="3455938" cy="676275"/>
          </a:xfrm>
          <a:prstGeom prst="roundRect">
            <a:avLst>
              <a:gd name="adj" fmla="val 18779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501063" y="727025"/>
            <a:ext cx="2817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🏆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904238" y="717500"/>
            <a:ext cx="255699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Unit Complete!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904238" y="965150"/>
            <a:ext cx="25569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Unit 3 · 爱好 · Hobbies · All 8 Lessons Done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7950" y="1412825"/>
            <a:ext cx="5499199" cy="2435721"/>
          </a:xfrm>
          <a:prstGeom prst="roundRect">
            <a:avLst>
              <a:gd name="adj" fmla="val 5214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07975" y="1574750"/>
            <a:ext cx="52011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 REVISIT · ANNOTATE YOUR PARAGRAPH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07975" y="1819126"/>
            <a:ext cx="5099149" cy="488752"/>
          </a:xfrm>
          <a:prstGeom prst="roundRect">
            <a:avLst>
              <a:gd name="adj" fmla="val 18189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44451" y="1930152"/>
            <a:ext cx="266700" cy="266700"/>
          </a:xfrm>
          <a:prstGeom prst="roundRect">
            <a:avLst>
              <a:gd name="adj" fmla="val 19048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225451" y="1930152"/>
            <a:ext cx="4193149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write and recognise the 4 simple characters: </a:t>
            </a:r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包 止 士 豆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07975" y="2384078"/>
            <a:ext cx="5099149" cy="613172"/>
          </a:xfrm>
          <a:prstGeom prst="roundRect">
            <a:avLst>
              <a:gd name="adj" fmla="val 14498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44451" y="2495104"/>
            <a:ext cx="266700" cy="266700"/>
          </a:xfrm>
          <a:prstGeom prst="roundRect">
            <a:avLst>
              <a:gd name="adj" fmla="val 19048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225451" y="2495104"/>
            <a:ext cx="4534102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write picture captions using Lesson 7 vocabulary and grammar structures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07975" y="3073450"/>
            <a:ext cx="5099149" cy="613172"/>
          </a:xfrm>
          <a:prstGeom prst="roundRect">
            <a:avLst>
              <a:gd name="adj" fmla="val 14498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44451" y="3184475"/>
            <a:ext cx="266700" cy="266700"/>
          </a:xfrm>
          <a:prstGeom prst="roundRect">
            <a:avLst>
              <a:gd name="adj" fmla="val 19048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225451" y="3184475"/>
            <a:ext cx="4534102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write a paragraph about my hobbies using </a:t>
            </a:r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≥2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of the 4 L7 grammar structures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184850" y="1412825"/>
            <a:ext cx="5499199" cy="2435721"/>
          </a:xfrm>
          <a:prstGeom prst="roundRect">
            <a:avLst>
              <a:gd name="adj" fmla="val 5214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84875" y="1574750"/>
            <a:ext cx="52011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GRAMMAR STRUCTURES MASTERED · 已学语法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384875" y="1933426"/>
            <a:ext cx="2505075" cy="488752"/>
          </a:xfrm>
          <a:prstGeom prst="roundRect">
            <a:avLst>
              <a:gd name="adj" fmla="val 18189"/>
            </a:avLst>
          </a:prstGeom>
          <a:solidFill>
            <a:srgbClr val="EDF3F4"/>
          </a:solidFill>
          <a:ln w="9525">
            <a:solidFill>
              <a:srgbClr val="9CC0C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521351" y="2044452"/>
            <a:ext cx="2040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822877" y="2063502"/>
            <a:ext cx="13469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一边……一边……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978801" y="1933426"/>
            <a:ext cx="2505224" cy="488752"/>
          </a:xfrm>
          <a:prstGeom prst="roundRect">
            <a:avLst>
              <a:gd name="adj" fmla="val 18189"/>
            </a:avLst>
          </a:prstGeom>
          <a:solidFill>
            <a:srgbClr val="FBF1F0"/>
          </a:solidFill>
          <a:ln w="9525">
            <a:solidFill>
              <a:srgbClr val="E8B4A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9115276" y="2044452"/>
            <a:ext cx="2040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416802" y="2063502"/>
            <a:ext cx="10176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Duration 时量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384875" y="2511028"/>
            <a:ext cx="2505075" cy="488752"/>
          </a:xfrm>
          <a:prstGeom prst="roundRect">
            <a:avLst>
              <a:gd name="adj" fmla="val 18189"/>
            </a:avLst>
          </a:prstGeom>
          <a:solidFill>
            <a:srgbClr val="EEF6F1"/>
          </a:solidFill>
          <a:ln w="9525">
            <a:solidFill>
              <a:srgbClr val="A8CCB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521351" y="2622054"/>
            <a:ext cx="2040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822877" y="2641104"/>
            <a:ext cx="8419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8A5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正在……呢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978801" y="2511028"/>
            <a:ext cx="2505224" cy="488752"/>
          </a:xfrm>
          <a:prstGeom prst="roundRect">
            <a:avLst>
              <a:gd name="adj" fmla="val 18189"/>
            </a:avLst>
          </a:prstGeom>
          <a:solidFill>
            <a:srgbClr val="F8F0DF"/>
          </a:solidFill>
          <a:ln w="9525">
            <a:solidFill>
              <a:srgbClr val="D4B56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9115276" y="2622054"/>
            <a:ext cx="2040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416802" y="2641104"/>
            <a:ext cx="10102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……，都……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07950" y="4000946"/>
            <a:ext cx="5511850" cy="1453009"/>
          </a:xfrm>
          <a:prstGeom prst="roundRect">
            <a:avLst>
              <a:gd name="adj" fmla="val 8740"/>
            </a:avLst>
          </a:prstGeom>
          <a:solidFill>
            <a:srgbClr val="EDF3F4"/>
          </a:solidFill>
          <a:ln w="9525">
            <a:solidFill>
              <a:srgbClr val="9CC0C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95176" y="4150072"/>
            <a:ext cx="524014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SELF ASSESSMENT · 自我评估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95176" y="4381798"/>
            <a:ext cx="5240146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used 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out of 4 grammar structures in my paragraph.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95176" y="4640759"/>
            <a:ext cx="5240146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time I want to improve: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172200" y="4000946"/>
            <a:ext cx="5511850" cy="1453009"/>
          </a:xfrm>
          <a:prstGeom prst="roundRect">
            <a:avLst>
              <a:gd name="adj" fmla="val 8740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368951" y="4159597"/>
            <a:ext cx="522071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 · 出门票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6368951" y="4391323"/>
            <a:ext cx="5220715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</a:t>
            </a:r>
            <a:pPr algn="l" indent="0" marL="0">
              <a:lnSpc>
                <a:spcPts val="162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</a:t>
            </a:r>
            <a:pPr algn="l" indent="0" marL="0">
              <a:lnSpc>
                <a:spcPts val="162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of today's 4 characters from memory — no looking!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368951" y="4698504"/>
            <a:ext cx="596801" cy="596801"/>
          </a:xfrm>
          <a:prstGeom prst="roundRect">
            <a:avLst>
              <a:gd name="adj" fmla="val 1489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514951" y="4782592"/>
            <a:ext cx="31089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DD9A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包</a:t>
            </a:r>
            <a:endParaRPr lang="en-US" sz="2400" dirty="0"/>
          </a:p>
        </p:txBody>
      </p:sp>
      <p:sp>
        <p:nvSpPr>
          <p:cNvPr id="46" name="Text 44"/>
          <p:cNvSpPr/>
          <p:nvPr/>
        </p:nvSpPr>
        <p:spPr>
          <a:xfrm>
            <a:off x="7080052" y="4698504"/>
            <a:ext cx="596801" cy="596801"/>
          </a:xfrm>
          <a:prstGeom prst="roundRect">
            <a:avLst>
              <a:gd name="adj" fmla="val 1489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7226052" y="4782592"/>
            <a:ext cx="31089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DD9A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止</a:t>
            </a:r>
            <a:endParaRPr lang="en-US" sz="2400" dirty="0"/>
          </a:p>
        </p:txBody>
      </p:sp>
      <p:sp>
        <p:nvSpPr>
          <p:cNvPr id="48" name="Text 46"/>
          <p:cNvSpPr/>
          <p:nvPr/>
        </p:nvSpPr>
        <p:spPr>
          <a:xfrm>
            <a:off x="7791152" y="4698504"/>
            <a:ext cx="596801" cy="596801"/>
          </a:xfrm>
          <a:prstGeom prst="roundRect">
            <a:avLst>
              <a:gd name="adj" fmla="val 1489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7937153" y="4782592"/>
            <a:ext cx="31089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DD9A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士</a:t>
            </a:r>
            <a:endParaRPr lang="en-US" sz="2400" dirty="0"/>
          </a:p>
        </p:txBody>
      </p:sp>
      <p:sp>
        <p:nvSpPr>
          <p:cNvPr id="50" name="Text 48"/>
          <p:cNvSpPr/>
          <p:nvPr/>
        </p:nvSpPr>
        <p:spPr>
          <a:xfrm>
            <a:off x="8502253" y="4698504"/>
            <a:ext cx="596801" cy="596801"/>
          </a:xfrm>
          <a:prstGeom prst="roundRect">
            <a:avLst>
              <a:gd name="adj" fmla="val 1489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8648254" y="4782592"/>
            <a:ext cx="31089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DD9A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豆</a:t>
            </a:r>
            <a:endParaRPr lang="en-US" sz="2400" dirty="0"/>
          </a:p>
        </p:txBody>
      </p:sp>
      <p:sp>
        <p:nvSpPr>
          <p:cNvPr id="52" name="Shape 50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09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汉字·综合写作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698427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5377" y="144363"/>
            <a:ext cx="99022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Preview · Next Unit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293739" y="1230511"/>
            <a:ext cx="7604522" cy="501551"/>
          </a:xfrm>
          <a:prstGeom prst="roundRect">
            <a:avLst>
              <a:gd name="adj" fmla="val 25321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548021" y="1376511"/>
            <a:ext cx="709595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Unit 3 · 爱好 · Complete! You've mastered hobbies, music, art, and 4 grammar structures.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38226" y="1884462"/>
            <a:ext cx="21153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COMING UP NEXT · UNIT 4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00122" y="2122587"/>
            <a:ext cx="2191756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运动 · Sports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842095" y="2678162"/>
            <a:ext cx="250766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800"/>
              </a:spcAft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Unit 4 · Sports &amp; Exercise · 运动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49037" y="3116312"/>
            <a:ext cx="2693926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800"/>
              </a:spcAft>
              <a:buNone/>
            </a:pPr>
            <a:r>
              <a:rPr lang="en-US" sz="2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你喜欢什么运动？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222897" y="3811637"/>
            <a:ext cx="1822252" cy="1311027"/>
          </a:xfrm>
          <a:prstGeom prst="roundRect">
            <a:avLst>
              <a:gd name="adj" fmla="val 9687"/>
            </a:avLst>
          </a:prstGeom>
          <a:solidFill>
            <a:srgbClr val="F6F2E8"/>
          </a:solidFill>
          <a:ln w="9525">
            <a:solidFill>
              <a:srgbClr val="9CC0C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421603" y="3973562"/>
            <a:ext cx="142483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2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⚽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421603" y="4427488"/>
            <a:ext cx="142483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踢足球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421603" y="4662339"/>
            <a:ext cx="14248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tī zúqiú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421603" y="4817864"/>
            <a:ext cx="14248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football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197548" y="3811637"/>
            <a:ext cx="1822252" cy="1311027"/>
          </a:xfrm>
          <a:prstGeom prst="roundRect">
            <a:avLst>
              <a:gd name="adj" fmla="val 9687"/>
            </a:avLst>
          </a:prstGeom>
          <a:solidFill>
            <a:srgbClr val="F6F2E8"/>
          </a:solidFill>
          <a:ln w="9525">
            <a:solidFill>
              <a:srgbClr val="D4B56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396255" y="3973562"/>
            <a:ext cx="142483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2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🏀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396255" y="4427488"/>
            <a:ext cx="142483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打篮球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396255" y="4662339"/>
            <a:ext cx="14248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dǎ lánqiú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396255" y="4817864"/>
            <a:ext cx="14248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basketball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172200" y="3811637"/>
            <a:ext cx="1822252" cy="1311027"/>
          </a:xfrm>
          <a:prstGeom prst="roundRect">
            <a:avLst>
              <a:gd name="adj" fmla="val 9687"/>
            </a:avLst>
          </a:prstGeom>
          <a:solidFill>
            <a:srgbClr val="F6F2E8"/>
          </a:solidFill>
          <a:ln w="9525">
            <a:solidFill>
              <a:srgbClr val="E8B4A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70906" y="3973562"/>
            <a:ext cx="142483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2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🏊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370906" y="4427488"/>
            <a:ext cx="142483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70906" y="4662339"/>
            <a:ext cx="14248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yóuyǒng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370906" y="4817864"/>
            <a:ext cx="14248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swim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146852" y="3811637"/>
            <a:ext cx="1822252" cy="1311027"/>
          </a:xfrm>
          <a:prstGeom prst="roundRect">
            <a:avLst>
              <a:gd name="adj" fmla="val 9687"/>
            </a:avLst>
          </a:prstGeom>
          <a:solidFill>
            <a:srgbClr val="F6F2E8"/>
          </a:solidFill>
          <a:ln w="9525">
            <a:solidFill>
              <a:srgbClr val="D4B56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8345558" y="3973562"/>
            <a:ext cx="142483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2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🏃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8345558" y="4427488"/>
            <a:ext cx="142483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跑步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345558" y="4662339"/>
            <a:ext cx="14248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pǎobù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345558" y="4817864"/>
            <a:ext cx="14248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run / jog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3291483" y="5325814"/>
            <a:ext cx="5609034" cy="453926"/>
          </a:xfrm>
          <a:prstGeom prst="roundRect">
            <a:avLst>
              <a:gd name="adj" fmla="val 2238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494371" y="5452765"/>
            <a:ext cx="520325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New action verbs · new sport nouns · new contexts — </a:t>
            </a:r>
            <a:pPr algn="ctr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get ready to move!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2026-06-30T02:51:32Z</dcterms:created>
  <dcterms:modified xsi:type="dcterms:W3CDTF">2026-06-30T02:51:32Z</dcterms:modified>
</cp:coreProperties>
</file>