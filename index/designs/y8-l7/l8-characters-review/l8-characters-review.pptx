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2820" y="1900238"/>
            <a:ext cx="44463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FINAL LESSON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439312" y="2227213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353712" y="2227213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268112" y="2227213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82512" y="2227213"/>
            <a:ext cx="57002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468932" y="2989213"/>
            <a:ext cx="7253987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0"/>
              </a:lnSpc>
              <a:spcAft>
                <a:spcPts val="1000"/>
              </a:spcAft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综合写作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880259" y="4132213"/>
            <a:ext cx="44314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 Characters + Extended Writing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58620" y="4776639"/>
            <a:ext cx="5674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　·　50 mins　·　Reading + Writing　·　轻松学中文 Book 2 · p.65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913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3490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WHITEBOARD ROUND-UP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28526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Grammar Review · 语法复习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269802"/>
            <a:ext cx="11399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ready — 4 rounds, one per structure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615827"/>
            <a:ext cx="5524500" cy="1485602"/>
          </a:xfrm>
          <a:prstGeom prst="roundRect">
            <a:avLst>
              <a:gd name="adj" fmla="val 85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77775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3741" y="1857077"/>
            <a:ext cx="81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79327" y="1777752"/>
            <a:ext cx="46312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 · STRUCTURE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79327" y="1939677"/>
            <a:ext cx="46312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2276177"/>
            <a:ext cx="46312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any correct sentence using 一边……一边……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79327" y="2491978"/>
            <a:ext cx="46312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e.g. 我一边听音乐，一边画画儿。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79327" y="2707928"/>
            <a:ext cx="1410444" cy="231577"/>
          </a:xfrm>
          <a:prstGeom prst="roundRect">
            <a:avLst>
              <a:gd name="adj" fmla="val 547865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15802" y="2742754"/>
            <a:ext cx="11602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on whiteboard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59401" y="1615827"/>
            <a:ext cx="5524649" cy="1485602"/>
          </a:xfrm>
          <a:prstGeom prst="roundRect">
            <a:avLst>
              <a:gd name="adj" fmla="val 85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2076" y="177775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18970" y="1857077"/>
            <a:ext cx="1146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0777" y="1777752"/>
            <a:ext cx="46314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· STRUCTURE 2 · 时量补语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930777" y="1939677"/>
            <a:ext cx="46314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时量补语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0777" y="2276177"/>
            <a:ext cx="463140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Write: "He plays guitar for 45 minutes every day."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30777" y="2491978"/>
            <a:ext cx="46314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他每天弹三刻钟的吉他。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30777" y="2707928"/>
            <a:ext cx="1410444" cy="231577"/>
          </a:xfrm>
          <a:prstGeom prst="roundRect">
            <a:avLst>
              <a:gd name="adj" fmla="val 547865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067252" y="2742754"/>
            <a:ext cx="11602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on whiteboard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7950" y="3228380"/>
            <a:ext cx="5524500" cy="1485602"/>
          </a:xfrm>
          <a:prstGeom prst="roundRect">
            <a:avLst>
              <a:gd name="adj" fmla="val 85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20626" y="339030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67073" y="3469630"/>
            <a:ext cx="115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79327" y="3390305"/>
            <a:ext cx="46312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· STRUCTURE 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79327" y="3552230"/>
            <a:ext cx="46312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正在……呢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79327" y="3888730"/>
            <a:ext cx="46312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正在 sentence about someone in this room.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79327" y="4104531"/>
            <a:ext cx="46312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e.g. ＿＿正在＿＿呢。　(open answer)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79327" y="4320480"/>
            <a:ext cx="1410444" cy="231577"/>
          </a:xfrm>
          <a:prstGeom prst="roundRect">
            <a:avLst>
              <a:gd name="adj" fmla="val 547865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15802" y="4355306"/>
            <a:ext cx="11602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on whiteboard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59401" y="3228380"/>
            <a:ext cx="5524649" cy="1485602"/>
          </a:xfrm>
          <a:prstGeom prst="roundRect">
            <a:avLst>
              <a:gd name="adj" fmla="val 85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72076" y="339030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6B7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7928" y="3469630"/>
            <a:ext cx="116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30777" y="3390305"/>
            <a:ext cx="46314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都 · STRUCTURE 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30777" y="3552230"/>
            <a:ext cx="46314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……，都……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30777" y="3888730"/>
            <a:ext cx="463140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都 sentence about 2 or more hobbies.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30777" y="4104531"/>
            <a:ext cx="46314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e.g. 弹钢琴、唱歌，我都喜欢。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30777" y="4320480"/>
            <a:ext cx="1410444" cy="231577"/>
          </a:xfrm>
          <a:prstGeom prst="roundRect">
            <a:avLst>
              <a:gd name="adj" fmla="val 547865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067252" y="4355306"/>
            <a:ext cx="11602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on whiteboard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7950" y="4866382"/>
            <a:ext cx="11176099" cy="453926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31763" y="4866382"/>
            <a:ext cx="0" cy="45392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726" y="4993332"/>
            <a:ext cx="109366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You've learned a lot this unit. Today you put it all together — plus 4 new simple characters!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8895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931640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150715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2782491"/>
            <a:ext cx="10769798" cy="798016"/>
          </a:xfrm>
          <a:prstGeom prst="rect">
            <a:avLst/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4913" y="2782491"/>
            <a:ext cx="0" cy="79801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2627" y="2960191"/>
            <a:ext cx="104186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2627" y="3153817"/>
            <a:ext cx="1041865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write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 Chinese characters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consolidate all Lesson 7 language in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extended writing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101" y="3821757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1177" y="3889921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0951" y="3809107"/>
            <a:ext cx="62004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and recognise the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simple characters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包 (bāo) · 止 (zhǐ) · 士 (shì) · 豆 (dòu)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101" y="4291459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568" y="4359622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0951" y="4278809"/>
            <a:ext cx="73227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picture captions using Lesson 7 vocabulary and structures — e.g.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正在…… / 每天……的……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101" y="4761161"/>
            <a:ext cx="317450" cy="317450"/>
          </a:xfrm>
          <a:prstGeom prst="roundRect">
            <a:avLst>
              <a:gd name="adj" fmla="val 28804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9270" y="4829324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0951" y="4748510"/>
            <a:ext cx="101247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paragraph about my own hobbies using at least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of the 4 L7 grammar structures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一边……一边…… · 时量 · 正在 · 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6801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 Characters · Act. 8 (p.65)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3490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CHARACTERS TODAY · 今天学的字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828526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 Simple Characters · 四个简单的汉字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396752"/>
            <a:ext cx="2660749" cy="4419600"/>
          </a:xfrm>
          <a:prstGeom prst="roundRect">
            <a:avLst>
              <a:gd name="adj" fmla="val 5728"/>
            </a:avLst>
          </a:prstGeom>
          <a:solidFill>
            <a:srgbClr val="F8F0DF"/>
          </a:solidFill>
          <a:ln w="19050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61207" y="1618952"/>
            <a:ext cx="565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03275" y="1863328"/>
            <a:ext cx="1295501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spcAft>
                <a:spcPts val="600"/>
              </a:spcAft>
              <a:buNone/>
            </a:pPr>
            <a:r>
              <a:rPr lang="en-US" sz="10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10000" dirty="0"/>
          </a:p>
        </p:txBody>
      </p:sp>
      <p:sp>
        <p:nvSpPr>
          <p:cNvPr id="12" name="Text 10"/>
          <p:cNvSpPr/>
          <p:nvPr/>
        </p:nvSpPr>
        <p:spPr>
          <a:xfrm>
            <a:off x="1631752" y="3209479"/>
            <a:ext cx="4214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4611" y="3561904"/>
            <a:ext cx="8643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bag / wrap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7825" y="3847654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89472" y="3949154"/>
            <a:ext cx="711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2029" y="4142780"/>
            <a:ext cx="23125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Outer wrap radical 勹 + inner 已 (already)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46400" y="1396752"/>
            <a:ext cx="2660749" cy="4419600"/>
          </a:xfrm>
          <a:prstGeom prst="roundRect">
            <a:avLst>
              <a:gd name="adj" fmla="val 5728"/>
            </a:avLst>
          </a:prstGeom>
          <a:solidFill>
            <a:srgbClr val="EDF3F4"/>
          </a:solidFill>
          <a:ln w="19050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99211" y="1618952"/>
            <a:ext cx="5660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41725" y="1863328"/>
            <a:ext cx="1295501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spcAft>
                <a:spcPts val="600"/>
              </a:spcAft>
              <a:buNone/>
            </a:pPr>
            <a:r>
              <a:rPr lang="en-US" sz="10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10000" dirty="0"/>
          </a:p>
        </p:txBody>
      </p:sp>
      <p:sp>
        <p:nvSpPr>
          <p:cNvPr id="20" name="Text 18"/>
          <p:cNvSpPr/>
          <p:nvPr/>
        </p:nvSpPr>
        <p:spPr>
          <a:xfrm>
            <a:off x="4516338" y="3209479"/>
            <a:ext cx="32713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08004" y="3561904"/>
            <a:ext cx="3441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6275" y="3847654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327475" y="3949154"/>
            <a:ext cx="7124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00142" y="4142780"/>
            <a:ext cx="15532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Resembles a foot mid-step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84850" y="1396752"/>
            <a:ext cx="2660749" cy="4419600"/>
          </a:xfrm>
          <a:prstGeom prst="roundRect">
            <a:avLst>
              <a:gd name="adj" fmla="val 5728"/>
            </a:avLst>
          </a:prstGeom>
          <a:solidFill>
            <a:srgbClr val="FBF1F0"/>
          </a:solidFill>
          <a:ln w="19050">
            <a:solidFill>
              <a:srgbClr val="E8B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38107" y="1618952"/>
            <a:ext cx="565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80175" y="1863328"/>
            <a:ext cx="1295501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spcAft>
                <a:spcPts val="600"/>
              </a:spcAft>
              <a:buNone/>
            </a:pPr>
            <a:r>
              <a:rPr lang="en-US" sz="100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10000" dirty="0"/>
          </a:p>
        </p:txBody>
      </p:sp>
      <p:sp>
        <p:nvSpPr>
          <p:cNvPr id="28" name="Text 26"/>
          <p:cNvSpPr/>
          <p:nvPr/>
        </p:nvSpPr>
        <p:spPr>
          <a:xfrm>
            <a:off x="7352258" y="3209479"/>
            <a:ext cx="3323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40128" y="3561904"/>
            <a:ext cx="15811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scholar / gentleman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24725" y="3847654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66223" y="3949154"/>
            <a:ext cx="711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30963" y="4142780"/>
            <a:ext cx="17685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Like 土 but top stroke is longer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023300" y="1396752"/>
            <a:ext cx="2660749" cy="4419600"/>
          </a:xfrm>
          <a:prstGeom prst="roundRect">
            <a:avLst>
              <a:gd name="adj" fmla="val 5728"/>
            </a:avLst>
          </a:prstGeom>
          <a:solidFill>
            <a:srgbClr val="F8F0DF"/>
          </a:solidFill>
          <a:ln w="19050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78938" y="1618952"/>
            <a:ext cx="560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strokes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718625" y="1863328"/>
            <a:ext cx="1295501" cy="1269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spcAft>
                <a:spcPts val="600"/>
              </a:spcAft>
              <a:buNone/>
            </a:pPr>
            <a:r>
              <a:rPr lang="en-US" sz="10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10000" dirty="0"/>
          </a:p>
        </p:txBody>
      </p:sp>
      <p:sp>
        <p:nvSpPr>
          <p:cNvPr id="36" name="Text 34"/>
          <p:cNvSpPr/>
          <p:nvPr/>
        </p:nvSpPr>
        <p:spPr>
          <a:xfrm>
            <a:off x="10143083" y="3209479"/>
            <a:ext cx="4296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167342" y="3561904"/>
            <a:ext cx="3799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163175" y="3847654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007203" y="3949154"/>
            <a:ext cx="7066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STROKES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197379" y="4142780"/>
            <a:ext cx="23125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Top=lid · middle=container · bottom=feet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9880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 · 笔顺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60945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 GUIDE · 笔顺示意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790426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Follow the stroke order — then copy each character 5 times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282452"/>
            <a:ext cx="11176099" cy="949226"/>
          </a:xfrm>
          <a:prstGeom prst="roundRect">
            <a:avLst>
              <a:gd name="adj" fmla="val 133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741140" y="1291977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327" y="1418927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14561" y="1914227"/>
            <a:ext cx="229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3604" y="143485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34629" y="1545878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14104" y="1936403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01354" y="165229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55255" y="143485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66281" y="1545878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98130" y="1936403"/>
            <a:ext cx="194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①②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33006" y="165229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86907" y="143485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96432" y="1418927"/>
            <a:ext cx="466344" cy="508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勹巳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82157" y="1936403"/>
            <a:ext cx="291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①②③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64657" y="165229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18558" y="143485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9584" y="1545878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96842" y="1936403"/>
            <a:ext cx="3260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④⑤ ✓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393460" y="1291977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5923" y="1476226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75923" y="1657201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Seen in: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书包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(school bag)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75923" y="1866602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Rule: outer wrap 勹 </a:t>
            </a:r>
            <a:r>
              <a:rPr lang="en-US" sz="10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inner 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7950" y="2333179"/>
            <a:ext cx="11176099" cy="949226"/>
          </a:xfrm>
          <a:prstGeom prst="roundRect">
            <a:avLst>
              <a:gd name="adj" fmla="val 133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741140" y="2342704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8327" y="2469654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1040309" y="2964954"/>
            <a:ext cx="176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23604" y="2485579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034629" y="2596604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丨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114104" y="2987129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501354" y="2703016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55255" y="2485579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866281" y="2596604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卜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2898130" y="2987129"/>
            <a:ext cx="194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①②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333006" y="2703016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86907" y="2485579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697932" y="2596604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777407" y="2987129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164657" y="2703016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418558" y="2485579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529584" y="2596604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4544467" y="2987129"/>
            <a:ext cx="228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✓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393460" y="2342704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5923" y="2526953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75923" y="2707928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Seen in: </a:t>
            </a: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(to stop)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575923" y="2917329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Looks like a foot mid-step going left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7950" y="3383905"/>
            <a:ext cx="11176099" cy="949226"/>
          </a:xfrm>
          <a:prstGeom prst="roundRect">
            <a:avLst>
              <a:gd name="adj" fmla="val 133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741140" y="3393430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8327" y="352038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1039118" y="4015680"/>
            <a:ext cx="178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923604" y="3536305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2034629" y="364733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2114104" y="4037856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501354" y="3753743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755255" y="3536305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866281" y="364733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2898130" y="4037856"/>
            <a:ext cx="194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①②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333006" y="3753743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586907" y="3536305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697932" y="364733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3712815" y="4037856"/>
            <a:ext cx="228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✓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393460" y="3393430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575923" y="3577679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 (fewest!)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575923" y="3758654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Compare: </a:t>
            </a: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土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(soil) — top is </a:t>
            </a:r>
            <a:r>
              <a:rPr lang="en-US" sz="10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longer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士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575923" y="3968055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Think: a scholar stands tall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07950" y="4434632"/>
            <a:ext cx="11176099" cy="949226"/>
          </a:xfrm>
          <a:prstGeom prst="roundRect">
            <a:avLst>
              <a:gd name="adj" fmla="val 133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1741140" y="4444157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8327" y="4571107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3600" dirty="0"/>
          </a:p>
        </p:txBody>
      </p:sp>
      <p:sp>
        <p:nvSpPr>
          <p:cNvPr id="77" name="Text 75"/>
          <p:cNvSpPr/>
          <p:nvPr/>
        </p:nvSpPr>
        <p:spPr>
          <a:xfrm>
            <a:off x="1016198" y="5066407"/>
            <a:ext cx="225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923604" y="458703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2034629" y="4698057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2114104" y="5088582"/>
            <a:ext cx="971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501354" y="480447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755255" y="458703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2866281" y="4698057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</a:t>
            </a:r>
            <a:endParaRPr lang="en-US" sz="2000" dirty="0"/>
          </a:p>
        </p:txBody>
      </p:sp>
      <p:sp>
        <p:nvSpPr>
          <p:cNvPr id="84" name="Text 82"/>
          <p:cNvSpPr/>
          <p:nvPr/>
        </p:nvSpPr>
        <p:spPr>
          <a:xfrm>
            <a:off x="2849314" y="5088582"/>
            <a:ext cx="293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①—④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3333006" y="480447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586907" y="458703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697932" y="4698057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2000" dirty="0"/>
          </a:p>
        </p:txBody>
      </p:sp>
      <p:sp>
        <p:nvSpPr>
          <p:cNvPr id="88" name="Text 86"/>
          <p:cNvSpPr/>
          <p:nvPr/>
        </p:nvSpPr>
        <p:spPr>
          <a:xfrm>
            <a:off x="3680966" y="5088582"/>
            <a:ext cx="2937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①—⑥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164657" y="4804470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4418558" y="4587032"/>
            <a:ext cx="476250" cy="476250"/>
          </a:xfrm>
          <a:prstGeom prst="roundRect">
            <a:avLst>
              <a:gd name="adj" fmla="val 13333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529584" y="4698057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4544467" y="5088582"/>
            <a:ext cx="228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⑦ ✓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93460" y="4444157"/>
            <a:ext cx="0" cy="930176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75923" y="4628406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STROKES (most today)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575923" y="4809381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Think: </a:t>
            </a:r>
            <a:r>
              <a:rPr lang="en-US" sz="10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lid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container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r>
              <a:rPr lang="en-US" sz="1000" i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feet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8575923" y="5018782"/>
            <a:ext cx="297931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Seen in: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豆腐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(tofu),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豆浆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(soy milk)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07950" y="5510808"/>
            <a:ext cx="11176099" cy="403027"/>
          </a:xfrm>
          <a:prstGeom prst="roundRect">
            <a:avLst>
              <a:gd name="adj" fmla="val 25209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95176" y="5621834"/>
            <a:ext cx="53371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 Copy each character 5 times — follow stroke order · strokes stay on projector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4104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Paragraph · 示范短文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771376"/>
            <a:ext cx="877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· 示范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46175" y="609451"/>
            <a:ext cx="50672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Read, notice the structures, then write your own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950" y="1088827"/>
            <a:ext cx="7645598" cy="4460081"/>
          </a:xfrm>
          <a:prstGeom prst="roundRect">
            <a:avLst>
              <a:gd name="adj" fmla="val 2847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6351" y="1336477"/>
            <a:ext cx="7189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TEACHER'S MODEL PARAGRAPH · 老师的示范短文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6351" y="1596777"/>
            <a:ext cx="718977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我有很多爱好。我喜欢</a:t>
            </a: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听音乐，</a:t>
            </a: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画画儿。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油画儿、国画儿，我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我每天画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的画儿。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我现在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学画国画儿。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我也喜欢读书。我每天读</a:t>
            </a:r>
            <a:endParaRPr lang="en-US" sz="18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2149" y="1088827"/>
            <a:ext cx="3367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STRUCTURES · 语法结构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382149" y="1371302"/>
            <a:ext cx="3301901" cy="790426"/>
          </a:xfrm>
          <a:prstGeom prst="roundRect">
            <a:avLst>
              <a:gd name="adj" fmla="val 12854"/>
            </a:avLst>
          </a:prstGeom>
          <a:solidFill>
            <a:srgbClr val="EDF3F4"/>
          </a:solidFill>
          <a:ln w="9525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44074" y="1495127"/>
            <a:ext cx="3037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1 · 一边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544074" y="1644253"/>
            <a:ext cx="303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4074" y="1885504"/>
            <a:ext cx="30376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doing two things simultaneously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82149" y="2276029"/>
            <a:ext cx="3301901" cy="790426"/>
          </a:xfrm>
          <a:prstGeom prst="roundRect">
            <a:avLst>
              <a:gd name="adj" fmla="val 12854"/>
            </a:avLst>
          </a:prstGeom>
          <a:solidFill>
            <a:srgbClr val="FBF1F0"/>
          </a:solidFill>
          <a:ln w="9525">
            <a:solidFill>
              <a:srgbClr val="E8B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44074" y="2399854"/>
            <a:ext cx="3037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2 · DURATION · 时量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544074" y="2548979"/>
            <a:ext cx="303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 + 时量 + 的 + 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4074" y="2790230"/>
            <a:ext cx="30376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 an hour / one hour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82149" y="3180755"/>
            <a:ext cx="3301901" cy="790426"/>
          </a:xfrm>
          <a:prstGeom prst="roundRect">
            <a:avLst>
              <a:gd name="adj" fmla="val 12854"/>
            </a:avLst>
          </a:prstGeom>
          <a:solidFill>
            <a:srgbClr val="EEF6F1"/>
          </a:solidFill>
          <a:ln w="9525">
            <a:solidFill>
              <a:srgbClr val="A8CC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544074" y="3304580"/>
            <a:ext cx="3037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A8A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3 · 正在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544074" y="3453705"/>
            <a:ext cx="303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 + V + 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4074" y="3694956"/>
            <a:ext cx="30376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present continuous / right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82149" y="4085481"/>
            <a:ext cx="3301901" cy="790426"/>
          </a:xfrm>
          <a:prstGeom prst="roundRect">
            <a:avLst>
              <a:gd name="adj" fmla="val 12854"/>
            </a:avLst>
          </a:prstGeom>
          <a:solidFill>
            <a:srgbClr val="F8F0DF"/>
          </a:solidFill>
          <a:ln w="9525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544074" y="4209306"/>
            <a:ext cx="30376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STRUCTURE 4 · 都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544074" y="4358432"/>
            <a:ext cx="303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……，都……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44074" y="4599682"/>
            <a:ext cx="30376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/ all (after the list)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82149" y="4990207"/>
            <a:ext cx="3301901" cy="558701"/>
          </a:xfrm>
          <a:prstGeom prst="roundRect">
            <a:avLst>
              <a:gd name="adj" fmla="val 18185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44074" y="5088582"/>
            <a:ext cx="303761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Goal: 4–6 sentences · use at least 2 structures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811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· 理解确认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· QUICK CHECK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828526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 · 理解确认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295251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Discuss with a partner first — then whiteboards 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1653927"/>
            <a:ext cx="10769798" cy="1670298"/>
          </a:xfrm>
          <a:prstGeom prst="roundRect">
            <a:avLst>
              <a:gd name="adj" fmla="val 760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226" y="18411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2433" y="1926878"/>
            <a:ext cx="924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4127" y="1828502"/>
            <a:ext cx="9851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COUNT · 笔画数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84127" y="2025253"/>
            <a:ext cx="985182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of today's 4 characters has the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fewest strokes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(Point or write it.)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4127" y="2397323"/>
            <a:ext cx="1087934" cy="752326"/>
          </a:xfrm>
          <a:prstGeom prst="roundRect">
            <a:avLst>
              <a:gd name="adj" fmla="val 11817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06327" y="2505224"/>
            <a:ext cx="656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806327" y="2651224"/>
            <a:ext cx="6564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 (5)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99011" y="2397323"/>
            <a:ext cx="1087934" cy="752326"/>
          </a:xfrm>
          <a:prstGeom prst="roundRect">
            <a:avLst>
              <a:gd name="adj" fmla="val 11817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21211" y="2505224"/>
            <a:ext cx="656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21211" y="2651224"/>
            <a:ext cx="6564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 (4)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13895" y="2397323"/>
            <a:ext cx="1087934" cy="752326"/>
          </a:xfrm>
          <a:prstGeom prst="roundRect">
            <a:avLst>
              <a:gd name="adj" fmla="val 11817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36095" y="2505224"/>
            <a:ext cx="656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36095" y="2651224"/>
            <a:ext cx="6564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 (3)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28779" y="2397323"/>
            <a:ext cx="1087934" cy="752326"/>
          </a:xfrm>
          <a:prstGeom prst="roundRect">
            <a:avLst>
              <a:gd name="adj" fmla="val 11817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50979" y="2505224"/>
            <a:ext cx="656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450979" y="2651224"/>
            <a:ext cx="65640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 (7)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1101" y="3476625"/>
            <a:ext cx="10769798" cy="1670298"/>
          </a:xfrm>
          <a:prstGeom prst="roundRect">
            <a:avLst>
              <a:gd name="adj" fmla="val 760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9226" y="366385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13979" y="3749576"/>
            <a:ext cx="1302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84127" y="3651200"/>
            <a:ext cx="9851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VISUAL MEMORY · 形象记忆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84127" y="3847951"/>
            <a:ext cx="985182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character looks like </a:t>
            </a: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 container with a lid and feet"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84127" y="4220021"/>
            <a:ext cx="723900" cy="752326"/>
          </a:xfrm>
          <a:prstGeom prst="roundRect">
            <a:avLst>
              <a:gd name="adj" fmla="val 1228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806327" y="4327922"/>
            <a:ext cx="285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06327" y="4473922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434977" y="4220021"/>
            <a:ext cx="723900" cy="752326"/>
          </a:xfrm>
          <a:prstGeom prst="roundRect">
            <a:avLst>
              <a:gd name="adj" fmla="val 1228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657177" y="4327922"/>
            <a:ext cx="285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657177" y="4473922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285827" y="4220021"/>
            <a:ext cx="723900" cy="752326"/>
          </a:xfrm>
          <a:prstGeom prst="roundRect">
            <a:avLst>
              <a:gd name="adj" fmla="val 1228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508028" y="4327922"/>
            <a:ext cx="285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508028" y="4473922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136678" y="4220021"/>
            <a:ext cx="723900" cy="752326"/>
          </a:xfrm>
          <a:prstGeom prst="roundRect">
            <a:avLst>
              <a:gd name="adj" fmla="val 12281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58878" y="4327922"/>
            <a:ext cx="2850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358878" y="4473922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11101" y="5299323"/>
            <a:ext cx="10769798" cy="1175147"/>
          </a:xfrm>
          <a:prstGeom prst="roundRect">
            <a:avLst>
              <a:gd name="adj" fmla="val 1080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49226" y="548654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113383" y="5572274"/>
            <a:ext cx="1313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84127" y="5473898"/>
            <a:ext cx="9851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PARAGRAPH ANALYSIS · 短文分析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584127" y="5670649"/>
            <a:ext cx="985182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model paragraph, how many different grammar structures are used? Name one.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584127" y="6042720"/>
            <a:ext cx="2451497" cy="257175"/>
          </a:xfrm>
          <a:prstGeom prst="roundRect">
            <a:avLst>
              <a:gd name="adj" fmla="val 493333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746052" y="6090345"/>
            <a:ext cx="21702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 Write your answer on your whiteboard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0126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Answers · 答案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6349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· 答案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828526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 · Answers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1295251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through them together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1653927"/>
            <a:ext cx="10769798" cy="1168152"/>
          </a:xfrm>
          <a:prstGeom prst="roundRect">
            <a:avLst>
              <a:gd name="adj" fmla="val 1087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9226" y="184115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2433" y="1926878"/>
            <a:ext cx="924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84127" y="1828502"/>
            <a:ext cx="9851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character has the fewest strokes?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84127" y="2139553"/>
            <a:ext cx="51826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269927" y="2155031"/>
            <a:ext cx="2316388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士 (shì)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only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69927" y="2450902"/>
            <a:ext cx="23163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包=5 · 止=4 · 士=3 · 豆=7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5546" y="2274391"/>
            <a:ext cx="515392" cy="238125"/>
          </a:xfrm>
          <a:prstGeom prst="roundRect">
            <a:avLst>
              <a:gd name="adj" fmla="val 5328000"/>
            </a:avLst>
          </a:prstGeom>
          <a:solidFill>
            <a:srgbClr val="EEF6F1"/>
          </a:solidFill>
          <a:ln w="9525">
            <a:solidFill>
              <a:srgbClr val="A8CC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07471" y="2322016"/>
            <a:ext cx="1953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8A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1101" y="2974479"/>
            <a:ext cx="10769798" cy="1168152"/>
          </a:xfrm>
          <a:prstGeom prst="roundRect">
            <a:avLst>
              <a:gd name="adj" fmla="val 1087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9226" y="316170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13979" y="3247430"/>
            <a:ext cx="1302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84127" y="3149054"/>
            <a:ext cx="9851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character looks like "a container with a lid and feet"?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84127" y="3460105"/>
            <a:ext cx="518261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269927" y="3585121"/>
            <a:ext cx="4622605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豆 (dòu)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top=lid, middle=container, bottom=feet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06543" y="3594943"/>
            <a:ext cx="513904" cy="238125"/>
          </a:xfrm>
          <a:prstGeom prst="roundRect">
            <a:avLst>
              <a:gd name="adj" fmla="val 5328000"/>
            </a:avLst>
          </a:prstGeom>
          <a:solidFill>
            <a:srgbClr val="EEF6F1"/>
          </a:solidFill>
          <a:ln w="9525">
            <a:solidFill>
              <a:srgbClr val="A8CC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68468" y="3642568"/>
            <a:ext cx="1938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8A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1101" y="4295031"/>
            <a:ext cx="10769798" cy="1336774"/>
          </a:xfrm>
          <a:prstGeom prst="roundRect">
            <a:avLst>
              <a:gd name="adj" fmla="val 950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9226" y="448225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13383" y="4567982"/>
            <a:ext cx="1313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84127" y="4469606"/>
            <a:ext cx="98518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grammar structures in the model paragraph? Name one.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84127" y="4780657"/>
            <a:ext cx="9851821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structures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all four L7 patterns!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84127" y="5101828"/>
            <a:ext cx="1625352" cy="355402"/>
          </a:xfrm>
          <a:prstGeom prst="roundRect">
            <a:avLst>
              <a:gd name="adj" fmla="val 25014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736527" y="5165229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10979" y="5101828"/>
            <a:ext cx="2512219" cy="355402"/>
          </a:xfrm>
          <a:prstGeom prst="roundRect">
            <a:avLst>
              <a:gd name="adj" fmla="val 25014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63379" y="5165229"/>
            <a:ext cx="2251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 / 一个小时 (duration)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24699" y="5101828"/>
            <a:ext cx="635050" cy="355402"/>
          </a:xfrm>
          <a:prstGeom prst="roundRect">
            <a:avLst>
              <a:gd name="adj" fmla="val 25014"/>
            </a:avLst>
          </a:prstGeom>
          <a:solidFill>
            <a:srgbClr val="EEF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7099" y="5165229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61249" y="5101828"/>
            <a:ext cx="469999" cy="355402"/>
          </a:xfrm>
          <a:prstGeom prst="roundRect">
            <a:avLst>
              <a:gd name="adj" fmla="val 25014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13649" y="5165229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20759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Character Writing · 8–16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82526"/>
            <a:ext cx="1026616" cy="244376"/>
          </a:xfrm>
          <a:prstGeom prst="roundRect">
            <a:avLst>
              <a:gd name="adj" fmla="val 519171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33276"/>
            <a:ext cx="6846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717" y="609451"/>
            <a:ext cx="394327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Character Writing · Act. 8 (p.65)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101477"/>
            <a:ext cx="802035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161752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036" y="1125289"/>
            <a:ext cx="1243013" cy="244376"/>
          </a:xfrm>
          <a:prstGeom prst="roundRect">
            <a:avLst>
              <a:gd name="adj" fmla="val 5191713"/>
            </a:avLst>
          </a:prstGeom>
          <a:solidFill>
            <a:srgbClr val="ED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4636" y="1176040"/>
            <a:ext cx="983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545878"/>
            <a:ext cx="5435650" cy="2922687"/>
          </a:xfrm>
          <a:prstGeom prst="roundRect">
            <a:avLst>
              <a:gd name="adj" fmla="val 434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626" y="1707803"/>
            <a:ext cx="2505075" cy="1248668"/>
          </a:xfrm>
          <a:prstGeom prst="roundRect">
            <a:avLst>
              <a:gd name="adj" fmla="val 712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101" y="2103537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428601" y="1944886"/>
            <a:ext cx="16938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bāo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28601" y="2119461"/>
            <a:ext cx="16938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bag / wrap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28601" y="2325737"/>
            <a:ext cx="1693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28601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88902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49202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09502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69803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27202" y="1707803"/>
            <a:ext cx="2505224" cy="1248668"/>
          </a:xfrm>
          <a:prstGeom prst="roundRect">
            <a:avLst>
              <a:gd name="adj" fmla="val 712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63677" y="2103537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035177" y="1944886"/>
            <a:ext cx="1693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35177" y="2119461"/>
            <a:ext cx="1693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35177" y="2325737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STROKES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35177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95477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55778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16078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76379" y="2497187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0626" y="3057971"/>
            <a:ext cx="2505075" cy="1248668"/>
          </a:xfrm>
          <a:prstGeom prst="roundRect">
            <a:avLst>
              <a:gd name="adj" fmla="val 712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57101" y="3453705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1428601" y="3295055"/>
            <a:ext cx="16938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28601" y="3469630"/>
            <a:ext cx="16938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scholar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28601" y="3675906"/>
            <a:ext cx="1693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STROKES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428601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688902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949202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209502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469803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327202" y="3057971"/>
            <a:ext cx="2505224" cy="1248668"/>
          </a:xfrm>
          <a:prstGeom prst="roundRect">
            <a:avLst>
              <a:gd name="adj" fmla="val 712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463677" y="3453705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4035177" y="3295055"/>
            <a:ext cx="1693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dòu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35177" y="3469630"/>
            <a:ext cx="16939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035177" y="3675906"/>
            <a:ext cx="1693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STROKES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035177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295477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555778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16078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076379" y="3847356"/>
            <a:ext cx="222200" cy="222200"/>
          </a:xfrm>
          <a:prstGeom prst="roundRect">
            <a:avLst>
              <a:gd name="adj" fmla="val 17147"/>
            </a:avLst>
          </a:prstGeom>
          <a:solidFill>
            <a:srgbClr val="F6F2E8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97501" y="1545878"/>
            <a:ext cx="5435798" cy="1342132"/>
          </a:xfrm>
          <a:prstGeom prst="roundRect">
            <a:avLst>
              <a:gd name="adj" fmla="val 946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410176" y="1707803"/>
            <a:ext cx="51106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 · 说明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10176" y="1984028"/>
            <a:ext cx="5010448" cy="67865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each character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times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following stroke order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and English meaning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to each character</a:t>
            </a:r>
            <a:endParaRPr lang="en-US" sz="1000" dirty="0"/>
          </a:p>
          <a:p>
            <a:pPr algn="l" marL="88900" indent="-88900">
              <a:lnSpc>
                <a:spcPts val="145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stroke order — the guide stays on the projector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97501" y="3014960"/>
            <a:ext cx="5435798" cy="1453604"/>
          </a:xfrm>
          <a:prstGeom prst="roundRect">
            <a:avLst>
              <a:gd name="adj" fmla="val 7863"/>
            </a:avLst>
          </a:prstGeom>
          <a:solidFill>
            <a:srgbClr val="ED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384727" y="3151436"/>
            <a:ext cx="51625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CHECK · 4 ROUNDS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84727" y="3383161"/>
            <a:ext cx="1409998" cy="317302"/>
          </a:xfrm>
          <a:prstGeom prst="roundRect">
            <a:avLst>
              <a:gd name="adj" fmla="val 28017"/>
            </a:avLst>
          </a:prstGeom>
          <a:solidFill>
            <a:srgbClr val="FEFCF7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521202" y="3456087"/>
            <a:ext cx="1159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"bag/wrap" → 包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70924" y="3383161"/>
            <a:ext cx="1107579" cy="317302"/>
          </a:xfrm>
          <a:prstGeom prst="roundRect">
            <a:avLst>
              <a:gd name="adj" fmla="val 28017"/>
            </a:avLst>
          </a:prstGeom>
          <a:solidFill>
            <a:srgbClr val="FEFCF7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007400" y="3456087"/>
            <a:ext cx="8513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"stop" → 止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054703" y="3383161"/>
            <a:ext cx="1276796" cy="317302"/>
          </a:xfrm>
          <a:prstGeom prst="roundRect">
            <a:avLst>
              <a:gd name="adj" fmla="val 28017"/>
            </a:avLst>
          </a:prstGeom>
          <a:solidFill>
            <a:srgbClr val="FEFCF7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191179" y="3456087"/>
            <a:ext cx="10239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"scholar" → 士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84727" y="3776662"/>
            <a:ext cx="1134070" cy="317302"/>
          </a:xfrm>
          <a:prstGeom prst="roundRect">
            <a:avLst>
              <a:gd name="adj" fmla="val 28017"/>
            </a:avLst>
          </a:prstGeom>
          <a:solidFill>
            <a:srgbClr val="FEFCF7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521202" y="3849588"/>
            <a:ext cx="8783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"bean" → 豆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84727" y="4170164"/>
            <a:ext cx="51625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meaning in English → students write Chinese character from memory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58701" y="4620964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85651" y="4722465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85651" y="4893915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 stays on projector — glance at slide 05 if unsure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284018" y="4620964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410968" y="4722465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410968" y="4893915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each character in a phrase or sentence (e.g. 我的书包、停止跑步)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009334" y="4620964"/>
            <a:ext cx="3623965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136285" y="4722465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136285" y="4893915"/>
            <a:ext cx="34374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hold-up — teacher sees every student's answer in every round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24483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Picture Caption Writing · 16–23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57225"/>
            <a:ext cx="1045071" cy="244376"/>
          </a:xfrm>
          <a:prstGeom prst="roundRect">
            <a:avLst>
              <a:gd name="adj" fmla="val 519171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07975"/>
            <a:ext cx="703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56172" y="584150"/>
            <a:ext cx="404043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Picture Caption Writing · Act. 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63526"/>
            <a:ext cx="795784" cy="292001"/>
          </a:xfrm>
          <a:prstGeom prst="roundRect">
            <a:avLst>
              <a:gd name="adj" fmla="val 4344951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123801"/>
            <a:ext cx="455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8785" y="1087338"/>
            <a:ext cx="1243013" cy="244376"/>
          </a:xfrm>
          <a:prstGeom prst="roundRect">
            <a:avLst>
              <a:gd name="adj" fmla="val 5191713"/>
            </a:avLst>
          </a:prstGeom>
          <a:solidFill>
            <a:srgbClr val="F8F0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08386" y="1138089"/>
            <a:ext cx="983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482477"/>
            <a:ext cx="790873" cy="238125"/>
          </a:xfrm>
          <a:prstGeom prst="roundRect">
            <a:avLst>
              <a:gd name="adj" fmla="val 5328000"/>
            </a:avLst>
          </a:prstGeom>
          <a:solidFill>
            <a:srgbClr val="F8F0DF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626" y="1530102"/>
            <a:ext cx="476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Minimum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451074" y="1511052"/>
            <a:ext cx="90666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caption for each picture — use at least one grammar structure across the 4 captions · Include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正在 sentence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&amp; </a:t>
            </a: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喜欢 sentence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8701" y="1847552"/>
            <a:ext cx="2673400" cy="1956197"/>
          </a:xfrm>
          <a:prstGeom prst="roundRect">
            <a:avLst>
              <a:gd name="adj" fmla="val 58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1026" y="19840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38176" y="2012603"/>
            <a:ext cx="116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66726" y="2276029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🎨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91144" y="2796629"/>
            <a:ext cx="1208365" cy="36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画画儿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painting / drawing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2526" y="3410248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526" y="3670399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9051" y="1847552"/>
            <a:ext cx="2673400" cy="1956197"/>
          </a:xfrm>
          <a:prstGeom prst="roundRect">
            <a:avLst>
              <a:gd name="adj" fmla="val 58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81376" y="19840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38526" y="2012603"/>
            <a:ext cx="116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67076" y="2276029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📚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450056" y="2796629"/>
            <a:ext cx="491240" cy="36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读书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82876" y="3410248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2876" y="3670399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9401" y="1847552"/>
            <a:ext cx="2673400" cy="1956197"/>
          </a:xfrm>
          <a:prstGeom prst="roundRect">
            <a:avLst>
              <a:gd name="adj" fmla="val 58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81726" y="19840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38876" y="2012603"/>
            <a:ext cx="116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38826" y="2276029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🎸🎤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980648" y="2796629"/>
            <a:ext cx="1030906" cy="36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弹吉他 + 唱歌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guitar + singing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83226" y="3410248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3226" y="3670399"/>
            <a:ext cx="242575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59751" y="1847552"/>
            <a:ext cx="2673548" cy="1956197"/>
          </a:xfrm>
          <a:prstGeom prst="roundRect">
            <a:avLst>
              <a:gd name="adj" fmla="val 584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182225" y="19840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239375" y="2012603"/>
            <a:ext cx="1165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67925" y="2276029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📺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891512" y="2796629"/>
            <a:ext cx="809878" cy="36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看电视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watching TV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83576" y="3410248"/>
            <a:ext cx="2425898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83576" y="3670399"/>
            <a:ext cx="2425898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8701" y="3930700"/>
            <a:ext cx="11074598" cy="54917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82513" y="3930700"/>
            <a:ext cx="0" cy="54917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027" y="4138613"/>
            <a:ext cx="11537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169021" y="4045000"/>
            <a:ext cx="1390352" cy="320576"/>
          </a:xfrm>
          <a:prstGeom prst="roundRect">
            <a:avLst>
              <a:gd name="adj" fmla="val 1980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305496" y="4105275"/>
            <a:ext cx="1139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呢。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86324" y="4045000"/>
            <a:ext cx="1250752" cy="320576"/>
          </a:xfrm>
          <a:prstGeom prst="roundRect">
            <a:avLst>
              <a:gd name="adj" fmla="val 1980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822799" y="4105275"/>
            <a:ext cx="9973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64026" y="4045000"/>
            <a:ext cx="1390650" cy="320576"/>
          </a:xfrm>
          <a:prstGeom prst="roundRect">
            <a:avLst>
              <a:gd name="adj" fmla="val 1980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200501" y="4105275"/>
            <a:ext cx="1140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81626" y="4045000"/>
            <a:ext cx="1530251" cy="320576"/>
          </a:xfrm>
          <a:prstGeom prst="roundRect">
            <a:avLst>
              <a:gd name="adj" fmla="val 1980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718102" y="4105275"/>
            <a:ext cx="1282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，他都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58701" y="4594175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5651" y="4695676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85651" y="4867126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frames above stay visible — choose which frame fits each picture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84018" y="4594175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410968" y="4695676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410968" y="4867126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 sentences per picture: one 正在 (right now) + one habitual sentence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09334" y="4594175"/>
            <a:ext cx="3623965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136285" y="4695676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136285" y="4867126"/>
            <a:ext cx="3437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students read their caption aloud for picture ① or ③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2412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My Hobbies Paragraph · 23–31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657225"/>
            <a:ext cx="1045518" cy="244376"/>
          </a:xfrm>
          <a:prstGeom prst="roundRect">
            <a:avLst>
              <a:gd name="adj" fmla="val 519171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402" y="707975"/>
            <a:ext cx="703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56618" y="584150"/>
            <a:ext cx="429971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My Hobbies Paragraph · 我的爱好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8701" y="1063526"/>
            <a:ext cx="802035" cy="292001"/>
          </a:xfrm>
          <a:prstGeom prst="roundRect">
            <a:avLst>
              <a:gd name="adj" fmla="val 4344951"/>
            </a:avLst>
          </a:prstGeom>
          <a:solidFill>
            <a:srgbClr val="FBF1F0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3276" y="1123801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036" y="1087338"/>
            <a:ext cx="706785" cy="244376"/>
          </a:xfrm>
          <a:prstGeom prst="roundRect">
            <a:avLst>
              <a:gd name="adj" fmla="val 5191713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4636" y="1138089"/>
            <a:ext cx="4361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1507927"/>
            <a:ext cx="7950547" cy="3167955"/>
          </a:xfrm>
          <a:prstGeom prst="roundRect">
            <a:avLst>
              <a:gd name="adj" fmla="val 400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8726" y="1669852"/>
            <a:ext cx="7701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REQUIREMENTS · 要求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8726" y="1914227"/>
            <a:ext cx="7550497" cy="463451"/>
          </a:xfrm>
          <a:prstGeom prst="roundRect">
            <a:avLst>
              <a:gd name="adj" fmla="val 19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5201" y="2012603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9526" y="2051596"/>
            <a:ext cx="2823112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4–6 sentences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your own hobbies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726" y="2453878"/>
            <a:ext cx="7550497" cy="463451"/>
          </a:xfrm>
          <a:prstGeom prst="roundRect">
            <a:avLst>
              <a:gd name="adj" fmla="val 19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5201" y="2552254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9526" y="2591246"/>
            <a:ext cx="275555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</a:t>
            </a: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≥2 of the 4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L7 grammar structures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726" y="2993529"/>
            <a:ext cx="7550497" cy="463451"/>
          </a:xfrm>
          <a:prstGeom prst="roundRect">
            <a:avLst>
              <a:gd name="adj" fmla="val 19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95201" y="3091904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9526" y="3130897"/>
            <a:ext cx="2958673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</a:t>
            </a: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≥4 different hobby vocabulary words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726" y="3533180"/>
            <a:ext cx="7550497" cy="463451"/>
          </a:xfrm>
          <a:prstGeom prst="roundRect">
            <a:avLst>
              <a:gd name="adj" fmla="val 19182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5201" y="3631555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🏷️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9526" y="3670548"/>
            <a:ext cx="3901836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Label structures in margin: circle each one in its colour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726" y="4098131"/>
            <a:ext cx="7550497" cy="415826"/>
          </a:xfrm>
          <a:prstGeom prst="roundRect">
            <a:avLst>
              <a:gd name="adj" fmla="val 21379"/>
            </a:avLst>
          </a:prstGeom>
          <a:solidFill>
            <a:srgbClr val="FBF1F0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58100" y="4206032"/>
            <a:ext cx="7351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pinyin — characters only!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8701" y="4802832"/>
            <a:ext cx="7950547" cy="1221879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82513" y="4802832"/>
            <a:ext cx="0" cy="1221879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027" y="4917132"/>
            <a:ext cx="76984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(REFERENCE)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4027" y="5113883"/>
            <a:ext cx="7698471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我有很多爱好。我喜欢</a:t>
            </a: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听音乐，</a:t>
            </a: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画画儿。</a:t>
            </a:r>
            <a:endParaRPr lang="en-US" sz="1100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油画儿、国画儿，我</a:t>
            </a:r>
            <a:endParaRPr lang="en-US" sz="1100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喜欢画。我每天画</a:t>
            </a: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的画儿。</a:t>
            </a:r>
            <a:endParaRPr lang="en-US" sz="1100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我现在</a:t>
            </a:r>
            <a:endParaRPr lang="en-US" sz="1100" dirty="0"/>
          </a:p>
          <a:p>
            <a:pPr algn="l" indent="0" marL="0">
              <a:lnSpc>
                <a:spcPts val="2090"/>
              </a:lnSpc>
              <a:buNone/>
            </a:pPr>
            <a:r>
              <a:rPr lang="en-US" sz="11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学画国画儿。我每天读</a:t>
            </a: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</a:t>
            </a:r>
            <a:r>
              <a:rPr lang="en-US" sz="11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的书。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12398" y="1507927"/>
            <a:ext cx="297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LABEL KEY · 语法标注颜色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712398" y="1777603"/>
            <a:ext cx="2920901" cy="476250"/>
          </a:xfrm>
          <a:prstGeom prst="roundRect">
            <a:avLst>
              <a:gd name="adj" fmla="val 18667"/>
            </a:avLst>
          </a:prstGeom>
          <a:solidFill>
            <a:srgbClr val="EDF3F4"/>
          </a:solidFill>
          <a:ln w="9525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861524" y="193952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140875" y="1901428"/>
            <a:ext cx="1553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90783" y="1944291"/>
            <a:ext cx="707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BLUE circle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712398" y="2355354"/>
            <a:ext cx="2920901" cy="476250"/>
          </a:xfrm>
          <a:prstGeom prst="roundRect">
            <a:avLst>
              <a:gd name="adj" fmla="val 18667"/>
            </a:avLst>
          </a:prstGeom>
          <a:solidFill>
            <a:srgbClr val="FBF1F0"/>
          </a:solidFill>
          <a:ln w="9525">
            <a:solidFill>
              <a:srgbClr val="E8B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861524" y="251727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140875" y="2479179"/>
            <a:ext cx="1627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Duration 时量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863411" y="2522041"/>
            <a:ext cx="6331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 circle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712398" y="2933105"/>
            <a:ext cx="2920901" cy="476250"/>
          </a:xfrm>
          <a:prstGeom prst="roundRect">
            <a:avLst>
              <a:gd name="adj" fmla="val 18667"/>
            </a:avLst>
          </a:prstGeom>
          <a:solidFill>
            <a:srgbClr val="EEF6F1"/>
          </a:solidFill>
          <a:ln w="9525">
            <a:solidFill>
              <a:srgbClr val="A8CC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861524" y="309503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3A8A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140875" y="3056930"/>
            <a:ext cx="1457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正在……呢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7021" y="3099792"/>
            <a:ext cx="8028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 circle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712398" y="3510855"/>
            <a:ext cx="2920901" cy="476250"/>
          </a:xfrm>
          <a:prstGeom prst="roundRect">
            <a:avLst>
              <a:gd name="adj" fmla="val 18667"/>
            </a:avLst>
          </a:prstGeom>
          <a:solidFill>
            <a:srgbClr val="F8F0DF"/>
          </a:solidFill>
          <a:ln w="9525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861524" y="367278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140875" y="3634680"/>
            <a:ext cx="136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……，都……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602813" y="3677543"/>
            <a:ext cx="898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ORANGE circle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8701" y="6151662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5651" y="6253163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85651" y="6424613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paragraph above stays visible — use it as a template, swap your own hobbies 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84018" y="6151662"/>
            <a:ext cx="3623816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410968" y="6253163"/>
            <a:ext cx="3437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410968" y="6424613"/>
            <a:ext cx="34373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7–8 sentences, use ALL 4 structures, then hide the model and write from memory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09334" y="6151662"/>
            <a:ext cx="3623965" cy="694432"/>
          </a:xfrm>
          <a:prstGeom prst="roundRect">
            <a:avLst>
              <a:gd name="adj" fmla="val 1280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136285" y="6253163"/>
            <a:ext cx="3437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136285" y="6424613"/>
            <a:ext cx="34374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volunteers read their paragraph aloud — class ticks each grammar structure they hear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103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31–42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727025"/>
            <a:ext cx="246242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Plenary · 课尾总结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8112" y="584150"/>
            <a:ext cx="3455938" cy="676275"/>
          </a:xfrm>
          <a:prstGeom prst="roundRect">
            <a:avLst>
              <a:gd name="adj" fmla="val 18779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01063" y="727025"/>
            <a:ext cx="28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04238" y="717500"/>
            <a:ext cx="255699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Complete!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04238" y="965150"/>
            <a:ext cx="2556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爱好 · Hobbies · All 8 Lessons Done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1412825"/>
            <a:ext cx="5499199" cy="2435721"/>
          </a:xfrm>
          <a:prstGeom prst="roundRect">
            <a:avLst>
              <a:gd name="adj" fmla="val 521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7975" y="1574750"/>
            <a:ext cx="5201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 REVISIT · ANNOTATE YOUR PARAGRAPH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7975" y="1819126"/>
            <a:ext cx="5099149" cy="488752"/>
          </a:xfrm>
          <a:prstGeom prst="roundRect">
            <a:avLst>
              <a:gd name="adj" fmla="val 1818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4451" y="1930152"/>
            <a:ext cx="266700" cy="266700"/>
          </a:xfrm>
          <a:prstGeom prst="roundRect">
            <a:avLst>
              <a:gd name="adj" fmla="val 19048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25451" y="1930152"/>
            <a:ext cx="419314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and recognise the 4 simple characters: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包 止 士 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7975" y="2384078"/>
            <a:ext cx="5099149" cy="613172"/>
          </a:xfrm>
          <a:prstGeom prst="roundRect">
            <a:avLst>
              <a:gd name="adj" fmla="val 14498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44451" y="2495104"/>
            <a:ext cx="266700" cy="266700"/>
          </a:xfrm>
          <a:prstGeom prst="roundRect">
            <a:avLst>
              <a:gd name="adj" fmla="val 19048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25451" y="2495104"/>
            <a:ext cx="453410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picture captions using Lesson 7 vocabulary and grammar structures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7975" y="3073450"/>
            <a:ext cx="5099149" cy="613172"/>
          </a:xfrm>
          <a:prstGeom prst="roundRect">
            <a:avLst>
              <a:gd name="adj" fmla="val 14498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44451" y="3184475"/>
            <a:ext cx="266700" cy="266700"/>
          </a:xfrm>
          <a:prstGeom prst="roundRect">
            <a:avLst>
              <a:gd name="adj" fmla="val 19048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5451" y="3184475"/>
            <a:ext cx="453410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paragraph about my hobbies using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≥2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the 4 L7 grammar structures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4850" y="1412825"/>
            <a:ext cx="5499199" cy="2435721"/>
          </a:xfrm>
          <a:prstGeom prst="roundRect">
            <a:avLst>
              <a:gd name="adj" fmla="val 521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4875" y="1574750"/>
            <a:ext cx="52011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GRAMMAR STRUCTURES MASTERED · 已学语法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84875" y="1933426"/>
            <a:ext cx="2505075" cy="488752"/>
          </a:xfrm>
          <a:prstGeom prst="roundRect">
            <a:avLst>
              <a:gd name="adj" fmla="val 18189"/>
            </a:avLst>
          </a:prstGeom>
          <a:solidFill>
            <a:srgbClr val="EDF3F4"/>
          </a:solidFill>
          <a:ln w="9525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21351" y="2044452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22877" y="2063502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一边……一边……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78801" y="1933426"/>
            <a:ext cx="2505224" cy="488752"/>
          </a:xfrm>
          <a:prstGeom prst="roundRect">
            <a:avLst>
              <a:gd name="adj" fmla="val 18189"/>
            </a:avLst>
          </a:prstGeom>
          <a:solidFill>
            <a:srgbClr val="FBF1F0"/>
          </a:solidFill>
          <a:ln w="9525">
            <a:solidFill>
              <a:srgbClr val="E8B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115276" y="2044452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6802" y="2063502"/>
            <a:ext cx="1017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Duration 时量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84875" y="2511028"/>
            <a:ext cx="2505075" cy="488752"/>
          </a:xfrm>
          <a:prstGeom prst="roundRect">
            <a:avLst>
              <a:gd name="adj" fmla="val 18189"/>
            </a:avLst>
          </a:prstGeom>
          <a:solidFill>
            <a:srgbClr val="EEF6F1"/>
          </a:solidFill>
          <a:ln w="9525">
            <a:solidFill>
              <a:srgbClr val="A8CC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21351" y="2622054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22877" y="2641104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8A5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正在……呢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78801" y="2511028"/>
            <a:ext cx="2505224" cy="488752"/>
          </a:xfrm>
          <a:prstGeom prst="roundRect">
            <a:avLst>
              <a:gd name="adj" fmla="val 18189"/>
            </a:avLst>
          </a:prstGeom>
          <a:solidFill>
            <a:srgbClr val="F8F0DF"/>
          </a:solidFill>
          <a:ln w="9525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115276" y="2622054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16802" y="2641104"/>
            <a:ext cx="101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……，都……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7950" y="4000946"/>
            <a:ext cx="5511850" cy="1453009"/>
          </a:xfrm>
          <a:prstGeom prst="roundRect">
            <a:avLst>
              <a:gd name="adj" fmla="val 8740"/>
            </a:avLst>
          </a:prstGeom>
          <a:solidFill>
            <a:srgbClr val="EDF3F4"/>
          </a:solidFill>
          <a:ln w="9525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5176" y="4150072"/>
            <a:ext cx="5240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 ASSESSMENT · 自我评估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5176" y="4381798"/>
            <a:ext cx="524014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used </a:t>
            </a: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out of 4 grammar structures in my paragraph.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5176" y="4640759"/>
            <a:ext cx="524014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time I want to improve: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4000946"/>
            <a:ext cx="5511850" cy="1453009"/>
          </a:xfrm>
          <a:prstGeom prst="roundRect">
            <a:avLst>
              <a:gd name="adj" fmla="val 8740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68951" y="4159597"/>
            <a:ext cx="52207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出门票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68951" y="4391323"/>
            <a:ext cx="522071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today's 4 characters from memory — no looking!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68951" y="4698504"/>
            <a:ext cx="596801" cy="596801"/>
          </a:xfrm>
          <a:prstGeom prst="roundRect">
            <a:avLst>
              <a:gd name="adj" fmla="val 1489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14951" y="4782592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D9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080052" y="4698504"/>
            <a:ext cx="596801" cy="596801"/>
          </a:xfrm>
          <a:prstGeom prst="roundRect">
            <a:avLst>
              <a:gd name="adj" fmla="val 1489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26052" y="4782592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D9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止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791152" y="4698504"/>
            <a:ext cx="596801" cy="596801"/>
          </a:xfrm>
          <a:prstGeom prst="roundRect">
            <a:avLst>
              <a:gd name="adj" fmla="val 1489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937153" y="4782592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D9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8502253" y="4698504"/>
            <a:ext cx="596801" cy="596801"/>
          </a:xfrm>
          <a:prstGeom prst="roundRect">
            <a:avLst>
              <a:gd name="adj" fmla="val 1489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648254" y="4782592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DD9A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10977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汉字·综合写作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427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5377" y="144363"/>
            <a:ext cx="9902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Unit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93739" y="1230511"/>
            <a:ext cx="7604522" cy="501551"/>
          </a:xfrm>
          <a:prstGeom prst="roundRect">
            <a:avLst>
              <a:gd name="adj" fmla="val 25321"/>
            </a:avLst>
          </a:prstGeom>
          <a:solidFill>
            <a:srgbClr val="F8F0D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48021" y="1376511"/>
            <a:ext cx="70959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3 · 爱好 · Complete! You've mastered hobbies, music, art, and 4 grammar structures.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38226" y="1884462"/>
            <a:ext cx="21153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UNIT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00122" y="2122587"/>
            <a:ext cx="219175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 · Sports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2095" y="2678162"/>
            <a:ext cx="2507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 4 · Sports &amp; Exercise · 运动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49037" y="3116312"/>
            <a:ext cx="269392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2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你喜欢什么运动？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22897" y="3811637"/>
            <a:ext cx="1822252" cy="1311027"/>
          </a:xfrm>
          <a:prstGeom prst="roundRect">
            <a:avLst>
              <a:gd name="adj" fmla="val 9687"/>
            </a:avLst>
          </a:prstGeom>
          <a:solidFill>
            <a:srgbClr val="F6F2E8"/>
          </a:solidFill>
          <a:ln w="9525">
            <a:solidFill>
              <a:srgbClr val="9CC0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21603" y="3973562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⚽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1603" y="442748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踢足球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1603" y="46623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tī zúqiú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21603" y="481786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football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548" y="3811637"/>
            <a:ext cx="1822252" cy="1311027"/>
          </a:xfrm>
          <a:prstGeom prst="roundRect">
            <a:avLst>
              <a:gd name="adj" fmla="val 9687"/>
            </a:avLst>
          </a:prstGeom>
          <a:solidFill>
            <a:srgbClr val="F6F2E8"/>
          </a:solidFill>
          <a:ln w="9525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96255" y="3973562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96255" y="442748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96255" y="46623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96255" y="481786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2200" y="3811637"/>
            <a:ext cx="1822252" cy="1311027"/>
          </a:xfrm>
          <a:prstGeom prst="roundRect">
            <a:avLst>
              <a:gd name="adj" fmla="val 9687"/>
            </a:avLst>
          </a:prstGeom>
          <a:solidFill>
            <a:srgbClr val="F6F2E8"/>
          </a:solidFill>
          <a:ln w="9525">
            <a:solidFill>
              <a:srgbClr val="E8B4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0906" y="3973562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70906" y="442748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70906" y="46623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70906" y="481786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46852" y="3811637"/>
            <a:ext cx="1822252" cy="1311027"/>
          </a:xfrm>
          <a:prstGeom prst="roundRect">
            <a:avLst>
              <a:gd name="adj" fmla="val 9687"/>
            </a:avLst>
          </a:prstGeom>
          <a:solidFill>
            <a:srgbClr val="F6F2E8"/>
          </a:solidFill>
          <a:ln w="9525">
            <a:solidFill>
              <a:srgbClr val="D4B5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345558" y="3973562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45558" y="4427488"/>
            <a:ext cx="14248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45558" y="46623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pǎobù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45558" y="481786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/ jog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483" y="5325814"/>
            <a:ext cx="5609034" cy="453926"/>
          </a:xfrm>
          <a:prstGeom prst="roundRect">
            <a:avLst>
              <a:gd name="adj" fmla="val 2238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94371" y="5452765"/>
            <a:ext cx="52032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action verbs · new sport nouns · new contexts —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ready to move!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6338"/>
            <a:ext cx="14878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2026-06-30T02:51:32Z</dcterms:created>
  <dcterms:modified xsi:type="dcterms:W3CDTF">2026-06-30T02:51:32Z</dcterms:modified>
</cp:coreProperties>
</file>