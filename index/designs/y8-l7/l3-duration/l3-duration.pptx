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5603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Title · 标题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67324" y="1919436"/>
            <a:ext cx="1221879" cy="307777"/>
          </a:xfrm>
          <a:prstGeom prst="roundRect">
            <a:avLst>
              <a:gd name="adj" fmla="val 4122238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272034" y="1992362"/>
            <a:ext cx="8124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of 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41603" y="1919436"/>
            <a:ext cx="812155" cy="307777"/>
          </a:xfrm>
          <a:prstGeom prst="roundRect">
            <a:avLst>
              <a:gd name="adj" fmla="val 412223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50410" y="1992362"/>
            <a:ext cx="39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6158" y="1919436"/>
            <a:ext cx="1718518" cy="307777"/>
          </a:xfrm>
          <a:prstGeom prst="roundRect">
            <a:avLst>
              <a:gd name="adj" fmla="val 412223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05902" y="1992362"/>
            <a:ext cx="13190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· Book 2 Unit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78600" y="2455813"/>
            <a:ext cx="28348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OF ACTION · 时间长度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386072" y="2763738"/>
            <a:ext cx="3419856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00"/>
              </a:lnSpc>
              <a:spcAft>
                <a:spcPts val="1000"/>
              </a:spcAft>
              <a:buNone/>
            </a:pPr>
            <a:r>
              <a:rPr lang="en-US" sz="6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时间长度</a:t>
            </a:r>
            <a:endParaRPr lang="en-US" sz="6600" dirty="0"/>
          </a:p>
        </p:txBody>
      </p:sp>
      <p:sp>
        <p:nvSpPr>
          <p:cNvPr id="15" name="Text 13"/>
          <p:cNvSpPr/>
          <p:nvPr/>
        </p:nvSpPr>
        <p:spPr>
          <a:xfrm>
            <a:off x="4546076" y="3728889"/>
            <a:ext cx="3099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long do you practise?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778550" y="4271814"/>
            <a:ext cx="634901" cy="3810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107978" y="4538514"/>
            <a:ext cx="5975896" cy="552450"/>
          </a:xfrm>
          <a:prstGeom prst="roundRect">
            <a:avLst>
              <a:gd name="adj" fmla="val 1839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72361" y="4700439"/>
            <a:ext cx="5247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今天我们学习</a:t>
            </a:r>
            <a:pPr algn="ctr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how to say how long we do activities in Chinese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2326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复习 (0–8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41177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 — 一边……一边……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320552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 · 4 rounds · then quick Text 1 choral read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8701" y="1666577"/>
            <a:ext cx="5435650" cy="2484983"/>
          </a:xfrm>
          <a:prstGeom prst="roundRect">
            <a:avLst>
              <a:gd name="adj" fmla="val 511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96826" y="1853803"/>
            <a:ext cx="50585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 TASK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6826" y="2142679"/>
            <a:ext cx="4959400" cy="425351"/>
          </a:xfrm>
          <a:prstGeom prst="rect">
            <a:avLst/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815876" y="2142679"/>
            <a:ext cx="0" cy="4253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2627" y="2231529"/>
            <a:ext cx="46572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一边……一边……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6826" y="2694980"/>
            <a:ext cx="2435275" cy="590252"/>
          </a:xfrm>
          <a:prstGeom prst="roundRect">
            <a:avLst>
              <a:gd name="adj" fmla="val 12910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3301" y="286315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34355" y="2909143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88703" y="2806005"/>
            <a:ext cx="8507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 + 跳舞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8703" y="3040856"/>
            <a:ext cx="8507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singing &amp; dancing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320951" y="2694980"/>
            <a:ext cx="2435275" cy="590252"/>
          </a:xfrm>
          <a:prstGeom prst="roundRect">
            <a:avLst>
              <a:gd name="adj" fmla="val 12910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57426" y="286315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48063" y="2909143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12828" y="2806005"/>
            <a:ext cx="9587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 + 画画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12828" y="3040856"/>
            <a:ext cx="9587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music &amp; drawing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96826" y="3374082"/>
            <a:ext cx="2435275" cy="590252"/>
          </a:xfrm>
          <a:prstGeom prst="roundRect">
            <a:avLst>
              <a:gd name="adj" fmla="val 12910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33301" y="354225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23640" y="3588246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88703" y="3485108"/>
            <a:ext cx="11142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 + 吃东西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88703" y="3719959"/>
            <a:ext cx="11142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 &amp; eating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320951" y="3374082"/>
            <a:ext cx="2435275" cy="590252"/>
          </a:xfrm>
          <a:prstGeom prst="roundRect">
            <a:avLst>
              <a:gd name="adj" fmla="val 12910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457426" y="354225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547318" y="3588246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812828" y="3485108"/>
            <a:ext cx="9587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 + 唱歌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12828" y="3719959"/>
            <a:ext cx="9587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piano &amp; singing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197501" y="1666577"/>
            <a:ext cx="5435798" cy="2484983"/>
          </a:xfrm>
          <a:prstGeom prst="roundRect">
            <a:avLst>
              <a:gd name="adj" fmla="val 511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435626" y="1853803"/>
            <a:ext cx="50587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CHORAL READ · TEXT 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35626" y="2142679"/>
            <a:ext cx="5058739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Open books → read Text 1 together as a class (1 min). Listen for familiar patterns as we go.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35626" y="2649289"/>
            <a:ext cx="4959548" cy="383977"/>
          </a:xfrm>
          <a:prstGeom prst="roundRect">
            <a:avLst>
              <a:gd name="adj" fmla="val 1984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88026" y="2750790"/>
            <a:ext cx="43015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for time phrases! </a:t>
            </a:r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 you hear any numbers + 小时 / 分钟?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8701" y="4316611"/>
            <a:ext cx="11074598" cy="919014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82513" y="4316611"/>
            <a:ext cx="0" cy="919014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4926" y="4456212"/>
            <a:ext cx="1078116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BRIDGE TO TODAY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34926" y="4669482"/>
            <a:ext cx="1078116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我每天读一个小时的书。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34926" y="4882753"/>
            <a:ext cx="1078116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Let's dissect this structure today!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8895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820168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051893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2683669"/>
            <a:ext cx="10769798" cy="801737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4913" y="2683669"/>
            <a:ext cx="0" cy="801737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2627" y="2861370"/>
            <a:ext cx="10418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12627" y="3067645"/>
            <a:ext cx="10418659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</a:t>
            </a:r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long</a:t>
            </a:r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we do activities using the </a:t>
            </a:r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structure</a:t>
            </a:r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3714006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SUCCESS CRITERIA · 成功标准 — I can…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101" y="402193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2127" y="4071045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42851" y="4009281"/>
            <a:ext cx="6698230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duration phrases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—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五分钟 · 一刻钟 · 两个小时 · 四个半小时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1101" y="446633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10518" y="4515445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42851" y="4453682"/>
            <a:ext cx="703462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the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structure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每天 + verb + duration + 的 + noun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820"/>
              </a:lnSpc>
              <a:buNone/>
            </a:pPr>
            <a:r>
              <a:rPr lang="en-US" sz="11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 他每天弹一个小时的钢琴。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1101" y="491073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10220" y="4959846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42851" y="4898082"/>
            <a:ext cx="8305538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long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someone does their hobby from a picture → produce a full sentence with duration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8562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Duration Phrases (Act. 3 p.62)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22250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DURATION PHRASES · 时间长度词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15876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Time Duration — Short to Long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244501"/>
            <a:ext cx="112960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Act. 3, p.62 · All 12 phrases · Compound times highlighted in gold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58701" y="1546027"/>
            <a:ext cx="5461099" cy="3110210"/>
          </a:xfrm>
          <a:prstGeom prst="roundRect">
            <a:avLst>
              <a:gd name="adj" fmla="val 367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7751" y="1565077"/>
            <a:ext cx="5422999" cy="320576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80901" y="1653927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9250" y="1653927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77751" y="2341066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0901" y="1987153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五分钟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89250" y="2030016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minutes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7751" y="2345829"/>
            <a:ext cx="5422999" cy="460177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77751" y="2801243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0901" y="2447330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十分钟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89250" y="2490192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minutes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7751" y="3261420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0901" y="2907506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一刻钟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89250" y="2950369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minutes (a quarter)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77751" y="3266182"/>
            <a:ext cx="5422999" cy="460177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577751" y="3721596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0901" y="3367683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89250" y="3410545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 minutes (half hour)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7751" y="4181773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0901" y="3827859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三刻钟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89250" y="3870722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45 minutes (3 quarters)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77751" y="4186535"/>
            <a:ext cx="5422999" cy="450652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80901" y="4288036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89250" y="4330898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hour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72200" y="1546027"/>
            <a:ext cx="5461099" cy="3110210"/>
          </a:xfrm>
          <a:prstGeom prst="roundRect">
            <a:avLst>
              <a:gd name="adj" fmla="val 367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91250" y="1565077"/>
            <a:ext cx="5422999" cy="320576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394400" y="1653927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902750" y="1653927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191250" y="2341066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94400" y="1987153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一个半小时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902750" y="2030016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1.5 hours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191250" y="2345829"/>
            <a:ext cx="5422999" cy="460177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6191250" y="2801243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94400" y="2447330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902750" y="2490192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hours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191250" y="2806005"/>
            <a:ext cx="5422999" cy="460177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6191250" y="3261420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94400" y="2907506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两个小时零五分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902750" y="2950369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hrs 5 min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191250" y="3266182"/>
            <a:ext cx="5422999" cy="460177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6191250" y="3721596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94400" y="3367683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两个小时十分钟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902750" y="3410545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hrs 10 min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191250" y="3726359"/>
            <a:ext cx="5422999" cy="460177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6191250" y="4181773"/>
            <a:ext cx="54229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94400" y="3827859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三个小时一刻钟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8902750" y="3870722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hrs 15 min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91250" y="4186535"/>
            <a:ext cx="5422999" cy="450652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6394400" y="4288036"/>
            <a:ext cx="2558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四个半小时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902750" y="4330898"/>
            <a:ext cx="25585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4.5 hours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8701" y="4795838"/>
            <a:ext cx="11074598" cy="653802"/>
          </a:xfrm>
          <a:prstGeom prst="roundRect">
            <a:avLst>
              <a:gd name="adj" fmla="val 15540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80901" y="4941838"/>
            <a:ext cx="632479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Compound time pattern: hours first, then </a:t>
            </a:r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零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minutes (for small remainders) or minutes directly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80901" y="5151239"/>
            <a:ext cx="63247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两个小时零五分 · 三个小时一刻钟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811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Duration Structure · 关键句型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22250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DURATION STRUCTURE · 时间结构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15876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Duration Structure · 关键句型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244501"/>
            <a:ext cx="112960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+ 每天 + Verb + Duration + 的 + Noun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58701" y="1546027"/>
            <a:ext cx="11074598" cy="746075"/>
          </a:xfrm>
          <a:prstGeom prst="roundRect">
            <a:avLst>
              <a:gd name="adj" fmla="val 15320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225129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1084" y="1717477"/>
            <a:ext cx="220269" cy="2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7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86594" y="1996827"/>
            <a:ext cx="6374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主语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451646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93293" y="1818977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03936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61841" y="1717477"/>
            <a:ext cx="440385" cy="2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029545" y="1996827"/>
            <a:ext cx="5064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day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330452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72099" y="1818977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82593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8548" y="1717477"/>
            <a:ext cx="220269" cy="2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700" b="1" dirty="0">
                <a:solidFill>
                  <a:srgbClr val="7B5EA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20853" y="1996827"/>
            <a:ext cx="48076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B5EA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 动词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209109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50756" y="1818977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1399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03504" y="1717477"/>
            <a:ext cx="880619" cy="2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7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599188" y="1996827"/>
            <a:ext cx="8894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时间长度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087916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29563" y="1818977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740205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25061" y="1736527"/>
            <a:ext cx="181407" cy="1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55844" y="1977777"/>
            <a:ext cx="5266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connector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9966722" y="1565077"/>
            <a:ext cx="0" cy="707975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808369" y="1818977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576917" y="1717477"/>
            <a:ext cx="440385" cy="2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7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10426303" y="1996827"/>
            <a:ext cx="747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Noun / Object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58701" y="2431703"/>
            <a:ext cx="11074598" cy="514350"/>
          </a:xfrm>
          <a:prstGeom prst="roundRect">
            <a:avLst>
              <a:gd name="adj" fmla="val 1975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96826" y="2555528"/>
            <a:ext cx="83732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pPr algn="l" indent="0" marL="0">
              <a:buNone/>
            </a:pPr>
            <a:r>
              <a:rPr lang="en-US" sz="1500" b="1" dirty="0">
                <a:solidFill>
                  <a:srgbClr val="7B5EA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</a:t>
            </a:r>
            <a:pPr algn="l" indent="0" marL="0">
              <a:buNone/>
            </a:pP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l" indent="0" marL="0">
              <a:buNone/>
            </a:pPr>
            <a:r>
              <a:rPr lang="en-US" sz="15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183588" y="2598390"/>
            <a:ext cx="22558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plays piano for 1 hour every day.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8701" y="3047554"/>
            <a:ext cx="11074598" cy="514350"/>
          </a:xfrm>
          <a:prstGeom prst="roundRect">
            <a:avLst>
              <a:gd name="adj" fmla="val 1975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6826" y="3171379"/>
            <a:ext cx="83779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pPr algn="l" indent="0" marL="0">
              <a:buNone/>
            </a:pPr>
            <a:r>
              <a:rPr lang="en-US" sz="1500" b="1" dirty="0">
                <a:solidFill>
                  <a:srgbClr val="7B5EA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</a:t>
            </a:r>
            <a:pPr algn="l" indent="0" marL="0">
              <a:buNone/>
            </a:pP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pPr algn="l" indent="0" marL="0">
              <a:buNone/>
            </a:pPr>
            <a:r>
              <a:rPr lang="en-US" sz="15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歌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188202" y="3214241"/>
            <a:ext cx="22511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sings for 30 minutes every day.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8701" y="3663404"/>
            <a:ext cx="11074598" cy="514350"/>
          </a:xfrm>
          <a:prstGeom prst="roundRect">
            <a:avLst>
              <a:gd name="adj" fmla="val 1975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96826" y="3787229"/>
            <a:ext cx="85409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pPr algn="l" indent="0" marL="0">
              <a:buNone/>
            </a:pPr>
            <a:r>
              <a:rPr lang="en-US" sz="1500" b="1" dirty="0">
                <a:solidFill>
                  <a:srgbClr val="7B5EA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</a:t>
            </a:r>
            <a:pPr algn="l" indent="0" marL="0">
              <a:buNone/>
            </a:pP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</a:t>
            </a:r>
            <a:pPr algn="l" indent="0" marL="0">
              <a:buNone/>
            </a:pPr>
            <a:r>
              <a:rPr lang="en-US" sz="15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348043" y="3830092"/>
            <a:ext cx="20880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watch TV for 2 hours every day.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8701" y="4317355"/>
            <a:ext cx="11074598" cy="809327"/>
          </a:xfrm>
          <a:prstGeom prst="roundRect">
            <a:avLst>
              <a:gd name="adj" fmla="val 12554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06351" y="4476006"/>
            <a:ext cx="50314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Difference from English — Time goes BETWEEN verb and object!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06351" y="4739432"/>
            <a:ext cx="18521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他每天弹钢琴一个小时。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850803" y="474895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3231803" y="4739432"/>
            <a:ext cx="21477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他每天弹</a:t>
            </a:r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的钢琴。✓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8119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 · 检查理解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81156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017836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CFU — 你懂了吗？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497211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 ready — write your answers, hold up on cue.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11101" y="1836837"/>
            <a:ext cx="10769798" cy="1275159"/>
          </a:xfrm>
          <a:prstGeom prst="roundRect">
            <a:avLst>
              <a:gd name="adj" fmla="val 996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74527" y="202406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5198" y="2084338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07778" y="2024062"/>
            <a:ext cx="32452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INTO CHINESE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07778" y="2220813"/>
            <a:ext cx="3245281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"She reads for 45 minutes every day."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507778" y="2553295"/>
            <a:ext cx="2565350" cy="371475"/>
          </a:xfrm>
          <a:prstGeom prst="roundRect">
            <a:avLst>
              <a:gd name="adj" fmla="val 20513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29978" y="2648545"/>
            <a:ext cx="21633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hidden — reveal next slide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1101" y="3264396"/>
            <a:ext cx="10769798" cy="1532334"/>
          </a:xfrm>
          <a:prstGeom prst="roundRect">
            <a:avLst>
              <a:gd name="adj" fmla="val 828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4527" y="345162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91208" y="3511897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07778" y="3451622"/>
            <a:ext cx="47745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ERROR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507778" y="3648373"/>
            <a:ext cx="4774561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this sentence? </a:t>
            </a:r>
            <a:pPr algn="l" indent="0" marL="0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他每天弹钢琴一个小时。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07778" y="3980855"/>
            <a:ext cx="477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Where should the time duration go?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507778" y="4238030"/>
            <a:ext cx="2565350" cy="371475"/>
          </a:xfrm>
          <a:prstGeom prst="roundRect">
            <a:avLst>
              <a:gd name="adj" fmla="val 20513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29978" y="4333280"/>
            <a:ext cx="21633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hidden — reveal next slide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11101" y="4949130"/>
            <a:ext cx="10769798" cy="1275159"/>
          </a:xfrm>
          <a:prstGeom prst="roundRect">
            <a:avLst>
              <a:gd name="adj" fmla="val 996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4527" y="5136356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90910" y="5196632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07778" y="5136356"/>
            <a:ext cx="43783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RECALL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507778" y="5333107"/>
            <a:ext cx="4378351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</a:t>
            </a:r>
            <a:pPr algn="l" indent="0" marL="0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300" b="1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"one and a half hours"</a:t>
            </a:r>
            <a:pPr algn="l" indent="0" marL="0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Chinese?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507778" y="5665589"/>
            <a:ext cx="2565350" cy="371475"/>
          </a:xfrm>
          <a:prstGeom prst="roundRect">
            <a:avLst>
              <a:gd name="adj" fmla="val 20513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729978" y="5760839"/>
            <a:ext cx="21633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hidden — reveal next slide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6460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— Answers Revealed · 答案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046857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答案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253133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CFU — 答案揭晓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732508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your whiteboard — correct and discuss any errors.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11101" y="2072134"/>
            <a:ext cx="10769798" cy="1123652"/>
          </a:xfrm>
          <a:prstGeom prst="roundRect">
            <a:avLst>
              <a:gd name="adj" fmla="val 1130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74527" y="2259360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5198" y="2319635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07778" y="2259360"/>
            <a:ext cx="35552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· "She reads for 45 minutes every day."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07778" y="2456111"/>
            <a:ext cx="3485555" cy="552450"/>
          </a:xfrm>
          <a:prstGeom prst="roundRect">
            <a:avLst>
              <a:gd name="adj" fmla="val 16092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29978" y="2589461"/>
            <a:ext cx="207258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她每天读</a:t>
            </a:r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三刻钟</a:t>
            </a:r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的书。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88879" y="2651373"/>
            <a:ext cx="8998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45 min = 三刻钟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348186"/>
            <a:ext cx="10769798" cy="1364754"/>
          </a:xfrm>
          <a:prstGeom prst="roundRect">
            <a:avLst>
              <a:gd name="adj" fmla="val 930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4527" y="353541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91208" y="3595688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07778" y="3535412"/>
            <a:ext cx="46180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ERROR · 他每天弹钢琴一个小时。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507778" y="3741688"/>
            <a:ext cx="18521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他每天弹钢琴一个小时。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76030" y="3755975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768179" y="3732163"/>
            <a:ext cx="23124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他每天弹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的钢琴。✓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7778" y="4056013"/>
            <a:ext cx="4527500" cy="469702"/>
          </a:xfrm>
          <a:prstGeom prst="roundRect">
            <a:avLst>
              <a:gd name="adj" fmla="val 1892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704529" y="4176564"/>
            <a:ext cx="3388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Duration goes </a:t>
            </a:r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between verb and object</a:t>
            </a:r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, not after!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1101" y="4865340"/>
            <a:ext cx="10769798" cy="1123652"/>
          </a:xfrm>
          <a:prstGeom prst="roundRect">
            <a:avLst>
              <a:gd name="adj" fmla="val 1130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74527" y="5052566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90910" y="5112841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507778" y="5052566"/>
            <a:ext cx="29674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RECALL · "one and a half hours"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507778" y="5249317"/>
            <a:ext cx="2909292" cy="552450"/>
          </a:xfrm>
          <a:prstGeom prst="roundRect">
            <a:avLst>
              <a:gd name="adj" fmla="val 16092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729978" y="5382667"/>
            <a:ext cx="103621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一个半小时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2872829" y="5444579"/>
            <a:ext cx="13484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lit. "one-and-half hour"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4844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Oral Drill · We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69875"/>
            <a:ext cx="1026616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20626"/>
            <a:ext cx="6846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12268" y="596801"/>
            <a:ext cx="485805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Duration Phrases Oral Drill · 口头操练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8701" y="1050727"/>
            <a:ext cx="802481" cy="292001"/>
          </a:xfrm>
          <a:prstGeom prst="roundRect">
            <a:avLst>
              <a:gd name="adj" fmla="val 434495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111002"/>
            <a:ext cx="46239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75482" y="1074539"/>
            <a:ext cx="682377" cy="244376"/>
          </a:xfrm>
          <a:prstGeom prst="roundRect">
            <a:avLst>
              <a:gd name="adj" fmla="val 5191713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15083" y="1125289"/>
            <a:ext cx="4112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495127"/>
            <a:ext cx="55443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PHRASES (KEEP VISIBLE)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58701" y="1739503"/>
            <a:ext cx="267340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0626" y="1850529"/>
            <a:ext cx="2396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五分钟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0626" y="2104430"/>
            <a:ext cx="23965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minutes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320951" y="1739503"/>
            <a:ext cx="267340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482876" y="1850529"/>
            <a:ext cx="2396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十分钟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82876" y="2104430"/>
            <a:ext cx="23965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minutes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58701" y="2437656"/>
            <a:ext cx="267340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20626" y="2548682"/>
            <a:ext cx="2396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一刻钟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0626" y="2802582"/>
            <a:ext cx="23965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minutes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320951" y="2437656"/>
            <a:ext cx="267340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482876" y="2548682"/>
            <a:ext cx="2396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482876" y="2802582"/>
            <a:ext cx="23965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 minutes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58701" y="3135809"/>
            <a:ext cx="267340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0626" y="3246834"/>
            <a:ext cx="2396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三刻钟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20626" y="3500735"/>
            <a:ext cx="23965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45 minutes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320951" y="3135809"/>
            <a:ext cx="267340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482876" y="3246834"/>
            <a:ext cx="2396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82876" y="3500735"/>
            <a:ext cx="23965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hour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58701" y="3833961"/>
            <a:ext cx="267340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20626" y="3944987"/>
            <a:ext cx="2396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一个半小时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20626" y="4198888"/>
            <a:ext cx="23965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1.5 hours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320951" y="3833961"/>
            <a:ext cx="267340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482876" y="3944987"/>
            <a:ext cx="2396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82876" y="4198888"/>
            <a:ext cx="23965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hours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58701" y="4532114"/>
            <a:ext cx="5435650" cy="609302"/>
          </a:xfrm>
          <a:prstGeom prst="roundRect">
            <a:avLst>
              <a:gd name="adj" fmla="val 145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20626" y="4643140"/>
            <a:ext cx="5214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四个半小时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20626" y="4897041"/>
            <a:ext cx="52140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4.5 hours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197501" y="1495127"/>
            <a:ext cx="5435798" cy="3646289"/>
          </a:xfrm>
          <a:prstGeom prst="roundRect">
            <a:avLst>
              <a:gd name="adj" fmla="val 348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435626" y="1682353"/>
            <a:ext cx="50587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DRILL SEQUENCE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35626" y="1971229"/>
            <a:ext cx="4959548" cy="399752"/>
          </a:xfrm>
          <a:prstGeom prst="roundRect">
            <a:avLst>
              <a:gd name="adj" fmla="val 19062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572101" y="2082254"/>
            <a:ext cx="456036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— Choral: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says → class repeats each phrase in unison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35626" y="2472482"/>
            <a:ext cx="4959548" cy="577453"/>
          </a:xfrm>
          <a:prstGeom prst="roundRect">
            <a:avLst>
              <a:gd name="adj" fmla="val 13196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572101" y="2583507"/>
            <a:ext cx="478033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— English→Chinese: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calls English → students call out Chinese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435626" y="3151436"/>
            <a:ext cx="4959548" cy="577453"/>
          </a:xfrm>
          <a:prstGeom prst="roundRect">
            <a:avLst>
              <a:gd name="adj" fmla="val 13196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572101" y="3262461"/>
            <a:ext cx="478033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— Rapid Fire Whiteboard: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calls English → students write Chinese, hold up boards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8701" y="5281017"/>
            <a:ext cx="3606850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11101" y="5395317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11101" y="5579418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Phrase list stays visible on projector throughout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292501" y="5281017"/>
            <a:ext cx="3606850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444901" y="5395317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4444901" y="5579418"/>
            <a:ext cx="336809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Close eyes for Round 2 — say the full list in order from memory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026301" y="5281017"/>
            <a:ext cx="3606998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178701" y="5395317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8178701" y="5579418"/>
            <a:ext cx="3368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— all boards up simultaneously each round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24833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Duration Pictures · We Do → You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57225"/>
            <a:ext cx="1045071" cy="244376"/>
          </a:xfrm>
          <a:prstGeom prst="roundRect">
            <a:avLst>
              <a:gd name="adj" fmla="val 519171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07975"/>
            <a:ext cx="7034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0722" y="584150"/>
            <a:ext cx="47642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Act. 5 · Duration Pictures · 说说图片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8701" y="1038076"/>
            <a:ext cx="802035" cy="292001"/>
          </a:xfrm>
          <a:prstGeom prst="roundRect">
            <a:avLst>
              <a:gd name="adj" fmla="val 434495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098352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75036" y="1061889"/>
            <a:ext cx="1356717" cy="244376"/>
          </a:xfrm>
          <a:prstGeom prst="roundRect">
            <a:avLst>
              <a:gd name="adj" fmla="val 5191713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14636" y="1112639"/>
            <a:ext cx="10990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482477"/>
            <a:ext cx="2654350" cy="2442121"/>
          </a:xfrm>
          <a:prstGeom prst="roundRect">
            <a:avLst>
              <a:gd name="adj" fmla="val 468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8226" y="1492002"/>
            <a:ext cx="2635300" cy="1343769"/>
          </a:xfrm>
          <a:prstGeom prst="rect">
            <a:avLst/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68226" y="2831009"/>
            <a:ext cx="2635300" cy="0"/>
          </a:xfrm>
          <a:prstGeom prst="line">
            <a:avLst/>
          </a:prstGeom>
          <a:noFill/>
          <a:ln w="9525">
            <a:solidFill>
              <a:srgbClr val="3A7D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6261" y="1711077"/>
            <a:ext cx="739080" cy="174427"/>
          </a:xfrm>
          <a:prstGeom prst="roundRect">
            <a:avLst>
              <a:gd name="adj" fmla="val 727370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625456" y="1736378"/>
            <a:ext cx="5206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Modelled ✓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71362" y="1961704"/>
            <a:ext cx="2429027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🎹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71362" y="2438995"/>
            <a:ext cx="24290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0626" y="2950071"/>
            <a:ext cx="23771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PICTURE 1 · MODEL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3111996"/>
            <a:ext cx="2377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田云 · Piano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0626" y="3346847"/>
            <a:ext cx="23771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plays piano every 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0626" y="3564285"/>
            <a:ext cx="23305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0626" y="3619798"/>
            <a:ext cx="23771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田云每天弹一个小时的钢琴。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65450" y="1482477"/>
            <a:ext cx="2654350" cy="2442121"/>
          </a:xfrm>
          <a:prstGeom prst="roundRect">
            <a:avLst>
              <a:gd name="adj" fmla="val 468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374975" y="1492002"/>
            <a:ext cx="2635300" cy="1343769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374975" y="2831009"/>
            <a:ext cx="26353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64534" y="1711077"/>
            <a:ext cx="656034" cy="174427"/>
          </a:xfrm>
          <a:prstGeom prst="roundRect">
            <a:avLst>
              <a:gd name="adj" fmla="val 727370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474559" y="1736378"/>
            <a:ext cx="4359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work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478112" y="1961704"/>
            <a:ext cx="2429027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🎤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3478112" y="2438995"/>
            <a:ext cx="24290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527375" y="2950071"/>
            <a:ext cx="23771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PICTURE 2 · PAIR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527375" y="3111996"/>
            <a:ext cx="2377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 · Singing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527375" y="3346847"/>
            <a:ext cx="23771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sings every day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527375" y="3564285"/>
            <a:ext cx="23305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7375" y="3619798"/>
            <a:ext cx="23771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try!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72200" y="1482477"/>
            <a:ext cx="2654350" cy="2442121"/>
          </a:xfrm>
          <a:prstGeom prst="roundRect">
            <a:avLst>
              <a:gd name="adj" fmla="val 468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181725" y="1492002"/>
            <a:ext cx="2635300" cy="1343769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181725" y="2831009"/>
            <a:ext cx="26353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1283" y="1711077"/>
            <a:ext cx="656034" cy="174427"/>
          </a:xfrm>
          <a:prstGeom prst="roundRect">
            <a:avLst>
              <a:gd name="adj" fmla="val 727370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281309" y="1736378"/>
            <a:ext cx="4359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work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284861" y="1961704"/>
            <a:ext cx="2429027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⚽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6284861" y="2438995"/>
            <a:ext cx="24290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334125" y="2950071"/>
            <a:ext cx="23771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PICTURE 3 · PAIR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334125" y="3111996"/>
            <a:ext cx="2377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 · Football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334125" y="3346847"/>
            <a:ext cx="23771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plays football every day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34125" y="3564285"/>
            <a:ext cx="23305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34125" y="3619798"/>
            <a:ext cx="23771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try!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978950" y="1482477"/>
            <a:ext cx="2654350" cy="2442121"/>
          </a:xfrm>
          <a:prstGeom prst="roundRect">
            <a:avLst>
              <a:gd name="adj" fmla="val 468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988475" y="1492002"/>
            <a:ext cx="2635300" cy="1343769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8988475" y="2831009"/>
            <a:ext cx="26353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78033" y="1711077"/>
            <a:ext cx="656034" cy="174427"/>
          </a:xfrm>
          <a:prstGeom prst="roundRect">
            <a:avLst>
              <a:gd name="adj" fmla="val 727370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0088058" y="1736378"/>
            <a:ext cx="4359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work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9091611" y="1961704"/>
            <a:ext cx="2429027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📺</a:t>
            </a:r>
            <a:endParaRPr lang="en-US" sz="2800" dirty="0"/>
          </a:p>
        </p:txBody>
      </p:sp>
      <p:sp>
        <p:nvSpPr>
          <p:cNvPr id="56" name="Text 54"/>
          <p:cNvSpPr/>
          <p:nvPr/>
        </p:nvSpPr>
        <p:spPr>
          <a:xfrm>
            <a:off x="9091611" y="2438995"/>
            <a:ext cx="24290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三刻钟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140875" y="2950071"/>
            <a:ext cx="23771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PICTURE 4 · PAIR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9140875" y="3111996"/>
            <a:ext cx="2377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他们 · TV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9140875" y="3346847"/>
            <a:ext cx="23771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watches TV every day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0875" y="3564285"/>
            <a:ext cx="23305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140875" y="3619798"/>
            <a:ext cx="23771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try!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58701" y="4064198"/>
            <a:ext cx="11074598" cy="57775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Shape 61"/>
          <p:cNvSpPr/>
          <p:nvPr/>
        </p:nvSpPr>
        <p:spPr>
          <a:xfrm>
            <a:off x="582513" y="4064198"/>
            <a:ext cx="0" cy="57775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4926" y="4191149"/>
            <a:ext cx="107811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700" dirty="0"/>
          </a:p>
        </p:txBody>
      </p:sp>
      <p:sp>
        <p:nvSpPr>
          <p:cNvPr id="65" name="Text 63"/>
          <p:cNvSpPr/>
          <p:nvPr/>
        </p:nvSpPr>
        <p:spPr>
          <a:xfrm>
            <a:off x="558701" y="4781550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11101" y="4895850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711101" y="5079950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above stays visible; duration list on board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292501" y="4781550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4444901" y="4895850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4444901" y="5079950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Invent a 5th scenario with a different duration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8026301" y="4781550"/>
            <a:ext cx="3606998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178701" y="4895850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8178701" y="5079950"/>
            <a:ext cx="3368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3–4 students for pictures 2–4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8781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Bingo · Duration Phrases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57225"/>
            <a:ext cx="1045518" cy="244376"/>
          </a:xfrm>
          <a:prstGeom prst="roundRect">
            <a:avLst>
              <a:gd name="adj" fmla="val 5191713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07975"/>
            <a:ext cx="703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1169" y="584150"/>
            <a:ext cx="223608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Bingo · 宾果游戏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8701" y="1038076"/>
            <a:ext cx="802035" cy="292001"/>
          </a:xfrm>
          <a:prstGeom prst="roundRect">
            <a:avLst>
              <a:gd name="adj" fmla="val 4344951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098352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75036" y="1061889"/>
            <a:ext cx="755600" cy="244376"/>
          </a:xfrm>
          <a:prstGeom prst="roundRect">
            <a:avLst>
              <a:gd name="adj" fmla="val 5191713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14636" y="1112639"/>
            <a:ext cx="4859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482477"/>
            <a:ext cx="3359051" cy="3069431"/>
          </a:xfrm>
          <a:prstGeom prst="roundRect">
            <a:avLst>
              <a:gd name="adj" fmla="val 3724"/>
            </a:avLst>
          </a:prstGeom>
          <a:noFill/>
          <a:ln w="2857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7276" y="1511052"/>
            <a:ext cx="3301901" cy="517327"/>
          </a:xfrm>
          <a:prstGeom prst="rect">
            <a:avLst/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678335" y="1511052"/>
            <a:ext cx="0" cy="517327"/>
          </a:xfrm>
          <a:prstGeom prst="line">
            <a:avLst/>
          </a:prstGeom>
          <a:noFill/>
          <a:ln w="19050">
            <a:solidFill>
              <a:srgbClr val="FEFC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460" y="1612553"/>
            <a:ext cx="110316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778919" y="1511052"/>
            <a:ext cx="0" cy="517327"/>
          </a:xfrm>
          <a:prstGeom prst="line">
            <a:avLst/>
          </a:prstGeom>
          <a:noFill/>
          <a:ln w="19050">
            <a:solidFill>
              <a:srgbClr val="FEFC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77044" y="1612553"/>
            <a:ext cx="110316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777436" y="1612553"/>
            <a:ext cx="112274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87276" y="2028379"/>
            <a:ext cx="1100584" cy="831652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15667" y="2361754"/>
            <a:ext cx="64365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minutes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87860" y="2028379"/>
            <a:ext cx="1100584" cy="831652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87103" y="2361754"/>
            <a:ext cx="70209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minutes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88444" y="2028379"/>
            <a:ext cx="1100733" cy="831652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043854" y="2361754"/>
            <a:ext cx="58991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1.5 hours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7276" y="2860030"/>
            <a:ext cx="1100584" cy="831652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73616" y="3193405"/>
            <a:ext cx="72790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 minutes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87860" y="2860030"/>
            <a:ext cx="1100584" cy="831652"/>
          </a:xfrm>
          <a:prstGeom prst="rect">
            <a:avLst/>
          </a:prstGeom>
          <a:solidFill>
            <a:srgbClr val="D4756B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024335" y="3168551"/>
            <a:ext cx="427634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G·O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88444" y="2860030"/>
            <a:ext cx="1100733" cy="831652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092736" y="3193405"/>
            <a:ext cx="49199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hours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7276" y="3691682"/>
            <a:ext cx="1100584" cy="831652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73920" y="4025057"/>
            <a:ext cx="72729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45 minutes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687860" y="3691682"/>
            <a:ext cx="1100584" cy="831652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039819" y="4025057"/>
            <a:ext cx="39666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hour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788444" y="3691682"/>
            <a:ext cx="1100733" cy="831652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986928" y="4025057"/>
            <a:ext cx="703615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minutes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171652" y="1482477"/>
            <a:ext cx="7461647" cy="1590080"/>
          </a:xfrm>
          <a:prstGeom prst="roundRect">
            <a:avLst>
              <a:gd name="adj" fmla="val 798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384328" y="1644402"/>
            <a:ext cx="71770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84328" y="1933277"/>
            <a:ext cx="16516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60553" y="1933277"/>
            <a:ext cx="496128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have a 3×3 card with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 English duration phrases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random squares.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84328" y="2199829"/>
            <a:ext cx="16516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660553" y="2199829"/>
            <a:ext cx="672616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duration phrases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Chinese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(e.g. 两个小时). Students find &amp; mark the English equivalent.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84328" y="2466380"/>
            <a:ext cx="16516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660553" y="2466380"/>
            <a:ext cx="594679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Three in a row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(horizontal, vertical, or diagonal) = BINGO! Call out and read back the phrases.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84328" y="2732931"/>
            <a:ext cx="16516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60553" y="2732931"/>
            <a:ext cx="606140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2–3 rounds. Sample card shown → each student's card has phrases in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different positions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171652" y="3199507"/>
            <a:ext cx="7461647" cy="730151"/>
          </a:xfrm>
          <a:prstGeom prst="roundRect">
            <a:avLst>
              <a:gd name="adj" fmla="val 12176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393853" y="3345507"/>
            <a:ext cx="71575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in Chinese → students mark English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393853" y="3583632"/>
            <a:ext cx="71575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e.g. 两个小时 → students mark "2 hours"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58701" y="4691509"/>
            <a:ext cx="3606850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11101" y="4805809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711101" y="4989909"/>
            <a:ext cx="336809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list stays on projector so weaker students can reference it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292501" y="4691509"/>
            <a:ext cx="3606850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444901" y="4805809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444901" y="4989909"/>
            <a:ext cx="336809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take turns calling phrases in Chinese (student caller role)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026301" y="4691509"/>
            <a:ext cx="3606998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178701" y="4805809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/ OTR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8178701" y="4989909"/>
            <a:ext cx="336824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Print or draw 3×3 blank grid; fill squares with any 9 of the 12 English phrases in any order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7667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 · Writing Relay · You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57225"/>
            <a:ext cx="1046262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07975"/>
            <a:ext cx="7046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1913" y="584150"/>
            <a:ext cx="320125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接力填空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8701" y="1038076"/>
            <a:ext cx="854273" cy="292001"/>
          </a:xfrm>
          <a:prstGeom prst="roundRect">
            <a:avLst>
              <a:gd name="adj" fmla="val 4344951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098352"/>
            <a:ext cx="515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10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27274" y="1061889"/>
            <a:ext cx="755600" cy="244376"/>
          </a:xfrm>
          <a:prstGeom prst="roundRect">
            <a:avLst>
              <a:gd name="adj" fmla="val 5191713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66875" y="1112639"/>
            <a:ext cx="4859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482477"/>
            <a:ext cx="8331547" cy="771525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6826" y="1715839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7674" y="1768227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79327" y="1644402"/>
            <a:ext cx="63158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他每天打</a:t>
            </a:r>
            <a:pPr algn="l" indent="0" marL="0">
              <a:buNone/>
            </a:pPr>
            <a:r>
              <a:rPr lang="en-US" sz="1200" b="1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fill in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的球。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79327" y="1949202"/>
            <a:ext cx="63158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fills this blank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649021" y="1681014"/>
            <a:ext cx="1003102" cy="374452"/>
          </a:xfrm>
          <a:prstGeom prst="roundRect">
            <a:avLst>
              <a:gd name="adj" fmla="val 338823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845772" y="1763464"/>
            <a:ext cx="6217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8701" y="2380952"/>
            <a:ext cx="8331547" cy="771525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2614315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05024" y="2666702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79327" y="2542877"/>
            <a:ext cx="64712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她每天唱</a:t>
            </a:r>
            <a:pPr algn="l" indent="0" marL="0">
              <a:buNone/>
            </a:pPr>
            <a:r>
              <a:rPr lang="en-US" sz="1200" b="1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fill in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的歌。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79327" y="2847677"/>
            <a:ext cx="64712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fills this blank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01421" y="2579489"/>
            <a:ext cx="850702" cy="374452"/>
          </a:xfrm>
          <a:prstGeom prst="roundRect">
            <a:avLst>
              <a:gd name="adj" fmla="val 338823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998172" y="2661940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8701" y="3279428"/>
            <a:ext cx="8331547" cy="771525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96826" y="3512790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04577" y="3565178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79327" y="3441353"/>
            <a:ext cx="63158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我每天读</a:t>
            </a:r>
            <a:pPr algn="l" indent="0" marL="0">
              <a:buNone/>
            </a:pPr>
            <a:r>
              <a:rPr lang="en-US" sz="1200" b="1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fill in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的书。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79327" y="3746153"/>
            <a:ext cx="63158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fills this blank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649021" y="3477964"/>
            <a:ext cx="1003102" cy="374452"/>
          </a:xfrm>
          <a:prstGeom prst="roundRect">
            <a:avLst>
              <a:gd name="adj" fmla="val 338823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845772" y="3560415"/>
            <a:ext cx="6217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58701" y="4177903"/>
            <a:ext cx="8331547" cy="771525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96826" y="441126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04131" y="4463653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79327" y="4339828"/>
            <a:ext cx="64712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他每天听</a:t>
            </a:r>
            <a:pPr algn="l" indent="0" marL="0">
              <a:buNone/>
            </a:pPr>
            <a:r>
              <a:rPr lang="en-US" sz="1200" b="1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fill in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的音乐。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79327" y="4644628"/>
            <a:ext cx="64712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fills this blank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01421" y="4376440"/>
            <a:ext cx="850702" cy="374452"/>
          </a:xfrm>
          <a:prstGeom prst="roundRect">
            <a:avLst>
              <a:gd name="adj" fmla="val 338823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98172" y="4458891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三刻钟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093398" y="1482477"/>
            <a:ext cx="2539901" cy="2192536"/>
          </a:xfrm>
          <a:prstGeom prst="roundRect">
            <a:avLst>
              <a:gd name="adj" fmla="val 579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306074" y="1657052"/>
            <a:ext cx="21568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RELAY RULES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306074" y="1945928"/>
            <a:ext cx="165164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569500" y="1945928"/>
            <a:ext cx="1888147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Teams of 4 — one paper per team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306074" y="2377380"/>
            <a:ext cx="165164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569500" y="2377380"/>
            <a:ext cx="1888147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1 fills sentence 1, passes paper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306074" y="2808833"/>
            <a:ext cx="165164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569500" y="2808833"/>
            <a:ext cx="1818468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Fastest correct team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wins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306074" y="3068985"/>
            <a:ext cx="165164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569500" y="3068985"/>
            <a:ext cx="1888147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4 blanks must be correct to count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9093398" y="3801963"/>
            <a:ext cx="2539901" cy="752475"/>
          </a:xfrm>
          <a:prstGeom prst="rect">
            <a:avLst/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9112448" y="3801963"/>
            <a:ext cx="0" cy="752475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83898" y="3916263"/>
            <a:ext cx="22409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283898" y="4135338"/>
            <a:ext cx="22409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Check: verb + duration + 的 + noun order!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558701" y="5089029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1101" y="5203329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11101" y="5387429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phrase list stays on projector for reference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292501" y="5089029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4444901" y="5203329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4444901" y="5387429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extra original sentence with a different duration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026301" y="5089029"/>
            <a:ext cx="3606998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178701" y="5203329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8178701" y="5387429"/>
            <a:ext cx="3368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Winning team reads all 4 sentences aloud to the class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45405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673126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368451"/>
            <a:ext cx="5257949" cy="2556272"/>
          </a:xfrm>
          <a:prstGeom prst="roundRect">
            <a:avLst>
              <a:gd name="adj" fmla="val 496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74527" y="2581126"/>
            <a:ext cx="48257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74527" y="290810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36439" y="2946202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79327" y="290810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41239" y="2946202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84127" y="290810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46039" y="2946202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03227" y="2941439"/>
            <a:ext cx="31502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 1 — I can say </a:t>
            </a:r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时间长度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phrases in Chinese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4527" y="33017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36439" y="3339852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279327" y="33017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341239" y="3339852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584127" y="33017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6039" y="3339852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03227" y="3335089"/>
            <a:ext cx="34036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 2 — I can use </a:t>
            </a:r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每天 + verb + duration + 的 + noun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74527" y="3762077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36439" y="3800177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279327" y="3762077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341239" y="3800177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584127" y="3762077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46039" y="3800177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03227" y="3695402"/>
            <a:ext cx="377644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 3 — I can describe a picture using the duration structure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4527" y="4222403"/>
            <a:ext cx="482571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👆 Confident · ➡️ Getting there · 👇 Still unsure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22950" y="2368451"/>
            <a:ext cx="5257949" cy="2556272"/>
          </a:xfrm>
          <a:prstGeom prst="roundRect">
            <a:avLst>
              <a:gd name="adj" fmla="val 496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86376" y="2581126"/>
            <a:ext cx="48257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离场票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86376" y="2908102"/>
            <a:ext cx="4731097" cy="1502420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510189" y="2908102"/>
            <a:ext cx="0" cy="150242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37152" y="3073152"/>
            <a:ext cx="43627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737152" y="3292227"/>
            <a:ext cx="4362715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this sentence in Chinese on your mini whiteboard:
</a:t>
            </a:r>
            <a:pPr algn="l" indent="0" marL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200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"She plays guitar for one hour every day."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37152" y="3820269"/>
            <a:ext cx="2488257" cy="374452"/>
          </a:xfrm>
          <a:prstGeom prst="roundRect">
            <a:avLst>
              <a:gd name="adj" fmla="val 20350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914852" y="3883670"/>
            <a:ext cx="21755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她每天弹一个小时的吉他。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486376" y="4550122"/>
            <a:ext cx="48257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before you leave — teacher checks on the way out.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11101" y="5102423"/>
            <a:ext cx="10769798" cy="479227"/>
          </a:xfrm>
          <a:prstGeom prst="roundRect">
            <a:avLst>
              <a:gd name="adj" fmla="val 2120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49226" y="5251549"/>
            <a:ext cx="54948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Timing: SC revisit </a:t>
            </a:r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43–46 min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Exit ticket </a:t>
            </a:r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46–50 min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Clean up &amp; leave by </a:t>
            </a:r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626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DURATION · 时间长度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1649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343448" y="144363"/>
            <a:ext cx="11411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08551" y="1178272"/>
            <a:ext cx="17747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769793" y="1441698"/>
            <a:ext cx="2652266" cy="345877"/>
          </a:xfrm>
          <a:prstGeom prst="roundRect">
            <a:avLst>
              <a:gd name="adj" fmla="val 3668154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21680" y="1524149"/>
            <a:ext cx="2148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· Pinyin + Listening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4686" y="1914525"/>
            <a:ext cx="360262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下节课 — What's Next?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332335" y="2482751"/>
            <a:ext cx="35271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200"/>
              </a:spcAft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new things to look forward to in Lesson 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78348" y="2971651"/>
            <a:ext cx="2990701" cy="2136725"/>
          </a:xfrm>
          <a:prstGeom prst="roundRect">
            <a:avLst>
              <a:gd name="adj" fmla="val 594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318177" y="3184327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920297" y="3590627"/>
            <a:ext cx="11066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Pinyin: ao / ou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3094" y="3939778"/>
            <a:ext cx="2461209" cy="3497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78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new vowel combos — get ready to shape your mouth!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932137" y="4441775"/>
            <a:ext cx="2025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26554" y="4752826"/>
            <a:ext cx="8136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like "ow" in cow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56437" y="4441775"/>
            <a:ext cx="2097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ou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02922" y="4752826"/>
            <a:ext cx="716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like "oh" in go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22950" y="2971651"/>
            <a:ext cx="2990701" cy="2136725"/>
          </a:xfrm>
          <a:prstGeom prst="roundRect">
            <a:avLst>
              <a:gd name="adj" fmla="val 594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562779" y="3184327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056660" y="3590627"/>
            <a:ext cx="13232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Listening Practice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87696" y="3939778"/>
            <a:ext cx="2461209" cy="3497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78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Tune in to dialogues about hobbies &amp; duration — listen and respond!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41950" y="5387727"/>
            <a:ext cx="507950" cy="3810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17574" y="5603528"/>
            <a:ext cx="2956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今天学得很好！</a:t>
            </a:r>
            <a:pPr algn="ctr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 you next lesson.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2026-06-30T02:51:24Z</dcterms:created>
  <dcterms:modified xsi:type="dcterms:W3CDTF">2026-06-30T02:51:24Z</dcterms:modified>
</cp:coreProperties>
</file>