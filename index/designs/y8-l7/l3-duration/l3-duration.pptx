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56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Title · 标题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7324" y="1919436"/>
            <a:ext cx="1221879" cy="307777"/>
          </a:xfrm>
          <a:prstGeom prst="roundRect">
            <a:avLst>
              <a:gd name="adj" fmla="val 4122238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72034" y="1992362"/>
            <a:ext cx="8124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of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1603" y="1919436"/>
            <a:ext cx="812155" cy="307777"/>
          </a:xfrm>
          <a:prstGeom prst="roundRect">
            <a:avLst>
              <a:gd name="adj" fmla="val 412223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50410" y="1992362"/>
            <a:ext cx="394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6158" y="1919436"/>
            <a:ext cx="1718518" cy="307777"/>
          </a:xfrm>
          <a:prstGeom prst="roundRect">
            <a:avLst>
              <a:gd name="adj" fmla="val 412223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5902" y="1992362"/>
            <a:ext cx="13190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· Book 2 Unit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8600" y="2455813"/>
            <a:ext cx="28348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OF ACTION · 时间长度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6072" y="2763738"/>
            <a:ext cx="341985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600"/>
              </a:lnSpc>
              <a:spcAft>
                <a:spcPts val="1000"/>
              </a:spcAft>
              <a:buNone/>
            </a:pPr>
            <a:r>
              <a:rPr lang="en-US" sz="6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时间长度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4546076" y="3728889"/>
            <a:ext cx="3099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long do you practise?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78550" y="4271814"/>
            <a:ext cx="634901" cy="3810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07978" y="4538514"/>
            <a:ext cx="5975896" cy="552450"/>
          </a:xfrm>
          <a:prstGeom prst="roundRect">
            <a:avLst>
              <a:gd name="adj" fmla="val 1839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72361" y="4700439"/>
            <a:ext cx="5247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今天我们学习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how to say how long we do activities in Chinese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2326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复习 (0–8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— 一边……一边……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32055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 · 4 rounds · then quick Text 1 choral read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666577"/>
            <a:ext cx="5435650" cy="2484983"/>
          </a:xfrm>
          <a:prstGeom prst="roundRect">
            <a:avLst>
              <a:gd name="adj" fmla="val 511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6826" y="1853803"/>
            <a:ext cx="50585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 TASK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6826" y="2142679"/>
            <a:ext cx="4959400" cy="425351"/>
          </a:xfrm>
          <a:prstGeom prst="rect">
            <a:avLst/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15876" y="2142679"/>
            <a:ext cx="0" cy="425351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627" y="2231529"/>
            <a:ext cx="46572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6826" y="2694980"/>
            <a:ext cx="2435275" cy="590252"/>
          </a:xfrm>
          <a:prstGeom prst="roundRect">
            <a:avLst>
              <a:gd name="adj" fmla="val 1291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3301" y="286315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4355" y="290914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8703" y="2806005"/>
            <a:ext cx="8507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 + 跳舞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8703" y="3040856"/>
            <a:ext cx="850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singing &amp; dancing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20951" y="2694980"/>
            <a:ext cx="2435275" cy="590252"/>
          </a:xfrm>
          <a:prstGeom prst="roundRect">
            <a:avLst>
              <a:gd name="adj" fmla="val 1291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57426" y="286315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48063" y="290914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2828" y="2806005"/>
            <a:ext cx="9587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 + 画画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2828" y="3040856"/>
            <a:ext cx="9587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 &amp; drawing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96826" y="3374082"/>
            <a:ext cx="2435275" cy="590252"/>
          </a:xfrm>
          <a:prstGeom prst="roundRect">
            <a:avLst>
              <a:gd name="adj" fmla="val 1291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3301" y="35422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23640" y="3588246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8703" y="3485108"/>
            <a:ext cx="11142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 + 吃东西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8703" y="3719959"/>
            <a:ext cx="11142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 &amp; eating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20951" y="3374082"/>
            <a:ext cx="2435275" cy="590252"/>
          </a:xfrm>
          <a:prstGeom prst="roundRect">
            <a:avLst>
              <a:gd name="adj" fmla="val 12910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57426" y="35422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47318" y="3588246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12828" y="3485108"/>
            <a:ext cx="9587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 + 唱歌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12828" y="3719959"/>
            <a:ext cx="9587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piano &amp; singing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97501" y="1666577"/>
            <a:ext cx="5435798" cy="2484983"/>
          </a:xfrm>
          <a:prstGeom prst="roundRect">
            <a:avLst>
              <a:gd name="adj" fmla="val 511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35626" y="1853803"/>
            <a:ext cx="50587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CHORAL READ · TEXT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35626" y="2142679"/>
            <a:ext cx="5058739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books → read Text 1 together as a class (1 min). Listen for familiar patterns as we go.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35626" y="2649289"/>
            <a:ext cx="4959548" cy="383977"/>
          </a:xfrm>
          <a:prstGeom prst="roundRect">
            <a:avLst>
              <a:gd name="adj" fmla="val 1984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88026" y="2750790"/>
            <a:ext cx="43015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for time phrases!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you hear any numbers + 小时 / 分钟?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8701" y="4316611"/>
            <a:ext cx="11074598" cy="919014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82513" y="4316611"/>
            <a:ext cx="0" cy="919014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926" y="4456212"/>
            <a:ext cx="107811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BRIDGE TO TODAY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4926" y="4669482"/>
            <a:ext cx="107811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我每天读一个小时的书。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4926" y="4882753"/>
            <a:ext cx="107811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Let's dissect this structure today!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889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820168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051893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2683669"/>
            <a:ext cx="10769798" cy="80173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2683669"/>
            <a:ext cx="0" cy="801737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2627" y="2861370"/>
            <a:ext cx="10418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2627" y="3067645"/>
            <a:ext cx="10418659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long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we do activities using the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structure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3714006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· 成功标准 — I can…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101" y="402193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127" y="4071045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2851" y="4009281"/>
            <a:ext cx="669823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duration phrases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—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五分钟 · 一刻钟 · 两个小时 · 四个半小时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101" y="446633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0518" y="4515445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2851" y="4453682"/>
            <a:ext cx="7034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structure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 + verb + duration + 的 + noun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e.g. 他每天弹一个小时的钢琴。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1101" y="491073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0220" y="4959846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2851" y="4898082"/>
            <a:ext cx="830553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long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someone does their hobby from a picture → produce a full sentence with duration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8562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Duration Phrases (Act. 3 p.62)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22250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DURATION PHRASES · 时间长度词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1587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Time Duration — Short to Long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244501"/>
            <a:ext cx="11296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 3, p.62 · All 12 phrases · Compound times highlighted in gold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1546027"/>
            <a:ext cx="5461099" cy="3110210"/>
          </a:xfrm>
          <a:prstGeom prst="roundRect">
            <a:avLst>
              <a:gd name="adj" fmla="val 367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7751" y="1565077"/>
            <a:ext cx="5422999" cy="320576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0901" y="1653927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89250" y="1653927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7751" y="2341066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0901" y="1987153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五分钟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89250" y="2030016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minutes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7751" y="2345829"/>
            <a:ext cx="5422999" cy="460177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7751" y="2801243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0901" y="2447330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十分钟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89250" y="2490192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minutes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7751" y="3261420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0901" y="2907506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89250" y="2950369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minutes (a quarter)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7751" y="3266182"/>
            <a:ext cx="5422999" cy="460177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77751" y="3721596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901" y="3367683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89250" y="3410545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minutes (half hour)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7751" y="4181773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0901" y="3827859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89250" y="3870722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 minutes (3 quarters)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7751" y="4186535"/>
            <a:ext cx="5422999" cy="450652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0901" y="4288036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89250" y="4330898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hour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1546027"/>
            <a:ext cx="5461099" cy="3110210"/>
          </a:xfrm>
          <a:prstGeom prst="roundRect">
            <a:avLst>
              <a:gd name="adj" fmla="val 367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1250" y="1565077"/>
            <a:ext cx="5422999" cy="320576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94400" y="1653927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902750" y="1653927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91250" y="2341066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4400" y="1987153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一个半小时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902750" y="2030016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1.5 hours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1250" y="2345829"/>
            <a:ext cx="5422999" cy="460177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191250" y="2801243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4400" y="2447330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902750" y="2490192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hours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91250" y="2806005"/>
            <a:ext cx="5422999" cy="46017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191250" y="3261420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94400" y="2907506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两个小时零五分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02750" y="2950369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hrs 5 min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91250" y="3266182"/>
            <a:ext cx="5422999" cy="46017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191250" y="3721596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4400" y="3367683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两个小时十分钟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02750" y="3410545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hrs 10 min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1250" y="3726359"/>
            <a:ext cx="5422999" cy="46017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6191250" y="4181773"/>
            <a:ext cx="54229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94400" y="3827859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三个小时一刻钟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902750" y="3870722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hrs 15 min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91250" y="4186535"/>
            <a:ext cx="5422999" cy="450652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394400" y="4288036"/>
            <a:ext cx="2558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四个半小时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902750" y="4330898"/>
            <a:ext cx="2558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4.5 hours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8701" y="4795838"/>
            <a:ext cx="11074598" cy="653802"/>
          </a:xfrm>
          <a:prstGeom prst="roundRect">
            <a:avLst>
              <a:gd name="adj" fmla="val 15540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80901" y="4941838"/>
            <a:ext cx="6324791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Compound time pattern: hours first, then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</a:t>
            </a: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minutes (for small remainders) or minutes directly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80901" y="5151239"/>
            <a:ext cx="6324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两个小时零五分 · 三个小时一刻钟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811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Duration Structure · 关键句型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22250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DURATION STRUCTURE · 时间结构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1587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Duration Structure · 关键句型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244501"/>
            <a:ext cx="11296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+ 每天 + Verb + Duration + 的 + Noun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1546027"/>
            <a:ext cx="11074598" cy="746075"/>
          </a:xfrm>
          <a:prstGeom prst="roundRect">
            <a:avLst>
              <a:gd name="adj" fmla="val 1532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225129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1084" y="1717477"/>
            <a:ext cx="220269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86594" y="1996827"/>
            <a:ext cx="6374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主语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51646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93293" y="1818977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03936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1841" y="1717477"/>
            <a:ext cx="440385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29545" y="1996827"/>
            <a:ext cx="5064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day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30452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72099" y="1818977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2593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8548" y="1717477"/>
            <a:ext cx="220269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7B5EA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20853" y="1996827"/>
            <a:ext cx="480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B5EA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 动词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209109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0756" y="1818977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1399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3504" y="1717477"/>
            <a:ext cx="880619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99188" y="1996827"/>
            <a:ext cx="8894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时间长度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087916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9563" y="1818977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40205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5061" y="1736527"/>
            <a:ext cx="181407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55844" y="1977777"/>
            <a:ext cx="5266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connector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966722" y="1565077"/>
            <a:ext cx="0" cy="707975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8369" y="1818977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76917" y="1717477"/>
            <a:ext cx="440385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426303" y="1996827"/>
            <a:ext cx="7476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Noun / Object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58701" y="2431703"/>
            <a:ext cx="11074598" cy="514350"/>
          </a:xfrm>
          <a:prstGeom prst="roundRect">
            <a:avLst>
              <a:gd name="adj" fmla="val 1975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96826" y="2555528"/>
            <a:ext cx="83732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r>
              <a:rPr lang="en-US" sz="1500" b="1" dirty="0">
                <a:solidFill>
                  <a:srgbClr val="7B5EA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</a:t>
            </a: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5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83588" y="2598390"/>
            <a:ext cx="22558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plays piano for 1 hour every day.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8701" y="3047554"/>
            <a:ext cx="11074598" cy="514350"/>
          </a:xfrm>
          <a:prstGeom prst="roundRect">
            <a:avLst>
              <a:gd name="adj" fmla="val 1975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6826" y="3171379"/>
            <a:ext cx="8377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r>
              <a:rPr lang="en-US" sz="1500" b="1" dirty="0">
                <a:solidFill>
                  <a:srgbClr val="7B5EA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</a:t>
            </a: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r>
              <a:rPr lang="en-US" sz="15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歌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188202" y="3214241"/>
            <a:ext cx="22511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sings for 30 minutes every day.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8701" y="3663404"/>
            <a:ext cx="11074598" cy="514350"/>
          </a:xfrm>
          <a:prstGeom prst="roundRect">
            <a:avLst>
              <a:gd name="adj" fmla="val 1975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96826" y="3787229"/>
            <a:ext cx="8540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r>
              <a:rPr lang="en-US" sz="1500" b="1" dirty="0">
                <a:solidFill>
                  <a:srgbClr val="7B5EA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</a:t>
            </a:r>
            <a:r>
              <a:rPr lang="en-US" sz="15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</a:t>
            </a:r>
            <a:r>
              <a:rPr lang="en-US" sz="15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348043" y="3830092"/>
            <a:ext cx="20880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watch TV for 2 hours every day.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8701" y="4317355"/>
            <a:ext cx="11074598" cy="809327"/>
          </a:xfrm>
          <a:prstGeom prst="roundRect">
            <a:avLst>
              <a:gd name="adj" fmla="val 12554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06351" y="4476006"/>
            <a:ext cx="50314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Difference from English — Time goes BETWEEN verb and object!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6351" y="4739432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他每天弹钢琴一个小时。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850803" y="474895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31803" y="4739432"/>
            <a:ext cx="2147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他每天弹</a:t>
            </a: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的钢琴。✓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8119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· 检查理解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81156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017836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CFU — 你懂了吗？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497211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ready — write your answers, hold up on cue.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101" y="1836837"/>
            <a:ext cx="10769798" cy="1275159"/>
          </a:xfrm>
          <a:prstGeom prst="roundRect">
            <a:avLst>
              <a:gd name="adj" fmla="val 996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4527" y="202406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5198" y="2084338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7778" y="2024062"/>
            <a:ext cx="3245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INTO CHINESE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7778" y="2220813"/>
            <a:ext cx="324528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"She reads for 45 minutes every day."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7778" y="2553295"/>
            <a:ext cx="2565350" cy="371475"/>
          </a:xfrm>
          <a:prstGeom prst="roundRect">
            <a:avLst>
              <a:gd name="adj" fmla="val 20513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29978" y="2648545"/>
            <a:ext cx="21633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hidden — reveal next slide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101" y="3264396"/>
            <a:ext cx="10769798" cy="1532334"/>
          </a:xfrm>
          <a:prstGeom prst="roundRect">
            <a:avLst>
              <a:gd name="adj" fmla="val 828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527" y="345162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1208" y="3511897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7778" y="3451622"/>
            <a:ext cx="4774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ERROR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7778" y="3648373"/>
            <a:ext cx="477456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this sentence?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他每天弹钢琴一个小时。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7778" y="3980855"/>
            <a:ext cx="477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Where should the time duration go?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7778" y="4238030"/>
            <a:ext cx="2565350" cy="371475"/>
          </a:xfrm>
          <a:prstGeom prst="roundRect">
            <a:avLst>
              <a:gd name="adj" fmla="val 20513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29978" y="4333280"/>
            <a:ext cx="21633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hidden — reveal next slide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101" y="4949130"/>
            <a:ext cx="10769798" cy="1275159"/>
          </a:xfrm>
          <a:prstGeom prst="roundRect">
            <a:avLst>
              <a:gd name="adj" fmla="val 996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74527" y="513635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90910" y="5196632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7778" y="5136356"/>
            <a:ext cx="43783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RECALL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07778" y="5333107"/>
            <a:ext cx="437835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</a:t>
            </a:r>
            <a:r>
              <a:rPr lang="en-US" sz="1300" b="1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"one and a half hours"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07778" y="5665589"/>
            <a:ext cx="2565350" cy="371475"/>
          </a:xfrm>
          <a:prstGeom prst="roundRect">
            <a:avLst>
              <a:gd name="adj" fmla="val 20513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29978" y="5760839"/>
            <a:ext cx="21633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hidden — reveal next slide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6460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— Answers Revealed · 答案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046857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答案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253133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CFU — 答案揭晓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732508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your whiteboard — correct and discuss any errors.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101" y="2072134"/>
            <a:ext cx="10769798" cy="1123652"/>
          </a:xfrm>
          <a:prstGeom prst="roundRect">
            <a:avLst>
              <a:gd name="adj" fmla="val 1130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4527" y="225936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5198" y="2319635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7778" y="2259360"/>
            <a:ext cx="35552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· "She reads for 45 minutes every day."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7778" y="2456111"/>
            <a:ext cx="3485555" cy="552450"/>
          </a:xfrm>
          <a:prstGeom prst="roundRect">
            <a:avLst>
              <a:gd name="adj" fmla="val 16092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29978" y="2589461"/>
            <a:ext cx="2072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她每天读</a:t>
            </a: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三刻钟</a:t>
            </a:r>
            <a:r>
              <a:rPr lang="en-US" sz="16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的书。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8879" y="2651373"/>
            <a:ext cx="8998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 min = 三刻钟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348186"/>
            <a:ext cx="10769798" cy="1364754"/>
          </a:xfrm>
          <a:prstGeom prst="roundRect">
            <a:avLst>
              <a:gd name="adj" fmla="val 930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527" y="353541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1208" y="359568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7778" y="3535412"/>
            <a:ext cx="4618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ERROR · 他每天弹钢琴一个小时。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7778" y="3741688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他每天弹钢琴一个小时。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6030" y="3755975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68179" y="3732163"/>
            <a:ext cx="23124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他每天弹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的钢琴。✓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7778" y="4056013"/>
            <a:ext cx="4527500" cy="469702"/>
          </a:xfrm>
          <a:prstGeom prst="roundRect">
            <a:avLst>
              <a:gd name="adj" fmla="val 1892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04529" y="4176564"/>
            <a:ext cx="3388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Duration goes </a:t>
            </a: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between verb and object</a:t>
            </a: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, not after!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1101" y="4865340"/>
            <a:ext cx="10769798" cy="1123652"/>
          </a:xfrm>
          <a:prstGeom prst="roundRect">
            <a:avLst>
              <a:gd name="adj" fmla="val 1130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4527" y="505256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90910" y="5112841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07778" y="5052566"/>
            <a:ext cx="2967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RECALL · "one and a half hours"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507778" y="5249317"/>
            <a:ext cx="2909292" cy="552450"/>
          </a:xfrm>
          <a:prstGeom prst="roundRect">
            <a:avLst>
              <a:gd name="adj" fmla="val 16092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29978" y="5382667"/>
            <a:ext cx="10362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一个半小时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872829" y="5444579"/>
            <a:ext cx="13484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lit. "one-and-half hour"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484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Oral Drill · We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9875"/>
            <a:ext cx="1026616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20626"/>
            <a:ext cx="6846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2268" y="596801"/>
            <a:ext cx="485805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Duration Phrases Oral Drill · 口头操练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050727"/>
            <a:ext cx="802481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111002"/>
            <a:ext cx="4623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482" y="1074539"/>
            <a:ext cx="682377" cy="244376"/>
          </a:xfrm>
          <a:prstGeom prst="roundRect">
            <a:avLst>
              <a:gd name="adj" fmla="val 5191713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5083" y="1125289"/>
            <a:ext cx="411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95127"/>
            <a:ext cx="5544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PHRASES (KEEP VISIBLE)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701" y="1739503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0626" y="1850529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五分钟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0626" y="2104430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minutes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20951" y="1739503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2876" y="1850529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十分钟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82876" y="2104430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minutes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58701" y="2437656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0626" y="2548682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0626" y="2802582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minutes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0951" y="2437656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82876" y="2548682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82876" y="2802582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minutes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8701" y="3135809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0626" y="3246834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0626" y="3500735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 minutes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20951" y="3135809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82876" y="3246834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82876" y="3500735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hour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8701" y="3833961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0626" y="3944987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一个半小时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0626" y="4198888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1.5 hours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20951" y="3833961"/>
            <a:ext cx="267340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82876" y="3944987"/>
            <a:ext cx="2396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82876" y="4198888"/>
            <a:ext cx="23965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hours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8701" y="4532114"/>
            <a:ext cx="5435650" cy="609302"/>
          </a:xfrm>
          <a:prstGeom prst="roundRect">
            <a:avLst>
              <a:gd name="adj" fmla="val 145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20626" y="4643140"/>
            <a:ext cx="52140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四个半小时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0626" y="4897041"/>
            <a:ext cx="52140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4.5 hours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97501" y="1495127"/>
            <a:ext cx="5435798" cy="3646289"/>
          </a:xfrm>
          <a:prstGeom prst="roundRect">
            <a:avLst>
              <a:gd name="adj" fmla="val 348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435626" y="1682353"/>
            <a:ext cx="50587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DRILL SEQUENCE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35626" y="1971229"/>
            <a:ext cx="4959548" cy="399752"/>
          </a:xfrm>
          <a:prstGeom prst="roundRect">
            <a:avLst>
              <a:gd name="adj" fmla="val 1906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72101" y="2082254"/>
            <a:ext cx="456036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— Choral: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says → class repeats each phrase in unison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35626" y="2472482"/>
            <a:ext cx="4959548" cy="577453"/>
          </a:xfrm>
          <a:prstGeom prst="roundRect">
            <a:avLst>
              <a:gd name="adj" fmla="val 13196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572101" y="2583507"/>
            <a:ext cx="47803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— English→Chinese: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calls English → students call out Chinese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35626" y="3151436"/>
            <a:ext cx="4959548" cy="577453"/>
          </a:xfrm>
          <a:prstGeom prst="roundRect">
            <a:avLst>
              <a:gd name="adj" fmla="val 13196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572101" y="3262461"/>
            <a:ext cx="47803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— Rapid Fire Whiteboard: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calls English → students write Chinese, hold up boards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8701" y="5281017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11101" y="5395317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11101" y="5579418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Phrase list stays visible on projector throughout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2501" y="5281017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444901" y="5395317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444901" y="5579418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Close eyes for Round 2 — say the full list in order from memory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26301" y="5281017"/>
            <a:ext cx="3606998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178701" y="5395317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178701" y="5579418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— all boards up simultaneously each round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24833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Duration Pictures · We Do → You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57225"/>
            <a:ext cx="1045071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07975"/>
            <a:ext cx="703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0722" y="584150"/>
            <a:ext cx="47642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Act. 5 · Duration Pictures · 说说图片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038076"/>
            <a:ext cx="802035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098352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036" y="1061889"/>
            <a:ext cx="1356717" cy="244376"/>
          </a:xfrm>
          <a:prstGeom prst="roundRect">
            <a:avLst>
              <a:gd name="adj" fmla="val 5191713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4636" y="1112639"/>
            <a:ext cx="1099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82477"/>
            <a:ext cx="2654350" cy="2442121"/>
          </a:xfrm>
          <a:prstGeom prst="roundRect">
            <a:avLst>
              <a:gd name="adj" fmla="val 468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492002"/>
            <a:ext cx="2635300" cy="1343769"/>
          </a:xfrm>
          <a:prstGeom prst="rect">
            <a:avLst/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68226" y="2831009"/>
            <a:ext cx="2635300" cy="0"/>
          </a:xfrm>
          <a:prstGeom prst="line">
            <a:avLst/>
          </a:prstGeom>
          <a:noFill/>
          <a:ln w="9525">
            <a:solidFill>
              <a:srgbClr val="3A7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6261" y="1711077"/>
            <a:ext cx="739080" cy="174427"/>
          </a:xfrm>
          <a:prstGeom prst="roundRect">
            <a:avLst>
              <a:gd name="adj" fmla="val 727370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25456" y="1736378"/>
            <a:ext cx="5206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✓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71362" y="1961704"/>
            <a:ext cx="24290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🎹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1362" y="2438995"/>
            <a:ext cx="24290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626" y="2950071"/>
            <a:ext cx="23771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1 · MODEL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3111996"/>
            <a:ext cx="2377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田云 · Piano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0626" y="3346847"/>
            <a:ext cx="2377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plays piano every day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0626" y="3564285"/>
            <a:ext cx="23305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626" y="3619798"/>
            <a:ext cx="23771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田云每天弹一个小时的钢琴。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5450" y="1482477"/>
            <a:ext cx="2654350" cy="2442121"/>
          </a:xfrm>
          <a:prstGeom prst="roundRect">
            <a:avLst>
              <a:gd name="adj" fmla="val 468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74975" y="1492002"/>
            <a:ext cx="2635300" cy="1343769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74975" y="2831009"/>
            <a:ext cx="26353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4534" y="1711077"/>
            <a:ext cx="656034" cy="174427"/>
          </a:xfrm>
          <a:prstGeom prst="roundRect">
            <a:avLst>
              <a:gd name="adj" fmla="val 727370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74559" y="1736378"/>
            <a:ext cx="4359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work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78112" y="1961704"/>
            <a:ext cx="24290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🎤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478112" y="2438995"/>
            <a:ext cx="24290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7375" y="2950071"/>
            <a:ext cx="23771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2 · PAIR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27375" y="3111996"/>
            <a:ext cx="2377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 · Singing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7375" y="3346847"/>
            <a:ext cx="2377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sings every day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27375" y="3564285"/>
            <a:ext cx="23305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7375" y="3619798"/>
            <a:ext cx="23771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try!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1482477"/>
            <a:ext cx="2654350" cy="2442121"/>
          </a:xfrm>
          <a:prstGeom prst="roundRect">
            <a:avLst>
              <a:gd name="adj" fmla="val 468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81725" y="1492002"/>
            <a:ext cx="2635300" cy="1343769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181725" y="2831009"/>
            <a:ext cx="26353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1283" y="1711077"/>
            <a:ext cx="656034" cy="174427"/>
          </a:xfrm>
          <a:prstGeom prst="roundRect">
            <a:avLst>
              <a:gd name="adj" fmla="val 727370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81309" y="1736378"/>
            <a:ext cx="4359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work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84861" y="1961704"/>
            <a:ext cx="24290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⚽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284861" y="2438995"/>
            <a:ext cx="24290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34125" y="2950071"/>
            <a:ext cx="23771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3 · PAIR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34125" y="3111996"/>
            <a:ext cx="2377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 · Football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34125" y="3346847"/>
            <a:ext cx="2377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plays football every day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34125" y="3564285"/>
            <a:ext cx="23305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4125" y="3619798"/>
            <a:ext cx="23771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try!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978950" y="1482477"/>
            <a:ext cx="2654350" cy="2442121"/>
          </a:xfrm>
          <a:prstGeom prst="roundRect">
            <a:avLst>
              <a:gd name="adj" fmla="val 468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988475" y="1492002"/>
            <a:ext cx="2635300" cy="1343769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8988475" y="2831009"/>
            <a:ext cx="26353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78033" y="1711077"/>
            <a:ext cx="656034" cy="174427"/>
          </a:xfrm>
          <a:prstGeom prst="roundRect">
            <a:avLst>
              <a:gd name="adj" fmla="val 727370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088058" y="1736378"/>
            <a:ext cx="4359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work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091611" y="1961704"/>
            <a:ext cx="24290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📺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9091611" y="2438995"/>
            <a:ext cx="24290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三刻钟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140875" y="2950071"/>
            <a:ext cx="23771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4 · PAIR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9140875" y="3111996"/>
            <a:ext cx="2377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 · TV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0875" y="3346847"/>
            <a:ext cx="23771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watches TV every day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0875" y="3564285"/>
            <a:ext cx="23305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0875" y="3619798"/>
            <a:ext cx="23771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try!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58701" y="4064198"/>
            <a:ext cx="11074598" cy="577751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582513" y="4064198"/>
            <a:ext cx="0" cy="577751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4926" y="4191149"/>
            <a:ext cx="107811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17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558701" y="4781550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11101" y="4895850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11101" y="5079950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above stays visible; duration list on board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292501" y="4781550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444901" y="4895850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44901" y="5079950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 a 5th scenario with a different duration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026301" y="4781550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178701" y="4895850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178701" y="5079950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3–4 students for pictures 2–4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8781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Bingo · Duration Phrases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57225"/>
            <a:ext cx="1045518" cy="244376"/>
          </a:xfrm>
          <a:prstGeom prst="roundRect">
            <a:avLst>
              <a:gd name="adj" fmla="val 5191713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07975"/>
            <a:ext cx="703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1169" y="584150"/>
            <a:ext cx="223608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Bingo · 宾果游戏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038076"/>
            <a:ext cx="802035" cy="292001"/>
          </a:xfrm>
          <a:prstGeom prst="roundRect">
            <a:avLst>
              <a:gd name="adj" fmla="val 4344951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098352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036" y="1061889"/>
            <a:ext cx="755600" cy="244376"/>
          </a:xfrm>
          <a:prstGeom prst="roundRect">
            <a:avLst>
              <a:gd name="adj" fmla="val 5191713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4636" y="1112639"/>
            <a:ext cx="4859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82477"/>
            <a:ext cx="3359051" cy="3069431"/>
          </a:xfrm>
          <a:prstGeom prst="roundRect">
            <a:avLst>
              <a:gd name="adj" fmla="val 3724"/>
            </a:avLst>
          </a:prstGeom>
          <a:noFill/>
          <a:ln w="2857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7276" y="1511052"/>
            <a:ext cx="3301901" cy="517327"/>
          </a:xfrm>
          <a:prstGeom prst="rect">
            <a:avLst/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678335" y="1511052"/>
            <a:ext cx="0" cy="517327"/>
          </a:xfrm>
          <a:prstGeom prst="line">
            <a:avLst/>
          </a:prstGeom>
          <a:noFill/>
          <a:ln w="19050">
            <a:solidFill>
              <a:srgbClr val="FEF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460" y="1612553"/>
            <a:ext cx="11031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78919" y="1511052"/>
            <a:ext cx="0" cy="517327"/>
          </a:xfrm>
          <a:prstGeom prst="line">
            <a:avLst/>
          </a:prstGeom>
          <a:noFill/>
          <a:ln w="19050">
            <a:solidFill>
              <a:srgbClr val="FEFC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77044" y="1612553"/>
            <a:ext cx="11031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77436" y="1612553"/>
            <a:ext cx="11227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276" y="2028379"/>
            <a:ext cx="1100584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5667" y="2361754"/>
            <a:ext cx="64365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minutes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87860" y="2028379"/>
            <a:ext cx="1100584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87103" y="2361754"/>
            <a:ext cx="702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minutes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88444" y="2028379"/>
            <a:ext cx="1100733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43854" y="2361754"/>
            <a:ext cx="5899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1.5 hours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276" y="2860030"/>
            <a:ext cx="1100584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3616" y="3193405"/>
            <a:ext cx="7279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minutes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87860" y="2860030"/>
            <a:ext cx="1100584" cy="831652"/>
          </a:xfrm>
          <a:prstGeom prst="rect">
            <a:avLst/>
          </a:prstGeom>
          <a:solidFill>
            <a:srgbClr val="D4756B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24335" y="3168551"/>
            <a:ext cx="42763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G·O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444" y="2860030"/>
            <a:ext cx="1100733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092736" y="3193405"/>
            <a:ext cx="49199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hours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276" y="3691682"/>
            <a:ext cx="1100584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3920" y="4025057"/>
            <a:ext cx="72729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 minutes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87860" y="3691682"/>
            <a:ext cx="1100584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039819" y="4025057"/>
            <a:ext cx="39666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hour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88444" y="3691682"/>
            <a:ext cx="1100733" cy="831652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86928" y="4025057"/>
            <a:ext cx="70361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minutes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71652" y="1482477"/>
            <a:ext cx="7461647" cy="1590080"/>
          </a:xfrm>
          <a:prstGeom prst="roundRect">
            <a:avLst>
              <a:gd name="adj" fmla="val 798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84328" y="1644402"/>
            <a:ext cx="71770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84328" y="1933277"/>
            <a:ext cx="1651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0553" y="1933277"/>
            <a:ext cx="496128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have a 3×3 card with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English duration phrases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random squares.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84328" y="2199829"/>
            <a:ext cx="1651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0553" y="2199829"/>
            <a:ext cx="672616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duration phrases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Chinese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两个小时). Students find &amp; mark the English equivalent.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4328" y="2466380"/>
            <a:ext cx="1651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0553" y="2466380"/>
            <a:ext cx="59467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in a row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(horizontal, vertical, or diagonal) = BINGO! Call out and read back the phrases.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84328" y="2732931"/>
            <a:ext cx="1651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0553" y="2732931"/>
            <a:ext cx="606140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2–3 rounds. Sample card shown → each student's card has phrases in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different positions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71652" y="3199507"/>
            <a:ext cx="7461647" cy="730151"/>
          </a:xfrm>
          <a:prstGeom prst="roundRect">
            <a:avLst>
              <a:gd name="adj" fmla="val 12176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393853" y="3345507"/>
            <a:ext cx="7157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in Chinese → students mark English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393853" y="3583632"/>
            <a:ext cx="7157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两个小时 → students mark "2 hours"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8701" y="4691509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1101" y="4805809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11101" y="4989909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list stays on projector so weaker students can reference it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92501" y="4691509"/>
            <a:ext cx="3606850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444901" y="4805809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444901" y="4989909"/>
            <a:ext cx="33680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take turns calling phrases in Chinese (student caller role)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26301" y="4691509"/>
            <a:ext cx="3606998" cy="732681"/>
          </a:xfrm>
          <a:prstGeom prst="roundRect">
            <a:avLst>
              <a:gd name="adj" fmla="val 138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78701" y="4805809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/ OTR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178701" y="4989909"/>
            <a:ext cx="33682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Print or draw 3×3 blank grid; fill squares with any 9 of the 12 English phrases in any order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76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 · Writing Relay · You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57225"/>
            <a:ext cx="1046262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07975"/>
            <a:ext cx="704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1913" y="584150"/>
            <a:ext cx="320125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Writing Relay · 接力填空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038076"/>
            <a:ext cx="854273" cy="292001"/>
          </a:xfrm>
          <a:prstGeom prst="roundRect">
            <a:avLst>
              <a:gd name="adj" fmla="val 4344951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098352"/>
            <a:ext cx="515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10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27274" y="1061889"/>
            <a:ext cx="755600" cy="244376"/>
          </a:xfrm>
          <a:prstGeom prst="roundRect">
            <a:avLst>
              <a:gd name="adj" fmla="val 5191713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66875" y="1112639"/>
            <a:ext cx="4859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82477"/>
            <a:ext cx="8331547" cy="771525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6826" y="171583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7674" y="1768227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79327" y="1644402"/>
            <a:ext cx="63158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他每天打</a:t>
            </a:r>
            <a:r>
              <a:rPr lang="en-US" sz="1200" b="1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in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的球。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79327" y="1949202"/>
            <a:ext cx="6315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</a:t>
            </a: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fills this blank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49021" y="1681014"/>
            <a:ext cx="1003102" cy="374452"/>
          </a:xfrm>
          <a:prstGeom prst="roundRect">
            <a:avLst>
              <a:gd name="adj" fmla="val 338823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45772" y="1763464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8701" y="2380952"/>
            <a:ext cx="8331547" cy="771525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261431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5024" y="2666702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79327" y="2542877"/>
            <a:ext cx="6471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她每天唱</a:t>
            </a:r>
            <a:r>
              <a:rPr lang="en-US" sz="1200" b="1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in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的歌。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79327" y="2847677"/>
            <a:ext cx="6471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</a:t>
            </a: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fills this blank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01421" y="2579489"/>
            <a:ext cx="850702" cy="374452"/>
          </a:xfrm>
          <a:prstGeom prst="roundRect">
            <a:avLst>
              <a:gd name="adj" fmla="val 338823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98172" y="2661940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8701" y="3279428"/>
            <a:ext cx="8331547" cy="771525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6826" y="35127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04577" y="3565178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79327" y="3441353"/>
            <a:ext cx="63158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我每天读</a:t>
            </a:r>
            <a:r>
              <a:rPr lang="en-US" sz="1200" b="1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in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的书。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79327" y="3746153"/>
            <a:ext cx="63158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</a:t>
            </a: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fills this blank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49021" y="3477964"/>
            <a:ext cx="1003102" cy="374452"/>
          </a:xfrm>
          <a:prstGeom prst="roundRect">
            <a:avLst>
              <a:gd name="adj" fmla="val 338823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45772" y="356041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8701" y="4177903"/>
            <a:ext cx="8331547" cy="771525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96826" y="441126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04131" y="4463653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79327" y="4339828"/>
            <a:ext cx="6471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他每天听</a:t>
            </a:r>
            <a:r>
              <a:rPr lang="en-US" sz="1200" b="1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in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的音乐。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79327" y="4644628"/>
            <a:ext cx="6471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</a:t>
            </a: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fills this blank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01421" y="4376440"/>
            <a:ext cx="850702" cy="374452"/>
          </a:xfrm>
          <a:prstGeom prst="roundRect">
            <a:avLst>
              <a:gd name="adj" fmla="val 338823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98172" y="4458891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三刻钟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93398" y="1482477"/>
            <a:ext cx="2539901" cy="2192536"/>
          </a:xfrm>
          <a:prstGeom prst="roundRect">
            <a:avLst>
              <a:gd name="adj" fmla="val 579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306074" y="1657052"/>
            <a:ext cx="2156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RELAY RULES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06074" y="1945928"/>
            <a:ext cx="1651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569500" y="1945928"/>
            <a:ext cx="188814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of 4 — one paper per team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06074" y="2377380"/>
            <a:ext cx="1651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569500" y="2377380"/>
            <a:ext cx="188814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 1 fills sentence 1, passes paper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06074" y="2808833"/>
            <a:ext cx="1651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569500" y="2808833"/>
            <a:ext cx="181846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Fastest correct team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wins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306074" y="3068985"/>
            <a:ext cx="165164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569500" y="3068985"/>
            <a:ext cx="188814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4 blanks must be correct to count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3398" y="3801963"/>
            <a:ext cx="2539901" cy="752475"/>
          </a:xfrm>
          <a:prstGeom prst="rect">
            <a:avLst/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9112448" y="3801963"/>
            <a:ext cx="0" cy="752475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3898" y="3916263"/>
            <a:ext cx="22409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283898" y="4135338"/>
            <a:ext cx="22409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Check: verb + duration + 的 + noun order!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8701" y="5089029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1101" y="5203329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11101" y="5387429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phrase list stays on projector for reference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92501" y="5089029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444901" y="5203329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444901" y="5387429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extra original sentence with a different duration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26301" y="5089029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178701" y="5203329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178701" y="5387429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team reads all 4 sentences aloud to the class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45405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673126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368451"/>
            <a:ext cx="5257949" cy="2556272"/>
          </a:xfrm>
          <a:prstGeom prst="roundRect">
            <a:avLst>
              <a:gd name="adj" fmla="val 496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4527" y="2581126"/>
            <a:ext cx="4825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4527" y="290810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6439" y="2946202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79327" y="290810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41239" y="2946202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84127" y="290810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46039" y="2946202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03227" y="2941439"/>
            <a:ext cx="3150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1 — I can say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时间长度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phrases in Chinese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4527" y="33017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36439" y="3339852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79327" y="33017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41239" y="3339852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84127" y="330175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6039" y="3339852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03227" y="3335089"/>
            <a:ext cx="3403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2 — I can use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 + verb + duration + 的 + noun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4527" y="376207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36439" y="3800177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79327" y="376207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41239" y="3800177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84127" y="376207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46039" y="3800177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03227" y="3695402"/>
            <a:ext cx="37764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3 — I can describe a picture using the duration structure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4527" y="4222403"/>
            <a:ext cx="4825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👆 Confident · ➡️ Getting there · 👇 Still unsure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2950" y="2368451"/>
            <a:ext cx="5257949" cy="2556272"/>
          </a:xfrm>
          <a:prstGeom prst="roundRect">
            <a:avLst>
              <a:gd name="adj" fmla="val 496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86376" y="2581126"/>
            <a:ext cx="4825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离场票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86376" y="2908102"/>
            <a:ext cx="4731097" cy="150242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510189" y="2908102"/>
            <a:ext cx="0" cy="1502420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7152" y="3073152"/>
            <a:ext cx="43627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37152" y="3292227"/>
            <a:ext cx="436271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this sentence in Chinese on your mini whiteboard:
</a:t>
            </a:r>
            <a:r>
              <a:rPr lang="en-US" sz="1200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"She plays guitar for one hour every day."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37152" y="3820269"/>
            <a:ext cx="2488257" cy="374452"/>
          </a:xfrm>
          <a:prstGeom prst="roundRect">
            <a:avLst>
              <a:gd name="adj" fmla="val 20350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14852" y="3883670"/>
            <a:ext cx="21755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她每天弹一个小时的吉他。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86376" y="4550122"/>
            <a:ext cx="48257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before you leave — teacher checks on the way out.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1101" y="5102423"/>
            <a:ext cx="10769798" cy="479227"/>
          </a:xfrm>
          <a:prstGeom prst="roundRect">
            <a:avLst>
              <a:gd name="adj" fmla="val 2120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49226" y="5251549"/>
            <a:ext cx="54948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Timing: SC revisit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43–46 min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Exit ticket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46–50 min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Clean up &amp; leave by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626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DURATION · 时间长度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1649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448" y="144363"/>
            <a:ext cx="1141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8551" y="1178272"/>
            <a:ext cx="17747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9793" y="1441698"/>
            <a:ext cx="2652266" cy="345877"/>
          </a:xfrm>
          <a:prstGeom prst="roundRect">
            <a:avLst>
              <a:gd name="adj" fmla="val 3668154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1680" y="1524149"/>
            <a:ext cx="2148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· Pinyin + Listening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4686" y="1914525"/>
            <a:ext cx="360262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下节课 — What's Next?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32335" y="2482751"/>
            <a:ext cx="35271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new things to look forward to in Lesson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8348" y="2971651"/>
            <a:ext cx="2990701" cy="2136725"/>
          </a:xfrm>
          <a:prstGeom prst="roundRect">
            <a:avLst>
              <a:gd name="adj" fmla="val 594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18177" y="3184327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20297" y="3590627"/>
            <a:ext cx="11066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Pinyin: ao / ou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3094" y="3939778"/>
            <a:ext cx="24612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new vowel combos — get ready to shape your mouth!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2137" y="4441775"/>
            <a:ext cx="2025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26554" y="4752826"/>
            <a:ext cx="813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like "ow" in cow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56437" y="4441775"/>
            <a:ext cx="2097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02922" y="4752826"/>
            <a:ext cx="716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like "oh" in go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22950" y="2971651"/>
            <a:ext cx="2990701" cy="2136725"/>
          </a:xfrm>
          <a:prstGeom prst="roundRect">
            <a:avLst>
              <a:gd name="adj" fmla="val 594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62779" y="3184327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56660" y="3590627"/>
            <a:ext cx="13232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 Practice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7696" y="3939778"/>
            <a:ext cx="2461209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Tune in to dialogues about hobbies &amp; duration — listen and respond!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41950" y="5387727"/>
            <a:ext cx="507950" cy="3810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17574" y="5603528"/>
            <a:ext cx="2956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今天学得很好！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 you next lesson.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2026-06-30T02:51:24Z</dcterms:created>
  <dcterms:modified xsi:type="dcterms:W3CDTF">2026-06-30T02:51:24Z</dcterms:modified>
</cp:coreProperties>
</file>