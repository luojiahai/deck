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254323"/>
            <a:ext cx="25383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UNIT 3 · LESSON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524000" y="1689199"/>
            <a:ext cx="1777329" cy="1778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0"/>
              </a:lnSpc>
              <a:spcAft>
                <a:spcPts val="1000"/>
              </a:spcAft>
              <a:buNone/>
            </a:pPr>
            <a:r>
              <a:rPr lang="en-US" sz="14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1524000" y="3594199"/>
            <a:ext cx="29135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· All · 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24000" y="4203799"/>
            <a:ext cx="271973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8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7 · Grammar Focus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4899124"/>
            <a:ext cx="762000" cy="50750"/>
          </a:xfrm>
          <a:prstGeom prst="roundRect">
            <a:avLst>
              <a:gd name="adj" fmla="val 500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24000" y="5243513"/>
            <a:ext cx="1016347" cy="345877"/>
          </a:xfrm>
          <a:prstGeom prst="roundRect">
            <a:avLst>
              <a:gd name="adj" fmla="val 366815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11226" y="5316438"/>
            <a:ext cx="6547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2747" y="5229225"/>
            <a:ext cx="2522190" cy="374452"/>
          </a:xfrm>
          <a:prstGeom prst="roundRect">
            <a:avLst>
              <a:gd name="adj" fmla="val 33882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9973" y="5302151"/>
            <a:ext cx="21906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Easy Steps Book 2 · Unit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67338" y="5229225"/>
            <a:ext cx="1993553" cy="374452"/>
          </a:xfrm>
          <a:prstGeom prst="roundRect">
            <a:avLst>
              <a:gd name="adj" fmla="val 33882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54563" y="5302151"/>
            <a:ext cx="1651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……，都……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pattern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13290" y="5229225"/>
            <a:ext cx="1842492" cy="374452"/>
          </a:xfrm>
          <a:prstGeom prst="roundRect">
            <a:avLst>
              <a:gd name="adj" fmla="val 33882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00516" y="5302151"/>
            <a:ext cx="14974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dialogue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WARM-UP &amp; BRIDGE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93017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Review: 正在 + Bridge to 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73101"/>
            <a:ext cx="5422999" cy="4902398"/>
          </a:xfrm>
          <a:prstGeom prst="roundRect">
            <a:avLst>
              <a:gd name="adj" fmla="val 259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660327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439" y="172060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0077" y="1763464"/>
            <a:ext cx="1363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MIME WARM-UP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6826" y="21935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0530" y="225221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03127" y="2218879"/>
            <a:ext cx="364756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mimes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different actions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one at a time.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6826" y="257442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0261" y="2633067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3127" y="2599730"/>
            <a:ext cx="3279740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a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for each action.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6826" y="29552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9964" y="301391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03127" y="2980581"/>
            <a:ext cx="4631257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your neighbour's sentences. Does 正在 come before the verb?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6826" y="3512641"/>
            <a:ext cx="4946749" cy="266700"/>
          </a:xfrm>
          <a:prstGeom prst="roundRect">
            <a:avLst>
              <a:gd name="adj" fmla="val 475714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3301" y="3560266"/>
            <a:ext cx="4620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0300" y="1473101"/>
            <a:ext cx="5422999" cy="4902398"/>
          </a:xfrm>
          <a:prstGeom prst="roundRect">
            <a:avLst>
              <a:gd name="adj" fmla="val 259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8425" y="1660327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42038" y="172060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1676" y="1763464"/>
            <a:ext cx="1141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BRIDGE TO 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8425" y="2193578"/>
            <a:ext cx="4946749" cy="1358801"/>
          </a:xfrm>
          <a:prstGeom prst="roundRect">
            <a:avLst>
              <a:gd name="adj" fmla="val 747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70625" y="2365028"/>
            <a:ext cx="4592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Text 2 — you already saw this!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70625" y="2584103"/>
            <a:ext cx="45923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油画儿、水彩画儿，我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70625" y="2949178"/>
            <a:ext cx="4592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Oil paintings and watercolours — I like painting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0625" y="3199954"/>
            <a:ext cx="45923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 we learn the rule behind 都 — and how to use it yourself.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8425" y="3679329"/>
            <a:ext cx="4946749" cy="266700"/>
          </a:xfrm>
          <a:prstGeom prst="roundRect">
            <a:avLst>
              <a:gd name="adj" fmla="val 475714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84900" y="3726954"/>
            <a:ext cx="4620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2039094"/>
            <a:ext cx="10769798" cy="80173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4913" y="2039094"/>
            <a:ext cx="0" cy="80173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627" y="2216795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— WE ARE LEARNING TO…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12627" y="2423071"/>
            <a:ext cx="10418659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Express "both" and "all" preferences using the pattern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……，都……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1101" y="299323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BY THE END OF THIS LESSON, I CAN…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1101" y="3313807"/>
            <a:ext cx="342900" cy="342900"/>
          </a:xfrm>
          <a:prstGeom prst="roundRect">
            <a:avLst>
              <a:gd name="adj" fmla="val 26666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3827" y="3394770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6401" y="3288506"/>
            <a:ext cx="1047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— after the subject, before the verb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6401" y="3555206"/>
            <a:ext cx="10479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油画儿、水彩画儿，我</a:t>
            </a: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101" y="3917007"/>
            <a:ext cx="342900" cy="342900"/>
          </a:xfrm>
          <a:prstGeom prst="roundRect">
            <a:avLst>
              <a:gd name="adj" fmla="val 26666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2218" y="399797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06401" y="3891707"/>
            <a:ext cx="1047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two or more items and use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I like / do them 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6401" y="4158407"/>
            <a:ext cx="10479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小说、杂志，他</a:t>
            </a: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喜欢看。 弹钢琴、唱歌、听音乐，她</a:t>
            </a: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101" y="4520208"/>
            <a:ext cx="342900" cy="342900"/>
          </a:xfrm>
          <a:prstGeom prst="roundRect">
            <a:avLst>
              <a:gd name="adj" fmla="val 26666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41921" y="4601170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6401" y="4494907"/>
            <a:ext cx="1047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partner dialogue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6401" y="4761607"/>
            <a:ext cx="10479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我正在弹钢琴。吉他、钢琴，我</a:t>
            </a: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2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喜欢弹。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354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Pattern · ……，都……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955" y="609451"/>
            <a:ext cx="1129609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都 Rule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09441" y="1241227"/>
            <a:ext cx="2433489" cy="787301"/>
          </a:xfrm>
          <a:prstGeom prst="roundRect">
            <a:avLst>
              <a:gd name="adj" fmla="val 1290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57091" y="1387227"/>
            <a:ext cx="19769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Item 1、Item 2 ……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14130" y="1739652"/>
            <a:ext cx="1248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LISTED FIRST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93680" y="1458664"/>
            <a:ext cx="2624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03255" y="1241227"/>
            <a:ext cx="1170533" cy="787301"/>
          </a:xfrm>
          <a:prstGeom prst="roundRect">
            <a:avLst>
              <a:gd name="adj" fmla="val 129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55072" y="1387227"/>
            <a:ext cx="6802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Subject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50905" y="1739652"/>
            <a:ext cx="68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 LIKES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9988" y="1241227"/>
            <a:ext cx="1202382" cy="787301"/>
          </a:xfrm>
          <a:prstGeom prst="roundRect">
            <a:avLst>
              <a:gd name="adj" fmla="val 1290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36805" y="1387227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97638" y="1739652"/>
            <a:ext cx="7212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/ ALL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8571" y="1241227"/>
            <a:ext cx="953988" cy="787301"/>
          </a:xfrm>
          <a:prstGeom prst="roundRect">
            <a:avLst>
              <a:gd name="adj" fmla="val 129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76221" y="1387227"/>
            <a:ext cx="4678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77858" y="1739652"/>
            <a:ext cx="4643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8701" y="2155478"/>
            <a:ext cx="11074598" cy="495300"/>
          </a:xfrm>
          <a:prstGeom prst="roundRect">
            <a:avLst>
              <a:gd name="adj" fmla="val 20513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0558" y="2288828"/>
            <a:ext cx="1079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 List the items FIRST — then Subject + 都 + Verb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8701" y="2777728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701" y="3047554"/>
            <a:ext cx="11074598" cy="615851"/>
          </a:xfrm>
          <a:prstGeom prst="roundRect">
            <a:avLst>
              <a:gd name="adj" fmla="val 164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1376" y="3317379"/>
            <a:ext cx="207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227" y="3184029"/>
            <a:ext cx="5146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油画儿、水彩画儿，我</a:t>
            </a: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5202" y="3307854"/>
            <a:ext cx="514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Oil paintings and watercolours — I like painting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8701" y="3764905"/>
            <a:ext cx="11074598" cy="615851"/>
          </a:xfrm>
          <a:prstGeom prst="roundRect">
            <a:avLst>
              <a:gd name="adj" fmla="val 164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1376" y="4034730"/>
            <a:ext cx="207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227" y="3901380"/>
            <a:ext cx="5146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小说、杂志，他</a:t>
            </a: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喜欢看。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5202" y="4025205"/>
            <a:ext cx="514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Novels and magazines — he likes reading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8701" y="4482257"/>
            <a:ext cx="11074598" cy="615851"/>
          </a:xfrm>
          <a:prstGeom prst="roundRect">
            <a:avLst>
              <a:gd name="adj" fmla="val 164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1376" y="4752082"/>
            <a:ext cx="207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227" y="4618732"/>
            <a:ext cx="5146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弹钢琴、唱歌、听音乐，她</a:t>
            </a: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75202" y="4742557"/>
            <a:ext cx="5146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Piano, singing, music — she likes them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9843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Critical Word Order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3231" y="1473994"/>
            <a:ext cx="29053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Where does 都 go?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30169" y="2134344"/>
            <a:ext cx="3731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comes BEFORE the verb — never after!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8701" y="2508945"/>
            <a:ext cx="5384899" cy="2252811"/>
          </a:xfrm>
          <a:prstGeom prst="roundRect">
            <a:avLst>
              <a:gd name="adj" fmla="val 6765"/>
            </a:avLst>
          </a:prstGeom>
          <a:solidFill>
            <a:srgbClr val="FBF1F0"/>
          </a:solidFill>
          <a:ln w="3810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351" y="2826395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31727" y="2880271"/>
            <a:ext cx="82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WRONG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2351" y="3334345"/>
            <a:ext cx="4689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小说、杂志，我喜欢</a:t>
            </a:r>
            <a:r>
              <a:rPr lang="en-US" sz="3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6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52351" y="4020145"/>
            <a:ext cx="4597598" cy="424160"/>
          </a:xfrm>
          <a:prstGeom prst="roundRect">
            <a:avLst>
              <a:gd name="adj" fmla="val 17965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71401" y="4020145"/>
            <a:ext cx="0" cy="42416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5502" y="4134445"/>
            <a:ext cx="431398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placed AFTER the verb 喜欢 — this is incorrect Chinese!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8400" y="2508945"/>
            <a:ext cx="5384899" cy="2252811"/>
          </a:xfrm>
          <a:prstGeom prst="roundRect">
            <a:avLst>
              <a:gd name="adj" fmla="val 6765"/>
            </a:avLst>
          </a:prstGeom>
          <a:solidFill>
            <a:srgbClr val="EDF3F4"/>
          </a:solidFill>
          <a:ln w="3810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2050" y="2826395"/>
            <a:ext cx="27719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761" y="2880271"/>
            <a:ext cx="10527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2050" y="3334345"/>
            <a:ext cx="4689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小说、杂志，我</a:t>
            </a: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42050" y="4020145"/>
            <a:ext cx="4597598" cy="424160"/>
          </a:xfrm>
          <a:prstGeom prst="roundRect">
            <a:avLst>
              <a:gd name="adj" fmla="val 17965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661100" y="4020145"/>
            <a:ext cx="0" cy="42416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5201" y="4134445"/>
            <a:ext cx="431398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placed BEFORE the verb 喜欢 — Subject + 都 + Verb 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4851" y="4888706"/>
            <a:ext cx="11722298" cy="647700"/>
          </a:xfrm>
          <a:prstGeom prst="roundRect">
            <a:avLst>
              <a:gd name="adj" fmla="val 1568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7955" y="5060156"/>
            <a:ext cx="11296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，Subject </a:t>
            </a:r>
            <a:r>
              <a:rPr lang="en-US" sz="1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Verb — 都 always sits between the subject and the verb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260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1101" y="1279475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first — then share with the 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1885801"/>
            <a:ext cx="10769798" cy="1020812"/>
          </a:xfrm>
          <a:prstGeom prst="roundRect">
            <a:avLst>
              <a:gd name="adj" fmla="val 995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1101" y="1890564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6137" y="1885801"/>
            <a:ext cx="0" cy="1020812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101" y="2901851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913" y="1885801"/>
            <a:ext cx="0" cy="102081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627" y="2073027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96777" y="2073027"/>
            <a:ext cx="98131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 — before or after the verb?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96777" y="2433638"/>
            <a:ext cx="9620696" cy="285750"/>
          </a:xfrm>
          <a:prstGeom prst="roundRect">
            <a:avLst>
              <a:gd name="adj" fmla="val 444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33252" y="2481263"/>
            <a:ext cx="9534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 Think…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1101" y="3046214"/>
            <a:ext cx="10769798" cy="1455093"/>
          </a:xfrm>
          <a:prstGeom prst="roundRect">
            <a:avLst>
              <a:gd name="adj" fmla="val 698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11101" y="3050977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76137" y="3046214"/>
            <a:ext cx="0" cy="1455093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101" y="4496544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913" y="3046214"/>
            <a:ext cx="0" cy="1455093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627" y="3233440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96777" y="3233440"/>
            <a:ext cx="981311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Chinese: "Guitar and piano — I like playing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96777" y="3558629"/>
            <a:ext cx="9620696" cy="393502"/>
          </a:xfrm>
          <a:prstGeom prst="roundRect">
            <a:avLst>
              <a:gd name="adj" fmla="val 1936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49177" y="3622030"/>
            <a:ext cx="9502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吉他、钢琴，我___喜欢___。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96777" y="4028331"/>
            <a:ext cx="9620696" cy="285750"/>
          </a:xfrm>
          <a:prstGeom prst="roundRect">
            <a:avLst>
              <a:gd name="adj" fmla="val 444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33252" y="4075956"/>
            <a:ext cx="9534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 Write it…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101" y="4640907"/>
            <a:ext cx="10769798" cy="1455093"/>
          </a:xfrm>
          <a:prstGeom prst="roundRect">
            <a:avLst>
              <a:gd name="adj" fmla="val 698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11101" y="4645670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76137" y="4640907"/>
            <a:ext cx="0" cy="1455093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1101" y="6091238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913" y="4640907"/>
            <a:ext cx="0" cy="1455093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627" y="4828133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596777" y="4828133"/>
            <a:ext cx="981311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wrong with this sentence?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96777" y="5153323"/>
            <a:ext cx="9620696" cy="393502"/>
          </a:xfrm>
          <a:prstGeom prst="roundRect">
            <a:avLst>
              <a:gd name="adj" fmla="val 1936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49177" y="5216723"/>
            <a:ext cx="9502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弹钢琴、唱歌，我喜欢都。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96777" y="5623024"/>
            <a:ext cx="9620696" cy="285750"/>
          </a:xfrm>
          <a:prstGeom prst="roundRect">
            <a:avLst>
              <a:gd name="adj" fmla="val 444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733252" y="5670649"/>
            <a:ext cx="9534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🔎 Spot the mistake…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6734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Answers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1101" y="1279475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check together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2284363"/>
            <a:ext cx="10769798" cy="899666"/>
          </a:xfrm>
          <a:prstGeom prst="roundRect">
            <a:avLst>
              <a:gd name="adj" fmla="val 112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1101" y="2289125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76137" y="2284363"/>
            <a:ext cx="0" cy="89966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101" y="3179266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913" y="2284363"/>
            <a:ext cx="0" cy="899666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326" y="2446288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46027" y="2446288"/>
            <a:ext cx="989068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都 go — before or after the verb?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46027" y="2758678"/>
            <a:ext cx="737592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69852" y="2793504"/>
            <a:ext cx="499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Answer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85120" y="2707779"/>
            <a:ext cx="30037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Before</a:t>
            </a: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the verb. Subject + 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Verb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1101" y="3310979"/>
            <a:ext cx="10769798" cy="899666"/>
          </a:xfrm>
          <a:prstGeom prst="roundRect">
            <a:avLst>
              <a:gd name="adj" fmla="val 112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11101" y="3315742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76137" y="3310979"/>
            <a:ext cx="0" cy="89966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101" y="4205883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913" y="3310979"/>
            <a:ext cx="0" cy="899666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326" y="3472904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46027" y="3472904"/>
            <a:ext cx="989068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"Guitar and piano — I like playing both."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46027" y="3785295"/>
            <a:ext cx="737592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69852" y="3820120"/>
            <a:ext cx="499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Answer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85120" y="3734395"/>
            <a:ext cx="23705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吉他、钢琴，我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喜欢弹。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1101" y="4337596"/>
            <a:ext cx="10769798" cy="1359843"/>
          </a:xfrm>
          <a:prstGeom prst="roundRect">
            <a:avLst>
              <a:gd name="adj" fmla="val 74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11101" y="4342358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76137" y="4337596"/>
            <a:ext cx="0" cy="1359843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1101" y="5692676"/>
            <a:ext cx="107697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913" y="4337596"/>
            <a:ext cx="0" cy="1359843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326" y="4499521"/>
            <a:ext cx="362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546027" y="4499521"/>
            <a:ext cx="989068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wrong? </a:t>
            </a:r>
            <a:r>
              <a:rPr lang="en-US" sz="12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弹钢琴、唱歌，我喜欢都。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46027" y="4761012"/>
            <a:ext cx="9696748" cy="396776"/>
          </a:xfrm>
          <a:prstGeom prst="roundRect">
            <a:avLst>
              <a:gd name="adj" fmla="val 19205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07952" y="4859387"/>
            <a:ext cx="9560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is in the WRONG place — it comes AFTER 喜欢, but it must come BEFORE the verb.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46027" y="5272088"/>
            <a:ext cx="873919" cy="212527"/>
          </a:xfrm>
          <a:prstGeom prst="roundRect">
            <a:avLst>
              <a:gd name="adj" fmla="val 5969736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69852" y="5306913"/>
            <a:ext cx="638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21446" y="5221188"/>
            <a:ext cx="23705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弹钢琴、唱歌，我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500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23774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95768" y="638175"/>
            <a:ext cx="610939" cy="282476"/>
          </a:xfrm>
          <a:prstGeom prst="roundRect">
            <a:avLst>
              <a:gd name="adj" fmla="val 4491461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7693" y="698450"/>
            <a:ext cx="292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08209" y="633413"/>
            <a:ext cx="775841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70134" y="693688"/>
            <a:ext cx="4610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076176"/>
            <a:ext cx="11399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 below has a 都 word-order mistake. Can you find and correct it?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377702"/>
            <a:ext cx="5524500" cy="2158305"/>
          </a:xfrm>
          <a:prstGeom prst="roundRect">
            <a:avLst>
              <a:gd name="adj" fmla="val 470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1549152"/>
            <a:ext cx="51817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0151" y="1812578"/>
            <a:ext cx="5181701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小说、杂志，我喜欢都看。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0151" y="2204293"/>
            <a:ext cx="5080099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151" y="2345531"/>
            <a:ext cx="68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78459" y="2302669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59401" y="1377702"/>
            <a:ext cx="5524649" cy="2158305"/>
          </a:xfrm>
          <a:prstGeom prst="roundRect">
            <a:avLst>
              <a:gd name="adj" fmla="val 470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1601" y="1549152"/>
            <a:ext cx="5181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81601" y="1812578"/>
            <a:ext cx="5181853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油画儿、水彩画儿，她画都喜欢。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81601" y="2204293"/>
            <a:ext cx="5080248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1601" y="2345531"/>
            <a:ext cx="68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29909" y="2302669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950" y="3662958"/>
            <a:ext cx="5524500" cy="2158454"/>
          </a:xfrm>
          <a:prstGeom prst="roundRect">
            <a:avLst>
              <a:gd name="adj" fmla="val 470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0151" y="3834408"/>
            <a:ext cx="51817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0151" y="4097834"/>
            <a:ext cx="5181701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都弹钢琴、唱歌，他喜欢。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0151" y="4489549"/>
            <a:ext cx="5080099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151" y="4630787"/>
            <a:ext cx="68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78459" y="4587925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59401" y="3662958"/>
            <a:ext cx="5524649" cy="2158454"/>
          </a:xfrm>
          <a:prstGeom prst="roundRect">
            <a:avLst>
              <a:gd name="adj" fmla="val 470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81601" y="3834408"/>
            <a:ext cx="5181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81601" y="4097834"/>
            <a:ext cx="5181853" cy="2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我喜欢都国画儿和油画儿。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381601" y="4489549"/>
            <a:ext cx="5080248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1601" y="4630787"/>
            <a:ext cx="68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29909" y="4587925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7950" y="5922913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4901" y="60117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4901" y="61832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 reminder: Items → Subject + 都 + Verb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67051" y="5922913"/>
            <a:ext cx="3657749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94002" y="6011763"/>
            <a:ext cx="3471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94002" y="6183213"/>
            <a:ext cx="347192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own error sentence for your partner to correct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26301" y="5922913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53251" y="60117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53251" y="61832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your corrected sentences for the teacher to see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999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3713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 — Answers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3110" y="638175"/>
            <a:ext cx="610939" cy="282476"/>
          </a:xfrm>
          <a:prstGeom prst="roundRect">
            <a:avLst>
              <a:gd name="adj" fmla="val 4491461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235035" y="698450"/>
            <a:ext cx="292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101626"/>
            <a:ext cx="5524500" cy="2598837"/>
          </a:xfrm>
          <a:prstGeom prst="roundRect">
            <a:avLst>
              <a:gd name="adj" fmla="val 390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263551"/>
            <a:ext cx="5201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0626" y="1526977"/>
            <a:ext cx="52011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小说、杂志，我喜欢都看。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0626" y="1876127"/>
            <a:ext cx="509914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0626" y="2095054"/>
            <a:ext cx="65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7296" y="1990279"/>
            <a:ext cx="26420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小说、杂志，我</a:t>
            </a: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喜欢看。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59401" y="1101626"/>
            <a:ext cx="5524649" cy="2598837"/>
          </a:xfrm>
          <a:prstGeom prst="roundRect">
            <a:avLst>
              <a:gd name="adj" fmla="val 390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72076" y="1263551"/>
            <a:ext cx="5201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72076" y="1526977"/>
            <a:ext cx="52012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油画儿、水彩画儿，她画都喜欢。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2076" y="1876127"/>
            <a:ext cx="5099298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2076" y="2095054"/>
            <a:ext cx="65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8747" y="1990279"/>
            <a:ext cx="33025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油画儿、水彩画儿，她</a:t>
            </a: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7950" y="3827413"/>
            <a:ext cx="5524500" cy="2598837"/>
          </a:xfrm>
          <a:prstGeom prst="roundRect">
            <a:avLst>
              <a:gd name="adj" fmla="val 390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0626" y="3989338"/>
            <a:ext cx="5201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0626" y="4252764"/>
            <a:ext cx="52011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都弹钢琴、唱歌，他喜欢。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0626" y="4601914"/>
            <a:ext cx="509914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0626" y="4820841"/>
            <a:ext cx="65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7296" y="4716066"/>
            <a:ext cx="26420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弹钢琴、唱歌，他</a:t>
            </a: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59401" y="3827413"/>
            <a:ext cx="5524649" cy="2598837"/>
          </a:xfrm>
          <a:prstGeom prst="roundRect">
            <a:avLst>
              <a:gd name="adj" fmla="val 390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72076" y="3989338"/>
            <a:ext cx="5201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72076" y="4252764"/>
            <a:ext cx="52012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我喜欢都国画儿和油画儿。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72076" y="4601914"/>
            <a:ext cx="5099298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72076" y="4820841"/>
            <a:ext cx="65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18747" y="4716066"/>
            <a:ext cx="2862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国画儿、油画儿，我</a:t>
            </a: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0583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Listening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5639"/>
            <a:ext cx="184518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&amp; Match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27181" y="639663"/>
            <a:ext cx="631775" cy="282476"/>
          </a:xfrm>
          <a:prstGeom prst="roundRect">
            <a:avLst>
              <a:gd name="adj" fmla="val 449146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89106" y="699939"/>
            <a:ext cx="3140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60457" y="634901"/>
            <a:ext cx="770483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22382" y="695176"/>
            <a:ext cx="455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32441" y="584150"/>
            <a:ext cx="2151608" cy="393502"/>
          </a:xfrm>
          <a:prstGeom prst="roundRect">
            <a:avLst>
              <a:gd name="adj" fmla="val 2582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29192" y="666601"/>
            <a:ext cx="1793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 CD Track 35 · Act. 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1091952"/>
            <a:ext cx="2371874" cy="40005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9875" y="11776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1107" y="1220539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87326" y="1191964"/>
            <a:ext cx="1765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— who likes what?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06775" y="1091952"/>
            <a:ext cx="2052786" cy="40005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68700" y="11776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50704" y="1220539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86150" y="1191964"/>
            <a:ext cx="14397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a line to match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6511" y="1091952"/>
            <a:ext cx="2058888" cy="40005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48436" y="11776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30143" y="1220539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5887" y="1191964"/>
            <a:ext cx="14459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with a partner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950" y="2361605"/>
            <a:ext cx="5334000" cy="812602"/>
          </a:xfrm>
          <a:prstGeom prst="roundRect">
            <a:avLst>
              <a:gd name="adj" fmla="val 12503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0151" y="2507605"/>
            <a:ext cx="49873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0151" y="2847231"/>
            <a:ext cx="49873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Dàwèi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3301157"/>
            <a:ext cx="5334000" cy="812602"/>
          </a:xfrm>
          <a:prstGeom prst="roundRect">
            <a:avLst>
              <a:gd name="adj" fmla="val 12503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0151" y="3447157"/>
            <a:ext cx="49873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小红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0151" y="3786783"/>
            <a:ext cx="49873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Xiǎohóng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950" y="4240709"/>
            <a:ext cx="5334000" cy="812602"/>
          </a:xfrm>
          <a:prstGeom prst="roundRect">
            <a:avLst>
              <a:gd name="adj" fmla="val 12503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0151" y="4386709"/>
            <a:ext cx="49873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李明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0151" y="4726335"/>
            <a:ext cx="49873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 Míng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67251" y="2306687"/>
            <a:ext cx="4572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67251" y="3707457"/>
            <a:ext cx="4572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67251" y="5108228"/>
            <a:ext cx="4572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9901" y="2490192"/>
            <a:ext cx="5334149" cy="726877"/>
          </a:xfrm>
          <a:prstGeom prst="roundRect">
            <a:avLst>
              <a:gd name="adj" fmla="val 1397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46652" y="271075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67227" y="2636193"/>
            <a:ext cx="10415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67227" y="2909143"/>
            <a:ext cx="10415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drawing / painting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9901" y="3344019"/>
            <a:ext cx="5334149" cy="726877"/>
          </a:xfrm>
          <a:prstGeom prst="roundRect">
            <a:avLst>
              <a:gd name="adj" fmla="val 1397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46652" y="3564582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67227" y="3490020"/>
            <a:ext cx="7514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67227" y="3762970"/>
            <a:ext cx="7514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playing piano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49901" y="4197846"/>
            <a:ext cx="5334149" cy="726877"/>
          </a:xfrm>
          <a:prstGeom prst="roundRect">
            <a:avLst>
              <a:gd name="adj" fmla="val 1397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546652" y="4418409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67227" y="4343846"/>
            <a:ext cx="819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看小说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67227" y="4616797"/>
            <a:ext cx="819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novels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7950" y="5922913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4901" y="60117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4901" y="61832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names and activities before pressing play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67051" y="5922913"/>
            <a:ext cx="3657749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94002" y="6011763"/>
            <a:ext cx="3471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394002" y="6183213"/>
            <a:ext cx="347192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都 sentence for two of the people you heard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26301" y="5922913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153251" y="60117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153251" y="61832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out each answer as the teacher reveals them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4429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Partner Dialogue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71351"/>
            <a:ext cx="43548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Act.11 · Partner Dialogue — 正在 + 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73444" y="601563"/>
            <a:ext cx="632371" cy="292001"/>
          </a:xfrm>
          <a:prstGeom prst="roundRect">
            <a:avLst>
              <a:gd name="adj" fmla="val 4344951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35369" y="661839"/>
            <a:ext cx="3146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07316" y="601563"/>
            <a:ext cx="776734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9241" y="661839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025277"/>
            <a:ext cx="11399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BOTH 正在 and 都 in your conversation. Practise twice — swap roles!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32680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794" y="1404491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0451" y="1326803"/>
            <a:ext cx="10693598" cy="495300"/>
          </a:xfrm>
          <a:prstGeom prst="roundRect">
            <a:avLst>
              <a:gd name="adj" fmla="val 179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09501" y="1326803"/>
            <a:ext cx="0" cy="49530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6252" y="1441103"/>
            <a:ext cx="105060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做什么？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950" y="19109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198" y="1988641"/>
            <a:ext cx="102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0451" y="1910953"/>
            <a:ext cx="10693598" cy="514350"/>
          </a:xfrm>
          <a:prstGeom prst="roundRect">
            <a:avLst>
              <a:gd name="adj" fmla="val 172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009501" y="1910953"/>
            <a:ext cx="0" cy="5143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6252" y="2025253"/>
            <a:ext cx="105060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950" y="25141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794" y="2591842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0451" y="2514154"/>
            <a:ext cx="10693598" cy="514350"/>
          </a:xfrm>
          <a:prstGeom prst="roundRect">
            <a:avLst>
              <a:gd name="adj" fmla="val 172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009501" y="2514154"/>
            <a:ext cx="0" cy="51435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6252" y="2628454"/>
            <a:ext cx="105060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950" y="31173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198" y="3195042"/>
            <a:ext cx="102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0451" y="3117354"/>
            <a:ext cx="10693598" cy="514350"/>
          </a:xfrm>
          <a:prstGeom prst="roundRect">
            <a:avLst>
              <a:gd name="adj" fmla="val 172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009501" y="3117354"/>
            <a:ext cx="0" cy="51435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6252" y="3231654"/>
            <a:ext cx="105060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喜欢。你呢？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7950" y="37205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5794" y="3798243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0451" y="3720554"/>
            <a:ext cx="10693598" cy="514350"/>
          </a:xfrm>
          <a:prstGeom prst="roundRect">
            <a:avLst>
              <a:gd name="adj" fmla="val 172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009501" y="3720554"/>
            <a:ext cx="0" cy="51435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6252" y="3834854"/>
            <a:ext cx="105060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喜欢！ / 我只喜欢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7950" y="5383560"/>
            <a:ext cx="11176099" cy="450652"/>
          </a:xfrm>
          <a:prstGeom prst="roundRect">
            <a:avLst>
              <a:gd name="adj" fmla="val 19727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5176" y="5494586"/>
            <a:ext cx="11017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 Practise twice — swap A/B roles. 2 pairs will perform for the class.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950" y="5935712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4901" y="60245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4901" y="61960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frames stay on the board — use them freely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67051" y="5935712"/>
            <a:ext cx="3657749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394002" y="6024563"/>
            <a:ext cx="3471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94002" y="6196013"/>
            <a:ext cx="347192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6-turn improv: also include 一边……一边……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26301" y="5935712"/>
            <a:ext cx="3657600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53251" y="6024563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153251" y="6196013"/>
            <a:ext cx="34717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partners must speak — teacher listens for 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969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 · You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09451"/>
            <a:ext cx="39540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Act.13 · 都 Sentence Completion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970145" y="658713"/>
            <a:ext cx="633115" cy="292001"/>
          </a:xfrm>
          <a:prstGeom prst="roundRect">
            <a:avLst>
              <a:gd name="adj" fmla="val 4344951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132070" y="718989"/>
            <a:ext cx="315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04761" y="658713"/>
            <a:ext cx="776139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866686" y="718989"/>
            <a:ext cx="461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3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1101" y="1126927"/>
            <a:ext cx="109851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in the blanks. Then swap books with a partner to peer-check.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1101" y="2006054"/>
            <a:ext cx="10769798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4527" y="2193280"/>
            <a:ext cx="4144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83978" y="2196405"/>
            <a:ext cx="9826166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弹钢琴、唱歌，</a:t>
            </a: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都喜欢。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1101" y="2913906"/>
            <a:ext cx="10769798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4527" y="3101132"/>
            <a:ext cx="4144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83978" y="3104257"/>
            <a:ext cx="9826166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小说、杂志，他</a:t>
            </a: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喜欢看。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1101" y="3821757"/>
            <a:ext cx="10769798" cy="755452"/>
          </a:xfrm>
          <a:prstGeom prst="roundRect">
            <a:avLst>
              <a:gd name="adj" fmla="val 134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74527" y="4008983"/>
            <a:ext cx="4144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83978" y="4012109"/>
            <a:ext cx="9826166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油画儿、水彩画儿、国画儿，</a:t>
            </a: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都喜欢画。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1101" y="5246787"/>
            <a:ext cx="10769798" cy="523875"/>
          </a:xfrm>
          <a:prstGeom prst="roundRect">
            <a:avLst>
              <a:gd name="adj" fmla="val 16970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6006" y="5380137"/>
            <a:ext cx="104799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Done? Swap books — peer-check your partner's answers!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101" y="5897612"/>
            <a:ext cx="3522166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8051" y="5986463"/>
            <a:ext cx="3333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38051" y="6157913"/>
            <a:ext cx="3333631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Placement rule on board: Subject + 都 + Verb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34768" y="5897612"/>
            <a:ext cx="3522315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61718" y="5986463"/>
            <a:ext cx="333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61718" y="6157913"/>
            <a:ext cx="33337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 more sentences using your own hobbies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8584" y="5897612"/>
            <a:ext cx="3522166" cy="503337"/>
          </a:xfrm>
          <a:prstGeom prst="roundRect">
            <a:avLst>
              <a:gd name="adj" fmla="val 176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85534" y="5986463"/>
            <a:ext cx="3333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85534" y="6157913"/>
            <a:ext cx="3333631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(none — peer-check is the OTR here)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369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113996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Plenary · Wrap 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7950" y="1177677"/>
            <a:ext cx="3606850" cy="5223272"/>
          </a:xfrm>
          <a:prstGeom prst="roundRect">
            <a:avLst>
              <a:gd name="adj" fmla="val 35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1364903"/>
            <a:ext cx="22345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202" y="1385441"/>
            <a:ext cx="7714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REVISIT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0626" y="2131368"/>
            <a:ext cx="3181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626" y="17965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1170" y="1829842"/>
            <a:ext cx="89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3526" y="1809155"/>
            <a:ext cx="238303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after subject, before verb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0626" y="2860625"/>
            <a:ext cx="3181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626" y="236458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1170" y="2397919"/>
            <a:ext cx="89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526" y="2377232"/>
            <a:ext cx="289537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two or more items + use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I like them 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0626" y="309383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1170" y="3127177"/>
            <a:ext cx="89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526" y="3106489"/>
            <a:ext cx="237695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dialogue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2501" y="1177677"/>
            <a:ext cx="3606850" cy="5223272"/>
          </a:xfrm>
          <a:prstGeom prst="roundRect">
            <a:avLst>
              <a:gd name="adj" fmla="val 35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05176" y="1364903"/>
            <a:ext cx="22345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5752" y="1385441"/>
            <a:ext cx="12035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SC3 · LIVE DEMO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5176" y="1695004"/>
            <a:ext cx="3181499" cy="683121"/>
          </a:xfrm>
          <a:prstGeom prst="roundRect">
            <a:avLst>
              <a:gd name="adj" fmla="val 13014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89277" y="1841004"/>
            <a:ext cx="286956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volunteers — perform your 正在 + 都 dialogue live for the class.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05176" y="2505075"/>
            <a:ext cx="32451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listens for: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5176" y="2720876"/>
            <a:ext cx="32451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正在 before the verb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05176" y="2936677"/>
            <a:ext cx="32451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都 before the verb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5176" y="3152477"/>
            <a:ext cx="32451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Items listed first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7051" y="1177677"/>
            <a:ext cx="3606998" cy="5223272"/>
          </a:xfrm>
          <a:prstGeom prst="roundRect">
            <a:avLst>
              <a:gd name="adj" fmla="val 35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89727" y="1364903"/>
            <a:ext cx="22345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10302" y="1385441"/>
            <a:ext cx="855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89727" y="1695004"/>
            <a:ext cx="3181648" cy="692051"/>
          </a:xfrm>
          <a:prstGeom prst="roundRect">
            <a:avLst>
              <a:gd name="adj" fmla="val 1284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473827" y="1841004"/>
            <a:ext cx="28697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都 sentence about 2 things you like — before you leave!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89727" y="2590205"/>
            <a:ext cx="3245281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89727" y="3035945"/>
            <a:ext cx="32452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 it in on the way out.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14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都 GRAMMAR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51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72109" y="144363"/>
            <a:ext cx="1571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· Lesson 8 Preview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50110" y="1407319"/>
            <a:ext cx="109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71067" y="1746945"/>
            <a:ext cx="56498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L8 · Characters + Grand Consolidation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0492" y="2391370"/>
            <a:ext cx="35510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characters — and putting it ALL together!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778621"/>
            <a:ext cx="1866900" cy="1605855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28038" y="3000821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861058" y="3788271"/>
            <a:ext cx="259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28037" y="4064496"/>
            <a:ext cx="7256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bag / bundle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27450" y="2778621"/>
            <a:ext cx="1866900" cy="1605855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089" y="3000821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959950" y="3788271"/>
            <a:ext cx="201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2131" y="4064496"/>
            <a:ext cx="6173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stop /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97501" y="2778621"/>
            <a:ext cx="1866900" cy="1605855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68139" y="3000821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028483" y="3788271"/>
            <a:ext cx="2049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3203" y="4064496"/>
            <a:ext cx="11353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scholar / gentleman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67551" y="2778621"/>
            <a:ext cx="1866900" cy="1605855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38189" y="3000821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9068779" y="3788271"/>
            <a:ext cx="264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64227" y="4064496"/>
            <a:ext cx="2734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1101" y="4562177"/>
            <a:ext cx="10769798" cy="1040904"/>
          </a:xfrm>
          <a:prstGeom prst="roundRect">
            <a:avLst>
              <a:gd name="adj" fmla="val 1220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85495" y="4758928"/>
            <a:ext cx="102210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The Big Challenge — Use ALL 4 grammar structures in ONE paragraph!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37397" y="5050929"/>
            <a:ext cx="1593652" cy="355402"/>
          </a:xfrm>
          <a:prstGeom prst="roundRect">
            <a:avLst>
              <a:gd name="adj" fmla="val 25014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12431" y="5123855"/>
            <a:ext cx="12435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57999" y="5050929"/>
            <a:ext cx="1136452" cy="355402"/>
          </a:xfrm>
          <a:prstGeom prst="roundRect">
            <a:avLst>
              <a:gd name="adj" fmla="val 25014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37605" y="512385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……的时候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1401" y="5050929"/>
            <a:ext cx="679252" cy="355402"/>
          </a:xfrm>
          <a:prstGeom prst="roundRect">
            <a:avLst>
              <a:gd name="adj" fmla="val 25014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105579" y="512385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27603" y="5050929"/>
            <a:ext cx="526852" cy="355402"/>
          </a:xfrm>
          <a:prstGeom prst="roundRect">
            <a:avLst>
              <a:gd name="adj" fmla="val 25014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13305" y="5123855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2026-06-30T02:51:30Z</dcterms:created>
  <dcterms:modified xsi:type="dcterms:W3CDTF">2026-06-30T02:51:30Z</dcterms:modified>
</cp:coreProperties>
</file>