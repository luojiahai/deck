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27936" y="1873300"/>
            <a:ext cx="273612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400"/>
              </a:spcAft>
              <a:buNone/>
            </a:pPr>
            <a:r>
              <a:rPr lang="en-US" sz="11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LESSON 1 OF 8 · Y8 UNIT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66360" y="2251025"/>
            <a:ext cx="259131" cy="507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E8CD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♪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3375660" y="2860477"/>
            <a:ext cx="544068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00"/>
              </a:lnSpc>
              <a:spcAft>
                <a:spcPts val="1200"/>
              </a:spcAft>
              <a:buNone/>
            </a:pPr>
            <a:r>
              <a:rPr lang="en-US" sz="84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爱好</a:t>
            </a:r>
            <a:r>
              <a:rPr lang="en-US" sz="84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·</a:t>
            </a:r>
            <a:r>
              <a:rPr lang="en-US" sz="84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音乐</a:t>
            </a:r>
            <a:endParaRPr lang="en-US" sz="8400" dirty="0"/>
          </a:p>
        </p:txBody>
      </p:sp>
      <p:sp>
        <p:nvSpPr>
          <p:cNvPr id="5" name="Text 3"/>
          <p:cNvSpPr/>
          <p:nvPr/>
        </p:nvSpPr>
        <p:spPr>
          <a:xfrm>
            <a:off x="3975290" y="4079677"/>
            <a:ext cx="424127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0"/>
              </a:spcAft>
              <a:buNone/>
            </a:pPr>
            <a:r>
              <a:rPr lang="en-US" sz="1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Hobby Vocabulary · Music Actions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3019679" y="4803577"/>
            <a:ext cx="615249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Year 8 Chinese　·　50 mins　·　Speaking + Listening　·　轻松学中文 Book 2 · p.60–61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6513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44363"/>
            <a:ext cx="124753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L1 · HOBBY VOCAB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845320" y="146000"/>
            <a:ext cx="12650" cy="139601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972270" y="144363"/>
            <a:ext cx="91310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Review · 0–8 min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09600" y="711101"/>
            <a:ext cx="1119225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8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0–8 MIN · REVIEW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09600" y="930176"/>
            <a:ext cx="11192256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800"/>
              </a:spcAft>
              <a:buNone/>
            </a:pPr>
            <a:r>
              <a:rPr lang="en-US" sz="26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回顾 · Unit 2 Vocabulary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09600" y="1625501"/>
            <a:ext cx="5334000" cy="1850827"/>
          </a:xfrm>
          <a:prstGeom prst="roundRect">
            <a:avLst>
              <a:gd name="adj" fmla="val 6862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98475" y="1863626"/>
            <a:ext cx="485137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0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FLASHCARD RAPID FIRE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98475" y="2197001"/>
            <a:ext cx="4756249" cy="939701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65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shows </a:t>
            </a:r>
            <a:r>
              <a:rPr lang="en-US" sz="11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Chinese character</a:t>
            </a: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on projector → students chorally say pinyin + English</a:t>
            </a:r>
            <a:endParaRPr lang="en-US" sz="1100" dirty="0"/>
          </a:p>
          <a:p>
            <a:pPr algn="l" marL="101600" indent="-101600">
              <a:lnSpc>
                <a:spcPts val="165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Reverse: teacher says </a:t>
            </a:r>
            <a:r>
              <a:rPr lang="en-US" sz="11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English</a:t>
            </a: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students write Chinese on mini whiteboards and hold up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248400" y="1625501"/>
            <a:ext cx="5334000" cy="2117229"/>
          </a:xfrm>
          <a:prstGeom prst="roundRect">
            <a:avLst>
              <a:gd name="adj" fmla="val 5998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537275" y="1863626"/>
            <a:ext cx="485137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0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REVIEW WORDS (UNIT 2)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537275" y="2197001"/>
            <a:ext cx="902494" cy="603052"/>
          </a:xfrm>
          <a:prstGeom prst="roundRect">
            <a:avLst>
              <a:gd name="adj" fmla="val 16848"/>
            </a:avLst>
          </a:prstGeom>
          <a:solidFill>
            <a:srgbClr val="EDE7D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711851" y="2295376"/>
            <a:ext cx="56441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吃饭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711851" y="2568327"/>
            <a:ext cx="56441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eat (a meal)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7541270" y="2197001"/>
            <a:ext cx="927497" cy="603052"/>
          </a:xfrm>
          <a:prstGeom prst="roundRect">
            <a:avLst>
              <a:gd name="adj" fmla="val 16848"/>
            </a:avLst>
          </a:prstGeom>
          <a:solidFill>
            <a:srgbClr val="EDE7D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715845" y="2295376"/>
            <a:ext cx="58991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上学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715845" y="2568327"/>
            <a:ext cx="58991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go to school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570268" y="2197001"/>
            <a:ext cx="704701" cy="603052"/>
          </a:xfrm>
          <a:prstGeom prst="roundRect">
            <a:avLst>
              <a:gd name="adj" fmla="val 16848"/>
            </a:avLst>
          </a:prstGeom>
          <a:solidFill>
            <a:srgbClr val="EDE7D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8744843" y="2295376"/>
            <a:ext cx="36266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睡觉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744843" y="2568327"/>
            <a:ext cx="36266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sleep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9376470" y="2197001"/>
            <a:ext cx="804863" cy="603052"/>
          </a:xfrm>
          <a:prstGeom prst="roundRect">
            <a:avLst>
              <a:gd name="adj" fmla="val 16848"/>
            </a:avLst>
          </a:prstGeom>
          <a:solidFill>
            <a:srgbClr val="EDE7D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9551045" y="2295376"/>
            <a:ext cx="46482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几点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551045" y="2568327"/>
            <a:ext cx="4648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what time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10282833" y="2197001"/>
            <a:ext cx="704701" cy="603052"/>
          </a:xfrm>
          <a:prstGeom prst="roundRect">
            <a:avLst>
              <a:gd name="adj" fmla="val 16848"/>
            </a:avLst>
          </a:prstGeom>
          <a:solidFill>
            <a:srgbClr val="EDE7D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10457408" y="2295376"/>
            <a:ext cx="36266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起床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457408" y="2568327"/>
            <a:ext cx="36266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get up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6537275" y="2901553"/>
            <a:ext cx="972294" cy="603052"/>
          </a:xfrm>
          <a:prstGeom prst="roundRect">
            <a:avLst>
              <a:gd name="adj" fmla="val 16848"/>
            </a:avLst>
          </a:prstGeom>
          <a:solidFill>
            <a:srgbClr val="EDE7D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6711851" y="2999929"/>
            <a:ext cx="63560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做作业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711851" y="3272879"/>
            <a:ext cx="63560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do homework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609600" y="3971330"/>
            <a:ext cx="10972800" cy="532656"/>
          </a:xfrm>
          <a:prstGeom prst="rect">
            <a:avLst/>
          </a:prstGeom>
          <a:solidFill>
            <a:srgbClr val="F8F0D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Shape 31"/>
          <p:cNvSpPr/>
          <p:nvPr/>
        </p:nvSpPr>
        <p:spPr>
          <a:xfrm>
            <a:off x="633412" y="3971330"/>
            <a:ext cx="0" cy="532656"/>
          </a:xfrm>
          <a:prstGeom prst="line">
            <a:avLst/>
          </a:prstGeom>
          <a:noFill/>
          <a:ln w="47625">
            <a:solidFill>
              <a:srgbClr val="C8943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85825" y="4136380"/>
            <a:ext cx="10677335" cy="2025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95"/>
              </a:lnSpc>
              <a:buNone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“Last unit we talked about </a:t>
            </a:r>
            <a:r>
              <a:rPr lang="en-US" sz="11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daily routines</a:t>
            </a: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today we start a new topic: </a:t>
            </a:r>
            <a:r>
              <a:rPr lang="en-US" sz="11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爱好 (hobbies)</a:t>
            </a: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. You'll use the same activity verbs in a new context.”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0" y="6573887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7950" y="6656338"/>
            <a:ext cx="148783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6513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44363"/>
            <a:ext cx="124753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L1 · HOBBY VOCAB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845320" y="146000"/>
            <a:ext cx="12650" cy="139601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972270" y="144363"/>
            <a:ext cx="91098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Learning Intention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11101" y="1743521"/>
            <a:ext cx="1098519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8–10 MIN · DISPLAY ON PROJECTOR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11101" y="1987897"/>
            <a:ext cx="10985194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200"/>
              </a:spcAft>
              <a:buNone/>
            </a:pPr>
            <a:r>
              <a:rPr lang="en-US" sz="28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今日目标 · Today's Goal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711101" y="2772073"/>
            <a:ext cx="10769798" cy="869752"/>
          </a:xfrm>
          <a:prstGeom prst="rect">
            <a:avLst/>
          </a:prstGeom>
          <a:solidFill>
            <a:srgbClr val="F8F0D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734913" y="2772073"/>
            <a:ext cx="0" cy="869752"/>
          </a:xfrm>
          <a:prstGeom prst="line">
            <a:avLst/>
          </a:prstGeom>
          <a:noFill/>
          <a:ln w="47625">
            <a:solidFill>
              <a:srgbClr val="C894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38076" y="2975223"/>
            <a:ext cx="1036674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LEARNING INTENTION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038076" y="3181499"/>
            <a:ext cx="10366742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We are learning to </a:t>
            </a:r>
            <a:r>
              <a:rPr lang="en-US" sz="15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name our hobbies</a:t>
            </a:r>
            <a:r>
              <a:rPr lang="en-US" sz="15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in Chinese using music and leisure vocabulary.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11101" y="3933825"/>
            <a:ext cx="317450" cy="317450"/>
          </a:xfrm>
          <a:prstGeom prst="roundRect">
            <a:avLst>
              <a:gd name="adj" fmla="val 288045"/>
            </a:avLst>
          </a:prstGeom>
          <a:noFill/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41177" y="4001988"/>
            <a:ext cx="5844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80951" y="3921175"/>
            <a:ext cx="601935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say </a:t>
            </a:r>
            <a:r>
              <a:rPr lang="en-US" sz="13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8+ hobby words</a:t>
            </a:r>
            <a:r>
              <a:rPr lang="en-US" sz="13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in Chinese — </a:t>
            </a:r>
            <a:r>
              <a:rPr lang="en-US" sz="13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弹钢琴, 唱歌, 听音乐, 读书, 看电视…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11101" y="4441627"/>
            <a:ext cx="317450" cy="317450"/>
          </a:xfrm>
          <a:prstGeom prst="roundRect">
            <a:avLst>
              <a:gd name="adj" fmla="val 288045"/>
            </a:avLst>
          </a:prstGeom>
          <a:noFill/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829568" y="4509790"/>
            <a:ext cx="8212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80951" y="4428976"/>
            <a:ext cx="4752701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say what my hobby is using </a:t>
            </a:r>
            <a:r>
              <a:rPr lang="en-US" sz="13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我喜欢……</a:t>
            </a:r>
            <a:r>
              <a:rPr lang="en-US" sz="13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r>
              <a:rPr lang="en-US" sz="1300" i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(wǒ xǐhuān…)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11101" y="4949428"/>
            <a:ext cx="317450" cy="317450"/>
          </a:xfrm>
          <a:prstGeom prst="roundRect">
            <a:avLst>
              <a:gd name="adj" fmla="val 288045"/>
            </a:avLst>
          </a:prstGeom>
          <a:noFill/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829270" y="5017591"/>
            <a:ext cx="8273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80951" y="4936778"/>
            <a:ext cx="4865947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</a:t>
            </a:r>
            <a:r>
              <a:rPr lang="en-US" sz="13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mime actions</a:t>
            </a:r>
            <a:r>
              <a:rPr lang="en-US" sz="13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when I hear them said in Chinese (TPR)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0" y="6573887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7950" y="6656338"/>
            <a:ext cx="148783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6513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44363"/>
            <a:ext cx="124753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L1 · HOBBY VOCAB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845320" y="146000"/>
            <a:ext cx="12650" cy="139601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972270" y="144363"/>
            <a:ext cx="180435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New Vocabulary · 10–20 min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58701" y="660350"/>
            <a:ext cx="1129609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10–20 MIN · I DO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58701" y="866626"/>
            <a:ext cx="1129609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300"/>
              </a:spcAft>
              <a:buNone/>
            </a:pPr>
            <a:r>
              <a:rPr lang="en-US" sz="24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New Vocabulary · 词汇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58701" y="1460302"/>
            <a:ext cx="3615333" cy="634901"/>
          </a:xfrm>
          <a:prstGeom prst="roundRect">
            <a:avLst>
              <a:gd name="adj" fmla="val 18003"/>
            </a:avLst>
          </a:prstGeom>
          <a:solidFill>
            <a:srgbClr val="F6F2E8"/>
          </a:solidFill>
          <a:ln w="19050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55452" y="1606302"/>
            <a:ext cx="49230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爱好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377702" y="1609427"/>
            <a:ext cx="34034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àihào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377702" y="1784003"/>
            <a:ext cx="34034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hobby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288334" y="1460302"/>
            <a:ext cx="3615333" cy="634901"/>
          </a:xfrm>
          <a:prstGeom prst="roundRect">
            <a:avLst>
              <a:gd name="adj" fmla="val 18003"/>
            </a:avLst>
          </a:prstGeom>
          <a:solidFill>
            <a:srgbClr val="F8F0DF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485084" y="1606302"/>
            <a:ext cx="73837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弹钢琴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5348585" y="1609427"/>
            <a:ext cx="79955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tán gāngqín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348585" y="1784003"/>
            <a:ext cx="79955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play the piano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017966" y="1460302"/>
            <a:ext cx="3615333" cy="634901"/>
          </a:xfrm>
          <a:prstGeom prst="roundRect">
            <a:avLst>
              <a:gd name="adj" fmla="val 18003"/>
            </a:avLst>
          </a:prstGeom>
          <a:solidFill>
            <a:srgbClr val="F6F2E8"/>
          </a:solidFill>
          <a:ln w="19050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8214717" y="1606302"/>
            <a:ext cx="49230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唱歌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8836968" y="1609427"/>
            <a:ext cx="65488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chànggē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836968" y="1784003"/>
            <a:ext cx="65488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sing a song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58701" y="2209502"/>
            <a:ext cx="3615333" cy="634901"/>
          </a:xfrm>
          <a:prstGeom prst="roundRect">
            <a:avLst>
              <a:gd name="adj" fmla="val 18003"/>
            </a:avLst>
          </a:prstGeom>
          <a:solidFill>
            <a:srgbClr val="F6F2E8"/>
          </a:solidFill>
          <a:ln w="19050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755452" y="2355503"/>
            <a:ext cx="73837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听音乐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1618952" y="2358628"/>
            <a:ext cx="83037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tīng yīnyuè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618952" y="2533204"/>
            <a:ext cx="83037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listen to music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288334" y="2209502"/>
            <a:ext cx="3615333" cy="634901"/>
          </a:xfrm>
          <a:prstGeom prst="roundRect">
            <a:avLst>
              <a:gd name="adj" fmla="val 18003"/>
            </a:avLst>
          </a:prstGeom>
          <a:solidFill>
            <a:srgbClr val="F6F2E8"/>
          </a:solidFill>
          <a:ln w="19050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485084" y="2355503"/>
            <a:ext cx="49230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读书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5107335" y="2358628"/>
            <a:ext cx="69663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dúshū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107335" y="2533204"/>
            <a:ext cx="69663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read / study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017966" y="2209502"/>
            <a:ext cx="3615333" cy="634901"/>
          </a:xfrm>
          <a:prstGeom prst="roundRect">
            <a:avLst>
              <a:gd name="adj" fmla="val 18003"/>
            </a:avLst>
          </a:prstGeom>
          <a:solidFill>
            <a:srgbClr val="F6F2E8"/>
          </a:solidFill>
          <a:ln w="19050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8214717" y="2355503"/>
            <a:ext cx="49230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小时</a:t>
            </a:r>
            <a:endParaRPr lang="en-US" sz="1900" dirty="0"/>
          </a:p>
        </p:txBody>
      </p:sp>
      <p:sp>
        <p:nvSpPr>
          <p:cNvPr id="31" name="Text 29"/>
          <p:cNvSpPr/>
          <p:nvPr/>
        </p:nvSpPr>
        <p:spPr>
          <a:xfrm>
            <a:off x="8836968" y="2358628"/>
            <a:ext cx="39985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xiǎoshí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836968" y="2533204"/>
            <a:ext cx="39985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hour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8701" y="2958703"/>
            <a:ext cx="3615333" cy="634901"/>
          </a:xfrm>
          <a:prstGeom prst="roundRect">
            <a:avLst>
              <a:gd name="adj" fmla="val 18003"/>
            </a:avLst>
          </a:prstGeom>
          <a:solidFill>
            <a:srgbClr val="F6F2E8"/>
          </a:solidFill>
          <a:ln w="19050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755452" y="3104704"/>
            <a:ext cx="73837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看电视</a:t>
            </a:r>
            <a:endParaRPr lang="en-US" sz="1900" dirty="0"/>
          </a:p>
        </p:txBody>
      </p:sp>
      <p:sp>
        <p:nvSpPr>
          <p:cNvPr id="35" name="Text 33"/>
          <p:cNvSpPr/>
          <p:nvPr/>
        </p:nvSpPr>
        <p:spPr>
          <a:xfrm>
            <a:off x="1618952" y="3107829"/>
            <a:ext cx="64729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kàn diànshì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618952" y="3282404"/>
            <a:ext cx="64729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watch TV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288334" y="2958703"/>
            <a:ext cx="3615333" cy="634901"/>
          </a:xfrm>
          <a:prstGeom prst="roundRect">
            <a:avLst>
              <a:gd name="adj" fmla="val 18003"/>
            </a:avLst>
          </a:prstGeom>
          <a:solidFill>
            <a:srgbClr val="F8F0DF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4485084" y="3104704"/>
            <a:ext cx="73837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弹吉他</a:t>
            </a:r>
            <a:endParaRPr lang="en-US" sz="1900" dirty="0"/>
          </a:p>
        </p:txBody>
      </p:sp>
      <p:sp>
        <p:nvSpPr>
          <p:cNvPr id="39" name="Text 37"/>
          <p:cNvSpPr/>
          <p:nvPr/>
        </p:nvSpPr>
        <p:spPr>
          <a:xfrm>
            <a:off x="5348585" y="3107829"/>
            <a:ext cx="59856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tán jítā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348585" y="3282404"/>
            <a:ext cx="59856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play guitar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8017966" y="2958703"/>
            <a:ext cx="3615333" cy="634901"/>
          </a:xfrm>
          <a:prstGeom prst="roundRect">
            <a:avLst>
              <a:gd name="adj" fmla="val 18003"/>
            </a:avLst>
          </a:prstGeom>
          <a:solidFill>
            <a:srgbClr val="F6F2E8"/>
          </a:solidFill>
          <a:ln w="19050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8214717" y="3142804"/>
            <a:ext cx="971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玩电脑游戏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9306818" y="3107829"/>
            <a:ext cx="121565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wán diànnǎo yóuxì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9306818" y="3282404"/>
            <a:ext cx="121565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play computer games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58701" y="3758654"/>
            <a:ext cx="11074598" cy="696367"/>
          </a:xfrm>
          <a:prstGeom prst="roundRect">
            <a:avLst>
              <a:gd name="adj" fmla="val 16414"/>
            </a:avLst>
          </a:prstGeom>
          <a:solidFill>
            <a:srgbClr val="EDF3F4"/>
          </a:solidFill>
          <a:ln w="19050">
            <a:solidFill>
              <a:srgbClr val="3A7D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806351" y="3963888"/>
            <a:ext cx="22345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🎵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1177826" y="3917305"/>
            <a:ext cx="5912489" cy="188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1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弹 (tán)</a:t>
            </a:r>
            <a:r>
              <a:rPr lang="en-US" sz="11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= play a plucked or keyboard instrument → </a:t>
            </a:r>
            <a:r>
              <a:rPr lang="en-US" sz="11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弹钢琴</a:t>
            </a:r>
            <a:r>
              <a:rPr lang="en-US" sz="11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(piano) · </a:t>
            </a:r>
            <a:r>
              <a:rPr lang="en-US" sz="11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弹吉他</a:t>
            </a:r>
            <a:r>
              <a:rPr lang="en-US" sz="11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(guitar)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1177826" y="4143970"/>
            <a:ext cx="591248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8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You'll meet a different verb for bowed strings (like violin) later in the unit.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0" y="6573887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07950" y="6656338"/>
            <a:ext cx="148783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6513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44363"/>
            <a:ext cx="124753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L1 · HOBBY VOCAB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845320" y="146000"/>
            <a:ext cx="12650" cy="139601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972270" y="144363"/>
            <a:ext cx="92145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Key Pattern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11101" y="1000423"/>
            <a:ext cx="1098519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10–20 MIN · I DO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11101" y="1219498"/>
            <a:ext cx="10985194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6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Key Sentence Pattern · 关键句型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711101" y="1736973"/>
            <a:ext cx="1098519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200"/>
              </a:spcAft>
              <a:buNone/>
            </a:pPr>
            <a:r>
              <a:rPr lang="en-US" sz="11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How to say what you like to do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11101" y="2216348"/>
            <a:ext cx="1676251" cy="796826"/>
          </a:xfrm>
          <a:prstGeom prst="roundRect">
            <a:avLst>
              <a:gd name="adj" fmla="val 15938"/>
            </a:avLst>
          </a:prstGeom>
          <a:solidFill>
            <a:srgbClr val="EDE7D7"/>
          </a:solidFill>
          <a:ln w="3810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054001" y="2381399"/>
            <a:ext cx="1010260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我喜欢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539752" y="2438549"/>
            <a:ext cx="165315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+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854226" y="2216348"/>
            <a:ext cx="1346150" cy="796826"/>
          </a:xfrm>
          <a:prstGeom prst="roundRect">
            <a:avLst>
              <a:gd name="adj" fmla="val 15938"/>
            </a:avLst>
          </a:prstGeom>
          <a:solidFill>
            <a:srgbClr val="EDE7D7"/>
          </a:solidFill>
          <a:ln w="3810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197126" y="2381399"/>
            <a:ext cx="673557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爱好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352776" y="2481411"/>
            <a:ext cx="1943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695676" y="2457599"/>
            <a:ext cx="1685639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5B6677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“I like to [hobby]”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11101" y="3317974"/>
            <a:ext cx="10769798" cy="577751"/>
          </a:xfrm>
          <a:prstGeom prst="roundRect">
            <a:avLst>
              <a:gd name="adj" fmla="val 17585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949226" y="3454450"/>
            <a:ext cx="154112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我喜欢</a:t>
            </a:r>
            <a:r>
              <a:rPr lang="en-US" sz="17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弹钢琴。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9818191" y="3516362"/>
            <a:ext cx="145307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like playing the piano.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11101" y="4022675"/>
            <a:ext cx="10769798" cy="577751"/>
          </a:xfrm>
          <a:prstGeom prst="roundRect">
            <a:avLst>
              <a:gd name="adj" fmla="val 17585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949226" y="4159151"/>
            <a:ext cx="132100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我喜欢</a:t>
            </a:r>
            <a:r>
              <a:rPr lang="en-US" sz="17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唱歌。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0433745" y="4221063"/>
            <a:ext cx="82521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like singing.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11101" y="4727377"/>
            <a:ext cx="10769798" cy="577751"/>
          </a:xfrm>
          <a:prstGeom prst="roundRect">
            <a:avLst>
              <a:gd name="adj" fmla="val 17585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949226" y="4863852"/>
            <a:ext cx="154112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我喜欢</a:t>
            </a:r>
            <a:r>
              <a:rPr lang="en-US" sz="17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看电视。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10112127" y="4925764"/>
            <a:ext cx="115326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like watching TV.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11101" y="5432078"/>
            <a:ext cx="10769798" cy="577751"/>
          </a:xfrm>
          <a:prstGeom prst="roundRect">
            <a:avLst>
              <a:gd name="adj" fmla="val 17585"/>
            </a:avLst>
          </a:prstGeom>
          <a:solidFill>
            <a:srgbClr val="FBF1F0"/>
          </a:solidFill>
          <a:ln w="9525">
            <a:solidFill>
              <a:srgbClr val="D475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949226" y="5568553"/>
            <a:ext cx="330251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我喜欢</a:t>
            </a:r>
            <a:r>
              <a:rPr lang="en-US" sz="17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玩电脑游戏，</a:t>
            </a:r>
            <a:r>
              <a:rPr lang="en-US" sz="1700" b="1" dirty="0">
                <a:solidFill>
                  <a:srgbClr val="D4756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不喜欢</a:t>
            </a:r>
            <a:r>
              <a:rPr lang="en-US" sz="17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读书！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4364682" y="5654278"/>
            <a:ext cx="91037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SILLY EXAMPLE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9055596" y="5630466"/>
            <a:ext cx="223092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like computer games, not reading!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0" y="6573887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7950" y="6656338"/>
            <a:ext cx="148783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6513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44363"/>
            <a:ext cx="124753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L1 · HOBBY VOCAB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845320" y="146000"/>
            <a:ext cx="12650" cy="139601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972270" y="144363"/>
            <a:ext cx="120532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CFU Checkpoints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11101" y="1444377"/>
            <a:ext cx="1098519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CHECK FOR UNDERSTANDING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11101" y="1663452"/>
            <a:ext cx="10985194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6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理解检查 · CFU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711101" y="2206377"/>
            <a:ext cx="1098519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200"/>
              </a:spcAft>
              <a:buNone/>
            </a:pPr>
            <a:r>
              <a:rPr lang="en-US" sz="11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Write your answer on your mini whiteboard </a:t>
            </a:r>
            <a:r>
              <a:rPr lang="en-US" sz="11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✎ Whiteboard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11101" y="2685752"/>
            <a:ext cx="10769798" cy="841623"/>
          </a:xfrm>
          <a:prstGeom prst="roundRect">
            <a:avLst>
              <a:gd name="adj" fmla="val 15090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949226" y="2872978"/>
            <a:ext cx="330101" cy="330101"/>
          </a:xfrm>
          <a:prstGeom prst="roundRect">
            <a:avLst>
              <a:gd name="adj" fmla="val 277006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077069" y="2923729"/>
            <a:ext cx="759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457027" y="2872978"/>
            <a:ext cx="1741655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What does </a:t>
            </a:r>
            <a:r>
              <a:rPr lang="en-US" sz="13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弹</a:t>
            </a:r>
            <a:r>
              <a:rPr lang="en-US" sz="13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mean?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457027" y="3159175"/>
            <a:ext cx="174165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C9C2B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Answer on next slide →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11101" y="3705076"/>
            <a:ext cx="10769798" cy="841623"/>
          </a:xfrm>
          <a:prstGeom prst="roundRect">
            <a:avLst>
              <a:gd name="adj" fmla="val 15090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949226" y="3892302"/>
            <a:ext cx="330101" cy="330101"/>
          </a:xfrm>
          <a:prstGeom prst="roundRect">
            <a:avLst>
              <a:gd name="adj" fmla="val 277006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062038" y="3943052"/>
            <a:ext cx="1064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457027" y="3892302"/>
            <a:ext cx="5177299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How would I say “I like listening to music”? </a:t>
            </a:r>
            <a:r>
              <a:rPr lang="en-US" sz="1100" b="1" i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Write it in Chinese.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457027" y="4178498"/>
            <a:ext cx="517729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C9C2B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Answer on next slide →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11101" y="4724400"/>
            <a:ext cx="10769798" cy="841623"/>
          </a:xfrm>
          <a:prstGeom prst="roundRect">
            <a:avLst>
              <a:gd name="adj" fmla="val 15090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949226" y="4911626"/>
            <a:ext cx="330101" cy="330101"/>
          </a:xfrm>
          <a:prstGeom prst="roundRect">
            <a:avLst>
              <a:gd name="adj" fmla="val 277006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061591" y="4962376"/>
            <a:ext cx="1073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457027" y="4911626"/>
            <a:ext cx="5548917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What's the same and what's different between </a:t>
            </a:r>
            <a:r>
              <a:rPr lang="en-US" sz="13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弹钢琴</a:t>
            </a:r>
            <a:r>
              <a:rPr lang="en-US" sz="13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and </a:t>
            </a:r>
            <a:r>
              <a:rPr lang="en-US" sz="13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弹吉他</a:t>
            </a:r>
            <a:r>
              <a:rPr lang="en-US" sz="13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?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457027" y="5197822"/>
            <a:ext cx="554891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C9C2B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Answer on next slide →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0" y="6573887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7950" y="6656338"/>
            <a:ext cx="148783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6513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44363"/>
            <a:ext cx="124753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L1 · HOBBY VOCAB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845320" y="146000"/>
            <a:ext cx="12650" cy="139601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972270" y="144363"/>
            <a:ext cx="114369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CFU Answers ↳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11101" y="1298823"/>
            <a:ext cx="1098519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ANSWERS REVEALED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11101" y="1517898"/>
            <a:ext cx="10985194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0"/>
              </a:spcAft>
              <a:buNone/>
            </a:pPr>
            <a:r>
              <a:rPr lang="en-US" sz="26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答案 · Answers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711101" y="2238524"/>
            <a:ext cx="10769798" cy="1047601"/>
          </a:xfrm>
          <a:prstGeom prst="roundRect">
            <a:avLst>
              <a:gd name="adj" fmla="val 12123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49226" y="2413099"/>
            <a:ext cx="330101" cy="330101"/>
          </a:xfrm>
          <a:prstGeom prst="roundRect">
            <a:avLst>
              <a:gd name="adj" fmla="val 277006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077069" y="2463850"/>
            <a:ext cx="759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57027" y="2413099"/>
            <a:ext cx="370600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What does 弹 mean?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457027" y="2663875"/>
            <a:ext cx="370600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弹 = play a string or keyboard instrument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57027" y="2949625"/>
            <a:ext cx="370600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9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Used for piano, guitar, lute — not for bowed strings like violin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11101" y="3451175"/>
            <a:ext cx="10769798" cy="1047601"/>
          </a:xfrm>
          <a:prstGeom prst="roundRect">
            <a:avLst>
              <a:gd name="adj" fmla="val 12123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949226" y="3625751"/>
            <a:ext cx="330101" cy="330101"/>
          </a:xfrm>
          <a:prstGeom prst="roundRect">
            <a:avLst>
              <a:gd name="adj" fmla="val 277006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062038" y="3676501"/>
            <a:ext cx="1064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457027" y="3625751"/>
            <a:ext cx="257825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How to say “I like listening to music”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457027" y="3876526"/>
            <a:ext cx="257825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我喜欢听音乐。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457027" y="4162276"/>
            <a:ext cx="257825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9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wǒ xǐhuān tīng yīnyuè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11101" y="4663827"/>
            <a:ext cx="10769798" cy="1047601"/>
          </a:xfrm>
          <a:prstGeom prst="roundRect">
            <a:avLst>
              <a:gd name="adj" fmla="val 12123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949226" y="4838402"/>
            <a:ext cx="330101" cy="330101"/>
          </a:xfrm>
          <a:prstGeom prst="roundRect">
            <a:avLst>
              <a:gd name="adj" fmla="val 277006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1061591" y="4889153"/>
            <a:ext cx="1073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457027" y="4838402"/>
            <a:ext cx="534428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Same and different: 弹钢琴 vs 弹吉他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457027" y="5089178"/>
            <a:ext cx="5344284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Same verb 弹 — different instruments: 钢琴 (piano) vs 吉他 (guitar)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457027" y="5374928"/>
            <a:ext cx="534428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9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One verb, two different objects. This pattern works for any plucked/keyboard instrument.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0" y="6573887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7950" y="6656338"/>
            <a:ext cx="148783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6513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44363"/>
            <a:ext cx="124753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L1 · HOBBY VOCAB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845320" y="146000"/>
            <a:ext cx="12650" cy="139601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972270" y="144363"/>
            <a:ext cx="147341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Activity 1 · TPR · 20–28 min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58701" y="752475"/>
            <a:ext cx="1026616" cy="244376"/>
          </a:xfrm>
          <a:prstGeom prst="roundRect">
            <a:avLst>
              <a:gd name="adj" fmla="val 5191713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36402" y="803225"/>
            <a:ext cx="68463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ACTIVITY 1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737717" y="660350"/>
            <a:ext cx="3122167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TPR · Say It and Do It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58701" y="1215926"/>
            <a:ext cx="802035" cy="292001"/>
          </a:xfrm>
          <a:prstGeom prst="roundRect">
            <a:avLst>
              <a:gd name="adj" fmla="val 4344951"/>
            </a:avLst>
          </a:prstGeom>
          <a:solidFill>
            <a:srgbClr val="F8F0DF"/>
          </a:solidFill>
          <a:ln w="9525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33276" y="1276201"/>
            <a:ext cx="46194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⏱ 8 min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475036" y="1239738"/>
            <a:ext cx="682377" cy="244376"/>
          </a:xfrm>
          <a:prstGeom prst="roundRect">
            <a:avLst>
              <a:gd name="adj" fmla="val 5191713"/>
            </a:avLst>
          </a:prstGeom>
          <a:solidFill>
            <a:srgbClr val="EDF3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614636" y="1290489"/>
            <a:ext cx="41123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WE DO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58701" y="1711077"/>
            <a:ext cx="5410349" cy="1943100"/>
          </a:xfrm>
          <a:prstGeom prst="roundRect">
            <a:avLst>
              <a:gd name="adj" fmla="val 6536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822127" y="1923752"/>
            <a:ext cx="498116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100"/>
              </a:spcAft>
              <a:buNone/>
            </a:pPr>
            <a:r>
              <a:rPr lang="en-US" sz="9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INSTRUCTIONS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22127" y="2225278"/>
            <a:ext cx="4883497" cy="1114723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lnSpc>
                <a:spcPts val="1595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calls out a hobby verb — e.g. </a:t>
            </a:r>
            <a:r>
              <a:rPr lang="en-US" sz="11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弹钢琴, 唱歌, 玩电脑游戏</a:t>
            </a:r>
            <a:endParaRPr lang="en-US" sz="1100" dirty="0"/>
          </a:p>
          <a:p>
            <a:pPr algn="l" marL="95250" indent="-95250">
              <a:lnSpc>
                <a:spcPts val="1595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Students </a:t>
            </a:r>
            <a:r>
              <a:rPr lang="en-US" sz="11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mime the action</a:t>
            </a: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. Build speed.</a:t>
            </a:r>
            <a:endParaRPr lang="en-US" sz="1100" dirty="0"/>
          </a:p>
          <a:p>
            <a:pPr algn="l" marL="95250" indent="-95250">
              <a:lnSpc>
                <a:spcPts val="1595"/>
              </a:lnSpc>
              <a:spcAft>
                <a:spcPts val="800"/>
              </a:spcAft>
              <a:buSzPct val="100000"/>
              <a:buChar char="•"/>
            </a:pPr>
            <a:r>
              <a:rPr lang="en-US" sz="11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Reverse:</a:t>
            </a: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Teacher mimes → students call out the Chinese word</a:t>
            </a:r>
            <a:endParaRPr lang="en-US" sz="1100" dirty="0"/>
          </a:p>
          <a:p>
            <a:pPr algn="l" marL="95250" indent="-95250">
              <a:lnSpc>
                <a:spcPts val="1595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Extension: students take turns as the caller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22950" y="1711077"/>
            <a:ext cx="5410349" cy="3281363"/>
          </a:xfrm>
          <a:prstGeom prst="roundRect">
            <a:avLst>
              <a:gd name="adj" fmla="val 3870"/>
            </a:avLst>
          </a:prstGeom>
          <a:solidFill>
            <a:srgbClr val="EDE7D7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486376" y="1923752"/>
            <a:ext cx="498116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100"/>
              </a:spcAft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WORD BANK · 词库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486376" y="2585442"/>
            <a:ext cx="4883497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86376" y="2288679"/>
            <a:ext cx="50520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弹钢琴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832455" y="2288679"/>
            <a:ext cx="54816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play piano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486376" y="2950369"/>
            <a:ext cx="4883497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86376" y="2653605"/>
            <a:ext cx="336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唱歌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153775" y="2653605"/>
            <a:ext cx="2204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sing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486376" y="3315295"/>
            <a:ext cx="4883497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86376" y="3018532"/>
            <a:ext cx="50520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听音乐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600134" y="3018532"/>
            <a:ext cx="78513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listen to music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486376" y="3680222"/>
            <a:ext cx="4883497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86376" y="3383459"/>
            <a:ext cx="336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读书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0724257" y="3383459"/>
            <a:ext cx="65852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read / study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486376" y="4045148"/>
            <a:ext cx="4883497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86376" y="3748385"/>
            <a:ext cx="50520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看电视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0879634" y="3748385"/>
            <a:ext cx="50004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watch TV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486376" y="4410075"/>
            <a:ext cx="4883497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86376" y="4113312"/>
            <a:ext cx="50520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弹吉他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10814893" y="4113312"/>
            <a:ext cx="56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play guitar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6486376" y="4775002"/>
            <a:ext cx="4883497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86376" y="4478238"/>
            <a:ext cx="84190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玩电脑游戏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10243245" y="4478238"/>
            <a:ext cx="11491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play computer games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558701" y="5170140"/>
            <a:ext cx="3606850" cy="732681"/>
          </a:xfrm>
          <a:prstGeom prst="roundRect">
            <a:avLst>
              <a:gd name="adj" fmla="val 13867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711101" y="5284440"/>
            <a:ext cx="336809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75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SCAFFOLD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711101" y="5468541"/>
            <a:ext cx="3368091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Vocab list stays visible on projector — students can glance if unsure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292501" y="5170140"/>
            <a:ext cx="3606850" cy="732681"/>
          </a:xfrm>
          <a:prstGeom prst="roundRect">
            <a:avLst>
              <a:gd name="adj" fmla="val 13867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4444901" y="5284440"/>
            <a:ext cx="336809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75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EXTENSION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4444901" y="5468541"/>
            <a:ext cx="3368091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Students take turns as the caller — say the word for the class to mime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8026301" y="5170140"/>
            <a:ext cx="3606998" cy="732681"/>
          </a:xfrm>
          <a:prstGeom prst="roundRect">
            <a:avLst>
              <a:gd name="adj" fmla="val 13867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8178701" y="5284440"/>
            <a:ext cx="336824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75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OTR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8178701" y="5468541"/>
            <a:ext cx="336824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Every student responds to every word — whole-class TPR, 100% participation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0" y="6573887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07950" y="6656338"/>
            <a:ext cx="148783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6513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44363"/>
            <a:ext cx="124753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L1 · HOBBY VOCAB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845320" y="146000"/>
            <a:ext cx="12650" cy="139601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972270" y="144363"/>
            <a:ext cx="210219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Activity 2 · Vocab Matching · 28–35 min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58701" y="752475"/>
            <a:ext cx="1045071" cy="244376"/>
          </a:xfrm>
          <a:prstGeom prst="roundRect">
            <a:avLst>
              <a:gd name="adj" fmla="val 5191713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36402" y="803225"/>
            <a:ext cx="70346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ACTIVITY 2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756172" y="660350"/>
            <a:ext cx="355056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Vocab Matching · Writing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58701" y="1203275"/>
            <a:ext cx="795784" cy="292001"/>
          </a:xfrm>
          <a:prstGeom prst="roundRect">
            <a:avLst>
              <a:gd name="adj" fmla="val 4344951"/>
            </a:avLst>
          </a:prstGeom>
          <a:solidFill>
            <a:srgbClr val="F8F0DF"/>
          </a:solidFill>
          <a:ln w="9525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33276" y="1263551"/>
            <a:ext cx="45556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⏱ 7 min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468785" y="1227088"/>
            <a:ext cx="1356717" cy="244376"/>
          </a:xfrm>
          <a:prstGeom prst="roundRect">
            <a:avLst>
              <a:gd name="adj" fmla="val 5191713"/>
            </a:avLst>
          </a:prstGeom>
          <a:solidFill>
            <a:srgbClr val="F8F0D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608386" y="1277838"/>
            <a:ext cx="109906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WE DO → YOU DO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58701" y="1672977"/>
            <a:ext cx="602011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100"/>
              </a:spcAft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INSTRUCTIONS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58701" y="1974503"/>
            <a:ext cx="5902077" cy="836265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lnSpc>
                <a:spcPts val="1595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Draw a </a:t>
            </a:r>
            <a:r>
              <a:rPr lang="en-US" sz="11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3-column table</a:t>
            </a: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on your mini whiteboard: 汉字 | 拼音 | English</a:t>
            </a:r>
            <a:endParaRPr lang="en-US" sz="1100" dirty="0"/>
          </a:p>
          <a:p>
            <a:pPr algn="l" marL="95250" indent="-95250">
              <a:lnSpc>
                <a:spcPts val="1595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calls out </a:t>
            </a:r>
            <a:r>
              <a:rPr lang="en-US" sz="11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 words</a:t>
            </a: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write all three columns from memory</a:t>
            </a:r>
            <a:endParaRPr lang="en-US" sz="1100" dirty="0"/>
          </a:p>
          <a:p>
            <a:pPr algn="l" marL="95250" indent="-95250">
              <a:lnSpc>
                <a:spcPts val="1595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Hold up your whiteboard — check against the projector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714679" y="1672977"/>
            <a:ext cx="4918472" cy="2402979"/>
          </a:xfrm>
          <a:prstGeom prst="roundRect">
            <a:avLst>
              <a:gd name="adj" fmla="val 5285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943279" y="1850678"/>
            <a:ext cx="455049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100"/>
              </a:spcAft>
              <a:buNone/>
            </a:pPr>
            <a:r>
              <a:rPr lang="en-US" sz="9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YOUR TABLE · 3 COLUMNS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58701" y="4253657"/>
            <a:ext cx="3606850" cy="732681"/>
          </a:xfrm>
          <a:prstGeom prst="roundRect">
            <a:avLst>
              <a:gd name="adj" fmla="val 13867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711101" y="4367957"/>
            <a:ext cx="336809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75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SCAFFOLD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711101" y="4552057"/>
            <a:ext cx="3368091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Pinyin remains on projector — just fill the English column if 汉字 is too hard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292501" y="4253657"/>
            <a:ext cx="3606850" cy="732681"/>
          </a:xfrm>
          <a:prstGeom prst="roundRect">
            <a:avLst>
              <a:gd name="adj" fmla="val 13867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444901" y="4367957"/>
            <a:ext cx="336809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75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EXTENSION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4444901" y="4552057"/>
            <a:ext cx="3368091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Cover the projector with a book and complete all three columns from memory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026301" y="4253657"/>
            <a:ext cx="3606998" cy="732681"/>
          </a:xfrm>
          <a:prstGeom prst="roundRect">
            <a:avLst>
              <a:gd name="adj" fmla="val 13867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8178701" y="4367957"/>
            <a:ext cx="336824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75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OTR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8178701" y="4552057"/>
            <a:ext cx="336824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Students hold up whiteboards — teacher scans for the 1–2 most common errors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0" y="6573887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7950" y="6656338"/>
            <a:ext cx="148783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6513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44363"/>
            <a:ext cx="124753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L1 · HOBBY VOCAB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845320" y="146000"/>
            <a:ext cx="12650" cy="139601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972270" y="144363"/>
            <a:ext cx="178795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Activity 3 · Pair Chain · 35–41 min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58701" y="752475"/>
            <a:ext cx="1045518" cy="244376"/>
          </a:xfrm>
          <a:prstGeom prst="roundRect">
            <a:avLst>
              <a:gd name="adj" fmla="val 5191713"/>
            </a:avLst>
          </a:prstGeom>
          <a:solidFill>
            <a:srgbClr val="D475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36402" y="803225"/>
            <a:ext cx="70391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ACTIVITY 3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756618" y="660350"/>
            <a:ext cx="3665476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Pair Chain Drill · Speaking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58701" y="1203275"/>
            <a:ext cx="802481" cy="292001"/>
          </a:xfrm>
          <a:prstGeom prst="roundRect">
            <a:avLst>
              <a:gd name="adj" fmla="val 4344951"/>
            </a:avLst>
          </a:prstGeom>
          <a:solidFill>
            <a:srgbClr val="F8F0DF"/>
          </a:solidFill>
          <a:ln w="9525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33276" y="1263551"/>
            <a:ext cx="46239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⏱ 6 min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475482" y="1227088"/>
            <a:ext cx="1393329" cy="244376"/>
          </a:xfrm>
          <a:prstGeom prst="roundRect">
            <a:avLst>
              <a:gd name="adj" fmla="val 5191713"/>
            </a:avLst>
          </a:prstGeom>
          <a:solidFill>
            <a:srgbClr val="FBF1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615083" y="1277838"/>
            <a:ext cx="113641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SPEAKING · PAIRS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58701" y="1672977"/>
            <a:ext cx="5410349" cy="2082552"/>
          </a:xfrm>
          <a:prstGeom prst="roundRect">
            <a:avLst>
              <a:gd name="adj" fmla="val 6098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822127" y="1885652"/>
            <a:ext cx="498116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9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DIALOGUE · 对话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22127" y="2225278"/>
            <a:ext cx="304651" cy="209550"/>
          </a:xfrm>
          <a:prstGeom prst="roundRect">
            <a:avLst>
              <a:gd name="adj" fmla="val 6054545"/>
            </a:avLst>
          </a:prstGeom>
          <a:solidFill>
            <a:srgbClr val="F8F0D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936427" y="2263378"/>
            <a:ext cx="775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253728" y="2199977"/>
            <a:ext cx="136017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你有什么爱好？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22127" y="2618929"/>
            <a:ext cx="305246" cy="209550"/>
          </a:xfrm>
          <a:prstGeom prst="roundRect">
            <a:avLst>
              <a:gd name="adj" fmla="val 6054545"/>
            </a:avLst>
          </a:prstGeom>
          <a:solidFill>
            <a:srgbClr val="EDF3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936427" y="2657029"/>
            <a:ext cx="7817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254323" y="2593628"/>
            <a:ext cx="171964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我喜欢</a:t>
            </a:r>
            <a:r>
              <a:rPr lang="en-US" sz="15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。你呢？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22127" y="3012579"/>
            <a:ext cx="304651" cy="209550"/>
          </a:xfrm>
          <a:prstGeom prst="roundRect">
            <a:avLst>
              <a:gd name="adj" fmla="val 6054545"/>
            </a:avLst>
          </a:prstGeom>
          <a:solidFill>
            <a:srgbClr val="F8F0D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936427" y="3050679"/>
            <a:ext cx="775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1253728" y="2987278"/>
            <a:ext cx="113671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我喜欢</a:t>
            </a:r>
            <a:r>
              <a:rPr lang="en-US" sz="15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22127" y="3380929"/>
            <a:ext cx="498116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Alternate roles. Use a different hobby each turn.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222950" y="1672977"/>
            <a:ext cx="551855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100"/>
              </a:spcAft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GOAL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222950" y="1974503"/>
            <a:ext cx="5410349" cy="552450"/>
          </a:xfrm>
          <a:prstGeom prst="roundRect">
            <a:avLst>
              <a:gd name="adj" fmla="val 18391"/>
            </a:avLst>
          </a:prstGeom>
          <a:solidFill>
            <a:srgbClr val="F8F0DF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6445151" y="2145953"/>
            <a:ext cx="506526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Use at least </a:t>
            </a:r>
            <a:r>
              <a:rPr lang="en-US" sz="12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 different words</a:t>
            </a: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in the chain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222950" y="2730103"/>
            <a:ext cx="551855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100"/>
              </a:spcAft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SENTENCE FRAME · 句型框架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222950" y="3031629"/>
            <a:ext cx="5410349" cy="526852"/>
          </a:xfrm>
          <a:prstGeom prst="rect">
            <a:avLst/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6246763" y="3031629"/>
            <a:ext cx="0" cy="526852"/>
          </a:xfrm>
          <a:prstGeom prst="line">
            <a:avLst/>
          </a:prstGeom>
          <a:noFill/>
          <a:ln w="47625">
            <a:solidFill>
              <a:srgbClr val="C8943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73726" y="3171230"/>
            <a:ext cx="505555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我喜欢</a:t>
            </a:r>
            <a:r>
              <a:rPr lang="en-US" sz="14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______</a:t>
            </a:r>
            <a:r>
              <a:rPr lang="en-US" sz="14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。你有什么爱好？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58701" y="3933230"/>
            <a:ext cx="3606850" cy="572691"/>
          </a:xfrm>
          <a:prstGeom prst="roundRect">
            <a:avLst>
              <a:gd name="adj" fmla="val 17741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711101" y="4047530"/>
            <a:ext cx="336809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75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SCAFFOLD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711101" y="4231630"/>
            <a:ext cx="336809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Sentence frame stays on board throughout the activity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292501" y="3933230"/>
            <a:ext cx="3606850" cy="572691"/>
          </a:xfrm>
          <a:prstGeom prst="roundRect">
            <a:avLst>
              <a:gd name="adj" fmla="val 17741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4444901" y="4047530"/>
            <a:ext cx="336809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75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EXTENSION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4444901" y="4231630"/>
            <a:ext cx="336809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Add a second hobby: </a:t>
            </a:r>
            <a:r>
              <a:rPr lang="en-US" sz="9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我喜欢弹钢琴，也喜欢唱歌。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8026301" y="3933230"/>
            <a:ext cx="3606998" cy="572691"/>
          </a:xfrm>
          <a:prstGeom prst="roundRect">
            <a:avLst>
              <a:gd name="adj" fmla="val 17741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8178701" y="4047530"/>
            <a:ext cx="336824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75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OTR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8178701" y="4231630"/>
            <a:ext cx="336824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Turn and talk — every student speaks during this activity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0" y="6573887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07950" y="6656338"/>
            <a:ext cx="148783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6513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44363"/>
            <a:ext cx="124753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L1 · HOBBY VOCAB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845320" y="146000"/>
            <a:ext cx="12650" cy="139601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972270" y="144363"/>
            <a:ext cx="216367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Activity 4 · Write My Hobbies · 41–43 min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11101" y="1437233"/>
            <a:ext cx="1046262" cy="244376"/>
          </a:xfrm>
          <a:prstGeom prst="roundRect">
            <a:avLst>
              <a:gd name="adj" fmla="val 5191713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88802" y="1487984"/>
            <a:ext cx="70467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ACTIVITY 4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909762" y="1345109"/>
            <a:ext cx="3830336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Write My Hobbies · You Do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11101" y="1888034"/>
            <a:ext cx="800844" cy="292001"/>
          </a:xfrm>
          <a:prstGeom prst="roundRect">
            <a:avLst>
              <a:gd name="adj" fmla="val 4344951"/>
            </a:avLst>
          </a:prstGeom>
          <a:solidFill>
            <a:srgbClr val="F8F0DF"/>
          </a:solidFill>
          <a:ln w="9525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885676" y="1948309"/>
            <a:ext cx="46072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⏱ 2 min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626245" y="1911846"/>
            <a:ext cx="1590377" cy="244376"/>
          </a:xfrm>
          <a:prstGeom prst="roundRect">
            <a:avLst>
              <a:gd name="adj" fmla="val 5191713"/>
            </a:avLst>
          </a:prstGeom>
          <a:solidFill>
            <a:srgbClr val="EDF3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765846" y="1962596"/>
            <a:ext cx="133739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YOU DO · INDIVIDUAL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11101" y="2433935"/>
            <a:ext cx="3454450" cy="1377702"/>
          </a:xfrm>
          <a:prstGeom prst="roundRect">
            <a:avLst>
              <a:gd name="adj" fmla="val 9218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867527" y="2646611"/>
            <a:ext cx="3141598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26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①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67527" y="3164086"/>
            <a:ext cx="314159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 TRUE hobby you have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67527" y="3437037"/>
            <a:ext cx="314159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Something you actually do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368701" y="2433935"/>
            <a:ext cx="3454450" cy="1377702"/>
          </a:xfrm>
          <a:prstGeom prst="roundRect">
            <a:avLst>
              <a:gd name="adj" fmla="val 9218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525127" y="2646611"/>
            <a:ext cx="3141598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26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②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4525127" y="3164086"/>
            <a:ext cx="314159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 FALSE hobby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25127" y="3437037"/>
            <a:ext cx="314159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Something you don't really do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026301" y="2433935"/>
            <a:ext cx="3454598" cy="1377702"/>
          </a:xfrm>
          <a:prstGeom prst="roundRect">
            <a:avLst>
              <a:gd name="adj" fmla="val 9218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8182725" y="2646611"/>
            <a:ext cx="3141750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26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③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8182725" y="3164086"/>
            <a:ext cx="31417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 hobby you've NEVER tried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182725" y="3437037"/>
            <a:ext cx="314175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Something you've never done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11101" y="4040237"/>
            <a:ext cx="10769798" cy="901452"/>
          </a:xfrm>
          <a:prstGeom prst="rect">
            <a:avLst/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734913" y="4040237"/>
            <a:ext cx="0" cy="901452"/>
          </a:xfrm>
          <a:prstGeom prst="line">
            <a:avLst/>
          </a:prstGeom>
          <a:noFill/>
          <a:ln w="47625">
            <a:solidFill>
              <a:srgbClr val="C8943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12627" y="4217938"/>
            <a:ext cx="1041865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00"/>
              </a:spcAft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SENTENCE FRAME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012627" y="4449663"/>
            <a:ext cx="10418659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我喜欢</a:t>
            </a:r>
            <a:r>
              <a:rPr lang="en-US" sz="18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711101" y="5119390"/>
            <a:ext cx="10769798" cy="545902"/>
          </a:xfrm>
          <a:prstGeom prst="roundRect">
            <a:avLst>
              <a:gd name="adj" fmla="val 18611"/>
            </a:avLst>
          </a:prstGeom>
          <a:solidFill>
            <a:srgbClr val="EDF3F4"/>
          </a:solidFill>
          <a:ln w="19050">
            <a:solidFill>
              <a:srgbClr val="3A7D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958751" y="5278041"/>
            <a:ext cx="36188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💡 You'll use these sentences in the NEXT lesson!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405961" y="5311378"/>
            <a:ext cx="288383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Extension: add 我不喜欢______ for a 4th sentence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0" y="6573887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7950" y="6656338"/>
            <a:ext cx="148783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6513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44363"/>
            <a:ext cx="124753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L1 · HOBBY VOCAB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845320" y="146000"/>
            <a:ext cx="12650" cy="139601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972270" y="144363"/>
            <a:ext cx="105215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Plenary · 43–47 min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11101" y="1899047"/>
            <a:ext cx="1098519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PLENARY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11101" y="2118122"/>
            <a:ext cx="10985194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200"/>
              </a:spcAft>
              <a:buNone/>
            </a:pPr>
            <a:r>
              <a:rPr lang="en-US" sz="26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总结 · Wrap-Up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711101" y="2864197"/>
            <a:ext cx="5245150" cy="2247156"/>
          </a:xfrm>
          <a:prstGeom prst="roundRect">
            <a:avLst>
              <a:gd name="adj" fmla="val 5652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99976" y="3102322"/>
            <a:ext cx="476074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400"/>
              </a:spcAft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REVISIT SUCCESS CRITERIA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99976" y="3441948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EDF3F4"/>
          </a:solidFill>
          <a:ln w="19050">
            <a:solidFill>
              <a:srgbClr val="3A7D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061889" y="3480048"/>
            <a:ext cx="14573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👍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317427" y="3441948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F8F0DF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379339" y="3480048"/>
            <a:ext cx="14573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✋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634877" y="3441948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FBF1F0"/>
          </a:solidFill>
          <a:ln w="19050">
            <a:solidFill>
              <a:srgbClr val="D475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696789" y="3480048"/>
            <a:ext cx="14573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👎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053977" y="3475286"/>
            <a:ext cx="232139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Name 8+ hobby words in Chinese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99976" y="3848249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EDF3F4"/>
          </a:solidFill>
          <a:ln w="19050">
            <a:solidFill>
              <a:srgbClr val="3A7D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1061889" y="3886349"/>
            <a:ext cx="14573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👍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317427" y="3848249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F8F0DF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1379339" y="3886349"/>
            <a:ext cx="14573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✋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634877" y="3848249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FBF1F0"/>
          </a:solidFill>
          <a:ln w="19050">
            <a:solidFill>
              <a:srgbClr val="D475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1696789" y="3886349"/>
            <a:ext cx="14573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👎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053977" y="3881586"/>
            <a:ext cx="214758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Say “I like to ___” using 我喜欢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99976" y="4254550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EDF3F4"/>
          </a:solidFill>
          <a:ln w="19050">
            <a:solidFill>
              <a:srgbClr val="3A7D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1061889" y="4292650"/>
            <a:ext cx="14573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👍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317427" y="4254550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F8F0DF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1379339" y="4292650"/>
            <a:ext cx="14573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✋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634877" y="4254550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FBF1F0"/>
          </a:solidFill>
          <a:ln w="19050">
            <a:solidFill>
              <a:srgbClr val="D475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1696789" y="4292650"/>
            <a:ext cx="14573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👎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053977" y="4287887"/>
            <a:ext cx="261984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Mime and recognise all 7 TPR actions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235601" y="2864197"/>
            <a:ext cx="5245298" cy="2247156"/>
          </a:xfrm>
          <a:prstGeom prst="roundRect">
            <a:avLst>
              <a:gd name="adj" fmla="val 5652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6524476" y="3102322"/>
            <a:ext cx="476089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400"/>
              </a:spcAft>
              <a:buNone/>
            </a:pPr>
            <a:r>
              <a:rPr lang="en-US" sz="9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EXIT TICKET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524476" y="3441948"/>
            <a:ext cx="4667548" cy="872877"/>
          </a:xfrm>
          <a:prstGeom prst="rect">
            <a:avLst/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Shape 33"/>
          <p:cNvSpPr/>
          <p:nvPr/>
        </p:nvSpPr>
        <p:spPr>
          <a:xfrm>
            <a:off x="6548289" y="3441948"/>
            <a:ext cx="0" cy="872877"/>
          </a:xfrm>
          <a:prstGeom prst="line">
            <a:avLst/>
          </a:prstGeom>
          <a:noFill/>
          <a:ln w="47625">
            <a:solidFill>
              <a:srgbClr val="3A7D8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00701" y="3619649"/>
            <a:ext cx="424597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00"/>
              </a:spcAft>
              <a:buNone/>
            </a:pPr>
            <a:r>
              <a:rPr lang="en-US" sz="8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TASK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800701" y="3851374"/>
            <a:ext cx="424597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Write 3 hobby words — no pinyin allowed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524476" y="4492526"/>
            <a:ext cx="4760899" cy="380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Use the sentence you wrote in Activity 4. </a:t>
            </a:r>
            <a:r>
              <a:rPr lang="en-US" sz="10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Underline any word you're unsure about</a:t>
            </a: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that's your homework focus.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0" y="6573887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7950" y="6656338"/>
            <a:ext cx="148783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6513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44363"/>
            <a:ext cx="124753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L1 · HOBBY VOCAB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845320" y="146000"/>
            <a:ext cx="12650" cy="139601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972270" y="144363"/>
            <a:ext cx="114111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Preview · Next Lesson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209309" y="1362373"/>
            <a:ext cx="177338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COMING UP NEXT · L2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41520" y="1651248"/>
            <a:ext cx="310896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30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一边……一边……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8865" y="2248049"/>
            <a:ext cx="303412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600"/>
              </a:spcAft>
              <a:buNone/>
            </a:pPr>
            <a:r>
              <a:rPr lang="en-US" sz="14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Doing two things at the same time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549723" y="2825800"/>
            <a:ext cx="2228701" cy="1384102"/>
          </a:xfrm>
          <a:prstGeom prst="roundRect">
            <a:avLst>
              <a:gd name="adj" fmla="val 9176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822089" y="3038475"/>
            <a:ext cx="1683969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24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📖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2822089" y="3568601"/>
            <a:ext cx="168396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课文一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822089" y="3835301"/>
            <a:ext cx="168396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Text 1 · Meet 田云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981575" y="2825800"/>
            <a:ext cx="2228701" cy="1384102"/>
          </a:xfrm>
          <a:prstGeom prst="roundRect">
            <a:avLst>
              <a:gd name="adj" fmla="val 9176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253941" y="3038475"/>
            <a:ext cx="1683969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24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🎵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5253941" y="3568601"/>
            <a:ext cx="168396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听+说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253941" y="3835301"/>
            <a:ext cx="168396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Running Dictation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413427" y="2825800"/>
            <a:ext cx="2228701" cy="1384102"/>
          </a:xfrm>
          <a:prstGeom prst="roundRect">
            <a:avLst>
              <a:gd name="adj" fmla="val 9176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7685792" y="3038475"/>
            <a:ext cx="1683969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24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✏️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7685792" y="3568601"/>
            <a:ext cx="168396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语法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685792" y="3835301"/>
            <a:ext cx="168396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New Grammar Pattern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318099" y="4514701"/>
            <a:ext cx="3555802" cy="1133177"/>
          </a:xfrm>
          <a:prstGeom prst="roundRect">
            <a:avLst>
              <a:gd name="adj" fmla="val 11207"/>
            </a:avLst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696968" y="4692402"/>
            <a:ext cx="279806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NEW PATTERN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696968" y="4911477"/>
            <a:ext cx="2798064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我一边听音乐，一边读书。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4696968" y="5289203"/>
            <a:ext cx="279806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buNone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listen to music while reading.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0" y="6573887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7950" y="6656338"/>
            <a:ext cx="148783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2026-06-30T02:51:21Z</dcterms:created>
  <dcterms:modified xsi:type="dcterms:W3CDTF">2026-06-30T02:51:21Z</dcterms:modified>
</cp:coreProperties>
</file>