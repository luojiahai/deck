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27936" y="1873300"/>
            <a:ext cx="27361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OF 8 · Y8 UNIT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66360" y="2251025"/>
            <a:ext cx="259131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♪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375660" y="2860477"/>
            <a:ext cx="544068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0"/>
              </a:lnSpc>
              <a:spcAft>
                <a:spcPts val="1200"/>
              </a:spcAft>
              <a:buNone/>
            </a:pPr>
            <a:r>
              <a:rPr lang="en-US" sz="8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pPr algn="ctr" indent="0" marL="0">
              <a:lnSpc>
                <a:spcPts val="8400"/>
              </a:lnSpc>
              <a:spcAft>
                <a:spcPts val="1200"/>
              </a:spcAft>
              <a:buNone/>
            </a:pPr>
            <a:r>
              <a:rPr lang="en-US" sz="8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pPr algn="ctr" indent="0" marL="0">
              <a:lnSpc>
                <a:spcPts val="8400"/>
              </a:lnSpc>
              <a:spcAft>
                <a:spcPts val="1200"/>
              </a:spcAft>
              <a:buNone/>
            </a:pPr>
            <a:r>
              <a:rPr lang="en-US" sz="8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3975290" y="4079677"/>
            <a:ext cx="424127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1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Hobby Vocabulary · Music Actions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019679" y="4803577"/>
            <a:ext cx="6152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　·　50 mins　·　Speaking + Listening　·　轻松学中文 Book 2 · p.60–61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711101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930176"/>
            <a:ext cx="111922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Unit 2 Vocabulary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09600" y="1625501"/>
            <a:ext cx="5334000" cy="1850827"/>
          </a:xfrm>
          <a:prstGeom prst="roundRect">
            <a:avLst>
              <a:gd name="adj" fmla="val 686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8475" y="1863626"/>
            <a:ext cx="4851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FLASHCARD RAPID FIRE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8475" y="2197001"/>
            <a:ext cx="4756249" cy="93970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character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projector → students chorally say pinyin + English</a:t>
            </a:r>
            <a:endParaRPr lang="en-US" sz="1100" dirty="0"/>
          </a:p>
          <a:p>
            <a:pPr algn="l" marL="101600" indent="-1016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Reverse: teacher says 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pPr algn="l" indent="0" marL="0">
              <a:lnSpc>
                <a:spcPts val="165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students write Chinese on mini whiteboards and hold up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48400" y="1625501"/>
            <a:ext cx="5334000" cy="2117229"/>
          </a:xfrm>
          <a:prstGeom prst="roundRect">
            <a:avLst>
              <a:gd name="adj" fmla="val 59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37275" y="1863626"/>
            <a:ext cx="48513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WORDS (UNIT 2)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37275" y="2197001"/>
            <a:ext cx="902494" cy="603052"/>
          </a:xfrm>
          <a:prstGeom prst="roundRect">
            <a:avLst>
              <a:gd name="adj" fmla="val 1684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11851" y="2295376"/>
            <a:ext cx="5644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吃饭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11851" y="2568327"/>
            <a:ext cx="5644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eat (a meal)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541270" y="2197001"/>
            <a:ext cx="927497" cy="603052"/>
          </a:xfrm>
          <a:prstGeom prst="roundRect">
            <a:avLst>
              <a:gd name="adj" fmla="val 1684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715845" y="2295376"/>
            <a:ext cx="5899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15845" y="2568327"/>
            <a:ext cx="5899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570268" y="2197001"/>
            <a:ext cx="704701" cy="603052"/>
          </a:xfrm>
          <a:prstGeom prst="roundRect">
            <a:avLst>
              <a:gd name="adj" fmla="val 1684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744843" y="2295376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744843" y="2568327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376470" y="2197001"/>
            <a:ext cx="804863" cy="603052"/>
          </a:xfrm>
          <a:prstGeom prst="roundRect">
            <a:avLst>
              <a:gd name="adj" fmla="val 1684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551045" y="2295376"/>
            <a:ext cx="464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551045" y="2568327"/>
            <a:ext cx="4648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0282833" y="2197001"/>
            <a:ext cx="704701" cy="603052"/>
          </a:xfrm>
          <a:prstGeom prst="roundRect">
            <a:avLst>
              <a:gd name="adj" fmla="val 1684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457408" y="2295376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457408" y="2568327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537275" y="2901553"/>
            <a:ext cx="972294" cy="603052"/>
          </a:xfrm>
          <a:prstGeom prst="roundRect">
            <a:avLst>
              <a:gd name="adj" fmla="val 16848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11851" y="2999929"/>
            <a:ext cx="6356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做作业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711851" y="3272879"/>
            <a:ext cx="6356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homework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09600" y="3971330"/>
            <a:ext cx="10972800" cy="532656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33412" y="3971330"/>
            <a:ext cx="0" cy="532656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5825" y="4136380"/>
            <a:ext cx="10677335" cy="202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“Last unit we talked about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daily routines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today we start a new topic: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爱好 (hobbies)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You'll use the same activity verbs in a new context.”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910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4352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87897"/>
            <a:ext cx="10985194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11101" y="2772073"/>
            <a:ext cx="10769798" cy="869752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2772073"/>
            <a:ext cx="0" cy="8697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8076" y="2975223"/>
            <a:ext cx="103667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8076" y="3181499"/>
            <a:ext cx="1036674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</a:t>
            </a:r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our hobbies</a:t>
            </a:r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using music and leisure vocabulary.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101" y="3933825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1177" y="4001988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0951" y="3921175"/>
            <a:ext cx="601935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8+ hobby words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—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弹钢琴, 唱歌, 听音乐, 读书, 看电视…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4441627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68" y="450979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0951" y="4428976"/>
            <a:ext cx="475270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what my hobby is using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我喜欢……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ts val="1820"/>
              </a:lnSpc>
              <a:buNone/>
            </a:pPr>
            <a:r>
              <a:rPr lang="en-US" sz="13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(wǒ xǐhuān…)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1101" y="4949428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270" y="5017591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0951" y="4936778"/>
            <a:ext cx="4865947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mime actions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when I hear them said in Chinese (TPR)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8043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0350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66626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460302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5452" y="160630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7702" y="1609427"/>
            <a:ext cx="3403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àihào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77702" y="1784003"/>
            <a:ext cx="3403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hobby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288334" y="1460302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485084" y="1606302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348585" y="1609427"/>
            <a:ext cx="7995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gāngqín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348585" y="1784003"/>
            <a:ext cx="7995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the piano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17966" y="1460302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14717" y="1606302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836968" y="1609427"/>
            <a:ext cx="6548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chànggē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36968" y="1784003"/>
            <a:ext cx="6548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 a song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8701" y="2209502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55452" y="2355503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618952" y="2358628"/>
            <a:ext cx="8303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tīng yīnyuè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18952" y="2533204"/>
            <a:ext cx="83037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music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288334" y="2209502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485084" y="235550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107335" y="2358628"/>
            <a:ext cx="6966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dúshū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07335" y="2533204"/>
            <a:ext cx="6966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/ study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17966" y="2209502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214717" y="2355503"/>
            <a:ext cx="4923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小时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836968" y="2358628"/>
            <a:ext cx="3998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xiǎoshí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6968" y="2533204"/>
            <a:ext cx="3998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hour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8701" y="2958703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5452" y="3104704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1618952" y="3107829"/>
            <a:ext cx="647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 diànshì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18952" y="3282404"/>
            <a:ext cx="647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TV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288334" y="2958703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85084" y="3104704"/>
            <a:ext cx="7383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弹吉他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5348585" y="3107829"/>
            <a:ext cx="5985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jítā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48585" y="3282404"/>
            <a:ext cx="5985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guitar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017966" y="2958703"/>
            <a:ext cx="3615333" cy="634901"/>
          </a:xfrm>
          <a:prstGeom prst="roundRect">
            <a:avLst>
              <a:gd name="adj" fmla="val 18003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214717" y="3142804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玩电脑游戏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9306818" y="3107829"/>
            <a:ext cx="1215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wán diànnǎo yóuxì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306818" y="3282404"/>
            <a:ext cx="12156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computer games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8701" y="3758654"/>
            <a:ext cx="11074598" cy="696367"/>
          </a:xfrm>
          <a:prstGeom prst="roundRect">
            <a:avLst>
              <a:gd name="adj" fmla="val 16414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6351" y="3963888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🎵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77826" y="3917305"/>
            <a:ext cx="591248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 (tán)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play a plucked or keyboard instrument →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(piano) · </a:t>
            </a:r>
            <a:pPr algn="l" indent="0" marL="0">
              <a:lnSpc>
                <a:spcPts val="1485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弹吉他</a:t>
            </a:r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(guitar)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177826" y="4143970"/>
            <a:ext cx="59124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You'll meet a different verb for bowed strings (like violin) later in the unit.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921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0004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219498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 · 关键句型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1736973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what you like to do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1101" y="2216348"/>
            <a:ext cx="1676251" cy="796826"/>
          </a:xfrm>
          <a:prstGeom prst="roundRect">
            <a:avLst>
              <a:gd name="adj" fmla="val 15938"/>
            </a:avLst>
          </a:prstGeom>
          <a:solidFill>
            <a:srgbClr val="EDE7D7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54001" y="2381399"/>
            <a:ext cx="10102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39752" y="2438549"/>
            <a:ext cx="16531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54226" y="2216348"/>
            <a:ext cx="1346150" cy="796826"/>
          </a:xfrm>
          <a:prstGeom prst="roundRect">
            <a:avLst>
              <a:gd name="adj" fmla="val 15938"/>
            </a:avLst>
          </a:prstGeom>
          <a:solidFill>
            <a:srgbClr val="EDE7D7"/>
          </a:solidFill>
          <a:ln w="3810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197126" y="2381399"/>
            <a:ext cx="67355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352776" y="2481411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95676" y="2457599"/>
            <a:ext cx="168563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“I like to [hobby]”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11101" y="3317974"/>
            <a:ext cx="10769798" cy="577751"/>
          </a:xfrm>
          <a:prstGeom prst="roundRect">
            <a:avLst>
              <a:gd name="adj" fmla="val 1758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49226" y="3454450"/>
            <a:ext cx="15411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818191" y="3516362"/>
            <a:ext cx="1453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playing the piano.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1101" y="4022675"/>
            <a:ext cx="10769798" cy="577751"/>
          </a:xfrm>
          <a:prstGeom prst="roundRect">
            <a:avLst>
              <a:gd name="adj" fmla="val 1758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49226" y="4159151"/>
            <a:ext cx="13210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唱歌。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0433745" y="4221063"/>
            <a:ext cx="8252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singing.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11101" y="4727377"/>
            <a:ext cx="10769798" cy="577751"/>
          </a:xfrm>
          <a:prstGeom prst="roundRect">
            <a:avLst>
              <a:gd name="adj" fmla="val 1758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49226" y="4863852"/>
            <a:ext cx="15411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看电视。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112127" y="4925764"/>
            <a:ext cx="11532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watching TV.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1101" y="5432078"/>
            <a:ext cx="10769798" cy="577751"/>
          </a:xfrm>
          <a:prstGeom prst="roundRect">
            <a:avLst>
              <a:gd name="adj" fmla="val 17585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49226" y="5568553"/>
            <a:ext cx="330251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玩电脑游戏，</a:t>
            </a:r>
            <a:pPr algn="l" indent="0" marL="0">
              <a:buNone/>
            </a:pPr>
            <a:r>
              <a:rPr lang="en-US" sz="1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不喜欢</a:t>
            </a:r>
            <a:pPr algn="l" indent="0" marL="0"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读书！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364682" y="5654278"/>
            <a:ext cx="9103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SILLY EXAMPLE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9055596" y="5630466"/>
            <a:ext cx="22309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computer games, not reading!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205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4437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663452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206377"/>
            <a:ext cx="10985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</a:t>
            </a:r>
            <a:pPr algn="l" indent="0" marL="0">
              <a:spcAft>
                <a:spcPts val="2200"/>
              </a:spcAft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✎ Whiteboard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1101" y="2685752"/>
            <a:ext cx="10769798" cy="841623"/>
          </a:xfrm>
          <a:prstGeom prst="roundRect">
            <a:avLst>
              <a:gd name="adj" fmla="val 150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49226" y="2872978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7069" y="2923729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57027" y="2872978"/>
            <a:ext cx="1741655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57027" y="3159175"/>
            <a:ext cx="17416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C2B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3705076"/>
            <a:ext cx="10769798" cy="841623"/>
          </a:xfrm>
          <a:prstGeom prst="roundRect">
            <a:avLst>
              <a:gd name="adj" fmla="val 150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49226" y="389230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62038" y="3943052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57027" y="3892302"/>
            <a:ext cx="5177299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would I say “I like listening to music”? 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100" b="1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in Chinese.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57027" y="4178498"/>
            <a:ext cx="51772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C2B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1101" y="4724400"/>
            <a:ext cx="10769798" cy="841623"/>
          </a:xfrm>
          <a:prstGeom prst="roundRect">
            <a:avLst>
              <a:gd name="adj" fmla="val 1509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49226" y="4911626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61591" y="4962376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57027" y="4911626"/>
            <a:ext cx="5548917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the same and what's different between 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弹吉他</a:t>
            </a:r>
            <a:pPr algn="l" indent="0" marL="0">
              <a:lnSpc>
                <a:spcPts val="175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57027" y="5197822"/>
            <a:ext cx="5548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C9C2B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1436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2988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517898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238524"/>
            <a:ext cx="10769798" cy="1047601"/>
          </a:xfrm>
          <a:prstGeom prst="roundRect">
            <a:avLst>
              <a:gd name="adj" fmla="val 1212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49226" y="241309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77069" y="2463850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57027" y="2413099"/>
            <a:ext cx="37060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弹 mean?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57027" y="2663875"/>
            <a:ext cx="37060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 = play a string or keyboard instrument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57027" y="2949625"/>
            <a:ext cx="37060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Used for piano, guitar, lute — not for bowed strings like violin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1101" y="3451175"/>
            <a:ext cx="10769798" cy="1047601"/>
          </a:xfrm>
          <a:prstGeom prst="roundRect">
            <a:avLst>
              <a:gd name="adj" fmla="val 1212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49226" y="3625751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62038" y="3676501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57027" y="3625751"/>
            <a:ext cx="25782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say “I like listening to music”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57027" y="3876526"/>
            <a:ext cx="25782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我喜欢听音乐。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57027" y="4162276"/>
            <a:ext cx="25782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xǐhuān tīng yīnyuè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1101" y="4663827"/>
            <a:ext cx="10769798" cy="1047601"/>
          </a:xfrm>
          <a:prstGeom prst="roundRect">
            <a:avLst>
              <a:gd name="adj" fmla="val 1212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49226" y="483840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61591" y="4889153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57027" y="4838402"/>
            <a:ext cx="53442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and different: 弹钢琴 vs 弹吉他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57027" y="5089178"/>
            <a:ext cx="53442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Same verb 弹 — different instruments: 钢琴 (piano) vs 吉他 (guitar)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57027" y="5374928"/>
            <a:ext cx="53442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verb, two different objects. This pattern works for any plucked/keyboard instrument.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473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TPR · 20–28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752475"/>
            <a:ext cx="1026616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803225"/>
            <a:ext cx="6846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37717" y="660350"/>
            <a:ext cx="312216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TPR · Say It and Do It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58701" y="1215926"/>
            <a:ext cx="802035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276201"/>
            <a:ext cx="4619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036" y="1239738"/>
            <a:ext cx="682377" cy="244376"/>
          </a:xfrm>
          <a:prstGeom prst="roundRect">
            <a:avLst>
              <a:gd name="adj" fmla="val 519171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4636" y="1290489"/>
            <a:ext cx="4112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711077"/>
            <a:ext cx="5410349" cy="1943100"/>
          </a:xfrm>
          <a:prstGeom prst="roundRect">
            <a:avLst>
              <a:gd name="adj" fmla="val 653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127" y="1923752"/>
            <a:ext cx="4981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127" y="2225278"/>
            <a:ext cx="4883497" cy="1114723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595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a hobby verb — e.g. </a:t>
            </a:r>
            <a:pPr algn="l" indent="0" marL="0">
              <a:lnSpc>
                <a:spcPts val="1595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弹钢琴, 唱歌, 玩电脑游戏</a:t>
            </a:r>
            <a:endParaRPr lang="en-US" sz="1100" dirty="0"/>
          </a:p>
          <a:p>
            <a:pPr algn="l" marL="95250" indent="-95250">
              <a:lnSpc>
                <a:spcPts val="1595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</a:t>
            </a:r>
            <a:pPr algn="l" indent="0" marL="0">
              <a:lnSpc>
                <a:spcPts val="1595"/>
              </a:lnSpc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mime the action</a:t>
            </a:r>
            <a:pPr algn="l" indent="0" marL="0">
              <a:lnSpc>
                <a:spcPts val="1595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Build speed.</a:t>
            </a:r>
            <a:endParaRPr lang="en-US" sz="1100" dirty="0"/>
          </a:p>
          <a:p>
            <a:pPr algn="l" marL="95250" indent="-95250">
              <a:lnSpc>
                <a:spcPts val="1595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Reverse:</a:t>
            </a:r>
            <a:pPr algn="l" indent="0" marL="0">
              <a:lnSpc>
                <a:spcPts val="1595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mimes → students call out the Chinese word</a:t>
            </a:r>
            <a:endParaRPr lang="en-US" sz="1100" dirty="0"/>
          </a:p>
          <a:p>
            <a:pPr algn="l" marL="95250" indent="-95250">
              <a:lnSpc>
                <a:spcPts val="1595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students take turns as the caller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22950" y="1711077"/>
            <a:ext cx="5410349" cy="3281363"/>
          </a:xfrm>
          <a:prstGeom prst="roundRect">
            <a:avLst>
              <a:gd name="adj" fmla="val 3870"/>
            </a:avLst>
          </a:prstGeom>
          <a:solidFill>
            <a:srgbClr val="EDE7D7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86376" y="1923752"/>
            <a:ext cx="4981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86376" y="2585442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86376" y="2288679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832455" y="2288679"/>
            <a:ext cx="548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piano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86376" y="2950369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86376" y="2653605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153775" y="2653605"/>
            <a:ext cx="220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86376" y="3315295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86376" y="3018532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00134" y="3018532"/>
            <a:ext cx="7851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music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86376" y="3680222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6376" y="3383459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724257" y="3383459"/>
            <a:ext cx="6585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/ study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86376" y="4045148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86376" y="3748385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879634" y="3748385"/>
            <a:ext cx="500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TV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86376" y="4410075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6376" y="4113312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弹吉他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0814893" y="4113312"/>
            <a:ext cx="56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guitar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486376" y="4775002"/>
            <a:ext cx="4883497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86376" y="4478238"/>
            <a:ext cx="841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玩电脑游戏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243245" y="4478238"/>
            <a:ext cx="1149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computer games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58701" y="5170140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11101" y="5284440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11101" y="5468541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 list stays visible on projector — students can glance if unsure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292501" y="5170140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444901" y="5284440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4444901" y="5468541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take turns as the caller — say the word for the class to mime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026301" y="5170140"/>
            <a:ext cx="3606998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178701" y="5284440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8178701" y="5468541"/>
            <a:ext cx="336824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responds to every word — whole-class TPR, 100% participation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21021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Vocab Matching · 28–35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752475"/>
            <a:ext cx="1045071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803225"/>
            <a:ext cx="703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56172" y="660350"/>
            <a:ext cx="35505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 Matching · Writing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58701" y="1203275"/>
            <a:ext cx="795784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263551"/>
            <a:ext cx="4555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68785" y="1227088"/>
            <a:ext cx="1356717" cy="244376"/>
          </a:xfrm>
          <a:prstGeom prst="roundRect">
            <a:avLst>
              <a:gd name="adj" fmla="val 5191713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08386" y="1277838"/>
            <a:ext cx="10990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672977"/>
            <a:ext cx="60201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8701" y="1974503"/>
            <a:ext cx="5902077" cy="836265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1595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</a:t>
            </a:r>
            <a:pPr algn="l" indent="0" marL="0">
              <a:lnSpc>
                <a:spcPts val="1595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3-column table</a:t>
            </a:r>
            <a:pPr algn="l" indent="0" marL="0">
              <a:lnSpc>
                <a:spcPts val="1595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your mini whiteboard: 汉字 | 拼音 | English</a:t>
            </a:r>
            <a:endParaRPr lang="en-US" sz="1100" dirty="0"/>
          </a:p>
          <a:p>
            <a:pPr algn="l" marL="95250" indent="-95250">
              <a:lnSpc>
                <a:spcPts val="1595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</a:t>
            </a:r>
            <a:pPr algn="l" indent="0" marL="0">
              <a:lnSpc>
                <a:spcPts val="1595"/>
              </a:lnSpc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words</a:t>
            </a:r>
            <a:pPr algn="l" indent="0" marL="0">
              <a:lnSpc>
                <a:spcPts val="1595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write all three columns from memory</a:t>
            </a:r>
            <a:endParaRPr lang="en-US" sz="1100" dirty="0"/>
          </a:p>
          <a:p>
            <a:pPr algn="l" marL="95250" indent="-95250">
              <a:lnSpc>
                <a:spcPts val="1595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your whiteboard — check against the projector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14679" y="1672977"/>
            <a:ext cx="4918472" cy="2402979"/>
          </a:xfrm>
          <a:prstGeom prst="roundRect">
            <a:avLst>
              <a:gd name="adj" fmla="val 52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43279" y="1850678"/>
            <a:ext cx="45504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TABLE · 3 COLUMNS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58701" y="4253657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1101" y="4367957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11101" y="4552057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remains on projector — just fill the English column if 汉字 is too hard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92501" y="4253657"/>
            <a:ext cx="3606850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444901" y="4367957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444901" y="4552057"/>
            <a:ext cx="336809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Cover the projector with a book and complete all three columns from memory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26301" y="4253657"/>
            <a:ext cx="3606998" cy="732681"/>
          </a:xfrm>
          <a:prstGeom prst="roundRect">
            <a:avLst>
              <a:gd name="adj" fmla="val 1386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178701" y="4367957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178701" y="4552057"/>
            <a:ext cx="336824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hold up whiteboards — teacher scans for the 1–2 most common errors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787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Pair Chain · 35–41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752475"/>
            <a:ext cx="1045518" cy="244376"/>
          </a:xfrm>
          <a:prstGeom prst="roundRect">
            <a:avLst>
              <a:gd name="adj" fmla="val 519171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803225"/>
            <a:ext cx="7039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56618" y="660350"/>
            <a:ext cx="366547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Pair Chain Drill · Speaking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58701" y="1203275"/>
            <a:ext cx="802481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33276" y="1263551"/>
            <a:ext cx="46239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75482" y="1227088"/>
            <a:ext cx="1393329" cy="244376"/>
          </a:xfrm>
          <a:prstGeom prst="roundRect">
            <a:avLst>
              <a:gd name="adj" fmla="val 5191713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15083" y="1277838"/>
            <a:ext cx="11364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· PAIRS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672977"/>
            <a:ext cx="5410349" cy="2082552"/>
          </a:xfrm>
          <a:prstGeom prst="roundRect">
            <a:avLst>
              <a:gd name="adj" fmla="val 609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127" y="1885652"/>
            <a:ext cx="4981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· 对话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127" y="2225278"/>
            <a:ext cx="304651" cy="209550"/>
          </a:xfrm>
          <a:prstGeom prst="roundRect">
            <a:avLst>
              <a:gd name="adj" fmla="val 6054545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6427" y="2263378"/>
            <a:ext cx="775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253728" y="2199977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你有什么爱好？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127" y="2618929"/>
            <a:ext cx="305246" cy="209550"/>
          </a:xfrm>
          <a:prstGeom prst="roundRect">
            <a:avLst>
              <a:gd name="adj" fmla="val 6054545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36427" y="2657029"/>
            <a:ext cx="78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54323" y="2593628"/>
            <a:ext cx="17196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。你呢？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127" y="3012579"/>
            <a:ext cx="304651" cy="209550"/>
          </a:xfrm>
          <a:prstGeom prst="roundRect">
            <a:avLst>
              <a:gd name="adj" fmla="val 6054545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36427" y="3050679"/>
            <a:ext cx="775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253728" y="2987278"/>
            <a:ext cx="11367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127" y="3380929"/>
            <a:ext cx="4981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Alternate roles. Use a different hobby each turn.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22950" y="1672977"/>
            <a:ext cx="5518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22950" y="1974503"/>
            <a:ext cx="5410349" cy="552450"/>
          </a:xfrm>
          <a:prstGeom prst="roundRect">
            <a:avLst>
              <a:gd name="adj" fmla="val 1839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45151" y="2145953"/>
            <a:ext cx="50652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at least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different words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the chain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22950" y="2730103"/>
            <a:ext cx="5518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· 句型框架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22950" y="3031629"/>
            <a:ext cx="5410349" cy="5268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246763" y="3031629"/>
            <a:ext cx="0" cy="5268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726" y="3171230"/>
            <a:ext cx="50555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。你有什么爱好？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58701" y="3933230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11101" y="4047530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11101" y="4231630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stays on board throughout the activity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292501" y="3933230"/>
            <a:ext cx="3606850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44901" y="4047530"/>
            <a:ext cx="33680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444901" y="4231630"/>
            <a:ext cx="33680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second hobby: 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我喜欢弹钢琴，也喜欢唱歌。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26301" y="3933230"/>
            <a:ext cx="3606998" cy="572691"/>
          </a:xfrm>
          <a:prstGeom prst="roundRect">
            <a:avLst>
              <a:gd name="adj" fmla="val 1774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178701" y="4047530"/>
            <a:ext cx="33682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8178701" y="4231630"/>
            <a:ext cx="336824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talk — every student speaks during this activity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21636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 · Write My Hobbies · 41–43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437233"/>
            <a:ext cx="1046262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88802" y="1487984"/>
            <a:ext cx="7046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09762" y="1345109"/>
            <a:ext cx="38303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My Hobbies · You Do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11101" y="1888034"/>
            <a:ext cx="800844" cy="292001"/>
          </a:xfrm>
          <a:prstGeom prst="roundRect">
            <a:avLst>
              <a:gd name="adj" fmla="val 4344951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676" y="1948309"/>
            <a:ext cx="4607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2 min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26245" y="1911846"/>
            <a:ext cx="1590377" cy="244376"/>
          </a:xfrm>
          <a:prstGeom prst="roundRect">
            <a:avLst>
              <a:gd name="adj" fmla="val 5191713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765846" y="1962596"/>
            <a:ext cx="13373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INDIVIDUAL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2433935"/>
            <a:ext cx="3454450" cy="1377702"/>
          </a:xfrm>
          <a:prstGeom prst="roundRect">
            <a:avLst>
              <a:gd name="adj" fmla="val 921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7527" y="2646611"/>
            <a:ext cx="314159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①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67527" y="3164086"/>
            <a:ext cx="31415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TRUE hobby you have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7527" y="3437037"/>
            <a:ext cx="31415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Something you actually 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68701" y="2433935"/>
            <a:ext cx="3454450" cy="1377702"/>
          </a:xfrm>
          <a:prstGeom prst="roundRect">
            <a:avLst>
              <a:gd name="adj" fmla="val 921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25127" y="2646611"/>
            <a:ext cx="314159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②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25127" y="3164086"/>
            <a:ext cx="31415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FALSE hobby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25127" y="3437037"/>
            <a:ext cx="31415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Something you don't really do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26301" y="2433935"/>
            <a:ext cx="3454598" cy="1377702"/>
          </a:xfrm>
          <a:prstGeom prst="roundRect">
            <a:avLst>
              <a:gd name="adj" fmla="val 921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82725" y="2646611"/>
            <a:ext cx="314175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③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182725" y="3164086"/>
            <a:ext cx="3141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hobby you've NEVER tried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82725" y="3437037"/>
            <a:ext cx="31417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Something you've never done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1101" y="4040237"/>
            <a:ext cx="10769798" cy="90145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734913" y="4040237"/>
            <a:ext cx="0" cy="9014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2627" y="4217938"/>
            <a:ext cx="10418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12627" y="4449663"/>
            <a:ext cx="1041865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11101" y="5119390"/>
            <a:ext cx="10769798" cy="545902"/>
          </a:xfrm>
          <a:prstGeom prst="roundRect">
            <a:avLst>
              <a:gd name="adj" fmla="val 18611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58751" y="5278041"/>
            <a:ext cx="3618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 You'll use these sentences in the NEXT lesson!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05961" y="5311378"/>
            <a:ext cx="28838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add 我不喜欢______ for a 4th sentence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052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43–47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899047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118122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864197"/>
            <a:ext cx="5245150" cy="2247156"/>
          </a:xfrm>
          <a:prstGeom prst="roundRect">
            <a:avLst>
              <a:gd name="adj" fmla="val 565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99976" y="3102322"/>
            <a:ext cx="47607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9976" y="344194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61889" y="348004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17427" y="344194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79339" y="348004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34877" y="3441948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96789" y="3480048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53977" y="3475286"/>
            <a:ext cx="2321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 8+ hobby words in Chinese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99976" y="3848249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61889" y="3886349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17427" y="3848249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379339" y="3886349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34877" y="3848249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96789" y="3886349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53977" y="3881586"/>
            <a:ext cx="21475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“I like to ___” using 我喜欢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99976" y="425455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61889" y="4292650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17427" y="425455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379339" y="4292650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634877" y="4254550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96789" y="4292650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3977" y="4287887"/>
            <a:ext cx="26198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Mime and recognise all 7 TPR actions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35601" y="2864197"/>
            <a:ext cx="5245298" cy="2247156"/>
          </a:xfrm>
          <a:prstGeom prst="roundRect">
            <a:avLst>
              <a:gd name="adj" fmla="val 565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524476" y="3102322"/>
            <a:ext cx="47608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24476" y="3441948"/>
            <a:ext cx="4667548" cy="872877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548289" y="3441948"/>
            <a:ext cx="0" cy="872877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00701" y="3619649"/>
            <a:ext cx="42459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00701" y="3851374"/>
            <a:ext cx="42459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3 hobby words — no pinyin allowed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524476" y="4492526"/>
            <a:ext cx="4760899" cy="38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sentence you wrote in Activity 4. </a:t>
            </a:r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Underline any word you're unsure about</a:t>
            </a:r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that's your homework focus.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247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HOBBY VOCAB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53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972270" y="144363"/>
            <a:ext cx="1141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09309" y="1362373"/>
            <a:ext cx="17733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41520" y="1651248"/>
            <a:ext cx="310896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一边……一边……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8865" y="2248049"/>
            <a:ext cx="30341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Doing two things at the same time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49723" y="2825800"/>
            <a:ext cx="2228701" cy="1384102"/>
          </a:xfrm>
          <a:prstGeom prst="roundRect">
            <a:avLst>
              <a:gd name="adj" fmla="val 917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22089" y="3038475"/>
            <a:ext cx="16839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822089" y="3568601"/>
            <a:ext cx="16839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22089" y="3835301"/>
            <a:ext cx="16839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Meet 田云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1575" y="2825800"/>
            <a:ext cx="2228701" cy="1384102"/>
          </a:xfrm>
          <a:prstGeom prst="roundRect">
            <a:avLst>
              <a:gd name="adj" fmla="val 917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53941" y="3038475"/>
            <a:ext cx="16839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🎵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253941" y="3568601"/>
            <a:ext cx="16839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听+说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3941" y="3835301"/>
            <a:ext cx="16839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Running Dictation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413427" y="2825800"/>
            <a:ext cx="2228701" cy="1384102"/>
          </a:xfrm>
          <a:prstGeom prst="roundRect">
            <a:avLst>
              <a:gd name="adj" fmla="val 917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685792" y="3038475"/>
            <a:ext cx="16839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685792" y="3568601"/>
            <a:ext cx="16839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语法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685792" y="3835301"/>
            <a:ext cx="16839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Grammar Pattern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18099" y="4514701"/>
            <a:ext cx="3555802" cy="1133177"/>
          </a:xfrm>
          <a:prstGeom prst="roundRect">
            <a:avLst>
              <a:gd name="adj" fmla="val 1120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696968" y="4692402"/>
            <a:ext cx="27980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PATTERN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96968" y="4911477"/>
            <a:ext cx="279806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我一边听音乐，一边读书。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696968" y="5289203"/>
            <a:ext cx="27980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listen to music while reading.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2026-06-30T02:51:21Z</dcterms:created>
  <dcterms:modified xsi:type="dcterms:W3CDTF">2026-06-30T02:51:21Z</dcterms:modified>
</cp:coreProperties>
</file>