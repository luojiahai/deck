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14840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· Text 1 + Grammar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2185839"/>
            <a:ext cx="7955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· UNIT 3 · 爱好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101" y="2500164"/>
            <a:ext cx="7955325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40"/>
              </a:lnSpc>
              <a:spcAft>
                <a:spcPts val="1000"/>
              </a:spcAft>
              <a:buNone/>
            </a:pPr>
            <a:r>
              <a:rPr lang="en-US" sz="5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5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</a:t>
            </a:r>
            <a:endParaRPr lang="en-US" sz="5400" dirty="0"/>
          </a:p>
          <a:p>
            <a:pPr algn="l" indent="0" marL="0">
              <a:lnSpc>
                <a:spcPts val="5940"/>
              </a:lnSpc>
              <a:spcAft>
                <a:spcPts val="1000"/>
              </a:spcAft>
              <a:buNone/>
            </a:pPr>
            <a:r>
              <a:rPr lang="en-US" sz="5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endParaRPr lang="en-US" sz="5400" dirty="0"/>
          </a:p>
          <a:p>
            <a:pPr algn="l" indent="0" marL="0">
              <a:lnSpc>
                <a:spcPts val="5940"/>
              </a:lnSpc>
              <a:spcAft>
                <a:spcPts val="1000"/>
              </a:spcAft>
              <a:buNone/>
            </a:pPr>
            <a:r>
              <a:rPr lang="en-US" sz="5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11101" y="4135636"/>
            <a:ext cx="7955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· Text 1 + Grammar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1101" y="4662636"/>
            <a:ext cx="79553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　·　50 mins　·　Reading + Speaking　·　Easy Steps Book 2 · p.60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018389" y="2157115"/>
            <a:ext cx="2462510" cy="2696170"/>
          </a:xfrm>
          <a:prstGeom prst="roundRect">
            <a:avLst>
              <a:gd name="adj" fmla="val 6189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479539" y="2531715"/>
            <a:ext cx="15402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3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X，
</a:t>
            </a:r>
            <a:r>
              <a:rPr lang="en-US" sz="3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3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Y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944844" y="3827115"/>
            <a:ext cx="609600" cy="38100"/>
          </a:xfrm>
          <a:prstGeom prst="roundRect">
            <a:avLst>
              <a:gd name="adj" fmla="val 6666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96087" y="4017615"/>
            <a:ext cx="1506965" cy="461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5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doing X </a:t>
            </a:r>
            <a:r>
              <a:rPr lang="en-US" sz="11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while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doing Y</a:t>
            </a:r>
            <a:endParaRPr lang="en-US" sz="1100" dirty="0"/>
          </a:p>
          <a:p>
            <a:pPr algn="ctr" indent="0" marL="0">
              <a:lnSpc>
                <a:spcPts val="1815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 the same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17899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Slap the Board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490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41177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拍黑板！Slap the Board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358652"/>
            <a:ext cx="701278" cy="247650"/>
          </a:xfrm>
          <a:prstGeom prst="roundRect">
            <a:avLst>
              <a:gd name="adj" fmla="val 5123077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827" y="1406277"/>
            <a:ext cx="4110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61480" y="1372939"/>
            <a:ext cx="738783" cy="219075"/>
          </a:xfrm>
          <a:prstGeom prst="roundRect">
            <a:avLst>
              <a:gd name="adj" fmla="val 5791304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88430" y="1411039"/>
            <a:ext cx="494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Rounds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8701" y="1758702"/>
            <a:ext cx="5435650" cy="3498205"/>
          </a:xfrm>
          <a:prstGeom prst="roundRect">
            <a:avLst>
              <a:gd name="adj" fmla="val 363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1945928"/>
            <a:ext cx="50585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词库 (8 WORDS)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6826" y="2225278"/>
            <a:ext cx="2441525" cy="653951"/>
          </a:xfrm>
          <a:prstGeom prst="roundRect">
            <a:avLst>
              <a:gd name="adj" fmla="val 13594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33301" y="2311003"/>
            <a:ext cx="22119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3301" y="2545854"/>
            <a:ext cx="22119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tán gāngqín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33301" y="2669679"/>
            <a:ext cx="22119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the piano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14551" y="2225278"/>
            <a:ext cx="2441674" cy="653951"/>
          </a:xfrm>
          <a:prstGeom prst="roundRect">
            <a:avLst>
              <a:gd name="adj" fmla="val 13594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51027" y="2311003"/>
            <a:ext cx="2212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51027" y="2545854"/>
            <a:ext cx="2212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chànggē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451027" y="2669679"/>
            <a:ext cx="2212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sing a song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96826" y="2955429"/>
            <a:ext cx="2441525" cy="653951"/>
          </a:xfrm>
          <a:prstGeom prst="roundRect">
            <a:avLst>
              <a:gd name="adj" fmla="val 13594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33301" y="3041154"/>
            <a:ext cx="22119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3301" y="3276005"/>
            <a:ext cx="22119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tīng yīnyuè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33301" y="3399830"/>
            <a:ext cx="22119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to music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14551" y="2955429"/>
            <a:ext cx="2441674" cy="653951"/>
          </a:xfrm>
          <a:prstGeom prst="roundRect">
            <a:avLst>
              <a:gd name="adj" fmla="val 13594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51027" y="3041154"/>
            <a:ext cx="2212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51027" y="3276005"/>
            <a:ext cx="2212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dúshū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51027" y="3399830"/>
            <a:ext cx="2212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/ study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96826" y="3685580"/>
            <a:ext cx="2441525" cy="653951"/>
          </a:xfrm>
          <a:prstGeom prst="roundRect">
            <a:avLst>
              <a:gd name="adj" fmla="val 13594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33301" y="3771305"/>
            <a:ext cx="22119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3301" y="4006155"/>
            <a:ext cx="22119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kàn diànshì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33301" y="4129980"/>
            <a:ext cx="22119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watch TV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314551" y="3685580"/>
            <a:ext cx="2441674" cy="653951"/>
          </a:xfrm>
          <a:prstGeom prst="roundRect">
            <a:avLst>
              <a:gd name="adj" fmla="val 13594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451027" y="3771305"/>
            <a:ext cx="2212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弹吉他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51027" y="4006155"/>
            <a:ext cx="2212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tán jítā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451027" y="4129980"/>
            <a:ext cx="2212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guitar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96826" y="4415730"/>
            <a:ext cx="2441525" cy="653951"/>
          </a:xfrm>
          <a:prstGeom prst="roundRect">
            <a:avLst>
              <a:gd name="adj" fmla="val 13594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33301" y="4501455"/>
            <a:ext cx="22119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玩电脑游戏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33301" y="4736306"/>
            <a:ext cx="22119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wán diànnǎo yóuxì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933301" y="4860131"/>
            <a:ext cx="22119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computer games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314551" y="4415730"/>
            <a:ext cx="2441674" cy="653951"/>
          </a:xfrm>
          <a:prstGeom prst="roundRect">
            <a:avLst>
              <a:gd name="adj" fmla="val 13594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451027" y="4501455"/>
            <a:ext cx="2212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451027" y="4736306"/>
            <a:ext cx="2212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àihào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451027" y="4860131"/>
            <a:ext cx="2212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hobby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197501" y="1758702"/>
            <a:ext cx="5435798" cy="3498205"/>
          </a:xfrm>
          <a:prstGeom prst="roundRect">
            <a:avLst>
              <a:gd name="adj" fmla="val 363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435626" y="1945928"/>
            <a:ext cx="50587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RULES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35626" y="2225278"/>
            <a:ext cx="4959548" cy="96440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students stand at the board, one flyswatter each</a:t>
            </a:r>
            <a:endParaRPr lang="en-US" sz="1000" dirty="0"/>
          </a:p>
          <a:p>
            <a:pPr algn="l" marL="88900" indent="-88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a word in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or pinyin</a:t>
            </a:r>
            <a:endParaRPr lang="en-US" sz="1000" dirty="0"/>
          </a:p>
          <a:p>
            <a:pPr algn="l" marL="88900" indent="-88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student to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slap the correct character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wins the round</a:t>
            </a:r>
            <a:endParaRPr lang="en-US" sz="1000" dirty="0"/>
          </a:p>
          <a:p>
            <a:pPr algn="l" marL="88900" indent="-88900">
              <a:lnSpc>
                <a:spcPts val="14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rounds — then swap players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8701" y="5383857"/>
            <a:ext cx="11074598" cy="609302"/>
          </a:xfrm>
          <a:prstGeom prst="rect">
            <a:avLst/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582513" y="5383857"/>
            <a:ext cx="0" cy="609302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9476" y="5510808"/>
            <a:ext cx="1083308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already say all these hobbies! Today's character </a:t>
            </a: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田云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has the same hobbies — let's read what she says about them and learn something new about how she does them.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18895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83877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2083147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2778472"/>
            <a:ext cx="10769798" cy="818852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4913" y="2778472"/>
            <a:ext cx="0" cy="81885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2627" y="2956173"/>
            <a:ext cx="10418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(WALT)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2627" y="3162449"/>
            <a:ext cx="104186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doing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things at the same time</a:t>
            </a: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一边……一边……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1101" y="3863876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1177" y="3932039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0951" y="3851225"/>
            <a:ext cx="568675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read and understand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田云's hobbies (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田云有什么爱好？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101" y="4359027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9568" y="4427190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0951" y="4346377"/>
            <a:ext cx="756624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form 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一边……一边……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sentences to describe simultaneous actions — 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我喜欢一边X一边Y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1101" y="4854178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9270" y="4922341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0951" y="4841528"/>
            <a:ext cx="546921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put words in the correct order in a </a:t>
            </a: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一边……一边……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2065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Grammar Pattern · 一边……一边……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490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GRAMMAR INPUT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41177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Key Pattern · 关键句型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409402"/>
            <a:ext cx="2667000" cy="2486769"/>
          </a:xfrm>
          <a:prstGeom prst="roundRect">
            <a:avLst>
              <a:gd name="adj" fmla="val 510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4018" y="1682353"/>
            <a:ext cx="956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 · 句型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73407" y="1942654"/>
            <a:ext cx="1437439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2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X，
</a:t>
            </a:r>
            <a:r>
              <a:rPr lang="en-US" sz="2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2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12850" y="3064966"/>
            <a:ext cx="558701" cy="25301"/>
          </a:xfrm>
          <a:prstGeom prst="roundRect">
            <a:avLst>
              <a:gd name="adj" fmla="val 10039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87182" y="3217218"/>
            <a:ext cx="160988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doing X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while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doing Y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same person · same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05051" y="1409402"/>
            <a:ext cx="82908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 · 例句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505051" y="1720453"/>
            <a:ext cx="8128248" cy="785515"/>
          </a:xfrm>
          <a:prstGeom prst="roundRect">
            <a:avLst>
              <a:gd name="adj" fmla="val 1293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505051" y="1725216"/>
            <a:ext cx="812824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28537" y="1720453"/>
            <a:ext cx="0" cy="78551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05051" y="2501205"/>
            <a:ext cx="812824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8864" y="1720453"/>
            <a:ext cx="0" cy="785515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5827" y="1882378"/>
            <a:ext cx="78180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弹钢琴，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55827" y="2182118"/>
            <a:ext cx="78180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to play the piano while singing.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05051" y="2658368"/>
            <a:ext cx="8128248" cy="785515"/>
          </a:xfrm>
          <a:prstGeom prst="roundRect">
            <a:avLst>
              <a:gd name="adj" fmla="val 1293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505051" y="2663130"/>
            <a:ext cx="812824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28537" y="2658368"/>
            <a:ext cx="0" cy="78551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05051" y="3439120"/>
            <a:ext cx="812824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8864" y="2658368"/>
            <a:ext cx="0" cy="785515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55827" y="2820293"/>
            <a:ext cx="78180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听音乐，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55827" y="3120033"/>
            <a:ext cx="78180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listens to music while reading.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05051" y="3596283"/>
            <a:ext cx="8128248" cy="785515"/>
          </a:xfrm>
          <a:prstGeom prst="roundRect">
            <a:avLst>
              <a:gd name="adj" fmla="val 1293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505051" y="3601045"/>
            <a:ext cx="812824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628537" y="3596283"/>
            <a:ext cx="0" cy="78551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05051" y="4377035"/>
            <a:ext cx="812824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8864" y="3596283"/>
            <a:ext cx="0" cy="785515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55827" y="3758208"/>
            <a:ext cx="78180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吃饭，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55827" y="4057948"/>
            <a:ext cx="78180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She eats while watching TV.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05051" y="4534198"/>
            <a:ext cx="8128248" cy="1152525"/>
          </a:xfrm>
          <a:prstGeom prst="roundRect">
            <a:avLst>
              <a:gd name="adj" fmla="val 8815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727252" y="4705648"/>
            <a:ext cx="78375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 Critical Note · 注意！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27252" y="4965948"/>
            <a:ext cx="7837524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Same person, same time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一边……一边…… is ONLY for one person doing two things simultaneously.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727252" y="5242322"/>
            <a:ext cx="1701403" cy="272951"/>
          </a:xfrm>
          <a:prstGeom prst="roundRect">
            <a:avLst>
              <a:gd name="adj" fmla="val 4648197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863727" y="5302597"/>
            <a:ext cx="1457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✗ Two people = 跟……一起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530155" y="5242322"/>
            <a:ext cx="2756892" cy="272951"/>
          </a:xfrm>
          <a:prstGeom prst="roundRect">
            <a:avLst>
              <a:gd name="adj" fmla="val 4648197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666631" y="5302597"/>
            <a:ext cx="25336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One person, two actions = 一边……一边……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22353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 · 一边……一边……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100435"/>
            <a:ext cx="1947863" cy="244376"/>
          </a:xfrm>
          <a:prstGeom prst="roundRect">
            <a:avLst>
              <a:gd name="adj" fmla="val 51917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8802" y="1151186"/>
            <a:ext cx="1624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811363" y="989261"/>
            <a:ext cx="168381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你懂了吗？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1101" y="1557486"/>
            <a:ext cx="10985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 about each question — then we'll check the answers together.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1101" y="1916162"/>
            <a:ext cx="10769798" cy="1236018"/>
          </a:xfrm>
          <a:prstGeom prst="roundRect">
            <a:avLst>
              <a:gd name="adj" fmla="val 924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49226" y="211603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1952" y="2197001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9827" y="2103388"/>
            <a:ext cx="9968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THIS CORRECT? CORRECT OR INCORRECT?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69827" y="2300139"/>
            <a:ext cx="996840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我一边弹钢琴，我一边唱歌。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9827" y="2599879"/>
            <a:ext cx="99684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Hint: Look carefully at the subject placement.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69827" y="2812554"/>
            <a:ext cx="9968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11101" y="3304580"/>
            <a:ext cx="10769798" cy="1236018"/>
          </a:xfrm>
          <a:prstGeom prst="roundRect">
            <a:avLst>
              <a:gd name="adj" fmla="val 924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49226" y="350445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80343" y="3585418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9827" y="3491805"/>
            <a:ext cx="9968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IS WRONG WITH THIS SENTENCE?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69827" y="3688556"/>
            <a:ext cx="996840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一边我听音乐，一边读书。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9827" y="3988296"/>
            <a:ext cx="99684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Hint: Think about where 一边 goes relative to the subject.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69827" y="4200971"/>
            <a:ext cx="9968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1101" y="4692997"/>
            <a:ext cx="10769798" cy="1353592"/>
          </a:xfrm>
          <a:prstGeom prst="roundRect">
            <a:avLst>
              <a:gd name="adj" fmla="val 844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49226" y="489287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80046" y="4973836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9827" y="4880223"/>
            <a:ext cx="9968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THIS DESCRIBES SIMULTANEOUS ACTIONS: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69827" y="5076974"/>
            <a:ext cx="996840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我喜欢一边吃饭一边看电视。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9827" y="5402163"/>
            <a:ext cx="706338" cy="304800"/>
          </a:xfrm>
          <a:prstGeom prst="roundRect">
            <a:avLst>
              <a:gd name="adj" fmla="val 41625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606302" y="5449788"/>
            <a:ext cx="4420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Yes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77666" y="5402163"/>
            <a:ext cx="650825" cy="304800"/>
          </a:xfrm>
          <a:prstGeom prst="roundRect">
            <a:avLst>
              <a:gd name="adj" fmla="val 41625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414141" y="5449788"/>
            <a:ext cx="3854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469827" y="5706963"/>
            <a:ext cx="9968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1012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Answers · 答案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588764"/>
            <a:ext cx="1219349" cy="244376"/>
          </a:xfrm>
          <a:prstGeom prst="roundRect">
            <a:avLst>
              <a:gd name="adj" fmla="val 519171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8802" y="639514"/>
            <a:ext cx="8812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· 答案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82850" y="477589"/>
            <a:ext cx="168381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答对了吗？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1101" y="1045815"/>
            <a:ext cx="10985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Let's go through the answers together.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1101" y="1404491"/>
            <a:ext cx="10769798" cy="1660922"/>
          </a:xfrm>
          <a:prstGeom prst="roundRect">
            <a:avLst>
              <a:gd name="adj" fmla="val 68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3776" y="157906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37481" y="1637705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55527" y="1566416"/>
            <a:ext cx="10110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THIS CORRECT?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355527" y="1750516"/>
            <a:ext cx="101109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我一边弹钢琴，我一边唱歌。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5527" y="2036266"/>
            <a:ext cx="9912697" cy="867221"/>
          </a:xfrm>
          <a:prstGeom prst="roundRect">
            <a:avLst>
              <a:gd name="adj" fmla="val 1025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39627" y="2169616"/>
            <a:ext cx="97353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✗ Incorrect — subject repeated!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39627" y="2369641"/>
            <a:ext cx="97353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 我一边弹钢琴，一边唱歌。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9627" y="2604492"/>
            <a:ext cx="9735386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一边……一边……, the subject appears only once at the start. Do not repeat 我 before the second 一边.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1101" y="3205014"/>
            <a:ext cx="10769798" cy="1660922"/>
          </a:xfrm>
          <a:prstGeom prst="roundRect">
            <a:avLst>
              <a:gd name="adj" fmla="val 68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23776" y="337958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27212" y="3438227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55527" y="3366939"/>
            <a:ext cx="10110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IS WRONG?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55527" y="3551039"/>
            <a:ext cx="101109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一边我听音乐，一边读书。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55527" y="3836789"/>
            <a:ext cx="9912697" cy="867221"/>
          </a:xfrm>
          <a:prstGeom prst="roundRect">
            <a:avLst>
              <a:gd name="adj" fmla="val 1025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39627" y="3970139"/>
            <a:ext cx="97353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✗ 一边 comes after the subject, not before!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39627" y="4170164"/>
            <a:ext cx="97353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 我一边听音乐，一边读书。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39627" y="4405015"/>
            <a:ext cx="9735386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order: Subject → 一边 → Verb 1，一边 → Verb 2. The subject must come first.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1101" y="5005536"/>
            <a:ext cx="10769798" cy="1552873"/>
          </a:xfrm>
          <a:prstGeom prst="roundRect">
            <a:avLst>
              <a:gd name="adj" fmla="val 736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23776" y="518011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26914" y="5238750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55527" y="5167461"/>
            <a:ext cx="10110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SIMULTANEOUS ACTIONS?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355527" y="5351562"/>
            <a:ext cx="101109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我喜欢一边吃饭一边看电视。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55527" y="5637312"/>
            <a:ext cx="9912697" cy="759172"/>
          </a:xfrm>
          <a:prstGeom prst="roundRect">
            <a:avLst>
              <a:gd name="adj" fmla="val 11710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39627" y="5770662"/>
            <a:ext cx="9735386" cy="28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</a:t>
            </a: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Yes — correct!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539627" y="6097488"/>
            <a:ext cx="9735386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Eating AND watching TV at the same time — one person, two simultaneous actions. This is a perfect 一边……一边…… sentence!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17468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 · 田云的爱好 · I Do / We 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490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PRESENTATION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41177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Text 1 · 田云的爱好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409402"/>
            <a:ext cx="8026747" cy="2898279"/>
          </a:xfrm>
          <a:prstGeom prst="roundRect">
            <a:avLst>
              <a:gd name="adj" fmla="val 4382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7101" y="1657052"/>
            <a:ext cx="1303734" cy="238125"/>
          </a:xfrm>
          <a:prstGeom prst="roundRect">
            <a:avLst>
              <a:gd name="adj" fmla="val 5328000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19026" y="1704677"/>
            <a:ext cx="9994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CD Track 31 · p.60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87786" y="1671340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7101" y="2072878"/>
            <a:ext cx="7578545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我叫田云。我有很多爱好。</a:t>
            </a:r>
            <a:endParaRPr lang="en-US" sz="1600" dirty="0"/>
          </a:p>
          <a:p>
            <a:pPr algn="l" indent="0" marL="0">
              <a:lnSpc>
                <a:spcPts val="32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我喜欢</a:t>
            </a:r>
            <a:endParaRPr lang="en-US" sz="1600" dirty="0"/>
          </a:p>
          <a:p>
            <a:pPr algn="l" indent="0" marL="0">
              <a:lnSpc>
                <a:spcPts val="32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弹钢琴，</a:t>
            </a: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唱歌。</a:t>
            </a:r>
            <a:endParaRPr lang="en-US" sz="1600" dirty="0"/>
          </a:p>
          <a:p>
            <a:pPr algn="l" indent="0" marL="0">
              <a:lnSpc>
                <a:spcPts val="32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我还喜欢听音乐和读书。</a:t>
            </a:r>
            <a:endParaRPr lang="en-US" sz="1600" dirty="0"/>
          </a:p>
          <a:p>
            <a:pPr algn="l" indent="0" marL="0">
              <a:lnSpc>
                <a:spcPts val="32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我每天读一个小时的书。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101" y="385360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5534" y="3883670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04033" y="385048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57934" y="385360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27139" y="3883670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90417" y="385048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44318" y="385360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13374" y="3883670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839349" y="1409402"/>
            <a:ext cx="2793950" cy="1365200"/>
          </a:xfrm>
          <a:prstGeom prst="roundRect">
            <a:avLst>
              <a:gd name="adj" fmla="val 930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002380" y="1647527"/>
            <a:ext cx="24678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田云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002380" y="2155478"/>
            <a:ext cx="24678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Tián Yún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02380" y="2355503"/>
            <a:ext cx="24678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character · Unit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39349" y="2952304"/>
            <a:ext cx="2793950" cy="2237929"/>
          </a:xfrm>
          <a:prstGeom prst="roundRect">
            <a:avLst>
              <a:gd name="adj" fmla="val 510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052024" y="3139529"/>
            <a:ext cx="2415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COMPREHENSION QUESTIONS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052024" y="3399830"/>
            <a:ext cx="24159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Q1</a:t>
            </a: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田云有什么爱好？
</a:t>
            </a: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are 田云's hobbies?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052024" y="3901380"/>
            <a:ext cx="241597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Q2</a:t>
            </a: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她每天读几个小时的书？
</a:t>
            </a: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hours does she read each day?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52024" y="4602956"/>
            <a:ext cx="24159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Q3</a:t>
            </a: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two things does she do at the same time?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21377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Choral + Pair Read · 8–13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707975"/>
            <a:ext cx="924967" cy="244376"/>
          </a:xfrm>
          <a:prstGeom prst="roundRect">
            <a:avLst>
              <a:gd name="adj" fmla="val 51917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58726"/>
            <a:ext cx="5809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36068" y="634901"/>
            <a:ext cx="60858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Choral Read + Pair Role-Read · 齐读 + 分角色读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8701" y="1126927"/>
            <a:ext cx="725537" cy="257175"/>
          </a:xfrm>
          <a:prstGeom prst="roundRect">
            <a:avLst>
              <a:gd name="adj" fmla="val 4933333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7827" y="1174552"/>
            <a:ext cx="4358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98538" y="1145977"/>
            <a:ext cx="616446" cy="219075"/>
          </a:xfrm>
          <a:prstGeom prst="roundRect">
            <a:avLst>
              <a:gd name="adj" fmla="val 5791304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25488" y="1184077"/>
            <a:ext cx="3697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561802"/>
            <a:ext cx="8052048" cy="4188470"/>
          </a:xfrm>
          <a:prstGeom prst="roundRect">
            <a:avLst>
              <a:gd name="adj" fmla="val 3032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6351" y="1758553"/>
            <a:ext cx="77078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 · 课文 (WITH PINYIN)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06351" y="1993404"/>
            <a:ext cx="770788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我叫田云。我有很多爱好。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6351" y="2277963"/>
            <a:ext cx="7707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jiào Tián Yún. Wǒ yǒu hěn duō àihào.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6351" y="2484239"/>
            <a:ext cx="770788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弹钢琴，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6351" y="2768798"/>
            <a:ext cx="7707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xǐhuān yībiān tán gāngqín, yībiān chànggē.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6351" y="2975074"/>
            <a:ext cx="770788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我还喜欢听音乐和读书。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6351" y="3259634"/>
            <a:ext cx="7707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hái xǐhuān tīng yīnyuè hé dúshū.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6351" y="3465909"/>
            <a:ext cx="770788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我每天读一个小时的书。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6351" y="3750469"/>
            <a:ext cx="7707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měitiān dú yī ge xiǎoshí de shū.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839349" y="1561802"/>
            <a:ext cx="2793950" cy="2277814"/>
          </a:xfrm>
          <a:prstGeom prst="roundRect">
            <a:avLst>
              <a:gd name="adj" fmla="val 501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052024" y="1749028"/>
            <a:ext cx="2415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052024" y="2009329"/>
            <a:ext cx="2368600" cy="155421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together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twice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a class (choral)</a:t>
            </a:r>
            <a:endParaRPr lang="en-US" sz="1000" dirty="0"/>
          </a:p>
          <a:p>
            <a:pPr algn="l" marL="88900" indent="-88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A reads aloud — Partner B listens and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corrects</a:t>
            </a:r>
            <a:endParaRPr lang="en-US" sz="1000" dirty="0"/>
          </a:p>
          <a:p>
            <a:pPr algn="l" marL="88900" indent="-88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 roles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B reads, A corrects</a:t>
            </a:r>
            <a:endParaRPr lang="en-US" sz="1000" dirty="0"/>
          </a:p>
          <a:p>
            <a:pPr algn="l" marL="88900" indent="-88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Focus on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tone and rhythm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一边 has 4th then 1st tone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39349" y="3992017"/>
            <a:ext cx="2793950" cy="1758255"/>
          </a:xfrm>
          <a:prstGeom prst="roundRect">
            <a:avLst>
              <a:gd name="adj" fmla="val 6501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052024" y="4153942"/>
            <a:ext cx="2415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 ROLES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052024" y="4739432"/>
            <a:ext cx="2368600" cy="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024" y="4452193"/>
            <a:ext cx="715417" cy="219075"/>
          </a:xfrm>
          <a:prstGeom prst="roundRect">
            <a:avLst>
              <a:gd name="adj" fmla="val 5791304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166324" y="4490293"/>
            <a:ext cx="4965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894391" y="4480768"/>
            <a:ext cx="12127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Reads aloud fluently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052024" y="5237708"/>
            <a:ext cx="2368600" cy="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024" y="4807595"/>
            <a:ext cx="654546" cy="361950"/>
          </a:xfrm>
          <a:prstGeom prst="roundRect">
            <a:avLst>
              <a:gd name="adj" fmla="val 3505263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166324" y="4845695"/>
            <a:ext cx="434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833521" y="4826645"/>
            <a:ext cx="161884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Listens, corrects pronunciation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052024" y="5305871"/>
            <a:ext cx="542181" cy="219075"/>
          </a:xfrm>
          <a:prstGeom prst="roundRect">
            <a:avLst>
              <a:gd name="adj" fmla="val 5791304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166324" y="5343971"/>
            <a:ext cx="3198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Swap!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721155" y="5334446"/>
            <a:ext cx="9742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Then swap roles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8701" y="5902672"/>
            <a:ext cx="3623816" cy="510480"/>
          </a:xfrm>
          <a:prstGeom prst="roundRect">
            <a:avLst>
              <a:gd name="adj" fmla="val 174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8302" y="6004173"/>
            <a:ext cx="3411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8302" y="6166098"/>
            <a:ext cx="341150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visible — students can use it as a pronunciation guide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284018" y="5902672"/>
            <a:ext cx="3623816" cy="510480"/>
          </a:xfrm>
          <a:prstGeom prst="roundRect">
            <a:avLst>
              <a:gd name="adj" fmla="val 174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423618" y="6004173"/>
            <a:ext cx="3411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423618" y="6166098"/>
            <a:ext cx="341150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Cover pinyin, read characters only — try from memory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009334" y="5902672"/>
            <a:ext cx="3623965" cy="510480"/>
          </a:xfrm>
          <a:prstGeom prst="roundRect">
            <a:avLst>
              <a:gd name="adj" fmla="val 174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148935" y="6004173"/>
            <a:ext cx="3411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148935" y="6166098"/>
            <a:ext cx="3411659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reads aloud — no silent observers in pair work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1757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6 Pictures · 13–21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63476"/>
            <a:ext cx="943421" cy="244376"/>
          </a:xfrm>
          <a:prstGeom prst="roundRect">
            <a:avLst>
              <a:gd name="adj" fmla="val 519171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14226"/>
            <a:ext cx="5997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54522" y="609451"/>
            <a:ext cx="45750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 Pictures → 一边……一边…… Sentences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8701" y="1050727"/>
            <a:ext cx="726281" cy="257175"/>
          </a:xfrm>
          <a:prstGeom prst="roundRect">
            <a:avLst>
              <a:gd name="adj" fmla="val 4933333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7827" y="1098352"/>
            <a:ext cx="4365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99282" y="1069777"/>
            <a:ext cx="1217712" cy="219075"/>
          </a:xfrm>
          <a:prstGeom prst="roundRect">
            <a:avLst>
              <a:gd name="adj" fmla="val 5791304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26232" y="1107877"/>
            <a:ext cx="983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588740"/>
            <a:ext cx="9654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32198" y="1434852"/>
            <a:ext cx="10001101" cy="46970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656011" y="1434852"/>
            <a:ext cx="0" cy="46970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82973" y="1536353"/>
            <a:ext cx="9738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＿＿＿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喜欢 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＿＿＿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＿＿＿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8701" y="1993404"/>
            <a:ext cx="38370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pictures 1–2 | </a:t>
            </a: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do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pictures 3–6 in pairs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8701" y="2244179"/>
            <a:ext cx="1739950" cy="1754832"/>
          </a:xfrm>
          <a:prstGeom prst="roundRect">
            <a:avLst>
              <a:gd name="adj" fmla="val 6569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14301" y="23901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05533" y="2433042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90489" y="2682180"/>
            <a:ext cx="28175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🎹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291" y="3024932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87673" y="3269307"/>
            <a:ext cx="83644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99110" y="3459659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4172" y="3704034"/>
            <a:ext cx="868859" cy="174427"/>
          </a:xfrm>
          <a:prstGeom prst="roundRect">
            <a:avLst>
              <a:gd name="adj" fmla="val 7273702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70372" y="3729335"/>
            <a:ext cx="730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425601" y="2244179"/>
            <a:ext cx="1739950" cy="1754832"/>
          </a:xfrm>
          <a:prstGeom prst="roundRect">
            <a:avLst>
              <a:gd name="adj" fmla="val 6569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181201" y="23901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63205" y="2433042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57389" y="2682180"/>
            <a:ext cx="28175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🎧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101191" y="3024932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54573" y="3269307"/>
            <a:ext cx="83644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66010" y="3459659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61072" y="3704034"/>
            <a:ext cx="868859" cy="174427"/>
          </a:xfrm>
          <a:prstGeom prst="roundRect">
            <a:avLst>
              <a:gd name="adj" fmla="val 7273702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937272" y="3729335"/>
            <a:ext cx="730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292501" y="2244179"/>
            <a:ext cx="1739950" cy="1754832"/>
          </a:xfrm>
          <a:prstGeom prst="roundRect">
            <a:avLst>
              <a:gd name="adj" fmla="val 6569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48101" y="23901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29808" y="2433042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4289" y="2682180"/>
            <a:ext cx="28175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🍚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032910" y="3024932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21473" y="3269307"/>
            <a:ext cx="83644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68091" y="3459659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58494" y="3704034"/>
            <a:ext cx="607963" cy="174427"/>
          </a:xfrm>
          <a:prstGeom prst="roundRect">
            <a:avLst>
              <a:gd name="adj" fmla="val 727370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34694" y="3729335"/>
            <a:ext cx="4646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turn!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159401" y="2244179"/>
            <a:ext cx="1739950" cy="1754832"/>
          </a:xfrm>
          <a:prstGeom prst="roundRect">
            <a:avLst>
              <a:gd name="adj" fmla="val 6569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915001" y="23901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996410" y="2433042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91189" y="2682180"/>
            <a:ext cx="28175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🎸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834991" y="3024932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弹吉他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88373" y="3269307"/>
            <a:ext cx="83644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99810" y="3459659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25394" y="3704034"/>
            <a:ext cx="607963" cy="174427"/>
          </a:xfrm>
          <a:prstGeom prst="roundRect">
            <a:avLst>
              <a:gd name="adj" fmla="val 727370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801594" y="3729335"/>
            <a:ext cx="4646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turn!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026301" y="2244179"/>
            <a:ext cx="1739950" cy="1754832"/>
          </a:xfrm>
          <a:prstGeom prst="roundRect">
            <a:avLst>
              <a:gd name="adj" fmla="val 6569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781901" y="23901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863757" y="2433042"/>
            <a:ext cx="661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758089" y="2682180"/>
            <a:ext cx="28175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💻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8572402" y="3024932"/>
            <a:ext cx="6475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玩电脑游戏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855273" y="3269307"/>
            <a:ext cx="83644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701891" y="3459659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92294" y="3704034"/>
            <a:ext cx="607963" cy="174427"/>
          </a:xfrm>
          <a:prstGeom prst="roundRect">
            <a:avLst>
              <a:gd name="adj" fmla="val 727370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668494" y="3729335"/>
            <a:ext cx="4646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turn!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9893201" y="2244179"/>
            <a:ext cx="1740098" cy="1754832"/>
          </a:xfrm>
          <a:prstGeom prst="roundRect">
            <a:avLst>
              <a:gd name="adj" fmla="val 6569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0648950" y="23901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0730210" y="2433042"/>
            <a:ext cx="67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625138" y="2682180"/>
            <a:ext cx="28175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10633610" y="3024932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722173" y="3269307"/>
            <a:ext cx="83644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633610" y="3459659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喝茶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459194" y="3704034"/>
            <a:ext cx="607963" cy="174427"/>
          </a:xfrm>
          <a:prstGeom prst="roundRect">
            <a:avLst>
              <a:gd name="adj" fmla="val 727370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10535394" y="3729335"/>
            <a:ext cx="4646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turn!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58701" y="4125962"/>
            <a:ext cx="3623816" cy="656034"/>
          </a:xfrm>
          <a:prstGeom prst="roundRect">
            <a:avLst>
              <a:gd name="adj" fmla="val 135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698302" y="4227463"/>
            <a:ext cx="3411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98302" y="4389388"/>
            <a:ext cx="341150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stays on screen — fill in the blanks with the pictured actions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284018" y="4125962"/>
            <a:ext cx="3623816" cy="656034"/>
          </a:xfrm>
          <a:prstGeom prst="roundRect">
            <a:avLst>
              <a:gd name="adj" fmla="val 135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4423618" y="4227463"/>
            <a:ext cx="3411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423618" y="4389388"/>
            <a:ext cx="341150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time expression: 他每天一边……一边…… or 她有时候一边……一边……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8009334" y="4125962"/>
            <a:ext cx="3623965" cy="656034"/>
          </a:xfrm>
          <a:prstGeom prst="roundRect">
            <a:avLst>
              <a:gd name="adj" fmla="val 135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8148935" y="4227463"/>
            <a:ext cx="3411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8148935" y="4389388"/>
            <a:ext cx="341165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2 students to say their sentence aloud for pictures 5 and 6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24533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Sentence Jumble Game · 21–26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63476"/>
            <a:ext cx="944017" cy="244376"/>
          </a:xfrm>
          <a:prstGeom prst="roundRect">
            <a:avLst>
              <a:gd name="adj" fmla="val 5191713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14226"/>
            <a:ext cx="6003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55118" y="609451"/>
            <a:ext cx="31452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Sentence Jumble · 造句比赛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8701" y="1050727"/>
            <a:ext cx="725537" cy="257175"/>
          </a:xfrm>
          <a:prstGeom prst="roundRect">
            <a:avLst>
              <a:gd name="adj" fmla="val 4933333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7827" y="1098352"/>
            <a:ext cx="4358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98538" y="1069777"/>
            <a:ext cx="1135856" cy="219075"/>
          </a:xfrm>
          <a:prstGeom prst="roundRect">
            <a:avLst>
              <a:gd name="adj" fmla="val 5791304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25488" y="1107877"/>
            <a:ext cx="8995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RACE!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422202"/>
            <a:ext cx="11074598" cy="358676"/>
          </a:xfrm>
          <a:prstGeom prst="roundRect">
            <a:avLst>
              <a:gd name="adj" fmla="val 24786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927" y="1520577"/>
            <a:ext cx="10914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Order: </a:t>
            </a: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Subject</a:t>
            </a: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一边 → Action 1，一边 → Action 2 | Write on your mini whiteboard — race to hold it up!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8701" y="1907828"/>
            <a:ext cx="11074598" cy="978545"/>
          </a:xfrm>
          <a:prstGeom prst="roundRect">
            <a:avLst>
              <a:gd name="adj" fmla="val 1168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58701" y="1912590"/>
            <a:ext cx="110745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28537" y="1907828"/>
            <a:ext cx="0" cy="97854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8701" y="2881610"/>
            <a:ext cx="110745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2513" y="1907828"/>
            <a:ext cx="0" cy="978545"/>
          </a:xfrm>
          <a:prstGeom prst="line">
            <a:avLst/>
          </a:prstGeom>
          <a:noFill/>
          <a:ln w="47625">
            <a:solidFill>
              <a:srgbClr val="D475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476" y="204430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10530" y="2090291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77677" y="2104579"/>
            <a:ext cx="1364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REARRANGE THE WORDS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09476" y="2387054"/>
            <a:ext cx="457200" cy="362843"/>
          </a:xfrm>
          <a:prstGeom prst="roundRect">
            <a:avLst>
              <a:gd name="adj" fmla="val 21001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55477" y="2469505"/>
            <a:ext cx="16850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42876" y="2387054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88877" y="2469505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41327" y="2387054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187327" y="2469505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39777" y="2387054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885777" y="2469505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38227" y="2387054"/>
            <a:ext cx="787301" cy="362843"/>
          </a:xfrm>
          <a:prstGeom prst="roundRect">
            <a:avLst>
              <a:gd name="adj" fmla="val 2100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584228" y="2469505"/>
            <a:ext cx="505206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01728" y="2387054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47729" y="2469505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00179" y="246370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28779" y="2387054"/>
            <a:ext cx="457200" cy="362843"/>
          </a:xfrm>
          <a:prstGeom prst="roundRect">
            <a:avLst>
              <a:gd name="adj" fmla="val 21001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74779" y="2469505"/>
            <a:ext cx="16850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8701" y="3000673"/>
            <a:ext cx="11074598" cy="978545"/>
          </a:xfrm>
          <a:prstGeom prst="roundRect">
            <a:avLst>
              <a:gd name="adj" fmla="val 1168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58701" y="3005435"/>
            <a:ext cx="110745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628537" y="3000673"/>
            <a:ext cx="0" cy="97854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8701" y="3974455"/>
            <a:ext cx="110745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2513" y="3000673"/>
            <a:ext cx="0" cy="978545"/>
          </a:xfrm>
          <a:prstGeom prst="line">
            <a:avLst/>
          </a:prstGeom>
          <a:noFill/>
          <a:ln w="47625">
            <a:solidFill>
              <a:srgbClr val="D475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476" y="313714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00113" y="3183136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77677" y="3197423"/>
            <a:ext cx="1364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REARRANGE THE WORDS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09476" y="3479899"/>
            <a:ext cx="457200" cy="362843"/>
          </a:xfrm>
          <a:prstGeom prst="roundRect">
            <a:avLst>
              <a:gd name="adj" fmla="val 21001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55477" y="3562350"/>
            <a:ext cx="16850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342876" y="3479899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488877" y="3562350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041327" y="3479899"/>
            <a:ext cx="787301" cy="362843"/>
          </a:xfrm>
          <a:prstGeom prst="roundRect">
            <a:avLst>
              <a:gd name="adj" fmla="val 2100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187327" y="3562350"/>
            <a:ext cx="505206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904827" y="3479899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050828" y="3562350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603278" y="3479899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749278" y="3562350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301728" y="3556546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30328" y="3479899"/>
            <a:ext cx="457200" cy="362843"/>
          </a:xfrm>
          <a:prstGeom prst="roundRect">
            <a:avLst>
              <a:gd name="adj" fmla="val 21001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676329" y="3562350"/>
            <a:ext cx="16850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58701" y="4093518"/>
            <a:ext cx="11074598" cy="978545"/>
          </a:xfrm>
          <a:prstGeom prst="roundRect">
            <a:avLst>
              <a:gd name="adj" fmla="val 1168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58701" y="4098280"/>
            <a:ext cx="110745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628537" y="4093518"/>
            <a:ext cx="0" cy="978545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8701" y="5067300"/>
            <a:ext cx="11074598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2513" y="4093518"/>
            <a:ext cx="0" cy="978545"/>
          </a:xfrm>
          <a:prstGeom prst="line">
            <a:avLst/>
          </a:prstGeom>
          <a:noFill/>
          <a:ln w="47625">
            <a:solidFill>
              <a:srgbClr val="D475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9476" y="422999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899815" y="4275981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77677" y="4290268"/>
            <a:ext cx="1364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REARRANGE THE WORDS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09476" y="4572744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955477" y="4655195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1507927" y="4572744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653927" y="4655195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2206377" y="4572744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2352377" y="4655195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做饭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2904827" y="4572744"/>
            <a:ext cx="787301" cy="362843"/>
          </a:xfrm>
          <a:prstGeom prst="roundRect">
            <a:avLst>
              <a:gd name="adj" fmla="val 2100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050828" y="4655195"/>
            <a:ext cx="505206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3768328" y="4572744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3914329" y="4655195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4466779" y="4572744"/>
            <a:ext cx="622250" cy="362843"/>
          </a:xfrm>
          <a:prstGeom prst="roundRect">
            <a:avLst>
              <a:gd name="adj" fmla="val 2100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4612779" y="4655195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5165229" y="464939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393829" y="4572744"/>
            <a:ext cx="457200" cy="362843"/>
          </a:xfrm>
          <a:prstGeom prst="roundRect">
            <a:avLst>
              <a:gd name="adj" fmla="val 21001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5539829" y="4655195"/>
            <a:ext cx="16850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558701" y="5199013"/>
            <a:ext cx="11074598" cy="650677"/>
          </a:xfrm>
          <a:prstGeom prst="roundRect">
            <a:avLst>
              <a:gd name="adj" fmla="val 15615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780901" y="5345013"/>
            <a:ext cx="10842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 your mini whiteboard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80901" y="5551289"/>
            <a:ext cx="10842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it up when done — first correct answer wins the round!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58701" y="5976640"/>
            <a:ext cx="3623816" cy="656034"/>
          </a:xfrm>
          <a:prstGeom prst="roundRect">
            <a:avLst>
              <a:gd name="adj" fmla="val 135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698302" y="6078141"/>
            <a:ext cx="3411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698302" y="6240066"/>
            <a:ext cx="341150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 hint is on screen: Subject → 一边 → Action 1，一边 → Action 2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284018" y="5976640"/>
            <a:ext cx="3623816" cy="656034"/>
          </a:xfrm>
          <a:prstGeom prst="roundRect">
            <a:avLst>
              <a:gd name="adj" fmla="val 135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4423618" y="6078141"/>
            <a:ext cx="3411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423618" y="6240066"/>
            <a:ext cx="341150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4th jumble sentence of your own for your partner to unscramble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009334" y="5976640"/>
            <a:ext cx="3623965" cy="656034"/>
          </a:xfrm>
          <a:prstGeom prst="roundRect">
            <a:avLst>
              <a:gd name="adj" fmla="val 135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8148935" y="6078141"/>
            <a:ext cx="3411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8148935" y="6240066"/>
            <a:ext cx="341165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writes the sentence — all boards up simultaneously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21638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4 · Running Dictation · 26–31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63476"/>
            <a:ext cx="944761" cy="244376"/>
          </a:xfrm>
          <a:prstGeom prst="roundRect">
            <a:avLst>
              <a:gd name="adj" fmla="val 51917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14226"/>
            <a:ext cx="6011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55862" y="609451"/>
            <a:ext cx="34159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Running Dictation · 跑步听写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8701" y="1050727"/>
            <a:ext cx="725537" cy="257175"/>
          </a:xfrm>
          <a:prstGeom prst="roundRect">
            <a:avLst>
              <a:gd name="adj" fmla="val 4933333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7827" y="1098352"/>
            <a:ext cx="4358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98538" y="1069777"/>
            <a:ext cx="681484" cy="219075"/>
          </a:xfrm>
          <a:prstGeom prst="roundRect">
            <a:avLst>
              <a:gd name="adj" fmla="val 5791304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25488" y="1107877"/>
            <a:ext cx="4361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434852"/>
            <a:ext cx="8178998" cy="383977"/>
          </a:xfrm>
          <a:prstGeom prst="roundRect">
            <a:avLst>
              <a:gd name="adj" fmla="val 23152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927" y="1545878"/>
            <a:ext cx="79606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 4 sentences are posted around the room — go find them!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8701" y="1945779"/>
            <a:ext cx="8178998" cy="663476"/>
          </a:xfrm>
          <a:prstGeom prst="roundRect">
            <a:avLst>
              <a:gd name="adj" fmla="val 1531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5927" y="209490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9631" y="215354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227" y="2082254"/>
            <a:ext cx="20205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52227" y="2244179"/>
            <a:ext cx="202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我叫田云。我有很多爱好。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8701" y="2710755"/>
            <a:ext cx="8178998" cy="663476"/>
          </a:xfrm>
          <a:prstGeom prst="roundRect">
            <a:avLst>
              <a:gd name="adj" fmla="val 1531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5927" y="285988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9362" y="2918520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227" y="2847231"/>
            <a:ext cx="23576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52227" y="3009156"/>
            <a:ext cx="2357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弹钢琴，</a:t>
            </a: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8701" y="3475732"/>
            <a:ext cx="8178998" cy="663476"/>
          </a:xfrm>
          <a:prstGeom prst="roundRect">
            <a:avLst>
              <a:gd name="adj" fmla="val 1531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5927" y="362485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49064" y="3683496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227" y="3612207"/>
            <a:ext cx="18521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52227" y="3774132"/>
            <a:ext cx="185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我还喜欢听音乐和读书。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8701" y="4240709"/>
            <a:ext cx="8178998" cy="663476"/>
          </a:xfrm>
          <a:prstGeom prst="roundRect">
            <a:avLst>
              <a:gd name="adj" fmla="val 1531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45927" y="438983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48618" y="4448473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227" y="4377184"/>
            <a:ext cx="18521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152227" y="4539109"/>
            <a:ext cx="185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我每天读一个小时的书。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8701" y="5158085"/>
            <a:ext cx="2658666" cy="601266"/>
          </a:xfrm>
          <a:prstGeom prst="roundRect">
            <a:avLst>
              <a:gd name="adj" fmla="val 147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5651" y="5246936"/>
            <a:ext cx="2452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5651" y="5396061"/>
            <a:ext cx="2452860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stays to help check characters if runner returns with mistakes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18867" y="5158085"/>
            <a:ext cx="2658666" cy="601266"/>
          </a:xfrm>
          <a:prstGeom prst="roundRect">
            <a:avLst>
              <a:gd name="adj" fmla="val 147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445818" y="5246936"/>
            <a:ext cx="2452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445818" y="5396061"/>
            <a:ext cx="2452860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5th sentence about yourself using 一边……一边……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79034" y="5158085"/>
            <a:ext cx="2658666" cy="601266"/>
          </a:xfrm>
          <a:prstGeom prst="roundRect">
            <a:avLst>
              <a:gd name="adj" fmla="val 147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05984" y="5246936"/>
            <a:ext cx="2452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05984" y="5396061"/>
            <a:ext cx="2452860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partners swap — both read the wall AND write from dictation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966299" y="1434852"/>
            <a:ext cx="2667000" cy="3486448"/>
          </a:xfrm>
          <a:prstGeom prst="roundRect">
            <a:avLst>
              <a:gd name="adj" fmla="val 42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153525" y="1596777"/>
            <a:ext cx="2338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150986" y="1831628"/>
            <a:ext cx="2589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🏃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508927" y="1831628"/>
            <a:ext cx="1975890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runs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a sentence on the wall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130600" y="2195364"/>
            <a:ext cx="23383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50986" y="2414439"/>
            <a:ext cx="2589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👀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508927" y="2414439"/>
            <a:ext cx="1975890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Reads and memorises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 writing yet!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130600" y="2778175"/>
            <a:ext cx="23383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150986" y="2997250"/>
            <a:ext cx="2589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🔙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508927" y="2997250"/>
            <a:ext cx="1246772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Returns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partner B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130600" y="3283000"/>
            <a:ext cx="23383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150986" y="3502075"/>
            <a:ext cx="2589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508927" y="3502075"/>
            <a:ext cx="1620211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Dictates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sentence to B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130600" y="3787825"/>
            <a:ext cx="23383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150986" y="4006900"/>
            <a:ext cx="2589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508927" y="4006900"/>
            <a:ext cx="1452467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it down exactly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130600" y="4292650"/>
            <a:ext cx="23383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150986" y="4511725"/>
            <a:ext cx="2589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🔄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508927" y="4511725"/>
            <a:ext cx="1657252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the next sentence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966299" y="5048250"/>
            <a:ext cx="2667000" cy="1567458"/>
          </a:xfrm>
          <a:prstGeom prst="roundRect">
            <a:avLst>
              <a:gd name="adj" fmla="val 729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9153525" y="5197376"/>
            <a:ext cx="2338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 ROLES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9153525" y="5862340"/>
            <a:ext cx="2292548" cy="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53525" y="5548164"/>
            <a:ext cx="776734" cy="193477"/>
          </a:xfrm>
          <a:prstGeom prst="roundRect">
            <a:avLst>
              <a:gd name="adj" fmla="val 6557524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9267825" y="5573464"/>
            <a:ext cx="5590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Runner (A)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0031760" y="5482977"/>
            <a:ext cx="144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 · Read · Memorise · Dictate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153525" y="6166842"/>
            <a:ext cx="2292548" cy="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53525" y="5917853"/>
            <a:ext cx="729555" cy="193477"/>
          </a:xfrm>
          <a:prstGeom prst="roundRect">
            <a:avLst>
              <a:gd name="adj" fmla="val 6557524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9267825" y="5943154"/>
            <a:ext cx="510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Writer (B)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984581" y="5933629"/>
            <a:ext cx="12824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· Write · Check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153525" y="6222355"/>
            <a:ext cx="542181" cy="193477"/>
          </a:xfrm>
          <a:prstGeom prst="roundRect">
            <a:avLst>
              <a:gd name="adj" fmla="val 655752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9267825" y="6247656"/>
            <a:ext cx="3198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Swap!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9797207" y="6238131"/>
            <a:ext cx="16437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Then swap for next sentence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2378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Revisit SC + Exit Ticket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490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41177"/>
            <a:ext cx="112960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Plenary · 课堂总结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8701" y="1472952"/>
            <a:ext cx="5410349" cy="4198888"/>
          </a:xfrm>
          <a:prstGeom prst="roundRect">
            <a:avLst>
              <a:gd name="adj" fmla="val 302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127" y="1685627"/>
            <a:ext cx="49811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 · THUMBS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127" y="203790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4039" y="2076004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9577" y="203790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01489" y="2076004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57027" y="203790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18940" y="2076004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50678" y="2025253"/>
            <a:ext cx="33532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read and understand Text 1 — 田云's hobbies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127" y="246965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84039" y="2507754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9577" y="246965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01489" y="2507754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57027" y="246965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18940" y="2507754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50678" y="2457004"/>
            <a:ext cx="393204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form 一边……一边…… sentences for simultaneous actions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127" y="299531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4039" y="3033415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9577" y="299531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01489" y="3033415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57027" y="299531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18940" y="3033415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50678" y="2982664"/>
            <a:ext cx="393204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put words in the correct order in a 一边……一边…… sentence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22950" y="1472952"/>
            <a:ext cx="5410349" cy="4198888"/>
          </a:xfrm>
          <a:prstGeom prst="roundRect">
            <a:avLst>
              <a:gd name="adj" fmla="val 302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86376" y="1685627"/>
            <a:ext cx="49811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+ SELF-ASSESSMENT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86376" y="2025253"/>
            <a:ext cx="4883497" cy="1722834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510189" y="2025253"/>
            <a:ext cx="0" cy="1722834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7152" y="2190304"/>
            <a:ext cx="45181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· BEFORE YOU GO…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737152" y="2399854"/>
            <a:ext cx="45181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一边……一边…… sentence about something YOU do: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737152" y="2691854"/>
            <a:ext cx="4429571" cy="891183"/>
          </a:xfrm>
          <a:prstGeom prst="roundRect">
            <a:avLst>
              <a:gd name="adj" fmla="val 8550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33902" y="2837855"/>
            <a:ext cx="4116791" cy="599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我喜欢一边 </a:t>
            </a:r>
            <a:r>
              <a:rPr lang="en-US" sz="13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endParaRPr lang="en-US" sz="13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 </a:t>
            </a:r>
            <a:endParaRPr lang="en-US" sz="13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86376" y="3900488"/>
            <a:ext cx="4883497" cy="1558677"/>
          </a:xfrm>
          <a:prstGeom prst="roundRect">
            <a:avLst>
              <a:gd name="adj" fmla="val 7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699052" y="4062412"/>
            <a:ext cx="45473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CONFIDENT DO I FEEL?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699052" y="4322713"/>
            <a:ext cx="1038374" cy="974527"/>
          </a:xfrm>
          <a:prstGeom prst="roundRect">
            <a:avLst>
              <a:gd name="adj" fmla="val 912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089577" y="4459188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😊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843964" y="4875014"/>
            <a:ext cx="748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Very confident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38926" y="4322713"/>
            <a:ext cx="1038523" cy="974527"/>
          </a:xfrm>
          <a:prstGeom prst="roundRect">
            <a:avLst>
              <a:gd name="adj" fmla="val 912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229600" y="4459188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🙂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019665" y="4875014"/>
            <a:ext cx="6768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Getting there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978950" y="4322713"/>
            <a:ext cx="1038374" cy="974527"/>
          </a:xfrm>
          <a:prstGeom prst="roundRect">
            <a:avLst>
              <a:gd name="adj" fmla="val 912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9369475" y="4459188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9056005" y="4875014"/>
            <a:ext cx="8842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Need more practice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118824" y="4322713"/>
            <a:ext cx="1038374" cy="974527"/>
          </a:xfrm>
          <a:prstGeom prst="roundRect">
            <a:avLst>
              <a:gd name="adj" fmla="val 912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0509349" y="4459188"/>
            <a:ext cx="262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😕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10310948" y="4875014"/>
            <a:ext cx="6541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Lost — help!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881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TEXT 1 + 一边……一边……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46682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93777" y="144363"/>
            <a:ext cx="11411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51168" y="653207"/>
            <a:ext cx="18896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· LESSON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96627" y="942082"/>
            <a:ext cx="299859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How Long Do You Do It?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83081" y="1383357"/>
            <a:ext cx="2425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00"/>
              </a:spcAft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expressions in Chinese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5979" y="1872258"/>
            <a:ext cx="5100042" cy="3081784"/>
          </a:xfrm>
          <a:prstGeom prst="roundRect">
            <a:avLst>
              <a:gd name="adj" fmla="val 412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67355" y="2110383"/>
            <a:ext cx="44572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ALREADY KNOW THIS SENTENCE — NEXT LESSON WE PULL IT APART: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67355" y="2345234"/>
            <a:ext cx="44572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我每天读</a:t>
            </a:r>
            <a:r>
              <a:rPr lang="en-US" sz="2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r>
              <a:rPr lang="en-US" sz="2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的书。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22974" y="2875359"/>
            <a:ext cx="838200" cy="393502"/>
          </a:xfrm>
          <a:prstGeom prst="roundRect">
            <a:avLst>
              <a:gd name="adj" fmla="val 1936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89471" y="2957810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06020" y="2991148"/>
            <a:ext cx="7705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every day …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42818" y="3357711"/>
            <a:ext cx="508099" cy="393502"/>
          </a:xfrm>
          <a:prstGeom prst="roundRect">
            <a:avLst>
              <a:gd name="adj" fmla="val 19365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12616" y="3440162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0859" y="3473500"/>
            <a:ext cx="2507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47642" y="3840063"/>
            <a:ext cx="1003250" cy="393502"/>
          </a:xfrm>
          <a:prstGeom prst="roundRect">
            <a:avLst>
              <a:gd name="adj" fmla="val 19365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12489" y="3922514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91882" y="3955852"/>
            <a:ext cx="11638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hour ← duration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63443" y="4322415"/>
            <a:ext cx="673150" cy="393502"/>
          </a:xfrm>
          <a:prstGeom prst="roundRect">
            <a:avLst>
              <a:gd name="adj" fmla="val 19365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31590" y="4404866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78598" y="4438204"/>
            <a:ext cx="10602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 books / reading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82516" y="5182642"/>
            <a:ext cx="2326035" cy="1174552"/>
          </a:xfrm>
          <a:prstGeom prst="roundRect">
            <a:avLst>
              <a:gd name="adj" fmla="val 973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202143" y="5357217"/>
            <a:ext cx="18867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202143" y="5795367"/>
            <a:ext cx="18867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时长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2143" y="6030218"/>
            <a:ext cx="18867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Duration: Verb + time + 的 + object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251" y="5182642"/>
            <a:ext cx="1799332" cy="1174552"/>
          </a:xfrm>
          <a:prstGeom prst="roundRect">
            <a:avLst>
              <a:gd name="adj" fmla="val 973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11145" y="5357217"/>
            <a:ext cx="13495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🔢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711145" y="5785842"/>
            <a:ext cx="13495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1145" y="6020693"/>
            <a:ext cx="13495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一小时、两个小时、半小时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463284" y="5182642"/>
            <a:ext cx="1746200" cy="1174552"/>
          </a:xfrm>
          <a:prstGeom prst="roundRect">
            <a:avLst>
              <a:gd name="adj" fmla="val 973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688709" y="5357217"/>
            <a:ext cx="129534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688709" y="5785842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8709" y="6020693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 · Book 2 p.61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2026-06-30T02:53:04Z</dcterms:created>
  <dcterms:modified xsi:type="dcterms:W3CDTF">2026-06-30T02:53:04Z</dcterms:modified>
</cp:coreProperties>
</file>