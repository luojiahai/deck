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20490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PINYIN ao/ou + LISTENING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631132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58083" y="144363"/>
            <a:ext cx="6134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Title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48662" y="1747986"/>
            <a:ext cx="22945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8 · UNIT 3 · LESSON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85810" y="2163812"/>
            <a:ext cx="121504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0"/>
              </a:lnSpc>
              <a:buNone/>
            </a:pPr>
            <a:r>
              <a:rPr lang="en-US" sz="9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ao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5941891" y="2416225"/>
            <a:ext cx="26535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547856" y="2163812"/>
            <a:ext cx="1258613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0"/>
              </a:lnSpc>
              <a:buNone/>
            </a:pPr>
            <a:r>
              <a:rPr lang="en-US" sz="96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ou</a:t>
            </a:r>
            <a:endParaRPr lang="en-US" sz="9600" dirty="0"/>
          </a:p>
        </p:txBody>
      </p:sp>
      <p:sp>
        <p:nvSpPr>
          <p:cNvPr id="11" name="Text 9"/>
          <p:cNvSpPr/>
          <p:nvPr/>
        </p:nvSpPr>
        <p:spPr>
          <a:xfrm>
            <a:off x="5588050" y="3509963"/>
            <a:ext cx="1015901" cy="38100"/>
          </a:xfrm>
          <a:prstGeom prst="roundRect">
            <a:avLst>
              <a:gd name="adj" fmla="val 66667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293471" y="3751213"/>
            <a:ext cx="360505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拼音辨音 · 听力练习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374385" y="4332238"/>
            <a:ext cx="344308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800"/>
              </a:spcAft>
              <a:buNone/>
            </a:pPr>
            <a:r>
              <a:rPr lang="en-US" sz="14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Pinyin Distinction &amp; Listening Practice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29868" y="4935438"/>
            <a:ext cx="854125" cy="326827"/>
          </a:xfrm>
          <a:prstGeom prst="roundRect">
            <a:avLst>
              <a:gd name="adj" fmla="val 388196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38256" y="5008364"/>
            <a:ext cx="4373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 min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61693" y="4935438"/>
            <a:ext cx="1317427" cy="326827"/>
          </a:xfrm>
          <a:prstGeom prst="roundRect">
            <a:avLst>
              <a:gd name="adj" fmla="val 3881962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465448" y="5008364"/>
            <a:ext cx="9099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听力 Listening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56821" y="4935438"/>
            <a:ext cx="1402556" cy="326827"/>
          </a:xfrm>
          <a:prstGeom prst="roundRect">
            <a:avLst>
              <a:gd name="adj" fmla="val 388196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959724" y="5008364"/>
            <a:ext cx="9967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Book 2 · Unit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37078" y="4935438"/>
            <a:ext cx="1624905" cy="326827"/>
          </a:xfrm>
          <a:prstGeom prst="roundRect">
            <a:avLst>
              <a:gd name="adj" fmla="val 388196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537758" y="5008364"/>
            <a:ext cx="122354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CD Tracks 32 &amp; 33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20490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PINYIN ao/ou + LISTENING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631132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58083" y="144363"/>
            <a:ext cx="9131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660350"/>
            <a:ext cx="111922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MINI WHITEBOARD · DURATION SENTENCES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9600" y="866626"/>
            <a:ext cx="1119225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复习 · Duration Review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09600" y="1371451"/>
            <a:ext cx="1119225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Translate each sentence → write on your whiteboard → hold up.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9600" y="1730127"/>
            <a:ext cx="10972800" cy="577602"/>
          </a:xfrm>
          <a:prstGeom prst="roundRect">
            <a:avLst>
              <a:gd name="adj" fmla="val 1978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22275" y="187925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30325" y="1918841"/>
            <a:ext cx="643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55527" y="1921073"/>
            <a:ext cx="5016538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She sings for 45 minutes every day.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70452" y="1904554"/>
            <a:ext cx="0" cy="228600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16452" y="1904554"/>
            <a:ext cx="48483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她每天唱三刻钟的歌。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9600" y="2422029"/>
            <a:ext cx="10972800" cy="577602"/>
          </a:xfrm>
          <a:prstGeom prst="roundRect">
            <a:avLst>
              <a:gd name="adj" fmla="val 1978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2571155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17674" y="2610743"/>
            <a:ext cx="901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55527" y="2612975"/>
            <a:ext cx="5016538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 plays piano for 1.5 hours every day.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70452" y="2596455"/>
            <a:ext cx="0" cy="228600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16452" y="2596455"/>
            <a:ext cx="48483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他每天弹一个半小时的钢琴。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9600" y="3113931"/>
            <a:ext cx="10972800" cy="577602"/>
          </a:xfrm>
          <a:prstGeom prst="roundRect">
            <a:avLst>
              <a:gd name="adj" fmla="val 1978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22275" y="326305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17377" y="3302645"/>
            <a:ext cx="909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55527" y="3304877"/>
            <a:ext cx="5016538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watch TV for 2 hours every day.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70452" y="3288357"/>
            <a:ext cx="0" cy="228600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16452" y="3288357"/>
            <a:ext cx="48483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我每天看两个小时的电视。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9600" y="3805833"/>
            <a:ext cx="10972800" cy="577602"/>
          </a:xfrm>
          <a:prstGeom prst="roundRect">
            <a:avLst>
              <a:gd name="adj" fmla="val 1978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22275" y="3954959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16781" y="3994547"/>
            <a:ext cx="919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355527" y="3996779"/>
            <a:ext cx="5016538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She reads for half an hour every day.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70452" y="3980259"/>
            <a:ext cx="0" cy="228600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16452" y="3980259"/>
            <a:ext cx="48483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她每天读半个小时的书。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09600" y="4561136"/>
            <a:ext cx="10972800" cy="558701"/>
          </a:xfrm>
          <a:prstGeom prst="roundRect">
            <a:avLst>
              <a:gd name="adj" fmla="val 20458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31800" y="4707136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👂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84225" y="4742706"/>
            <a:ext cx="5868314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Many listening words contain 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ao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or 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ou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like 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爱好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好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 Let's sharpen your ear!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20490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PINYIN ao/ou + LISTENING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631132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58083" y="144363"/>
            <a:ext cx="9109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614934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1859310"/>
            <a:ext cx="10985194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00"/>
              </a:spcAft>
              <a:buNone/>
            </a:pPr>
            <a:r>
              <a:rPr lang="en-US" sz="2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11101" y="2643485"/>
            <a:ext cx="10769798" cy="1126927"/>
          </a:xfrm>
          <a:prstGeom prst="rect">
            <a:avLst/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34913" y="2643485"/>
            <a:ext cx="0" cy="1126927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8076" y="2846636"/>
            <a:ext cx="103667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38076" y="3052911"/>
            <a:ext cx="1036674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</a:t>
            </a:r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distinguish ao and ou sounds</a:t>
            </a:r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Chinese and follow spoken Chinese to complete listening tasks.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1101" y="4062412"/>
            <a:ext cx="317450" cy="317450"/>
          </a:xfrm>
          <a:prstGeom prst="roundRect">
            <a:avLst>
              <a:gd name="adj" fmla="val 288045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41177" y="4130576"/>
            <a:ext cx="584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0951" y="4049762"/>
            <a:ext cx="712176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hear the difference</a:t>
            </a:r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between </a:t>
            </a:r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ao</a:t>
            </a:r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(like "aow") and </a:t>
            </a:r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ou</a:t>
            </a:r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(like "oh") in spoken Chinese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1101" y="4570214"/>
            <a:ext cx="317450" cy="317450"/>
          </a:xfrm>
          <a:prstGeom prst="roundRect">
            <a:avLst>
              <a:gd name="adj" fmla="val 288045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9568" y="4638377"/>
            <a:ext cx="821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0951" y="4557564"/>
            <a:ext cx="521600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correctly identify</a:t>
            </a:r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ao</a:t>
            </a:r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/ </a:t>
            </a:r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ou</a:t>
            </a:r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when I hear them in </a:t>
            </a:r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 words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1101" y="5078016"/>
            <a:ext cx="317450" cy="317450"/>
          </a:xfrm>
          <a:prstGeom prst="roundRect">
            <a:avLst>
              <a:gd name="adj" fmla="val 288045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9270" y="5146179"/>
            <a:ext cx="827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0951" y="5065365"/>
            <a:ext cx="585085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follow spoken Chinese</a:t>
            </a:r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tick correct answers in a </a:t>
            </a:r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listening grid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20490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PINYIN ao/ou + LISTENING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631132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58083" y="144363"/>
            <a:ext cx="9498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Phonics · ao vs ou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09451"/>
            <a:ext cx="1129609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声母辨音 · Distinguishing ao and ou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58701" y="1038076"/>
            <a:ext cx="112960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Exaggerate mouth shapes — students mirror.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58701" y="1371451"/>
            <a:ext cx="5410349" cy="3901083"/>
          </a:xfrm>
          <a:prstGeom prst="roundRect">
            <a:avLst>
              <a:gd name="adj" fmla="val 3255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91042" y="1619101"/>
            <a:ext cx="11455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VOWEL SOUND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858786" y="1863477"/>
            <a:ext cx="810030" cy="8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400"/>
              </a:lnSpc>
              <a:spcAft>
                <a:spcPts val="800"/>
              </a:spcAft>
              <a:buNone/>
            </a:pPr>
            <a:r>
              <a:rPr lang="en-US" sz="6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ao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2169136" y="2777728"/>
            <a:ext cx="21894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Open wide — jaw drops low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51914" y="3025378"/>
            <a:ext cx="10239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like "ow" in </a:t>
            </a:r>
            <a:pPr algn="ctr" indent="0" marL="0">
              <a:spcAft>
                <a:spcPts val="1000"/>
              </a:spcAft>
              <a:buNone/>
            </a:pPr>
            <a:r>
              <a:rPr lang="en-US" sz="1000" b="1" i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09900" y="3333304"/>
            <a:ext cx="507950" cy="25301"/>
          </a:xfrm>
          <a:prstGeom prst="roundRect">
            <a:avLst>
              <a:gd name="adj" fmla="val 5019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926946" y="3485555"/>
            <a:ext cx="6737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82551" y="3729930"/>
            <a:ext cx="4762649" cy="380851"/>
          </a:xfrm>
          <a:prstGeom prst="roundRect">
            <a:avLst>
              <a:gd name="adj" fmla="val 20008"/>
            </a:avLst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958693" y="3793331"/>
            <a:ext cx="25913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好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339992" y="3829794"/>
            <a:ext cx="2286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hǎo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2551" y="4186982"/>
            <a:ext cx="4762649" cy="380851"/>
          </a:xfrm>
          <a:prstGeom prst="roundRect">
            <a:avLst>
              <a:gd name="adj" fmla="val 20008"/>
            </a:avLst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957056" y="4250382"/>
            <a:ext cx="25913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高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338321" y="4286845"/>
            <a:ext cx="2321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gāo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2551" y="4644033"/>
            <a:ext cx="4762649" cy="380851"/>
          </a:xfrm>
          <a:prstGeom prst="roundRect">
            <a:avLst>
              <a:gd name="adj" fmla="val 20008"/>
            </a:avLst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775476" y="4707434"/>
            <a:ext cx="518109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爱好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412139" y="4743896"/>
            <a:ext cx="3383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àihào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22950" y="1371451"/>
            <a:ext cx="5410349" cy="3901083"/>
          </a:xfrm>
          <a:prstGeom prst="roundRect">
            <a:avLst>
              <a:gd name="adj" fmla="val 3255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345878" y="1619101"/>
            <a:ext cx="11644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VOWEL SOUND 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508613" y="1863477"/>
            <a:ext cx="839025" cy="8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400"/>
              </a:lnSpc>
              <a:spcAft>
                <a:spcPts val="800"/>
              </a:spcAft>
              <a:buNone/>
            </a:pPr>
            <a:r>
              <a:rPr lang="en-US" sz="64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ou</a:t>
            </a:r>
            <a:endParaRPr lang="en-US" sz="6400" dirty="0"/>
          </a:p>
        </p:txBody>
      </p:sp>
      <p:sp>
        <p:nvSpPr>
          <p:cNvPr id="28" name="Text 26"/>
          <p:cNvSpPr/>
          <p:nvPr/>
        </p:nvSpPr>
        <p:spPr>
          <a:xfrm>
            <a:off x="7746553" y="2777728"/>
            <a:ext cx="23631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Lips round and close together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78557" y="3025378"/>
            <a:ext cx="89898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like "oh" in </a:t>
            </a:r>
            <a:pPr algn="ctr" indent="0" marL="0">
              <a:spcAft>
                <a:spcPts val="1000"/>
              </a:spcAft>
              <a:buNone/>
            </a:pPr>
            <a:r>
              <a:rPr lang="en-US" sz="1000" b="1" i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674150" y="3333304"/>
            <a:ext cx="507950" cy="25301"/>
          </a:xfrm>
          <a:prstGeom prst="roundRect">
            <a:avLst>
              <a:gd name="adj" fmla="val 50196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591196" y="3485555"/>
            <a:ext cx="6737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546800" y="3729930"/>
            <a:ext cx="4762649" cy="380851"/>
          </a:xfrm>
          <a:prstGeom prst="roundRect">
            <a:avLst>
              <a:gd name="adj" fmla="val 20008"/>
            </a:avLst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625175" y="3793331"/>
            <a:ext cx="25913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006519" y="3829794"/>
            <a:ext cx="2240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zǒu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46800" y="4186982"/>
            <a:ext cx="4762649" cy="380851"/>
          </a:xfrm>
          <a:prstGeom prst="roundRect">
            <a:avLst>
              <a:gd name="adj" fmla="val 20008"/>
            </a:avLst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634253" y="4250382"/>
            <a:ext cx="25913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头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015777" y="4286845"/>
            <a:ext cx="2056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tóu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46800" y="4644033"/>
            <a:ext cx="4762649" cy="380851"/>
          </a:xfrm>
          <a:prstGeom prst="roundRect">
            <a:avLst>
              <a:gd name="adj" fmla="val 20008"/>
            </a:avLst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659108" y="4707434"/>
            <a:ext cx="25913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九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9041129" y="4743896"/>
            <a:ext cx="1549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jiǔ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8701" y="5424934"/>
            <a:ext cx="11074598" cy="472976"/>
          </a:xfrm>
          <a:prstGeom prst="roundRect">
            <a:avLst>
              <a:gd name="adj" fmla="val 21481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16649" y="5561409"/>
            <a:ext cx="107587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 — students </a:t>
            </a:r>
            <a:pPr algn="ctr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mirror the mouth shape</a:t>
            </a:r>
            <a:pPr algn="ctr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 Switch between ao and ou several times.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20490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PINYIN ao/ou + LISTENING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631132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58083" y="144363"/>
            <a:ext cx="1234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Minimal Pairs · ao vs ou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09451"/>
            <a:ext cx="387861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最小对比 · Minimal Pairs Drill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58701" y="1038076"/>
            <a:ext cx="38786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</a:t>
            </a:r>
            <a:pPr algn="l" indent="0" marL="0">
              <a:buNone/>
            </a:pPr>
            <a:r>
              <a:rPr lang="en-US" sz="10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if you hear ao · Write </a:t>
            </a:r>
            <a:pPr algn="l" indent="0" marL="0">
              <a:buNone/>
            </a:pPr>
            <a:r>
              <a:rPr lang="en-US" sz="10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</a:t>
            </a:r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if you hear ou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96823" y="876151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418266" y="947589"/>
            <a:ext cx="1018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15923" y="947589"/>
            <a:ext cx="1757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040666" y="876151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155859" y="947589"/>
            <a:ext cx="1147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59766" y="947589"/>
            <a:ext cx="1770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8701" y="1371451"/>
            <a:ext cx="3589883" cy="1495425"/>
          </a:xfrm>
          <a:prstGeom prst="roundRect">
            <a:avLst>
              <a:gd name="adj" fmla="val 764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960316" y="1457176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43323" y="1609576"/>
            <a:ext cx="414579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300"/>
              </a:spcAft>
              <a:buNone/>
            </a:pPr>
            <a:r>
              <a:rPr lang="en-US" sz="3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好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434554" y="2054126"/>
            <a:ext cx="2286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hǎo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87822" y="2311301"/>
            <a:ext cx="317450" cy="317450"/>
          </a:xfrm>
          <a:prstGeom prst="roundRect">
            <a:avLst>
              <a:gd name="adj" fmla="val 288045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501080" y="2379464"/>
            <a:ext cx="926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47317" y="1584127"/>
            <a:ext cx="12650" cy="1070074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957364" y="1609576"/>
            <a:ext cx="414579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300"/>
              </a:spcAft>
              <a:buNone/>
            </a:pPr>
            <a:r>
              <a:rPr lang="en-US" sz="32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后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3046363" y="2054126"/>
            <a:ext cx="2331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hòu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001863" y="2311301"/>
            <a:ext cx="317450" cy="317450"/>
          </a:xfrm>
          <a:prstGeom prst="roundRect">
            <a:avLst>
              <a:gd name="adj" fmla="val 288045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109466" y="2379464"/>
            <a:ext cx="1042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00984" y="1371451"/>
            <a:ext cx="3589883" cy="1495425"/>
          </a:xfrm>
          <a:prstGeom prst="roundRect">
            <a:avLst>
              <a:gd name="adj" fmla="val 764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681912" y="1457176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85606" y="1609576"/>
            <a:ext cx="414579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300"/>
              </a:spcAft>
              <a:buNone/>
            </a:pPr>
            <a:r>
              <a:rPr lang="en-US" sz="3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告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5175052" y="2054126"/>
            <a:ext cx="2321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gào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30105" y="2311301"/>
            <a:ext cx="317450" cy="317450"/>
          </a:xfrm>
          <a:prstGeom prst="roundRect">
            <a:avLst>
              <a:gd name="adj" fmla="val 288045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243364" y="2379464"/>
            <a:ext cx="926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89600" y="1584127"/>
            <a:ext cx="12650" cy="1070074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699647" y="1609576"/>
            <a:ext cx="414579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300"/>
              </a:spcAft>
              <a:buNone/>
            </a:pPr>
            <a:r>
              <a:rPr lang="en-US" sz="32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够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6786860" y="2054126"/>
            <a:ext cx="2366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gòu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44146" y="2311301"/>
            <a:ext cx="317450" cy="317450"/>
          </a:xfrm>
          <a:prstGeom prst="roundRect">
            <a:avLst>
              <a:gd name="adj" fmla="val 288045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851749" y="2379464"/>
            <a:ext cx="1042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43267" y="1371451"/>
            <a:ext cx="3590032" cy="1495425"/>
          </a:xfrm>
          <a:prstGeom prst="roundRect">
            <a:avLst>
              <a:gd name="adj" fmla="val 764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1423749" y="1457176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827889" y="1609576"/>
            <a:ext cx="414579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300"/>
              </a:spcAft>
              <a:buNone/>
            </a:pPr>
            <a:r>
              <a:rPr lang="en-US" sz="3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高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8917335" y="2054126"/>
            <a:ext cx="2321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gāo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872389" y="2311301"/>
            <a:ext cx="317450" cy="317450"/>
          </a:xfrm>
          <a:prstGeom prst="roundRect">
            <a:avLst>
              <a:gd name="adj" fmla="val 288045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985647" y="2379464"/>
            <a:ext cx="926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831884" y="1584127"/>
            <a:ext cx="12650" cy="1070074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0442079" y="1609576"/>
            <a:ext cx="414579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300"/>
              </a:spcAft>
              <a:buNone/>
            </a:pPr>
            <a:r>
              <a:rPr lang="en-US" sz="32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</a:t>
            </a:r>
            <a:endParaRPr lang="en-US" sz="3200" dirty="0"/>
          </a:p>
        </p:txBody>
      </p:sp>
      <p:sp>
        <p:nvSpPr>
          <p:cNvPr id="45" name="Text 43"/>
          <p:cNvSpPr/>
          <p:nvPr/>
        </p:nvSpPr>
        <p:spPr>
          <a:xfrm>
            <a:off x="10535394" y="2054126"/>
            <a:ext cx="2240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zǒu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486579" y="2311301"/>
            <a:ext cx="317450" cy="317450"/>
          </a:xfrm>
          <a:prstGeom prst="roundRect">
            <a:avLst>
              <a:gd name="adj" fmla="val 288045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0594181" y="2379464"/>
            <a:ext cx="1042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8701" y="3019276"/>
            <a:ext cx="3589883" cy="1495425"/>
          </a:xfrm>
          <a:prstGeom prst="roundRect">
            <a:avLst>
              <a:gd name="adj" fmla="val 764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3938141" y="3105001"/>
            <a:ext cx="754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343323" y="3257401"/>
            <a:ext cx="414579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300"/>
              </a:spcAft>
              <a:buNone/>
            </a:pPr>
            <a:r>
              <a:rPr lang="en-US" sz="3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草</a:t>
            </a:r>
            <a:endParaRPr lang="en-US" sz="3200" dirty="0"/>
          </a:p>
        </p:txBody>
      </p:sp>
      <p:sp>
        <p:nvSpPr>
          <p:cNvPr id="51" name="Text 49"/>
          <p:cNvSpPr/>
          <p:nvPr/>
        </p:nvSpPr>
        <p:spPr>
          <a:xfrm>
            <a:off x="1435447" y="3701951"/>
            <a:ext cx="2267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cǎo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387822" y="3959126"/>
            <a:ext cx="317450" cy="317450"/>
          </a:xfrm>
          <a:prstGeom prst="roundRect">
            <a:avLst>
              <a:gd name="adj" fmla="val 288045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1501080" y="4027289"/>
            <a:ext cx="926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347317" y="3231952"/>
            <a:ext cx="12650" cy="1070074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2957364" y="3257401"/>
            <a:ext cx="414579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300"/>
              </a:spcAft>
              <a:buNone/>
            </a:pPr>
            <a:r>
              <a:rPr lang="en-US" sz="32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口</a:t>
            </a:r>
            <a:endParaRPr lang="en-US" sz="3200" dirty="0"/>
          </a:p>
        </p:txBody>
      </p:sp>
      <p:sp>
        <p:nvSpPr>
          <p:cNvPr id="56" name="Text 54"/>
          <p:cNvSpPr/>
          <p:nvPr/>
        </p:nvSpPr>
        <p:spPr>
          <a:xfrm>
            <a:off x="3047851" y="3701951"/>
            <a:ext cx="22998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kǒu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001863" y="3959126"/>
            <a:ext cx="317450" cy="317450"/>
          </a:xfrm>
          <a:prstGeom prst="roundRect">
            <a:avLst>
              <a:gd name="adj" fmla="val 288045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3109466" y="4027289"/>
            <a:ext cx="1042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300984" y="3019276"/>
            <a:ext cx="3589883" cy="1495425"/>
          </a:xfrm>
          <a:prstGeom prst="roundRect">
            <a:avLst>
              <a:gd name="adj" fmla="val 764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681466" y="3105001"/>
            <a:ext cx="743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085606" y="3257401"/>
            <a:ext cx="414579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300"/>
              </a:spcAft>
              <a:buNone/>
            </a:pPr>
            <a:r>
              <a:rPr lang="en-US" sz="3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到</a:t>
            </a:r>
            <a:endParaRPr lang="en-US" sz="3200" dirty="0"/>
          </a:p>
        </p:txBody>
      </p:sp>
      <p:sp>
        <p:nvSpPr>
          <p:cNvPr id="62" name="Text 60"/>
          <p:cNvSpPr/>
          <p:nvPr/>
        </p:nvSpPr>
        <p:spPr>
          <a:xfrm>
            <a:off x="5175052" y="3701951"/>
            <a:ext cx="2321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dào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130105" y="3959126"/>
            <a:ext cx="317450" cy="317450"/>
          </a:xfrm>
          <a:prstGeom prst="roundRect">
            <a:avLst>
              <a:gd name="adj" fmla="val 288045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5243364" y="4027289"/>
            <a:ext cx="926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089600" y="3231952"/>
            <a:ext cx="12650" cy="1070074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6699647" y="3257401"/>
            <a:ext cx="414579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300"/>
              </a:spcAft>
              <a:buNone/>
            </a:pPr>
            <a:r>
              <a:rPr lang="en-US" sz="32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头</a:t>
            </a:r>
            <a:endParaRPr lang="en-US" sz="3200" dirty="0"/>
          </a:p>
        </p:txBody>
      </p:sp>
      <p:sp>
        <p:nvSpPr>
          <p:cNvPr id="67" name="Text 65"/>
          <p:cNvSpPr/>
          <p:nvPr/>
        </p:nvSpPr>
        <p:spPr>
          <a:xfrm>
            <a:off x="6802041" y="3701951"/>
            <a:ext cx="2056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tóu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744146" y="3959126"/>
            <a:ext cx="317450" cy="317450"/>
          </a:xfrm>
          <a:prstGeom prst="roundRect">
            <a:avLst>
              <a:gd name="adj" fmla="val 288045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6851749" y="4027289"/>
            <a:ext cx="1042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8043267" y="3019276"/>
            <a:ext cx="3590032" cy="1495425"/>
          </a:xfrm>
          <a:prstGeom prst="roundRect">
            <a:avLst>
              <a:gd name="adj" fmla="val 764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11422707" y="3105001"/>
            <a:ext cx="755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827889" y="3257401"/>
            <a:ext cx="414579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300"/>
              </a:spcAft>
              <a:buNone/>
            </a:pPr>
            <a:r>
              <a:rPr lang="en-US" sz="3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包</a:t>
            </a:r>
            <a:endParaRPr lang="en-US" sz="3200" dirty="0"/>
          </a:p>
        </p:txBody>
      </p:sp>
      <p:sp>
        <p:nvSpPr>
          <p:cNvPr id="73" name="Text 71"/>
          <p:cNvSpPr/>
          <p:nvPr/>
        </p:nvSpPr>
        <p:spPr>
          <a:xfrm>
            <a:off x="8917335" y="3701951"/>
            <a:ext cx="2321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bāo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8872389" y="3959126"/>
            <a:ext cx="317450" cy="317450"/>
          </a:xfrm>
          <a:prstGeom prst="roundRect">
            <a:avLst>
              <a:gd name="adj" fmla="val 288045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8985647" y="4027289"/>
            <a:ext cx="926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9831884" y="3231952"/>
            <a:ext cx="12650" cy="1070074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10442079" y="3257401"/>
            <a:ext cx="414579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spcAft>
                <a:spcPts val="300"/>
              </a:spcAft>
              <a:buNone/>
            </a:pPr>
            <a:r>
              <a:rPr lang="en-US" sz="32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后</a:t>
            </a:r>
            <a:endParaRPr lang="en-US" sz="3200" dirty="0"/>
          </a:p>
        </p:txBody>
      </p:sp>
      <p:sp>
        <p:nvSpPr>
          <p:cNvPr id="78" name="Text 76"/>
          <p:cNvSpPr/>
          <p:nvPr/>
        </p:nvSpPr>
        <p:spPr>
          <a:xfrm>
            <a:off x="10530929" y="3701951"/>
            <a:ext cx="2331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hòu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10486579" y="3959126"/>
            <a:ext cx="317450" cy="317450"/>
          </a:xfrm>
          <a:prstGeom prst="roundRect">
            <a:avLst>
              <a:gd name="adj" fmla="val 288045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10594181" y="4027289"/>
            <a:ext cx="1042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58701" y="4667101"/>
            <a:ext cx="11074598" cy="472976"/>
          </a:xfrm>
          <a:prstGeom prst="roundRect">
            <a:avLst>
              <a:gd name="adj" fmla="val 21481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690842" y="4803577"/>
            <a:ext cx="1081031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 one word from each pair — students write </a:t>
            </a:r>
            <a:pPr algn="ctr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pPr algn="ctr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or </a:t>
            </a:r>
            <a:pPr algn="ctr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</a:t>
            </a:r>
            <a:pPr algn="ctr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 whiteboards and hold up.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20490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PINYIN ao/ou + LISTENING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631132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58083" y="144363"/>
            <a:ext cx="12608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 for Understanding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085552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 FOR UNDERSTANDING · 检查理解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1304627"/>
            <a:ext cx="1098519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Think first — answers on next slide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1101" y="2025253"/>
            <a:ext cx="10769798" cy="854422"/>
          </a:xfrm>
          <a:prstGeom prst="roundRect">
            <a:avLst>
              <a:gd name="adj" fmla="val 14864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49226" y="2212479"/>
            <a:ext cx="393650" cy="393650"/>
          </a:xfrm>
          <a:prstGeom prst="roundRect">
            <a:avLst>
              <a:gd name="adj" fmla="val 232288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66205" y="2318742"/>
            <a:ext cx="1627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20577" y="2212479"/>
            <a:ext cx="9916641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Does </a:t>
            </a:r>
            <a:pPr algn="l" indent="0" marL="0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爱好</a:t>
            </a:r>
            <a:pPr algn="l" indent="0" marL="0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contain </a:t>
            </a:r>
            <a:pPr algn="l" indent="0" marL="0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ao</a:t>
            </a:r>
            <a:pPr algn="l" indent="0" marL="0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or </a:t>
            </a:r>
            <a:pPr algn="l" indent="0" marL="0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ou</a:t>
            </a:r>
            <a:pPr algn="l" indent="0" marL="0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20577" y="2511475"/>
            <a:ext cx="99166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hidden — flip to next slide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1101" y="3044726"/>
            <a:ext cx="10769798" cy="854422"/>
          </a:xfrm>
          <a:prstGeom prst="roundRect">
            <a:avLst>
              <a:gd name="adj" fmla="val 14864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49226" y="3231952"/>
            <a:ext cx="393650" cy="393650"/>
          </a:xfrm>
          <a:prstGeom prst="roundRect">
            <a:avLst>
              <a:gd name="adj" fmla="val 232288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54745" y="3338215"/>
            <a:ext cx="1862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20577" y="3231952"/>
            <a:ext cx="9916641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Show me the </a:t>
            </a:r>
            <a:pPr algn="l" indent="0" marL="0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ao</a:t>
            </a:r>
            <a:pPr algn="l" indent="0" marL="0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mouth shape. Now </a:t>
            </a:r>
            <a:pPr algn="l" indent="0" marL="0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ou</a:t>
            </a:r>
            <a:pPr algn="l" indent="0" marL="0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20577" y="3530947"/>
            <a:ext cx="99166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checks — watch student mouths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1101" y="4064198"/>
            <a:ext cx="10769798" cy="1860500"/>
          </a:xfrm>
          <a:prstGeom prst="roundRect">
            <a:avLst>
              <a:gd name="adj" fmla="val 682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49226" y="4251424"/>
            <a:ext cx="393650" cy="393650"/>
          </a:xfrm>
          <a:prstGeom prst="roundRect">
            <a:avLst>
              <a:gd name="adj" fmla="val 232288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54298" y="4357688"/>
            <a:ext cx="1870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20577" y="4251424"/>
            <a:ext cx="9916641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</a:t>
            </a:r>
            <a:pPr algn="l" indent="0" marL="0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pPr algn="l" indent="0" marL="0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if ao, </a:t>
            </a:r>
            <a:pPr algn="l" indent="0" marL="0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</a:t>
            </a:r>
            <a:pPr algn="l" indent="0" marL="0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if ou for each character: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20577" y="4575721"/>
            <a:ext cx="672852" cy="1161752"/>
          </a:xfrm>
          <a:prstGeom prst="roundRect">
            <a:avLst>
              <a:gd name="adj" fmla="val 151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729978" y="4686746"/>
            <a:ext cx="25913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告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755428" y="5077271"/>
            <a:ext cx="2072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gào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707803" y="5328047"/>
            <a:ext cx="298400" cy="298400"/>
          </a:xfrm>
          <a:prstGeom prst="roundRect">
            <a:avLst>
              <a:gd name="adj" fmla="val 306434"/>
            </a:avLst>
          </a:prstGeom>
          <a:noFill/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816298" y="5377160"/>
            <a:ext cx="828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20379" y="4575721"/>
            <a:ext cx="672852" cy="1161752"/>
          </a:xfrm>
          <a:prstGeom prst="roundRect">
            <a:avLst>
              <a:gd name="adj" fmla="val 151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529780" y="4686746"/>
            <a:ext cx="25913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562523" y="5077271"/>
            <a:ext cx="1921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zǒu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507605" y="5328047"/>
            <a:ext cx="298400" cy="298400"/>
          </a:xfrm>
          <a:prstGeom prst="roundRect">
            <a:avLst>
              <a:gd name="adj" fmla="val 306434"/>
            </a:avLst>
          </a:prstGeom>
          <a:noFill/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616101" y="5377160"/>
            <a:ext cx="828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120182" y="4575721"/>
            <a:ext cx="672852" cy="1161752"/>
          </a:xfrm>
          <a:prstGeom prst="roundRect">
            <a:avLst>
              <a:gd name="adj" fmla="val 151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329583" y="4686746"/>
            <a:ext cx="25913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好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356967" y="5077271"/>
            <a:ext cx="20311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hǎo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07407" y="5328047"/>
            <a:ext cx="298400" cy="298400"/>
          </a:xfrm>
          <a:prstGeom prst="roundRect">
            <a:avLst>
              <a:gd name="adj" fmla="val 306434"/>
            </a:avLst>
          </a:prstGeom>
          <a:noFill/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415903" y="5377160"/>
            <a:ext cx="828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20490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PINYIN ao/ou + LISTENING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631132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58083" y="144363"/>
            <a:ext cx="1254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CFU · Answers Revealed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122908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· 答案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1341983"/>
            <a:ext cx="1098519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检查答案 · Check Your Answers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1101" y="2062609"/>
            <a:ext cx="10769798" cy="841177"/>
          </a:xfrm>
          <a:prstGeom prst="roundRect">
            <a:avLst>
              <a:gd name="adj" fmla="val 1509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49226" y="2237184"/>
            <a:ext cx="393650" cy="393650"/>
          </a:xfrm>
          <a:prstGeom prst="roundRect">
            <a:avLst>
              <a:gd name="adj" fmla="val 232288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66205" y="2343448"/>
            <a:ext cx="1627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20577" y="2237184"/>
            <a:ext cx="99166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Does 爱好 contain ao or ou?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20577" y="2500610"/>
            <a:ext cx="99166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✓   好 hǎo → ao — 爱好 contains ao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1101" y="3068836"/>
            <a:ext cx="10769798" cy="841177"/>
          </a:xfrm>
          <a:prstGeom prst="roundRect">
            <a:avLst>
              <a:gd name="adj" fmla="val 1509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49226" y="3243411"/>
            <a:ext cx="393650" cy="393650"/>
          </a:xfrm>
          <a:prstGeom prst="roundRect">
            <a:avLst>
              <a:gd name="adj" fmla="val 232288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54745" y="3349675"/>
            <a:ext cx="1862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20577" y="3243411"/>
            <a:ext cx="99166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Show me the ao mouth shape. Now ou.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20577" y="3506837"/>
            <a:ext cx="99166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✓   ao → jaw drops wide open  |  ou → lips round and close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1101" y="4075063"/>
            <a:ext cx="10769798" cy="1812429"/>
          </a:xfrm>
          <a:prstGeom prst="roundRect">
            <a:avLst>
              <a:gd name="adj" fmla="val 700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49226" y="4249638"/>
            <a:ext cx="393650" cy="393650"/>
          </a:xfrm>
          <a:prstGeom prst="roundRect">
            <a:avLst>
              <a:gd name="adj" fmla="val 232288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54298" y="4355902"/>
            <a:ext cx="1870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20577" y="4249638"/>
            <a:ext cx="99166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 if ao, O if ou: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20577" y="4551164"/>
            <a:ext cx="873026" cy="1161752"/>
          </a:xfrm>
          <a:prstGeom prst="roundRect">
            <a:avLst>
              <a:gd name="adj" fmla="val 11638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829991" y="4671715"/>
            <a:ext cx="25913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告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717328" y="5062240"/>
            <a:ext cx="48911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gào · ao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17340" y="5313015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907084" y="5352604"/>
            <a:ext cx="1018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20553" y="4551164"/>
            <a:ext cx="858441" cy="1161752"/>
          </a:xfrm>
          <a:prstGeom prst="roundRect">
            <a:avLst>
              <a:gd name="adj" fmla="val 11835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822674" y="4671715"/>
            <a:ext cx="25913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717304" y="5062240"/>
            <a:ext cx="4742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zǒu · ou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810024" y="5313015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893368" y="5352604"/>
            <a:ext cx="1147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05944" y="4551164"/>
            <a:ext cx="869007" cy="1161752"/>
          </a:xfrm>
          <a:prstGeom prst="roundRect">
            <a:avLst>
              <a:gd name="adj" fmla="val 11692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813423" y="4671715"/>
            <a:ext cx="25913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好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702695" y="5062240"/>
            <a:ext cx="4850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hǎo · ao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800773" y="5313015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890516" y="5352604"/>
            <a:ext cx="1018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20490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PINYIN ao/ou + LISTENING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631132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58083" y="144363"/>
            <a:ext cx="1216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CD Track 32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82526"/>
            <a:ext cx="1515368" cy="244376"/>
          </a:xfrm>
          <a:prstGeom prst="roundRect">
            <a:avLst>
              <a:gd name="adj" fmla="val 5191713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402" y="733276"/>
            <a:ext cx="11831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 1 · LISTENING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26469" y="609451"/>
            <a:ext cx="404422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听力练习 · ao / ou Tick Exercise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756553" y="653951"/>
            <a:ext cx="876746" cy="301526"/>
          </a:xfrm>
          <a:prstGeom prst="roundRect">
            <a:avLst>
              <a:gd name="adj" fmla="val 4207697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943779" y="714226"/>
            <a:ext cx="5123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8701" y="1126927"/>
            <a:ext cx="4161681" cy="3504307"/>
          </a:xfrm>
          <a:prstGeom prst="roundRect">
            <a:avLst>
              <a:gd name="adj" fmla="val 3624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434679" y="1823591"/>
            <a:ext cx="417767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💿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287935" y="2331541"/>
            <a:ext cx="7171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CD TRACK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353568" y="2575917"/>
            <a:ext cx="58338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32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1882872" y="3287018"/>
            <a:ext cx="15131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Book 2 · Unit 3 · Act. 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23815" y="3569494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588716" y="3569494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753618" y="3569494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431554" y="3772495"/>
            <a:ext cx="4241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plays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74282" y="1126927"/>
            <a:ext cx="67921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to do: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74282" y="1463427"/>
            <a:ext cx="6659017" cy="476250"/>
          </a:xfrm>
          <a:prstGeom prst="roundRect">
            <a:avLst>
              <a:gd name="adj" fmla="val 2133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161508" y="1587252"/>
            <a:ext cx="1748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1️⃣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59909" y="1587252"/>
            <a:ext cx="259798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you will hear pairs of words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74282" y="2028527"/>
            <a:ext cx="6659017" cy="476250"/>
          </a:xfrm>
          <a:prstGeom prst="roundRect">
            <a:avLst>
              <a:gd name="adj" fmla="val 2133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161508" y="2152352"/>
            <a:ext cx="1748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2️⃣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59909" y="2152352"/>
            <a:ext cx="381242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Tick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the column — 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ao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or 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ou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for each word you hear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74282" y="2593628"/>
            <a:ext cx="6659017" cy="476250"/>
          </a:xfrm>
          <a:prstGeom prst="roundRect">
            <a:avLst>
              <a:gd name="adj" fmla="val 2133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161508" y="2717453"/>
            <a:ext cx="1748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3️⃣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59909" y="2717453"/>
            <a:ext cx="376703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your answers with your partner after all 3 plays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74282" y="3196828"/>
            <a:ext cx="6659017" cy="1434405"/>
          </a:xfrm>
          <a:prstGeom prst="roundRect">
            <a:avLst>
              <a:gd name="adj" fmla="val 7083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161508" y="3333304"/>
            <a:ext cx="64102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 FORMAT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8701" y="4758184"/>
            <a:ext cx="3606850" cy="572691"/>
          </a:xfrm>
          <a:prstGeom prst="roundRect">
            <a:avLst>
              <a:gd name="adj" fmla="val 1774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11101" y="4872484"/>
            <a:ext cx="33680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11101" y="5056584"/>
            <a:ext cx="33680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ao &amp; ou on board with mouth shape reminder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292501" y="4758184"/>
            <a:ext cx="3606850" cy="572691"/>
          </a:xfrm>
          <a:prstGeom prst="roundRect">
            <a:avLst>
              <a:gd name="adj" fmla="val 1774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444901" y="4872484"/>
            <a:ext cx="33680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444901" y="5056584"/>
            <a:ext cx="33680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one word of your own for each sound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026301" y="4758184"/>
            <a:ext cx="3606998" cy="572691"/>
          </a:xfrm>
          <a:prstGeom prst="roundRect">
            <a:avLst>
              <a:gd name="adj" fmla="val 1774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8178701" y="4872484"/>
            <a:ext cx="33682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8178701" y="5056584"/>
            <a:ext cx="33682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finger = ao · 2 fingers = ou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20490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PINYIN ao/ou + LISTENING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631132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58083" y="144363"/>
            <a:ext cx="11479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Speed Drill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38175"/>
            <a:ext cx="1237357" cy="244376"/>
          </a:xfrm>
          <a:prstGeom prst="roundRect">
            <a:avLst>
              <a:gd name="adj" fmla="val 5191713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402" y="688925"/>
            <a:ext cx="8995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 2 · DRILL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948458" y="584150"/>
            <a:ext cx="494306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最小对比速度练习 · Minimal Pairs at Speed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57446" y="609600"/>
            <a:ext cx="875854" cy="301526"/>
          </a:xfrm>
          <a:prstGeom prst="roundRect">
            <a:avLst>
              <a:gd name="adj" fmla="val 4207697"/>
            </a:avLst>
          </a:prstGeom>
          <a:solidFill>
            <a:srgbClr val="F8F0DF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944671" y="669875"/>
            <a:ext cx="5114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5 min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8701" y="1038076"/>
            <a:ext cx="112960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 each word at </a:t>
            </a:r>
            <a:pPr algn="l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natural pace</a:t>
            </a:r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write </a:t>
            </a:r>
            <a:pPr algn="l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ao</a:t>
            </a:r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or </a:t>
            </a:r>
            <a:pPr algn="l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ou</a:t>
            </a:r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 whiteboard → hold up.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8701" y="1346002"/>
            <a:ext cx="2123480" cy="1098352"/>
          </a:xfrm>
          <a:prstGeom prst="roundRect">
            <a:avLst>
              <a:gd name="adj" fmla="val 10406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594247" y="1492002"/>
            <a:ext cx="532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429941" y="1685627"/>
            <a:ext cx="388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好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508373" y="2117378"/>
            <a:ext cx="2286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hǎo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96480" y="1346002"/>
            <a:ext cx="2123480" cy="1098352"/>
          </a:xfrm>
          <a:prstGeom prst="roundRect">
            <a:avLst>
              <a:gd name="adj" fmla="val 10406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822799" y="1492002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67720" y="1685627"/>
            <a:ext cx="388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后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743920" y="2117378"/>
            <a:ext cx="2331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hòu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34260" y="1346002"/>
            <a:ext cx="2123480" cy="1098352"/>
          </a:xfrm>
          <a:prstGeom prst="roundRect">
            <a:avLst>
              <a:gd name="adj" fmla="val 10406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60430" y="1492002"/>
            <a:ext cx="725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905500" y="1685627"/>
            <a:ext cx="388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到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982146" y="2117378"/>
            <a:ext cx="2321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dào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72040" y="1346002"/>
            <a:ext cx="2123480" cy="1098352"/>
          </a:xfrm>
          <a:prstGeom prst="roundRect">
            <a:avLst>
              <a:gd name="adj" fmla="val 10406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297763" y="1492002"/>
            <a:ext cx="73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143280" y="1685627"/>
            <a:ext cx="388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8217843" y="2117378"/>
            <a:ext cx="2365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dòu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509820" y="1346002"/>
            <a:ext cx="2123480" cy="1098352"/>
          </a:xfrm>
          <a:prstGeom prst="roundRect">
            <a:avLst>
              <a:gd name="adj" fmla="val 10406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0535989" y="1492002"/>
            <a:ext cx="724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381059" y="1685627"/>
            <a:ext cx="388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高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10457706" y="2117378"/>
            <a:ext cx="2321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gāo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8701" y="2558653"/>
            <a:ext cx="2123480" cy="1098352"/>
          </a:xfrm>
          <a:prstGeom prst="roundRect">
            <a:avLst>
              <a:gd name="adj" fmla="val 10406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584424" y="2704654"/>
            <a:ext cx="734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429941" y="2898279"/>
            <a:ext cx="388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头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1519535" y="3330029"/>
            <a:ext cx="2056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tóu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96480" y="2558653"/>
            <a:ext cx="2123480" cy="1098352"/>
          </a:xfrm>
          <a:prstGeom prst="roundRect">
            <a:avLst>
              <a:gd name="adj" fmla="val 10406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825032" y="2704654"/>
            <a:ext cx="675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667720" y="2898279"/>
            <a:ext cx="388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包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3744367" y="3330029"/>
            <a:ext cx="2321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bāo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34260" y="2558653"/>
            <a:ext cx="2123480" cy="1098352"/>
          </a:xfrm>
          <a:prstGeom prst="roundRect">
            <a:avLst>
              <a:gd name="adj" fmla="val 10406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060132" y="2704654"/>
            <a:ext cx="731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905500" y="2898279"/>
            <a:ext cx="388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口</a:t>
            </a:r>
            <a:endParaRPr lang="en-US" sz="3000" dirty="0"/>
          </a:p>
        </p:txBody>
      </p:sp>
      <p:sp>
        <p:nvSpPr>
          <p:cNvPr id="44" name="Text 42"/>
          <p:cNvSpPr/>
          <p:nvPr/>
        </p:nvSpPr>
        <p:spPr>
          <a:xfrm>
            <a:off x="5983188" y="3330029"/>
            <a:ext cx="22998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kǒu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272040" y="2558653"/>
            <a:ext cx="2123480" cy="1098352"/>
          </a:xfrm>
          <a:prstGeom prst="roundRect">
            <a:avLst>
              <a:gd name="adj" fmla="val 10406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8297763" y="2704654"/>
            <a:ext cx="734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143280" y="2898279"/>
            <a:ext cx="388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草</a:t>
            </a:r>
            <a:endParaRPr lang="en-US" sz="3000" dirty="0"/>
          </a:p>
        </p:txBody>
      </p:sp>
      <p:sp>
        <p:nvSpPr>
          <p:cNvPr id="48" name="Text 46"/>
          <p:cNvSpPr/>
          <p:nvPr/>
        </p:nvSpPr>
        <p:spPr>
          <a:xfrm>
            <a:off x="8222605" y="3330029"/>
            <a:ext cx="2267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cǎo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509820" y="2558653"/>
            <a:ext cx="2123480" cy="1098352"/>
          </a:xfrm>
          <a:prstGeom prst="roundRect">
            <a:avLst>
              <a:gd name="adj" fmla="val 10406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0509349" y="2704654"/>
            <a:ext cx="1267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0381059" y="2898279"/>
            <a:ext cx="388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</a:t>
            </a:r>
            <a:endParaRPr lang="en-US" sz="3000" dirty="0"/>
          </a:p>
        </p:txBody>
      </p:sp>
      <p:sp>
        <p:nvSpPr>
          <p:cNvPr id="52" name="Text 50"/>
          <p:cNvSpPr/>
          <p:nvPr/>
        </p:nvSpPr>
        <p:spPr>
          <a:xfrm>
            <a:off x="10461724" y="3330029"/>
            <a:ext cx="2240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zǒu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58701" y="3783955"/>
            <a:ext cx="5473750" cy="652611"/>
          </a:xfrm>
          <a:prstGeom prst="roundRect">
            <a:avLst>
              <a:gd name="adj" fmla="val 1556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771376" y="3920430"/>
            <a:ext cx="51493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1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71376" y="4104531"/>
            <a:ext cx="5149367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ao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or 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ou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 whiteboard → hold up after each word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159401" y="3783955"/>
            <a:ext cx="5473898" cy="652611"/>
          </a:xfrm>
          <a:prstGeom prst="roundRect">
            <a:avLst>
              <a:gd name="adj" fmla="val 1556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372076" y="3920430"/>
            <a:ext cx="5149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SPEED ROUND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372076" y="4104531"/>
            <a:ext cx="514951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Shout 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ao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or 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ou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out loud — no writing, fastest wins!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58701" y="4563517"/>
            <a:ext cx="3606850" cy="572691"/>
          </a:xfrm>
          <a:prstGeom prst="roundRect">
            <a:avLst>
              <a:gd name="adj" fmla="val 1774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11101" y="4677817"/>
            <a:ext cx="33680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11101" y="4861917"/>
            <a:ext cx="33680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Mouth shapes (ao / ou) remain visible on board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292501" y="4563517"/>
            <a:ext cx="3606850" cy="572691"/>
          </a:xfrm>
          <a:prstGeom prst="roundRect">
            <a:avLst>
              <a:gd name="adj" fmla="val 1774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4444901" y="4677817"/>
            <a:ext cx="33680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444901" y="4861917"/>
            <a:ext cx="33680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Call out your own word — partner identifies ao or ou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026301" y="4563517"/>
            <a:ext cx="3606998" cy="572691"/>
          </a:xfrm>
          <a:prstGeom prst="roundRect">
            <a:avLst>
              <a:gd name="adj" fmla="val 1774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8178701" y="4677817"/>
            <a:ext cx="33682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178701" y="4861917"/>
            <a:ext cx="33682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responds after every word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20490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PINYIN ao/ou + LISTENING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631132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58083" y="144363"/>
            <a:ext cx="12359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 · CD Track 33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38175"/>
            <a:ext cx="1534418" cy="244376"/>
          </a:xfrm>
          <a:prstGeom prst="roundRect">
            <a:avLst>
              <a:gd name="adj" fmla="val 5191713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402" y="688925"/>
            <a:ext cx="12025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 3 · LISTENING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45519" y="584150"/>
            <a:ext cx="343458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听力练习 · Listen &amp; Tick Grid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56553" y="609600"/>
            <a:ext cx="876746" cy="301526"/>
          </a:xfrm>
          <a:prstGeom prst="roundRect">
            <a:avLst>
              <a:gd name="adj" fmla="val 4207697"/>
            </a:avLst>
          </a:prstGeom>
          <a:solidFill>
            <a:srgbClr val="FBF1F0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943779" y="669875"/>
            <a:ext cx="5123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8701" y="1063526"/>
            <a:ext cx="2286000" cy="2986832"/>
          </a:xfrm>
          <a:prstGeom prst="roundRect">
            <a:avLst>
              <a:gd name="adj" fmla="val 5556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25488" y="1593503"/>
            <a:ext cx="359474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💿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50169" y="2037904"/>
            <a:ext cx="7171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CD TRACK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439614" y="2269629"/>
            <a:ext cx="534656" cy="55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33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018885" y="2917329"/>
            <a:ext cx="13654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Book 2 · Unit 3 · Act. 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86049" y="3168104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650950" y="3168104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815852" y="3168104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493788" y="3358455"/>
            <a:ext cx="4241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plays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98602" y="1063526"/>
            <a:ext cx="87053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→ </a:t>
            </a:r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tick one choice (A / B / C)</a:t>
            </a:r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for each box → check after 3 plays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98602" y="1377851"/>
            <a:ext cx="2760166" cy="1272778"/>
          </a:xfrm>
          <a:prstGeom prst="roundRect">
            <a:avLst>
              <a:gd name="adj" fmla="val 8980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295352" y="1523851"/>
            <a:ext cx="24139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BOX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95352" y="1787277"/>
            <a:ext cx="631924" cy="381000"/>
          </a:xfrm>
          <a:prstGeom prst="roundRect">
            <a:avLst>
              <a:gd name="adj" fmla="val 200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376473" y="1873002"/>
            <a:ext cx="4696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016127" y="1896814"/>
            <a:ext cx="589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62723" y="1787277"/>
            <a:ext cx="631924" cy="381000"/>
          </a:xfrm>
          <a:prstGeom prst="roundRect">
            <a:avLst>
              <a:gd name="adj" fmla="val 200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243843" y="1873002"/>
            <a:ext cx="4696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83497" y="1896814"/>
            <a:ext cx="589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30093" y="1787277"/>
            <a:ext cx="631924" cy="381000"/>
          </a:xfrm>
          <a:prstGeom prst="roundRect">
            <a:avLst>
              <a:gd name="adj" fmla="val 200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111213" y="1873002"/>
            <a:ext cx="4696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95352" y="2274540"/>
            <a:ext cx="2366665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5352" y="2342704"/>
            <a:ext cx="24139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Tick your answer ↑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85718" y="1377851"/>
            <a:ext cx="2760315" cy="1272778"/>
          </a:xfrm>
          <a:prstGeom prst="roundRect">
            <a:avLst>
              <a:gd name="adj" fmla="val 8980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82469" y="1523851"/>
            <a:ext cx="24141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BOX 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82469" y="1787277"/>
            <a:ext cx="631924" cy="381000"/>
          </a:xfrm>
          <a:prstGeom prst="roundRect">
            <a:avLst>
              <a:gd name="adj" fmla="val 200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263589" y="1873002"/>
            <a:ext cx="4696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03244" y="1896814"/>
            <a:ext cx="589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049839" y="1787277"/>
            <a:ext cx="632073" cy="381000"/>
          </a:xfrm>
          <a:prstGeom prst="roundRect">
            <a:avLst>
              <a:gd name="adj" fmla="val 200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130958" y="1873002"/>
            <a:ext cx="4698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770763" y="1896814"/>
            <a:ext cx="589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917359" y="1787277"/>
            <a:ext cx="631924" cy="381000"/>
          </a:xfrm>
          <a:prstGeom prst="roundRect">
            <a:avLst>
              <a:gd name="adj" fmla="val 200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998479" y="1873002"/>
            <a:ext cx="4696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182469" y="2274540"/>
            <a:ext cx="2366814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82469" y="2342704"/>
            <a:ext cx="24141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Tick your answer ↑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872984" y="1377851"/>
            <a:ext cx="2760166" cy="1272778"/>
          </a:xfrm>
          <a:prstGeom prst="roundRect">
            <a:avLst>
              <a:gd name="adj" fmla="val 8980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9069735" y="1523851"/>
            <a:ext cx="24139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BOX 3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069735" y="1787277"/>
            <a:ext cx="631924" cy="381000"/>
          </a:xfrm>
          <a:prstGeom prst="roundRect">
            <a:avLst>
              <a:gd name="adj" fmla="val 200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9150855" y="1873002"/>
            <a:ext cx="4696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790509" y="1896814"/>
            <a:ext cx="589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937105" y="1787277"/>
            <a:ext cx="631924" cy="381000"/>
          </a:xfrm>
          <a:prstGeom prst="roundRect">
            <a:avLst>
              <a:gd name="adj" fmla="val 200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10018225" y="1873002"/>
            <a:ext cx="4696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0657880" y="1896814"/>
            <a:ext cx="589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804475" y="1787277"/>
            <a:ext cx="631924" cy="381000"/>
          </a:xfrm>
          <a:prstGeom prst="roundRect">
            <a:avLst>
              <a:gd name="adj" fmla="val 200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10885596" y="1873002"/>
            <a:ext cx="4696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9069735" y="2274540"/>
            <a:ext cx="2366665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069735" y="2342704"/>
            <a:ext cx="24139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Tick your answer ↑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098602" y="2777579"/>
            <a:ext cx="2760166" cy="1272778"/>
          </a:xfrm>
          <a:prstGeom prst="roundRect">
            <a:avLst>
              <a:gd name="adj" fmla="val 8980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3295352" y="2923580"/>
            <a:ext cx="24139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BOX 4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295352" y="3187005"/>
            <a:ext cx="631924" cy="381000"/>
          </a:xfrm>
          <a:prstGeom prst="roundRect">
            <a:avLst>
              <a:gd name="adj" fmla="val 200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3376473" y="3272730"/>
            <a:ext cx="4696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4016127" y="3296543"/>
            <a:ext cx="589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162723" y="3187005"/>
            <a:ext cx="631924" cy="381000"/>
          </a:xfrm>
          <a:prstGeom prst="roundRect">
            <a:avLst>
              <a:gd name="adj" fmla="val 200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4243843" y="3272730"/>
            <a:ext cx="4696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4883497" y="3296543"/>
            <a:ext cx="589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030093" y="3187005"/>
            <a:ext cx="631924" cy="381000"/>
          </a:xfrm>
          <a:prstGeom prst="roundRect">
            <a:avLst>
              <a:gd name="adj" fmla="val 200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5111213" y="3272730"/>
            <a:ext cx="4696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3295352" y="3674269"/>
            <a:ext cx="2366665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95352" y="3742432"/>
            <a:ext cx="24139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Tick your answer ↑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985718" y="2777579"/>
            <a:ext cx="2760315" cy="1272778"/>
          </a:xfrm>
          <a:prstGeom prst="roundRect">
            <a:avLst>
              <a:gd name="adj" fmla="val 8980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6182469" y="2923580"/>
            <a:ext cx="24141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BOX 5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182469" y="3187005"/>
            <a:ext cx="631924" cy="381000"/>
          </a:xfrm>
          <a:prstGeom prst="roundRect">
            <a:avLst>
              <a:gd name="adj" fmla="val 200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6263589" y="3272730"/>
            <a:ext cx="4696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6903244" y="3296543"/>
            <a:ext cx="589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7049839" y="3187005"/>
            <a:ext cx="632073" cy="381000"/>
          </a:xfrm>
          <a:prstGeom prst="roundRect">
            <a:avLst>
              <a:gd name="adj" fmla="val 200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7130958" y="3272730"/>
            <a:ext cx="4698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7770763" y="3296543"/>
            <a:ext cx="589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7917359" y="3187005"/>
            <a:ext cx="631924" cy="381000"/>
          </a:xfrm>
          <a:prstGeom prst="roundRect">
            <a:avLst>
              <a:gd name="adj" fmla="val 200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7998479" y="3272730"/>
            <a:ext cx="4696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6182469" y="3674269"/>
            <a:ext cx="2366814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182469" y="3742432"/>
            <a:ext cx="24141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Tick your answer ↑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8872984" y="2777579"/>
            <a:ext cx="2760166" cy="1272778"/>
          </a:xfrm>
          <a:prstGeom prst="roundRect">
            <a:avLst>
              <a:gd name="adj" fmla="val 8980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9069735" y="2923580"/>
            <a:ext cx="24139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BOX 6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9069735" y="3187005"/>
            <a:ext cx="631924" cy="381000"/>
          </a:xfrm>
          <a:prstGeom prst="roundRect">
            <a:avLst>
              <a:gd name="adj" fmla="val 200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83"/>
          <p:cNvSpPr/>
          <p:nvPr/>
        </p:nvSpPr>
        <p:spPr>
          <a:xfrm>
            <a:off x="9150855" y="3272730"/>
            <a:ext cx="4696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9790509" y="3296543"/>
            <a:ext cx="589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9937105" y="3187005"/>
            <a:ext cx="631924" cy="381000"/>
          </a:xfrm>
          <a:prstGeom prst="roundRect">
            <a:avLst>
              <a:gd name="adj" fmla="val 200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86"/>
          <p:cNvSpPr/>
          <p:nvPr/>
        </p:nvSpPr>
        <p:spPr>
          <a:xfrm>
            <a:off x="10018225" y="3272730"/>
            <a:ext cx="4696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10657880" y="3296543"/>
            <a:ext cx="589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10804475" y="3187005"/>
            <a:ext cx="631924" cy="381000"/>
          </a:xfrm>
          <a:prstGeom prst="roundRect">
            <a:avLst>
              <a:gd name="adj" fmla="val 20000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10885596" y="3272730"/>
            <a:ext cx="4696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9069735" y="3674269"/>
            <a:ext cx="2366665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069735" y="3742432"/>
            <a:ext cx="24139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Tick your answer ↑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558701" y="4177308"/>
            <a:ext cx="3606850" cy="572691"/>
          </a:xfrm>
          <a:prstGeom prst="roundRect">
            <a:avLst>
              <a:gd name="adj" fmla="val 1774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711101" y="4291608"/>
            <a:ext cx="33680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711101" y="4475708"/>
            <a:ext cx="33680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Pre-teach any unfamiliar vocabulary before playing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4292501" y="4177308"/>
            <a:ext cx="3606850" cy="572691"/>
          </a:xfrm>
          <a:prstGeom prst="roundRect">
            <a:avLst>
              <a:gd name="adj" fmla="val 1774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6"/>
          <p:cNvSpPr/>
          <p:nvPr/>
        </p:nvSpPr>
        <p:spPr>
          <a:xfrm>
            <a:off x="4444901" y="4291608"/>
            <a:ext cx="33680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4444901" y="4475708"/>
            <a:ext cx="33680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 full Chinese sentence for 2 of the boxes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8026301" y="4177308"/>
            <a:ext cx="3606998" cy="572691"/>
          </a:xfrm>
          <a:prstGeom prst="roundRect">
            <a:avLst>
              <a:gd name="adj" fmla="val 1774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Text 99"/>
          <p:cNvSpPr/>
          <p:nvPr/>
        </p:nvSpPr>
        <p:spPr>
          <a:xfrm>
            <a:off x="8178701" y="4291608"/>
            <a:ext cx="33682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8178701" y="4475708"/>
            <a:ext cx="33682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Call out A, B, or C aloud after each box is checked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20490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PINYIN ao/ou + LISTENING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631132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58083" y="144363"/>
            <a:ext cx="12145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4 · Chain Game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38175"/>
            <a:ext cx="1505545" cy="244376"/>
          </a:xfrm>
          <a:prstGeom prst="roundRect">
            <a:avLst>
              <a:gd name="adj" fmla="val 5191713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402" y="688925"/>
            <a:ext cx="11731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 4 · SPEAKING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16646" y="584150"/>
            <a:ext cx="376946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接龙游戏 · Chain Game · Act. 7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57446" y="609600"/>
            <a:ext cx="875854" cy="301526"/>
          </a:xfrm>
          <a:prstGeom prst="roundRect">
            <a:avLst>
              <a:gd name="adj" fmla="val 4207697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944671" y="669875"/>
            <a:ext cx="5114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5 min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8701" y="1038076"/>
            <a:ext cx="3606850" cy="564654"/>
          </a:xfrm>
          <a:prstGeom prst="roundRect">
            <a:avLst>
              <a:gd name="adj" fmla="val 1799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5927" y="1149102"/>
            <a:ext cx="3297046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📖 Category: </a:t>
            </a:r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hobby words → then duration phrases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2501" y="1038076"/>
            <a:ext cx="3606998" cy="564654"/>
          </a:xfrm>
          <a:prstGeom prst="roundRect">
            <a:avLst>
              <a:gd name="adj" fmla="val 1799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79727" y="1149102"/>
            <a:ext cx="3297198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⛓ Add one word each — </a:t>
            </a:r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build the chain!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26450" y="1038076"/>
            <a:ext cx="3606850" cy="564654"/>
          </a:xfrm>
          <a:prstGeom prst="roundRect">
            <a:avLst>
              <a:gd name="adj" fmla="val 1799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13675" y="1149102"/>
            <a:ext cx="3297046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</a:t>
            </a:r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seconds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or you're out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8701" y="1945481"/>
            <a:ext cx="5435650" cy="0"/>
          </a:xfrm>
          <a:prstGeom prst="line">
            <a:avLst/>
          </a:prstGeom>
          <a:noFill/>
          <a:ln w="19050">
            <a:solidFill>
              <a:srgbClr val="3A7D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8701" y="1729680"/>
            <a:ext cx="55443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爱好词汇 · Hobby Words (word bank)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58701" y="2069306"/>
            <a:ext cx="874812" cy="495151"/>
          </a:xfrm>
          <a:prstGeom prst="roundRect">
            <a:avLst>
              <a:gd name="adj" fmla="val 20519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48457" y="2155031"/>
            <a:ext cx="505206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弹钢琴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0626" y="2345382"/>
            <a:ext cx="5619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tán gāngqín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522363" y="2069306"/>
            <a:ext cx="750838" cy="495151"/>
          </a:xfrm>
          <a:prstGeom prst="roundRect">
            <a:avLst>
              <a:gd name="adj" fmla="val 20519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732657" y="2155031"/>
            <a:ext cx="336855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唱歌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84288" y="2345382"/>
            <a:ext cx="4355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chàng gē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362051" y="2069306"/>
            <a:ext cx="860227" cy="495151"/>
          </a:xfrm>
          <a:prstGeom prst="roundRect">
            <a:avLst>
              <a:gd name="adj" fmla="val 20519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544514" y="2155031"/>
            <a:ext cx="505206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听音乐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523976" y="2345382"/>
            <a:ext cx="5471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tīng yīnyuè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311128" y="2069306"/>
            <a:ext cx="654100" cy="495151"/>
          </a:xfrm>
          <a:prstGeom prst="roundRect">
            <a:avLst>
              <a:gd name="adj" fmla="val 20519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473053" y="2155031"/>
            <a:ext cx="336855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读书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79453" y="2345382"/>
            <a:ext cx="3237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dú shū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054078" y="2069306"/>
            <a:ext cx="853380" cy="495151"/>
          </a:xfrm>
          <a:prstGeom prst="roundRect">
            <a:avLst>
              <a:gd name="adj" fmla="val 20519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233118" y="2155031"/>
            <a:ext cx="505206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看电视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216003" y="2345382"/>
            <a:ext cx="5401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kàn diànshì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996309" y="2069306"/>
            <a:ext cx="819150" cy="495151"/>
          </a:xfrm>
          <a:prstGeom prst="roundRect">
            <a:avLst>
              <a:gd name="adj" fmla="val 20519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158234" y="2155031"/>
            <a:ext cx="505206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画画儿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03478" y="2345382"/>
            <a:ext cx="4127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huà huàr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58701" y="2653308"/>
            <a:ext cx="667792" cy="495151"/>
          </a:xfrm>
          <a:prstGeom prst="roundRect">
            <a:avLst>
              <a:gd name="adj" fmla="val 20519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27472" y="2739033"/>
            <a:ext cx="336855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跳舞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20626" y="2929384"/>
            <a:ext cx="3508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tiào wǔ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315343" y="2653308"/>
            <a:ext cx="819150" cy="495151"/>
          </a:xfrm>
          <a:prstGeom prst="roundRect">
            <a:avLst>
              <a:gd name="adj" fmla="val 20519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477268" y="2739033"/>
            <a:ext cx="505206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踢足球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543199" y="2929384"/>
            <a:ext cx="3707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tī zúqiú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223343" y="2653308"/>
            <a:ext cx="819150" cy="495151"/>
          </a:xfrm>
          <a:prstGeom prst="roundRect">
            <a:avLst>
              <a:gd name="adj" fmla="val 20519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2385268" y="2739033"/>
            <a:ext cx="505206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打篮球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419499" y="2929384"/>
            <a:ext cx="4353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dǎ lánqiú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131344" y="2653308"/>
            <a:ext cx="654100" cy="495151"/>
          </a:xfrm>
          <a:prstGeom prst="roundRect">
            <a:avLst>
              <a:gd name="adj" fmla="val 20519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293269" y="2739033"/>
            <a:ext cx="336855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下棋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331964" y="2929384"/>
            <a:ext cx="2579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 qí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197501" y="1945481"/>
            <a:ext cx="5435798" cy="0"/>
          </a:xfrm>
          <a:prstGeom prst="line">
            <a:avLst/>
          </a:prstGeom>
          <a:noFill/>
          <a:ln w="19050">
            <a:solidFill>
              <a:srgbClr val="C8943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97501" y="1729680"/>
            <a:ext cx="55445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时间短语 · Duration Phrases (extension)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197501" y="2069306"/>
            <a:ext cx="999679" cy="495151"/>
          </a:xfrm>
          <a:prstGeom prst="roundRect">
            <a:avLst>
              <a:gd name="adj" fmla="val 20519"/>
            </a:avLst>
          </a:prstGeom>
          <a:solidFill>
            <a:srgbClr val="F8F0DF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367165" y="2155031"/>
            <a:ext cx="673557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半个小时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359426" y="2345382"/>
            <a:ext cx="6893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bàn gè xiǎoshí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286030" y="2069306"/>
            <a:ext cx="984200" cy="495151"/>
          </a:xfrm>
          <a:prstGeom prst="roundRect">
            <a:avLst>
              <a:gd name="adj" fmla="val 20519"/>
            </a:avLst>
          </a:prstGeom>
          <a:solidFill>
            <a:srgbClr val="F8F0DF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7447955" y="2155031"/>
            <a:ext cx="673557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一个小时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7478911" y="2345382"/>
            <a:ext cx="6104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yī gè xiǎoshí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8359080" y="2069306"/>
            <a:ext cx="1053703" cy="495151"/>
          </a:xfrm>
          <a:prstGeom prst="roundRect">
            <a:avLst>
              <a:gd name="adj" fmla="val 20519"/>
            </a:avLst>
          </a:prstGeom>
          <a:solidFill>
            <a:srgbClr val="F8F0DF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8555682" y="2155031"/>
            <a:ext cx="673557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两个小时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8521005" y="2345382"/>
            <a:ext cx="7444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liǎng gè xiǎoshí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9501634" y="2069306"/>
            <a:ext cx="871091" cy="495151"/>
          </a:xfrm>
          <a:prstGeom prst="roundRect">
            <a:avLst>
              <a:gd name="adj" fmla="val 20519"/>
            </a:avLst>
          </a:prstGeom>
          <a:solidFill>
            <a:srgbClr val="F8F0DF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9689455" y="2155031"/>
            <a:ext cx="505206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一刻钟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9663559" y="2345382"/>
            <a:ext cx="5581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yī kè zhōng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10461575" y="2069306"/>
            <a:ext cx="941040" cy="495151"/>
          </a:xfrm>
          <a:prstGeom prst="roundRect">
            <a:avLst>
              <a:gd name="adj" fmla="val 20519"/>
            </a:avLst>
          </a:prstGeom>
          <a:solidFill>
            <a:srgbClr val="F8F0DF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10684371" y="2155031"/>
            <a:ext cx="505206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三刻钟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10623500" y="2345382"/>
            <a:ext cx="6295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sān kè zhōng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6197501" y="2653308"/>
            <a:ext cx="1149251" cy="495151"/>
          </a:xfrm>
          <a:prstGeom prst="roundRect">
            <a:avLst>
              <a:gd name="adj" fmla="val 20519"/>
            </a:avLst>
          </a:prstGeom>
          <a:solidFill>
            <a:srgbClr val="F8F0DF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6359426" y="2739033"/>
            <a:ext cx="841909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一个半小时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6371481" y="2929384"/>
            <a:ext cx="8173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yī gè bàn xiǎoshí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6197501" y="3313509"/>
            <a:ext cx="5435798" cy="447675"/>
          </a:xfrm>
          <a:prstGeom prst="roundRect">
            <a:avLst>
              <a:gd name="adj" fmla="val 22695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6410176" y="3437334"/>
            <a:ext cx="51106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我每天唱歌</a:t>
            </a:r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两个小时。</a:t>
            </a:r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Extension: full sentence!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558701" y="3888135"/>
            <a:ext cx="3606850" cy="572691"/>
          </a:xfrm>
          <a:prstGeom prst="roundRect">
            <a:avLst>
              <a:gd name="adj" fmla="val 1774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711101" y="4002435"/>
            <a:ext cx="33680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711101" y="4186535"/>
            <a:ext cx="33680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remains visible on this slide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4292501" y="3888135"/>
            <a:ext cx="3606850" cy="572691"/>
          </a:xfrm>
          <a:prstGeom prst="roundRect">
            <a:avLst>
              <a:gd name="adj" fmla="val 1774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4444901" y="4002435"/>
            <a:ext cx="33680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4444901" y="4186535"/>
            <a:ext cx="33680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Say the word AND a full duration sentence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8026301" y="3888135"/>
            <a:ext cx="3606998" cy="572691"/>
          </a:xfrm>
          <a:prstGeom prst="roundRect">
            <a:avLst>
              <a:gd name="adj" fmla="val 1774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8178701" y="4002435"/>
            <a:ext cx="33682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8178701" y="4186535"/>
            <a:ext cx="33682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contributes a word in the chain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20490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PINYIN ao/ou + LISTENING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631132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58083" y="144363"/>
            <a:ext cx="7090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结束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685651"/>
            <a:ext cx="111922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9600" y="891927"/>
            <a:ext cx="1119225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今日总结 · Lesson Wrap-Up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09600" y="1523702"/>
            <a:ext cx="5346650" cy="2974330"/>
          </a:xfrm>
          <a:prstGeom prst="roundRect">
            <a:avLst>
              <a:gd name="adj" fmla="val 427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73026" y="1736378"/>
            <a:ext cx="49161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SUCCESS CRITERIA · CHECK 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73026" y="2117378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34938" y="2155478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90476" y="2117378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52389" y="2155478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07927" y="2117378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569839" y="2155478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01577" y="2050703"/>
            <a:ext cx="386707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hear the difference between ao and ou in spoken Chinese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3026" y="256505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34938" y="2603153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90476" y="256505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52389" y="2603153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07927" y="256505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569839" y="2603153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01577" y="2598390"/>
            <a:ext cx="30725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correctly identify ao / ou in new words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3026" y="3012728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D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34938" y="3050828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90476" y="3012728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252389" y="3050828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507927" y="3012728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569839" y="3050828"/>
            <a:ext cx="145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01577" y="2946053"/>
            <a:ext cx="386707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follow spoken Chinese to tick answers in a listening grid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35601" y="1523702"/>
            <a:ext cx="5346799" cy="2974330"/>
          </a:xfrm>
          <a:prstGeom prst="roundRect">
            <a:avLst>
              <a:gd name="adj" fmla="val 427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499027" y="1736378"/>
            <a:ext cx="49163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 · 出门票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99027" y="2050703"/>
            <a:ext cx="49163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2 Chinese words with </a:t>
            </a:r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ao</a:t>
            </a:r>
            <a:pPr algn="l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2 with </a:t>
            </a:r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ou</a:t>
            </a:r>
            <a:pPr algn="l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99027" y="2387203"/>
            <a:ext cx="2352824" cy="891927"/>
          </a:xfrm>
          <a:prstGeom prst="roundRect">
            <a:avLst>
              <a:gd name="adj" fmla="val 11391"/>
            </a:avLst>
          </a:prstGeom>
          <a:solidFill>
            <a:srgbClr val="FEFCF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357467" y="2507754"/>
            <a:ext cx="6485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AO WORD 1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535614" y="2679204"/>
            <a:ext cx="285089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好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575798" y="2996654"/>
            <a:ext cx="20311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hǎo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966150" y="2387203"/>
            <a:ext cx="2352824" cy="891927"/>
          </a:xfrm>
          <a:prstGeom prst="roundRect">
            <a:avLst>
              <a:gd name="adj" fmla="val 11391"/>
            </a:avLst>
          </a:prstGeom>
          <a:solidFill>
            <a:srgbClr val="FEFCF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9815959" y="2507754"/>
            <a:ext cx="6661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AO WORD 2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0002738" y="2679204"/>
            <a:ext cx="285089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高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10040987" y="2996654"/>
            <a:ext cx="2072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gāo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99027" y="3393430"/>
            <a:ext cx="2352824" cy="891927"/>
          </a:xfrm>
          <a:prstGeom prst="roundRect">
            <a:avLst>
              <a:gd name="adj" fmla="val 11391"/>
            </a:avLst>
          </a:prstGeom>
          <a:solidFill>
            <a:srgbClr val="FEFCF7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355235" y="3513981"/>
            <a:ext cx="6530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OU WORD 1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535614" y="3685431"/>
            <a:ext cx="285089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7581156" y="4002881"/>
            <a:ext cx="1921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zǒu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966150" y="3393430"/>
            <a:ext cx="2352824" cy="891927"/>
          </a:xfrm>
          <a:prstGeom prst="roundRect">
            <a:avLst>
              <a:gd name="adj" fmla="val 11391"/>
            </a:avLst>
          </a:prstGeom>
          <a:solidFill>
            <a:srgbClr val="FEFCF7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9813727" y="3513981"/>
            <a:ext cx="6706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OU WORD 2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0002738" y="3685431"/>
            <a:ext cx="285089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头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0056019" y="4002881"/>
            <a:ext cx="1765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tóu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20490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PINYIN ao/ou + LISTENING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631132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58083" y="144363"/>
            <a:ext cx="11411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 · Next Lesson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93635" y="1335286"/>
            <a:ext cx="200458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 NEXT · 下一课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49410" y="1624161"/>
            <a:ext cx="389303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L5 · 艺术词汇 + 课文二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682244" y="2179737"/>
            <a:ext cx="28273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13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Art &amp; Reading Vocabulary · Text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25625" y="2662238"/>
            <a:ext cx="1746200" cy="984200"/>
          </a:xfrm>
          <a:prstGeom prst="roundRect">
            <a:avLst>
              <a:gd name="adj" fmla="val 11613"/>
            </a:avLst>
          </a:prstGeom>
          <a:solidFill>
            <a:srgbClr val="F8F0DF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51050" y="2824163"/>
            <a:ext cx="1295349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小说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51050" y="3116312"/>
            <a:ext cx="12953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xiǎoshuō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51050" y="3322588"/>
            <a:ext cx="12953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novel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24225" y="2662238"/>
            <a:ext cx="1746200" cy="984200"/>
          </a:xfrm>
          <a:prstGeom prst="roundRect">
            <a:avLst>
              <a:gd name="adj" fmla="val 11613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549650" y="2824163"/>
            <a:ext cx="1295349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杂志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549650" y="3116312"/>
            <a:ext cx="12953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zázhì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49650" y="3322588"/>
            <a:ext cx="12953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magazine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22825" y="2662238"/>
            <a:ext cx="1746200" cy="984200"/>
          </a:xfrm>
          <a:prstGeom prst="roundRect">
            <a:avLst>
              <a:gd name="adj" fmla="val 11613"/>
            </a:avLst>
          </a:prstGeom>
          <a:solidFill>
            <a:srgbClr val="FBF1F0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448251" y="2824163"/>
            <a:ext cx="1295349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画儿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48251" y="3116312"/>
            <a:ext cx="12953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huàr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48251" y="3322588"/>
            <a:ext cx="12953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drawing / painting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21426" y="2662238"/>
            <a:ext cx="1746200" cy="984200"/>
          </a:xfrm>
          <a:prstGeom prst="roundRect">
            <a:avLst>
              <a:gd name="adj" fmla="val 11613"/>
            </a:avLst>
          </a:prstGeom>
          <a:solidFill>
            <a:srgbClr val="F8F0DF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346851" y="2824163"/>
            <a:ext cx="1295349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国画儿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346851" y="3116312"/>
            <a:ext cx="12953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guóhuàr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46851" y="3322588"/>
            <a:ext cx="12953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Chinese painting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020026" y="2662238"/>
            <a:ext cx="1746200" cy="984200"/>
          </a:xfrm>
          <a:prstGeom prst="roundRect">
            <a:avLst>
              <a:gd name="adj" fmla="val 11613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245452" y="2824163"/>
            <a:ext cx="1295349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油画儿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245452" y="3116312"/>
            <a:ext cx="12953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yóuhuàr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245452" y="3322588"/>
            <a:ext cx="12953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oil painting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22825" y="3798838"/>
            <a:ext cx="1746200" cy="984200"/>
          </a:xfrm>
          <a:prstGeom prst="roundRect">
            <a:avLst>
              <a:gd name="adj" fmla="val 11613"/>
            </a:avLst>
          </a:prstGeom>
          <a:solidFill>
            <a:srgbClr val="FBF1F0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448251" y="3960763"/>
            <a:ext cx="1295349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水彩画儿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448251" y="4252913"/>
            <a:ext cx="12953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shuǐcǎihuàr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48251" y="4459188"/>
            <a:ext cx="12953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watercolour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474440" y="5011638"/>
            <a:ext cx="9242971" cy="663476"/>
          </a:xfrm>
          <a:prstGeom prst="roundRect">
            <a:avLst>
              <a:gd name="adj" fmla="val 17227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786479" y="5186214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📖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2195066" y="5242024"/>
            <a:ext cx="8372180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lesson: learn these </a:t>
            </a:r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art vocab words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then read </a:t>
            </a:r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 2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from the book — find out what hobbies the characters enjoy!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2026-06-30T02:51:26Z</dcterms:created>
  <dcterms:modified xsi:type="dcterms:W3CDTF">2026-06-30T02:51:26Z</dcterms:modified>
</cp:coreProperties>
</file>