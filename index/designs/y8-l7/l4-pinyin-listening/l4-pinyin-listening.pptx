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204906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PINYIN ao/ou + LISTENING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631132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2758083" y="144363"/>
            <a:ext cx="6134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Lesson Title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948662" y="1747986"/>
            <a:ext cx="229452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0"/>
              </a:spcAft>
              <a:buNone/>
            </a:pPr>
            <a:r>
              <a:rPr lang="en-US" sz="9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YEAR 8 · UNIT 3 · LESSON 4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385810" y="2163812"/>
            <a:ext cx="1215045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0"/>
              </a:lnSpc>
              <a:buNone/>
            </a:pPr>
            <a:r>
              <a:rPr lang="en-US" sz="9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ao</a:t>
            </a:r>
            <a:endParaRPr lang="en-US" sz="9600" dirty="0"/>
          </a:p>
        </p:txBody>
      </p:sp>
      <p:sp>
        <p:nvSpPr>
          <p:cNvPr id="9" name="Text 7"/>
          <p:cNvSpPr/>
          <p:nvPr/>
        </p:nvSpPr>
        <p:spPr>
          <a:xfrm>
            <a:off x="5941891" y="2416225"/>
            <a:ext cx="265355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/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6547856" y="2163812"/>
            <a:ext cx="1258613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0"/>
              </a:lnSpc>
              <a:buNone/>
            </a:pPr>
            <a:r>
              <a:rPr lang="en-US" sz="96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ou</a:t>
            </a:r>
            <a:endParaRPr lang="en-US" sz="9600" dirty="0"/>
          </a:p>
        </p:txBody>
      </p:sp>
      <p:sp>
        <p:nvSpPr>
          <p:cNvPr id="11" name="Text 9"/>
          <p:cNvSpPr/>
          <p:nvPr/>
        </p:nvSpPr>
        <p:spPr>
          <a:xfrm>
            <a:off x="5588050" y="3509963"/>
            <a:ext cx="1015901" cy="38100"/>
          </a:xfrm>
          <a:prstGeom prst="roundRect">
            <a:avLst>
              <a:gd name="adj" fmla="val 66667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293471" y="3751213"/>
            <a:ext cx="3605058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5B667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拼音辨音 · 听力练习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4374385" y="4332238"/>
            <a:ext cx="344308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800"/>
              </a:spcAft>
              <a:buNone/>
            </a:pPr>
            <a:r>
              <a:rPr lang="en-US" sz="14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Pinyin Distinction &amp; Listening Practice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229868" y="4935438"/>
            <a:ext cx="854125" cy="326827"/>
          </a:xfrm>
          <a:prstGeom prst="roundRect">
            <a:avLst>
              <a:gd name="adj" fmla="val 3881962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3438256" y="5008364"/>
            <a:ext cx="43734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50 min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261693" y="4935438"/>
            <a:ext cx="1317427" cy="326827"/>
          </a:xfrm>
          <a:prstGeom prst="roundRect">
            <a:avLst>
              <a:gd name="adj" fmla="val 3881962"/>
            </a:avLst>
          </a:prstGeom>
          <a:solidFill>
            <a:srgbClr val="EDF3F4"/>
          </a:solidFill>
          <a:ln w="9525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465448" y="5008364"/>
            <a:ext cx="90991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听力 Listening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756821" y="4935438"/>
            <a:ext cx="1402556" cy="326827"/>
          </a:xfrm>
          <a:prstGeom prst="roundRect">
            <a:avLst>
              <a:gd name="adj" fmla="val 3881962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959724" y="5008364"/>
            <a:ext cx="9967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Book 2 · Unit 3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337078" y="4935438"/>
            <a:ext cx="1624905" cy="326827"/>
          </a:xfrm>
          <a:prstGeom prst="roundRect">
            <a:avLst>
              <a:gd name="adj" fmla="val 3881962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7537758" y="5008364"/>
            <a:ext cx="122354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CD Tracks 32 &amp; 33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204906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PINYIN ao/ou + LISTENING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631132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2758083" y="144363"/>
            <a:ext cx="91310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· 0–8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9600" y="660350"/>
            <a:ext cx="1119225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0–8 MIN · MINI WHITEBOARD · DURATION SENTENCES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09600" y="866626"/>
            <a:ext cx="1119225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复习 · Duration Review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09600" y="1371451"/>
            <a:ext cx="1119225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Translate each sentence → write on your whiteboard → hold up.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09600" y="1730127"/>
            <a:ext cx="10972800" cy="577602"/>
          </a:xfrm>
          <a:prstGeom prst="roundRect">
            <a:avLst>
              <a:gd name="adj" fmla="val 19789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22275" y="1879253"/>
            <a:ext cx="279350" cy="279350"/>
          </a:xfrm>
          <a:prstGeom prst="roundRect">
            <a:avLst>
              <a:gd name="adj" fmla="val 327331"/>
            </a:avLst>
          </a:prstGeom>
          <a:solidFill>
            <a:srgbClr val="F8F0D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930325" y="1918841"/>
            <a:ext cx="6436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355527" y="1921073"/>
            <a:ext cx="5016538" cy="19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She sings for 45 minutes every day.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70452" y="1904554"/>
            <a:ext cx="0" cy="228600"/>
          </a:xfrm>
          <a:prstGeom prst="line">
            <a:avLst/>
          </a:prstGeom>
          <a:noFill/>
          <a:ln w="38100">
            <a:solidFill>
              <a:srgbClr val="C8943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16452" y="1904554"/>
            <a:ext cx="48483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她每天唱三刻钟的歌。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09600" y="2422029"/>
            <a:ext cx="10972800" cy="577602"/>
          </a:xfrm>
          <a:prstGeom prst="roundRect">
            <a:avLst>
              <a:gd name="adj" fmla="val 19789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22275" y="2571155"/>
            <a:ext cx="279350" cy="279350"/>
          </a:xfrm>
          <a:prstGeom prst="roundRect">
            <a:avLst>
              <a:gd name="adj" fmla="val 327331"/>
            </a:avLst>
          </a:prstGeom>
          <a:solidFill>
            <a:srgbClr val="F8F0D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917674" y="2610743"/>
            <a:ext cx="9017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355527" y="2612975"/>
            <a:ext cx="5016538" cy="19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He plays piano for 1.5 hours every day.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70452" y="2596455"/>
            <a:ext cx="0" cy="228600"/>
          </a:xfrm>
          <a:prstGeom prst="line">
            <a:avLst/>
          </a:prstGeom>
          <a:noFill/>
          <a:ln w="38100">
            <a:solidFill>
              <a:srgbClr val="C8943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16452" y="2596455"/>
            <a:ext cx="48483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他每天弹一个半小时的钢琴。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09600" y="3113931"/>
            <a:ext cx="10972800" cy="577602"/>
          </a:xfrm>
          <a:prstGeom prst="roundRect">
            <a:avLst>
              <a:gd name="adj" fmla="val 19789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822275" y="3263057"/>
            <a:ext cx="279350" cy="279350"/>
          </a:xfrm>
          <a:prstGeom prst="roundRect">
            <a:avLst>
              <a:gd name="adj" fmla="val 327331"/>
            </a:avLst>
          </a:prstGeom>
          <a:solidFill>
            <a:srgbClr val="F8F0D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917377" y="3302645"/>
            <a:ext cx="9093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355527" y="3304877"/>
            <a:ext cx="5016538" cy="19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watch TV for 2 hours every day.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470452" y="3288357"/>
            <a:ext cx="0" cy="228600"/>
          </a:xfrm>
          <a:prstGeom prst="line">
            <a:avLst/>
          </a:prstGeom>
          <a:noFill/>
          <a:ln w="38100">
            <a:solidFill>
              <a:srgbClr val="C8943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616452" y="3288357"/>
            <a:ext cx="48483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我每天看两个小时的电视。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09600" y="3805833"/>
            <a:ext cx="10972800" cy="577602"/>
          </a:xfrm>
          <a:prstGeom prst="roundRect">
            <a:avLst>
              <a:gd name="adj" fmla="val 19789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822275" y="3954959"/>
            <a:ext cx="279350" cy="279350"/>
          </a:xfrm>
          <a:prstGeom prst="roundRect">
            <a:avLst>
              <a:gd name="adj" fmla="val 327331"/>
            </a:avLst>
          </a:prstGeom>
          <a:solidFill>
            <a:srgbClr val="F8F0D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916781" y="3994547"/>
            <a:ext cx="9199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355527" y="3996779"/>
            <a:ext cx="5016538" cy="19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She reads for half an hour every day.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470452" y="3980259"/>
            <a:ext cx="0" cy="228600"/>
          </a:xfrm>
          <a:prstGeom prst="line">
            <a:avLst/>
          </a:prstGeom>
          <a:noFill/>
          <a:ln w="38100">
            <a:solidFill>
              <a:srgbClr val="C8943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616452" y="3980259"/>
            <a:ext cx="48483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她每天读半个小时的书。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09600" y="4561136"/>
            <a:ext cx="10972800" cy="558701"/>
          </a:xfrm>
          <a:prstGeom prst="roundRect">
            <a:avLst>
              <a:gd name="adj" fmla="val 20458"/>
            </a:avLst>
          </a:prstGeom>
          <a:solidFill>
            <a:srgbClr val="EDF3F4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831800" y="4707136"/>
            <a:ext cx="20402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👂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1184225" y="4742706"/>
            <a:ext cx="5868314" cy="19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Many listening words contain </a:t>
            </a: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ao</a:t>
            </a:r>
            <a:r>
              <a:rPr lang="en-US" sz="11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or </a:t>
            </a: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ou</a:t>
            </a:r>
            <a:r>
              <a:rPr lang="en-US" sz="11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like </a:t>
            </a: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爱好</a:t>
            </a:r>
            <a:r>
              <a:rPr lang="en-US" sz="11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and </a:t>
            </a: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好</a:t>
            </a:r>
            <a:r>
              <a:rPr lang="en-US" sz="11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. Let's sharpen your ear!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204906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PINYIN ao/ou + LISTENING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631132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2758083" y="144363"/>
            <a:ext cx="91098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1614934"/>
            <a:ext cx="109851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8–10 MIN · DISPLAY ON PROJECTOR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1101" y="1859310"/>
            <a:ext cx="10985194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200"/>
              </a:spcAft>
              <a:buNone/>
            </a:pPr>
            <a:r>
              <a:rPr lang="en-US" sz="2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今日目标 · Today's Goal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711101" y="2643485"/>
            <a:ext cx="10769798" cy="1126927"/>
          </a:xfrm>
          <a:prstGeom prst="rect">
            <a:avLst/>
          </a:prstGeom>
          <a:solidFill>
            <a:srgbClr val="F8F0D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734913" y="2643485"/>
            <a:ext cx="0" cy="1126927"/>
          </a:xfrm>
          <a:prstGeom prst="line">
            <a:avLst/>
          </a:prstGeom>
          <a:noFill/>
          <a:ln w="47625">
            <a:solidFill>
              <a:srgbClr val="C8943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38076" y="2846636"/>
            <a:ext cx="1036674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38076" y="3052911"/>
            <a:ext cx="10366742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are learning to </a:t>
            </a:r>
            <a:r>
              <a:rPr lang="en-US" sz="15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distinguish ao and ou sounds</a:t>
            </a:r>
            <a:r>
              <a:rPr lang="en-US" sz="15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in Chinese and follow spoken Chinese to complete listening tasks.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11101" y="4062412"/>
            <a:ext cx="317450" cy="317450"/>
          </a:xfrm>
          <a:prstGeom prst="roundRect">
            <a:avLst>
              <a:gd name="adj" fmla="val 288045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41177" y="4130576"/>
            <a:ext cx="5844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0951" y="4049762"/>
            <a:ext cx="7121765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</a:t>
            </a: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hear the difference</a:t>
            </a: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between </a:t>
            </a: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ao</a:t>
            </a: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(like "aow") and </a:t>
            </a:r>
            <a:r>
              <a:rPr lang="en-US" sz="13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ou</a:t>
            </a: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(like "oh") in spoken Chinese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11101" y="4570214"/>
            <a:ext cx="317450" cy="317450"/>
          </a:xfrm>
          <a:prstGeom prst="roundRect">
            <a:avLst>
              <a:gd name="adj" fmla="val 288045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29568" y="4638377"/>
            <a:ext cx="8212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80951" y="4557564"/>
            <a:ext cx="521600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</a:t>
            </a: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correctly identify</a:t>
            </a: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ao</a:t>
            </a: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/ </a:t>
            </a:r>
            <a:r>
              <a:rPr lang="en-US" sz="13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ou</a:t>
            </a: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when I hear them in </a:t>
            </a: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new words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11101" y="5078016"/>
            <a:ext cx="317450" cy="317450"/>
          </a:xfrm>
          <a:prstGeom prst="roundRect">
            <a:avLst>
              <a:gd name="adj" fmla="val 288045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29270" y="5146179"/>
            <a:ext cx="8273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0951" y="5065365"/>
            <a:ext cx="5850856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</a:t>
            </a:r>
            <a:r>
              <a:rPr lang="en-US" sz="13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follow spoken Chinese</a:t>
            </a: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to tick correct answers in a </a:t>
            </a: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listening grid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204906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PINYIN ao/ou + LISTENING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631132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2758083" y="144363"/>
            <a:ext cx="94984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Phonics · ao vs ou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58701" y="609451"/>
            <a:ext cx="1129609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声母辨音 · Distinguishing ao and ou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58701" y="1038076"/>
            <a:ext cx="1129609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Exaggerate mouth shapes — students mirror.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58701" y="1371451"/>
            <a:ext cx="5410349" cy="3901083"/>
          </a:xfrm>
          <a:prstGeom prst="roundRect">
            <a:avLst>
              <a:gd name="adj" fmla="val 3255"/>
            </a:avLst>
          </a:prstGeom>
          <a:solidFill>
            <a:srgbClr val="F8F0D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691042" y="1619101"/>
            <a:ext cx="114551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VOWEL SOUND 1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2858786" y="1863477"/>
            <a:ext cx="810030" cy="8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6400"/>
              </a:lnSpc>
              <a:spcAft>
                <a:spcPts val="800"/>
              </a:spcAft>
              <a:buNone/>
            </a:pPr>
            <a:r>
              <a:rPr lang="en-US" sz="64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ao</a:t>
            </a:r>
            <a:endParaRPr lang="en-US" sz="6400" dirty="0"/>
          </a:p>
        </p:txBody>
      </p:sp>
      <p:sp>
        <p:nvSpPr>
          <p:cNvPr id="12" name="Text 10"/>
          <p:cNvSpPr/>
          <p:nvPr/>
        </p:nvSpPr>
        <p:spPr>
          <a:xfrm>
            <a:off x="2169136" y="2777728"/>
            <a:ext cx="218947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Open wide — jaw drops low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751914" y="3025378"/>
            <a:ext cx="102392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like "ow" in </a:t>
            </a:r>
            <a:r>
              <a:rPr lang="en-US" sz="1000" b="1" i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cow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009900" y="3333304"/>
            <a:ext cx="507950" cy="25301"/>
          </a:xfrm>
          <a:prstGeom prst="roundRect">
            <a:avLst>
              <a:gd name="adj" fmla="val 50196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2926946" y="3485555"/>
            <a:ext cx="6737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EXAMPLES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82551" y="3729930"/>
            <a:ext cx="4762649" cy="380851"/>
          </a:xfrm>
          <a:prstGeom prst="roundRect">
            <a:avLst>
              <a:gd name="adj" fmla="val 20008"/>
            </a:avLst>
          </a:prstGeom>
          <a:solidFill>
            <a:srgbClr val="FEFCF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2958693" y="3793331"/>
            <a:ext cx="259131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好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3339992" y="3829794"/>
            <a:ext cx="22861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hǎo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82551" y="4186982"/>
            <a:ext cx="4762649" cy="380851"/>
          </a:xfrm>
          <a:prstGeom prst="roundRect">
            <a:avLst>
              <a:gd name="adj" fmla="val 20008"/>
            </a:avLst>
          </a:prstGeom>
          <a:solidFill>
            <a:srgbClr val="FEFCF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2957056" y="4250382"/>
            <a:ext cx="259131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高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3338321" y="4286845"/>
            <a:ext cx="23210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gāo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82551" y="4644033"/>
            <a:ext cx="4762649" cy="380851"/>
          </a:xfrm>
          <a:prstGeom prst="roundRect">
            <a:avLst>
              <a:gd name="adj" fmla="val 20008"/>
            </a:avLst>
          </a:prstGeom>
          <a:solidFill>
            <a:srgbClr val="FEFCF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2775476" y="4707434"/>
            <a:ext cx="518109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爱好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3412139" y="4743896"/>
            <a:ext cx="33837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àihào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222950" y="1371451"/>
            <a:ext cx="5410349" cy="3901083"/>
          </a:xfrm>
          <a:prstGeom prst="roundRect">
            <a:avLst>
              <a:gd name="adj" fmla="val 3255"/>
            </a:avLst>
          </a:prstGeom>
          <a:solidFill>
            <a:srgbClr val="EDF3F4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8345878" y="1619101"/>
            <a:ext cx="11644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VOWEL SOUND 2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508613" y="1863477"/>
            <a:ext cx="839025" cy="8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6400"/>
              </a:lnSpc>
              <a:spcAft>
                <a:spcPts val="800"/>
              </a:spcAft>
              <a:buNone/>
            </a:pPr>
            <a:r>
              <a:rPr lang="en-US" sz="64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ou</a:t>
            </a:r>
            <a:endParaRPr lang="en-US" sz="6400" dirty="0"/>
          </a:p>
        </p:txBody>
      </p:sp>
      <p:sp>
        <p:nvSpPr>
          <p:cNvPr id="28" name="Text 26"/>
          <p:cNvSpPr/>
          <p:nvPr/>
        </p:nvSpPr>
        <p:spPr>
          <a:xfrm>
            <a:off x="7746553" y="2777728"/>
            <a:ext cx="236314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Lips round and close together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478557" y="3025378"/>
            <a:ext cx="89898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like "oh" in </a:t>
            </a:r>
            <a:r>
              <a:rPr lang="en-US" sz="1000" b="1" i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go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674150" y="3333304"/>
            <a:ext cx="507950" cy="25301"/>
          </a:xfrm>
          <a:prstGeom prst="roundRect">
            <a:avLst>
              <a:gd name="adj" fmla="val 50196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8591196" y="3485555"/>
            <a:ext cx="6737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EXAMPLES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546800" y="3729930"/>
            <a:ext cx="4762649" cy="380851"/>
          </a:xfrm>
          <a:prstGeom prst="roundRect">
            <a:avLst>
              <a:gd name="adj" fmla="val 20008"/>
            </a:avLst>
          </a:prstGeom>
          <a:solidFill>
            <a:srgbClr val="FEFCF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8625175" y="3793331"/>
            <a:ext cx="259131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走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9006519" y="3829794"/>
            <a:ext cx="22406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zǒu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546800" y="4186982"/>
            <a:ext cx="4762649" cy="380851"/>
          </a:xfrm>
          <a:prstGeom prst="roundRect">
            <a:avLst>
              <a:gd name="adj" fmla="val 20008"/>
            </a:avLst>
          </a:prstGeom>
          <a:solidFill>
            <a:srgbClr val="FEFCF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8634253" y="4250382"/>
            <a:ext cx="259131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头</a:t>
            </a:r>
            <a:endParaRPr lang="en-US" sz="2000" dirty="0"/>
          </a:p>
        </p:txBody>
      </p:sp>
      <p:sp>
        <p:nvSpPr>
          <p:cNvPr id="37" name="Text 35"/>
          <p:cNvSpPr/>
          <p:nvPr/>
        </p:nvSpPr>
        <p:spPr>
          <a:xfrm>
            <a:off x="9015777" y="4286845"/>
            <a:ext cx="20569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tóu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546800" y="4644033"/>
            <a:ext cx="4762649" cy="380851"/>
          </a:xfrm>
          <a:prstGeom prst="roundRect">
            <a:avLst>
              <a:gd name="adj" fmla="val 20008"/>
            </a:avLst>
          </a:prstGeom>
          <a:solidFill>
            <a:srgbClr val="FEFCF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8659108" y="4707434"/>
            <a:ext cx="259131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九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9041129" y="4743896"/>
            <a:ext cx="15499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jiǔ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58701" y="5424934"/>
            <a:ext cx="11074598" cy="472976"/>
          </a:xfrm>
          <a:prstGeom prst="roundRect">
            <a:avLst>
              <a:gd name="adj" fmla="val 21481"/>
            </a:avLst>
          </a:prstGeom>
          <a:solidFill>
            <a:srgbClr val="EDE7D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716649" y="5561409"/>
            <a:ext cx="1075870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says — students </a:t>
            </a: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mirror the mouth shape</a:t>
            </a: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. Switch between ao and ou several times.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204906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PINYIN ao/ou + LISTENING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631132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2758083" y="144363"/>
            <a:ext cx="123462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Minimal Pairs · ao vs ou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58701" y="609451"/>
            <a:ext cx="387861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最小对比 · Minimal Pairs Drill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58701" y="1038076"/>
            <a:ext cx="387861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</a:t>
            </a:r>
            <a:r>
              <a:rPr lang="en-US" sz="10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</a:t>
            </a: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if you hear ao · Write </a:t>
            </a:r>
            <a:r>
              <a:rPr lang="en-US" sz="10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</a:t>
            </a: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if you hear ou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296823" y="876151"/>
            <a:ext cx="342900" cy="342900"/>
          </a:xfrm>
          <a:prstGeom prst="roundRect">
            <a:avLst>
              <a:gd name="adj" fmla="val 266667"/>
            </a:avLst>
          </a:prstGeom>
          <a:solidFill>
            <a:srgbClr val="F8F0D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0418266" y="947589"/>
            <a:ext cx="10186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715923" y="947589"/>
            <a:ext cx="17579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ao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1040666" y="876151"/>
            <a:ext cx="342900" cy="342900"/>
          </a:xfrm>
          <a:prstGeom prst="roundRect">
            <a:avLst>
              <a:gd name="adj" fmla="val 266667"/>
            </a:avLst>
          </a:prstGeom>
          <a:solidFill>
            <a:srgbClr val="EDF3F4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1155859" y="947589"/>
            <a:ext cx="11476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459766" y="947589"/>
            <a:ext cx="17700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ou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58701" y="1371451"/>
            <a:ext cx="3589883" cy="1495425"/>
          </a:xfrm>
          <a:prstGeom prst="roundRect">
            <a:avLst>
              <a:gd name="adj" fmla="val 7643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3960316" y="1457176"/>
            <a:ext cx="5282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343323" y="1609576"/>
            <a:ext cx="414579" cy="406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spcAft>
                <a:spcPts val="300"/>
              </a:spcAft>
              <a:buNone/>
            </a:pPr>
            <a:r>
              <a:rPr lang="en-US" sz="3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好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1434554" y="2054126"/>
            <a:ext cx="22861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hǎo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387822" y="2311301"/>
            <a:ext cx="317450" cy="317450"/>
          </a:xfrm>
          <a:prstGeom prst="roundRect">
            <a:avLst>
              <a:gd name="adj" fmla="val 288045"/>
            </a:avLst>
          </a:prstGeom>
          <a:solidFill>
            <a:srgbClr val="F8F0D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1501080" y="2379464"/>
            <a:ext cx="9260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347317" y="1584127"/>
            <a:ext cx="12650" cy="1070074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957364" y="1609576"/>
            <a:ext cx="414579" cy="406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spcAft>
                <a:spcPts val="300"/>
              </a:spcAft>
              <a:buNone/>
            </a:pPr>
            <a:r>
              <a:rPr lang="en-US" sz="32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后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3046363" y="2054126"/>
            <a:ext cx="23317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hòu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001863" y="2311301"/>
            <a:ext cx="317450" cy="317450"/>
          </a:xfrm>
          <a:prstGeom prst="roundRect">
            <a:avLst>
              <a:gd name="adj" fmla="val 288045"/>
            </a:avLst>
          </a:prstGeom>
          <a:solidFill>
            <a:srgbClr val="EDF3F4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109466" y="2379464"/>
            <a:ext cx="10429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300984" y="1371451"/>
            <a:ext cx="3589883" cy="1495425"/>
          </a:xfrm>
          <a:prstGeom prst="roundRect">
            <a:avLst>
              <a:gd name="adj" fmla="val 7643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7681912" y="1457176"/>
            <a:ext cx="7392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085606" y="1609576"/>
            <a:ext cx="414579" cy="406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spcAft>
                <a:spcPts val="300"/>
              </a:spcAft>
              <a:buNone/>
            </a:pPr>
            <a:r>
              <a:rPr lang="en-US" sz="3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告</a:t>
            </a:r>
            <a:endParaRPr lang="en-US" sz="3200" dirty="0"/>
          </a:p>
        </p:txBody>
      </p:sp>
      <p:sp>
        <p:nvSpPr>
          <p:cNvPr id="29" name="Text 27"/>
          <p:cNvSpPr/>
          <p:nvPr/>
        </p:nvSpPr>
        <p:spPr>
          <a:xfrm>
            <a:off x="5175052" y="2054126"/>
            <a:ext cx="23210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gào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130105" y="2311301"/>
            <a:ext cx="317450" cy="317450"/>
          </a:xfrm>
          <a:prstGeom prst="roundRect">
            <a:avLst>
              <a:gd name="adj" fmla="val 288045"/>
            </a:avLst>
          </a:prstGeom>
          <a:solidFill>
            <a:srgbClr val="F8F0D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5243364" y="2379464"/>
            <a:ext cx="9260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089600" y="1584127"/>
            <a:ext cx="12650" cy="1070074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6699647" y="1609576"/>
            <a:ext cx="414579" cy="406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spcAft>
                <a:spcPts val="300"/>
              </a:spcAft>
              <a:buNone/>
            </a:pPr>
            <a:r>
              <a:rPr lang="en-US" sz="32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够</a:t>
            </a:r>
            <a:endParaRPr lang="en-US" sz="3200" dirty="0"/>
          </a:p>
        </p:txBody>
      </p:sp>
      <p:sp>
        <p:nvSpPr>
          <p:cNvPr id="34" name="Text 32"/>
          <p:cNvSpPr/>
          <p:nvPr/>
        </p:nvSpPr>
        <p:spPr>
          <a:xfrm>
            <a:off x="6786860" y="2054126"/>
            <a:ext cx="23666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gòu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744146" y="2311301"/>
            <a:ext cx="317450" cy="317450"/>
          </a:xfrm>
          <a:prstGeom prst="roundRect">
            <a:avLst>
              <a:gd name="adj" fmla="val 288045"/>
            </a:avLst>
          </a:prstGeom>
          <a:solidFill>
            <a:srgbClr val="EDF3F4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6851749" y="2379464"/>
            <a:ext cx="10429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043267" y="1371451"/>
            <a:ext cx="3590032" cy="1495425"/>
          </a:xfrm>
          <a:prstGeom prst="roundRect">
            <a:avLst>
              <a:gd name="adj" fmla="val 7643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11423749" y="1457176"/>
            <a:ext cx="7453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8827889" y="1609576"/>
            <a:ext cx="414579" cy="406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spcAft>
                <a:spcPts val="300"/>
              </a:spcAft>
              <a:buNone/>
            </a:pPr>
            <a:r>
              <a:rPr lang="en-US" sz="3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高</a:t>
            </a:r>
            <a:endParaRPr lang="en-US" sz="3200" dirty="0"/>
          </a:p>
        </p:txBody>
      </p:sp>
      <p:sp>
        <p:nvSpPr>
          <p:cNvPr id="40" name="Text 38"/>
          <p:cNvSpPr/>
          <p:nvPr/>
        </p:nvSpPr>
        <p:spPr>
          <a:xfrm>
            <a:off x="8917335" y="2054126"/>
            <a:ext cx="23210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gāo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872389" y="2311301"/>
            <a:ext cx="317450" cy="317450"/>
          </a:xfrm>
          <a:prstGeom prst="roundRect">
            <a:avLst>
              <a:gd name="adj" fmla="val 288045"/>
            </a:avLst>
          </a:prstGeom>
          <a:solidFill>
            <a:srgbClr val="F8F0D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8985647" y="2379464"/>
            <a:ext cx="9260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9831884" y="1584127"/>
            <a:ext cx="12650" cy="1070074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10442079" y="1609576"/>
            <a:ext cx="414579" cy="406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spcAft>
                <a:spcPts val="300"/>
              </a:spcAft>
              <a:buNone/>
            </a:pPr>
            <a:r>
              <a:rPr lang="en-US" sz="32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走</a:t>
            </a:r>
            <a:endParaRPr lang="en-US" sz="3200" dirty="0"/>
          </a:p>
        </p:txBody>
      </p:sp>
      <p:sp>
        <p:nvSpPr>
          <p:cNvPr id="45" name="Text 43"/>
          <p:cNvSpPr/>
          <p:nvPr/>
        </p:nvSpPr>
        <p:spPr>
          <a:xfrm>
            <a:off x="10535394" y="2054126"/>
            <a:ext cx="22406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zǒu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10486579" y="2311301"/>
            <a:ext cx="317450" cy="317450"/>
          </a:xfrm>
          <a:prstGeom prst="roundRect">
            <a:avLst>
              <a:gd name="adj" fmla="val 288045"/>
            </a:avLst>
          </a:prstGeom>
          <a:solidFill>
            <a:srgbClr val="EDF3F4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10594181" y="2379464"/>
            <a:ext cx="10429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58701" y="3019276"/>
            <a:ext cx="3589883" cy="1495425"/>
          </a:xfrm>
          <a:prstGeom prst="roundRect">
            <a:avLst>
              <a:gd name="adj" fmla="val 7643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3938141" y="3105001"/>
            <a:ext cx="7544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1343323" y="3257401"/>
            <a:ext cx="414579" cy="406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spcAft>
                <a:spcPts val="300"/>
              </a:spcAft>
              <a:buNone/>
            </a:pPr>
            <a:r>
              <a:rPr lang="en-US" sz="3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草</a:t>
            </a:r>
            <a:endParaRPr lang="en-US" sz="3200" dirty="0"/>
          </a:p>
        </p:txBody>
      </p:sp>
      <p:sp>
        <p:nvSpPr>
          <p:cNvPr id="51" name="Text 49"/>
          <p:cNvSpPr/>
          <p:nvPr/>
        </p:nvSpPr>
        <p:spPr>
          <a:xfrm>
            <a:off x="1435447" y="3701951"/>
            <a:ext cx="22679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cǎo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1387822" y="3959126"/>
            <a:ext cx="317450" cy="317450"/>
          </a:xfrm>
          <a:prstGeom prst="roundRect">
            <a:avLst>
              <a:gd name="adj" fmla="val 288045"/>
            </a:avLst>
          </a:prstGeom>
          <a:solidFill>
            <a:srgbClr val="F8F0D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1501080" y="4027289"/>
            <a:ext cx="9260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2347317" y="3231952"/>
            <a:ext cx="12650" cy="1070074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2957364" y="3257401"/>
            <a:ext cx="414579" cy="406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spcAft>
                <a:spcPts val="300"/>
              </a:spcAft>
              <a:buNone/>
            </a:pPr>
            <a:r>
              <a:rPr lang="en-US" sz="32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口</a:t>
            </a:r>
            <a:endParaRPr lang="en-US" sz="3200" dirty="0"/>
          </a:p>
        </p:txBody>
      </p:sp>
      <p:sp>
        <p:nvSpPr>
          <p:cNvPr id="56" name="Text 54"/>
          <p:cNvSpPr/>
          <p:nvPr/>
        </p:nvSpPr>
        <p:spPr>
          <a:xfrm>
            <a:off x="3047851" y="3701951"/>
            <a:ext cx="22998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kǒu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3001863" y="3959126"/>
            <a:ext cx="317450" cy="317450"/>
          </a:xfrm>
          <a:prstGeom prst="roundRect">
            <a:avLst>
              <a:gd name="adj" fmla="val 288045"/>
            </a:avLst>
          </a:prstGeom>
          <a:solidFill>
            <a:srgbClr val="EDF3F4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Text 56"/>
          <p:cNvSpPr/>
          <p:nvPr/>
        </p:nvSpPr>
        <p:spPr>
          <a:xfrm>
            <a:off x="3109466" y="4027289"/>
            <a:ext cx="10429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4300984" y="3019276"/>
            <a:ext cx="3589883" cy="1495425"/>
          </a:xfrm>
          <a:prstGeom prst="roundRect">
            <a:avLst>
              <a:gd name="adj" fmla="val 7643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7681466" y="3105001"/>
            <a:ext cx="7438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5085606" y="3257401"/>
            <a:ext cx="414579" cy="406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spcAft>
                <a:spcPts val="300"/>
              </a:spcAft>
              <a:buNone/>
            </a:pPr>
            <a:r>
              <a:rPr lang="en-US" sz="3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到</a:t>
            </a:r>
            <a:endParaRPr lang="en-US" sz="3200" dirty="0"/>
          </a:p>
        </p:txBody>
      </p:sp>
      <p:sp>
        <p:nvSpPr>
          <p:cNvPr id="62" name="Text 60"/>
          <p:cNvSpPr/>
          <p:nvPr/>
        </p:nvSpPr>
        <p:spPr>
          <a:xfrm>
            <a:off x="5175052" y="3701951"/>
            <a:ext cx="23210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dào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5130105" y="3959126"/>
            <a:ext cx="317450" cy="317450"/>
          </a:xfrm>
          <a:prstGeom prst="roundRect">
            <a:avLst>
              <a:gd name="adj" fmla="val 288045"/>
            </a:avLst>
          </a:prstGeom>
          <a:solidFill>
            <a:srgbClr val="F8F0D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Text 62"/>
          <p:cNvSpPr/>
          <p:nvPr/>
        </p:nvSpPr>
        <p:spPr>
          <a:xfrm>
            <a:off x="5243364" y="4027289"/>
            <a:ext cx="9260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6089600" y="3231952"/>
            <a:ext cx="12650" cy="1070074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Text 64"/>
          <p:cNvSpPr/>
          <p:nvPr/>
        </p:nvSpPr>
        <p:spPr>
          <a:xfrm>
            <a:off x="6699647" y="3257401"/>
            <a:ext cx="414579" cy="406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spcAft>
                <a:spcPts val="300"/>
              </a:spcAft>
              <a:buNone/>
            </a:pPr>
            <a:r>
              <a:rPr lang="en-US" sz="32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头</a:t>
            </a:r>
            <a:endParaRPr lang="en-US" sz="3200" dirty="0"/>
          </a:p>
        </p:txBody>
      </p:sp>
      <p:sp>
        <p:nvSpPr>
          <p:cNvPr id="67" name="Text 65"/>
          <p:cNvSpPr/>
          <p:nvPr/>
        </p:nvSpPr>
        <p:spPr>
          <a:xfrm>
            <a:off x="6802041" y="3701951"/>
            <a:ext cx="20569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tóu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6744146" y="3959126"/>
            <a:ext cx="317450" cy="317450"/>
          </a:xfrm>
          <a:prstGeom prst="roundRect">
            <a:avLst>
              <a:gd name="adj" fmla="val 288045"/>
            </a:avLst>
          </a:prstGeom>
          <a:solidFill>
            <a:srgbClr val="EDF3F4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Text 67"/>
          <p:cNvSpPr/>
          <p:nvPr/>
        </p:nvSpPr>
        <p:spPr>
          <a:xfrm>
            <a:off x="6851749" y="4027289"/>
            <a:ext cx="10429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</a:t>
            </a:r>
            <a:endParaRPr lang="en-US" sz="1000" dirty="0"/>
          </a:p>
        </p:txBody>
      </p:sp>
      <p:sp>
        <p:nvSpPr>
          <p:cNvPr id="70" name="Text 68"/>
          <p:cNvSpPr/>
          <p:nvPr/>
        </p:nvSpPr>
        <p:spPr>
          <a:xfrm>
            <a:off x="8043267" y="3019276"/>
            <a:ext cx="3590032" cy="1495425"/>
          </a:xfrm>
          <a:prstGeom prst="roundRect">
            <a:avLst>
              <a:gd name="adj" fmla="val 7643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Text 69"/>
          <p:cNvSpPr/>
          <p:nvPr/>
        </p:nvSpPr>
        <p:spPr>
          <a:xfrm>
            <a:off x="11422707" y="3105001"/>
            <a:ext cx="7559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</a:t>
            </a:r>
            <a:endParaRPr lang="en-US" sz="900" dirty="0"/>
          </a:p>
        </p:txBody>
      </p:sp>
      <p:sp>
        <p:nvSpPr>
          <p:cNvPr id="72" name="Text 70"/>
          <p:cNvSpPr/>
          <p:nvPr/>
        </p:nvSpPr>
        <p:spPr>
          <a:xfrm>
            <a:off x="8827889" y="3257401"/>
            <a:ext cx="414579" cy="406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spcAft>
                <a:spcPts val="300"/>
              </a:spcAft>
              <a:buNone/>
            </a:pPr>
            <a:r>
              <a:rPr lang="en-US" sz="3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包</a:t>
            </a:r>
            <a:endParaRPr lang="en-US" sz="3200" dirty="0"/>
          </a:p>
        </p:txBody>
      </p:sp>
      <p:sp>
        <p:nvSpPr>
          <p:cNvPr id="73" name="Text 71"/>
          <p:cNvSpPr/>
          <p:nvPr/>
        </p:nvSpPr>
        <p:spPr>
          <a:xfrm>
            <a:off x="8917335" y="3701951"/>
            <a:ext cx="23210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bāo</a:t>
            </a:r>
            <a:endParaRPr lang="en-US" sz="1000" dirty="0"/>
          </a:p>
        </p:txBody>
      </p:sp>
      <p:sp>
        <p:nvSpPr>
          <p:cNvPr id="74" name="Text 72"/>
          <p:cNvSpPr/>
          <p:nvPr/>
        </p:nvSpPr>
        <p:spPr>
          <a:xfrm>
            <a:off x="8872389" y="3959126"/>
            <a:ext cx="317450" cy="317450"/>
          </a:xfrm>
          <a:prstGeom prst="roundRect">
            <a:avLst>
              <a:gd name="adj" fmla="val 288045"/>
            </a:avLst>
          </a:prstGeom>
          <a:solidFill>
            <a:srgbClr val="F8F0D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Text 73"/>
          <p:cNvSpPr/>
          <p:nvPr/>
        </p:nvSpPr>
        <p:spPr>
          <a:xfrm>
            <a:off x="8985647" y="4027289"/>
            <a:ext cx="9260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</a:t>
            </a:r>
            <a:endParaRPr lang="en-US" sz="1000" dirty="0"/>
          </a:p>
        </p:txBody>
      </p:sp>
      <p:sp>
        <p:nvSpPr>
          <p:cNvPr id="76" name="Text 74"/>
          <p:cNvSpPr/>
          <p:nvPr/>
        </p:nvSpPr>
        <p:spPr>
          <a:xfrm>
            <a:off x="9831884" y="3231952"/>
            <a:ext cx="12650" cy="1070074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Text 75"/>
          <p:cNvSpPr/>
          <p:nvPr/>
        </p:nvSpPr>
        <p:spPr>
          <a:xfrm>
            <a:off x="10442079" y="3257401"/>
            <a:ext cx="414579" cy="406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spcAft>
                <a:spcPts val="300"/>
              </a:spcAft>
              <a:buNone/>
            </a:pPr>
            <a:r>
              <a:rPr lang="en-US" sz="32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后</a:t>
            </a:r>
            <a:endParaRPr lang="en-US" sz="3200" dirty="0"/>
          </a:p>
        </p:txBody>
      </p:sp>
      <p:sp>
        <p:nvSpPr>
          <p:cNvPr id="78" name="Text 76"/>
          <p:cNvSpPr/>
          <p:nvPr/>
        </p:nvSpPr>
        <p:spPr>
          <a:xfrm>
            <a:off x="10530929" y="3701951"/>
            <a:ext cx="23317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hòu</a:t>
            </a:r>
            <a:endParaRPr lang="en-US" sz="1000" dirty="0"/>
          </a:p>
        </p:txBody>
      </p:sp>
      <p:sp>
        <p:nvSpPr>
          <p:cNvPr id="79" name="Text 77"/>
          <p:cNvSpPr/>
          <p:nvPr/>
        </p:nvSpPr>
        <p:spPr>
          <a:xfrm>
            <a:off x="10486579" y="3959126"/>
            <a:ext cx="317450" cy="317450"/>
          </a:xfrm>
          <a:prstGeom prst="roundRect">
            <a:avLst>
              <a:gd name="adj" fmla="val 288045"/>
            </a:avLst>
          </a:prstGeom>
          <a:solidFill>
            <a:srgbClr val="EDF3F4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0" name="Text 78"/>
          <p:cNvSpPr/>
          <p:nvPr/>
        </p:nvSpPr>
        <p:spPr>
          <a:xfrm>
            <a:off x="10594181" y="4027289"/>
            <a:ext cx="10429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</a:t>
            </a:r>
            <a:endParaRPr lang="en-US" sz="1000" dirty="0"/>
          </a:p>
        </p:txBody>
      </p:sp>
      <p:sp>
        <p:nvSpPr>
          <p:cNvPr id="81" name="Text 79"/>
          <p:cNvSpPr/>
          <p:nvPr/>
        </p:nvSpPr>
        <p:spPr>
          <a:xfrm>
            <a:off x="558701" y="4667101"/>
            <a:ext cx="11074598" cy="472976"/>
          </a:xfrm>
          <a:prstGeom prst="roundRect">
            <a:avLst>
              <a:gd name="adj" fmla="val 21481"/>
            </a:avLst>
          </a:prstGeom>
          <a:solidFill>
            <a:srgbClr val="EDE7D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2" name="Text 80"/>
          <p:cNvSpPr/>
          <p:nvPr/>
        </p:nvSpPr>
        <p:spPr>
          <a:xfrm>
            <a:off x="690842" y="4803577"/>
            <a:ext cx="1081031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says one word from each pair — students write </a:t>
            </a: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</a:t>
            </a: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or </a:t>
            </a:r>
            <a:r>
              <a:rPr lang="en-US" sz="11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</a:t>
            </a: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on whiteboards and hold up.</a:t>
            </a:r>
            <a:endParaRPr lang="en-US" sz="1100" dirty="0"/>
          </a:p>
        </p:txBody>
      </p:sp>
      <p:sp>
        <p:nvSpPr>
          <p:cNvPr id="83" name="Shape 81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204906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PINYIN ao/ou + LISTENING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631132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2758083" y="144363"/>
            <a:ext cx="12608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Check for Understanding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1085552"/>
            <a:ext cx="109851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CHECK FOR UNDERSTANDING · 检查理解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1101" y="1304627"/>
            <a:ext cx="10985194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0"/>
              </a:spcAft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Think first — answers on next slide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11101" y="2025253"/>
            <a:ext cx="10769798" cy="854422"/>
          </a:xfrm>
          <a:prstGeom prst="roundRect">
            <a:avLst>
              <a:gd name="adj" fmla="val 14864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49226" y="2212479"/>
            <a:ext cx="393650" cy="393650"/>
          </a:xfrm>
          <a:prstGeom prst="roundRect">
            <a:avLst>
              <a:gd name="adj" fmla="val 232288"/>
            </a:avLst>
          </a:prstGeom>
          <a:solidFill>
            <a:srgbClr val="FBF1F0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066205" y="2318742"/>
            <a:ext cx="16273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520577" y="2212479"/>
            <a:ext cx="9916641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5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Does </a:t>
            </a: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爱好</a:t>
            </a: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contain </a:t>
            </a: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ao</a:t>
            </a: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or </a:t>
            </a: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ou</a:t>
            </a: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?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520577" y="2511475"/>
            <a:ext cx="991664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 hidden — flip to next slide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11101" y="3044726"/>
            <a:ext cx="10769798" cy="854422"/>
          </a:xfrm>
          <a:prstGeom prst="roundRect">
            <a:avLst>
              <a:gd name="adj" fmla="val 14864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949226" y="3231952"/>
            <a:ext cx="393650" cy="393650"/>
          </a:xfrm>
          <a:prstGeom prst="roundRect">
            <a:avLst>
              <a:gd name="adj" fmla="val 232288"/>
            </a:avLst>
          </a:prstGeom>
          <a:solidFill>
            <a:srgbClr val="FBF1F0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054745" y="3338215"/>
            <a:ext cx="18626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520577" y="3231952"/>
            <a:ext cx="9916641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5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Show me the </a:t>
            </a: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ao</a:t>
            </a: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mouth shape. Now </a:t>
            </a: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ou</a:t>
            </a: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520577" y="3530947"/>
            <a:ext cx="991664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checks — watch student mouths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11101" y="4064198"/>
            <a:ext cx="10769798" cy="1860500"/>
          </a:xfrm>
          <a:prstGeom prst="roundRect">
            <a:avLst>
              <a:gd name="adj" fmla="val 6826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949226" y="4251424"/>
            <a:ext cx="393650" cy="393650"/>
          </a:xfrm>
          <a:prstGeom prst="roundRect">
            <a:avLst>
              <a:gd name="adj" fmla="val 232288"/>
            </a:avLst>
          </a:prstGeom>
          <a:solidFill>
            <a:srgbClr val="FBF1F0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054298" y="4357688"/>
            <a:ext cx="18702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520577" y="4251424"/>
            <a:ext cx="9916641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5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</a:t>
            </a: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</a:t>
            </a: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if ao, </a:t>
            </a:r>
            <a:r>
              <a:rPr lang="en-US" sz="13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</a:t>
            </a: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if ou for each character: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520577" y="4575721"/>
            <a:ext cx="672852" cy="1161752"/>
          </a:xfrm>
          <a:prstGeom prst="roundRect">
            <a:avLst>
              <a:gd name="adj" fmla="val 15100"/>
            </a:avLst>
          </a:prstGeom>
          <a:solidFill>
            <a:srgbClr val="EDE7D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729978" y="4686746"/>
            <a:ext cx="25913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告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1755428" y="5077271"/>
            <a:ext cx="20721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gào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707803" y="5328047"/>
            <a:ext cx="298400" cy="298400"/>
          </a:xfrm>
          <a:prstGeom prst="roundRect">
            <a:avLst>
              <a:gd name="adj" fmla="val 306434"/>
            </a:avLst>
          </a:prstGeom>
          <a:noFill/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1816298" y="5377160"/>
            <a:ext cx="8288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?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2320379" y="4575721"/>
            <a:ext cx="672852" cy="1161752"/>
          </a:xfrm>
          <a:prstGeom prst="roundRect">
            <a:avLst>
              <a:gd name="adj" fmla="val 15100"/>
            </a:avLst>
          </a:prstGeom>
          <a:solidFill>
            <a:srgbClr val="EDE7D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2529780" y="4686746"/>
            <a:ext cx="25913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走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562523" y="5077271"/>
            <a:ext cx="19218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zǒu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2507605" y="5328047"/>
            <a:ext cx="298400" cy="298400"/>
          </a:xfrm>
          <a:prstGeom prst="roundRect">
            <a:avLst>
              <a:gd name="adj" fmla="val 306434"/>
            </a:avLst>
          </a:prstGeom>
          <a:noFill/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2616101" y="5377160"/>
            <a:ext cx="8288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?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3120182" y="4575721"/>
            <a:ext cx="672852" cy="1161752"/>
          </a:xfrm>
          <a:prstGeom prst="roundRect">
            <a:avLst>
              <a:gd name="adj" fmla="val 15100"/>
            </a:avLst>
          </a:prstGeom>
          <a:solidFill>
            <a:srgbClr val="EDE7D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3329583" y="4686746"/>
            <a:ext cx="25913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好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3356967" y="5077271"/>
            <a:ext cx="20311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hǎo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3307407" y="5328047"/>
            <a:ext cx="298400" cy="298400"/>
          </a:xfrm>
          <a:prstGeom prst="roundRect">
            <a:avLst>
              <a:gd name="adj" fmla="val 306434"/>
            </a:avLst>
          </a:prstGeom>
          <a:noFill/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3415903" y="5377160"/>
            <a:ext cx="8288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?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204906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PINYIN ao/ou + LISTENING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631132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2758083" y="144363"/>
            <a:ext cx="125496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CFU · Answers Revealed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1122908"/>
            <a:ext cx="109851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ANSWERS · 答案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1101" y="1341983"/>
            <a:ext cx="10985194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0"/>
              </a:spcAft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检查答案 · Check Your Answers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11101" y="2062609"/>
            <a:ext cx="10769798" cy="841177"/>
          </a:xfrm>
          <a:prstGeom prst="roundRect">
            <a:avLst>
              <a:gd name="adj" fmla="val 15098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49226" y="2237184"/>
            <a:ext cx="393650" cy="393650"/>
          </a:xfrm>
          <a:prstGeom prst="roundRect">
            <a:avLst>
              <a:gd name="adj" fmla="val 232288"/>
            </a:avLst>
          </a:prstGeom>
          <a:solidFill>
            <a:srgbClr val="F8F0D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066205" y="2343448"/>
            <a:ext cx="16273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520577" y="2237184"/>
            <a:ext cx="991664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Does 爱好 contain ao or ou?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520577" y="2500610"/>
            <a:ext cx="99166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✓   好 hǎo → ao — 爱好 contains ao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11101" y="3068836"/>
            <a:ext cx="10769798" cy="841177"/>
          </a:xfrm>
          <a:prstGeom prst="roundRect">
            <a:avLst>
              <a:gd name="adj" fmla="val 15098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949226" y="3243411"/>
            <a:ext cx="393650" cy="393650"/>
          </a:xfrm>
          <a:prstGeom prst="roundRect">
            <a:avLst>
              <a:gd name="adj" fmla="val 232288"/>
            </a:avLst>
          </a:prstGeom>
          <a:solidFill>
            <a:srgbClr val="F8F0D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054745" y="3349675"/>
            <a:ext cx="18626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520577" y="3243411"/>
            <a:ext cx="991664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Show me the ao mouth shape. Now ou.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520577" y="3506837"/>
            <a:ext cx="99166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✓   ao → jaw drops wide open  |  ou → lips round and close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11101" y="4075063"/>
            <a:ext cx="10769798" cy="1812429"/>
          </a:xfrm>
          <a:prstGeom prst="roundRect">
            <a:avLst>
              <a:gd name="adj" fmla="val 7007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949226" y="4249638"/>
            <a:ext cx="393650" cy="393650"/>
          </a:xfrm>
          <a:prstGeom prst="roundRect">
            <a:avLst>
              <a:gd name="adj" fmla="val 232288"/>
            </a:avLst>
          </a:prstGeom>
          <a:solidFill>
            <a:srgbClr val="F8F0D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054298" y="4355902"/>
            <a:ext cx="18702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520577" y="4249638"/>
            <a:ext cx="991664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A if ao, O if ou: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520577" y="4551164"/>
            <a:ext cx="873026" cy="1161752"/>
          </a:xfrm>
          <a:prstGeom prst="roundRect">
            <a:avLst>
              <a:gd name="adj" fmla="val 11638"/>
            </a:avLst>
          </a:prstGeom>
          <a:solidFill>
            <a:srgbClr val="F8F0D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829991" y="4671715"/>
            <a:ext cx="25913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告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1717328" y="5062240"/>
            <a:ext cx="48911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gào · ao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817340" y="5313015"/>
            <a:ext cx="279350" cy="279350"/>
          </a:xfrm>
          <a:prstGeom prst="roundRect">
            <a:avLst>
              <a:gd name="adj" fmla="val 327331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1907084" y="5352604"/>
            <a:ext cx="10186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2520553" y="4551164"/>
            <a:ext cx="858441" cy="1161752"/>
          </a:xfrm>
          <a:prstGeom prst="roundRect">
            <a:avLst>
              <a:gd name="adj" fmla="val 11835"/>
            </a:avLst>
          </a:prstGeom>
          <a:solidFill>
            <a:srgbClr val="EDF3F4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2822674" y="4671715"/>
            <a:ext cx="25913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走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717304" y="5062240"/>
            <a:ext cx="47423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zǒu · ou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2810024" y="5313015"/>
            <a:ext cx="279350" cy="279350"/>
          </a:xfrm>
          <a:prstGeom prst="roundRect">
            <a:avLst>
              <a:gd name="adj" fmla="val 327331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2893368" y="5352604"/>
            <a:ext cx="11476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3505944" y="4551164"/>
            <a:ext cx="869007" cy="1161752"/>
          </a:xfrm>
          <a:prstGeom prst="roundRect">
            <a:avLst>
              <a:gd name="adj" fmla="val 11692"/>
            </a:avLst>
          </a:prstGeom>
          <a:solidFill>
            <a:srgbClr val="F8F0D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3813423" y="4671715"/>
            <a:ext cx="25913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好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3702695" y="5062240"/>
            <a:ext cx="48501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hǎo · ao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3800773" y="5313015"/>
            <a:ext cx="279350" cy="279350"/>
          </a:xfrm>
          <a:prstGeom prst="roundRect">
            <a:avLst>
              <a:gd name="adj" fmla="val 327331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3890516" y="5352604"/>
            <a:ext cx="10186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204906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PINYIN ao/ou + LISTENING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631132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2758083" y="144363"/>
            <a:ext cx="121610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1 · CD Track 32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58701" y="682526"/>
            <a:ext cx="1515368" cy="244376"/>
          </a:xfrm>
          <a:prstGeom prst="roundRect">
            <a:avLst>
              <a:gd name="adj" fmla="val 5191713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36402" y="733276"/>
            <a:ext cx="118316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 1 · LISTENING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2226469" y="609451"/>
            <a:ext cx="4044229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听力练习 · ao / ou Tick Exercise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0756553" y="653951"/>
            <a:ext cx="876746" cy="301526"/>
          </a:xfrm>
          <a:prstGeom prst="roundRect">
            <a:avLst>
              <a:gd name="adj" fmla="val 4207697"/>
            </a:avLst>
          </a:prstGeom>
          <a:solidFill>
            <a:srgbClr val="EDF3F4"/>
          </a:solidFill>
          <a:ln w="9525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0943779" y="714226"/>
            <a:ext cx="51234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8 min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58701" y="1126927"/>
            <a:ext cx="4161681" cy="3504307"/>
          </a:xfrm>
          <a:prstGeom prst="roundRect">
            <a:avLst>
              <a:gd name="adj" fmla="val 3624"/>
            </a:avLst>
          </a:prstGeom>
          <a:solidFill>
            <a:srgbClr val="EDF3F4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2434679" y="1823591"/>
            <a:ext cx="417767" cy="406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3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💿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2287935" y="2331541"/>
            <a:ext cx="71712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CD TRACK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2353568" y="2575917"/>
            <a:ext cx="58338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8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32</a:t>
            </a:r>
            <a:endParaRPr lang="en-US" sz="4800" dirty="0"/>
          </a:p>
        </p:txBody>
      </p:sp>
      <p:sp>
        <p:nvSpPr>
          <p:cNvPr id="16" name="Text 14"/>
          <p:cNvSpPr/>
          <p:nvPr/>
        </p:nvSpPr>
        <p:spPr>
          <a:xfrm>
            <a:off x="1882872" y="3287018"/>
            <a:ext cx="151318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Book 2 · Unit 3 · Act. 4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423815" y="3569494"/>
            <a:ext cx="101501" cy="101501"/>
          </a:xfrm>
          <a:prstGeom prst="roundRect">
            <a:avLst>
              <a:gd name="adj" fmla="val 900878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2588716" y="3569494"/>
            <a:ext cx="101501" cy="101501"/>
          </a:xfrm>
          <a:prstGeom prst="roundRect">
            <a:avLst>
              <a:gd name="adj" fmla="val 900878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2753618" y="3569494"/>
            <a:ext cx="101501" cy="101501"/>
          </a:xfrm>
          <a:prstGeom prst="roundRect">
            <a:avLst>
              <a:gd name="adj" fmla="val 900878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2431554" y="3772495"/>
            <a:ext cx="42414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 plays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974282" y="1126927"/>
            <a:ext cx="679219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 to do: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974282" y="1463427"/>
            <a:ext cx="6659017" cy="476250"/>
          </a:xfrm>
          <a:prstGeom prst="roundRect">
            <a:avLst>
              <a:gd name="adj" fmla="val 21333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5161508" y="1587252"/>
            <a:ext cx="1748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1️⃣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459909" y="1587252"/>
            <a:ext cx="2597985" cy="19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Listen</a:t>
            </a: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you will hear pairs of words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974282" y="2028527"/>
            <a:ext cx="6659017" cy="476250"/>
          </a:xfrm>
          <a:prstGeom prst="roundRect">
            <a:avLst>
              <a:gd name="adj" fmla="val 21333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5161508" y="2152352"/>
            <a:ext cx="1748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2️⃣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459909" y="2152352"/>
            <a:ext cx="3812423" cy="19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Tick</a:t>
            </a: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the column — </a:t>
            </a: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ao</a:t>
            </a: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or </a:t>
            </a:r>
            <a:r>
              <a:rPr lang="en-US" sz="11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ou</a:t>
            </a: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for each word you hear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974282" y="2593628"/>
            <a:ext cx="6659017" cy="476250"/>
          </a:xfrm>
          <a:prstGeom prst="roundRect">
            <a:avLst>
              <a:gd name="adj" fmla="val 21333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5161508" y="2717453"/>
            <a:ext cx="1748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3️⃣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459909" y="2717453"/>
            <a:ext cx="3767033" cy="19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Check</a:t>
            </a: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your answers with your partner after all 3 plays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974282" y="3196828"/>
            <a:ext cx="6659017" cy="1434405"/>
          </a:xfrm>
          <a:prstGeom prst="roundRect">
            <a:avLst>
              <a:gd name="adj" fmla="val 7083"/>
            </a:avLst>
          </a:prstGeom>
          <a:solidFill>
            <a:srgbClr val="EDE7D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5161508" y="3333304"/>
            <a:ext cx="641025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EXAMPLE FORMAT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558701" y="4758184"/>
            <a:ext cx="3606850" cy="572691"/>
          </a:xfrm>
          <a:prstGeom prst="roundRect">
            <a:avLst>
              <a:gd name="adj" fmla="val 1774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711101" y="4872484"/>
            <a:ext cx="336809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711101" y="5056584"/>
            <a:ext cx="3368091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ao &amp; ou on board with mouth shape reminder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292501" y="4758184"/>
            <a:ext cx="3606850" cy="572691"/>
          </a:xfrm>
          <a:prstGeom prst="roundRect">
            <a:avLst>
              <a:gd name="adj" fmla="val 1774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4444901" y="4872484"/>
            <a:ext cx="336809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4444901" y="5056584"/>
            <a:ext cx="3368091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one word of your own for each sound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8026301" y="4758184"/>
            <a:ext cx="3606998" cy="572691"/>
          </a:xfrm>
          <a:prstGeom prst="roundRect">
            <a:avLst>
              <a:gd name="adj" fmla="val 1774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8178701" y="4872484"/>
            <a:ext cx="336824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8178701" y="5056584"/>
            <a:ext cx="3368242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 finger = ao · 2 fingers = ou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204906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PINYIN ao/ou + LISTENING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631132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2758083" y="144363"/>
            <a:ext cx="114794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2 · Speed Drill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58701" y="638175"/>
            <a:ext cx="1237357" cy="244376"/>
          </a:xfrm>
          <a:prstGeom prst="roundRect">
            <a:avLst>
              <a:gd name="adj" fmla="val 5191713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36402" y="688925"/>
            <a:ext cx="89959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 2 · DRILL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948458" y="584150"/>
            <a:ext cx="4943064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最小对比速度练习 · Minimal Pairs at Speed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0757446" y="609600"/>
            <a:ext cx="875854" cy="301526"/>
          </a:xfrm>
          <a:prstGeom prst="roundRect">
            <a:avLst>
              <a:gd name="adj" fmla="val 4207697"/>
            </a:avLst>
          </a:prstGeom>
          <a:solidFill>
            <a:srgbClr val="F8F0DF"/>
          </a:solidFill>
          <a:ln w="95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0944671" y="669875"/>
            <a:ext cx="51143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5 min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58701" y="1038076"/>
            <a:ext cx="1129609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says each word at </a:t>
            </a:r>
            <a:r>
              <a:rPr lang="en-US" sz="10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natural pace</a:t>
            </a: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write </a:t>
            </a: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ao</a:t>
            </a: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or </a:t>
            </a: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ou</a:t>
            </a: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on whiteboard → hold up.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58701" y="1346002"/>
            <a:ext cx="2123480" cy="1098352"/>
          </a:xfrm>
          <a:prstGeom prst="roundRect">
            <a:avLst>
              <a:gd name="adj" fmla="val 10406"/>
            </a:avLst>
          </a:prstGeom>
          <a:solidFill>
            <a:srgbClr val="F8F0D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594247" y="1492002"/>
            <a:ext cx="5328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429941" y="1685627"/>
            <a:ext cx="38862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好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1508373" y="2117378"/>
            <a:ext cx="22861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hǎo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796480" y="1346002"/>
            <a:ext cx="2123480" cy="1098352"/>
          </a:xfrm>
          <a:prstGeom prst="roundRect">
            <a:avLst>
              <a:gd name="adj" fmla="val 10406"/>
            </a:avLst>
          </a:prstGeom>
          <a:solidFill>
            <a:srgbClr val="EDF3F4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3822799" y="1492002"/>
            <a:ext cx="7210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3667720" y="1685627"/>
            <a:ext cx="38862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后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3743920" y="2117378"/>
            <a:ext cx="23317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hòu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034260" y="1346002"/>
            <a:ext cx="2123480" cy="1098352"/>
          </a:xfrm>
          <a:prstGeom prst="roundRect">
            <a:avLst>
              <a:gd name="adj" fmla="val 10406"/>
            </a:avLst>
          </a:prstGeom>
          <a:solidFill>
            <a:srgbClr val="F8F0D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060430" y="1492002"/>
            <a:ext cx="7256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5905500" y="1685627"/>
            <a:ext cx="38862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到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5982146" y="2117378"/>
            <a:ext cx="23210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dào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272040" y="1346002"/>
            <a:ext cx="2123480" cy="1098352"/>
          </a:xfrm>
          <a:prstGeom prst="roundRect">
            <a:avLst>
              <a:gd name="adj" fmla="val 10406"/>
            </a:avLst>
          </a:prstGeom>
          <a:solidFill>
            <a:srgbClr val="EDF3F4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8297763" y="1492002"/>
            <a:ext cx="7332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143280" y="1685627"/>
            <a:ext cx="38862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豆</a:t>
            </a:r>
            <a:endParaRPr lang="en-US" sz="3000" dirty="0"/>
          </a:p>
        </p:txBody>
      </p:sp>
      <p:sp>
        <p:nvSpPr>
          <p:cNvPr id="28" name="Text 26"/>
          <p:cNvSpPr/>
          <p:nvPr/>
        </p:nvSpPr>
        <p:spPr>
          <a:xfrm>
            <a:off x="8217843" y="2117378"/>
            <a:ext cx="23651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dòu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9509820" y="1346002"/>
            <a:ext cx="2123480" cy="1098352"/>
          </a:xfrm>
          <a:prstGeom prst="roundRect">
            <a:avLst>
              <a:gd name="adj" fmla="val 10406"/>
            </a:avLst>
          </a:prstGeom>
          <a:solidFill>
            <a:srgbClr val="F8F0D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10535989" y="1492002"/>
            <a:ext cx="7241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0381059" y="1685627"/>
            <a:ext cx="38862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高</a:t>
            </a:r>
            <a:endParaRPr lang="en-US" sz="3000" dirty="0"/>
          </a:p>
        </p:txBody>
      </p:sp>
      <p:sp>
        <p:nvSpPr>
          <p:cNvPr id="32" name="Text 30"/>
          <p:cNvSpPr/>
          <p:nvPr/>
        </p:nvSpPr>
        <p:spPr>
          <a:xfrm>
            <a:off x="10457706" y="2117378"/>
            <a:ext cx="23210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gāo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58701" y="2558653"/>
            <a:ext cx="2123480" cy="1098352"/>
          </a:xfrm>
          <a:prstGeom prst="roundRect">
            <a:avLst>
              <a:gd name="adj" fmla="val 10406"/>
            </a:avLst>
          </a:prstGeom>
          <a:solidFill>
            <a:srgbClr val="EDF3F4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1584424" y="2704654"/>
            <a:ext cx="7347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1429941" y="2898279"/>
            <a:ext cx="38862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头</a:t>
            </a:r>
            <a:endParaRPr lang="en-US" sz="3000" dirty="0"/>
          </a:p>
        </p:txBody>
      </p:sp>
      <p:sp>
        <p:nvSpPr>
          <p:cNvPr id="36" name="Text 34"/>
          <p:cNvSpPr/>
          <p:nvPr/>
        </p:nvSpPr>
        <p:spPr>
          <a:xfrm>
            <a:off x="1519535" y="3330029"/>
            <a:ext cx="20569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tóu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2796480" y="2558653"/>
            <a:ext cx="2123480" cy="1098352"/>
          </a:xfrm>
          <a:prstGeom prst="roundRect">
            <a:avLst>
              <a:gd name="adj" fmla="val 10406"/>
            </a:avLst>
          </a:prstGeom>
          <a:solidFill>
            <a:srgbClr val="F8F0D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3825032" y="2704654"/>
            <a:ext cx="6755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3667720" y="2898279"/>
            <a:ext cx="38862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包</a:t>
            </a:r>
            <a:endParaRPr lang="en-US" sz="3000" dirty="0"/>
          </a:p>
        </p:txBody>
      </p:sp>
      <p:sp>
        <p:nvSpPr>
          <p:cNvPr id="40" name="Text 38"/>
          <p:cNvSpPr/>
          <p:nvPr/>
        </p:nvSpPr>
        <p:spPr>
          <a:xfrm>
            <a:off x="3744367" y="3330029"/>
            <a:ext cx="23210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bāo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034260" y="2558653"/>
            <a:ext cx="2123480" cy="1098352"/>
          </a:xfrm>
          <a:prstGeom prst="roundRect">
            <a:avLst>
              <a:gd name="adj" fmla="val 10406"/>
            </a:avLst>
          </a:prstGeom>
          <a:solidFill>
            <a:srgbClr val="EDF3F4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6060132" y="2704654"/>
            <a:ext cx="7317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5905500" y="2898279"/>
            <a:ext cx="38862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口</a:t>
            </a:r>
            <a:endParaRPr lang="en-US" sz="3000" dirty="0"/>
          </a:p>
        </p:txBody>
      </p:sp>
      <p:sp>
        <p:nvSpPr>
          <p:cNvPr id="44" name="Text 42"/>
          <p:cNvSpPr/>
          <p:nvPr/>
        </p:nvSpPr>
        <p:spPr>
          <a:xfrm>
            <a:off x="5983188" y="3330029"/>
            <a:ext cx="22998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kǒu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7272040" y="2558653"/>
            <a:ext cx="2123480" cy="1098352"/>
          </a:xfrm>
          <a:prstGeom prst="roundRect">
            <a:avLst>
              <a:gd name="adj" fmla="val 10406"/>
            </a:avLst>
          </a:prstGeom>
          <a:solidFill>
            <a:srgbClr val="F8F0D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8297763" y="2704654"/>
            <a:ext cx="7347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8143280" y="2898279"/>
            <a:ext cx="38862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草</a:t>
            </a:r>
            <a:endParaRPr lang="en-US" sz="3000" dirty="0"/>
          </a:p>
        </p:txBody>
      </p:sp>
      <p:sp>
        <p:nvSpPr>
          <p:cNvPr id="48" name="Text 46"/>
          <p:cNvSpPr/>
          <p:nvPr/>
        </p:nvSpPr>
        <p:spPr>
          <a:xfrm>
            <a:off x="8222605" y="3330029"/>
            <a:ext cx="22679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cǎo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9509820" y="2558653"/>
            <a:ext cx="2123480" cy="1098352"/>
          </a:xfrm>
          <a:prstGeom prst="roundRect">
            <a:avLst>
              <a:gd name="adj" fmla="val 10406"/>
            </a:avLst>
          </a:prstGeom>
          <a:solidFill>
            <a:srgbClr val="EDF3F4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10509349" y="2704654"/>
            <a:ext cx="12675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10381059" y="2898279"/>
            <a:ext cx="38862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走</a:t>
            </a:r>
            <a:endParaRPr lang="en-US" sz="3000" dirty="0"/>
          </a:p>
        </p:txBody>
      </p:sp>
      <p:sp>
        <p:nvSpPr>
          <p:cNvPr id="52" name="Text 50"/>
          <p:cNvSpPr/>
          <p:nvPr/>
        </p:nvSpPr>
        <p:spPr>
          <a:xfrm>
            <a:off x="10461724" y="3330029"/>
            <a:ext cx="22406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zǒu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558701" y="3783955"/>
            <a:ext cx="5473750" cy="652611"/>
          </a:xfrm>
          <a:prstGeom prst="roundRect">
            <a:avLst>
              <a:gd name="adj" fmla="val 15568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Text 52"/>
          <p:cNvSpPr/>
          <p:nvPr/>
        </p:nvSpPr>
        <p:spPr>
          <a:xfrm>
            <a:off x="771376" y="3920430"/>
            <a:ext cx="514936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1</a:t>
            </a:r>
            <a:endParaRPr lang="en-US" sz="750" dirty="0"/>
          </a:p>
        </p:txBody>
      </p:sp>
      <p:sp>
        <p:nvSpPr>
          <p:cNvPr id="55" name="Text 53"/>
          <p:cNvSpPr/>
          <p:nvPr/>
        </p:nvSpPr>
        <p:spPr>
          <a:xfrm>
            <a:off x="771376" y="4104531"/>
            <a:ext cx="5149367" cy="19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</a:t>
            </a: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ao</a:t>
            </a: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or </a:t>
            </a: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ou</a:t>
            </a: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on whiteboard → hold up after each word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6159401" y="3783955"/>
            <a:ext cx="5473898" cy="652611"/>
          </a:xfrm>
          <a:prstGeom prst="roundRect">
            <a:avLst>
              <a:gd name="adj" fmla="val 15568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6372076" y="3920430"/>
            <a:ext cx="514951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SPEED ROUND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6372076" y="4104531"/>
            <a:ext cx="5149519" cy="19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Shout </a:t>
            </a: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ao</a:t>
            </a: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or </a:t>
            </a: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ou</a:t>
            </a: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out loud — no writing, fastest wins!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558701" y="4563517"/>
            <a:ext cx="3606850" cy="572691"/>
          </a:xfrm>
          <a:prstGeom prst="roundRect">
            <a:avLst>
              <a:gd name="adj" fmla="val 1774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711101" y="4677817"/>
            <a:ext cx="336809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750" dirty="0"/>
          </a:p>
        </p:txBody>
      </p:sp>
      <p:sp>
        <p:nvSpPr>
          <p:cNvPr id="61" name="Text 59"/>
          <p:cNvSpPr/>
          <p:nvPr/>
        </p:nvSpPr>
        <p:spPr>
          <a:xfrm>
            <a:off x="711101" y="4861917"/>
            <a:ext cx="3368091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Mouth shapes (ao / ou) remain visible on board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4292501" y="4563517"/>
            <a:ext cx="3606850" cy="572691"/>
          </a:xfrm>
          <a:prstGeom prst="roundRect">
            <a:avLst>
              <a:gd name="adj" fmla="val 1774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Text 61"/>
          <p:cNvSpPr/>
          <p:nvPr/>
        </p:nvSpPr>
        <p:spPr>
          <a:xfrm>
            <a:off x="4444901" y="4677817"/>
            <a:ext cx="336809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750" dirty="0"/>
          </a:p>
        </p:txBody>
      </p:sp>
      <p:sp>
        <p:nvSpPr>
          <p:cNvPr id="64" name="Text 62"/>
          <p:cNvSpPr/>
          <p:nvPr/>
        </p:nvSpPr>
        <p:spPr>
          <a:xfrm>
            <a:off x="4444901" y="4861917"/>
            <a:ext cx="3368091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Call out your own word — partner identifies ao or ou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8026301" y="4563517"/>
            <a:ext cx="3606998" cy="572691"/>
          </a:xfrm>
          <a:prstGeom prst="roundRect">
            <a:avLst>
              <a:gd name="adj" fmla="val 1774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Text 64"/>
          <p:cNvSpPr/>
          <p:nvPr/>
        </p:nvSpPr>
        <p:spPr>
          <a:xfrm>
            <a:off x="8178701" y="4677817"/>
            <a:ext cx="336824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750" dirty="0"/>
          </a:p>
        </p:txBody>
      </p:sp>
      <p:sp>
        <p:nvSpPr>
          <p:cNvPr id="67" name="Text 65"/>
          <p:cNvSpPr/>
          <p:nvPr/>
        </p:nvSpPr>
        <p:spPr>
          <a:xfrm>
            <a:off x="8178701" y="4861917"/>
            <a:ext cx="3368242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Every student responds after every word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204906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PINYIN ao/ou + LISTENING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631132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2758083" y="144363"/>
            <a:ext cx="12359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3 · CD Track 33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58701" y="638175"/>
            <a:ext cx="1534418" cy="244376"/>
          </a:xfrm>
          <a:prstGeom prst="roundRect">
            <a:avLst>
              <a:gd name="adj" fmla="val 5191713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36402" y="688925"/>
            <a:ext cx="120259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 3 · LISTENING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2245519" y="584150"/>
            <a:ext cx="343458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听力练习 · Listen &amp; Tick Grid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0756553" y="609600"/>
            <a:ext cx="876746" cy="301526"/>
          </a:xfrm>
          <a:prstGeom prst="roundRect">
            <a:avLst>
              <a:gd name="adj" fmla="val 4207697"/>
            </a:avLst>
          </a:prstGeom>
          <a:solidFill>
            <a:srgbClr val="FBF1F0"/>
          </a:solidFill>
          <a:ln w="9525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0943779" y="669875"/>
            <a:ext cx="51234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8 min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58701" y="1063526"/>
            <a:ext cx="2286000" cy="2986832"/>
          </a:xfrm>
          <a:prstGeom prst="roundRect">
            <a:avLst>
              <a:gd name="adj" fmla="val 5556"/>
            </a:avLst>
          </a:prstGeom>
          <a:solidFill>
            <a:srgbClr val="FBF1F0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525488" y="1593503"/>
            <a:ext cx="359474" cy="355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💿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1350169" y="2037904"/>
            <a:ext cx="71712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CD TRACK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439614" y="2269629"/>
            <a:ext cx="534656" cy="558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00"/>
              </a:lnSpc>
              <a:buNone/>
            </a:pPr>
            <a:r>
              <a:rPr lang="en-US" sz="44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33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1018885" y="2917329"/>
            <a:ext cx="136548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Book 2 · Unit 3 · Act. 6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486049" y="3168104"/>
            <a:ext cx="101501" cy="101501"/>
          </a:xfrm>
          <a:prstGeom prst="roundRect">
            <a:avLst>
              <a:gd name="adj" fmla="val 900878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650950" y="3168104"/>
            <a:ext cx="101501" cy="101501"/>
          </a:xfrm>
          <a:prstGeom prst="roundRect">
            <a:avLst>
              <a:gd name="adj" fmla="val 900878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1815852" y="3168104"/>
            <a:ext cx="101501" cy="101501"/>
          </a:xfrm>
          <a:prstGeom prst="roundRect">
            <a:avLst>
              <a:gd name="adj" fmla="val 900878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1493788" y="3358455"/>
            <a:ext cx="42414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 plays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098602" y="1063526"/>
            <a:ext cx="870539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Listen → </a:t>
            </a: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tick one choice (A / B / C)</a:t>
            </a: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for each box → check after 3 plays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098602" y="1377851"/>
            <a:ext cx="2760166" cy="1272778"/>
          </a:xfrm>
          <a:prstGeom prst="roundRect">
            <a:avLst>
              <a:gd name="adj" fmla="val 8980"/>
            </a:avLst>
          </a:prstGeom>
          <a:solidFill>
            <a:srgbClr val="F6F2E8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3295352" y="1523851"/>
            <a:ext cx="241399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BOX 1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295352" y="1787277"/>
            <a:ext cx="631924" cy="381000"/>
          </a:xfrm>
          <a:prstGeom prst="roundRect">
            <a:avLst>
              <a:gd name="adj" fmla="val 20000"/>
            </a:avLst>
          </a:prstGeom>
          <a:solidFill>
            <a:srgbClr val="EDE7D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376473" y="1873002"/>
            <a:ext cx="46968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016127" y="1896814"/>
            <a:ext cx="589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/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162723" y="1787277"/>
            <a:ext cx="631924" cy="381000"/>
          </a:xfrm>
          <a:prstGeom prst="roundRect">
            <a:avLst>
              <a:gd name="adj" fmla="val 20000"/>
            </a:avLst>
          </a:prstGeom>
          <a:solidFill>
            <a:srgbClr val="EDE7D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4243843" y="1873002"/>
            <a:ext cx="46968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883497" y="1896814"/>
            <a:ext cx="589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/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030093" y="1787277"/>
            <a:ext cx="631924" cy="381000"/>
          </a:xfrm>
          <a:prstGeom prst="roundRect">
            <a:avLst>
              <a:gd name="adj" fmla="val 20000"/>
            </a:avLst>
          </a:prstGeom>
          <a:solidFill>
            <a:srgbClr val="EDE7D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5111213" y="1873002"/>
            <a:ext cx="46968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295352" y="2274540"/>
            <a:ext cx="2366665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95352" y="2342704"/>
            <a:ext cx="241399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Tick your answer ↑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985718" y="1377851"/>
            <a:ext cx="2760315" cy="1272778"/>
          </a:xfrm>
          <a:prstGeom prst="roundRect">
            <a:avLst>
              <a:gd name="adj" fmla="val 8980"/>
            </a:avLst>
          </a:prstGeom>
          <a:solidFill>
            <a:srgbClr val="F6F2E8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6182469" y="1523851"/>
            <a:ext cx="241415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BOX 2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182469" y="1787277"/>
            <a:ext cx="631924" cy="381000"/>
          </a:xfrm>
          <a:prstGeom prst="roundRect">
            <a:avLst>
              <a:gd name="adj" fmla="val 20000"/>
            </a:avLst>
          </a:prstGeom>
          <a:solidFill>
            <a:srgbClr val="EDE7D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6263589" y="1873002"/>
            <a:ext cx="46968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903244" y="1896814"/>
            <a:ext cx="589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/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7049839" y="1787277"/>
            <a:ext cx="632073" cy="381000"/>
          </a:xfrm>
          <a:prstGeom prst="roundRect">
            <a:avLst>
              <a:gd name="adj" fmla="val 20000"/>
            </a:avLst>
          </a:prstGeom>
          <a:solidFill>
            <a:srgbClr val="EDE7D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7130958" y="1873002"/>
            <a:ext cx="46983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7770763" y="1896814"/>
            <a:ext cx="589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/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7917359" y="1787277"/>
            <a:ext cx="631924" cy="381000"/>
          </a:xfrm>
          <a:prstGeom prst="roundRect">
            <a:avLst>
              <a:gd name="adj" fmla="val 20000"/>
            </a:avLst>
          </a:prstGeom>
          <a:solidFill>
            <a:srgbClr val="EDE7D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7998479" y="1873002"/>
            <a:ext cx="46968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6182469" y="2274540"/>
            <a:ext cx="2366814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182469" y="2342704"/>
            <a:ext cx="241415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Tick your answer ↑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8872984" y="1377851"/>
            <a:ext cx="2760166" cy="1272778"/>
          </a:xfrm>
          <a:prstGeom prst="roundRect">
            <a:avLst>
              <a:gd name="adj" fmla="val 8980"/>
            </a:avLst>
          </a:prstGeom>
          <a:solidFill>
            <a:srgbClr val="F6F2E8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9069735" y="1523851"/>
            <a:ext cx="241399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BOX 3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9069735" y="1787277"/>
            <a:ext cx="631924" cy="381000"/>
          </a:xfrm>
          <a:prstGeom prst="roundRect">
            <a:avLst>
              <a:gd name="adj" fmla="val 20000"/>
            </a:avLst>
          </a:prstGeom>
          <a:solidFill>
            <a:srgbClr val="EDE7D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9150855" y="1873002"/>
            <a:ext cx="46968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9790509" y="1896814"/>
            <a:ext cx="589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/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9937105" y="1787277"/>
            <a:ext cx="631924" cy="381000"/>
          </a:xfrm>
          <a:prstGeom prst="roundRect">
            <a:avLst>
              <a:gd name="adj" fmla="val 20000"/>
            </a:avLst>
          </a:prstGeom>
          <a:solidFill>
            <a:srgbClr val="EDE7D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10018225" y="1873002"/>
            <a:ext cx="46968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10657880" y="1896814"/>
            <a:ext cx="589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/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0804475" y="1787277"/>
            <a:ext cx="631924" cy="381000"/>
          </a:xfrm>
          <a:prstGeom prst="roundRect">
            <a:avLst>
              <a:gd name="adj" fmla="val 20000"/>
            </a:avLst>
          </a:prstGeom>
          <a:solidFill>
            <a:srgbClr val="EDE7D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10885596" y="1873002"/>
            <a:ext cx="46968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9069735" y="2274540"/>
            <a:ext cx="2366665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9069735" y="2342704"/>
            <a:ext cx="241399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Tick your answer ↑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3098602" y="2777579"/>
            <a:ext cx="2760166" cy="1272778"/>
          </a:xfrm>
          <a:prstGeom prst="roundRect">
            <a:avLst>
              <a:gd name="adj" fmla="val 8980"/>
            </a:avLst>
          </a:prstGeom>
          <a:solidFill>
            <a:srgbClr val="F6F2E8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3295352" y="2923580"/>
            <a:ext cx="241399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BOX 4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3295352" y="3187005"/>
            <a:ext cx="631924" cy="381000"/>
          </a:xfrm>
          <a:prstGeom prst="roundRect">
            <a:avLst>
              <a:gd name="adj" fmla="val 20000"/>
            </a:avLst>
          </a:prstGeom>
          <a:solidFill>
            <a:srgbClr val="EDE7D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3376473" y="3272730"/>
            <a:ext cx="46968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</a:t>
            </a:r>
            <a:endParaRPr lang="en-US" sz="1200" dirty="0"/>
          </a:p>
        </p:txBody>
      </p:sp>
      <p:sp>
        <p:nvSpPr>
          <p:cNvPr id="62" name="Text 60"/>
          <p:cNvSpPr/>
          <p:nvPr/>
        </p:nvSpPr>
        <p:spPr>
          <a:xfrm>
            <a:off x="4016127" y="3296543"/>
            <a:ext cx="589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/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4162723" y="3187005"/>
            <a:ext cx="631924" cy="381000"/>
          </a:xfrm>
          <a:prstGeom prst="roundRect">
            <a:avLst>
              <a:gd name="adj" fmla="val 20000"/>
            </a:avLst>
          </a:prstGeom>
          <a:solidFill>
            <a:srgbClr val="EDE7D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Text 62"/>
          <p:cNvSpPr/>
          <p:nvPr/>
        </p:nvSpPr>
        <p:spPr>
          <a:xfrm>
            <a:off x="4243843" y="3272730"/>
            <a:ext cx="46968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</a:t>
            </a:r>
            <a:endParaRPr lang="en-US" sz="1200" dirty="0"/>
          </a:p>
        </p:txBody>
      </p:sp>
      <p:sp>
        <p:nvSpPr>
          <p:cNvPr id="65" name="Text 63"/>
          <p:cNvSpPr/>
          <p:nvPr/>
        </p:nvSpPr>
        <p:spPr>
          <a:xfrm>
            <a:off x="4883497" y="3296543"/>
            <a:ext cx="589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/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5030093" y="3187005"/>
            <a:ext cx="631924" cy="381000"/>
          </a:xfrm>
          <a:prstGeom prst="roundRect">
            <a:avLst>
              <a:gd name="adj" fmla="val 20000"/>
            </a:avLst>
          </a:prstGeom>
          <a:solidFill>
            <a:srgbClr val="EDE7D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5111213" y="3272730"/>
            <a:ext cx="46968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3295352" y="3674269"/>
            <a:ext cx="2366665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3295352" y="3742432"/>
            <a:ext cx="241399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Tick your answer ↑</a:t>
            </a:r>
            <a:endParaRPr lang="en-US" sz="900" dirty="0"/>
          </a:p>
        </p:txBody>
      </p:sp>
      <p:sp>
        <p:nvSpPr>
          <p:cNvPr id="70" name="Text 68"/>
          <p:cNvSpPr/>
          <p:nvPr/>
        </p:nvSpPr>
        <p:spPr>
          <a:xfrm>
            <a:off x="5985718" y="2777579"/>
            <a:ext cx="2760315" cy="1272778"/>
          </a:xfrm>
          <a:prstGeom prst="roundRect">
            <a:avLst>
              <a:gd name="adj" fmla="val 8980"/>
            </a:avLst>
          </a:prstGeom>
          <a:solidFill>
            <a:srgbClr val="F6F2E8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Text 69"/>
          <p:cNvSpPr/>
          <p:nvPr/>
        </p:nvSpPr>
        <p:spPr>
          <a:xfrm>
            <a:off x="6182469" y="2923580"/>
            <a:ext cx="241415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BOX 5</a:t>
            </a:r>
            <a:endParaRPr lang="en-US" sz="900" dirty="0"/>
          </a:p>
        </p:txBody>
      </p:sp>
      <p:sp>
        <p:nvSpPr>
          <p:cNvPr id="72" name="Text 70"/>
          <p:cNvSpPr/>
          <p:nvPr/>
        </p:nvSpPr>
        <p:spPr>
          <a:xfrm>
            <a:off x="6182469" y="3187005"/>
            <a:ext cx="631924" cy="381000"/>
          </a:xfrm>
          <a:prstGeom prst="roundRect">
            <a:avLst>
              <a:gd name="adj" fmla="val 20000"/>
            </a:avLst>
          </a:prstGeom>
          <a:solidFill>
            <a:srgbClr val="EDE7D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Text 71"/>
          <p:cNvSpPr/>
          <p:nvPr/>
        </p:nvSpPr>
        <p:spPr>
          <a:xfrm>
            <a:off x="6263589" y="3272730"/>
            <a:ext cx="46968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</a:t>
            </a:r>
            <a:endParaRPr lang="en-US" sz="1200" dirty="0"/>
          </a:p>
        </p:txBody>
      </p:sp>
      <p:sp>
        <p:nvSpPr>
          <p:cNvPr id="74" name="Text 72"/>
          <p:cNvSpPr/>
          <p:nvPr/>
        </p:nvSpPr>
        <p:spPr>
          <a:xfrm>
            <a:off x="6903244" y="3296543"/>
            <a:ext cx="589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/</a:t>
            </a:r>
            <a:endParaRPr lang="en-US" sz="900" dirty="0"/>
          </a:p>
        </p:txBody>
      </p:sp>
      <p:sp>
        <p:nvSpPr>
          <p:cNvPr id="75" name="Text 73"/>
          <p:cNvSpPr/>
          <p:nvPr/>
        </p:nvSpPr>
        <p:spPr>
          <a:xfrm>
            <a:off x="7049839" y="3187005"/>
            <a:ext cx="632073" cy="381000"/>
          </a:xfrm>
          <a:prstGeom prst="roundRect">
            <a:avLst>
              <a:gd name="adj" fmla="val 20000"/>
            </a:avLst>
          </a:prstGeom>
          <a:solidFill>
            <a:srgbClr val="EDE7D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74"/>
          <p:cNvSpPr/>
          <p:nvPr/>
        </p:nvSpPr>
        <p:spPr>
          <a:xfrm>
            <a:off x="7130958" y="3272730"/>
            <a:ext cx="46983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</a:t>
            </a:r>
            <a:endParaRPr lang="en-US" sz="1200" dirty="0"/>
          </a:p>
        </p:txBody>
      </p:sp>
      <p:sp>
        <p:nvSpPr>
          <p:cNvPr id="77" name="Text 75"/>
          <p:cNvSpPr/>
          <p:nvPr/>
        </p:nvSpPr>
        <p:spPr>
          <a:xfrm>
            <a:off x="7770763" y="3296543"/>
            <a:ext cx="589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/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7917359" y="3187005"/>
            <a:ext cx="631924" cy="381000"/>
          </a:xfrm>
          <a:prstGeom prst="roundRect">
            <a:avLst>
              <a:gd name="adj" fmla="val 20000"/>
            </a:avLst>
          </a:prstGeom>
          <a:solidFill>
            <a:srgbClr val="EDE7D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Text 77"/>
          <p:cNvSpPr/>
          <p:nvPr/>
        </p:nvSpPr>
        <p:spPr>
          <a:xfrm>
            <a:off x="7998479" y="3272730"/>
            <a:ext cx="46968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</a:t>
            </a:r>
            <a:endParaRPr lang="en-US" sz="1200" dirty="0"/>
          </a:p>
        </p:txBody>
      </p:sp>
      <p:sp>
        <p:nvSpPr>
          <p:cNvPr id="80" name="Shape 78"/>
          <p:cNvSpPr/>
          <p:nvPr/>
        </p:nvSpPr>
        <p:spPr>
          <a:xfrm>
            <a:off x="6182469" y="3674269"/>
            <a:ext cx="2366814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6182469" y="3742432"/>
            <a:ext cx="241415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Tick your answer ↑</a:t>
            </a:r>
            <a:endParaRPr lang="en-US" sz="900" dirty="0"/>
          </a:p>
        </p:txBody>
      </p:sp>
      <p:sp>
        <p:nvSpPr>
          <p:cNvPr id="82" name="Text 80"/>
          <p:cNvSpPr/>
          <p:nvPr/>
        </p:nvSpPr>
        <p:spPr>
          <a:xfrm>
            <a:off x="8872984" y="2777579"/>
            <a:ext cx="2760166" cy="1272778"/>
          </a:xfrm>
          <a:prstGeom prst="roundRect">
            <a:avLst>
              <a:gd name="adj" fmla="val 8980"/>
            </a:avLst>
          </a:prstGeom>
          <a:solidFill>
            <a:srgbClr val="F6F2E8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3" name="Text 81"/>
          <p:cNvSpPr/>
          <p:nvPr/>
        </p:nvSpPr>
        <p:spPr>
          <a:xfrm>
            <a:off x="9069735" y="2923580"/>
            <a:ext cx="241399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BOX 6</a:t>
            </a:r>
            <a:endParaRPr lang="en-US" sz="900" dirty="0"/>
          </a:p>
        </p:txBody>
      </p:sp>
      <p:sp>
        <p:nvSpPr>
          <p:cNvPr id="84" name="Text 82"/>
          <p:cNvSpPr/>
          <p:nvPr/>
        </p:nvSpPr>
        <p:spPr>
          <a:xfrm>
            <a:off x="9069735" y="3187005"/>
            <a:ext cx="631924" cy="381000"/>
          </a:xfrm>
          <a:prstGeom prst="roundRect">
            <a:avLst>
              <a:gd name="adj" fmla="val 20000"/>
            </a:avLst>
          </a:prstGeom>
          <a:solidFill>
            <a:srgbClr val="EDE7D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Text 83"/>
          <p:cNvSpPr/>
          <p:nvPr/>
        </p:nvSpPr>
        <p:spPr>
          <a:xfrm>
            <a:off x="9150855" y="3272730"/>
            <a:ext cx="46968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</a:t>
            </a:r>
            <a:endParaRPr lang="en-US" sz="1200" dirty="0"/>
          </a:p>
        </p:txBody>
      </p:sp>
      <p:sp>
        <p:nvSpPr>
          <p:cNvPr id="86" name="Text 84"/>
          <p:cNvSpPr/>
          <p:nvPr/>
        </p:nvSpPr>
        <p:spPr>
          <a:xfrm>
            <a:off x="9790509" y="3296543"/>
            <a:ext cx="589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/</a:t>
            </a:r>
            <a:endParaRPr lang="en-US" sz="900" dirty="0"/>
          </a:p>
        </p:txBody>
      </p:sp>
      <p:sp>
        <p:nvSpPr>
          <p:cNvPr id="87" name="Text 85"/>
          <p:cNvSpPr/>
          <p:nvPr/>
        </p:nvSpPr>
        <p:spPr>
          <a:xfrm>
            <a:off x="9937105" y="3187005"/>
            <a:ext cx="631924" cy="381000"/>
          </a:xfrm>
          <a:prstGeom prst="roundRect">
            <a:avLst>
              <a:gd name="adj" fmla="val 20000"/>
            </a:avLst>
          </a:prstGeom>
          <a:solidFill>
            <a:srgbClr val="EDE7D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8" name="Text 86"/>
          <p:cNvSpPr/>
          <p:nvPr/>
        </p:nvSpPr>
        <p:spPr>
          <a:xfrm>
            <a:off x="10018225" y="3272730"/>
            <a:ext cx="46968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</a:t>
            </a:r>
            <a:endParaRPr lang="en-US" sz="1200" dirty="0"/>
          </a:p>
        </p:txBody>
      </p:sp>
      <p:sp>
        <p:nvSpPr>
          <p:cNvPr id="89" name="Text 87"/>
          <p:cNvSpPr/>
          <p:nvPr/>
        </p:nvSpPr>
        <p:spPr>
          <a:xfrm>
            <a:off x="10657880" y="3296543"/>
            <a:ext cx="589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/</a:t>
            </a:r>
            <a:endParaRPr lang="en-US" sz="900" dirty="0"/>
          </a:p>
        </p:txBody>
      </p:sp>
      <p:sp>
        <p:nvSpPr>
          <p:cNvPr id="90" name="Text 88"/>
          <p:cNvSpPr/>
          <p:nvPr/>
        </p:nvSpPr>
        <p:spPr>
          <a:xfrm>
            <a:off x="10804475" y="3187005"/>
            <a:ext cx="631924" cy="381000"/>
          </a:xfrm>
          <a:prstGeom prst="roundRect">
            <a:avLst>
              <a:gd name="adj" fmla="val 20000"/>
            </a:avLst>
          </a:prstGeom>
          <a:solidFill>
            <a:srgbClr val="EDE7D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Text 89"/>
          <p:cNvSpPr/>
          <p:nvPr/>
        </p:nvSpPr>
        <p:spPr>
          <a:xfrm>
            <a:off x="10885596" y="3272730"/>
            <a:ext cx="46968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</a:t>
            </a:r>
            <a:endParaRPr lang="en-US" sz="1200" dirty="0"/>
          </a:p>
        </p:txBody>
      </p:sp>
      <p:sp>
        <p:nvSpPr>
          <p:cNvPr id="92" name="Shape 90"/>
          <p:cNvSpPr/>
          <p:nvPr/>
        </p:nvSpPr>
        <p:spPr>
          <a:xfrm>
            <a:off x="9069735" y="3674269"/>
            <a:ext cx="2366665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9069735" y="3742432"/>
            <a:ext cx="241399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Tick your answer ↑</a:t>
            </a:r>
            <a:endParaRPr lang="en-US" sz="900" dirty="0"/>
          </a:p>
        </p:txBody>
      </p:sp>
      <p:sp>
        <p:nvSpPr>
          <p:cNvPr id="94" name="Text 92"/>
          <p:cNvSpPr/>
          <p:nvPr/>
        </p:nvSpPr>
        <p:spPr>
          <a:xfrm>
            <a:off x="558701" y="4177308"/>
            <a:ext cx="3606850" cy="572691"/>
          </a:xfrm>
          <a:prstGeom prst="roundRect">
            <a:avLst>
              <a:gd name="adj" fmla="val 1774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5" name="Text 93"/>
          <p:cNvSpPr/>
          <p:nvPr/>
        </p:nvSpPr>
        <p:spPr>
          <a:xfrm>
            <a:off x="711101" y="4291608"/>
            <a:ext cx="336809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750" dirty="0"/>
          </a:p>
        </p:txBody>
      </p:sp>
      <p:sp>
        <p:nvSpPr>
          <p:cNvPr id="96" name="Text 94"/>
          <p:cNvSpPr/>
          <p:nvPr/>
        </p:nvSpPr>
        <p:spPr>
          <a:xfrm>
            <a:off x="711101" y="4475708"/>
            <a:ext cx="3368091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Pre-teach any unfamiliar vocabulary before playing</a:t>
            </a:r>
            <a:endParaRPr lang="en-US" sz="900" dirty="0"/>
          </a:p>
        </p:txBody>
      </p:sp>
      <p:sp>
        <p:nvSpPr>
          <p:cNvPr id="97" name="Text 95"/>
          <p:cNvSpPr/>
          <p:nvPr/>
        </p:nvSpPr>
        <p:spPr>
          <a:xfrm>
            <a:off x="4292501" y="4177308"/>
            <a:ext cx="3606850" cy="572691"/>
          </a:xfrm>
          <a:prstGeom prst="roundRect">
            <a:avLst>
              <a:gd name="adj" fmla="val 1774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8" name="Text 96"/>
          <p:cNvSpPr/>
          <p:nvPr/>
        </p:nvSpPr>
        <p:spPr>
          <a:xfrm>
            <a:off x="4444901" y="4291608"/>
            <a:ext cx="336809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750" dirty="0"/>
          </a:p>
        </p:txBody>
      </p:sp>
      <p:sp>
        <p:nvSpPr>
          <p:cNvPr id="99" name="Text 97"/>
          <p:cNvSpPr/>
          <p:nvPr/>
        </p:nvSpPr>
        <p:spPr>
          <a:xfrm>
            <a:off x="4444901" y="4475708"/>
            <a:ext cx="3368091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a full Chinese sentence for 2 of the boxes</a:t>
            </a:r>
            <a:endParaRPr lang="en-US" sz="900" dirty="0"/>
          </a:p>
        </p:txBody>
      </p:sp>
      <p:sp>
        <p:nvSpPr>
          <p:cNvPr id="100" name="Text 98"/>
          <p:cNvSpPr/>
          <p:nvPr/>
        </p:nvSpPr>
        <p:spPr>
          <a:xfrm>
            <a:off x="8026301" y="4177308"/>
            <a:ext cx="3606998" cy="572691"/>
          </a:xfrm>
          <a:prstGeom prst="roundRect">
            <a:avLst>
              <a:gd name="adj" fmla="val 1774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1" name="Text 99"/>
          <p:cNvSpPr/>
          <p:nvPr/>
        </p:nvSpPr>
        <p:spPr>
          <a:xfrm>
            <a:off x="8178701" y="4291608"/>
            <a:ext cx="336824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750" dirty="0"/>
          </a:p>
        </p:txBody>
      </p:sp>
      <p:sp>
        <p:nvSpPr>
          <p:cNvPr id="102" name="Text 100"/>
          <p:cNvSpPr/>
          <p:nvPr/>
        </p:nvSpPr>
        <p:spPr>
          <a:xfrm>
            <a:off x="8178701" y="4475708"/>
            <a:ext cx="3368242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Call out A, B, or C aloud after each box is checked</a:t>
            </a:r>
            <a:endParaRPr lang="en-US" sz="900" dirty="0"/>
          </a:p>
        </p:txBody>
      </p:sp>
      <p:sp>
        <p:nvSpPr>
          <p:cNvPr id="103" name="Shape 101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204906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PINYIN ao/ou + LISTENING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631132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2758083" y="144363"/>
            <a:ext cx="12145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4 · Chain Game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58701" y="638175"/>
            <a:ext cx="1505545" cy="244376"/>
          </a:xfrm>
          <a:prstGeom prst="roundRect">
            <a:avLst>
              <a:gd name="adj" fmla="val 5191713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36402" y="688925"/>
            <a:ext cx="117314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 4 · SPEAKING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2216646" y="584150"/>
            <a:ext cx="3769462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接龙游戏 · Chain Game · Act. 7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0757446" y="609600"/>
            <a:ext cx="875854" cy="301526"/>
          </a:xfrm>
          <a:prstGeom prst="roundRect">
            <a:avLst>
              <a:gd name="adj" fmla="val 4207697"/>
            </a:avLst>
          </a:prstGeom>
          <a:solidFill>
            <a:srgbClr val="EDF3F4"/>
          </a:solidFill>
          <a:ln w="9525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0944671" y="669875"/>
            <a:ext cx="51143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5 min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58701" y="1038076"/>
            <a:ext cx="3606850" cy="564654"/>
          </a:xfrm>
          <a:prstGeom prst="roundRect">
            <a:avLst>
              <a:gd name="adj" fmla="val 17993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45927" y="1149102"/>
            <a:ext cx="3297046" cy="342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📖 Category: </a:t>
            </a: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hobby words → then duration phrases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292501" y="1038076"/>
            <a:ext cx="3606998" cy="564654"/>
          </a:xfrm>
          <a:prstGeom prst="roundRect">
            <a:avLst>
              <a:gd name="adj" fmla="val 17993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479727" y="1149102"/>
            <a:ext cx="3297198" cy="171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⛓ Add one word each — </a:t>
            </a: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build the chain!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026450" y="1038076"/>
            <a:ext cx="3606850" cy="564654"/>
          </a:xfrm>
          <a:prstGeom prst="roundRect">
            <a:avLst>
              <a:gd name="adj" fmla="val 17993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213675" y="1149102"/>
            <a:ext cx="3297046" cy="171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</a:t>
            </a: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 seconds</a:t>
            </a: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or you're out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58701" y="1945481"/>
            <a:ext cx="5435650" cy="0"/>
          </a:xfrm>
          <a:prstGeom prst="line">
            <a:avLst/>
          </a:prstGeom>
          <a:noFill/>
          <a:ln w="19050">
            <a:solidFill>
              <a:srgbClr val="3A7D8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58701" y="1729680"/>
            <a:ext cx="554436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爱好词汇 · Hobby Words (word bank)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558701" y="2069306"/>
            <a:ext cx="874812" cy="495151"/>
          </a:xfrm>
          <a:prstGeom prst="roundRect">
            <a:avLst>
              <a:gd name="adj" fmla="val 20519"/>
            </a:avLst>
          </a:prstGeom>
          <a:solidFill>
            <a:srgbClr val="EDF3F4"/>
          </a:solidFill>
          <a:ln w="9525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748457" y="2155031"/>
            <a:ext cx="505206" cy="165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弹钢琴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20626" y="2345382"/>
            <a:ext cx="56198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tán gāngqín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522363" y="2069306"/>
            <a:ext cx="750838" cy="495151"/>
          </a:xfrm>
          <a:prstGeom prst="roundRect">
            <a:avLst>
              <a:gd name="adj" fmla="val 20519"/>
            </a:avLst>
          </a:prstGeom>
          <a:solidFill>
            <a:srgbClr val="EDF3F4"/>
          </a:solidFill>
          <a:ln w="9525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732657" y="2155031"/>
            <a:ext cx="336855" cy="165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唱歌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684288" y="2345382"/>
            <a:ext cx="43552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chàng gē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2362051" y="2069306"/>
            <a:ext cx="860227" cy="495151"/>
          </a:xfrm>
          <a:prstGeom prst="roundRect">
            <a:avLst>
              <a:gd name="adj" fmla="val 20519"/>
            </a:avLst>
          </a:prstGeom>
          <a:solidFill>
            <a:srgbClr val="EDF3F4"/>
          </a:solidFill>
          <a:ln w="9525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2544514" y="2155031"/>
            <a:ext cx="505206" cy="165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听音乐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2523976" y="2345382"/>
            <a:ext cx="54710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tīng yīnyuè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3311128" y="2069306"/>
            <a:ext cx="654100" cy="495151"/>
          </a:xfrm>
          <a:prstGeom prst="roundRect">
            <a:avLst>
              <a:gd name="adj" fmla="val 20519"/>
            </a:avLst>
          </a:prstGeom>
          <a:solidFill>
            <a:srgbClr val="EDF3F4"/>
          </a:solidFill>
          <a:ln w="9525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3473053" y="2155031"/>
            <a:ext cx="336855" cy="165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读书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3479453" y="2345382"/>
            <a:ext cx="32379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dú shū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4054078" y="2069306"/>
            <a:ext cx="853380" cy="495151"/>
          </a:xfrm>
          <a:prstGeom prst="roundRect">
            <a:avLst>
              <a:gd name="adj" fmla="val 20519"/>
            </a:avLst>
          </a:prstGeom>
          <a:solidFill>
            <a:srgbClr val="EDF3F4"/>
          </a:solidFill>
          <a:ln w="9525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4233118" y="2155031"/>
            <a:ext cx="505206" cy="165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看电视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4216003" y="2345382"/>
            <a:ext cx="54012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kàn diànshì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4996309" y="2069306"/>
            <a:ext cx="819150" cy="495151"/>
          </a:xfrm>
          <a:prstGeom prst="roundRect">
            <a:avLst>
              <a:gd name="adj" fmla="val 20519"/>
            </a:avLst>
          </a:prstGeom>
          <a:solidFill>
            <a:srgbClr val="EDF3F4"/>
          </a:solidFill>
          <a:ln w="9525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5158234" y="2155031"/>
            <a:ext cx="505206" cy="165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画画儿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5203478" y="2345382"/>
            <a:ext cx="41275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huà huàr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558701" y="2653308"/>
            <a:ext cx="667792" cy="495151"/>
          </a:xfrm>
          <a:prstGeom prst="roundRect">
            <a:avLst>
              <a:gd name="adj" fmla="val 20519"/>
            </a:avLst>
          </a:prstGeom>
          <a:solidFill>
            <a:srgbClr val="EDF3F4"/>
          </a:solidFill>
          <a:ln w="9525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727472" y="2739033"/>
            <a:ext cx="336855" cy="165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跳舞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720626" y="2929384"/>
            <a:ext cx="35082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tiào wǔ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1315343" y="2653308"/>
            <a:ext cx="819150" cy="495151"/>
          </a:xfrm>
          <a:prstGeom prst="roundRect">
            <a:avLst>
              <a:gd name="adj" fmla="val 20519"/>
            </a:avLst>
          </a:prstGeom>
          <a:solidFill>
            <a:srgbClr val="EDF3F4"/>
          </a:solidFill>
          <a:ln w="9525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1477268" y="2739033"/>
            <a:ext cx="505206" cy="165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踢足球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1543199" y="2929384"/>
            <a:ext cx="37070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tī zúqiú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2223343" y="2653308"/>
            <a:ext cx="819150" cy="495151"/>
          </a:xfrm>
          <a:prstGeom prst="roundRect">
            <a:avLst>
              <a:gd name="adj" fmla="val 20519"/>
            </a:avLst>
          </a:prstGeom>
          <a:solidFill>
            <a:srgbClr val="EDF3F4"/>
          </a:solidFill>
          <a:ln w="9525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2385268" y="2739033"/>
            <a:ext cx="505206" cy="165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打篮球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19499" y="2929384"/>
            <a:ext cx="43537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dǎ lánqiú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3131344" y="2653308"/>
            <a:ext cx="654100" cy="495151"/>
          </a:xfrm>
          <a:prstGeom prst="roundRect">
            <a:avLst>
              <a:gd name="adj" fmla="val 20519"/>
            </a:avLst>
          </a:prstGeom>
          <a:solidFill>
            <a:srgbClr val="EDF3F4"/>
          </a:solidFill>
          <a:ln w="9525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3293269" y="2739033"/>
            <a:ext cx="336855" cy="165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下棋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331964" y="2929384"/>
            <a:ext cx="25791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xià qí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6197501" y="1945481"/>
            <a:ext cx="5435798" cy="0"/>
          </a:xfrm>
          <a:prstGeom prst="line">
            <a:avLst/>
          </a:prstGeom>
          <a:noFill/>
          <a:ln w="19050">
            <a:solidFill>
              <a:srgbClr val="C8943E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197501" y="1729680"/>
            <a:ext cx="554451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时间短语 · Duration Phrases (extension)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6197501" y="2069306"/>
            <a:ext cx="999679" cy="495151"/>
          </a:xfrm>
          <a:prstGeom prst="roundRect">
            <a:avLst>
              <a:gd name="adj" fmla="val 20519"/>
            </a:avLst>
          </a:prstGeom>
          <a:solidFill>
            <a:srgbClr val="F8F0DF"/>
          </a:solidFill>
          <a:ln w="95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6367165" y="2155031"/>
            <a:ext cx="673557" cy="165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半个小时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6359426" y="2345382"/>
            <a:ext cx="68934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bàn gè xiǎoshí</a:t>
            </a:r>
            <a:endParaRPr lang="en-US" sz="750" dirty="0"/>
          </a:p>
        </p:txBody>
      </p:sp>
      <p:sp>
        <p:nvSpPr>
          <p:cNvPr id="55" name="Text 53"/>
          <p:cNvSpPr/>
          <p:nvPr/>
        </p:nvSpPr>
        <p:spPr>
          <a:xfrm>
            <a:off x="7286030" y="2069306"/>
            <a:ext cx="984200" cy="495151"/>
          </a:xfrm>
          <a:prstGeom prst="roundRect">
            <a:avLst>
              <a:gd name="adj" fmla="val 20519"/>
            </a:avLst>
          </a:prstGeom>
          <a:solidFill>
            <a:srgbClr val="F8F0DF"/>
          </a:solidFill>
          <a:ln w="95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Text 54"/>
          <p:cNvSpPr/>
          <p:nvPr/>
        </p:nvSpPr>
        <p:spPr>
          <a:xfrm>
            <a:off x="7447955" y="2155031"/>
            <a:ext cx="673557" cy="165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一个小时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7478911" y="2345382"/>
            <a:ext cx="61040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yī gè xiǎoshí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8359080" y="2069306"/>
            <a:ext cx="1053703" cy="495151"/>
          </a:xfrm>
          <a:prstGeom prst="roundRect">
            <a:avLst>
              <a:gd name="adj" fmla="val 20519"/>
            </a:avLst>
          </a:prstGeom>
          <a:solidFill>
            <a:srgbClr val="F8F0DF"/>
          </a:solidFill>
          <a:ln w="95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8555682" y="2155031"/>
            <a:ext cx="673557" cy="165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两个小时</a:t>
            </a:r>
            <a:endParaRPr lang="en-US" sz="1300" dirty="0"/>
          </a:p>
        </p:txBody>
      </p:sp>
      <p:sp>
        <p:nvSpPr>
          <p:cNvPr id="60" name="Text 58"/>
          <p:cNvSpPr/>
          <p:nvPr/>
        </p:nvSpPr>
        <p:spPr>
          <a:xfrm>
            <a:off x="8521005" y="2345382"/>
            <a:ext cx="74445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liǎng gè xiǎoshí</a:t>
            </a:r>
            <a:endParaRPr lang="en-US" sz="750" dirty="0"/>
          </a:p>
        </p:txBody>
      </p:sp>
      <p:sp>
        <p:nvSpPr>
          <p:cNvPr id="61" name="Text 59"/>
          <p:cNvSpPr/>
          <p:nvPr/>
        </p:nvSpPr>
        <p:spPr>
          <a:xfrm>
            <a:off x="9501634" y="2069306"/>
            <a:ext cx="871091" cy="495151"/>
          </a:xfrm>
          <a:prstGeom prst="roundRect">
            <a:avLst>
              <a:gd name="adj" fmla="val 20519"/>
            </a:avLst>
          </a:prstGeom>
          <a:solidFill>
            <a:srgbClr val="F8F0DF"/>
          </a:solidFill>
          <a:ln w="95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9689455" y="2155031"/>
            <a:ext cx="505206" cy="165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一刻钟</a:t>
            </a:r>
            <a:endParaRPr lang="en-US" sz="1300" dirty="0"/>
          </a:p>
        </p:txBody>
      </p:sp>
      <p:sp>
        <p:nvSpPr>
          <p:cNvPr id="63" name="Text 61"/>
          <p:cNvSpPr/>
          <p:nvPr/>
        </p:nvSpPr>
        <p:spPr>
          <a:xfrm>
            <a:off x="9663559" y="2345382"/>
            <a:ext cx="5581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yī kè zhōng</a:t>
            </a:r>
            <a:endParaRPr lang="en-US" sz="750" dirty="0"/>
          </a:p>
        </p:txBody>
      </p:sp>
      <p:sp>
        <p:nvSpPr>
          <p:cNvPr id="64" name="Text 62"/>
          <p:cNvSpPr/>
          <p:nvPr/>
        </p:nvSpPr>
        <p:spPr>
          <a:xfrm>
            <a:off x="10461575" y="2069306"/>
            <a:ext cx="941040" cy="495151"/>
          </a:xfrm>
          <a:prstGeom prst="roundRect">
            <a:avLst>
              <a:gd name="adj" fmla="val 20519"/>
            </a:avLst>
          </a:prstGeom>
          <a:solidFill>
            <a:srgbClr val="F8F0DF"/>
          </a:solidFill>
          <a:ln w="95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10684371" y="2155031"/>
            <a:ext cx="505206" cy="165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三刻钟</a:t>
            </a:r>
            <a:endParaRPr lang="en-US" sz="1300" dirty="0"/>
          </a:p>
        </p:txBody>
      </p:sp>
      <p:sp>
        <p:nvSpPr>
          <p:cNvPr id="66" name="Text 64"/>
          <p:cNvSpPr/>
          <p:nvPr/>
        </p:nvSpPr>
        <p:spPr>
          <a:xfrm>
            <a:off x="10623500" y="2345382"/>
            <a:ext cx="62953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sān kè zhōng</a:t>
            </a:r>
            <a:endParaRPr lang="en-US" sz="750" dirty="0"/>
          </a:p>
        </p:txBody>
      </p:sp>
      <p:sp>
        <p:nvSpPr>
          <p:cNvPr id="67" name="Text 65"/>
          <p:cNvSpPr/>
          <p:nvPr/>
        </p:nvSpPr>
        <p:spPr>
          <a:xfrm>
            <a:off x="6197501" y="2653308"/>
            <a:ext cx="1149251" cy="495151"/>
          </a:xfrm>
          <a:prstGeom prst="roundRect">
            <a:avLst>
              <a:gd name="adj" fmla="val 20519"/>
            </a:avLst>
          </a:prstGeom>
          <a:solidFill>
            <a:srgbClr val="F8F0DF"/>
          </a:solidFill>
          <a:ln w="95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Text 66"/>
          <p:cNvSpPr/>
          <p:nvPr/>
        </p:nvSpPr>
        <p:spPr>
          <a:xfrm>
            <a:off x="6359426" y="2739033"/>
            <a:ext cx="841909" cy="165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一个半小时</a:t>
            </a:r>
            <a:endParaRPr lang="en-US" sz="1300" dirty="0"/>
          </a:p>
        </p:txBody>
      </p:sp>
      <p:sp>
        <p:nvSpPr>
          <p:cNvPr id="69" name="Text 67"/>
          <p:cNvSpPr/>
          <p:nvPr/>
        </p:nvSpPr>
        <p:spPr>
          <a:xfrm>
            <a:off x="6371481" y="2929384"/>
            <a:ext cx="81731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yī gè bàn xiǎoshí</a:t>
            </a:r>
            <a:endParaRPr lang="en-US" sz="750" dirty="0"/>
          </a:p>
        </p:txBody>
      </p:sp>
      <p:sp>
        <p:nvSpPr>
          <p:cNvPr id="70" name="Text 68"/>
          <p:cNvSpPr/>
          <p:nvPr/>
        </p:nvSpPr>
        <p:spPr>
          <a:xfrm>
            <a:off x="6197501" y="3313509"/>
            <a:ext cx="5435798" cy="447675"/>
          </a:xfrm>
          <a:prstGeom prst="roundRect">
            <a:avLst>
              <a:gd name="adj" fmla="val 22695"/>
            </a:avLst>
          </a:prstGeom>
          <a:solidFill>
            <a:srgbClr val="EDE7D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Text 69"/>
          <p:cNvSpPr/>
          <p:nvPr/>
        </p:nvSpPr>
        <p:spPr>
          <a:xfrm>
            <a:off x="6410176" y="3437334"/>
            <a:ext cx="511065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我每天唱歌</a:t>
            </a: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1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两个小时。</a:t>
            </a: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— Extension: full sentence!</a:t>
            </a:r>
            <a:endParaRPr lang="en-US" sz="1100" dirty="0"/>
          </a:p>
        </p:txBody>
      </p:sp>
      <p:sp>
        <p:nvSpPr>
          <p:cNvPr id="72" name="Text 70"/>
          <p:cNvSpPr/>
          <p:nvPr/>
        </p:nvSpPr>
        <p:spPr>
          <a:xfrm>
            <a:off x="558701" y="3888135"/>
            <a:ext cx="3606850" cy="572691"/>
          </a:xfrm>
          <a:prstGeom prst="roundRect">
            <a:avLst>
              <a:gd name="adj" fmla="val 1774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Text 71"/>
          <p:cNvSpPr/>
          <p:nvPr/>
        </p:nvSpPr>
        <p:spPr>
          <a:xfrm>
            <a:off x="711101" y="4002435"/>
            <a:ext cx="336809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750" dirty="0"/>
          </a:p>
        </p:txBody>
      </p:sp>
      <p:sp>
        <p:nvSpPr>
          <p:cNvPr id="74" name="Text 72"/>
          <p:cNvSpPr/>
          <p:nvPr/>
        </p:nvSpPr>
        <p:spPr>
          <a:xfrm>
            <a:off x="711101" y="4186535"/>
            <a:ext cx="3368091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Word bank remains visible on this slide</a:t>
            </a:r>
            <a:endParaRPr lang="en-US" sz="900" dirty="0"/>
          </a:p>
        </p:txBody>
      </p:sp>
      <p:sp>
        <p:nvSpPr>
          <p:cNvPr id="75" name="Text 73"/>
          <p:cNvSpPr/>
          <p:nvPr/>
        </p:nvSpPr>
        <p:spPr>
          <a:xfrm>
            <a:off x="4292501" y="3888135"/>
            <a:ext cx="3606850" cy="572691"/>
          </a:xfrm>
          <a:prstGeom prst="roundRect">
            <a:avLst>
              <a:gd name="adj" fmla="val 1774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74"/>
          <p:cNvSpPr/>
          <p:nvPr/>
        </p:nvSpPr>
        <p:spPr>
          <a:xfrm>
            <a:off x="4444901" y="4002435"/>
            <a:ext cx="336809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750" dirty="0"/>
          </a:p>
        </p:txBody>
      </p:sp>
      <p:sp>
        <p:nvSpPr>
          <p:cNvPr id="77" name="Text 75"/>
          <p:cNvSpPr/>
          <p:nvPr/>
        </p:nvSpPr>
        <p:spPr>
          <a:xfrm>
            <a:off x="4444901" y="4186535"/>
            <a:ext cx="3368091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Say the word AND a full duration sentence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8026301" y="3888135"/>
            <a:ext cx="3606998" cy="572691"/>
          </a:xfrm>
          <a:prstGeom prst="roundRect">
            <a:avLst>
              <a:gd name="adj" fmla="val 1774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Text 77"/>
          <p:cNvSpPr/>
          <p:nvPr/>
        </p:nvSpPr>
        <p:spPr>
          <a:xfrm>
            <a:off x="8178701" y="4002435"/>
            <a:ext cx="336824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750" dirty="0"/>
          </a:p>
        </p:txBody>
      </p:sp>
      <p:sp>
        <p:nvSpPr>
          <p:cNvPr id="80" name="Text 78"/>
          <p:cNvSpPr/>
          <p:nvPr/>
        </p:nvSpPr>
        <p:spPr>
          <a:xfrm>
            <a:off x="8178701" y="4186535"/>
            <a:ext cx="3368242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Every student contributes a word in the chain</a:t>
            </a:r>
            <a:endParaRPr lang="en-US" sz="900" dirty="0"/>
          </a:p>
        </p:txBody>
      </p:sp>
      <p:sp>
        <p:nvSpPr>
          <p:cNvPr id="81" name="Shape 79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204906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PINYIN ao/ou + LISTENING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631132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2758083" y="144363"/>
            <a:ext cx="70908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Plenary · 结束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9600" y="685651"/>
            <a:ext cx="1119225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PLENARY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09600" y="891927"/>
            <a:ext cx="1119225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600"/>
              </a:spcAft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今日总结 · Lesson Wrap-Up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09600" y="1523702"/>
            <a:ext cx="5346650" cy="2974330"/>
          </a:xfrm>
          <a:prstGeom prst="roundRect">
            <a:avLst>
              <a:gd name="adj" fmla="val 4270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73026" y="1736378"/>
            <a:ext cx="491619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SUCCESS CRITERIA · CHECK IN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73026" y="2117378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EDF3F4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934938" y="2155478"/>
            <a:ext cx="14573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90476" y="2117378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F8F0D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252389" y="2155478"/>
            <a:ext cx="14573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✋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507927" y="2117378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FBF1F0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569839" y="2155478"/>
            <a:ext cx="14573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👎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901577" y="2050703"/>
            <a:ext cx="3867073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hear the difference between ao and ou in spoken Chinese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73026" y="2565053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EDF3F4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934938" y="2603153"/>
            <a:ext cx="14573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90476" y="2565053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F8F0D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252389" y="2603153"/>
            <a:ext cx="14573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✋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507927" y="2565053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FBF1F0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1569839" y="2603153"/>
            <a:ext cx="14573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👎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901577" y="2598390"/>
            <a:ext cx="307252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correctly identify ao / ou in new words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73026" y="3012728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EDF3F4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934938" y="3050828"/>
            <a:ext cx="14573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90476" y="3012728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F8F0D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1252389" y="3050828"/>
            <a:ext cx="14573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✋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507927" y="3012728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FBF1F0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1569839" y="3050828"/>
            <a:ext cx="14573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👎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901577" y="2946053"/>
            <a:ext cx="3867073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follow spoken Chinese to tick answers in a listening grid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235601" y="1523702"/>
            <a:ext cx="5346799" cy="2974330"/>
          </a:xfrm>
          <a:prstGeom prst="roundRect">
            <a:avLst>
              <a:gd name="adj" fmla="val 4270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6499027" y="1736378"/>
            <a:ext cx="491634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EXIT TICKET · 出门票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499027" y="2050703"/>
            <a:ext cx="491634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2 Chinese words with </a:t>
            </a: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ao</a:t>
            </a: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and 2 with </a:t>
            </a:r>
            <a:r>
              <a:rPr lang="en-US" sz="12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ou</a:t>
            </a: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: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499027" y="2387203"/>
            <a:ext cx="2352824" cy="891927"/>
          </a:xfrm>
          <a:prstGeom prst="roundRect">
            <a:avLst>
              <a:gd name="adj" fmla="val 11391"/>
            </a:avLst>
          </a:prstGeom>
          <a:solidFill>
            <a:srgbClr val="FEFCF7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7357467" y="2507754"/>
            <a:ext cx="64851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AO WORD 1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7535614" y="2679204"/>
            <a:ext cx="285089" cy="279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2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好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7575798" y="2996654"/>
            <a:ext cx="20311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hǎo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8966150" y="2387203"/>
            <a:ext cx="2352824" cy="891927"/>
          </a:xfrm>
          <a:prstGeom prst="roundRect">
            <a:avLst>
              <a:gd name="adj" fmla="val 11391"/>
            </a:avLst>
          </a:prstGeom>
          <a:solidFill>
            <a:srgbClr val="FEFCF7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9815959" y="2507754"/>
            <a:ext cx="66611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AO WORD 2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10002738" y="2679204"/>
            <a:ext cx="285089" cy="279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2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高</a:t>
            </a:r>
            <a:endParaRPr lang="en-US" sz="2200" dirty="0"/>
          </a:p>
        </p:txBody>
      </p:sp>
      <p:sp>
        <p:nvSpPr>
          <p:cNvPr id="42" name="Text 40"/>
          <p:cNvSpPr/>
          <p:nvPr/>
        </p:nvSpPr>
        <p:spPr>
          <a:xfrm>
            <a:off x="10040987" y="2996654"/>
            <a:ext cx="20721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gāo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499027" y="3393430"/>
            <a:ext cx="2352824" cy="891927"/>
          </a:xfrm>
          <a:prstGeom prst="roundRect">
            <a:avLst>
              <a:gd name="adj" fmla="val 11391"/>
            </a:avLst>
          </a:prstGeom>
          <a:solidFill>
            <a:srgbClr val="FEFCF7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7355235" y="3513981"/>
            <a:ext cx="65306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OU WORD 1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7535614" y="3685431"/>
            <a:ext cx="285089" cy="279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22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走</a:t>
            </a:r>
            <a:endParaRPr lang="en-US" sz="2200" dirty="0"/>
          </a:p>
        </p:txBody>
      </p:sp>
      <p:sp>
        <p:nvSpPr>
          <p:cNvPr id="46" name="Text 44"/>
          <p:cNvSpPr/>
          <p:nvPr/>
        </p:nvSpPr>
        <p:spPr>
          <a:xfrm>
            <a:off x="7581156" y="4002881"/>
            <a:ext cx="19218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zǒu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8966150" y="3393430"/>
            <a:ext cx="2352824" cy="891927"/>
          </a:xfrm>
          <a:prstGeom prst="roundRect">
            <a:avLst>
              <a:gd name="adj" fmla="val 11391"/>
            </a:avLst>
          </a:prstGeom>
          <a:solidFill>
            <a:srgbClr val="FEFCF7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9813727" y="3513981"/>
            <a:ext cx="67067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OU WORD 2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10002738" y="3685431"/>
            <a:ext cx="285089" cy="279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22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头</a:t>
            </a:r>
            <a:endParaRPr lang="en-US" sz="2200" dirty="0"/>
          </a:p>
        </p:txBody>
      </p:sp>
      <p:sp>
        <p:nvSpPr>
          <p:cNvPr id="50" name="Text 48"/>
          <p:cNvSpPr/>
          <p:nvPr/>
        </p:nvSpPr>
        <p:spPr>
          <a:xfrm>
            <a:off x="10056019" y="4002881"/>
            <a:ext cx="17654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tóu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204906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PINYIN ao/ou + LISTENING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631132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2758083" y="144363"/>
            <a:ext cx="114111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Preview · Next Lesson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93635" y="1335286"/>
            <a:ext cx="200458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COMING UP NEXT · 下一课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149410" y="1624161"/>
            <a:ext cx="3893031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L5 · 艺术词汇 + 课文二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4682244" y="2179737"/>
            <a:ext cx="282736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0"/>
              </a:spcAft>
              <a:buNone/>
            </a:pPr>
            <a:r>
              <a:rPr lang="en-US" sz="13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Art &amp; Reading Vocabulary · Text 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425625" y="2662238"/>
            <a:ext cx="1746200" cy="984200"/>
          </a:xfrm>
          <a:prstGeom prst="roundRect">
            <a:avLst>
              <a:gd name="adj" fmla="val 11613"/>
            </a:avLst>
          </a:prstGeom>
          <a:solidFill>
            <a:srgbClr val="F8F0DF"/>
          </a:solidFill>
          <a:ln w="95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651050" y="2824163"/>
            <a:ext cx="1295349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小说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651050" y="3116312"/>
            <a:ext cx="129534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xiǎoshuō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651050" y="3322588"/>
            <a:ext cx="129534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novel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324225" y="2662238"/>
            <a:ext cx="1746200" cy="984200"/>
          </a:xfrm>
          <a:prstGeom prst="roundRect">
            <a:avLst>
              <a:gd name="adj" fmla="val 11613"/>
            </a:avLst>
          </a:prstGeom>
          <a:solidFill>
            <a:srgbClr val="EDF3F4"/>
          </a:solidFill>
          <a:ln w="9525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3549650" y="2824163"/>
            <a:ext cx="1295349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杂志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3549650" y="3116312"/>
            <a:ext cx="129534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zázhì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549650" y="3322588"/>
            <a:ext cx="129534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magazine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222825" y="2662238"/>
            <a:ext cx="1746200" cy="984200"/>
          </a:xfrm>
          <a:prstGeom prst="roundRect">
            <a:avLst>
              <a:gd name="adj" fmla="val 11613"/>
            </a:avLst>
          </a:prstGeom>
          <a:solidFill>
            <a:srgbClr val="FBF1F0"/>
          </a:solidFill>
          <a:ln w="9525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448251" y="2824163"/>
            <a:ext cx="1295349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画儿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448251" y="3116312"/>
            <a:ext cx="129534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huàr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48251" y="3322588"/>
            <a:ext cx="129534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drawing / painting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121426" y="2662238"/>
            <a:ext cx="1746200" cy="984200"/>
          </a:xfrm>
          <a:prstGeom prst="roundRect">
            <a:avLst>
              <a:gd name="adj" fmla="val 11613"/>
            </a:avLst>
          </a:prstGeom>
          <a:solidFill>
            <a:srgbClr val="F8F0DF"/>
          </a:solidFill>
          <a:ln w="95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346851" y="2824163"/>
            <a:ext cx="1295349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国画儿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7346851" y="3116312"/>
            <a:ext cx="129534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guóhuàr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346851" y="3322588"/>
            <a:ext cx="129534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Chinese painting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020026" y="2662238"/>
            <a:ext cx="1746200" cy="984200"/>
          </a:xfrm>
          <a:prstGeom prst="roundRect">
            <a:avLst>
              <a:gd name="adj" fmla="val 11613"/>
            </a:avLst>
          </a:prstGeom>
          <a:solidFill>
            <a:srgbClr val="EDF3F4"/>
          </a:solidFill>
          <a:ln w="9525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9245452" y="2824163"/>
            <a:ext cx="1295349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油画儿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9245452" y="3116312"/>
            <a:ext cx="129534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yóuhuàr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9245452" y="3322588"/>
            <a:ext cx="129534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oil painting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222825" y="3798838"/>
            <a:ext cx="1746200" cy="984200"/>
          </a:xfrm>
          <a:prstGeom prst="roundRect">
            <a:avLst>
              <a:gd name="adj" fmla="val 11613"/>
            </a:avLst>
          </a:prstGeom>
          <a:solidFill>
            <a:srgbClr val="FBF1F0"/>
          </a:solidFill>
          <a:ln w="9525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5448251" y="3960763"/>
            <a:ext cx="1295349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水彩画儿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5448251" y="4252913"/>
            <a:ext cx="129534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shuǐcǎihuàr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448251" y="4459188"/>
            <a:ext cx="129534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watercolour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474440" y="5011638"/>
            <a:ext cx="9242971" cy="663476"/>
          </a:xfrm>
          <a:prstGeom prst="roundRect">
            <a:avLst>
              <a:gd name="adj" fmla="val 17227"/>
            </a:avLst>
          </a:prstGeom>
          <a:solidFill>
            <a:srgbClr val="EDE7D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1786479" y="5186214"/>
            <a:ext cx="23317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📖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2195066" y="5242024"/>
            <a:ext cx="8372180" cy="202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95"/>
              </a:lnSpc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Next lesson: learn these </a:t>
            </a: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art vocab words</a:t>
            </a: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then read </a:t>
            </a: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Text 2</a:t>
            </a: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from the book — find out what hobbies the characters enjoy!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2026-06-30T02:51:26Z</dcterms:created>
  <dcterms:modified xsi:type="dcterms:W3CDTF">2026-06-30T02:51:26Z</dcterms:modified>
</cp:coreProperties>
</file>