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69950" y="1511350"/>
            <a:ext cx="287411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8 · UNIT 3 · LESSON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269950" y="1889075"/>
            <a:ext cx="2538933" cy="1269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0"/>
              </a:lnSpc>
              <a:spcAft>
                <a:spcPts val="1000"/>
              </a:spcAft>
              <a:buNone/>
            </a:pPr>
            <a:r>
              <a:rPr lang="en-US" sz="10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endParaRPr lang="en-US" sz="10000" dirty="0"/>
          </a:p>
        </p:txBody>
      </p:sp>
      <p:sp>
        <p:nvSpPr>
          <p:cNvPr id="4" name="Text 2"/>
          <p:cNvSpPr/>
          <p:nvPr/>
        </p:nvSpPr>
        <p:spPr>
          <a:xfrm>
            <a:off x="1269950" y="3285976"/>
            <a:ext cx="404301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3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Present Continuous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269950" y="3895576"/>
            <a:ext cx="423125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1800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现在进行时 — actions happening right now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69950" y="4590901"/>
            <a:ext cx="711101" cy="50750"/>
          </a:xfrm>
          <a:prstGeom prst="roundRect">
            <a:avLst>
              <a:gd name="adj" fmla="val 500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69950" y="4946452"/>
            <a:ext cx="1118146" cy="400050"/>
          </a:xfrm>
          <a:prstGeom prst="roundRect">
            <a:avLst>
              <a:gd name="adj" fmla="val 317142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508075" y="5032177"/>
            <a:ext cx="65473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 min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65797" y="4946452"/>
            <a:ext cx="2623989" cy="400050"/>
          </a:xfrm>
          <a:prstGeom prst="roundRect">
            <a:avLst>
              <a:gd name="adj" fmla="val 317142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03922" y="5032177"/>
            <a:ext cx="21906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📚 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Easy Steps Book 2 · Unit 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367486" y="4946452"/>
            <a:ext cx="2163217" cy="400050"/>
          </a:xfrm>
          <a:prstGeom prst="roundRect">
            <a:avLst>
              <a:gd name="adj" fmla="val 317142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605611" y="5032177"/>
            <a:ext cx="17207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🎯 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 + verb structure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5584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正在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6978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296739" y="144363"/>
            <a:ext cx="9131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0–8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660350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866626"/>
            <a:ext cx="1119225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Vocabulary Review · L7.5 Words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09600" y="1346002"/>
            <a:ext cx="1119225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English → students write Chinese character on whiteboard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09600" y="1704677"/>
            <a:ext cx="1722983" cy="928092"/>
          </a:xfrm>
          <a:prstGeom prst="roundRect">
            <a:avLst>
              <a:gd name="adj" fmla="val 1094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20626" y="1790402"/>
            <a:ext cx="907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①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217116" y="1917353"/>
            <a:ext cx="518109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spcBef>
                <a:spcPts val="600"/>
              </a:spcBef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小说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263104" y="2222153"/>
            <a:ext cx="42429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xiǎoshuō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356253" y="2406253"/>
            <a:ext cx="229529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novel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459534" y="1704677"/>
            <a:ext cx="1722983" cy="928092"/>
          </a:xfrm>
          <a:prstGeom prst="roundRect">
            <a:avLst>
              <a:gd name="adj" fmla="val 1094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570559" y="1790402"/>
            <a:ext cx="907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②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067050" y="1917353"/>
            <a:ext cx="518109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spcBef>
                <a:spcPts val="600"/>
              </a:spcBef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杂志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203079" y="2222153"/>
            <a:ext cx="24061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zázhì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112219" y="2406253"/>
            <a:ext cx="417463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magazine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309467" y="1704677"/>
            <a:ext cx="1722983" cy="928092"/>
          </a:xfrm>
          <a:prstGeom prst="roundRect">
            <a:avLst>
              <a:gd name="adj" fmla="val 1094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420493" y="1790402"/>
            <a:ext cx="907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③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916984" y="1917353"/>
            <a:ext cx="518109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spcBef>
                <a:spcPts val="600"/>
              </a:spcBef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画儿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068788" y="2222153"/>
            <a:ext cx="20827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huàr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4765261" y="2406253"/>
            <a:ext cx="811396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drawing / painting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159401" y="1704677"/>
            <a:ext cx="1722983" cy="928092"/>
          </a:xfrm>
          <a:prstGeom prst="roundRect">
            <a:avLst>
              <a:gd name="adj" fmla="val 1094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270427" y="1790402"/>
            <a:ext cx="907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④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6639967" y="1917353"/>
            <a:ext cx="777088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spcBef>
                <a:spcPts val="600"/>
              </a:spcBef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国画儿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831509" y="2222153"/>
            <a:ext cx="3861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guóhuàr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6652236" y="2406253"/>
            <a:ext cx="73716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Chinese painting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8009334" y="1704677"/>
            <a:ext cx="1722983" cy="928092"/>
          </a:xfrm>
          <a:prstGeom prst="roundRect">
            <a:avLst>
              <a:gd name="adj" fmla="val 1094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120360" y="1790402"/>
            <a:ext cx="907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⑤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8489900" y="1917353"/>
            <a:ext cx="777088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spcBef>
                <a:spcPts val="600"/>
              </a:spcBef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油画儿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8685312" y="2222153"/>
            <a:ext cx="37844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yóuhuàr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8625737" y="2406253"/>
            <a:ext cx="490177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oil painting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9859268" y="1704677"/>
            <a:ext cx="1723132" cy="928092"/>
          </a:xfrm>
          <a:prstGeom prst="roundRect">
            <a:avLst>
              <a:gd name="adj" fmla="val 1094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9970294" y="1790402"/>
            <a:ext cx="907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⑥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10212884" y="1917353"/>
            <a:ext cx="103606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spcBef>
                <a:spcPts val="600"/>
              </a:spcBef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水彩画儿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10454729" y="2222153"/>
            <a:ext cx="54270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shuǐcǎihuàr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10268458" y="2406253"/>
            <a:ext cx="904604" cy="115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10"/>
              </a:lnSpc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watercolour painting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09600" y="2810470"/>
            <a:ext cx="10972800" cy="1223963"/>
          </a:xfrm>
          <a:prstGeom prst="roundRect">
            <a:avLst>
              <a:gd name="adj" fmla="val 10376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933450" y="3007221"/>
            <a:ext cx="4911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BRIDGE · 5–8 MIN — You saw 正在 in Text 2: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933450" y="3200846"/>
            <a:ext cx="4911641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r>
              <a:rPr lang="en-US" sz="22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学画国画儿。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933450" y="3642122"/>
            <a:ext cx="4911641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 you think 正在 means?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Take 2–3 ideas before confirming.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5584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正在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6978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296739" y="144363"/>
            <a:ext cx="18895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Success Criteria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719263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TODAY'S GOAL · 今日目标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963638"/>
            <a:ext cx="1098519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11101" y="2633514"/>
            <a:ext cx="10769798" cy="952946"/>
          </a:xfrm>
          <a:prstGeom prst="roundRect">
            <a:avLst>
              <a:gd name="adj" fmla="val 13327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34951" y="2855714"/>
            <a:ext cx="103245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· 学习目标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34951" y="3061990"/>
            <a:ext cx="10324540" cy="302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We are learning to describe actions </a:t>
            </a:r>
            <a:r>
              <a:rPr lang="en-US" sz="17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happening right now</a:t>
            </a:r>
            <a:r>
              <a:rPr lang="en-US" sz="17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using </a:t>
            </a:r>
            <a:r>
              <a:rPr lang="en-US" sz="17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r>
              <a:rPr lang="en-US" sz="17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11101" y="3815060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SUCCESS CRITERIA · 我能……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11101" y="4097536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31949" y="4149923"/>
            <a:ext cx="643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68301" y="4084886"/>
            <a:ext cx="4021154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form 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 + verb</a:t>
            </a: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sentences → 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他正在弹钢琴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1101" y="4541937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19299" y="4594324"/>
            <a:ext cx="901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68301" y="4529286"/>
            <a:ext cx="4008555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ask and answer 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你正在……吗？</a:t>
            </a: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/</a:t>
            </a: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我正在……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1101" y="4986338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8852" y="5038725"/>
            <a:ext cx="909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68301" y="4973687"/>
            <a:ext cx="6620658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use 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</a:t>
            </a: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a partner dialogue about what people are doing </a:t>
            </a: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at this moment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5584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正在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6978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296739" y="144363"/>
            <a:ext cx="9214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Key Pattern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1054894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8–20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1248519"/>
            <a:ext cx="1119225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Key Pattern · 正在 + verb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09600" y="1715244"/>
            <a:ext cx="1119225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 正在 before any verb to say the action is happening right now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09600" y="2073920"/>
            <a:ext cx="1262211" cy="682377"/>
          </a:xfrm>
          <a:prstGeom prst="roundRect">
            <a:avLst>
              <a:gd name="adj" fmla="val 14889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31800" y="2194471"/>
            <a:ext cx="834167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Subject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77057" y="2511921"/>
            <a:ext cx="5376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主语 subject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973312" y="2257871"/>
            <a:ext cx="1487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220664" y="2073920"/>
            <a:ext cx="1322636" cy="682377"/>
          </a:xfrm>
          <a:prstGeom prst="roundRect">
            <a:avLst>
              <a:gd name="adj" fmla="val 14889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602557" y="2194471"/>
            <a:ext cx="570027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442865" y="2511921"/>
            <a:ext cx="89579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right now · 现在进行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644801" y="2257871"/>
            <a:ext cx="1487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892153" y="2073920"/>
            <a:ext cx="1007715" cy="682377"/>
          </a:xfrm>
          <a:prstGeom prst="roundRect">
            <a:avLst>
              <a:gd name="adj" fmla="val 14889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114354" y="2194471"/>
            <a:ext cx="574581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Verb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156025" y="2511921"/>
            <a:ext cx="48941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动词 action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5001369" y="2257871"/>
            <a:ext cx="1487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248721" y="2073920"/>
            <a:ext cx="1200150" cy="682377"/>
          </a:xfrm>
          <a:prstGeom prst="roundRect">
            <a:avLst>
              <a:gd name="adj" fmla="val 14889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470922" y="2194471"/>
            <a:ext cx="770864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Object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538192" y="2511921"/>
            <a:ext cx="6336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宾语 (optional)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550372" y="2291209"/>
            <a:ext cx="1814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29723" y="2291209"/>
            <a:ext cx="298341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"[Subject] is [verb]-ing right now"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09600" y="2933998"/>
            <a:ext cx="10972800" cy="507802"/>
          </a:xfrm>
          <a:prstGeom prst="roundRect">
            <a:avLst>
              <a:gd name="adj" fmla="val 2000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822275" y="3045023"/>
            <a:ext cx="889029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</a:t>
            </a: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弹钢琴。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715946" y="3106936"/>
            <a:ext cx="16868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He is playing piano right now.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09600" y="3543300"/>
            <a:ext cx="10972800" cy="507802"/>
          </a:xfrm>
          <a:prstGeom prst="roundRect">
            <a:avLst>
              <a:gd name="adj" fmla="val 2000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22275" y="3654326"/>
            <a:ext cx="917978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她</a:t>
            </a: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唱歌。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999762" y="3716238"/>
            <a:ext cx="139736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She is singing right now.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09600" y="4152602"/>
            <a:ext cx="10972800" cy="507802"/>
          </a:xfrm>
          <a:prstGeom prst="roundRect">
            <a:avLst>
              <a:gd name="adj" fmla="val 20008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22275" y="4263628"/>
            <a:ext cx="814401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</a:t>
            </a:r>
            <a:r>
              <a:rPr lang="en-US" sz="1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听什么音乐？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984307" y="4325541"/>
            <a:ext cx="243312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music are you listening to right now?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9600" y="4761905"/>
            <a:ext cx="10972800" cy="507802"/>
          </a:xfrm>
          <a:prstGeom prst="roundRect">
            <a:avLst>
              <a:gd name="adj" fmla="val 20008"/>
            </a:avLst>
          </a:prstGeom>
          <a:solidFill>
            <a:srgbClr val="FBF1F0"/>
          </a:solidFill>
          <a:ln w="95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22275" y="4872930"/>
            <a:ext cx="693519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你们</a:t>
            </a:r>
            <a:r>
              <a:rPr lang="en-US" sz="16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学中文。是不是？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799189" y="4919067"/>
            <a:ext cx="1294954" cy="193477"/>
          </a:xfrm>
          <a:prstGeom prst="roundRect">
            <a:avLst>
              <a:gd name="adj" fmla="val 6557524"/>
            </a:avLst>
          </a:prstGeom>
          <a:solidFill>
            <a:srgbClr val="FBF1F0"/>
          </a:solidFill>
          <a:ln w="95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7910215" y="4953893"/>
            <a:ext cx="10943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META · RIGHT NOW!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9271843" y="4934843"/>
            <a:ext cx="21398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are learning Chinese. Aren't you?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09600" y="5396657"/>
            <a:ext cx="10972800" cy="558701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Shape 40"/>
          <p:cNvSpPr/>
          <p:nvPr/>
        </p:nvSpPr>
        <p:spPr>
          <a:xfrm>
            <a:off x="633412" y="5396657"/>
            <a:ext cx="0" cy="558701"/>
          </a:xfrm>
          <a:prstGeom prst="line">
            <a:avLst/>
          </a:prstGeom>
          <a:noFill/>
          <a:ln w="47625">
            <a:solidFill>
              <a:srgbClr val="3A7D8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85825" y="5604570"/>
            <a:ext cx="5023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 FORM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555998" y="5523607"/>
            <a:ext cx="154112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你正在做什么？</a:t>
            </a:r>
            <a:endParaRPr lang="en-US" sz="1700" dirty="0"/>
          </a:p>
        </p:txBody>
      </p:sp>
      <p:sp>
        <p:nvSpPr>
          <p:cNvPr id="45" name="Text 43"/>
          <p:cNvSpPr/>
          <p:nvPr/>
        </p:nvSpPr>
        <p:spPr>
          <a:xfrm>
            <a:off x="3244602" y="5561707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3587502" y="5523607"/>
            <a:ext cx="199683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我正在__________。</a:t>
            </a:r>
            <a:endParaRPr lang="en-US" sz="1700" dirty="0"/>
          </a:p>
        </p:txBody>
      </p:sp>
      <p:sp>
        <p:nvSpPr>
          <p:cNvPr id="47" name="Shape 45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5584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正在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6978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296739" y="144363"/>
            <a:ext cx="9339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喜欢 vs 正在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60350"/>
            <a:ext cx="11296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KEY CONTRAST · 区别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58701" y="853976"/>
            <a:ext cx="1129609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Habitual vs Right Now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58701" y="1320701"/>
            <a:ext cx="1129609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Same verb — completely different meaning depending on which marker you use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58701" y="1679377"/>
            <a:ext cx="5086499" cy="2719388"/>
          </a:xfrm>
          <a:prstGeom prst="roundRect">
            <a:avLst>
              <a:gd name="adj" fmla="val 4670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82551" y="1927027"/>
            <a:ext cx="1277541" cy="219075"/>
          </a:xfrm>
          <a:prstGeom prst="roundRect">
            <a:avLst>
              <a:gd name="adj" fmla="val 5791304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34951" y="1965127"/>
            <a:ext cx="99219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喜欢 · HABITUAL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82551" y="2272903"/>
            <a:ext cx="452757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882551" y="2907804"/>
            <a:ext cx="4527575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General truth · always true · habit · preference</a:t>
            </a:r>
            <a:endParaRPr lang="en-US" sz="1000" dirty="0"/>
          </a:p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不受时间限制 — not tied to this moment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82551" y="3364706"/>
            <a:ext cx="4438799" cy="522982"/>
          </a:xfrm>
          <a:prstGeom prst="roundRect">
            <a:avLst>
              <a:gd name="adj" fmla="val 14570"/>
            </a:avLst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34951" y="3466207"/>
            <a:ext cx="4216679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</a:t>
            </a:r>
            <a:r>
              <a:rPr lang="en-US" sz="1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</a:t>
            </a: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弹钢琴。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82551" y="3989189"/>
            <a:ext cx="452757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He likes playing piano. (in general, always)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848350" y="2791420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999857" y="2939058"/>
            <a:ext cx="1959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46800" y="1679377"/>
            <a:ext cx="5086499" cy="2719388"/>
          </a:xfrm>
          <a:prstGeom prst="roundRect">
            <a:avLst>
              <a:gd name="adj" fmla="val 4670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870650" y="1927027"/>
            <a:ext cx="1374577" cy="219075"/>
          </a:xfrm>
          <a:prstGeom prst="roundRect">
            <a:avLst>
              <a:gd name="adj" fmla="val 5791304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023050" y="1965127"/>
            <a:ext cx="109117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 · RIGHT NOW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70650" y="2272903"/>
            <a:ext cx="452757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6870650" y="2907804"/>
            <a:ext cx="4527575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Action in progress · happening at this exact moment</a:t>
            </a:r>
            <a:endParaRPr lang="en-US" sz="1000" dirty="0"/>
          </a:p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现在进行 — happening as we speak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870650" y="3364706"/>
            <a:ext cx="4438799" cy="522982"/>
          </a:xfrm>
          <a:prstGeom prst="roundRect">
            <a:avLst>
              <a:gd name="adj" fmla="val 14570"/>
            </a:avLst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023050" y="3466207"/>
            <a:ext cx="4216679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</a:t>
            </a:r>
            <a:r>
              <a:rPr lang="en-US" sz="1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弹钢琴。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870650" y="3989189"/>
            <a:ext cx="452757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He is playing piano right now. (at this moment)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8701" y="4551164"/>
            <a:ext cx="11074598" cy="603200"/>
          </a:xfrm>
          <a:prstGeom prst="roundRect">
            <a:avLst>
              <a:gd name="adj" fmla="val 16844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22127" y="4781252"/>
            <a:ext cx="57579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TIMELINE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539032" y="4840039"/>
            <a:ext cx="5455295" cy="25301"/>
          </a:xfrm>
          <a:prstGeom prst="roundRect">
            <a:avLst>
              <a:gd name="adj" fmla="val 50196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811685" y="4782889"/>
            <a:ext cx="139601" cy="139601"/>
          </a:xfrm>
          <a:prstGeom prst="roundRect">
            <a:avLst>
              <a:gd name="adj" fmla="val 655010"/>
            </a:avLst>
          </a:prstGeom>
          <a:solidFill>
            <a:srgbClr val="3A7D8C"/>
          </a:solidFill>
          <a:ln w="19050">
            <a:solidFill>
              <a:srgbClr val="FEFCF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2630091" y="4782889"/>
            <a:ext cx="139601" cy="139601"/>
          </a:xfrm>
          <a:prstGeom prst="roundRect">
            <a:avLst>
              <a:gd name="adj" fmla="val 655010"/>
            </a:avLst>
          </a:prstGeom>
          <a:solidFill>
            <a:srgbClr val="3A7D8C"/>
          </a:solidFill>
          <a:ln w="19050">
            <a:solidFill>
              <a:srgbClr val="FEFCF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3611910" y="4782889"/>
            <a:ext cx="139601" cy="139601"/>
          </a:xfrm>
          <a:prstGeom prst="roundRect">
            <a:avLst>
              <a:gd name="adj" fmla="val 655010"/>
            </a:avLst>
          </a:prstGeom>
          <a:solidFill>
            <a:srgbClr val="3A7D8C"/>
          </a:solidFill>
          <a:ln w="19050">
            <a:solidFill>
              <a:srgbClr val="FEFCF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921300" y="4782889"/>
            <a:ext cx="139601" cy="139601"/>
          </a:xfrm>
          <a:prstGeom prst="roundRect">
            <a:avLst>
              <a:gd name="adj" fmla="val 655010"/>
            </a:avLst>
          </a:prstGeom>
          <a:solidFill>
            <a:srgbClr val="3A7D8C"/>
          </a:solidFill>
          <a:ln w="19050">
            <a:solidFill>
              <a:srgbClr val="FEFCF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794028" y="4782889"/>
            <a:ext cx="139601" cy="139601"/>
          </a:xfrm>
          <a:prstGeom prst="roundRect">
            <a:avLst>
              <a:gd name="adj" fmla="val 655010"/>
            </a:avLst>
          </a:prstGeom>
          <a:solidFill>
            <a:srgbClr val="3A7D8C"/>
          </a:solidFill>
          <a:ln w="19050">
            <a:solidFill>
              <a:srgbClr val="FEFCF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721525" y="4782889"/>
            <a:ext cx="139601" cy="139601"/>
          </a:xfrm>
          <a:prstGeom prst="roundRect">
            <a:avLst>
              <a:gd name="adj" fmla="val 655010"/>
            </a:avLst>
          </a:prstGeom>
          <a:solidFill>
            <a:srgbClr val="3A7D8C"/>
          </a:solidFill>
          <a:ln w="19050">
            <a:solidFill>
              <a:srgbClr val="FEFCF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158704" y="4744789"/>
            <a:ext cx="215801" cy="215801"/>
          </a:xfrm>
          <a:prstGeom prst="roundRect">
            <a:avLst>
              <a:gd name="adj" fmla="val 423724"/>
            </a:avLst>
          </a:prstGeom>
          <a:solidFill>
            <a:srgbClr val="C8943E"/>
          </a:solidFill>
          <a:ln w="19050">
            <a:solidFill>
              <a:srgbClr val="FEFCF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146727" y="4789140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7349877" y="4762202"/>
            <a:ext cx="1768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喜欢 = repeated across time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59478" y="4762202"/>
            <a:ext cx="1199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|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9353252" y="4789140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9556403" y="4762202"/>
            <a:ext cx="184974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 = pinned to this moment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5584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正在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6978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296739" y="144363"/>
            <a:ext cx="12608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for Understanding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60350" y="660350"/>
            <a:ext cx="110887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CFU · QUICK CHECK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60350" y="853976"/>
            <a:ext cx="1108872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 · 理解确认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60350" y="1320701"/>
            <a:ext cx="1108872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Whiteboards ready — discuss with your partner first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60350" y="1679377"/>
            <a:ext cx="10871299" cy="1520875"/>
          </a:xfrm>
          <a:prstGeom prst="roundRect">
            <a:avLst>
              <a:gd name="adj" fmla="val 835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98475" y="1866602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36141" y="1920478"/>
            <a:ext cx="8167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31727" y="1866602"/>
            <a:ext cx="100590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CHOOSE · 选择题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431727" y="2063353"/>
            <a:ext cx="10059034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sentence means "he plays piano every day"?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31727" y="2387650"/>
            <a:ext cx="1663452" cy="625376"/>
          </a:xfrm>
          <a:prstGeom prst="roundRect">
            <a:avLst>
              <a:gd name="adj" fmla="val 16246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653927" y="2482900"/>
            <a:ext cx="12434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653927" y="2632025"/>
            <a:ext cx="124343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他喜欢弹钢琴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247579" y="2387650"/>
            <a:ext cx="1663452" cy="625376"/>
          </a:xfrm>
          <a:prstGeom prst="roundRect">
            <a:avLst>
              <a:gd name="adj" fmla="val 16246"/>
            </a:avLst>
          </a:prstGeom>
          <a:solidFill>
            <a:srgbClr val="EDE7D7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469779" y="2482900"/>
            <a:ext cx="12434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3469779" y="2632025"/>
            <a:ext cx="124343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他正在弹钢琴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60350" y="3352651"/>
            <a:ext cx="10871299" cy="1520875"/>
          </a:xfrm>
          <a:prstGeom prst="roundRect">
            <a:avLst>
              <a:gd name="adj" fmla="val 8350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98475" y="3539877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020068" y="3593753"/>
            <a:ext cx="11461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431727" y="3539877"/>
            <a:ext cx="100590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· 翻译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31727" y="3736628"/>
            <a:ext cx="10059034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in Chinese: "She is reading a novel right now."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431727" y="4073575"/>
            <a:ext cx="2234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1777752" y="4362450"/>
            <a:ext cx="30480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77752" y="4060924"/>
            <a:ext cx="31089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她正在…………………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431727" y="4448175"/>
            <a:ext cx="1458218" cy="238125"/>
          </a:xfrm>
          <a:prstGeom prst="roundRect">
            <a:avLst>
              <a:gd name="adj" fmla="val 5328000"/>
            </a:avLst>
          </a:prstGeom>
          <a:solidFill>
            <a:srgbClr val="ED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558677" y="4486275"/>
            <a:ext cx="122840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🖊 Write on whiteboard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60350" y="5025926"/>
            <a:ext cx="10871299" cy="1489025"/>
          </a:xfrm>
          <a:prstGeom prst="roundRect">
            <a:avLst>
              <a:gd name="adj" fmla="val 8529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898475" y="5213152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019621" y="5267027"/>
            <a:ext cx="11552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431727" y="5213152"/>
            <a:ext cx="100590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ERROR HUNT · 找错误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1431727" y="5409902"/>
            <a:ext cx="10059034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wrong with this sentence?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431727" y="5734199"/>
            <a:ext cx="2577554" cy="593527"/>
          </a:xfrm>
          <a:prstGeom prst="roundRect">
            <a:avLst>
              <a:gd name="adj" fmla="val 17118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704677" y="5854750"/>
            <a:ext cx="207228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他正在弹</a:t>
            </a:r>
            <a:r>
              <a:rPr lang="en-US" sz="20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了</a:t>
            </a:r>
            <a:r>
              <a:rPr lang="en-US" sz="2000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钢琴。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5584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正在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6978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296739" y="144363"/>
            <a:ext cx="13953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CFU · Answers Revealed ↳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60350" y="660350"/>
            <a:ext cx="110887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· 正确答案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60350" y="853976"/>
            <a:ext cx="1108872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CFU Answers · 答案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60350" y="1320701"/>
            <a:ext cx="1108872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and discuss each one before moving 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60350" y="1654076"/>
            <a:ext cx="10871299" cy="1117253"/>
          </a:xfrm>
          <a:prstGeom prst="roundRect">
            <a:avLst>
              <a:gd name="adj" fmla="val 11367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98475" y="1816001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36141" y="1869877"/>
            <a:ext cx="8167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31727" y="1816001"/>
            <a:ext cx="100590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0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means "he plays piano every day"?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431727" y="2093714"/>
            <a:ext cx="13859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94557" y="2060377"/>
            <a:ext cx="191046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 · 他</a:t>
            </a:r>
            <a:r>
              <a:rPr lang="en-US" sz="1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</a:t>
            </a: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弹钢琴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31727" y="2425452"/>
            <a:ext cx="10059034" cy="183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喜欢</a:t>
            </a: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habitual/general preference — not tied to right now. B (他</a:t>
            </a: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</a:t>
            </a: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弹钢琴) means he is playing piano </a:t>
            </a: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at this exact moment</a:t>
            </a: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60350" y="2910929"/>
            <a:ext cx="10871299" cy="1117253"/>
          </a:xfrm>
          <a:prstGeom prst="roundRect">
            <a:avLst>
              <a:gd name="adj" fmla="val 11367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98475" y="3072854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020068" y="3126730"/>
            <a:ext cx="11461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431727" y="3072854"/>
            <a:ext cx="100590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0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"She is reading a novel right now."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431727" y="3350568"/>
            <a:ext cx="13859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694557" y="3317230"/>
            <a:ext cx="163220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她</a:t>
            </a:r>
            <a:r>
              <a:rPr lang="en-US" sz="1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看小说。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31727" y="3682305"/>
            <a:ext cx="10059034" cy="183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</a:t>
            </a: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+ verb (看) + object (小说) — subject + 正在 + verb + object.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0350" y="4167783"/>
            <a:ext cx="10871299" cy="1069628"/>
          </a:xfrm>
          <a:prstGeom prst="roundRect">
            <a:avLst>
              <a:gd name="adj" fmla="val 11873"/>
            </a:avLst>
          </a:prstGeom>
          <a:solidFill>
            <a:srgbClr val="EDF3F4"/>
          </a:solidFill>
          <a:ln w="95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98475" y="432970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019621" y="4383584"/>
            <a:ext cx="11552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31727" y="4329708"/>
            <a:ext cx="100590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wrong? 他正在弹</a:t>
            </a:r>
            <a:r>
              <a:rPr lang="en-US" sz="800" b="1" i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【了】</a:t>
            </a: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钢琴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431727" y="4583609"/>
            <a:ext cx="13859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694557" y="4574084"/>
            <a:ext cx="394191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Remove </a:t>
            </a:r>
            <a:r>
              <a:rPr lang="en-US" sz="15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了</a:t>
            </a:r>
            <a:r>
              <a:rPr lang="en-US" sz="15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— 正在 already signals present action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431727" y="4891534"/>
            <a:ext cx="10059034" cy="183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了</a:t>
            </a: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marks completed actions (past/change of state). It clashes with </a:t>
            </a: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</a:t>
            </a: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(now/ongoing). Correct: 他正在弹钢琴。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5584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正在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6978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296739" y="144363"/>
            <a:ext cx="20677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正在 Sentences from Pictures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609451"/>
            <a:ext cx="40131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WE DO · 20–28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803077"/>
            <a:ext cx="401310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 Sentences from Pictures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07950" y="1218902"/>
            <a:ext cx="40131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Race your partner — say the full 正在 sentence for each picture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925621" y="1145977"/>
            <a:ext cx="758428" cy="253901"/>
          </a:xfrm>
          <a:prstGeom prst="roundRect">
            <a:avLst>
              <a:gd name="adj" fmla="val 4996948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103322" y="1196727"/>
            <a:ext cx="41108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07950" y="1552277"/>
            <a:ext cx="1778050" cy="1077069"/>
          </a:xfrm>
          <a:prstGeom prst="roundRect">
            <a:avLst>
              <a:gd name="adj" fmla="val 943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18976" y="1625203"/>
            <a:ext cx="14254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①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20688" y="1739503"/>
            <a:ext cx="359474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spcBef>
                <a:spcPts val="400"/>
              </a:spcBef>
              <a:buNone/>
            </a:pPr>
            <a:r>
              <a:rPr lang="en-US" sz="2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🎹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144298" y="2145804"/>
            <a:ext cx="505206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弹钢琴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39875" y="2394496"/>
            <a:ext cx="5243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tán gāngqín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2387501" y="1552277"/>
            <a:ext cx="1778050" cy="1077069"/>
          </a:xfrm>
          <a:prstGeom prst="roundRect">
            <a:avLst>
              <a:gd name="adj" fmla="val 943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498527" y="1625203"/>
            <a:ext cx="14254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②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100239" y="1739503"/>
            <a:ext cx="359474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spcBef>
                <a:spcPts val="400"/>
              </a:spcBef>
              <a:buNone/>
            </a:pPr>
            <a:r>
              <a:rPr lang="en-US" sz="2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🎤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3108098" y="2145804"/>
            <a:ext cx="336855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唱歌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077319" y="2394496"/>
            <a:ext cx="4062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chàng gē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267051" y="1552277"/>
            <a:ext cx="1778050" cy="1077069"/>
          </a:xfrm>
          <a:prstGeom prst="roundRect">
            <a:avLst>
              <a:gd name="adj" fmla="val 943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378077" y="1625203"/>
            <a:ext cx="14254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③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79789" y="1739503"/>
            <a:ext cx="359474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spcBef>
                <a:spcPts val="400"/>
              </a:spcBef>
              <a:buNone/>
            </a:pPr>
            <a:r>
              <a:rPr lang="en-US" sz="2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📖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4987649" y="2145804"/>
            <a:ext cx="336855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读书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07918" y="2394496"/>
            <a:ext cx="30224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dú shū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6146602" y="1552277"/>
            <a:ext cx="1778198" cy="1077069"/>
          </a:xfrm>
          <a:prstGeom prst="roundRect">
            <a:avLst>
              <a:gd name="adj" fmla="val 943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257627" y="1625203"/>
            <a:ext cx="14254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④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859488" y="1739503"/>
            <a:ext cx="359474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spcBef>
                <a:spcPts val="400"/>
              </a:spcBef>
              <a:buNone/>
            </a:pPr>
            <a:r>
              <a:rPr lang="en-US" sz="2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📺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6783098" y="2145804"/>
            <a:ext cx="505206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看电视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788646" y="2394496"/>
            <a:ext cx="5039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kàn diànshì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8026301" y="1552277"/>
            <a:ext cx="1778050" cy="1077069"/>
          </a:xfrm>
          <a:prstGeom prst="roundRect">
            <a:avLst>
              <a:gd name="adj" fmla="val 943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8137327" y="1625203"/>
            <a:ext cx="14254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⑤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739039" y="1739503"/>
            <a:ext cx="359474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spcBef>
                <a:spcPts val="400"/>
              </a:spcBef>
              <a:buNone/>
            </a:pPr>
            <a:r>
              <a:rPr lang="en-US" sz="2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🖌️</a:t>
            </a:r>
            <a:endParaRPr lang="en-US" sz="2800" dirty="0"/>
          </a:p>
        </p:txBody>
      </p:sp>
      <p:sp>
        <p:nvSpPr>
          <p:cNvPr id="35" name="Text 33"/>
          <p:cNvSpPr/>
          <p:nvPr/>
        </p:nvSpPr>
        <p:spPr>
          <a:xfrm>
            <a:off x="8662648" y="2145804"/>
            <a:ext cx="505206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画画儿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726537" y="2394496"/>
            <a:ext cx="38512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huà huàr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9905851" y="1552277"/>
            <a:ext cx="1778050" cy="1077069"/>
          </a:xfrm>
          <a:prstGeom prst="roundRect">
            <a:avLst>
              <a:gd name="adj" fmla="val 9433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0016877" y="1625203"/>
            <a:ext cx="14254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⑥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618589" y="1739503"/>
            <a:ext cx="359474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spcBef>
                <a:spcPts val="400"/>
              </a:spcBef>
              <a:buNone/>
            </a:pPr>
            <a:r>
              <a:rPr lang="en-US" sz="2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🎧</a:t>
            </a:r>
            <a:endParaRPr lang="en-US" sz="2800" dirty="0"/>
          </a:p>
        </p:txBody>
      </p:sp>
      <p:sp>
        <p:nvSpPr>
          <p:cNvPr id="40" name="Text 38"/>
          <p:cNvSpPr/>
          <p:nvPr/>
        </p:nvSpPr>
        <p:spPr>
          <a:xfrm>
            <a:off x="10542199" y="2145804"/>
            <a:ext cx="505206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听音乐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0544621" y="2394496"/>
            <a:ext cx="51051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tīng yīnyuè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507950" y="2756297"/>
            <a:ext cx="11176099" cy="555427"/>
          </a:xfrm>
          <a:prstGeom prst="roundRect">
            <a:avLst>
              <a:gd name="adj" fmla="val 18292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755600" y="2962573"/>
            <a:ext cx="11488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FRAME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034332" y="2876848"/>
            <a:ext cx="959010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 / 她 </a:t>
            </a:r>
            <a:r>
              <a:rPr lang="en-US" sz="1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__________。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507950" y="3413224"/>
            <a:ext cx="11176099" cy="501551"/>
          </a:xfrm>
          <a:prstGeom prst="roundRect">
            <a:avLst>
              <a:gd name="adj" fmla="val 2025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95176" y="3592562"/>
            <a:ext cx="7280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VERB BANK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510457" y="3511600"/>
            <a:ext cx="730151" cy="304800"/>
          </a:xfrm>
          <a:prstGeom prst="roundRect">
            <a:avLst>
              <a:gd name="adj" fmla="val 250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1646932" y="3559225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弹钢琴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2342108" y="3511600"/>
            <a:ext cx="577751" cy="304800"/>
          </a:xfrm>
          <a:prstGeom prst="roundRect">
            <a:avLst>
              <a:gd name="adj" fmla="val 250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2478584" y="3559225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唱歌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3021360" y="3511600"/>
            <a:ext cx="730151" cy="304800"/>
          </a:xfrm>
          <a:prstGeom prst="roundRect">
            <a:avLst>
              <a:gd name="adj" fmla="val 250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3157835" y="3559225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听音乐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3853011" y="3511600"/>
            <a:ext cx="577751" cy="304800"/>
          </a:xfrm>
          <a:prstGeom prst="roundRect">
            <a:avLst>
              <a:gd name="adj" fmla="val 250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3989487" y="3559225"/>
            <a:ext cx="310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读书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4532263" y="3511600"/>
            <a:ext cx="730151" cy="304800"/>
          </a:xfrm>
          <a:prstGeom prst="roundRect">
            <a:avLst>
              <a:gd name="adj" fmla="val 250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4668738" y="3559225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画画儿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5363914" y="3511600"/>
            <a:ext cx="730151" cy="304800"/>
          </a:xfrm>
          <a:prstGeom prst="roundRect">
            <a:avLst>
              <a:gd name="adj" fmla="val 250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5500390" y="3559225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看电视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6195566" y="3511600"/>
            <a:ext cx="1034951" cy="304800"/>
          </a:xfrm>
          <a:prstGeom prst="roundRect">
            <a:avLst>
              <a:gd name="adj" fmla="val 250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6332041" y="3559225"/>
            <a:ext cx="77724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玩电脑游戏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7332018" y="3511600"/>
            <a:ext cx="730151" cy="304800"/>
          </a:xfrm>
          <a:prstGeom prst="roundRect">
            <a:avLst>
              <a:gd name="adj" fmla="val 25000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468493" y="3559225"/>
            <a:ext cx="4663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弹吉他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07950" y="4016276"/>
            <a:ext cx="3657600" cy="647998"/>
          </a:xfrm>
          <a:prstGeom prst="roundRect">
            <a:avLst>
              <a:gd name="adj" fmla="val 1175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634901" y="4105126"/>
            <a:ext cx="347177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34901" y="4267051"/>
            <a:ext cx="3471773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Verb bank on board — point to the picture, say the verb, build the sentence.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4267051" y="4016276"/>
            <a:ext cx="3657749" cy="647998"/>
          </a:xfrm>
          <a:prstGeom prst="roundRect">
            <a:avLst>
              <a:gd name="adj" fmla="val 1175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4394002" y="4105126"/>
            <a:ext cx="34719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4394002" y="4267051"/>
            <a:ext cx="3471925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a clause: 他正在弹钢琴，一边唱歌。Try at least 2 combo sentences.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8026301" y="4016276"/>
            <a:ext cx="3657600" cy="647998"/>
          </a:xfrm>
          <a:prstGeom prst="roundRect">
            <a:avLst>
              <a:gd name="adj" fmla="val 1175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8153251" y="4105126"/>
            <a:ext cx="347177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8153251" y="4267051"/>
            <a:ext cx="3471773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Rapid-fire cold calls — teacher points to picture, student must say full sentence instantly.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5584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正在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6978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296739" y="144363"/>
            <a:ext cx="9694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Activity 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609451"/>
            <a:ext cx="43475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YOU DO · PAIRS · 28–36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803077"/>
            <a:ext cx="434753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Mime &amp; Guess · 猜猜我在做什么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07950" y="1218902"/>
            <a:ext cx="434753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mimes silently — B asks — A answers — swap roles after 3 mimes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925621" y="1145977"/>
            <a:ext cx="758428" cy="253901"/>
          </a:xfrm>
          <a:prstGeom prst="roundRect">
            <a:avLst>
              <a:gd name="adj" fmla="val 4996948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103322" y="1196727"/>
            <a:ext cx="41108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07950" y="1526828"/>
            <a:ext cx="11176099" cy="358676"/>
          </a:xfrm>
          <a:prstGeom prst="roundRect">
            <a:avLst>
              <a:gd name="adj" fmla="val 2832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95176" y="1625203"/>
            <a:ext cx="7921377" cy="161925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mimes silently (no words!)</a:t>
            </a:r>
            <a:endParaRPr lang="en-US" sz="900" dirty="0"/>
          </a:p>
          <a:p>
            <a:pPr algn="l" marL="88900" indent="-88900">
              <a:buSzPct val="100000"/>
              <a:buChar char="•"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 asks using the question frame</a:t>
            </a:r>
            <a:endParaRPr lang="en-US" sz="900" dirty="0"/>
          </a:p>
          <a:p>
            <a:pPr algn="l" marL="88900" indent="-88900">
              <a:buSzPct val="100000"/>
              <a:buChar char="•"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answers yes / no</a:t>
            </a:r>
            <a:endParaRPr lang="en-US" sz="900" dirty="0"/>
          </a:p>
          <a:p>
            <a:pPr algn="l" marL="88900" indent="-88900">
              <a:buSzPct val="100000"/>
              <a:buChar char="•"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Swap after 3 mimes each</a:t>
            </a:r>
            <a:endParaRPr lang="en-US" sz="900" dirty="0"/>
          </a:p>
          <a:p>
            <a:pPr algn="l" marL="88900" indent="-88900">
              <a:buSzPct val="100000"/>
              <a:buChar char="•"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pairs perform for class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7950" y="2012454"/>
            <a:ext cx="5499199" cy="3964186"/>
          </a:xfrm>
          <a:prstGeom prst="roundRect">
            <a:avLst>
              <a:gd name="adj" fmla="val 3204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6075" y="2199680"/>
            <a:ext cx="512340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DIALOGUE FLOW · 对话流程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46075" y="2494806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0284" y="2543919"/>
            <a:ext cx="926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52376" y="2469505"/>
            <a:ext cx="47089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PARTNER A — mimes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152376" y="2631430"/>
            <a:ext cx="4708981" cy="23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🙊 </a:t>
            </a:r>
            <a:r>
              <a:rPr lang="en-US" sz="1100" b="1" i="1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silent action mime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52376" y="2887861"/>
            <a:ext cx="47089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 out the verb with no speaking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46075" y="3167063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39837" y="3216176"/>
            <a:ext cx="9351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52376" y="3141762"/>
            <a:ext cx="47089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PARTNER B — asks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1152376" y="3303687"/>
            <a:ext cx="4708981" cy="23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</a:t>
            </a:r>
            <a:r>
              <a:rPr lang="en-US" sz="1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______</a:t>
            </a:r>
            <a:r>
              <a:rPr lang="en-US" sz="14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吗</a:t>
            </a: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52376" y="3560118"/>
            <a:ext cx="4708981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或者：你在做什么？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52376" y="3766989"/>
            <a:ext cx="47089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Are you [verb]-ing? / What are you doing?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46075" y="4046190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840284" y="4095304"/>
            <a:ext cx="926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52376" y="4020889"/>
            <a:ext cx="47089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PARTNER A — answers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1152376" y="4182814"/>
            <a:ext cx="4708981" cy="23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是的</a:t>
            </a: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，我</a:t>
            </a: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______。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152376" y="4439245"/>
            <a:ext cx="4708981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或 </a:t>
            </a:r>
            <a:r>
              <a:rPr lang="en-US" sz="11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不是</a:t>
            </a:r>
            <a:r>
              <a:rPr lang="en-US" sz="11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，我</a:t>
            </a:r>
            <a:r>
              <a:rPr lang="en-US" sz="11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r>
              <a:rPr lang="en-US" sz="11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______。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152376" y="4646116"/>
            <a:ext cx="47089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Yes, I'm … / No, I'm actually …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46075" y="4900017"/>
            <a:ext cx="5022949" cy="317302"/>
          </a:xfrm>
          <a:prstGeom prst="roundRect">
            <a:avLst>
              <a:gd name="adj" fmla="val 24015"/>
            </a:avLst>
          </a:prstGeom>
          <a:solidFill>
            <a:srgbClr val="F8F0DF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61009" y="4972943"/>
            <a:ext cx="479308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↔ Swap roles after 3 mimes each!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184850" y="2012454"/>
            <a:ext cx="5499199" cy="3964186"/>
          </a:xfrm>
          <a:prstGeom prst="roundRect">
            <a:avLst>
              <a:gd name="adj" fmla="val 3204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432500" y="2209205"/>
            <a:ext cx="51039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 FRAME · 问句框架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432500" y="2453580"/>
            <a:ext cx="5003899" cy="755452"/>
          </a:xfrm>
          <a:prstGeom prst="roundRect">
            <a:avLst>
              <a:gd name="adj" fmla="val 10087"/>
            </a:avLst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584900" y="2542431"/>
            <a:ext cx="47930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ASK (OPTION A)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6584900" y="2704356"/>
            <a:ext cx="479308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</a:t>
            </a: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______</a:t>
            </a: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吗</a:t>
            </a: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584900" y="2977307"/>
            <a:ext cx="47930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Are you [verb]-ing right now?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432500" y="3310533"/>
            <a:ext cx="5003899" cy="755452"/>
          </a:xfrm>
          <a:prstGeom prst="roundRect">
            <a:avLst>
              <a:gd name="adj" fmla="val 10087"/>
            </a:avLst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584900" y="3399383"/>
            <a:ext cx="47930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ASK (OPTION B)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584900" y="3561308"/>
            <a:ext cx="479308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你在做什么？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584900" y="3834259"/>
            <a:ext cx="47930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are you doing?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6432500" y="4167485"/>
            <a:ext cx="5003899" cy="755452"/>
          </a:xfrm>
          <a:prstGeom prst="roundRect">
            <a:avLst>
              <a:gd name="adj" fmla="val 10087"/>
            </a:avLst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584900" y="4256336"/>
            <a:ext cx="47930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— YES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6584900" y="4418261"/>
            <a:ext cx="479308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是的</a:t>
            </a: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，我</a:t>
            </a: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______。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6584900" y="4691211"/>
            <a:ext cx="47930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Yes, I'm [verb]-ing.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6432500" y="5024438"/>
            <a:ext cx="5003899" cy="755452"/>
          </a:xfrm>
          <a:prstGeom prst="roundRect">
            <a:avLst>
              <a:gd name="adj" fmla="val 10087"/>
            </a:avLst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584900" y="5113288"/>
            <a:ext cx="47930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— NO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6584900" y="5275213"/>
            <a:ext cx="479308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不是</a:t>
            </a: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，我</a:t>
            </a: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正在</a:t>
            </a:r>
            <a:r>
              <a:rPr lang="en-US" sz="1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______。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6584900" y="5548164"/>
            <a:ext cx="47930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No, I'm actually [verb]-ing.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07950" y="6103590"/>
            <a:ext cx="3657600" cy="647998"/>
          </a:xfrm>
          <a:prstGeom prst="roundRect">
            <a:avLst>
              <a:gd name="adj" fmla="val 1175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634901" y="6192441"/>
            <a:ext cx="347177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34901" y="6354366"/>
            <a:ext cx="3471773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 frame stays on board throughout. Verb bank from Act 1 still visible.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267051" y="6103590"/>
            <a:ext cx="3657749" cy="647998"/>
          </a:xfrm>
          <a:prstGeom prst="roundRect">
            <a:avLst>
              <a:gd name="adj" fmla="val 1175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4394002" y="6192441"/>
            <a:ext cx="34719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4394002" y="6354366"/>
            <a:ext cx="3471925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 一边……一边…… in at least one mime: 我正在一边弹钢琴一边唱歌。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026301" y="6103590"/>
            <a:ext cx="3657600" cy="647998"/>
          </a:xfrm>
          <a:prstGeom prst="roundRect">
            <a:avLst>
              <a:gd name="adj" fmla="val 1175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153251" y="6192441"/>
            <a:ext cx="347177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8153251" y="6354366"/>
            <a:ext cx="3471773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student mimes and speaks — teacher circulates, taps students to perform.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5584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正在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6978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296739" y="144363"/>
            <a:ext cx="8901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Activity 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609451"/>
            <a:ext cx="61755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GAME · 36–41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803077"/>
            <a:ext cx="6175566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Stroke Count Competition · 数笔画比赛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07950" y="1218902"/>
            <a:ext cx="617556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Count strokes silently — write your number on the whiteboard — first correct answer wins a point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926514" y="1145977"/>
            <a:ext cx="757535" cy="253901"/>
          </a:xfrm>
          <a:prstGeom prst="roundRect">
            <a:avLst>
              <a:gd name="adj" fmla="val 4996948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104215" y="1196727"/>
            <a:ext cx="4101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5 min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07950" y="1526828"/>
            <a:ext cx="11176099" cy="383977"/>
          </a:xfrm>
          <a:prstGeom prst="roundRect">
            <a:avLst>
              <a:gd name="adj" fmla="val 26460"/>
            </a:avLst>
          </a:prstGeom>
          <a:solidFill>
            <a:srgbClr val="FBF1F0"/>
          </a:solidFill>
          <a:ln w="95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20626" y="1637854"/>
            <a:ext cx="9823996" cy="161925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buSzPct val="100000"/>
              <a:buChar char="•"/>
            </a:pPr>
            <a:r>
              <a:rPr lang="en-US" sz="9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projects one character at a time</a:t>
            </a:r>
            <a:endParaRPr lang="en-US" sz="900" dirty="0"/>
          </a:p>
          <a:p>
            <a:pPr algn="l" marL="88900" indent="-88900">
              <a:buSzPct val="100000"/>
              <a:buChar char="•"/>
            </a:pPr>
            <a:r>
              <a:rPr lang="en-US" sz="9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Count strokes silently — trace with finger if needed</a:t>
            </a:r>
            <a:endParaRPr lang="en-US" sz="900" dirty="0"/>
          </a:p>
          <a:p>
            <a:pPr algn="l" marL="88900" indent="-88900">
              <a:buSzPct val="100000"/>
              <a:buChar char="•"/>
            </a:pPr>
            <a:r>
              <a:rPr lang="en-US" sz="9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number on whiteboard</a:t>
            </a:r>
            <a:endParaRPr lang="en-US" sz="900" dirty="0"/>
          </a:p>
          <a:p>
            <a:pPr algn="l" marL="88900" indent="-88900">
              <a:buSzPct val="100000"/>
              <a:buChar char="•"/>
            </a:pPr>
            <a:r>
              <a:rPr lang="en-US" sz="9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Hold up — first correct wins a point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7950" y="2113955"/>
            <a:ext cx="2660749" cy="2406402"/>
          </a:xfrm>
          <a:prstGeom prst="roundRect">
            <a:avLst>
              <a:gd name="adj" fmla="val 5278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53951" y="2234505"/>
            <a:ext cx="8502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CHARACTER 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457325" y="2437656"/>
            <a:ext cx="7772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0"/>
              </a:lnSpc>
              <a:spcBef>
                <a:spcPts val="1000"/>
              </a:spcBef>
              <a:buNone/>
            </a:pPr>
            <a:r>
              <a:rPr lang="en-US" sz="6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画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1716435" y="3275856"/>
            <a:ext cx="2486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huà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558975" y="3552081"/>
            <a:ext cx="558701" cy="558701"/>
          </a:xfrm>
          <a:prstGeom prst="roundRect">
            <a:avLst>
              <a:gd name="adj" fmla="val 163665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749475" y="3636169"/>
            <a:ext cx="18125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335435" y="4186982"/>
            <a:ext cx="10258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 paint / drawing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46400" y="2113955"/>
            <a:ext cx="2660749" cy="2406402"/>
          </a:xfrm>
          <a:prstGeom prst="roundRect">
            <a:avLst>
              <a:gd name="adj" fmla="val 5278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492401" y="2234505"/>
            <a:ext cx="8692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CHARACTER 2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295775" y="2437656"/>
            <a:ext cx="7772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0"/>
              </a:lnSpc>
              <a:spcBef>
                <a:spcPts val="1000"/>
              </a:spcBef>
              <a:buNone/>
            </a:pPr>
            <a:r>
              <a:rPr lang="en-US" sz="6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志</a:t>
            </a:r>
            <a:endParaRPr lang="en-US" sz="6000" dirty="0"/>
          </a:p>
        </p:txBody>
      </p:sp>
      <p:sp>
        <p:nvSpPr>
          <p:cNvPr id="24" name="Text 22"/>
          <p:cNvSpPr/>
          <p:nvPr/>
        </p:nvSpPr>
        <p:spPr>
          <a:xfrm>
            <a:off x="4579590" y="3275856"/>
            <a:ext cx="19825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zhì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397425" y="3552081"/>
            <a:ext cx="558701" cy="558701"/>
          </a:xfrm>
          <a:prstGeom prst="roundRect">
            <a:avLst>
              <a:gd name="adj" fmla="val 163665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595664" y="3636169"/>
            <a:ext cx="16546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070003" y="4186982"/>
            <a:ext cx="123781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magazine / aspiration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184850" y="2113955"/>
            <a:ext cx="2660749" cy="2406402"/>
          </a:xfrm>
          <a:prstGeom prst="roundRect">
            <a:avLst>
              <a:gd name="adj" fmla="val 5278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330851" y="2234505"/>
            <a:ext cx="8696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CHARACTER 3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134225" y="2437656"/>
            <a:ext cx="7772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0"/>
              </a:lnSpc>
              <a:spcBef>
                <a:spcPts val="1000"/>
              </a:spcBef>
              <a:buNone/>
            </a:pPr>
            <a:r>
              <a:rPr lang="en-US" sz="6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彩</a:t>
            </a:r>
            <a:endParaRPr lang="en-US" sz="6000" dirty="0"/>
          </a:p>
        </p:txBody>
      </p:sp>
      <p:sp>
        <p:nvSpPr>
          <p:cNvPr id="31" name="Text 29"/>
          <p:cNvSpPr/>
          <p:nvPr/>
        </p:nvSpPr>
        <p:spPr>
          <a:xfrm>
            <a:off x="7415659" y="3275856"/>
            <a:ext cx="20311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cǎi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235875" y="3552081"/>
            <a:ext cx="558701" cy="558701"/>
          </a:xfrm>
          <a:prstGeom prst="roundRect">
            <a:avLst>
              <a:gd name="adj" fmla="val 163665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391549" y="3636169"/>
            <a:ext cx="25229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6947595" y="4186982"/>
            <a:ext cx="115796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colour / watercolour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9023300" y="2113955"/>
            <a:ext cx="2660749" cy="2406402"/>
          </a:xfrm>
          <a:prstGeom prst="roundRect">
            <a:avLst>
              <a:gd name="adj" fmla="val 5278"/>
            </a:avLst>
          </a:prstGeom>
          <a:solidFill>
            <a:srgbClr val="F6F2E8"/>
          </a:solidFill>
          <a:ln w="19050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9169301" y="2234505"/>
            <a:ext cx="8704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CHARACTER 4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9972675" y="2437656"/>
            <a:ext cx="7772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0"/>
              </a:lnSpc>
              <a:spcBef>
                <a:spcPts val="1000"/>
              </a:spcBef>
              <a:buNone/>
            </a:pPr>
            <a:r>
              <a:rPr lang="en-US" sz="6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</a:t>
            </a:r>
            <a:endParaRPr lang="en-US" sz="6000" dirty="0"/>
          </a:p>
        </p:txBody>
      </p:sp>
      <p:sp>
        <p:nvSpPr>
          <p:cNvPr id="38" name="Text 36"/>
          <p:cNvSpPr/>
          <p:nvPr/>
        </p:nvSpPr>
        <p:spPr>
          <a:xfrm>
            <a:off x="10152162" y="3275856"/>
            <a:ext cx="41093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zhèng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074325" y="3552081"/>
            <a:ext cx="558701" cy="558701"/>
          </a:xfrm>
          <a:prstGeom prst="roundRect">
            <a:avLst>
              <a:gd name="adj" fmla="val 163665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10265866" y="3636169"/>
            <a:ext cx="17897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9828609" y="4186982"/>
            <a:ext cx="107098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right now / upright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07950" y="4698057"/>
            <a:ext cx="11176099" cy="647551"/>
          </a:xfrm>
          <a:prstGeom prst="roundRect">
            <a:avLst>
              <a:gd name="adj" fmla="val 15690"/>
            </a:avLst>
          </a:prstGeom>
          <a:solidFill>
            <a:srgbClr val="FBF1F0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780901" y="4950321"/>
            <a:ext cx="6145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561058" y="484405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1681609" y="4897934"/>
            <a:ext cx="11658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992809" y="4845546"/>
            <a:ext cx="25913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画</a:t>
            </a:r>
            <a:endParaRPr lang="en-US" sz="2000" dirty="0"/>
          </a:p>
        </p:txBody>
      </p:sp>
      <p:sp>
        <p:nvSpPr>
          <p:cNvPr id="47" name="Text 45"/>
          <p:cNvSpPr/>
          <p:nvPr/>
        </p:nvSpPr>
        <p:spPr>
          <a:xfrm>
            <a:off x="2500759" y="484405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2626221" y="4897934"/>
            <a:ext cx="10671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2932509" y="4845546"/>
            <a:ext cx="25913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志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3440460" y="484405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3538240" y="4897934"/>
            <a:ext cx="16319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3872210" y="4845546"/>
            <a:ext cx="25913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彩</a:t>
            </a:r>
            <a:endParaRPr lang="en-US" sz="2000" dirty="0"/>
          </a:p>
        </p:txBody>
      </p:sp>
      <p:sp>
        <p:nvSpPr>
          <p:cNvPr id="53" name="Text 51"/>
          <p:cNvSpPr/>
          <p:nvPr/>
        </p:nvSpPr>
        <p:spPr>
          <a:xfrm>
            <a:off x="4380161" y="484405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4501455" y="4897934"/>
            <a:ext cx="1152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4811911" y="4845546"/>
            <a:ext cx="25913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</a:t>
            </a:r>
            <a:endParaRPr lang="en-US" sz="2000" dirty="0"/>
          </a:p>
        </p:txBody>
      </p:sp>
      <p:sp>
        <p:nvSpPr>
          <p:cNvPr id="56" name="Shape 54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5584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正在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6978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296739" y="144363"/>
            <a:ext cx="9475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Wrap-up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634901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总结 · 41–47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828526"/>
            <a:ext cx="1119225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Lesson Wrap-up · 本课总结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09600" y="1295251"/>
            <a:ext cx="1119225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 → live demo → exit ticket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09600" y="1653927"/>
            <a:ext cx="5384750" cy="2411313"/>
          </a:xfrm>
          <a:prstGeom prst="roundRect">
            <a:avLst>
              <a:gd name="adj" fmla="val 5267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47725" y="1841153"/>
            <a:ext cx="500667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 REVISIT · 我能……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47725" y="2610892"/>
            <a:ext cx="49085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725" y="2199829"/>
            <a:ext cx="317450" cy="317450"/>
          </a:xfrm>
          <a:prstGeom prst="roundRect">
            <a:avLst>
              <a:gd name="adj" fmla="val 288045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3095" y="2258467"/>
            <a:ext cx="1088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92126" y="2264271"/>
            <a:ext cx="1852624" cy="1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Form 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 + verb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sentences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47725" y="3115568"/>
            <a:ext cx="49085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725" y="2704505"/>
            <a:ext cx="317450" cy="317450"/>
          </a:xfrm>
          <a:prstGeom prst="roundRect">
            <a:avLst>
              <a:gd name="adj" fmla="val 288045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53095" y="2763143"/>
            <a:ext cx="1088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292126" y="2768947"/>
            <a:ext cx="2899470" cy="1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Ask 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你正在……吗？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and answer 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我正在……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47725" y="3209181"/>
            <a:ext cx="317450" cy="317450"/>
          </a:xfrm>
          <a:prstGeom prst="roundRect">
            <a:avLst>
              <a:gd name="adj" fmla="val 288045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53095" y="3267819"/>
            <a:ext cx="1088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292126" y="3273623"/>
            <a:ext cx="3810905" cy="1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 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a partner dialogue about right-now actions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97501" y="1653927"/>
            <a:ext cx="5384899" cy="2411313"/>
          </a:xfrm>
          <a:prstGeom prst="roundRect">
            <a:avLst>
              <a:gd name="adj" fmla="val 5267"/>
            </a:avLst>
          </a:prstGeom>
          <a:solidFill>
            <a:srgbClr val="ED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45151" y="1850678"/>
            <a:ext cx="4987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LIVE DEMO · SC 2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445151" y="2120354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533555" y="2153692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775252" y="2095054"/>
            <a:ext cx="1917749" cy="1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points to a student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45151" y="2475756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523137" y="2509093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775252" y="2450455"/>
            <a:ext cx="2372859" cy="1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That student asks their neighbour: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775252" y="2664321"/>
            <a:ext cx="237285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你正在做什么？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445151" y="3057823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522839" y="3091160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775252" y="3032522"/>
            <a:ext cx="2145607" cy="1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Neighbour answers: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75252" y="3246388"/>
            <a:ext cx="214560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5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我正在学______中文课。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445151" y="3639889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522393" y="3673227"/>
            <a:ext cx="754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775252" y="3614589"/>
            <a:ext cx="1638732" cy="1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Chain around the room!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09600" y="4242941"/>
            <a:ext cx="10972800" cy="1083618"/>
          </a:xfrm>
          <a:prstGeom prst="roundRect">
            <a:avLst>
              <a:gd name="adj" fmla="val 11720"/>
            </a:avLst>
          </a:prstGeom>
          <a:solidFill>
            <a:srgbClr val="F8F0D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933450" y="4439692"/>
            <a:ext cx="79627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 · 课堂出口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933450" y="4658767"/>
            <a:ext cx="7962763" cy="239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sentences using 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: ① One about 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yourself right now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② One about 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someone else in the room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933450" y="4948833"/>
            <a:ext cx="79627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Hand to teacher before leaving — no name needed, just the sentences.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5584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正在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69789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296739" y="144363"/>
            <a:ext cx="82809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 Next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69950" y="905917"/>
            <a:ext cx="13472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PREVIEW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269950" y="1169343"/>
            <a:ext cx="19188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· L7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69950" y="1499443"/>
            <a:ext cx="1036371" cy="101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0"/>
              </a:lnSpc>
              <a:spcAft>
                <a:spcPts val="600"/>
              </a:spcAft>
              <a:buNone/>
            </a:pPr>
            <a:r>
              <a:rPr lang="en-US" sz="8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endParaRPr lang="en-US" sz="8000" dirty="0"/>
          </a:p>
        </p:txBody>
      </p:sp>
      <p:sp>
        <p:nvSpPr>
          <p:cNvPr id="10" name="Text 8"/>
          <p:cNvSpPr/>
          <p:nvPr/>
        </p:nvSpPr>
        <p:spPr>
          <a:xfrm>
            <a:off x="1269950" y="2591693"/>
            <a:ext cx="131083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both / all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269950" y="3032968"/>
            <a:ext cx="263517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800"/>
              </a:spcAft>
              <a:buNone/>
            </a:pPr>
            <a:r>
              <a:rPr lang="en-US" sz="1400" dirty="0">
                <a:solidFill>
                  <a:srgbClr val="8B94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dōu — 全部 · universal quantifier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69950" y="3636169"/>
            <a:ext cx="6083052" cy="1912888"/>
          </a:xfrm>
          <a:prstGeom prst="roundRect">
            <a:avLst>
              <a:gd name="adj" fmla="val 6639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644551" y="3883819"/>
            <a:ext cx="54405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TEASER · 先想想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644551" y="4128195"/>
            <a:ext cx="5440528" cy="462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40"/>
              </a:lnSpc>
              <a:spcAft>
                <a:spcPts val="500"/>
              </a:spcAft>
              <a:buNone/>
            </a:pPr>
            <a:r>
              <a:rPr lang="en-US" sz="2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油画儿、水彩画儿，我</a:t>
            </a:r>
            <a:r>
              <a:rPr lang="en-US" sz="28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都</a:t>
            </a:r>
            <a:r>
              <a:rPr lang="en-US" sz="2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喜欢画。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644551" y="4653707"/>
            <a:ext cx="544052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"Oil painting, watercolour — I like painting both."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644551" y="4939457"/>
            <a:ext cx="5274171" cy="361950"/>
          </a:xfrm>
          <a:prstGeom prst="roundRect">
            <a:avLst>
              <a:gd name="adj" fmla="val 21053"/>
            </a:avLst>
          </a:prstGeom>
          <a:solidFill>
            <a:srgbClr val="FBF1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796951" y="5015657"/>
            <a:ext cx="506875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 都 do in this sentence? Think about it for next time…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69950" y="5777657"/>
            <a:ext cx="1880741" cy="326827"/>
          </a:xfrm>
          <a:prstGeom prst="roundRect">
            <a:avLst>
              <a:gd name="adj" fmla="val 3881962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482626" y="5850582"/>
            <a:ext cx="148449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Today: </a:t>
            </a: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正在</a:t>
            </a: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right now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77642" y="5777657"/>
            <a:ext cx="1651546" cy="326827"/>
          </a:xfrm>
          <a:prstGeom prst="roundRect">
            <a:avLst>
              <a:gd name="adj" fmla="val 3881962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490317" y="5850582"/>
            <a:ext cx="125071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Next: </a:t>
            </a: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都</a:t>
            </a: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= both / all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56138" y="5777657"/>
            <a:ext cx="1693515" cy="326827"/>
          </a:xfrm>
          <a:prstGeom prst="roundRect">
            <a:avLst>
              <a:gd name="adj" fmla="val 3881962"/>
            </a:avLst>
          </a:prstGeom>
          <a:solidFill>
            <a:srgbClr val="EDE7D7"/>
          </a:solidFill>
          <a:ln w="9525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268813" y="5850582"/>
            <a:ext cx="129352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Book 2 · Unit 3 · L7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7950" y="6656338"/>
            <a:ext cx="148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3 Hobbies 爱好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2026-06-30T02:51:29Z</dcterms:created>
  <dcterms:modified xsi:type="dcterms:W3CDTF">2026-06-30T02:51:29Z</dcterms:modified>
</cp:coreProperties>
</file>