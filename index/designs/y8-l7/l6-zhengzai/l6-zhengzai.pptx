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950" y="1511350"/>
            <a:ext cx="28741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· UNIT 3 · LESSON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69950" y="1889075"/>
            <a:ext cx="2538933" cy="126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0"/>
              </a:lnSpc>
              <a:spcAft>
                <a:spcPts val="1000"/>
              </a:spcAft>
              <a:buNone/>
            </a:pPr>
            <a:r>
              <a:rPr lang="en-US" sz="10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1269950" y="3285976"/>
            <a:ext cx="40430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Present Continuous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9950" y="3895576"/>
            <a:ext cx="42312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现在进行时 — actions happening right 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9950" y="4590901"/>
            <a:ext cx="711101" cy="50750"/>
          </a:xfrm>
          <a:prstGeom prst="roundRect">
            <a:avLst>
              <a:gd name="adj" fmla="val 500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69950" y="4946452"/>
            <a:ext cx="1118146" cy="400050"/>
          </a:xfrm>
          <a:prstGeom prst="roundRect">
            <a:avLst>
              <a:gd name="adj" fmla="val 317142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08075" y="5032177"/>
            <a:ext cx="6547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5797" y="4946452"/>
            <a:ext cx="2623989" cy="400050"/>
          </a:xfrm>
          <a:prstGeom prst="roundRect">
            <a:avLst>
              <a:gd name="adj" fmla="val 317142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3922" y="5032177"/>
            <a:ext cx="2190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📚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Easy Steps Book 2 · Unit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67486" y="4946452"/>
            <a:ext cx="2163217" cy="400050"/>
          </a:xfrm>
          <a:prstGeom prst="roundRect">
            <a:avLst>
              <a:gd name="adj" fmla="val 317142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05611" y="5032177"/>
            <a:ext cx="172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+ verb structure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913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60350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866626"/>
            <a:ext cx="11192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Vocabulary Review · L7.5 Words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1346002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English → students write Chinese character on whiteboard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1704677"/>
            <a:ext cx="1722983" cy="928092"/>
          </a:xfrm>
          <a:prstGeom prst="roundRect">
            <a:avLst>
              <a:gd name="adj" fmla="val 109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1790402"/>
            <a:ext cx="907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17116" y="1917353"/>
            <a:ext cx="51810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63104" y="2222153"/>
            <a:ext cx="424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xiǎoshuō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56253" y="2406253"/>
            <a:ext cx="22952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459534" y="1704677"/>
            <a:ext cx="1722983" cy="928092"/>
          </a:xfrm>
          <a:prstGeom prst="roundRect">
            <a:avLst>
              <a:gd name="adj" fmla="val 109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70559" y="1790402"/>
            <a:ext cx="907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067050" y="1917353"/>
            <a:ext cx="51810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03079" y="2222153"/>
            <a:ext cx="2406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zázhì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12219" y="2406253"/>
            <a:ext cx="41746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magazine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309467" y="1704677"/>
            <a:ext cx="1722983" cy="928092"/>
          </a:xfrm>
          <a:prstGeom prst="roundRect">
            <a:avLst>
              <a:gd name="adj" fmla="val 109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20493" y="1790402"/>
            <a:ext cx="907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916984" y="1917353"/>
            <a:ext cx="51810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画儿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68788" y="2222153"/>
            <a:ext cx="2082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huàr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65261" y="2406253"/>
            <a:ext cx="81139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drawing / painting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59401" y="1704677"/>
            <a:ext cx="1722983" cy="928092"/>
          </a:xfrm>
          <a:prstGeom prst="roundRect">
            <a:avLst>
              <a:gd name="adj" fmla="val 109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70427" y="1790402"/>
            <a:ext cx="907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39967" y="1917353"/>
            <a:ext cx="77708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国画儿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31509" y="2222153"/>
            <a:ext cx="386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guóhuàr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52236" y="2406253"/>
            <a:ext cx="737164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painting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009334" y="1704677"/>
            <a:ext cx="1722983" cy="928092"/>
          </a:xfrm>
          <a:prstGeom prst="roundRect">
            <a:avLst>
              <a:gd name="adj" fmla="val 109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20360" y="1790402"/>
            <a:ext cx="907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⑤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489900" y="1917353"/>
            <a:ext cx="77708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685312" y="2222153"/>
            <a:ext cx="37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yóuhuàr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25737" y="2406253"/>
            <a:ext cx="49017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oil painting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859268" y="1704677"/>
            <a:ext cx="1723132" cy="928092"/>
          </a:xfrm>
          <a:prstGeom prst="roundRect">
            <a:avLst>
              <a:gd name="adj" fmla="val 109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970294" y="1790402"/>
            <a:ext cx="907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⑥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212884" y="1917353"/>
            <a:ext cx="103606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水彩画儿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454729" y="2222153"/>
            <a:ext cx="542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shuǐcǎihuàr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268458" y="2406253"/>
            <a:ext cx="904604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watercolour painting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9600" y="2810470"/>
            <a:ext cx="10972800" cy="1223963"/>
          </a:xfrm>
          <a:prstGeom prst="roundRect">
            <a:avLst>
              <a:gd name="adj" fmla="val 10376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33450" y="3007221"/>
            <a:ext cx="4911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BRIDGE · 5–8 MIN — You saw 正在 in Text 2: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33450" y="3200846"/>
            <a:ext cx="491164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学画国画儿。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33450" y="3642122"/>
            <a:ext cx="49116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 you think 正在 means?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Take 2–3 ideas before confirming.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18895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719263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TODAY'S GOAL · 今日目标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963638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633514"/>
            <a:ext cx="10769798" cy="952946"/>
          </a:xfrm>
          <a:prstGeom prst="roundRect">
            <a:avLst>
              <a:gd name="adj" fmla="val 1332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4951" y="2855714"/>
            <a:ext cx="10324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学习目标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34951" y="3061990"/>
            <a:ext cx="10324540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describe actions </a:t>
            </a:r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happening right now</a:t>
            </a:r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using </a:t>
            </a:r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1101" y="381506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 · 我能……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1101" y="409753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1949" y="4149923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68301" y="4084886"/>
            <a:ext cx="402115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form 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+ verb</a:t>
            </a:r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sentences → 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他正在弹钢琴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101" y="454193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9299" y="4594324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68301" y="4529286"/>
            <a:ext cx="400855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and answer 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你正在……吗？</a:t>
            </a:r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我正在……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101" y="49863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8852" y="5038725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68301" y="4973687"/>
            <a:ext cx="662065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a partner dialogue about what people are doing 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this moment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9214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Pattern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054894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248519"/>
            <a:ext cx="11192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Key Pattern · 正在 + verb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1715244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正在 before any verb to say the action is happening right 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2073920"/>
            <a:ext cx="1262211" cy="682377"/>
          </a:xfrm>
          <a:prstGeom prst="roundRect">
            <a:avLst>
              <a:gd name="adj" fmla="val 14889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1800" y="2194471"/>
            <a:ext cx="83416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Subject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77057" y="2511921"/>
            <a:ext cx="5376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主语 subject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73312" y="2257871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20664" y="2073920"/>
            <a:ext cx="1322636" cy="682377"/>
          </a:xfrm>
          <a:prstGeom prst="roundRect">
            <a:avLst>
              <a:gd name="adj" fmla="val 14889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2557" y="2194471"/>
            <a:ext cx="57002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42865" y="2511921"/>
            <a:ext cx="8957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 now · 现在进行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44801" y="2257871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92153" y="2073920"/>
            <a:ext cx="1007715" cy="682377"/>
          </a:xfrm>
          <a:prstGeom prst="roundRect">
            <a:avLst>
              <a:gd name="adj" fmla="val 14889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14354" y="2194471"/>
            <a:ext cx="57458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Verb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56025" y="2511921"/>
            <a:ext cx="4894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动词 action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001369" y="2257871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48721" y="2073920"/>
            <a:ext cx="1200150" cy="682377"/>
          </a:xfrm>
          <a:prstGeom prst="roundRect">
            <a:avLst>
              <a:gd name="adj" fmla="val 14889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70922" y="2194471"/>
            <a:ext cx="77086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Object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8192" y="2511921"/>
            <a:ext cx="6336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宾语 (optional)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550372" y="2291209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29723" y="2291209"/>
            <a:ext cx="29834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"[Subject] is [verb]-ing right now"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9600" y="2933998"/>
            <a:ext cx="10972800" cy="507802"/>
          </a:xfrm>
          <a:prstGeom prst="roundRect">
            <a:avLst>
              <a:gd name="adj" fmla="val 2000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2275" y="3045023"/>
            <a:ext cx="88902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15946" y="3106936"/>
            <a:ext cx="16868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is playing piano right now.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9600" y="3543300"/>
            <a:ext cx="10972800" cy="507802"/>
          </a:xfrm>
          <a:prstGeom prst="roundRect">
            <a:avLst>
              <a:gd name="adj" fmla="val 2000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22275" y="3654326"/>
            <a:ext cx="91797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99762" y="3716238"/>
            <a:ext cx="13973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She is singing right now.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9600" y="4152602"/>
            <a:ext cx="10972800" cy="507802"/>
          </a:xfrm>
          <a:prstGeom prst="roundRect">
            <a:avLst>
              <a:gd name="adj" fmla="val 2000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2275" y="4263628"/>
            <a:ext cx="81440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听什么音乐？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84307" y="4325541"/>
            <a:ext cx="24331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music are you listening to right now?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9600" y="4761905"/>
            <a:ext cx="10972800" cy="507802"/>
          </a:xfrm>
          <a:prstGeom prst="roundRect">
            <a:avLst>
              <a:gd name="adj" fmla="val 20008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22275" y="4872930"/>
            <a:ext cx="69351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</a:t>
            </a:r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学中文。是不是？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99189" y="4919067"/>
            <a:ext cx="1294954" cy="193477"/>
          </a:xfrm>
          <a:prstGeom prst="roundRect">
            <a:avLst>
              <a:gd name="adj" fmla="val 6557524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910215" y="4953893"/>
            <a:ext cx="10943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META · RIGHT NOW!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271843" y="4934843"/>
            <a:ext cx="2139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are learning Chinese. Aren't you?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9600" y="5396657"/>
            <a:ext cx="10972800" cy="558701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33412" y="5396657"/>
            <a:ext cx="0" cy="558701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5825" y="5604570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 FORM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555998" y="5523607"/>
            <a:ext cx="15411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你正在做什么？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3244602" y="5561707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587502" y="5523607"/>
            <a:ext cx="1996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我正在__________。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933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喜欢 vs 正在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60350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CONTRAST · 区别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53976"/>
            <a:ext cx="11296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Habitual vs Right Now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8701" y="1320701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Same verb — completely different meaning depending on which marker you 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8701" y="1679377"/>
            <a:ext cx="5086499" cy="2719388"/>
          </a:xfrm>
          <a:prstGeom prst="roundRect">
            <a:avLst>
              <a:gd name="adj" fmla="val 4670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2551" y="1927027"/>
            <a:ext cx="1277541" cy="219075"/>
          </a:xfrm>
          <a:prstGeom prst="roundRect">
            <a:avLst>
              <a:gd name="adj" fmla="val 579130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4951" y="1965127"/>
            <a:ext cx="9921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喜欢 · HABITUAL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82551" y="2272903"/>
            <a:ext cx="45275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82551" y="2907804"/>
            <a:ext cx="452757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General truth · always true · habit · preference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不受时间限制 — not tied to this moment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551" y="3364706"/>
            <a:ext cx="4438799" cy="522982"/>
          </a:xfrm>
          <a:prstGeom prst="roundRect">
            <a:avLst>
              <a:gd name="adj" fmla="val 14570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34951" y="3466207"/>
            <a:ext cx="42166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551" y="3989189"/>
            <a:ext cx="4527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likes playing piano. (in general, always)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48350" y="2791420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99857" y="2939058"/>
            <a:ext cx="195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46800" y="1679377"/>
            <a:ext cx="5086499" cy="2719388"/>
          </a:xfrm>
          <a:prstGeom prst="roundRect">
            <a:avLst>
              <a:gd name="adj" fmla="val 4670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70650" y="1927027"/>
            <a:ext cx="1374577" cy="219075"/>
          </a:xfrm>
          <a:prstGeom prst="roundRect">
            <a:avLst>
              <a:gd name="adj" fmla="val 5791304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23050" y="1965127"/>
            <a:ext cx="109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· RIGHT NOW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70650" y="2272903"/>
            <a:ext cx="45275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870650" y="2907804"/>
            <a:ext cx="452757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Action in progress · happening at this exact moment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现在进行 — happening as we speak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70650" y="3364706"/>
            <a:ext cx="4438799" cy="522982"/>
          </a:xfrm>
          <a:prstGeom prst="roundRect">
            <a:avLst>
              <a:gd name="adj" fmla="val 14570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23050" y="3466207"/>
            <a:ext cx="42166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70650" y="3989189"/>
            <a:ext cx="4527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is playing piano right now. (at this moment)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8701" y="4551164"/>
            <a:ext cx="11074598" cy="603200"/>
          </a:xfrm>
          <a:prstGeom prst="roundRect">
            <a:avLst>
              <a:gd name="adj" fmla="val 1684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2127" y="4781252"/>
            <a:ext cx="575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TIMELINE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39032" y="4840039"/>
            <a:ext cx="5455295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11685" y="4782889"/>
            <a:ext cx="139601" cy="139601"/>
          </a:xfrm>
          <a:prstGeom prst="roundRect">
            <a:avLst>
              <a:gd name="adj" fmla="val 655010"/>
            </a:avLst>
          </a:prstGeom>
          <a:solidFill>
            <a:srgbClr val="3A7D8C"/>
          </a:solidFill>
          <a:ln w="19050">
            <a:solidFill>
              <a:srgbClr val="FEFC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630091" y="4782889"/>
            <a:ext cx="139601" cy="139601"/>
          </a:xfrm>
          <a:prstGeom prst="roundRect">
            <a:avLst>
              <a:gd name="adj" fmla="val 655010"/>
            </a:avLst>
          </a:prstGeom>
          <a:solidFill>
            <a:srgbClr val="3A7D8C"/>
          </a:solidFill>
          <a:ln w="19050">
            <a:solidFill>
              <a:srgbClr val="FEFC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611910" y="4782889"/>
            <a:ext cx="139601" cy="139601"/>
          </a:xfrm>
          <a:prstGeom prst="roundRect">
            <a:avLst>
              <a:gd name="adj" fmla="val 655010"/>
            </a:avLst>
          </a:prstGeom>
          <a:solidFill>
            <a:srgbClr val="3A7D8C"/>
          </a:solidFill>
          <a:ln w="19050">
            <a:solidFill>
              <a:srgbClr val="FEFC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21300" y="4782889"/>
            <a:ext cx="139601" cy="139601"/>
          </a:xfrm>
          <a:prstGeom prst="roundRect">
            <a:avLst>
              <a:gd name="adj" fmla="val 655010"/>
            </a:avLst>
          </a:prstGeom>
          <a:solidFill>
            <a:srgbClr val="3A7D8C"/>
          </a:solidFill>
          <a:ln w="19050">
            <a:solidFill>
              <a:srgbClr val="FEFC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94028" y="4782889"/>
            <a:ext cx="139601" cy="139601"/>
          </a:xfrm>
          <a:prstGeom prst="roundRect">
            <a:avLst>
              <a:gd name="adj" fmla="val 655010"/>
            </a:avLst>
          </a:prstGeom>
          <a:solidFill>
            <a:srgbClr val="3A7D8C"/>
          </a:solidFill>
          <a:ln w="19050">
            <a:solidFill>
              <a:srgbClr val="FEFC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21525" y="4782889"/>
            <a:ext cx="139601" cy="139601"/>
          </a:xfrm>
          <a:prstGeom prst="roundRect">
            <a:avLst>
              <a:gd name="adj" fmla="val 655010"/>
            </a:avLst>
          </a:prstGeom>
          <a:solidFill>
            <a:srgbClr val="3A7D8C"/>
          </a:solidFill>
          <a:ln w="19050">
            <a:solidFill>
              <a:srgbClr val="FEFC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158704" y="4744789"/>
            <a:ext cx="215801" cy="215801"/>
          </a:xfrm>
          <a:prstGeom prst="roundRect">
            <a:avLst>
              <a:gd name="adj" fmla="val 423724"/>
            </a:avLst>
          </a:prstGeom>
          <a:solidFill>
            <a:srgbClr val="C8943E"/>
          </a:solidFill>
          <a:ln w="19050">
            <a:solidFill>
              <a:srgbClr val="FEFC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146727" y="478914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49877" y="4762202"/>
            <a:ext cx="1768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喜欢 = repeated across time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59478" y="4762202"/>
            <a:ext cx="1199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53252" y="478914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556403" y="4762202"/>
            <a:ext cx="18497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= pinned to this moment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1260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660350"/>
            <a:ext cx="11088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· QUICK CHECK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0350" y="853976"/>
            <a:ext cx="110887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 · 理解确认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0350" y="1320701"/>
            <a:ext cx="11088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Whiteboards ready — discuss with your partner first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350" y="1679377"/>
            <a:ext cx="10871299" cy="1520875"/>
          </a:xfrm>
          <a:prstGeom prst="roundRect">
            <a:avLst>
              <a:gd name="adj" fmla="val 835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8475" y="18666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6141" y="1920478"/>
            <a:ext cx="816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31727" y="1866602"/>
            <a:ext cx="10059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CHOOSE · 选择题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31727" y="2063353"/>
            <a:ext cx="10059034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sentence means "he plays piano every day"?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31727" y="2387650"/>
            <a:ext cx="1663452" cy="625376"/>
          </a:xfrm>
          <a:prstGeom prst="roundRect">
            <a:avLst>
              <a:gd name="adj" fmla="val 16246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53927" y="2482900"/>
            <a:ext cx="12434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53927" y="2632025"/>
            <a:ext cx="1243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他喜欢弹钢琴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47579" y="2387650"/>
            <a:ext cx="1663452" cy="625376"/>
          </a:xfrm>
          <a:prstGeom prst="roundRect">
            <a:avLst>
              <a:gd name="adj" fmla="val 16246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69779" y="2482900"/>
            <a:ext cx="12434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69779" y="2632025"/>
            <a:ext cx="1243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他正在弹钢琴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350" y="3352651"/>
            <a:ext cx="10871299" cy="1520875"/>
          </a:xfrm>
          <a:prstGeom prst="roundRect">
            <a:avLst>
              <a:gd name="adj" fmla="val 835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98475" y="353987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20068" y="3593753"/>
            <a:ext cx="1146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31727" y="3539877"/>
            <a:ext cx="10059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· 翻译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431727" y="3736628"/>
            <a:ext cx="10059034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in Chinese: "She is reading a novel right now."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31727" y="4073575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777752" y="4362450"/>
            <a:ext cx="30480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77752" y="4060924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她正在…………………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31727" y="4448175"/>
            <a:ext cx="1458218" cy="238125"/>
          </a:xfrm>
          <a:prstGeom prst="roundRect">
            <a:avLst>
              <a:gd name="adj" fmla="val 5328000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58677" y="4486275"/>
            <a:ext cx="12284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🖊 Write on whiteboard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0350" y="5025926"/>
            <a:ext cx="10871299" cy="1489025"/>
          </a:xfrm>
          <a:prstGeom prst="roundRect">
            <a:avLst>
              <a:gd name="adj" fmla="val 852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98475" y="52131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19621" y="5267027"/>
            <a:ext cx="1155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31727" y="5213152"/>
            <a:ext cx="10059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HUNT · 找错误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431727" y="5409902"/>
            <a:ext cx="10059034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this sentence?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31727" y="5734199"/>
            <a:ext cx="2577554" cy="593527"/>
          </a:xfrm>
          <a:prstGeom prst="roundRect">
            <a:avLst>
              <a:gd name="adj" fmla="val 17118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704677" y="5854750"/>
            <a:ext cx="20722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他正在弹</a:t>
            </a:r>
            <a:pPr algn="l" indent="0" marL="0">
              <a:buNone/>
            </a:pPr>
            <a:r>
              <a:rPr lang="en-US" sz="20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</a:t>
            </a:r>
            <a:pPr algn="l" indent="0" marL="0">
              <a:buNone/>
            </a:pPr>
            <a:r>
              <a:rPr lang="en-US" sz="2000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钢琴。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13953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· Answers Revealed ↳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660350"/>
            <a:ext cx="11088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正确答案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0350" y="853976"/>
            <a:ext cx="110887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CFU Answers · 答案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0350" y="1320701"/>
            <a:ext cx="11088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and discuss each one before moving 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350" y="1654076"/>
            <a:ext cx="10871299" cy="1117253"/>
          </a:xfrm>
          <a:prstGeom prst="roundRect">
            <a:avLst>
              <a:gd name="adj" fmla="val 11367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8475" y="18160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6141" y="1869877"/>
            <a:ext cx="816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31727" y="1816001"/>
            <a:ext cx="100590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means "he plays piano every day"?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31727" y="2093714"/>
            <a:ext cx="1385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4557" y="2060377"/>
            <a:ext cx="191046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· 他</a:t>
            </a:r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31727" y="2425452"/>
            <a:ext cx="1005903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喜欢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habitual/general preference — not tied to right now. B (他</a:t>
            </a:r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弹钢琴) means he is playing piano </a:t>
            </a:r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this exact moment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350" y="2910929"/>
            <a:ext cx="10871299" cy="1117253"/>
          </a:xfrm>
          <a:prstGeom prst="roundRect">
            <a:avLst>
              <a:gd name="adj" fmla="val 11367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98475" y="30728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20068" y="3126730"/>
            <a:ext cx="1146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31727" y="3072854"/>
            <a:ext cx="100590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"She is reading a novel right now."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31727" y="3350568"/>
            <a:ext cx="1385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4557" y="3317230"/>
            <a:ext cx="16322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看小说。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31727" y="3682305"/>
            <a:ext cx="1005903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verb (看) + object (小说) — subject + 正在 + verb + object.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0350" y="4167783"/>
            <a:ext cx="10871299" cy="1069628"/>
          </a:xfrm>
          <a:prstGeom prst="roundRect">
            <a:avLst>
              <a:gd name="adj" fmla="val 11873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98475" y="432970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19621" y="4383584"/>
            <a:ext cx="1155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31727" y="4329708"/>
            <a:ext cx="100590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wrong? 他正在弹</a:t>
            </a:r>
            <a:pPr algn="l" indent="0" marL="0">
              <a:spcAft>
                <a:spcPts val="500"/>
              </a:spcAft>
              <a:buNone/>
            </a:pPr>
            <a:r>
              <a:rPr lang="en-US" sz="800" b="1" i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【了】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钢琴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31727" y="4583609"/>
            <a:ext cx="1385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94557" y="4574084"/>
            <a:ext cx="39419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Remove </a:t>
            </a:r>
            <a:pPr algn="l" indent="0" marL="0">
              <a:buNone/>
            </a:pPr>
            <a:r>
              <a:rPr lang="en-US" sz="15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正在 already signals present action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31727" y="4891534"/>
            <a:ext cx="1005903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了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marks completed actions (past/change of state). It clashes with </a:t>
            </a:r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(now/ongoing). Correct: 他正在弹钢琴。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20677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正在 Sentences from Pictures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451"/>
            <a:ext cx="4013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 · 20–28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03077"/>
            <a:ext cx="401310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 Sentences from Pictures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1218902"/>
            <a:ext cx="4013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Race your partner — say the full 正在 sentence for each picture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25621" y="1145977"/>
            <a:ext cx="758428" cy="253901"/>
          </a:xfrm>
          <a:prstGeom prst="roundRect">
            <a:avLst>
              <a:gd name="adj" fmla="val 499694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03322" y="1196727"/>
            <a:ext cx="4110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1552277"/>
            <a:ext cx="1778050" cy="1077069"/>
          </a:xfrm>
          <a:prstGeom prst="roundRect">
            <a:avLst>
              <a:gd name="adj" fmla="val 94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1625203"/>
            <a:ext cx="142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20688" y="1739503"/>
            <a:ext cx="35947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400"/>
              </a:spcBef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🎹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44298" y="2145804"/>
            <a:ext cx="50520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9875" y="2394496"/>
            <a:ext cx="5243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tán gāngqín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87501" y="1552277"/>
            <a:ext cx="1778050" cy="1077069"/>
          </a:xfrm>
          <a:prstGeom prst="roundRect">
            <a:avLst>
              <a:gd name="adj" fmla="val 94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98527" y="1625203"/>
            <a:ext cx="142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0239" y="1739503"/>
            <a:ext cx="35947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400"/>
              </a:spcBef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🎤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108098" y="2145804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77319" y="2394496"/>
            <a:ext cx="4062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chàng gē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67051" y="1552277"/>
            <a:ext cx="1778050" cy="1077069"/>
          </a:xfrm>
          <a:prstGeom prst="roundRect">
            <a:avLst>
              <a:gd name="adj" fmla="val 94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78077" y="1625203"/>
            <a:ext cx="142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79789" y="1739503"/>
            <a:ext cx="35947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400"/>
              </a:spcBef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987649" y="2145804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07918" y="2394496"/>
            <a:ext cx="3022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dú shū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146602" y="1552277"/>
            <a:ext cx="1778198" cy="1077069"/>
          </a:xfrm>
          <a:prstGeom prst="roundRect">
            <a:avLst>
              <a:gd name="adj" fmla="val 94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57627" y="1625203"/>
            <a:ext cx="142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9488" y="1739503"/>
            <a:ext cx="35947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400"/>
              </a:spcBef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📺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83098" y="2145804"/>
            <a:ext cx="50520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88646" y="2394496"/>
            <a:ext cx="5039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kàn diànshì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026301" y="1552277"/>
            <a:ext cx="1778050" cy="1077069"/>
          </a:xfrm>
          <a:prstGeom prst="roundRect">
            <a:avLst>
              <a:gd name="adj" fmla="val 94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137327" y="1625203"/>
            <a:ext cx="142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⑤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39039" y="1739503"/>
            <a:ext cx="35947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400"/>
              </a:spcBef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🖌️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662648" y="2145804"/>
            <a:ext cx="50520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画画儿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26537" y="2394496"/>
            <a:ext cx="3851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huà huàr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905851" y="1552277"/>
            <a:ext cx="1778050" cy="1077069"/>
          </a:xfrm>
          <a:prstGeom prst="roundRect">
            <a:avLst>
              <a:gd name="adj" fmla="val 94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016877" y="1625203"/>
            <a:ext cx="142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⑥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618589" y="1739503"/>
            <a:ext cx="35947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400"/>
              </a:spcBef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🎧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10542199" y="2145804"/>
            <a:ext cx="50520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544621" y="2394496"/>
            <a:ext cx="5105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tīng yīnyuè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07950" y="2756297"/>
            <a:ext cx="11176099" cy="555427"/>
          </a:xfrm>
          <a:prstGeom prst="roundRect">
            <a:avLst>
              <a:gd name="adj" fmla="val 18292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55600" y="2962573"/>
            <a:ext cx="1148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034332" y="2876848"/>
            <a:ext cx="95901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 / 她 </a:t>
            </a:r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__________。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07950" y="3413224"/>
            <a:ext cx="11176099" cy="501551"/>
          </a:xfrm>
          <a:prstGeom prst="roundRect">
            <a:avLst>
              <a:gd name="adj" fmla="val 202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95176" y="3592562"/>
            <a:ext cx="7280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VERB BANK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10457" y="3511600"/>
            <a:ext cx="730151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646932" y="3559225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342108" y="3511600"/>
            <a:ext cx="577751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478584" y="355922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21360" y="3511600"/>
            <a:ext cx="730151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157835" y="3559225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853011" y="3511600"/>
            <a:ext cx="577751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989487" y="355922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32263" y="3511600"/>
            <a:ext cx="730151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668738" y="3559225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画画儿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363914" y="3511600"/>
            <a:ext cx="730151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500390" y="3559225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195566" y="3511600"/>
            <a:ext cx="1034951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332041" y="3559225"/>
            <a:ext cx="777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玩电脑游戏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332018" y="3511600"/>
            <a:ext cx="730151" cy="304800"/>
          </a:xfrm>
          <a:prstGeom prst="roundRect">
            <a:avLst>
              <a:gd name="adj" fmla="val 25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468493" y="3559225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弹吉他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07950" y="4016276"/>
            <a:ext cx="3657600" cy="647998"/>
          </a:xfrm>
          <a:prstGeom prst="roundRect">
            <a:avLst>
              <a:gd name="adj" fmla="val 117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34901" y="4105126"/>
            <a:ext cx="34717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34901" y="4267051"/>
            <a:ext cx="347177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Verb bank on board — point to the picture, say the verb, build the sentence.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267051" y="4016276"/>
            <a:ext cx="3657749" cy="647998"/>
          </a:xfrm>
          <a:prstGeom prst="roundRect">
            <a:avLst>
              <a:gd name="adj" fmla="val 117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394002" y="4105126"/>
            <a:ext cx="34719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394002" y="4267051"/>
            <a:ext cx="3471925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clause: 他正在弹钢琴，一边唱歌。Try at least 2 combo sentences.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026301" y="4016276"/>
            <a:ext cx="3657600" cy="647998"/>
          </a:xfrm>
          <a:prstGeom prst="roundRect">
            <a:avLst>
              <a:gd name="adj" fmla="val 117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8153251" y="4105126"/>
            <a:ext cx="34717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8153251" y="4267051"/>
            <a:ext cx="347177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Rapid-fire cold calls — teacher points to picture, student must say full sentence instantly.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969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451"/>
            <a:ext cx="43475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 · PAIRS · 28–36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03077"/>
            <a:ext cx="434753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Mime &amp; Guess · 猜猜我在做什么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1218902"/>
            <a:ext cx="43475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mimes silently — B asks — A answers — swap roles after 3 mimes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25621" y="1145977"/>
            <a:ext cx="758428" cy="253901"/>
          </a:xfrm>
          <a:prstGeom prst="roundRect">
            <a:avLst>
              <a:gd name="adj" fmla="val 499694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03322" y="1196727"/>
            <a:ext cx="4110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1526828"/>
            <a:ext cx="11176099" cy="358676"/>
          </a:xfrm>
          <a:prstGeom prst="roundRect">
            <a:avLst>
              <a:gd name="adj" fmla="val 2832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1625203"/>
            <a:ext cx="7921377" cy="16192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mimes silently (no words!)</a:t>
            </a:r>
            <a:endParaRPr lang="en-US" sz="900" dirty="0"/>
          </a:p>
          <a:p>
            <a:pPr algn="l" marL="88900" indent="-88900">
              <a:buSzPct val="100000"/>
              <a:buChar char="•"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asks using the question frame</a:t>
            </a:r>
            <a:endParaRPr lang="en-US" sz="900" dirty="0"/>
          </a:p>
          <a:p>
            <a:pPr algn="l" marL="88900" indent="-88900">
              <a:buSzPct val="100000"/>
              <a:buChar char="•"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answers yes / no</a:t>
            </a:r>
            <a:endParaRPr lang="en-US" sz="900" dirty="0"/>
          </a:p>
          <a:p>
            <a:pPr algn="l" marL="88900" indent="-88900">
              <a:buSzPct val="100000"/>
              <a:buChar char="•"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 after 3 mimes each</a:t>
            </a:r>
            <a:endParaRPr lang="en-US" sz="900" dirty="0"/>
          </a:p>
          <a:p>
            <a:pPr algn="l" marL="88900" indent="-88900">
              <a:buSzPct val="100000"/>
              <a:buChar char="•"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pairs perform for class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012454"/>
            <a:ext cx="5499199" cy="3964186"/>
          </a:xfrm>
          <a:prstGeom prst="roundRect">
            <a:avLst>
              <a:gd name="adj" fmla="val 320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6075" y="2199680"/>
            <a:ext cx="51234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DIALOGUE FLOW · 对话流程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6075" y="249480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0284" y="2543919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376" y="2469505"/>
            <a:ext cx="47089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A — mimes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52376" y="2631430"/>
            <a:ext cx="470898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🙊 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100" b="1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silent action mime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376" y="2887861"/>
            <a:ext cx="47089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out the verb with no speaking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6075" y="316706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9837" y="3216176"/>
            <a:ext cx="935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376" y="3141762"/>
            <a:ext cx="47089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B — asks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52376" y="3303687"/>
            <a:ext cx="470898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2376" y="3560118"/>
            <a:ext cx="470898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或者：你在做什么？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52376" y="3766989"/>
            <a:ext cx="47089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Are you [verb]-ing? / What are you doing?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6075" y="404619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40284" y="4095304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376" y="4020889"/>
            <a:ext cx="47089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A — answers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52376" y="4182814"/>
            <a:ext cx="470898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是的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52376" y="4439245"/>
            <a:ext cx="470898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 </a:t>
            </a:r>
            <a:pPr algn="l" indent="0" marL="0">
              <a:lnSpc>
                <a:spcPts val="143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</a:t>
            </a:r>
            <a:pPr algn="l" indent="0" marL="0">
              <a:lnSpc>
                <a:spcPts val="143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</a:t>
            </a:r>
            <a:pPr algn="l" indent="0" marL="0">
              <a:lnSpc>
                <a:spcPts val="143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lnSpc>
                <a:spcPts val="143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52376" y="4646116"/>
            <a:ext cx="47089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Yes, I'm … / No, I'm actually …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46075" y="4900017"/>
            <a:ext cx="5022949" cy="317302"/>
          </a:xfrm>
          <a:prstGeom prst="roundRect">
            <a:avLst>
              <a:gd name="adj" fmla="val 24015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61009" y="4972943"/>
            <a:ext cx="4793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 Swap roles after 3 mimes each!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84850" y="2012454"/>
            <a:ext cx="5499199" cy="3964186"/>
          </a:xfrm>
          <a:prstGeom prst="roundRect">
            <a:avLst>
              <a:gd name="adj" fmla="val 3204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32500" y="2209205"/>
            <a:ext cx="51039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 FRAME · 问句框架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32500" y="2453580"/>
            <a:ext cx="5003899" cy="755452"/>
          </a:xfrm>
          <a:prstGeom prst="roundRect">
            <a:avLst>
              <a:gd name="adj" fmla="val 10087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584900" y="2542431"/>
            <a:ext cx="47930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(OPTION A)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584900" y="2704356"/>
            <a:ext cx="47930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</a:t>
            </a:r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84900" y="2977307"/>
            <a:ext cx="4793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Are you [verb]-ing right now?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32500" y="3310533"/>
            <a:ext cx="5003899" cy="755452"/>
          </a:xfrm>
          <a:prstGeom prst="roundRect">
            <a:avLst>
              <a:gd name="adj" fmla="val 10087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584900" y="3399383"/>
            <a:ext cx="47930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(OPTION B)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584900" y="3561308"/>
            <a:ext cx="47930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你在做什么？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584900" y="3834259"/>
            <a:ext cx="4793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are you doing?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32500" y="4167485"/>
            <a:ext cx="5003899" cy="755452"/>
          </a:xfrm>
          <a:prstGeom prst="roundRect">
            <a:avLst>
              <a:gd name="adj" fmla="val 10087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584900" y="4256336"/>
            <a:ext cx="47930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— YES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584900" y="4418261"/>
            <a:ext cx="47930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是的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</a:t>
            </a:r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______。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84900" y="4691211"/>
            <a:ext cx="4793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Yes, I'm [verb]-ing.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32500" y="5024438"/>
            <a:ext cx="5003899" cy="755452"/>
          </a:xfrm>
          <a:prstGeom prst="roundRect">
            <a:avLst>
              <a:gd name="adj" fmla="val 10087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584900" y="5113288"/>
            <a:ext cx="47930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— NO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584900" y="5275213"/>
            <a:ext cx="47930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</a:t>
            </a:r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______。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584900" y="5548164"/>
            <a:ext cx="4793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No, I'm actually [verb]-ing.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7950" y="6103590"/>
            <a:ext cx="3657600" cy="647998"/>
          </a:xfrm>
          <a:prstGeom prst="roundRect">
            <a:avLst>
              <a:gd name="adj" fmla="val 117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34901" y="6192441"/>
            <a:ext cx="34717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34901" y="6354366"/>
            <a:ext cx="347177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 frame stays on board throughout. Verb bank from Act 1 still visible.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67051" y="6103590"/>
            <a:ext cx="3657749" cy="647998"/>
          </a:xfrm>
          <a:prstGeom prst="roundRect">
            <a:avLst>
              <a:gd name="adj" fmla="val 117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394002" y="6192441"/>
            <a:ext cx="34719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394002" y="6354366"/>
            <a:ext cx="3471925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一边……一边…… in at least one mime: 我正在一边弹钢琴一边唱歌。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026301" y="6103590"/>
            <a:ext cx="3657600" cy="647998"/>
          </a:xfrm>
          <a:prstGeom prst="roundRect">
            <a:avLst>
              <a:gd name="adj" fmla="val 117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153251" y="6192441"/>
            <a:ext cx="34717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153251" y="6354366"/>
            <a:ext cx="347177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mimes and speaks — teacher circulates, taps students to perform.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890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Activity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451"/>
            <a:ext cx="61755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GAME · 36–41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03077"/>
            <a:ext cx="617556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Stroke Count Competition · 数笔画比赛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1218902"/>
            <a:ext cx="61755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Count strokes silently — write your number on the whiteboard — first correct answer wins a 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26514" y="1145977"/>
            <a:ext cx="757535" cy="253901"/>
          </a:xfrm>
          <a:prstGeom prst="roundRect">
            <a:avLst>
              <a:gd name="adj" fmla="val 4996948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04215" y="1196727"/>
            <a:ext cx="4101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1526828"/>
            <a:ext cx="11176099" cy="383977"/>
          </a:xfrm>
          <a:prstGeom prst="roundRect">
            <a:avLst>
              <a:gd name="adj" fmla="val 26460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0626" y="1637854"/>
            <a:ext cx="9823996" cy="16192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one character at a time</a:t>
            </a:r>
            <a:endParaRPr lang="en-US" sz="900" dirty="0"/>
          </a:p>
          <a:p>
            <a:pPr algn="l" marL="88900" indent="-88900">
              <a:buSzPct val="100000"/>
              <a:buChar char="•"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Count strokes silently — trace with finger if needed</a:t>
            </a:r>
            <a:endParaRPr lang="en-US" sz="900" dirty="0"/>
          </a:p>
          <a:p>
            <a:pPr algn="l" marL="88900" indent="-88900">
              <a:buSzPct val="100000"/>
              <a:buChar char="•"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number on whiteboard</a:t>
            </a:r>
            <a:endParaRPr lang="en-US" sz="900" dirty="0"/>
          </a:p>
          <a:p>
            <a:pPr algn="l" marL="88900" indent="-88900">
              <a:buSzPct val="100000"/>
              <a:buChar char="•"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— first correct wins a point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113955"/>
            <a:ext cx="2660749" cy="2406402"/>
          </a:xfrm>
          <a:prstGeom prst="roundRect">
            <a:avLst>
              <a:gd name="adj" fmla="val 5278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951" y="2234505"/>
            <a:ext cx="850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57325" y="2437656"/>
            <a:ext cx="777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spcBef>
                <a:spcPts val="1000"/>
              </a:spcBef>
              <a:buNone/>
            </a:pPr>
            <a:r>
              <a:rPr lang="en-US" sz="6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1716435" y="3275856"/>
            <a:ext cx="2486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8975" y="3552081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49475" y="3636169"/>
            <a:ext cx="18125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35435" y="4186982"/>
            <a:ext cx="10258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paint / drawing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46400" y="2113955"/>
            <a:ext cx="2660749" cy="2406402"/>
          </a:xfrm>
          <a:prstGeom prst="roundRect">
            <a:avLst>
              <a:gd name="adj" fmla="val 5278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92401" y="2234505"/>
            <a:ext cx="869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5775" y="2437656"/>
            <a:ext cx="777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spcBef>
                <a:spcPts val="1000"/>
              </a:spcBef>
              <a:buNone/>
            </a:pPr>
            <a:r>
              <a:rPr lang="en-US" sz="6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志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4579590" y="3275856"/>
            <a:ext cx="1982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97425" y="3552081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95664" y="3636169"/>
            <a:ext cx="16546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070003" y="4186982"/>
            <a:ext cx="12378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magazine / aspiration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84850" y="2113955"/>
            <a:ext cx="2660749" cy="2406402"/>
          </a:xfrm>
          <a:prstGeom prst="roundRect">
            <a:avLst>
              <a:gd name="adj" fmla="val 5278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30851" y="2234505"/>
            <a:ext cx="869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34225" y="2437656"/>
            <a:ext cx="777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spcBef>
                <a:spcPts val="1000"/>
              </a:spcBef>
              <a:buNone/>
            </a:pPr>
            <a:r>
              <a:rPr lang="en-US" sz="6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彩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7415659" y="3275856"/>
            <a:ext cx="2031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cǎi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35875" y="3552081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391549" y="3636169"/>
            <a:ext cx="25229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47595" y="4186982"/>
            <a:ext cx="1157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colour / watercolour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23300" y="2113955"/>
            <a:ext cx="2660749" cy="2406402"/>
          </a:xfrm>
          <a:prstGeom prst="roundRect">
            <a:avLst>
              <a:gd name="adj" fmla="val 5278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169301" y="2234505"/>
            <a:ext cx="870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 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972675" y="2437656"/>
            <a:ext cx="777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spcBef>
                <a:spcPts val="1000"/>
              </a:spcBef>
              <a:buNone/>
            </a:pPr>
            <a:r>
              <a:rPr lang="en-US" sz="6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</a:t>
            </a:r>
            <a:endParaRPr lang="en-US" sz="6000" dirty="0"/>
          </a:p>
        </p:txBody>
      </p:sp>
      <p:sp>
        <p:nvSpPr>
          <p:cNvPr id="38" name="Text 36"/>
          <p:cNvSpPr/>
          <p:nvPr/>
        </p:nvSpPr>
        <p:spPr>
          <a:xfrm>
            <a:off x="10152162" y="3275856"/>
            <a:ext cx="410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zhèng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74325" y="3552081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265866" y="3636169"/>
            <a:ext cx="17897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828609" y="4186982"/>
            <a:ext cx="10709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 now / upright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7950" y="4698057"/>
            <a:ext cx="11176099" cy="647551"/>
          </a:xfrm>
          <a:prstGeom prst="roundRect">
            <a:avLst>
              <a:gd name="adj" fmla="val 15690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80901" y="4950321"/>
            <a:ext cx="6145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561058" y="484405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681609" y="4897934"/>
            <a:ext cx="1165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992809" y="4845546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2500759" y="484405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626221" y="4897934"/>
            <a:ext cx="1067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932509" y="4845546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志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3440460" y="484405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538240" y="4897934"/>
            <a:ext cx="1631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872210" y="4845546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彩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4380161" y="484405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501455" y="4897934"/>
            <a:ext cx="1152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811911" y="4845546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9475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Wrap-up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34901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总结 · 41–47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828526"/>
            <a:ext cx="11192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Wrap-up · 本课总结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1295251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 → live demo → exit ticket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1653927"/>
            <a:ext cx="5384750" cy="2411313"/>
          </a:xfrm>
          <a:prstGeom prst="roundRect">
            <a:avLst>
              <a:gd name="adj" fmla="val 526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47725" y="1841153"/>
            <a:ext cx="50066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 REVISIT · 我能……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47725" y="2610892"/>
            <a:ext cx="49085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725" y="2199829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53095" y="2258467"/>
            <a:ext cx="1088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2126" y="2264271"/>
            <a:ext cx="1852624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Form 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+ verb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7725" y="3115568"/>
            <a:ext cx="49085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725" y="2704505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53095" y="2763143"/>
            <a:ext cx="1088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92126" y="2768947"/>
            <a:ext cx="289947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你正在……吗？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answer 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我正在……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7725" y="3209181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53095" y="3267819"/>
            <a:ext cx="1088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2126" y="3273623"/>
            <a:ext cx="3810905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a partner dialogue about right-now 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7501" y="1653927"/>
            <a:ext cx="5384899" cy="2411313"/>
          </a:xfrm>
          <a:prstGeom prst="roundRect">
            <a:avLst>
              <a:gd name="adj" fmla="val 526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45151" y="1850678"/>
            <a:ext cx="4987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LIVE DEMO · SC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45151" y="21203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33555" y="2153692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75252" y="2095054"/>
            <a:ext cx="191774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points to a student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5151" y="247575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23137" y="2509093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75252" y="2450455"/>
            <a:ext cx="237285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That student asks their neighbour: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75252" y="2664321"/>
            <a:ext cx="23728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你正在做什么？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45151" y="305782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22839" y="3091160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75252" y="3032522"/>
            <a:ext cx="214560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Neighbour answers: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75252" y="3246388"/>
            <a:ext cx="21456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我正在学______中文课。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45151" y="363988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522393" y="3673227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75252" y="3614589"/>
            <a:ext cx="163873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Chain around the room!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9600" y="4242941"/>
            <a:ext cx="10972800" cy="1083618"/>
          </a:xfrm>
          <a:prstGeom prst="roundRect">
            <a:avLst>
              <a:gd name="adj" fmla="val 11720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33450" y="4439692"/>
            <a:ext cx="7962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课堂出口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33450" y="4658767"/>
            <a:ext cx="796276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pPr algn="l" indent="0" marL="0">
              <a:lnSpc>
                <a:spcPts val="18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pPr algn="l" indent="0" marL="0">
              <a:lnSpc>
                <a:spcPts val="1885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sentences using </a:t>
            </a:r>
            <a:pPr algn="l" indent="0" marL="0">
              <a:lnSpc>
                <a:spcPts val="18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pPr algn="l" indent="0" marL="0">
              <a:lnSpc>
                <a:spcPts val="1885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① One about </a:t>
            </a:r>
            <a:pPr algn="l" indent="0" marL="0">
              <a:lnSpc>
                <a:spcPts val="18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yourself right now</a:t>
            </a:r>
            <a:pPr algn="l" indent="0" marL="0">
              <a:lnSpc>
                <a:spcPts val="1885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② One about </a:t>
            </a:r>
            <a:pPr algn="l" indent="0" marL="0">
              <a:lnSpc>
                <a:spcPts val="18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someone else in the room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33450" y="4948833"/>
            <a:ext cx="79627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 to teacher before leaving — no name needed, just the sentences.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558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正在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78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6739" y="144363"/>
            <a:ext cx="8280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69950" y="905917"/>
            <a:ext cx="13472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PREVIEW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69950" y="1169343"/>
            <a:ext cx="19188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· L7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9950" y="1499443"/>
            <a:ext cx="1036371" cy="101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0"/>
              </a:lnSpc>
              <a:spcAft>
                <a:spcPts val="600"/>
              </a:spcAft>
              <a:buNone/>
            </a:pPr>
            <a:r>
              <a:rPr lang="en-US" sz="8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1269950" y="2591693"/>
            <a:ext cx="131083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/ all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69950" y="3032968"/>
            <a:ext cx="26351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14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dōu — 全部 · universal quantifier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9950" y="3636169"/>
            <a:ext cx="6083052" cy="1912888"/>
          </a:xfrm>
          <a:prstGeom prst="roundRect">
            <a:avLst>
              <a:gd name="adj" fmla="val 663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44551" y="3883819"/>
            <a:ext cx="5440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TEASER · 先想想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44551" y="4128195"/>
            <a:ext cx="5440528" cy="462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油画儿、水彩画儿，我</a:t>
            </a:r>
            <a:pPr algn="l" indent="0" marL="0">
              <a:lnSpc>
                <a:spcPts val="3640"/>
              </a:lnSpc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pPr algn="l" indent="0" marL="0">
              <a:lnSpc>
                <a:spcPts val="364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喜欢画。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44551" y="4653707"/>
            <a:ext cx="54405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"Oil painting, watercolour — I like painting both."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4551" y="4939457"/>
            <a:ext cx="5274171" cy="361950"/>
          </a:xfrm>
          <a:prstGeom prst="roundRect">
            <a:avLst>
              <a:gd name="adj" fmla="val 21053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96951" y="5015657"/>
            <a:ext cx="50687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都 do in this sentence? Think about it for next time…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9950" y="5777657"/>
            <a:ext cx="1880741" cy="326827"/>
          </a:xfrm>
          <a:prstGeom prst="roundRect">
            <a:avLst>
              <a:gd name="adj" fmla="val 388196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82626" y="5850582"/>
            <a:ext cx="14844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right now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77642" y="5777657"/>
            <a:ext cx="1651546" cy="326827"/>
          </a:xfrm>
          <a:prstGeom prst="roundRect">
            <a:avLst>
              <a:gd name="adj" fmla="val 388196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90317" y="5850582"/>
            <a:ext cx="12507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both / 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56138" y="5777657"/>
            <a:ext cx="1693515" cy="326827"/>
          </a:xfrm>
          <a:prstGeom prst="roundRect">
            <a:avLst>
              <a:gd name="adj" fmla="val 388196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68813" y="5850582"/>
            <a:ext cx="12935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 2 · Unit 3 · L7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2026-06-30T02:51:29Z</dcterms:created>
  <dcterms:modified xsi:type="dcterms:W3CDTF">2026-06-30T02:51:29Z</dcterms:modified>
</cp:coreProperties>
</file>