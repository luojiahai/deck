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2030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5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72866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· 家具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888" y="176213"/>
            <a:ext cx="4000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P.138 · P.139 · P.141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你有没有自己的房间？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Storage, and Questions Without 吗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14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第四节课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736" y="176213"/>
            <a:ext cx="425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638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两人一组 · 屏幕看三十秒，然后关掉，自己说出来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63911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25836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41227" y="1925836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你的房间里有什么？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9600" y="2589312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51237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41227" y="2751237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有一张床、一张书桌和一把椅子。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09600" y="34147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766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41227" y="3576638"/>
            <a:ext cx="272034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你的房间里有电脑吗？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09600" y="42401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275" y="44020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41227" y="4402038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有，在我的书桌上。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09600" y="509096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两个角色都要说一遍。请两组上来演。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的第一句今天会变一个样子——先记住它现在长什么样。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小白板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7182" y="176213"/>
            <a:ext cx="4252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1446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小白板 · 四题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14488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72551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725513"/>
            <a:ext cx="92418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one chair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060674"/>
            <a:ext cx="9241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一把椅子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514600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625626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625626"/>
            <a:ext cx="100494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desks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960787"/>
            <a:ext cx="10049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两张书桌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14713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52573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525738"/>
            <a:ext cx="291146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computer is on the desk.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860899"/>
            <a:ext cx="29114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电脑在书桌上。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314825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425851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4425851"/>
            <a:ext cx="322296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chair is in front of the desk.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761012"/>
            <a:ext cx="32229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椅子在书桌前面。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2402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那个房间还少两样东西——今天补上。课文第一句里还藏着一个问句，上节课跳过去了，今天也补上。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990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99108"/>
            <a:ext cx="10972800" cy="1149251"/>
          </a:xfrm>
          <a:prstGeom prst="roundRect">
            <a:avLst>
              <a:gd name="adj" fmla="val 994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408658"/>
            <a:ext cx="10531602" cy="730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ask questions using the verb-not-verb form, and finish describing a bedroom.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50075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802285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96421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964210"/>
            <a:ext cx="394327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a wardrobe and a bookshelf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299371"/>
            <a:ext cx="39432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能说出衣柜和书架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8803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40423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4042321"/>
            <a:ext cx="539680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turn a 吗 question into a verb-not-verb question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377482"/>
            <a:ext cx="53968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能把「你有弟弟吗？」说成「你有没有弟弟？」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9585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51204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5120432"/>
            <a:ext cx="571392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interview a classmate with three V-not-V questions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455593"/>
            <a:ext cx="57139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能用三个「V不V」问句采访同学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814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736" y="176213"/>
            <a:ext cx="425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26828"/>
            <a:ext cx="5308550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owmCEDjpXl/img/yigu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990552" y="3936653"/>
            <a:ext cx="5574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yīguì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16150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衣柜（衣櫃）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2833836" y="5000923"/>
            <a:ext cx="8771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wardrobe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526828"/>
            <a:ext cx="5308699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owmCEDjpXl/img/shuj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917353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06879" y="3936653"/>
            <a:ext cx="65518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shūjià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480399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书架（書架）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8481417" y="5000923"/>
            <a:ext cx="9109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bookshelf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991" y="176213"/>
            <a:ext cx="4264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wardrobe in my room.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上有很多书。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are lots of books on the bookshelf.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左面。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wardrobe is to the left of the bookshelf.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问：你的房间里有没有书架？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2391" y="176213"/>
            <a:ext cx="4198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我的房间里有一个 ________ 和一个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说说里面装了什么、满不满，两个小句连起来：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我的衣柜里面有很多衣服，可是书架上没有很多书，因为我的书都在书桌上。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十五个词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6560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8485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44701" y="1392585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963585" y="1732211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79950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198836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315051" y="1392585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33935" y="1732211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550301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669186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09600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28485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2844701" y="2808387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63585" y="3148013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079950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98836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315051" y="2808387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33935" y="3148013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50301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669186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09600" y="4224189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8485" y="4563814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2844701" y="4224189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963585" y="4563814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5079950" y="4224189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198836" y="4563814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7315051" y="4224189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433935" y="4563814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9550301" y="4224189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669186" y="4563814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</a:t>
            </a:r>
            <a:endParaRPr lang="en-US" sz="3000" dirty="0"/>
          </a:p>
        </p:txBody>
      </p:sp>
      <p:sp>
        <p:nvSpPr>
          <p:cNvPr id="39" name="Text 37"/>
          <p:cNvSpPr/>
          <p:nvPr/>
        </p:nvSpPr>
        <p:spPr>
          <a:xfrm>
            <a:off x="609600" y="558924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第十四课的生词到这儿就齐了——十五个。一起读一遍。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74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不用「吗」的问句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843" y="176213"/>
            <a:ext cx="4265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465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课本 P.139 的 NOTE · 左边右边意思完全一样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16410"/>
            <a:ext cx="5247233" cy="495300"/>
          </a:xfrm>
          <a:prstGeom prst="roundRect">
            <a:avLst>
              <a:gd name="adj" fmla="val 12821"/>
            </a:avLst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1592610"/>
            <a:ext cx="5015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你有自己的房间</a:t>
            </a:r>
            <a:r>
              <a:rPr lang="en-US" sz="1900" b="1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034534" y="1587847"/>
            <a:ext cx="8637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296918" y="1497360"/>
            <a:ext cx="5285482" cy="533400"/>
          </a:xfrm>
          <a:prstGeom prst="roundRect">
            <a:avLst>
              <a:gd name="adj" fmla="val 11905"/>
            </a:avLst>
          </a:prstGeom>
          <a:solidFill>
            <a:srgbClr val="3D5A73">
              <a:alpha val="12000"/>
            </a:srgbClr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81018" y="1592610"/>
            <a:ext cx="5015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有没有</a:t>
            </a: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自己的房间？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09600" y="2163961"/>
            <a:ext cx="5247233" cy="495300"/>
          </a:xfrm>
          <a:prstGeom prst="roundRect">
            <a:avLst>
              <a:gd name="adj" fmla="val 12821"/>
            </a:avLst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74650" y="2240161"/>
            <a:ext cx="5015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你喜欢你的房间</a:t>
            </a:r>
            <a:r>
              <a:rPr lang="en-US" sz="1900" b="1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034534" y="2235398"/>
            <a:ext cx="8637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96918" y="2144911"/>
            <a:ext cx="5285482" cy="533400"/>
          </a:xfrm>
          <a:prstGeom prst="roundRect">
            <a:avLst>
              <a:gd name="adj" fmla="val 11905"/>
            </a:avLst>
          </a:prstGeom>
          <a:solidFill>
            <a:srgbClr val="3D5A73">
              <a:alpha val="12000"/>
            </a:srgbClr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81018" y="2240161"/>
            <a:ext cx="5015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喜不喜欢</a:t>
            </a: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你的房间？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09600" y="2811512"/>
            <a:ext cx="5247233" cy="495300"/>
          </a:xfrm>
          <a:prstGeom prst="roundRect">
            <a:avLst>
              <a:gd name="adj" fmla="val 12821"/>
            </a:avLst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74650" y="2887712"/>
            <a:ext cx="5015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你想买一个书架</a:t>
            </a:r>
            <a:r>
              <a:rPr lang="en-US" sz="1900" b="1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034534" y="2882950"/>
            <a:ext cx="8637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296918" y="2792462"/>
            <a:ext cx="5285482" cy="533400"/>
          </a:xfrm>
          <a:prstGeom prst="roundRect">
            <a:avLst>
              <a:gd name="adj" fmla="val 11905"/>
            </a:avLst>
          </a:prstGeom>
          <a:solidFill>
            <a:srgbClr val="3D5A73">
              <a:alpha val="12000"/>
            </a:srgbClr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81018" y="2887712"/>
            <a:ext cx="5015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想不想</a:t>
            </a: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买一个书架？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09600" y="3459063"/>
            <a:ext cx="5247233" cy="495300"/>
          </a:xfrm>
          <a:prstGeom prst="roundRect">
            <a:avLst>
              <a:gd name="adj" fmla="val 12821"/>
            </a:avLst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74650" y="3535263"/>
            <a:ext cx="5015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这是你的衣柜</a:t>
            </a:r>
            <a:r>
              <a:rPr lang="en-US" sz="1900" b="1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6034534" y="3530501"/>
            <a:ext cx="8637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›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296918" y="3440013"/>
            <a:ext cx="5285482" cy="533400"/>
          </a:xfrm>
          <a:prstGeom prst="roundRect">
            <a:avLst>
              <a:gd name="adj" fmla="val 11905"/>
            </a:avLst>
          </a:prstGeom>
          <a:solidFill>
            <a:srgbClr val="3D5A73">
              <a:alpha val="12000"/>
            </a:srgbClr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81018" y="3535263"/>
            <a:ext cx="5015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</a:t>
            </a: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是不是</a:t>
            </a: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你的衣柜？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609600" y="4106614"/>
            <a:ext cx="5247233" cy="495300"/>
          </a:xfrm>
          <a:prstGeom prst="roundRect">
            <a:avLst>
              <a:gd name="adj" fmla="val 12821"/>
            </a:avLst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74650" y="4182814"/>
            <a:ext cx="5015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你要买椅子</a:t>
            </a:r>
            <a:r>
              <a:rPr lang="en-US" sz="1900" b="1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034534" y="4178052"/>
            <a:ext cx="8637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›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96918" y="4087564"/>
            <a:ext cx="5285482" cy="533400"/>
          </a:xfrm>
          <a:prstGeom prst="roundRect">
            <a:avLst>
              <a:gd name="adj" fmla="val 11905"/>
            </a:avLst>
          </a:prstGeom>
          <a:solidFill>
            <a:srgbClr val="3D5A73">
              <a:alpha val="12000"/>
            </a:srgbClr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481018" y="4182814"/>
            <a:ext cx="5015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要不要</a:t>
            </a: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买椅子？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609600" y="4754166"/>
            <a:ext cx="5247233" cy="495300"/>
          </a:xfrm>
          <a:prstGeom prst="roundRect">
            <a:avLst>
              <a:gd name="adj" fmla="val 12821"/>
            </a:avLst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74650" y="4830366"/>
            <a:ext cx="5015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你买书架</a:t>
            </a:r>
            <a:r>
              <a:rPr lang="en-US" sz="1900" b="1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900" dirty="0">
                <a:solidFill>
                  <a:srgbClr val="4B54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6034534" y="4825603"/>
            <a:ext cx="8637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›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296918" y="4735116"/>
            <a:ext cx="5285482" cy="533400"/>
          </a:xfrm>
          <a:prstGeom prst="roundRect">
            <a:avLst>
              <a:gd name="adj" fmla="val 11905"/>
            </a:avLst>
          </a:prstGeom>
          <a:solidFill>
            <a:srgbClr val="3D5A73">
              <a:alpha val="12000"/>
            </a:srgbClr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481018" y="4830366"/>
            <a:ext cx="50156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买不买</a:t>
            </a:r>
            <a:r>
              <a:rPr lang="en-US" sz="1900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书架？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609600" y="540811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700"/>
              </a:spcBef>
              <a:buNone/>
            </a:pP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左边没有错。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两种都是对的中文，说哪个都行——今天练的是右边这一种。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734" y="176213"/>
            <a:ext cx="4838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545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动词说一遍，加「不」，再说一遍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54609"/>
            <a:ext cx="10972800" cy="847725"/>
          </a:xfrm>
          <a:prstGeom prst="roundRect">
            <a:avLst>
              <a:gd name="adj" fmla="val 13483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64159"/>
            <a:ext cx="1053160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动词 + 不 + 动词　（「有」用「没」：有没有）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09600" y="2129284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291209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291209"/>
            <a:ext cx="42531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有没有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自己的房间？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29359"/>
            <a:ext cx="42531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 is the exception — it takes 没, never 不.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28095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49002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490020"/>
            <a:ext cx="417189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喜不喜欢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28170"/>
            <a:ext cx="417189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Two-syllable verbs split: 喜欢 → 喜不喜欢.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26905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68883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688830"/>
            <a:ext cx="501046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有没有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书架？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26980"/>
            <a:ext cx="501046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question word sits where 吗 would have been.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002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要小心的就一条：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「有」配「没」，别的动词配「不」。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「你有不有书架？」是最常见的错。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4142" y="176213"/>
            <a:ext cx="4589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2663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两个问句连着问，还要说理由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2665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85050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你有没有自己的房间？你喜不喜欢？为什么？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858220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 you have your own room? Do you like it? Why?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32807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第二个问句把宾语省掉了，因为上一句刚说过——这是真的会话里的说法。回答不能只说「有」，要说一整句。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49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CD 69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5387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课本 P.138 · 完整版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3902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56492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15777" y="1564928"/>
            <a:ext cx="2461058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你有没有</a:t>
            </a:r>
            <a:r>
              <a:rPr lang="en-US" sz="19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自己的房间？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09600" y="2101155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6826" y="2212181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15777" y="2212181"/>
            <a:ext cx="492303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有。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09600" y="2748409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96826" y="2859435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15777" y="2859435"/>
            <a:ext cx="2214982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你的房间里有什么？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09600" y="3395663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6826" y="350668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15777" y="3506688"/>
            <a:ext cx="6152948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有一张床、一张书桌、一把椅子、一个</a:t>
            </a: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</a:t>
            </a:r>
            <a:r>
              <a:rPr lang="en-US" sz="19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和一个</a:t>
            </a: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</a:t>
            </a:r>
            <a:r>
              <a:rPr lang="en-US" sz="19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09600" y="4042916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153942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215777" y="4153942"/>
            <a:ext cx="2461209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你的房间里有电脑</a:t>
            </a: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9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09600" y="4690170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96826" y="4801195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15777" y="4801195"/>
            <a:ext cx="2214982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有，在我的书桌上。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09600" y="540097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第一句用「有没有」，第三句用「吗」——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两个都对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，同一个人在同一段对话里换着用，很正常。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9533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335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33611"/>
            <a:ext cx="10972800" cy="1050875"/>
          </a:xfrm>
          <a:prstGeom prst="roundRect">
            <a:avLst>
              <a:gd name="adj" fmla="val 604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19553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195536"/>
            <a:ext cx="359594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改成 V 不 V：　你有空调吗？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46337"/>
            <a:ext cx="3595949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全班一起说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36887"/>
            <a:ext cx="10972800" cy="1050875"/>
          </a:xfrm>
          <a:prstGeom prst="roundRect">
            <a:avLst>
              <a:gd name="adj" fmla="val 604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39881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398812"/>
            <a:ext cx="53682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不用「吗」，问：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Do you like your room?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49612"/>
            <a:ext cx="5368269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50875"/>
          </a:xfrm>
          <a:prstGeom prst="roundRect">
            <a:avLst>
              <a:gd name="adj" fmla="val 604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这句话对不对？　你有不有书架？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408051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错在哪儿？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43438"/>
            <a:ext cx="10972800" cy="1050875"/>
          </a:xfrm>
          <a:prstGeom prst="roundRect">
            <a:avLst>
              <a:gd name="adj" fmla="val 604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80536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805363"/>
            <a:ext cx="3108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你的房间里有没有衣柜？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56163"/>
            <a:ext cx="310896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点名——要一整句，不能只说「有」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2126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693" y="176213"/>
            <a:ext cx="4848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8931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owmCEDjpXl/img/shaf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315" y="1776561"/>
            <a:ext cx="507950" cy="5079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02965" y="233526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2193429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owmCEDjpXl/img/chaj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144" y="1776561"/>
            <a:ext cx="507950" cy="5079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86794" y="233526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3777258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owmCEDjpXl/img/dianshigu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973" y="1776561"/>
            <a:ext cx="507950" cy="5079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150072" y="2335262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5361087" y="1690836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5975152" y="1776561"/>
            <a:ext cx="2462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6945064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var/folders/6c/210dcgxn4gz5sm71vld2cy1h0000gn/T/tmp.owmCEDjpXl/img/kongtia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5779" y="1776561"/>
            <a:ext cx="507950" cy="5079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38430" y="233526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8528893" y="1690836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4" descr="/var/folders/6c/210dcgxn4gz5sm71vld2cy1h0000gn/T/tmp.owmCEDjpXl/img/xiyij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9608" y="1776561"/>
            <a:ext cx="507950" cy="50795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901708" y="2335262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1900" dirty="0"/>
          </a:p>
        </p:txBody>
      </p:sp>
      <p:sp>
        <p:nvSpPr>
          <p:cNvPr id="26" name="Text 19"/>
          <p:cNvSpPr/>
          <p:nvPr/>
        </p:nvSpPr>
        <p:spPr>
          <a:xfrm>
            <a:off x="10112722" y="1690836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7" name="Image 5" descr="/var/folders/6c/210dcgxn4gz5sm71vld2cy1h0000gn/T/tmp.owmCEDjpXl/img/limi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3586" y="1776561"/>
            <a:ext cx="507950" cy="50795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0606236" y="233526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1900" dirty="0"/>
          </a:p>
        </p:txBody>
      </p:sp>
      <p:sp>
        <p:nvSpPr>
          <p:cNvPr id="29" name="Text 21"/>
          <p:cNvSpPr/>
          <p:nvPr/>
        </p:nvSpPr>
        <p:spPr>
          <a:xfrm>
            <a:off x="609600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6" descr="/var/folders/6c/210dcgxn4gz5sm71vld2cy1h0000gn/T/tmp.owmCEDjpXl/img/bingxia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0315" y="2963912"/>
            <a:ext cx="507950" cy="50795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102965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1900" dirty="0"/>
          </a:p>
        </p:txBody>
      </p:sp>
      <p:sp>
        <p:nvSpPr>
          <p:cNvPr id="32" name="Text 23"/>
          <p:cNvSpPr/>
          <p:nvPr/>
        </p:nvSpPr>
        <p:spPr>
          <a:xfrm>
            <a:off x="2193429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3" name="Image 7" descr="/var/folders/6c/210dcgxn4gz5sm71vld2cy1h0000gn/T/tmp.owmCEDjpXl/img/kaoxian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4144" y="2963912"/>
            <a:ext cx="507950" cy="50795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2686794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1900" dirty="0"/>
          </a:p>
        </p:txBody>
      </p:sp>
      <p:sp>
        <p:nvSpPr>
          <p:cNvPr id="35" name="Text 25"/>
          <p:cNvSpPr/>
          <p:nvPr/>
        </p:nvSpPr>
        <p:spPr>
          <a:xfrm>
            <a:off x="3777258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6" name="Image 8" descr="/var/folders/6c/210dcgxn4gz5sm71vld2cy1h0000gn/T/tmp.owmCEDjpXl/img/dianlu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7973" y="2963912"/>
            <a:ext cx="507950" cy="50795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4270623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endParaRPr lang="en-US" sz="1900" dirty="0"/>
          </a:p>
        </p:txBody>
      </p:sp>
      <p:sp>
        <p:nvSpPr>
          <p:cNvPr id="38" name="Text 27"/>
          <p:cNvSpPr/>
          <p:nvPr/>
        </p:nvSpPr>
        <p:spPr>
          <a:xfrm>
            <a:off x="5361087" y="2878187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9" name="Image 9" descr="/var/folders/6c/210dcgxn4gz5sm71vld2cy1h0000gn/T/tmp.owmCEDjpXl/img/yiz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1950" y="2963912"/>
            <a:ext cx="507950" cy="50795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5854601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1900" dirty="0"/>
          </a:p>
        </p:txBody>
      </p:sp>
      <p:sp>
        <p:nvSpPr>
          <p:cNvPr id="41" name="Text 29"/>
          <p:cNvSpPr/>
          <p:nvPr/>
        </p:nvSpPr>
        <p:spPr>
          <a:xfrm>
            <a:off x="6945064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0"/>
          <p:cNvSpPr/>
          <p:nvPr/>
        </p:nvSpPr>
        <p:spPr>
          <a:xfrm>
            <a:off x="7559129" y="2963912"/>
            <a:ext cx="2462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</a:t>
            </a:r>
            <a:endParaRPr lang="en-US" sz="1900" dirty="0"/>
          </a:p>
        </p:txBody>
      </p:sp>
      <p:sp>
        <p:nvSpPr>
          <p:cNvPr id="43" name="Text 31"/>
          <p:cNvSpPr/>
          <p:nvPr/>
        </p:nvSpPr>
        <p:spPr>
          <a:xfrm>
            <a:off x="8528893" y="2878187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4" name="Image 10" descr="/var/folders/6c/210dcgxn4gz5sm71vld2cy1h0000gn/T/tmp.owmCEDjpXl/img/shuzhu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09608" y="2963912"/>
            <a:ext cx="507950" cy="507950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9022259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endParaRPr lang="en-US" sz="1900" dirty="0"/>
          </a:p>
        </p:txBody>
      </p:sp>
      <p:sp>
        <p:nvSpPr>
          <p:cNvPr id="46" name="Text 33"/>
          <p:cNvSpPr/>
          <p:nvPr/>
        </p:nvSpPr>
        <p:spPr>
          <a:xfrm>
            <a:off x="10112722" y="2878187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7" name="Image 11" descr="/var/folders/6c/210dcgxn4gz5sm71vld2cy1h0000gn/T/tmp.owmCEDjpXl/img/yigui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93586" y="2963912"/>
            <a:ext cx="507950" cy="507950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10606236" y="352261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衣柜</a:t>
            </a:r>
            <a:endParaRPr lang="en-US" sz="1900" dirty="0"/>
          </a:p>
        </p:txBody>
      </p:sp>
      <p:sp>
        <p:nvSpPr>
          <p:cNvPr id="49" name="Text 35"/>
          <p:cNvSpPr/>
          <p:nvPr/>
        </p:nvSpPr>
        <p:spPr>
          <a:xfrm>
            <a:off x="609600" y="4065538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0" name="Image 12" descr="/var/folders/6c/210dcgxn4gz5sm71vld2cy1h0000gn/T/tmp.owmCEDjpXl/img/shuj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315" y="4151263"/>
            <a:ext cx="507950" cy="507950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1102965" y="4709964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书架</a:t>
            </a:r>
            <a:endParaRPr lang="en-US" sz="1900" dirty="0"/>
          </a:p>
        </p:txBody>
      </p:sp>
      <p:sp>
        <p:nvSpPr>
          <p:cNvPr id="52" name="Text 37"/>
          <p:cNvSpPr/>
          <p:nvPr/>
        </p:nvSpPr>
        <p:spPr>
          <a:xfrm>
            <a:off x="609600" y="526553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第十四课的全部生词。这一页今天和下一节课都留在屏幕上。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27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把你的房间写完整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先照着课文里 B 那句长回答，写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你自己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房间的——一句话列完，量词要对。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再写两句，用「在」说其中两样东西在哪儿。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然后加第二小段说家里别的地方，让总览页上的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十五个词全部出现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你们家没有的，用「没有」写进去，不要跳过。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我的房间里有一张床、一张书桌、一把椅子、一个衣柜和一个书架。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12063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写成回答一个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没有人问过你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的问题：有人问你愿不愿意跟弟弟／妹妹换房间。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十五个词全部用上，比较两个房间，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用「可是」和「因为……所以……」连起来，最后要有一个决定。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不看总览页。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我的房间不大，可是我有自己的书架……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1341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听力 · 6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4590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课本 P.141 第 16 题 · 听两遍，选 A 或 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45928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4175" y="206975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90476" y="2069753"/>
            <a:ext cx="23317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他有没有自己的房间？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90476" y="2450753"/>
            <a:ext cx="233172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有　　b 没有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600" y="2925068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4175" y="304889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190476" y="3048893"/>
            <a:ext cx="20985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他跟谁住一个房间？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90476" y="3429893"/>
            <a:ext cx="2098548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哥哥　　b 弟弟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9600" y="3904208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4175" y="402803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190476" y="4028033"/>
            <a:ext cx="23317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他们的床是什么样的？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90476" y="4409033"/>
            <a:ext cx="233172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上下床　　b 两张床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84850" y="1945928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59426" y="206975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765727" y="2069753"/>
            <a:ext cx="12139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谁睡上床？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765727" y="2450753"/>
            <a:ext cx="121398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他　　b 弟弟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184850" y="2925068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359426" y="304889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765727" y="3048893"/>
            <a:ext cx="20985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房间里有几把椅子？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765727" y="3429893"/>
            <a:ext cx="2098548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一把　　b 两把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84850" y="3904208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59426" y="402803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765727" y="4028033"/>
            <a:ext cx="18653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弟弟有没有电脑？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765727" y="4409033"/>
            <a:ext cx="1865376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有　　b 没有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9600" y="490879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放之前先在黑板上写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上下床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（bunk bed）——只要听得懂，不用会写。对完答案再放一遍，把听到的每一个「V 不 V」问句写下来。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1234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12368"/>
            <a:ext cx="10972800" cy="2058591"/>
          </a:xfrm>
          <a:prstGeom prst="roundRect">
            <a:avLst>
              <a:gd name="adj" fmla="val 555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76001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把这段对话改成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弟弟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说的——同一个房间，同样的家具，换一个人说。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10544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哥哥问过的每一个问题，都要用「V 不 V」再问一次，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45087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而且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要换一个动词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，不能重复原来那个。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92325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你喜不喜欢睡下床？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21957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采访 · You Do · 6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097" y="176213"/>
            <a:ext cx="4854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7073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课本 P.139 第 14 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70757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88178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881783"/>
            <a:ext cx="427482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分钟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自己写五个问句，五个动词各一个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216944"/>
            <a:ext cx="42748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有没有 · 要不要 · 是不是 · 想不想 · 喜不喜欢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670870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78189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781895"/>
            <a:ext cx="273445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五个问题都要问房子或者家具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3117056"/>
            <a:ext cx="27344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你有没有自己的书架？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570982"/>
            <a:ext cx="10972800" cy="511522"/>
          </a:xfrm>
          <a:prstGeom prst="roundRect">
            <a:avLst>
              <a:gd name="adj" fmla="val 12414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68200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682008"/>
            <a:ext cx="461956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分钟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离开座位，采访三个同学，简单记下答案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9600" y="4158704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96826" y="4269730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203127" y="4269730"/>
            <a:ext cx="427482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回座位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请两个同学用「他」报告一件事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03127" y="4604891"/>
            <a:ext cx="42748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他有自己的房间，可是他不喜欢，因为房间不大。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09600" y="508411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写完就出发，不要等全班都写完。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4582" y="176213"/>
            <a:ext cx="5094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48513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5157"/>
            <a:ext cx="10972800" cy="1713161"/>
          </a:xfrm>
          <a:prstGeom prst="roundRect">
            <a:avLst>
              <a:gd name="adj" fmla="val 667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五个问题全部问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同一个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同学，而且要一个接一个——第四个问题得看第三个的答案才想得出来。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报告的时候不是说一件事，是说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一段话，四句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，不看笔记。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75061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他有自己的房间，房间不算大，里面有一个书架，可是书架上没有很多书……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4365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写汉字 · 练习册 p.161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5741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笔顺 · 每个字写三遍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57438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7725" y="2481263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柜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736675" y="2705100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01826" y="2705100"/>
            <a:ext cx="33661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左边木，右边「巨」——第一节课写过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66424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55325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44225" y="26384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3408313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725" y="3532138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架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736675" y="3755975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01826" y="3755975"/>
            <a:ext cx="2178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上面「加」，下面「木」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66424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55325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44225" y="3689300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449728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「衣柜」的「衣」和「书架」的「书」都学过了——今天每个词只有一个新字。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6501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找一个人 · 4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838" y="176213"/>
            <a:ext cx="5102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6440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FIND SOMEONE WHO · 十个格子，全部是「V 不 V」问句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64431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275457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275457"/>
            <a:ext cx="326182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有没有自己的房间　·　有没有书架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1610618"/>
            <a:ext cx="32618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答「有」才能签名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064544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175570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175570"/>
            <a:ext cx="410328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喜不喜欢自己的房间　·　房间里有没有电脑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510730"/>
            <a:ext cx="4103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一个人只能签一次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964656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075682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075682"/>
            <a:ext cx="347222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家里有没有烤箱　·　想不想买新书桌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410843"/>
            <a:ext cx="34722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签满十格的先举手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864769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97579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3975795"/>
            <a:ext cx="347222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家里有没有空调　·　有没有两个浴室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310955"/>
            <a:ext cx="34722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家里有没有车库　·　房间大不大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764881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875907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1203127" y="4875907"/>
            <a:ext cx="546921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加难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：签名还要说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理由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，问的人要把理由用中文写进格子里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03127" y="5211068"/>
            <a:ext cx="546921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五格带理由，胜过十格没理由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569029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格子纸每人一张，提前印好。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9839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4285" y="176213"/>
            <a:ext cx="5097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回看目标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全班齐读三条。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举大拇指。第二条要特别看——如果还不稳，下节课开头先练两分钟改句子。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一问一答，写在同一张纸条上。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这一课最后一节：去买家具，问衣柜在几楼，然后把一整个房子说给全班听。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出门条：写一个关于卧室的「V 不 V」问句，再用一整句话回答它。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2026-09-15T04:32:32Z</dcterms:created>
  <dcterms:modified xsi:type="dcterms:W3CDTF">2026-09-15T04:32:32Z</dcterms:modified>
</cp:coreProperties>
</file>