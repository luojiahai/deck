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P.138 · P.139 · P.141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你有没有自己的房间？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Storage, and Questions Without 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第四节课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 · 屏幕看三十秒，然后关掉，自己说出来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925836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7512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有一张床、一张书桌和一把椅子。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5766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你的房间里有电脑吗？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2401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4020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402038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有，在我的书桌上。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两个角色都要说一遍。请两组上来演。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的第一句今天会变一个样子——先记住它现在长什么样。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小白板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四题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92418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chair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9241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一把椅子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10049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desks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10049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两张书桌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29114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computer is on the desk.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2911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电脑在书桌上。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32229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chair is in front of the desk.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32229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椅子在书桌前面。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那个房间还少两样东西——今天补上。课文第一句里还藏着一个问句，上节课跳过去了，今天也补上。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questions using the verb-not-verb form, and finish describing a bedroom.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394327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 wardrobe and a bookshelf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3943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能说出衣柜和书架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53968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turn a 吗 question into a verb-not-verb question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539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能把「你有弟弟吗？」说成「你有没有弟弟？」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57139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interview a classmate with three V-not-V questions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57139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能用三个「V不V」问句采访同学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814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yig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90552" y="3936653"/>
            <a:ext cx="5574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yīguì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衣柜（衣櫃）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833836" y="5000923"/>
            <a:ext cx="877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wardrobe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emPkXuZ1Lq/img/shuj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6879" y="3936653"/>
            <a:ext cx="6551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shūjià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8039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书架（書架）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481417" y="5000923"/>
            <a:ext cx="9109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bookshelf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wardrobe in my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上有很多书。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lots of books on the bookshelf.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wardrobe is to the left of the bookshelf.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问：你的房间里有没有书架？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我的房间里有一个 ________ 和一个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说说里面装了什么、满不满，两个小句连起来：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我的衣柜里面有很多衣服，可是书架上没有很多书，因为我的书都在书桌上。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十五个词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656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1392585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1732211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1392585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1732211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8485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84470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6358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7995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883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1505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393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50301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6918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9600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8485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844701" y="4224189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63585" y="4563814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079950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98836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15051" y="4224189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433935" y="4563814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550301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669186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09600" y="558924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第十四课的生词到这儿就齐了——十五个。一起读一遍。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不用「吗」的问句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465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P.139 的 NOTE · 左边右边意思完全一样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16410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1592610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你有自己的房间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34534" y="1587847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96918" y="1497360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81018" y="1592610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有没有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自己的房间？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9600" y="2163961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4650" y="2240161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你喜欢你的房间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34534" y="2235398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96918" y="2144911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1018" y="2240161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喜不喜欢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你的房间？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09600" y="2811512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4650" y="2887712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你想买一个书架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34534" y="2882950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96918" y="2792462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81018" y="2887712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想不想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买一个书架？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3459063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4650" y="3535263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这是你的衣柜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034534" y="3530501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96918" y="3440013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81018" y="3535263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是不是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你的衣柜？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09600" y="4106614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4650" y="4182814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你要买椅子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034534" y="4178052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96918" y="4087564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81018" y="4182814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要不要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买椅子？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09600" y="4754166"/>
            <a:ext cx="5247233" cy="495300"/>
          </a:xfrm>
          <a:prstGeom prst="roundRect">
            <a:avLst>
              <a:gd name="adj" fmla="val 12821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74650" y="4830366"/>
            <a:ext cx="501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你买书架</a:t>
            </a:r>
            <a:r>
              <a:rPr lang="en-US" sz="1900" b="1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4B54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034534" y="4825603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296918" y="4735116"/>
            <a:ext cx="5285482" cy="533400"/>
          </a:xfrm>
          <a:prstGeom prst="roundRect">
            <a:avLst>
              <a:gd name="adj" fmla="val 11905"/>
            </a:avLst>
          </a:prstGeom>
          <a:solidFill>
            <a:srgbClr val="3D5A73">
              <a:alpha val="12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81018" y="4830366"/>
            <a:ext cx="5015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买不买</a:t>
            </a:r>
            <a:r>
              <a:rPr lang="en-US" sz="19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书架？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09600" y="54081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左边没有错。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两种都是对的中文，说哪个都行——今天练的是右边这一种。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545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动词说一遍，加「不」，再说一遍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54609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641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动词 + 不 + 动词　（「有」用「没」：有没有）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129284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29120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291209"/>
            <a:ext cx="42531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有没有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自己的房间？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29359"/>
            <a:ext cx="42531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is the exception — it takes 没, never 不.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2809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900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490020"/>
            <a:ext cx="41718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喜不喜欢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28170"/>
            <a:ext cx="41718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Two-syllable verbs split: 喜欢 → 喜不喜欢.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2690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68883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688830"/>
            <a:ext cx="50104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有没有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书架？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26980"/>
            <a:ext cx="501046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 word sits where 吗 would have been.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002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要小心的就一条：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「有」配「没」，别的动词配「不」。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「你有不有书架？」是最常见的错。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两个问句连着问，还要说理由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你有没有自己的房间？你喜不喜欢？为什么？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have your own room? Do you like it? Why?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第二个问句把宾语省掉了，因为上一句刚说过——这是真的会话里的说法。回答不能只说「有」，要说一整句。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9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CD 69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课本 P.138 · 完整版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你有没有</a:t>
            </a: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自己的房间？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49230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2214982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你的房间里有什么？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615294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有一张床、一张书桌、一把椅子、一个</a:t>
            </a: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和一个</a:t>
            </a: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246120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你的房间里有电脑</a:t>
            </a: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2214982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有，在我的书桌上。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第一句用「有没有」，第三句用「吗」——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两个都对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，同一个人在同一段对话里换着用，很正常。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35718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改成 V 不 V：　你有空调吗？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3571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全班一起说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7690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不用「吗」，问：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 you like your room?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769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　你有不有书架？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错在哪儿？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31089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你的房间里有没有衣柜？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点名——要一整句，不能只说「有」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931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15" y="1776561"/>
            <a:ext cx="507950" cy="507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2965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193429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emPkXuZ1Lq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44" y="1776561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86794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777258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emPkXuZ1Lq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73" y="1776561"/>
            <a:ext cx="507950" cy="507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0072" y="2335262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361087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975152" y="1776561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945064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emPkXuZ1Lq/img/kong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779" y="1776561"/>
            <a:ext cx="507950" cy="5079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8430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528893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emPkXuZ1Lq/img/xiyij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608" y="1776561"/>
            <a:ext cx="507950" cy="5079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01708" y="2335262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10112722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var/folders/6c/210dcgxn4gz5sm71vld2cy1h0000gn/T/tmp.emPkXuZ1Lq/img/li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586" y="1776561"/>
            <a:ext cx="507950" cy="5079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06236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609600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6" descr="/var/folders/6c/210dcgxn4gz5sm71vld2cy1h0000gn/T/tmp.emPkXuZ1Lq/img/bingxia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315" y="2963912"/>
            <a:ext cx="507950" cy="5079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02965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2193429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/var/folders/6c/210dcgxn4gz5sm71vld2cy1h0000gn/T/tmp.emPkXuZ1Lq/img/kaoxia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144" y="2963912"/>
            <a:ext cx="507950" cy="5079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686794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1900" dirty="0"/>
          </a:p>
        </p:txBody>
      </p:sp>
      <p:sp>
        <p:nvSpPr>
          <p:cNvPr id="35" name="Text 25"/>
          <p:cNvSpPr/>
          <p:nvPr/>
        </p:nvSpPr>
        <p:spPr>
          <a:xfrm>
            <a:off x="3777258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8" descr="/var/folders/6c/210dcgxn4gz5sm71vld2cy1h0000gn/T/tmp.emPkXuZ1Lq/img/dianlu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7973" y="2963912"/>
            <a:ext cx="507950" cy="5079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270623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1900" dirty="0"/>
          </a:p>
        </p:txBody>
      </p:sp>
      <p:sp>
        <p:nvSpPr>
          <p:cNvPr id="38" name="Text 27"/>
          <p:cNvSpPr/>
          <p:nvPr/>
        </p:nvSpPr>
        <p:spPr>
          <a:xfrm>
            <a:off x="5361087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9" descr="/var/folders/6c/210dcgxn4gz5sm71vld2cy1h0000gn/T/tmp.emPkXuZ1Lq/img/yiz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1950" y="2963912"/>
            <a:ext cx="507950" cy="5079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854601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900" dirty="0"/>
          </a:p>
        </p:txBody>
      </p:sp>
      <p:sp>
        <p:nvSpPr>
          <p:cNvPr id="41" name="Text 29"/>
          <p:cNvSpPr/>
          <p:nvPr/>
        </p:nvSpPr>
        <p:spPr>
          <a:xfrm>
            <a:off x="6945064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0"/>
          <p:cNvSpPr/>
          <p:nvPr/>
        </p:nvSpPr>
        <p:spPr>
          <a:xfrm>
            <a:off x="7559129" y="2963912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1900" dirty="0"/>
          </a:p>
        </p:txBody>
      </p:sp>
      <p:sp>
        <p:nvSpPr>
          <p:cNvPr id="43" name="Text 31"/>
          <p:cNvSpPr/>
          <p:nvPr/>
        </p:nvSpPr>
        <p:spPr>
          <a:xfrm>
            <a:off x="8528893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/var/folders/6c/210dcgxn4gz5sm71vld2cy1h0000gn/T/tmp.emPkXuZ1Lq/img/shuzhu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9608" y="2963912"/>
            <a:ext cx="507950" cy="50795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022259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1900" dirty="0"/>
          </a:p>
        </p:txBody>
      </p:sp>
      <p:sp>
        <p:nvSpPr>
          <p:cNvPr id="46" name="Text 33"/>
          <p:cNvSpPr/>
          <p:nvPr/>
        </p:nvSpPr>
        <p:spPr>
          <a:xfrm>
            <a:off x="10112722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11" descr="/var/folders/6c/210dcgxn4gz5sm71vld2cy1h0000gn/T/tmp.emPkXuZ1Lq/img/yigu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3586" y="2963912"/>
            <a:ext cx="507950" cy="50795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606236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endParaRPr lang="en-US" sz="1900" dirty="0"/>
          </a:p>
        </p:txBody>
      </p:sp>
      <p:sp>
        <p:nvSpPr>
          <p:cNvPr id="49" name="Text 35"/>
          <p:cNvSpPr/>
          <p:nvPr/>
        </p:nvSpPr>
        <p:spPr>
          <a:xfrm>
            <a:off x="609600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12" descr="/var/folders/6c/210dcgxn4gz5sm71vld2cy1h0000gn/T/tmp.emPkXuZ1Lq/img/shuji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315" y="4151263"/>
            <a:ext cx="507950" cy="50795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102965" y="4709964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endParaRPr lang="en-US" sz="1900" dirty="0"/>
          </a:p>
        </p:txBody>
      </p:sp>
      <p:sp>
        <p:nvSpPr>
          <p:cNvPr id="52" name="Text 37"/>
          <p:cNvSpPr/>
          <p:nvPr/>
        </p:nvSpPr>
        <p:spPr>
          <a:xfrm>
            <a:off x="609600" y="526553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第十四课的全部生词。这一页今天和下一节课都留在屏幕上。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把你的房间写完整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先照着课文里 B 那句长回答，写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你自己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房间的——一句话列完，量词要对。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再写两句，用「在」说其中两样东西在哪儿。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然后加第二小段说家里别的地方，让总览页上的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十五个词全部出现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你们家没有的，用「没有」写进去，不要跳过。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我的房间里有一张床、一张书桌、一把椅子、一个衣柜和一个书架。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写成回答一个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没有人问过你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的问题：有人问你愿不愿意跟弟弟／妹妹换房间。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十五个词全部用上，比较两个房间，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用「可是」和「因为……所以……」连起来，最后要有一个决定。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不看总览页。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我的房间不大，可是我有自己的书架……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听力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4590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P.141 第 16 题 · 听两遍，选 A 或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592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2069753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他有没有自己的房间？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450753"/>
            <a:ext cx="233172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有　　b 没有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3048893"/>
            <a:ext cx="20985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他跟谁住一个房间？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429893"/>
            <a:ext cx="20985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哥哥　　b 弟弟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90420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175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90476" y="4028033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他们的床是什么样的？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0476" y="4409033"/>
            <a:ext cx="233172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上下床　　b 两张床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4850" y="194592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9426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5727" y="2069753"/>
            <a:ext cx="1266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谁睡上床？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5727" y="2450753"/>
            <a:ext cx="126605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他　　b 弟弟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485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9426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5727" y="3048893"/>
            <a:ext cx="20985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房间里有几把椅子？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5727" y="3429893"/>
            <a:ext cx="20985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一把　　b 两把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4850" y="390420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426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5727" y="4028033"/>
            <a:ext cx="18653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弟弟有没有电脑？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5727" y="4409033"/>
            <a:ext cx="186537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有　　b 没有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600" y="490879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放之前先在黑板上写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上下床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（bunk bed）——只要听得懂，不用会写。对完答案再放一遍，把听到的每一个「V 不 V」问句写下来。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把这段对话改成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弟弟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说的——同一个房间，同样的家具，换一个人说。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哥哥问过的每一个问题，都要用「V 不 V」再问一次，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而且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要换一个动词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，不能重复原来那个。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你喜不喜欢睡下床？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1957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采访 · You Do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707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P.139 第 14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70757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88178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881783"/>
            <a:ext cx="42748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自己写五个问句，五个动词各一个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216944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有没有 · 要不要 · 是不是 · 想不想 · 喜不喜欢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67087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7818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781895"/>
            <a:ext cx="2734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五个问题都要问房子或者家具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3117056"/>
            <a:ext cx="2734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你有没有自己的书架？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570982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68200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682008"/>
            <a:ext cx="461956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离开座位，采访三个同学，简单记下答案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15870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26" y="426973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203127" y="4269730"/>
            <a:ext cx="42748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回座位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请两个同学用「他」报告一件事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3127" y="4604891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他有自己的房间，可是他不喜欢，因为房间不大。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508411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写完就出发，不要等全班都写完。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五个问题全部问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同学，而且要一个接一个——第四个问题得看第三个的答案才想得出来。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报告的时候不是说一件事，是说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一段话，四句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，不看笔记。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他有自己的房间，房间不算大，里面有一个书架，可是书架上没有很多书……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36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p.161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74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743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48126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柜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2705100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2705100"/>
            <a:ext cx="3366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左边木，右边「巨」——第一节课写过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408313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3532138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架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375597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3755975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上面「加」，下面「木」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44972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「衣柜」的「衣」和「书架」的「书」都学过了——今天每个词只有一个新字。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01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找一个人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44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FIND SOMEONE WHO · 十个格子，全部是「V 不 V」问句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443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545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275457"/>
            <a:ext cx="326182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有没有自己的房间　·　有没有书架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1610618"/>
            <a:ext cx="3261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答「有」才能签名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75570"/>
            <a:ext cx="410328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喜不喜欢自己的房间　·　房间里有没有电脑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510730"/>
            <a:ext cx="4103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一个人只能签一次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75682"/>
            <a:ext cx="34722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家里有没有烤箱　·　想不想买新书桌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410843"/>
            <a:ext cx="34722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签满十格的先举手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75795"/>
            <a:ext cx="34722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家里有没有空调　·　有没有两个浴室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310955"/>
            <a:ext cx="34722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家里有没有车库　·　房间大不大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76488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8759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875907"/>
            <a:ext cx="546921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：签名还要说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理由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，问的人要把理由用中文写进格子里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3127" y="5211068"/>
            <a:ext cx="5469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五格带理由，胜过十格没理由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69029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格子纸每人一张，提前印好。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全班齐读三条。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举大拇指。第二条要特别看——如果还不稳，下节课开头先练两分钟改句子。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一问一答，写在同一张纸条上。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这一课最后一节：去买家具，问衣柜在几楼，然后把一整个房子说给全班听。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出门条：写一个关于卧室的「V 不 V」问句，再用一整句话回答它。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2026-09-15T04:13:13Z</dcterms:created>
  <dcterms:modified xsi:type="dcterms:W3CDTF">2026-09-15T04:13:13Z</dcterms:modified>
</cp:coreProperties>
</file>