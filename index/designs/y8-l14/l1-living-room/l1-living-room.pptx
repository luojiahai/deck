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1792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949500" y="166688"/>
            <a:ext cx="10463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第十四课 · 家具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1888" y="176213"/>
            <a:ext cx="40000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7320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2 · P.132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00176"/>
            <a:ext cx="11192256" cy="905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28"/>
              </a:lnSpc>
              <a:spcBef>
                <a:spcPts val="1000"/>
              </a:spcBef>
              <a:buNone/>
            </a:pPr>
            <a:r>
              <a:rPr lang="en-US" sz="6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客厅里有什么？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09600" y="3581549"/>
            <a:ext cx="11192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Bef>
                <a:spcPts val="600"/>
              </a:spcBef>
              <a:buNone/>
            </a:pPr>
            <a:r>
              <a:rPr lang="en-US" sz="30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The Living Room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4267349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8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Year 8 · Book 2 · Unit 5 · Lesson 14 · 50 minutes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80975"/>
            <a:ext cx="132510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092523" y="166688"/>
            <a:ext cx="9674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第十三课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322397" y="180975"/>
            <a:ext cx="3688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4059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小白板 · 五题 · 写完举起来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140619"/>
            <a:ext cx="10972800" cy="833438"/>
          </a:xfrm>
          <a:prstGeom prst="roundRect">
            <a:avLst>
              <a:gd name="adj" fmla="val 761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251645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03127" y="1251645"/>
            <a:ext cx="1406015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翻译：</a:t>
            </a: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upstairs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03127" y="1586805"/>
            <a:ext cx="140601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楼上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050256"/>
            <a:ext cx="10972800" cy="833438"/>
          </a:xfrm>
          <a:prstGeom prst="roundRect">
            <a:avLst>
              <a:gd name="adj" fmla="val 761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2161282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03127" y="2161282"/>
            <a:ext cx="130764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翻译：</a:t>
            </a: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garage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03127" y="2496443"/>
            <a:ext cx="130764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车库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2959894"/>
            <a:ext cx="10972800" cy="833438"/>
          </a:xfrm>
          <a:prstGeom prst="roundRect">
            <a:avLst>
              <a:gd name="adj" fmla="val 761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3070920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203127" y="3070920"/>
            <a:ext cx="2190845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翻译：</a:t>
            </a: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three bedrooms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03127" y="3406080"/>
            <a:ext cx="219084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量词是「间」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3869531"/>
            <a:ext cx="10972800" cy="833438"/>
          </a:xfrm>
          <a:prstGeom prst="roundRect">
            <a:avLst>
              <a:gd name="adj" fmla="val 761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3980557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203127" y="3980557"/>
            <a:ext cx="143941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翻译：</a:t>
            </a: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two cars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03127" y="4315718"/>
            <a:ext cx="1439412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量词是「辆」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4779169"/>
            <a:ext cx="10972800" cy="833438"/>
          </a:xfrm>
          <a:prstGeom prst="roundRect">
            <a:avLst>
              <a:gd name="adj" fmla="val 7619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96826" y="4890195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1203127" y="4890195"/>
            <a:ext cx="2472595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翻译：</a:t>
            </a:r>
            <a:r>
              <a:rPr lang="en-US" sz="1600" i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two-storey house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03127" y="5225355"/>
            <a:ext cx="247259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量词是「层」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09600" y="571410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上一课你把房子盖起来了——房间、层、车库。今天开始往里面放东西。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4684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 · REVIEW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233017" y="166688"/>
            <a:ext cx="11468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有 还是 在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7182" y="176213"/>
            <a:ext cx="42520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24016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改一改 · 哪里错了？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567136"/>
            <a:ext cx="2844701" cy="657225"/>
          </a:xfrm>
          <a:prstGeom prst="roundRect">
            <a:avLst>
              <a:gd name="adj" fmla="val 9662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2750" y="2681436"/>
            <a:ext cx="248716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我的房间有楼上。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949452" y="2567136"/>
            <a:ext cx="2844701" cy="657225"/>
          </a:xfrm>
          <a:prstGeom prst="roundRect">
            <a:avLst>
              <a:gd name="adj" fmla="val 9662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152602" y="2681436"/>
            <a:ext cx="248716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我的房间在楼上。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073503" y="2781449"/>
            <a:ext cx="24850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房间是已知的，问的是在哪儿 → 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3503563"/>
            <a:ext cx="2844701" cy="657225"/>
          </a:xfrm>
          <a:prstGeom prst="roundRect">
            <a:avLst>
              <a:gd name="adj" fmla="val 9662"/>
            </a:avLst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12750" y="3617863"/>
            <a:ext cx="248716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3C2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楼上在三间卧室。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949452" y="3503563"/>
            <a:ext cx="2844701" cy="657225"/>
          </a:xfrm>
          <a:prstGeom prst="roundRect">
            <a:avLst>
              <a:gd name="adj" fmla="val 9662"/>
            </a:avLst>
          </a:prstGeom>
          <a:solidFill>
            <a:srgbClr val="46684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152602" y="3617863"/>
            <a:ext cx="248716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6684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楼上有三间卧室。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073503" y="3717875"/>
            <a:ext cx="23265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楼上是已知的，卧室是新的 → 有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9600" y="441468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规律：</a:t>
            </a:r>
            <a:r>
              <a:rPr lang="en-US" sz="1200" b="1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新的东西进已知的地方，用「有」；已知的东西找地方，用「在」。</a:t>
            </a: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这两个字今天还会回来。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741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8–10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520577" y="166688"/>
            <a:ext cx="20294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学习目标 · Learning Intention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438" y="176213"/>
            <a:ext cx="4259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8169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LEARNING INTENTION · 学习目标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381720"/>
            <a:ext cx="10972800" cy="784175"/>
          </a:xfrm>
          <a:prstGeom prst="roundRect">
            <a:avLst>
              <a:gd name="adj" fmla="val 14576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1591270"/>
            <a:ext cx="10531602" cy="365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buNone/>
            </a:pPr>
            <a:r>
              <a:rPr lang="en-US" sz="2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We are learning to say what furniture is in a living room, with the right measure word.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09600" y="231829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SUCCESS CRITERIA · 我能……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600" y="2619821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275" y="278174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279327" y="2781746"/>
            <a:ext cx="4804315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name three pieces of living-room furniture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79327" y="3116907"/>
            <a:ext cx="480431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能说出三件客厅里的家具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9600" y="3697932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385985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1279327" y="3859857"/>
            <a:ext cx="414442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use 张 for a sofa and 个 for the rest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79327" y="4195018"/>
            <a:ext cx="41444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会说「一张沙发」「一个茶几」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09600" y="4776043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2275" y="493796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1279327" y="4937968"/>
            <a:ext cx="462306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say what is in a room using 客厅里有……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79327" y="5273129"/>
            <a:ext cx="46230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能用「客厅里有……」说房间里有什么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087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1 · Cycle 1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736" y="176213"/>
            <a:ext cx="4256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555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457027"/>
            <a:ext cx="5308550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owmCEDjpXl/img/shaf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847552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970163" y="3866852"/>
            <a:ext cx="59902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shāfā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816150" y="4285952"/>
            <a:ext cx="2953208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沙发（沙發）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3063627" y="4931122"/>
            <a:ext cx="40850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sofa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457027"/>
            <a:ext cx="5308699" cy="4270921"/>
          </a:xfrm>
          <a:prstGeom prst="roundRect">
            <a:avLst>
              <a:gd name="adj" fmla="val 2676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var/folders/6c/210dcgxn4gz5sm71vld2cy1h0000gn/T/tmp.owmCEDjpXl/img/chaj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847552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56141" y="3866852"/>
            <a:ext cx="55469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chájī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8318450" y="4285952"/>
            <a:ext cx="1243584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</a:t>
            </a:r>
            <a:endParaRPr lang="en-US" sz="4800" dirty="0"/>
          </a:p>
        </p:txBody>
      </p:sp>
      <p:sp>
        <p:nvSpPr>
          <p:cNvPr id="18" name="Text 14"/>
          <p:cNvSpPr/>
          <p:nvPr/>
        </p:nvSpPr>
        <p:spPr>
          <a:xfrm>
            <a:off x="8521601" y="5070723"/>
            <a:ext cx="8290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tea table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209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1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991" y="176213"/>
            <a:ext cx="4264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客厅里有一个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There's a sofa in the living room.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上有一个电话。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There's a phone on the tea table.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前面有一个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 front of the sofa is a tea table.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问：你家的客厅里有沙发吗？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7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1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72391" y="176213"/>
            <a:ext cx="4198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1990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1993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64378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我家的客厅里有 ________ 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812084"/>
            <a:ext cx="10972800" cy="951458"/>
          </a:xfrm>
          <a:prstGeom prst="roundRect">
            <a:avLst>
              <a:gd name="adj" fmla="val 6674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4008834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272260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两件家具，再说一件在另一件哪边：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我家的客厅里有一个沙发和一个茶几，茶几在沙发前面。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633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2 · Cycle 2 of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6438" y="176213"/>
            <a:ext cx="4259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2253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526828"/>
            <a:ext cx="5308550" cy="4131320"/>
          </a:xfrm>
          <a:prstGeom prst="roundRect">
            <a:avLst>
              <a:gd name="adj" fmla="val 276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owmCEDjpXl/img/dianshigu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917353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711648" y="3936653"/>
            <a:ext cx="112639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diànshìguì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333649" y="4355753"/>
            <a:ext cx="3937510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电视柜（電視櫃）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2675037" y="5000923"/>
            <a:ext cx="12010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TV cupboard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526828"/>
            <a:ext cx="5308699" cy="4131320"/>
          </a:xfrm>
          <a:prstGeom prst="roundRect">
            <a:avLst>
              <a:gd name="adj" fmla="val 276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var/folders/6c/210dcgxn4gz5sm71vld2cy1h0000gn/T/tmp.owmCEDjpXl/img/zh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917353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08814" y="3936653"/>
            <a:ext cx="65109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D5A7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zhāng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7962900" y="4355753"/>
            <a:ext cx="1968755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张（張）</a:t>
            </a:r>
            <a:endParaRPr lang="en-US" sz="3800" dirty="0"/>
          </a:p>
        </p:txBody>
      </p:sp>
      <p:sp>
        <p:nvSpPr>
          <p:cNvPr id="18" name="Text 14"/>
          <p:cNvSpPr/>
          <p:nvPr/>
        </p:nvSpPr>
        <p:spPr>
          <a:xfrm>
            <a:off x="7696349" y="5000923"/>
            <a:ext cx="25126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measure word · flat things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48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2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65843" y="176213"/>
            <a:ext cx="4265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9526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1489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71489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23889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客厅里有一个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33030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There's a TV cupboard in the living room.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75955"/>
            <a:ext cx="10972800" cy="1052066"/>
          </a:xfrm>
          <a:prstGeom prst="rect">
            <a:avLst/>
          </a:prstGeom>
          <a:solidFill>
            <a:srgbClr val="E6EA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75955"/>
            <a:ext cx="0" cy="1052066"/>
          </a:xfrm>
          <a:prstGeom prst="line">
            <a:avLst/>
          </a:prstGeom>
          <a:noFill/>
          <a:ln w="47625">
            <a:solidFill>
              <a:srgbClr val="3D5A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28355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我家有一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大沙发。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37496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We have one big sofa.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80421"/>
            <a:ext cx="10972800" cy="1052066"/>
          </a:xfrm>
          <a:prstGeom prst="rect">
            <a:avLst/>
          </a:prstGeom>
          <a:solidFill>
            <a:srgbClr val="B05B3B">
              <a:alpha val="13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80421"/>
            <a:ext cx="0" cy="1052066"/>
          </a:xfrm>
          <a:prstGeom prst="line">
            <a:avLst/>
          </a:prstGeom>
          <a:noFill/>
          <a:ln w="47625">
            <a:solidFill>
              <a:srgbClr val="B05B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328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我们家的客厅里有一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沙发和一个</a:t>
            </a:r>
            <a:r>
              <a:rPr lang="en-US" sz="26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</a:t>
            </a:r>
            <a:r>
              <a:rPr lang="en-US" sz="26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41962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Our living room has a sofa and a TV cupboard.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59437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问：电视在哪儿？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8131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2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9734" y="176213"/>
            <a:ext cx="48380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1990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ONE SENTENCE · 60–90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19933"/>
            <a:ext cx="10972800" cy="1314450"/>
          </a:xfrm>
          <a:prstGeom prst="roundRect">
            <a:avLst>
              <a:gd name="adj" fmla="val 8696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643783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我家的客厅里有一 ________ 沙发。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3812084"/>
            <a:ext cx="10972800" cy="951458"/>
          </a:xfrm>
          <a:prstGeom prst="roundRect">
            <a:avLst>
              <a:gd name="adj" fmla="val 6674"/>
            </a:avLst>
          </a:prstGeom>
          <a:solidFill>
            <a:srgbClr val="46684C">
              <a:alpha val="11000"/>
            </a:srgbClr>
          </a:solidFill>
          <a:ln w="19050">
            <a:solidFill>
              <a:srgbClr val="4668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4008834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7250" y="4272260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把课文那一句默写出来，再加一句说电视在哪儿：</a:t>
            </a:r>
            <a:r>
              <a:rPr lang="en-US" sz="1600" b="1" dirty="0">
                <a:solidFill>
                  <a:srgbClr val="46684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电视在电视柜上面。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3797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checkpoint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4142" y="176213"/>
            <a:ext cx="4589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5758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认一认 · CHARACTERS ONLY · 一起读出来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684562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2897" y="3024188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03550" y="2684562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16847" y="3024188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197501" y="2684562"/>
            <a:ext cx="2590800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0798" y="3024188"/>
            <a:ext cx="236420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991451" y="2684562"/>
            <a:ext cx="2590949" cy="1460302"/>
          </a:xfrm>
          <a:prstGeom prst="roundRect">
            <a:avLst>
              <a:gd name="adj" fmla="val 782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104747" y="3024188"/>
            <a:ext cx="2364358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09600" y="429726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读不出来就停下来重教——不要往下走。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70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Sentence pattern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990" y="176213"/>
            <a:ext cx="4845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9267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说一个房间里有什么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92696"/>
            <a:ext cx="10972800" cy="971550"/>
          </a:xfrm>
          <a:prstGeom prst="roundRect">
            <a:avLst>
              <a:gd name="adj" fmla="val 11765"/>
            </a:avLst>
          </a:prstGeom>
          <a:solidFill>
            <a:srgbClr val="D8DEE0"/>
          </a:solidFill>
          <a:ln w="19050">
            <a:solidFill>
              <a:srgbClr val="3D5A7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199" y="1302246"/>
            <a:ext cx="1053160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地方 + 里有 + 量词 + 东西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609600" y="2191196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275" y="2353121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1279327" y="2353121"/>
            <a:ext cx="31270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里有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一个沙发。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79327" y="2791271"/>
            <a:ext cx="3127025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One thing — the simplest form.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9600" y="3390007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3551932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279327" y="3551932"/>
            <a:ext cx="380847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里有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沙发和一个茶几。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79327" y="3990082"/>
            <a:ext cx="380847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Two things, joined with 和.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9600" y="4588818"/>
            <a:ext cx="10972800" cy="1046411"/>
          </a:xfrm>
          <a:prstGeom prst="roundRect">
            <a:avLst>
              <a:gd name="adj" fmla="val 606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2275" y="475074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1279327" y="4750743"/>
            <a:ext cx="73063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我们家的客厅</a:t>
            </a: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里有</a:t>
            </a: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一张三人沙发、一个茶几和一个电视柜。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79327" y="5188893"/>
            <a:ext cx="730636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300"/>
              </a:spcBef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Three things — 、between the first two, 和 before the last. This is Text 1.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9600" y="5762179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「三人沙发」= 三人 + 沙发，三个人坐的沙发。会用就用，不用也可以。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1916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最难的一句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9288" y="176213"/>
            <a:ext cx="48425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88952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从房子说到家具，一口气说完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89547"/>
            <a:ext cx="10972800" cy="1710630"/>
          </a:xfrm>
          <a:prstGeom prst="roundRect">
            <a:avLst>
              <a:gd name="adj" fmla="val 6682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413397"/>
            <a:ext cx="10479988" cy="106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我家的房子有两层，楼下有客厅，客厅里有一张三人沙发、一个茶几和一个电视柜。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09600" y="3952577"/>
            <a:ext cx="11192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200"/>
              </a:spcBef>
              <a:buNone/>
            </a:pPr>
            <a:r>
              <a:rPr lang="en-US" sz="18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house has two storeys; downstairs is the living room; in the living room there's a three-seat sofa, a tea table and a TV cupboard.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76532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上一课的「层」「楼下」，加今天的句型——旧的不会丢，是拿来接新的。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49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课文一 · CD 66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693" y="176213"/>
            <a:ext cx="4848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14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06439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课文一 · 客厅 · 课本 P.132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264420"/>
            <a:ext cx="10972800" cy="1139726"/>
          </a:xfrm>
          <a:prstGeom prst="roundRect">
            <a:avLst>
              <a:gd name="adj" fmla="val 10029"/>
            </a:avLst>
          </a:prstGeom>
          <a:solidFill>
            <a:srgbClr val="D8DEE0"/>
          </a:solidFill>
          <a:ln w="19050">
            <a:solidFill>
              <a:srgbClr val="8F6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588270"/>
            <a:ext cx="10479988" cy="49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75"/>
              </a:lnSpc>
              <a:buNone/>
            </a:pPr>
            <a:r>
              <a:rPr lang="en-US" sz="25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客厅里有一张三人沙发、一个茶几、一个电视柜和一个</a:t>
            </a:r>
            <a:r>
              <a:rPr lang="en-US" sz="25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空调</a:t>
            </a:r>
            <a:r>
              <a:rPr lang="en-US" sz="25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09600" y="3556546"/>
            <a:ext cx="10972800" cy="1262360"/>
          </a:xfrm>
          <a:prstGeom prst="roundRect">
            <a:avLst>
              <a:gd name="adj" fmla="val 9054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33450" y="3804196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用中文回答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他们家的客厅里有几个茶几？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4225826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spcBef>
                <a:spcPts val="600"/>
              </a:spcBef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最后一个词你还不会说——下节课学。今天只读前面三样。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055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CFU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990" y="176213"/>
            <a:ext cx="4845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85263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检查理解 · CHECK FOR UNDERSTANDING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052661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21458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214586"/>
            <a:ext cx="299237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「沙发」的量词是什么？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79327" y="1665387"/>
            <a:ext cx="299237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「个」举一根手指，「张」举两根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24641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240833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2408337"/>
            <a:ext cx="408051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这句话对不对？　我有一个茶几。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9327" y="2859137"/>
            <a:ext cx="40805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对的话为什么课文用「张」说沙发？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40162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360208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3602087"/>
            <a:ext cx="545297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翻译：</a:t>
            </a:r>
            <a:r>
              <a:rPr lang="en-US" sz="2100" b="1" i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There's a TV cupboard in the living room.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79327" y="4052888"/>
            <a:ext cx="54529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写在小白板上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633913"/>
            <a:ext cx="10972800" cy="1041350"/>
          </a:xfrm>
          <a:prstGeom prst="roundRect">
            <a:avLst>
              <a:gd name="adj" fmla="val 6098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2275" y="479583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1279327" y="4795838"/>
            <a:ext cx="3108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你家的客厅里有什么？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279327" y="5246638"/>
            <a:ext cx="31089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点三个同学，一人说一样，不许重复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802213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答案不上屏——老师现场收（白板／点名）。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8640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stays on screen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246" y="176213"/>
            <a:ext cx="4853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16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58933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· 这一课的生词 · STAYS UP WHILE YOU WORK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890861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var/folders/6c/210dcgxn4gz5sm71vld2cy1h0000gn/T/tmp.owmCEDjpXl/img/shaf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8417" y="2027337"/>
            <a:ext cx="1041350" cy="104135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960066" y="3170188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4326434" y="1890861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var/folders/6c/210dcgxn4gz5sm71vld2cy1h0000gn/T/tmp.owmCEDjpXl/img/chaj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250" y="2027337"/>
            <a:ext cx="1041350" cy="10413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76900" y="3170188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茶几</a:t>
            </a:r>
            <a:endParaRPr lang="en-US" sz="3300" dirty="0"/>
          </a:p>
        </p:txBody>
      </p:sp>
      <p:sp>
        <p:nvSpPr>
          <p:cNvPr id="15" name="Text 11"/>
          <p:cNvSpPr/>
          <p:nvPr/>
        </p:nvSpPr>
        <p:spPr>
          <a:xfrm>
            <a:off x="8043267" y="1890861"/>
            <a:ext cx="3539133" cy="2006352"/>
          </a:xfrm>
          <a:prstGeom prst="roundRect">
            <a:avLst>
              <a:gd name="adj" fmla="val 569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2" descr="/var/folders/6c/210dcgxn4gz5sm71vld2cy1h0000gn/T/tmp.owmCEDjpXl/img/dianshigu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084" y="2027337"/>
            <a:ext cx="1041350" cy="104135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84184" y="3170188"/>
            <a:ext cx="128244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电视柜</a:t>
            </a:r>
            <a:endParaRPr lang="en-US" sz="3300" dirty="0"/>
          </a:p>
        </p:txBody>
      </p:sp>
      <p:sp>
        <p:nvSpPr>
          <p:cNvPr id="18" name="Text 13"/>
          <p:cNvSpPr/>
          <p:nvPr/>
        </p:nvSpPr>
        <p:spPr>
          <a:xfrm>
            <a:off x="609600" y="4074914"/>
            <a:ext cx="3539133" cy="863501"/>
          </a:xfrm>
          <a:prstGeom prst="roundRect">
            <a:avLst>
              <a:gd name="adj" fmla="val 1323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2169616" y="4211389"/>
            <a:ext cx="42748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3300" dirty="0"/>
          </a:p>
        </p:txBody>
      </p:sp>
      <p:sp>
        <p:nvSpPr>
          <p:cNvPr id="20" name="Text 15"/>
          <p:cNvSpPr/>
          <p:nvPr/>
        </p:nvSpPr>
        <p:spPr>
          <a:xfrm>
            <a:off x="609600" y="506536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这一页留在屏幕上——后面两个活动都看它。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1005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10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4646" y="176213"/>
            <a:ext cx="4787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17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95902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画你家的客厅</a:t>
            </a:r>
            <a:endParaRPr lang="en-US" sz="1100" dirty="0"/>
          </a:p>
        </p:txBody>
      </p:sp>
      <p:pic>
        <p:nvPicPr>
          <p:cNvPr id="9" name="Image 0" descr="/var/folders/6c/210dcgxn4gz5sm71vld2cy1h0000gn/T/tmp.owmCEDjpXl/img/ke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2209800"/>
            <a:ext cx="2667000" cy="2667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708350" y="2440037"/>
            <a:ext cx="8031531" cy="69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先一起来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老师在黑板上画一个客厅，全班说放什么，每放一样，老师就在下面写一句。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708350" y="313089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再自己画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发纸，画你自己的客厅。三分钟。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708350" y="347632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写四句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一样家具一句，四个生词都要用上。四分钟。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708350" y="3821757"/>
            <a:ext cx="8031531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写完请两个同学念自己的——总览页还在屏幕上，可以看。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708350" y="4294138"/>
            <a:ext cx="803153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客厅里有一张沙发。茶几在沙发前面。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544" y="176213"/>
            <a:ext cx="4850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18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397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加难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39727"/>
            <a:ext cx="10972800" cy="2404021"/>
          </a:xfrm>
          <a:prstGeom prst="roundRect">
            <a:avLst>
              <a:gd name="adj" fmla="val 4755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8737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不要画你自己的客厅——写一个你去过、又不能改的：爷爷奶奶家的、医院的等候室、学校图书馆。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328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写成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一段话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，不是四条分开的句子：五句连起来，每一句说这一样在上一样的哪边。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7823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最后一句说大小，要用「特别」。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62366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写的时候不看总览页。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409604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沙发在电视柜前面，茶几在沙发前面……客厅特别大。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22685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接龙 + 两人对话 · 7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097" y="176213"/>
            <a:ext cx="4854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19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41446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先接龙，再两人问答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14488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96826" y="1725513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203127" y="1725513"/>
            <a:ext cx="487156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接龙 · 3 分钟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一个人加一样，前面的要全部说一遍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03127" y="2060674"/>
            <a:ext cx="48715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客厅里有沙发 → 客厅里有沙发和茶几 → ……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514600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2625626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03127" y="2625626"/>
            <a:ext cx="3365510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说错或说不出来，从他那里重新开始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03127" y="2960787"/>
            <a:ext cx="33655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家具说完了可以用第十三课的房间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14713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6826" y="3525738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203127" y="3525738"/>
            <a:ext cx="429212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两人问答 · 4 分钟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看课本 p.133 第 1 题的图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03127" y="3860899"/>
            <a:ext cx="42921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A：你家的客厅里有什么？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314825"/>
            <a:ext cx="10972800" cy="823913"/>
          </a:xfrm>
          <a:prstGeom prst="roundRect">
            <a:avLst>
              <a:gd name="adj" fmla="val 7707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4425851"/>
            <a:ext cx="246075" cy="289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203127" y="4425851"/>
            <a:ext cx="358122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 说三样，每样都要带量词，然后换人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03127" y="4761012"/>
            <a:ext cx="35812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两个人再互相问：你家的客厅大不大？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240238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老师走动的时候，把词表从说得出来的那一组收走，留给需要的那一组。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296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Extension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4582" y="176213"/>
            <a:ext cx="50945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31234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加难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512368"/>
            <a:ext cx="10972800" cy="2058591"/>
          </a:xfrm>
          <a:prstGeom prst="roundRect">
            <a:avLst>
              <a:gd name="adj" fmla="val 5552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76001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当提问的那个人，而且要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自己想追问的问题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310544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 回答完，A 一定要再问一个关于其中</a:t>
            </a: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一样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东西的问题。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450878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最后向全班报告你的同伴，要用「他」，不能用「我」。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92325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你的沙发是什么颜色的？　→　他家的客厅里有一张沙发，可是没有茶几。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4638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写汉字 · 练习册 p.154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08990" y="176213"/>
            <a:ext cx="4845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06860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笔顺 · 每个字写三遍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506885"/>
            <a:ext cx="10972800" cy="587276"/>
          </a:xfrm>
          <a:prstGeom prst="roundRect">
            <a:avLst>
              <a:gd name="adj" fmla="val 1081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567160"/>
            <a:ext cx="49215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533376" y="1667173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画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498527" y="1667173"/>
            <a:ext cx="217809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左边三点水，右边「少」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991874" y="1600498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480774" y="1600498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969675" y="1600498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9600" y="2132261"/>
            <a:ext cx="10972800" cy="587276"/>
          </a:xfrm>
          <a:prstGeom prst="roundRect">
            <a:avLst>
              <a:gd name="adj" fmla="val 1081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275" y="2192536"/>
            <a:ext cx="49215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发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533376" y="2292548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498527" y="2292548"/>
            <a:ext cx="17820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五画，最后一笔是点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991874" y="2225873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480774" y="2225873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969675" y="2225873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9600" y="2757636"/>
            <a:ext cx="10972800" cy="587276"/>
          </a:xfrm>
          <a:prstGeom prst="roundRect">
            <a:avLst>
              <a:gd name="adj" fmla="val 1081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2275" y="2817912"/>
            <a:ext cx="49215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茶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533376" y="2917924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画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498527" y="2917924"/>
            <a:ext cx="29700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草字头，中间「人」，下面「木」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91874" y="2851249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0480774" y="2851249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969675" y="2851249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9600" y="3383012"/>
            <a:ext cx="10972800" cy="587276"/>
          </a:xfrm>
          <a:prstGeom prst="roundRect">
            <a:avLst>
              <a:gd name="adj" fmla="val 1081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22275" y="3443288"/>
            <a:ext cx="49215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1533376" y="3543300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画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2498527" y="3543300"/>
            <a:ext cx="25741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两画就写完——撇，横折弯钩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991874" y="3476625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0480774" y="3476625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969675" y="3476625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9600" y="4008388"/>
            <a:ext cx="10972800" cy="587276"/>
          </a:xfrm>
          <a:prstGeom prst="roundRect">
            <a:avLst>
              <a:gd name="adj" fmla="val 1081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22275" y="4068663"/>
            <a:ext cx="49215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柜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1533376" y="4168676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画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2498527" y="4168676"/>
            <a:ext cx="17820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左边木，右边「巨」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991874" y="4102001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0480774" y="4102001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0969675" y="4102001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09600" y="4633764"/>
            <a:ext cx="10972800" cy="587276"/>
          </a:xfrm>
          <a:prstGeom prst="roundRect">
            <a:avLst>
              <a:gd name="adj" fmla="val 10813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22275" y="4694039"/>
            <a:ext cx="49215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2600" dirty="0"/>
          </a:p>
        </p:txBody>
      </p:sp>
      <p:sp>
        <p:nvSpPr>
          <p:cNvPr id="46" name="Text 44"/>
          <p:cNvSpPr/>
          <p:nvPr/>
        </p:nvSpPr>
        <p:spPr>
          <a:xfrm>
            <a:off x="1533376" y="4794052"/>
            <a:ext cx="751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F6C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画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2498527" y="4794052"/>
            <a:ext cx="17820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左边弓，右边「长」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9991874" y="472737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10480774" y="472737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10969675" y="4727377"/>
            <a:ext cx="400050" cy="400050"/>
          </a:xfrm>
          <a:prstGeom prst="roundRect">
            <a:avLst>
              <a:gd name="adj" fmla="val 6349"/>
            </a:avLst>
          </a:prstGeom>
          <a:solidFill>
            <a:srgbClr val="F2F4F4"/>
          </a:solidFill>
          <a:ln w="9525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09600" y="5347990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这是这几个字今天唯一的一次写字练习——循环写完就写，别因为超时跳过。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26448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FLEXIBLE PRACTICE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386435" y="166688"/>
            <a:ext cx="135956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拍字 · 6 分钟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3838" y="176213"/>
            <a:ext cx="5102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22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083915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拍字 SLAP THE CHARACTER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283940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275" y="1445865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79327" y="1445865"/>
            <a:ext cx="644471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黑板上贴十张字卡：今天四个 + 第十三课六个房间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79327" y="1781026"/>
            <a:ext cx="64447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沙发 · 茶几 · 电视柜 · 张 + 卧室 · 客厅 · 厨房 · 餐厅 · 浴室 · 车库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9600" y="2362051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275" y="252397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79327" y="2523976"/>
            <a:ext cx="420681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两个同学上来，老师说英文，先拍到的得一分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79327" y="2859137"/>
            <a:ext cx="420681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赢的留下，换下一个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9600" y="3440162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275" y="3602087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279327" y="3602087"/>
            <a:ext cx="525866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第二轮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：老师说一整句，句子里的名词全部要拍，按顺序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79327" y="3937248"/>
            <a:ext cx="525866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客厅里有一张沙发和一个茶几 = 拍三下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600" y="4518273"/>
            <a:ext cx="10972800" cy="925711"/>
          </a:xfrm>
          <a:prstGeom prst="roundRect">
            <a:avLst>
              <a:gd name="adj" fmla="val 6860"/>
            </a:avLst>
          </a:prstGeom>
          <a:solidFill>
            <a:srgbClr val="E6EAEB"/>
          </a:solidFill>
          <a:ln w="9525">
            <a:solidFill>
              <a:srgbClr val="D5DB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2275" y="468019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B05B3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1279327" y="4680198"/>
            <a:ext cx="4206963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加难</a:t>
            </a:r>
            <a:r>
              <a:rPr lang="en-US" sz="16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：老师只说量词，拍任何一个配得上的词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79327" y="5015359"/>
            <a:ext cx="420696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3D5A7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「一张……」→ 拍沙发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600" y="5570934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字卡打印两套，A4 大小，用蓝丁胶贴。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2F4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D5DB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7858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44217" y="166688"/>
            <a:ext cx="9839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45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Plenary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84285" y="176213"/>
            <a:ext cx="5097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E778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23 / 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3D5A7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397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· 43–50 分钟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339727"/>
            <a:ext cx="10972800" cy="2404021"/>
          </a:xfrm>
          <a:prstGeom prst="roundRect">
            <a:avLst>
              <a:gd name="adj" fmla="val 4755"/>
            </a:avLst>
          </a:prstGeom>
          <a:solidFill>
            <a:srgbClr val="E6EAEB"/>
          </a:solidFill>
          <a:ln w="19050">
            <a:solidFill>
              <a:srgbClr val="B8C1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33450" y="258737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回看目标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一个同学念三条 success criteria。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3450" y="293280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自评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一条一条来：👍 / 😐 / 👎。第二条要特别看——如果全班都是 😐，下节课的复习就从量词开始。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327823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写在纸条上，出门交。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33450" y="3623667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B05B3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下节课</a:t>
            </a:r>
            <a:r>
              <a:rPr lang="en-US" sz="1700" dirty="0">
                <a:solidFill>
                  <a:srgbClr val="262B3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· 空调和洗衣机，还有怎么说一个房间「不算大」——这是整个单元最有用的一句。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3450" y="4096048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1000"/>
              </a:spcBef>
              <a:buNone/>
            </a:pPr>
            <a:r>
              <a:rPr lang="en-US" sz="2100" b="1" dirty="0">
                <a:solidFill>
                  <a:srgbClr val="262B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出门条：翻译——There is a sofa and a tea table in my living room.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2026-09-15T04:28:15Z</dcterms:created>
  <dcterms:modified xsi:type="dcterms:W3CDTF">2026-09-15T04:28:15Z</dcterms:modified>
</cp:coreProperties>
</file>