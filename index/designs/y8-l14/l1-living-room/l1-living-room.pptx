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792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1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49500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第十四课 · 家具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888" y="176213"/>
            <a:ext cx="4000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P.132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客厅里有什么？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 Living Room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14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第十三课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6440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小白板 · 五题 · 写完举起来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6443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27545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275457"/>
            <a:ext cx="14224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upstairs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1610618"/>
            <a:ext cx="14224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64544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7557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75570"/>
            <a:ext cx="131766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510730"/>
            <a:ext cx="131766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车库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4656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7568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75682"/>
            <a:ext cx="219782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bedrooms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410843"/>
            <a:ext cx="21978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量词是「间」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64769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75795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75795"/>
            <a:ext cx="148723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cars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310955"/>
            <a:ext cx="14872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量词是「辆」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764881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875907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875907"/>
            <a:ext cx="258493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翻译：</a:t>
            </a:r>
            <a:r>
              <a:rPr lang="en-US" sz="1600" i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two-storey house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03127" y="5211068"/>
            <a:ext cx="25849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量词是「层」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69029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上一课你把房子盖起来了——房间、层、车库。今天开始往里面放东西。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1468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有 还是 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7182" y="176213"/>
            <a:ext cx="425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401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改一改 · 哪里错了？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67136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681436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我的房间有楼上。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49452" y="2567136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52602" y="2681436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我的房间在楼上。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73503" y="2781449"/>
            <a:ext cx="24850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房间是已知的，问的是在哪儿 → 在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503563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61786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楼上在三间卧室。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49452" y="3503563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152602" y="361786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楼上有三间卧室。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073503" y="3717875"/>
            <a:ext cx="23265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楼上是已知的，卧室是新的 → 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4146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规律：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新的东西进已知的地方，用「有」；已知的东西找地方，用「在」。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这两个字今天还会回来。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816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81720"/>
            <a:ext cx="10972800" cy="784175"/>
          </a:xfrm>
          <a:prstGeom prst="roundRect">
            <a:avLst>
              <a:gd name="adj" fmla="val 1457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591270"/>
            <a:ext cx="10531602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say what furniture is in a living room, with the right measure word.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31829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61982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78174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781746"/>
            <a:ext cx="480431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three pieces of living-room furniture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116907"/>
            <a:ext cx="48043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能说出三件客厅里的家具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69793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385985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3859857"/>
            <a:ext cx="414442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use 张 for a sofa and 个 for the rest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195018"/>
            <a:ext cx="41444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会说「一张沙发」「一个茶几」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77604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493796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4937968"/>
            <a:ext cx="46230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what is in a room using 客厅里有……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273129"/>
            <a:ext cx="46230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能用「客厅里有……」说房间里有什么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emPkXuZ1Lq/img/sha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70163" y="3866852"/>
            <a:ext cx="59902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shāfā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816150" y="4285952"/>
            <a:ext cx="2953208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沙发（沙發）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063627" y="4931122"/>
            <a:ext cx="40850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sofa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emPkXuZ1Lq/img/chaj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56141" y="3866852"/>
            <a:ext cx="5546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chájī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521601" y="5070723"/>
            <a:ext cx="82900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 table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sofa in the living room.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上有一个电话。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phone on the tea table.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前面有一个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front of the sofa is a tea table.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问：你家的客厅里有沙发吗？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391" y="176213"/>
            <a:ext cx="4198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我家的客厅里有 ________ 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两件家具，再说一件在另一件哪边：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我家的客厅里有一个沙发和一个茶几，茶几在沙发前面。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2253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26828"/>
            <a:ext cx="5308550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emPkXuZ1Lq/img/dianshigu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917353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11648" y="3936653"/>
            <a:ext cx="112639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diànshìguì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333649" y="4355753"/>
            <a:ext cx="3937510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电视柜（電視櫃）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2675037" y="5000923"/>
            <a:ext cx="120107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TV cupboard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526828"/>
            <a:ext cx="5308699" cy="4131320"/>
          </a:xfrm>
          <a:prstGeom prst="roundRect">
            <a:avLst>
              <a:gd name="adj" fmla="val 276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emPkXuZ1Lq/img/zh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917353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08814" y="3936653"/>
            <a:ext cx="6510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zhāng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7962900" y="4355753"/>
            <a:ext cx="1968755" cy="530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0"/>
              </a:lnSpc>
              <a:buNone/>
            </a:pPr>
            <a:r>
              <a:rPr lang="en-US" sz="3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张（張）</a:t>
            </a:r>
            <a:endParaRPr lang="en-US" sz="3800" dirty="0"/>
          </a:p>
        </p:txBody>
      </p:sp>
      <p:sp>
        <p:nvSpPr>
          <p:cNvPr id="18" name="Text 14"/>
          <p:cNvSpPr/>
          <p:nvPr/>
        </p:nvSpPr>
        <p:spPr>
          <a:xfrm>
            <a:off x="7696349" y="5000923"/>
            <a:ext cx="25126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measure word · flat things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843" y="176213"/>
            <a:ext cx="4265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There's a TV cupboard in the living room.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我家有一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大沙发。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have one big sofa.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我们家的客厅里有一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沙发和一个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Our living room has a sofa and a TV cupboard.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问：电视在哪儿？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734" y="176213"/>
            <a:ext cx="4838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1990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19933"/>
            <a:ext cx="10972800" cy="1314450"/>
          </a:xfrm>
          <a:prstGeom prst="roundRect">
            <a:avLst>
              <a:gd name="adj" fmla="val 8696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643783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我家的客厅里有一 ________ 沙发。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3812084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4008834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4272260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把课文那一句默写出来，再加一句说电视在哪儿：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电视在电视柜上面。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4142" y="176213"/>
            <a:ext cx="45890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读不出来就停下来重教——不要往下走。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70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Sentence pattern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说一个房间里有什么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地方 + 里有 + 量词 + 东西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312702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一个沙发。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312702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 thing — the simplest form.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8084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沙发和一个茶几。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80847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things, joined with 和.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73063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我们家的客厅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里有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一张三人沙发、一个茶几和一个电视柜。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730636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Three things — 、between the first two, 和 before the last. This is Text 1.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「三人沙发」= 三人 + 沙发，三个人坐的沙发。会用就用，不用也可以。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从房子说到家具，一口气说完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我家的房子有两层，楼下有客厅，客厅里有一张三人沙发、一个茶几和一个电视柜。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two storeys; downstairs is the living room; in the living room there's a three-seat sofa, a tea table and a TV cupboard.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上一课的「层」「楼下」，加今天的句型——旧的不会丢，是拿来接新的。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12648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033439" y="166688"/>
            <a:ext cx="934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CD 66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643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客厅 · 课本 P.132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64420"/>
            <a:ext cx="10972800" cy="1139726"/>
          </a:xfrm>
          <a:prstGeom prst="roundRect">
            <a:avLst>
              <a:gd name="adj" fmla="val 1002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588270"/>
            <a:ext cx="10479988" cy="49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5"/>
              </a:lnSpc>
              <a:buNone/>
            </a:pPr>
            <a:r>
              <a:rPr lang="en-US" sz="25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客厅里有一张三人沙发、一个茶几、一个电视柜和一个</a:t>
            </a:r>
            <a:r>
              <a:rPr lang="en-US" sz="25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空调</a:t>
            </a:r>
            <a:r>
              <a:rPr lang="en-US" sz="25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09600" y="3556546"/>
            <a:ext cx="10972800" cy="1262360"/>
          </a:xfrm>
          <a:prstGeom prst="roundRect">
            <a:avLst>
              <a:gd name="adj" fmla="val 9054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380419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他们家的客厅里有几个茶几？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22582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最后一个词你还不会说——下节课学。今天只读前面三样。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526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52661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21458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214586"/>
            <a:ext cx="299237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「沙发」的量词是什么？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79327" y="1665387"/>
            <a:ext cx="29923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「个」举一根手指，「张」举两根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24641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40833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408337"/>
            <a:ext cx="408051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　我有一个茶几。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4080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对的话为什么课文用「张」说沙发？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452976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翻译：</a:t>
            </a:r>
            <a:r>
              <a:rPr lang="en-US" sz="2100" b="1" i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There's a TV cupboard in the living room.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279327" y="4052888"/>
            <a:ext cx="545297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633913"/>
            <a:ext cx="10972800" cy="1041350"/>
          </a:xfrm>
          <a:prstGeom prst="roundRect">
            <a:avLst>
              <a:gd name="adj" fmla="val 609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79583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795838"/>
            <a:ext cx="310896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你家的客厅里有什么？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1279327" y="5246638"/>
            <a:ext cx="31089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点三个同学，一人说一样，不许重复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80221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8933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90861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emPkXuZ1Lq/img/shaf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2027337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317018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890861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emPkXuZ1Lq/img/chaj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2027337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3170188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茶几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890861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emPkXuZ1Lq/img/dianshigu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2027337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84184" y="3170188"/>
            <a:ext cx="128244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电视柜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4074914"/>
            <a:ext cx="3539133" cy="863501"/>
          </a:xfrm>
          <a:prstGeom prst="roundRect">
            <a:avLst>
              <a:gd name="adj" fmla="val 1323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4"/>
          <p:cNvSpPr/>
          <p:nvPr/>
        </p:nvSpPr>
        <p:spPr>
          <a:xfrm>
            <a:off x="2169616" y="4211389"/>
            <a:ext cx="42748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3300" dirty="0"/>
          </a:p>
        </p:txBody>
      </p:sp>
      <p:sp>
        <p:nvSpPr>
          <p:cNvPr id="20" name="Text 15"/>
          <p:cNvSpPr/>
          <p:nvPr/>
        </p:nvSpPr>
        <p:spPr>
          <a:xfrm>
            <a:off x="609600" y="50653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这一页留在屏幕上——后面两个活动都看它。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1005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10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646" y="176213"/>
            <a:ext cx="47879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95902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画你家的客厅</a:t>
            </a:r>
            <a:endParaRPr lang="en-US" sz="1100" dirty="0"/>
          </a:p>
        </p:txBody>
      </p:sp>
      <p:pic>
        <p:nvPicPr>
          <p:cNvPr id="9" name="Image 0" descr="/var/folders/6c/210dcgxn4gz5sm71vld2cy1h0000gn/T/tmp.emPkXuZ1Lq/img/ke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2209800"/>
            <a:ext cx="2667000" cy="2667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08350" y="2440037"/>
            <a:ext cx="8031531" cy="690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先一起来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老师在黑板上画一个客厅，全班说放什么，每放一样，老师就在下面写一句。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708350" y="313089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再自己画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发纸，画你自己的客厅。三分钟。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708350" y="347632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写四句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一样家具一句，四个生词都要用上。四分钟。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3708350" y="3821757"/>
            <a:ext cx="8031531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写完请两个同学念自己的——总览页还在屏幕上，可以看。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08350" y="4294138"/>
            <a:ext cx="8031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客厅里有一张沙发。茶几在沙发前面。</a:t>
            </a:r>
            <a:endParaRPr lang="en-US" sz="2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不要画你自己的客厅——写一个你去过、又不能改的：爷爷奶奶家的、医院的等候室、学校图书馆。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写成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一段话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，不是四条分开的句子：五句连起来，每一句说这一样在上一样的哪边。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最后一句说大小，要用「特别」。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写的时候不看总览页。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沙发在电视柜前面，茶几在沙发前面……客厅特别大。</a:t>
            </a:r>
            <a:endParaRPr lang="en-US" sz="2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2685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接龙 + 两人对话 · 7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097" y="176213"/>
            <a:ext cx="4854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1446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先接龙，再两人问答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14488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72551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725513"/>
            <a:ext cx="487156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接龙 · 3 分钟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一个人加一样，前面的要全部说一遍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03127" y="2060674"/>
            <a:ext cx="48715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客厅里有沙发 → 客厅里有沙发和茶几 → ……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514600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625626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625626"/>
            <a:ext cx="336551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说错或说不出来，从他那里重新开始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03127" y="2960787"/>
            <a:ext cx="336551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家具说完了可以用第十三课的房间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14713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525738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525738"/>
            <a:ext cx="4292126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两人问答 · 4 分钟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看课本 p.133 第 1 题的图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03127" y="3860899"/>
            <a:ext cx="4292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A：你家的客厅里有什么？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314825"/>
            <a:ext cx="10972800" cy="823913"/>
          </a:xfrm>
          <a:prstGeom prst="roundRect">
            <a:avLst>
              <a:gd name="adj" fmla="val 770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442585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4425851"/>
            <a:ext cx="3581224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说三样，每样都要带量词，然后换人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03127" y="4761012"/>
            <a:ext cx="358122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两个人再互相问：你家的客厅大不大？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24023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8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老师走动的时候，把词表从说得出来的那一组收走，留给需要的那一组。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582" y="176213"/>
            <a:ext cx="5094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当提问的那个人，而且要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自己想追问的问题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回答完，A 一定要再问一个关于其中</a:t>
            </a: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一样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东西的问题。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最后向全班报告你的同伴，要用「他」，不能用「我」。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你的沙发是什么颜色的？　→　他家的客厅里有一张沙发，可是没有茶几。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4638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写汉字 · 练习册 p.154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0686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每个字写三遍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506885"/>
            <a:ext cx="10972800" cy="587276"/>
          </a:xfrm>
          <a:prstGeom prst="roundRect">
            <a:avLst>
              <a:gd name="adj" fmla="val 1081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567160"/>
            <a:ext cx="49215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33376" y="1667173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98527" y="1667173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左边三点水，右边「少」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91874" y="160049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80774" y="160049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69675" y="160049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132261"/>
            <a:ext cx="10972800" cy="587276"/>
          </a:xfrm>
          <a:prstGeom prst="roundRect">
            <a:avLst>
              <a:gd name="adj" fmla="val 1081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2192536"/>
            <a:ext cx="49215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发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33376" y="2292548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498527" y="2292548"/>
            <a:ext cx="178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五画，最后一笔是点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91874" y="222587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80774" y="222587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69675" y="2225873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2757636"/>
            <a:ext cx="10972800" cy="587276"/>
          </a:xfrm>
          <a:prstGeom prst="roundRect">
            <a:avLst>
              <a:gd name="adj" fmla="val 1081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275" y="2817912"/>
            <a:ext cx="49215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茶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33376" y="2917924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498527" y="2917924"/>
            <a:ext cx="297005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草字头，中间「人」，下面「木」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1874" y="285124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80774" y="285124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69675" y="285124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3383012"/>
            <a:ext cx="10972800" cy="587276"/>
          </a:xfrm>
          <a:prstGeom prst="roundRect">
            <a:avLst>
              <a:gd name="adj" fmla="val 1081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275" y="3443288"/>
            <a:ext cx="49215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1533376" y="3543300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498527" y="3543300"/>
            <a:ext cx="25741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两画就写完——撇，横折弯钩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91874" y="34766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80774" y="34766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69675" y="3476625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4008388"/>
            <a:ext cx="10972800" cy="587276"/>
          </a:xfrm>
          <a:prstGeom prst="roundRect">
            <a:avLst>
              <a:gd name="adj" fmla="val 1081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75" y="4068663"/>
            <a:ext cx="49215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柜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1533376" y="4168676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画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498527" y="4168676"/>
            <a:ext cx="178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左边木，右边「巨」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91874" y="4102001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480774" y="4102001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969675" y="4102001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600" y="4633764"/>
            <a:ext cx="10972800" cy="587276"/>
          </a:xfrm>
          <a:prstGeom prst="roundRect">
            <a:avLst>
              <a:gd name="adj" fmla="val 10813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22275" y="4694039"/>
            <a:ext cx="49215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张</a:t>
            </a:r>
            <a:endParaRPr lang="en-US" sz="2600" dirty="0"/>
          </a:p>
        </p:txBody>
      </p:sp>
      <p:sp>
        <p:nvSpPr>
          <p:cNvPr id="46" name="Text 44"/>
          <p:cNvSpPr/>
          <p:nvPr/>
        </p:nvSpPr>
        <p:spPr>
          <a:xfrm>
            <a:off x="1533376" y="4794052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画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2498527" y="4794052"/>
            <a:ext cx="178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左边弓，右边「长」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991874" y="472737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480774" y="472737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10969675" y="472737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09600" y="53479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这是这几个字今天唯一的一次写字练习——循环写完就写，别因为超时跳过。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198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· 6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6486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拍字 SLAP THE CHARACTER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64890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2681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26815"/>
            <a:ext cx="540014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黑板上贴十张字卡：今天四个 + 第十三课六个房间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61976"/>
            <a:ext cx="540014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沙发 · 茶几 · 电视柜 · 张 + 卧室 · 客厅 · 厨房 · 餐厅 · 浴室 · 车库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52526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1445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14451"/>
            <a:ext cx="414472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两个同学上来，老师说英文，先拍到的得一分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49612"/>
            <a:ext cx="414472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赢的留下，换下一个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518094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第二轮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：老师说一整句，句子里的名词全部要拍，按顺序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5180942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客厅里有一张沙发和一个茶几 = 拍三下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27798"/>
            <a:ext cx="10972800" cy="935236"/>
          </a:xfrm>
          <a:prstGeom prst="roundRect">
            <a:avLst>
              <a:gd name="adj" fmla="val 679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972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9723"/>
            <a:ext cx="414487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：老师只说量词，拍任何一个配得上的词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24884"/>
            <a:ext cx="41448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「一张……」→ 拍沙发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8998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字卡打印两套，A4 大小，用蓝丁胶贴。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一个同学念三条 success criteria。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一条一条来：👍 / 😐 / 👎。第二条要特别看——如果全班都是 😐，下节课的复习就从量词开始。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写在纸条上，出门交。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空调和洗衣机，还有怎么说一个房间「不算大」——这是整个单元最有用的一句。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出门条：翻译——There is a sofa and a tea table in my living room.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2026-09-15T04:08:51Z</dcterms:created>
  <dcterms:modified xsi:type="dcterms:W3CDTF">2026-09-15T04:08:51Z</dcterms:modified>
</cp:coreProperties>
</file>