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33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3163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第十四课 · 家具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P.132 · P.134 · P.137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厨房里面有什么？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 Kitchen, and Every Measure Word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14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改一改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5763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三句里有错 · 两人一组找出来，一组上来改一句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84611"/>
            <a:ext cx="31495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1998911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洗衣机有厨房里面。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54252" y="1884611"/>
            <a:ext cx="31495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57402" y="1998911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洗衣机在厨房里面。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83103" y="2098923"/>
            <a:ext cx="1533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洗衣机是已知的 → 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2821037"/>
            <a:ext cx="4202609" cy="1085850"/>
          </a:xfrm>
          <a:prstGeom prst="roundRect">
            <a:avLst>
              <a:gd name="adj" fmla="val 5848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2935337"/>
            <a:ext cx="387223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我们家的客厅不算大也不小。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07360" y="2821037"/>
            <a:ext cx="3910608" cy="1085850"/>
          </a:xfrm>
          <a:prstGeom prst="roundRect">
            <a:avLst>
              <a:gd name="adj" fmla="val 5848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10510" y="2935337"/>
            <a:ext cx="357439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我们家的客厅不大也不小。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497318" y="3135362"/>
            <a:ext cx="212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两个说法，选一个，不要合起来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186089"/>
            <a:ext cx="37591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2750" y="4300389"/>
            <a:ext cx="34198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我家有一个空调在客厅。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863852" y="4186089"/>
            <a:ext cx="31495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67002" y="4300389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客厅里有一个空调。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92703" y="4400401"/>
            <a:ext cx="158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地方在前，「有」在后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" y="509721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「有」和「在」这一对二十分钟以后会变成一整个活动，考试也考两次。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994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what is in a kitchen, and choose the right measure word for anything in the house.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359200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three kitchen appliances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35920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能说出三样厨房电器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529980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pick the right measure word from 个 间 张 辆 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52998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会选量词，不都用「个」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477926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tell 有 and 在 apart and use each correctly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47792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分得清「有」和「在」，两个都会用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396" y="176213"/>
            <a:ext cx="4270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owmCEDjpXl/img/bingxi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24596" y="3866852"/>
            <a:ext cx="10999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bīngxiāng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737396" y="5070723"/>
            <a:ext cx="10738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refrigerator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owmCEDjpXl/img/kaoxi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45550" y="3866852"/>
            <a:ext cx="9843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kǎoxiāng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烤箱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712547" y="5070723"/>
            <a:ext cx="439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57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同一个字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冰箱　烤箱　—　后面是同一个字</a:t>
            </a:r>
            <a:endParaRPr lang="en-US" sz="1100" dirty="0"/>
          </a:p>
        </p:txBody>
      </p:sp>
      <p:pic>
        <p:nvPicPr>
          <p:cNvPr id="9" name="Image 0" descr="/var/folders/6c/210dcgxn4gz5sm71vld2cy1h0000gn/T/tmp.owmCEDjpXl/img/bingxi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61267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箱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xiāng = 箱子，装东西的盒子。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95810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冰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bīng = 冰。冰 + 箱 = 装冰的箱子 = 冰箱。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30353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烤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kǎo = 烤。烤 + 箱 = 烤东西的箱子 = 烤箱。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64896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两个词一起记，比分开记快一半。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412134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厨房里面有一个冰箱和一个烤箱。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4801" y="176213"/>
            <a:ext cx="4276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厨房里面有一个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Inside the kitchen there's a fridge.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烤箱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很大。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oven is big.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烤箱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左面。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fridge is to the left of the oven.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问：你家有没有烤箱？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700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73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7355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501205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我家的厨房里面有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9506"/>
            <a:ext cx="10972800" cy="1236464"/>
          </a:xfrm>
          <a:prstGeom prst="roundRect">
            <a:avLst>
              <a:gd name="adj" fmla="val 513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6257"/>
            <a:ext cx="1068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0158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两样都说，还要说它们跟别的东西在哪边：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冰箱在洗衣机右面，烤箱在冰箱下面。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再用「可是」说你家没有的那一样。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247" y="176213"/>
            <a:ext cx="427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53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59473" y="1526828"/>
            <a:ext cx="3473053" cy="4131320"/>
          </a:xfrm>
          <a:prstGeom prst="roundRect">
            <a:avLst>
              <a:gd name="adj" fmla="val 329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owmCEDjpXl/img/dianl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1917353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68429" y="3936653"/>
            <a:ext cx="668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diànlú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48349" y="4355753"/>
            <a:ext cx="295320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电炉（電爐）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5476280" y="5000923"/>
            <a:ext cx="12642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electric stove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4652" y="176213"/>
            <a:ext cx="4277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厨房里有一个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电炉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an electric stove in the kitchen.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电炉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不大也不小。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stove is neither big nor small.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厨房里面有冰箱、烤箱和一个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电炉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Inside the kitchen there's a fridge, an oven and a stove.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问：电炉在厨房里面还是外面？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厨房里面有 ________ 和一个电炉。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把课文里厨房那一句默写出来，再改成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你们家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的——没有的东西要用「可是」或者「没有」说出来，不要偷偷不说。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79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734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00411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485" y="2440037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44701" y="2100411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63585" y="2440037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79950" y="2100411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98836" y="2440037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051" y="2100411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33935" y="2440037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50301" y="2100411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69186" y="2440037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9600" y="3516213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8485" y="3855839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844701" y="3516213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63585" y="3855839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079950" y="3516213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98836" y="3855839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315051" y="3516213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33935" y="3855839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烤箱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550301" y="3516213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669186" y="3855839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电炉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09600" y="488126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十个了。读不出来就停下来重教——不要往下走。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468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有 还是 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408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 还是 在？ · WHICH ONE?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42393"/>
            <a:ext cx="5346650" cy="2319189"/>
          </a:xfrm>
          <a:prstGeom prst="roundRect">
            <a:avLst>
              <a:gd name="adj" fmla="val 4928"/>
            </a:avLst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600" y="2266206"/>
            <a:ext cx="5346650" cy="0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6725" y="2242393"/>
            <a:ext cx="0" cy="2319189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" y="4552057"/>
            <a:ext cx="5346650" cy="0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125" y="2242393"/>
            <a:ext cx="0" cy="2319189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551" y="2493169"/>
            <a:ext cx="4896764" cy="6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82551" y="3216920"/>
            <a:ext cx="48967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 is / there are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2551" y="3597920"/>
            <a:ext cx="48967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4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地方 + 有 + 东西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551" y="3934420"/>
            <a:ext cx="4896764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厨房里有一个冰箱。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35601" y="2242393"/>
            <a:ext cx="5346799" cy="2319189"/>
          </a:xfrm>
          <a:prstGeom prst="roundRect">
            <a:avLst>
              <a:gd name="adj" fmla="val 4928"/>
            </a:avLst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35601" y="2266206"/>
            <a:ext cx="5346799" cy="0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72875" y="2242393"/>
            <a:ext cx="0" cy="2319189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5601" y="4552057"/>
            <a:ext cx="5346799" cy="0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126" y="2242393"/>
            <a:ext cx="0" cy="2319189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8552" y="2493169"/>
            <a:ext cx="4896916" cy="6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6508552" y="3216920"/>
            <a:ext cx="4896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 located at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08552" y="3597920"/>
            <a:ext cx="48969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4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东西 + 在 + 地方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08552" y="3934420"/>
            <a:ext cx="4896916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冰箱在厨房里。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9600" y="4713982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两句说的是同一件事，只是从哪一头开始说。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新的东西 → 有。已知的东西找地方 → 在。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322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同样两样东西，两种说法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32309"/>
            <a:ext cx="10972800" cy="847725"/>
          </a:xfrm>
          <a:prstGeom prst="roundRect">
            <a:avLst>
              <a:gd name="adj" fmla="val 13483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541859"/>
            <a:ext cx="105316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地方 + 有 + 东西　／　东西 + 在 + 地方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" y="2306985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4689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468910"/>
            <a:ext cx="55666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厨房里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一个冰箱。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907060"/>
            <a:ext cx="556667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 brings something new into a place you already know.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505795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66772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667720"/>
            <a:ext cx="48175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厨房里。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4105870"/>
            <a:ext cx="481752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 tells you where a thing you already know sits.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70460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86653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866531"/>
            <a:ext cx="48966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一张沙发；沙发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电视柜前面。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304681"/>
            <a:ext cx="489661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Both, back to back, with the same two objects.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95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四个小句，「有」和「在」轮流用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9547"/>
            <a:ext cx="10972800" cy="1710630"/>
          </a:xfrm>
          <a:prstGeom prst="roundRect">
            <a:avLst>
              <a:gd name="adj" fmla="val 6682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13397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我们家的房子有两层，楼下有厨房和客厅，我的房间在楼上，房间里面有一张床。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952577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house has two storeys; downstairs there's the kitchen and the living room; my room is upstairs; inside my room there's a bed.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7653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 · 有 · 在 · 有 —— 第三个换成「在」，因为「我的房间」已经说过了。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494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CD 66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7746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课本 P.132 · 全班齐读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77492"/>
            <a:ext cx="10972800" cy="1513582"/>
          </a:xfrm>
          <a:prstGeom prst="roundRect">
            <a:avLst>
              <a:gd name="adj" fmla="val 7552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01342"/>
            <a:ext cx="10479988" cy="865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22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我们家的客厅不算大。客厅里有一张三人沙发、一个茶几、一个电视柜和一个空调（冷气机）。我们家的厨房不大也不小，里面有</a:t>
            </a: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</a:t>
            </a:r>
            <a:r>
              <a:rPr lang="en-US" sz="22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、洗衣机、</a:t>
            </a: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烤箱</a:t>
            </a:r>
            <a:r>
              <a:rPr lang="en-US" sz="22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电炉</a:t>
            </a:r>
            <a:r>
              <a:rPr lang="en-US" sz="22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9600" y="3743474"/>
            <a:ext cx="10972800" cy="1262360"/>
          </a:xfrm>
          <a:prstGeom prst="roundRect">
            <a:avLst>
              <a:gd name="adj" fmla="val 9054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3450" y="3991124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他们家的厨房里有几样东西？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412754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上节课那三个空，今天填满了。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904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听力 · CD 68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055" y="176213"/>
            <a:ext cx="4865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55284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听力 · 课本 P.137 第 9 题 · 听两遍，有的打钩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410200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第二段说的是厨房：冰箱 · 电话 · 电炉 · 烤箱 · 洗衣机。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他最后说「可是我们没有烤箱」——谁听到了？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3604" y="176213"/>
            <a:ext cx="4798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41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4184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19256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192560"/>
            <a:ext cx="32644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「冰」和「烤」各是什么意思？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3127" y="1586210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两个词后面是同一个字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027486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12586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125861"/>
            <a:ext cx="39706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 还是 在？　厨房里 ____ 一个电炉。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3127" y="2519511"/>
            <a:ext cx="39706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960787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05916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059162"/>
            <a:ext cx="39706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 还是 在？　洗衣机 ____ 厨房里面。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03127" y="3452813"/>
            <a:ext cx="39706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894088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99246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3992463"/>
            <a:ext cx="27980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「洗衣机」的量词是什么？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3127" y="4386114"/>
            <a:ext cx="27980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不是「个」——是机器用的那个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827389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92576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203127" y="4925764"/>
            <a:ext cx="20985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他们家有没有烤箱？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03127" y="5319415"/>
            <a:ext cx="20985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刚才听力里说了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576069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502" y="176213"/>
            <a:ext cx="486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2596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27486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owmCEDjpXl/img/sha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970" y="2125861"/>
            <a:ext cx="609600" cy="609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30970" y="2798862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839641" y="2027486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owmCEDjpXl/img/chaj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11" y="2125861"/>
            <a:ext cx="609600" cy="609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1011" y="2798862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5069681" y="2027486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owmCEDjpXl/img/dianshigu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051" y="2125861"/>
            <a:ext cx="609600" cy="609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38651" y="2798862"/>
            <a:ext cx="9326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7299871" y="2027486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8173641" y="2125861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9529911" y="2027486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var/folders/6c/210dcgxn4gz5sm71vld2cy1h0000gn/T/tmp.owmCEDjpXl/img/kongti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1281" y="2125861"/>
            <a:ext cx="609600" cy="609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51281" y="2798862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609600" y="3503563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4" descr="/var/folders/6c/210dcgxn4gz5sm71vld2cy1h0000gn/T/tmp.owmCEDjpXl/img/xiyij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970" y="3601938"/>
            <a:ext cx="609600" cy="609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78570" y="4274939"/>
            <a:ext cx="9326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endParaRPr lang="en-US" sz="2400" dirty="0"/>
          </a:p>
        </p:txBody>
      </p:sp>
      <p:sp>
        <p:nvSpPr>
          <p:cNvPr id="26" name="Text 19"/>
          <p:cNvSpPr/>
          <p:nvPr/>
        </p:nvSpPr>
        <p:spPr>
          <a:xfrm>
            <a:off x="2839641" y="3503563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5" descr="/var/folders/6c/210dcgxn4gz5sm71vld2cy1h0000gn/T/tmp.owmCEDjpXl/img/limi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1011" y="3601938"/>
            <a:ext cx="609600" cy="609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61011" y="4274939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2400" dirty="0"/>
          </a:p>
        </p:txBody>
      </p:sp>
      <p:sp>
        <p:nvSpPr>
          <p:cNvPr id="29" name="Text 21"/>
          <p:cNvSpPr/>
          <p:nvPr/>
        </p:nvSpPr>
        <p:spPr>
          <a:xfrm>
            <a:off x="5069681" y="3503563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6" descr="/var/folders/6c/210dcgxn4gz5sm71vld2cy1h0000gn/T/tmp.owmCEDjpXl/img/bingxia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051" y="3601938"/>
            <a:ext cx="609600" cy="609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791051" y="4274939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</a:t>
            </a:r>
            <a:endParaRPr lang="en-US" sz="2400" dirty="0"/>
          </a:p>
        </p:txBody>
      </p:sp>
      <p:sp>
        <p:nvSpPr>
          <p:cNvPr id="32" name="Text 23"/>
          <p:cNvSpPr/>
          <p:nvPr/>
        </p:nvSpPr>
        <p:spPr>
          <a:xfrm>
            <a:off x="7299871" y="3503563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7" descr="/var/folders/6c/210dcgxn4gz5sm71vld2cy1h0000gn/T/tmp.owmCEDjpXl/img/kaoxia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1241" y="3601938"/>
            <a:ext cx="609600" cy="609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021241" y="4274939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烤箱</a:t>
            </a:r>
            <a:endParaRPr lang="en-US" sz="2400" dirty="0"/>
          </a:p>
        </p:txBody>
      </p:sp>
      <p:sp>
        <p:nvSpPr>
          <p:cNvPr id="35" name="Text 25"/>
          <p:cNvSpPr/>
          <p:nvPr/>
        </p:nvSpPr>
        <p:spPr>
          <a:xfrm>
            <a:off x="9529911" y="3503563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8" descr="/var/folders/6c/210dcgxn4gz5sm71vld2cy1h0000gn/T/tmp.owmCEDjpXl/img/dianlu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1281" y="3601938"/>
            <a:ext cx="609600" cy="6096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0251281" y="4274939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电炉</a:t>
            </a:r>
            <a:endParaRPr lang="en-US" sz="2400" dirty="0"/>
          </a:p>
        </p:txBody>
      </p:sp>
      <p:sp>
        <p:nvSpPr>
          <p:cNvPr id="38" name="Text 27"/>
          <p:cNvSpPr/>
          <p:nvPr/>
        </p:nvSpPr>
        <p:spPr>
          <a:xfrm>
            <a:off x="609600" y="492889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十个词，全在这儿。这一页留在屏幕上，后面三个活动都看它。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32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907" y="176213"/>
            <a:ext cx="4866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厨房写完，再写你自己的</a:t>
            </a:r>
            <a:endParaRPr lang="en-US" sz="1100" dirty="0"/>
          </a:p>
        </p:txBody>
      </p:sp>
      <p:pic>
        <p:nvPicPr>
          <p:cNvPr id="9" name="Image 0" descr="/var/folders/6c/210dcgxn4gz5sm71vld2cy1h0000gn/T/tmp.owmCEDjpXl/img/chuf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44003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甲 · 3 分钟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只看图，把课文里厨房那一句完整写出来。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78546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乙 · 4 分钟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改成写你们家的厨房。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13089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规矩：总览页上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十个词全部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要出现——所以客厅那几个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47632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得另外写一句放进去。一共四到五句。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382175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写完请两个同学念——总览页还在屏幕上。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08350" y="429413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我们家的厨房不大也不小，里面有冰箱、洗衣机、烤箱和电炉。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231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2343"/>
            <a:ext cx="10972800" cy="2458641"/>
          </a:xfrm>
          <a:prstGeom prst="roundRect">
            <a:avLst>
              <a:gd name="adj" fmla="val 464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5999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厨房：你们家的，和一个你知道的（亲戚家、度假的房子、学校食堂）。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0542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十个词还是全部都要出现，用「可是」和「也」连起来。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5085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不看总览页。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723233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我们家的厨房不大也不小，里面有冰箱和电炉，可是没有烤箱；我奶奶家的厨房特别大……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1436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量词 · We Do · 6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1291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量词归类（课本 P.134 第 3 题 · 十六个空）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12937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185863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3127" y="1185863"/>
            <a:ext cx="262318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间</a:t>
            </a: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房间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3127" y="1485602"/>
            <a:ext cx="26231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 · 书房 · 浴室 · 洗手间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1875979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1948904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3127" y="1948904"/>
            <a:ext cx="136017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层</a:t>
            </a: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楼层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3127" y="2248644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这个房子有三层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639020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2711946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03127" y="2711946"/>
            <a:ext cx="58293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辆</a:t>
            </a: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3127" y="3011686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两辆车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402062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474988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03127" y="3474988"/>
            <a:ext cx="204025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张</a:t>
            </a: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平的东西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3127" y="3774728"/>
            <a:ext cx="2040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 · 床 · 书桌 · 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165104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238030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03127" y="4238030"/>
            <a:ext cx="194310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台</a:t>
            </a: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机器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03127" y="453777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 · 电脑 · 洗衣机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4928146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96826" y="5001071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03127" y="5001071"/>
            <a:ext cx="330327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个</a:t>
            </a: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其他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03127" y="5300811"/>
            <a:ext cx="33032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 · 电视柜 · 冰箱 · 花园 · 车库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9600" y="57419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老师念，全班写，数三下一起举。举起来以后老师才说答案。全班对的不到七成就停下来，同一类再来两个。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648" y="176213"/>
            <a:ext cx="511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8513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5157"/>
            <a:ext cx="10972800" cy="1713161"/>
          </a:xfrm>
          <a:prstGeom prst="roundRect">
            <a:avLst>
              <a:gd name="adj" fmla="val 667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不要填空——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写规律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。每一个量词写出它管的是哪一类，再各举两个词，其中至少一个不在题目上。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然后找出题目里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可以配两个量词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的那两个词，说说差别在哪儿。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5061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 = 平的、有面的东西：一张沙发、一张地图。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1957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翻译 · You Do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094" y="176213"/>
            <a:ext cx="510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1126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课本 P.134 第 4 题 · 九句，英译中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11288"/>
            <a:ext cx="10972800" cy="1531590"/>
          </a:xfrm>
          <a:prstGeom prst="roundRect">
            <a:avLst>
              <a:gd name="adj" fmla="val 7463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45893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安静，自己做，写在纸上。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80436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每一句旁边写一个字：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或者 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——标出你用的是哪条规律。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14979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做完全班一起对，自己改自己的。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920579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11733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380756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做完九句，自己再写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三句英文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，要故意设陷阱，让同学容易选错「有」还是「在」。跟同伴交换，互相批改。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4568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写汉字 · 练习册 p.157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499" y="176213"/>
            <a:ext cx="5115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0653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笔顺 · 每个字写三遍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06562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1430387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736675" y="1654225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01826" y="1654225"/>
            <a:ext cx="2178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左边两点水，不是三点水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6424" y="158755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55325" y="158755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44225" y="158755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2357438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7725" y="2481263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箱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736675" y="2705100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01826" y="2705100"/>
            <a:ext cx="3564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竹字头，下面「相」——笔画多，慢慢来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66424" y="26384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55325" y="26384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44225" y="26384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3408313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47725" y="3532138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1736675" y="3755975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01826" y="3755975"/>
            <a:ext cx="2178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左边火字旁，右边「考」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66424" y="368930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455325" y="368930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44225" y="368930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600" y="4459188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47725" y="4583013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炉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1736675" y="4806851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画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701826" y="4806851"/>
            <a:ext cx="2178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左边火字旁，右边「户」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66424" y="474017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55325" y="474017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944225" y="474017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9600" y="55481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「冰」是两点水，「洗」是三点水——这两个今天都在屏幕上，正好比一比。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0859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说不出来就坐下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648" y="176213"/>
            <a:ext cx="511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446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课本 P.135 第 6 题 · 全班站起来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14488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2551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725513"/>
            <a:ext cx="420681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老师说一个英文词，点到谁，谁用中文说出来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2060674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第十三课和第十四课的词都可以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514600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62562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625626"/>
            <a:ext cx="29448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说错，或者三秒说不出来，坐下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960787"/>
            <a:ext cx="29448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最后还站着的三个人赢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14713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525738"/>
            <a:ext cx="378631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：剩下不到八个人的时候换规则——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860899"/>
            <a:ext cx="3786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老师说</a:t>
            </a: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</a:t>
            </a:r>
            <a:r>
              <a:rPr lang="en-US" sz="15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，学生要给一个配得上的词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314825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42585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425851"/>
            <a:ext cx="483786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而且要用它说一句完整的话，一个词全场只能用一次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761012"/>
            <a:ext cx="48378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「一张……」→ 一张沙发，客厅里有一张沙发。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2402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不用准备任何东西——老师看总览页和第十三课的房间表就行。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1904" y="176213"/>
            <a:ext cx="5121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26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全班齐读三条。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一条一条举大拇指。第三条要特别看——「有／在」如果还不稳，下节课的复习就从它开始。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两题，写在同一张纸条上。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离开大家共用的房间，进你自己的卧室——书桌、椅子，还有一个几乎只给椅子用的量词。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出门条：① 厨房里有什么？一句话，三样东西。　② 「洗衣机」的量词。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2026-09-15T04:30:23Z</dcterms:created>
  <dcterms:modified xsi:type="dcterms:W3CDTF">2026-09-15T04:30:23Z</dcterms:modified>
</cp:coreProperties>
</file>