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5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354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第十四课 · 家具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5700" y="176213"/>
            <a:ext cx="3757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P.136 · P.140 · P.141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我要买衣柜，应该上几楼？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Buying Furniture, Describing a House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14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302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抢答 · 90 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6560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92585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485" y="1732211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44701" y="1392585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3585" y="1732211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79950" y="1392585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8836" y="1732211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051" y="1392585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33935" y="1732211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50301" y="1392585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69186" y="1732211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9600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8485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844701" y="2808387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63585" y="3148013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079950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98836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315051" y="2808387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33935" y="3148013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550301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669186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09600" y="4224189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8485" y="4563814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2844701" y="4224189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63585" y="4563814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5079950" y="4224189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98836" y="4563814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315051" y="4224189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433935" y="4563814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衣柜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550301" y="4224189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669186" y="4563814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09600" y="558924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先把这一页换成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只有图、编号 1–15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，九十秒写出中文，量词也要写。写得最多的念一遍，全班一起补。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改一改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995" y="176213"/>
            <a:ext cx="4009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194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 · 五节课各挑一个最常错的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98923"/>
            <a:ext cx="34543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213223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我的房间有一个椅子。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59052" y="2098923"/>
            <a:ext cx="34543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202" y="2213223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我的房间有一把椅子。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92703" y="2313236"/>
            <a:ext cx="95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椅子用「把」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035350"/>
            <a:ext cx="25399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149650"/>
            <a:ext cx="21762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洗衣机有厨房。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44652" y="3035350"/>
            <a:ext cx="31495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7802" y="3149650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洗衣机在厨房里面。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73503" y="3249662"/>
            <a:ext cx="2802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已知的东西找地方 → 在，而且要方位词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3971776"/>
            <a:ext cx="25399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4086076"/>
            <a:ext cx="21762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你有不有书架？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44652" y="3971776"/>
            <a:ext cx="25399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47802" y="4086076"/>
            <a:ext cx="21762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你有没有书架？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63903" y="4186089"/>
            <a:ext cx="2061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「有」配「没」，不配「不」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488290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这三条正好是单元测验最爱考的三条。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ask which floor of a store sells what we want, and describe a furnished house to the class.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367716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which floor sells something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36771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会问「我要买衣柜，应该上几楼？」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308664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direct someone to a floor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3086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会答「请上三楼」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622718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describe a room out loud for a minute, without reading 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62271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能不看稿，用中文说一分钟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8718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今天没有生词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今天一个新词都没有</a:t>
            </a:r>
            <a:endParaRPr lang="en-US" sz="1100" dirty="0"/>
          </a:p>
        </p:txBody>
      </p:sp>
      <p:pic>
        <p:nvPicPr>
          <p:cNvPr id="9" name="Image 0" descr="/var/folders/6c/210dcgxn4gz5sm71vld2cy1h0000gn/T/tmp.emPkXuZ1Lq/img/jiaju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44003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应该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第四单元学的。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楼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几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第十三课学的。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78546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请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七年级就学了。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130897"/>
            <a:ext cx="8031531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所以今天这个句型，是用你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已经有的零件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拼出来的——这正是学到现在最该注意的一件事。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82175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屏幕上的十五个词也一个不少，整节课都留着。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29413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我要买衣柜，应该上几楼？　——　请上三楼。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25736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 all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931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emPkXuZ1Lq/img/sha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315" y="1776561"/>
            <a:ext cx="507950" cy="5079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2965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193429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emPkXuZ1Lq/img/chaj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144" y="1776561"/>
            <a:ext cx="507950" cy="507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86794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777258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emPkXuZ1Lq/img/dianshigu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973" y="1776561"/>
            <a:ext cx="507950" cy="5079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50072" y="2335262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5361087" y="1690836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975152" y="1776561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945064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var/folders/6c/210dcgxn4gz5sm71vld2cy1h0000gn/T/tmp.emPkXuZ1Lq/img/kongti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779" y="1776561"/>
            <a:ext cx="507950" cy="5079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8430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8528893" y="1690836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var/folders/6c/210dcgxn4gz5sm71vld2cy1h0000gn/T/tmp.emPkXuZ1Lq/img/xiyij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608" y="1776561"/>
            <a:ext cx="507950" cy="5079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01708" y="2335262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10112722" y="1690836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/var/folders/6c/210dcgxn4gz5sm71vld2cy1h0000gn/T/tmp.emPkXuZ1Lq/img/limi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3586" y="1776561"/>
            <a:ext cx="507950" cy="5079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606236" y="2335262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609600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6" descr="/var/folders/6c/210dcgxn4gz5sm71vld2cy1h0000gn/T/tmp.emPkXuZ1Lq/img/bingxia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315" y="2963912"/>
            <a:ext cx="507950" cy="5079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02965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</a:t>
            </a:r>
            <a:endParaRPr lang="en-US" sz="1900" dirty="0"/>
          </a:p>
        </p:txBody>
      </p:sp>
      <p:sp>
        <p:nvSpPr>
          <p:cNvPr id="32" name="Text 23"/>
          <p:cNvSpPr/>
          <p:nvPr/>
        </p:nvSpPr>
        <p:spPr>
          <a:xfrm>
            <a:off x="2193429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7" descr="/var/folders/6c/210dcgxn4gz5sm71vld2cy1h0000gn/T/tmp.emPkXuZ1Lq/img/kaoxia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4144" y="2963912"/>
            <a:ext cx="507950" cy="50795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686794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1900" dirty="0"/>
          </a:p>
        </p:txBody>
      </p:sp>
      <p:sp>
        <p:nvSpPr>
          <p:cNvPr id="35" name="Text 25"/>
          <p:cNvSpPr/>
          <p:nvPr/>
        </p:nvSpPr>
        <p:spPr>
          <a:xfrm>
            <a:off x="3777258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8" descr="/var/folders/6c/210dcgxn4gz5sm71vld2cy1h0000gn/T/tmp.emPkXuZ1Lq/img/dianlu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7973" y="2963912"/>
            <a:ext cx="507950" cy="5079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270623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电炉</a:t>
            </a:r>
            <a:endParaRPr lang="en-US" sz="1900" dirty="0"/>
          </a:p>
        </p:txBody>
      </p:sp>
      <p:sp>
        <p:nvSpPr>
          <p:cNvPr id="38" name="Text 27"/>
          <p:cNvSpPr/>
          <p:nvPr/>
        </p:nvSpPr>
        <p:spPr>
          <a:xfrm>
            <a:off x="5361087" y="2878187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9" descr="/var/folders/6c/210dcgxn4gz5sm71vld2cy1h0000gn/T/tmp.emPkXuZ1Lq/img/yiz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1950" y="2963912"/>
            <a:ext cx="507950" cy="50795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854601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1900" dirty="0"/>
          </a:p>
        </p:txBody>
      </p:sp>
      <p:sp>
        <p:nvSpPr>
          <p:cNvPr id="41" name="Text 29"/>
          <p:cNvSpPr/>
          <p:nvPr/>
        </p:nvSpPr>
        <p:spPr>
          <a:xfrm>
            <a:off x="6945064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0"/>
          <p:cNvSpPr/>
          <p:nvPr/>
        </p:nvSpPr>
        <p:spPr>
          <a:xfrm>
            <a:off x="7559129" y="2963912"/>
            <a:ext cx="2462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endParaRPr lang="en-US" sz="1900" dirty="0"/>
          </a:p>
        </p:txBody>
      </p:sp>
      <p:sp>
        <p:nvSpPr>
          <p:cNvPr id="43" name="Text 31"/>
          <p:cNvSpPr/>
          <p:nvPr/>
        </p:nvSpPr>
        <p:spPr>
          <a:xfrm>
            <a:off x="8528893" y="2878187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10" descr="/var/folders/6c/210dcgxn4gz5sm71vld2cy1h0000gn/T/tmp.emPkXuZ1Lq/img/shuzhu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9608" y="2963912"/>
            <a:ext cx="507950" cy="50795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9022259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书桌</a:t>
            </a:r>
            <a:endParaRPr lang="en-US" sz="1900" dirty="0"/>
          </a:p>
        </p:txBody>
      </p:sp>
      <p:sp>
        <p:nvSpPr>
          <p:cNvPr id="46" name="Text 33"/>
          <p:cNvSpPr/>
          <p:nvPr/>
        </p:nvSpPr>
        <p:spPr>
          <a:xfrm>
            <a:off x="10112722" y="2878187"/>
            <a:ext cx="1469678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11" descr="/var/folders/6c/210dcgxn4gz5sm71vld2cy1h0000gn/T/tmp.emPkXuZ1Lq/img/yigui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3586" y="2963912"/>
            <a:ext cx="507950" cy="50795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0606236" y="3522613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衣柜</a:t>
            </a:r>
            <a:endParaRPr lang="en-US" sz="1900" dirty="0"/>
          </a:p>
        </p:txBody>
      </p:sp>
      <p:sp>
        <p:nvSpPr>
          <p:cNvPr id="49" name="Text 35"/>
          <p:cNvSpPr/>
          <p:nvPr/>
        </p:nvSpPr>
        <p:spPr>
          <a:xfrm>
            <a:off x="609600" y="4065538"/>
            <a:ext cx="1469529" cy="1073051"/>
          </a:xfrm>
          <a:prstGeom prst="roundRect">
            <a:avLst>
              <a:gd name="adj" fmla="val 1065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12" descr="/var/folders/6c/210dcgxn4gz5sm71vld2cy1h0000gn/T/tmp.emPkXuZ1Lq/img/shuji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315" y="4151263"/>
            <a:ext cx="507950" cy="50795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1102965" y="4709964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</a:t>
            </a:r>
            <a:endParaRPr lang="en-US" sz="1900" dirty="0"/>
          </a:p>
        </p:txBody>
      </p:sp>
      <p:sp>
        <p:nvSpPr>
          <p:cNvPr id="52" name="Text 37"/>
          <p:cNvSpPr/>
          <p:nvPr/>
        </p:nvSpPr>
        <p:spPr>
          <a:xfrm>
            <a:off x="609600" y="526553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第十四课全部生词。今天三个活动都要用到它们——全部。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571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4982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在家具店问路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49846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59396"/>
            <a:ext cx="1053160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（请问，）我要买 ＋ 东西 ＋ ，应该上几楼？　→　请上 ＋ 数字 ＋ 楼。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213404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29597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295971"/>
            <a:ext cx="57127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我要买衣柜，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应该上几楼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 —— 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请上三楼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34121"/>
            <a:ext cx="57127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basic exchange, straight from p.136.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3285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49478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494782"/>
            <a:ext cx="57127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我要买冰箱，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应该上几楼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 —— 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请上四楼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32932"/>
            <a:ext cx="57127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frame, different item and floor.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3166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69359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693593"/>
            <a:ext cx="60806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，你们有没有书架？ —— 有，在二楼。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31743"/>
            <a:ext cx="608068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Opening with 请问, and last lesson's V-not-V carried straight in.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0502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请问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是跟陌生人开口之前那一句。第十五课问路的时候，它会一直出现。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250" y="176213"/>
            <a:ext cx="40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一次买两样，回答要把两样都处理掉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请问，我要买一张书桌和一把椅子，应该上几楼？　——　书桌在三楼，椅子也在三楼，请上三楼。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Excuse me, I want to buy a desk and a chair — which floor should I go to? — Desks are on the third floor and chairs are too, so please go to the third.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两样东西、两个量词，答话要先说清楚各在几楼，再给一句结论。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02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对话 · 课本 p.136 第 8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638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老师先跟一个同学演两遍，再全班齐读，再两人练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63911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2583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1227" y="1925836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请问，我要买沙发，应该上几楼？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2589312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5123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41227" y="2751237"/>
            <a:ext cx="13601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请上二楼。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34147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766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41227" y="3576638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我还要买一个冰箱，应该上几楼？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42401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4020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41227" y="4402038"/>
            <a:ext cx="2992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冰箱在四楼，请上四楼。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09600" y="50909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两人练的时候，四轮，每轮换一样东西——从总览页上挑，不许重复。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31089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怎么问「在几楼」？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全班一起说。再说一次，这次买冰箱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39791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Please go to the fourth floor.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3979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1686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　我要买衣柜，应该几楼？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5168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少了一个字，少了哪个？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48966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点三个同学，各说一样东西，全班答几楼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48966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答案是你们自己定的，只要说得出来就算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9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7955" y="176213"/>
            <a:ext cx="4346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两人开一家四层的家具店</a:t>
            </a:r>
            <a:endParaRPr lang="en-US" sz="1100" dirty="0"/>
          </a:p>
        </p:txBody>
      </p:sp>
      <p:pic>
        <p:nvPicPr>
          <p:cNvPr id="9" name="Image 0" descr="/var/folders/6c/210dcgxn4gz5sm71vld2cy1h0000gn/T/tmp.emPkXuZ1Lq/img/jiaju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61267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分钟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把总览页上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十五个词全部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分到四层楼去——一个都不能落下。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95810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每一层用中文写一个名字，写得出理由才算数。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30353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分钟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照你们自己的楼层表，写三组完整的问答。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64896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请两组念自己的楼层表，全班检查有没有漏掉的词。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12134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我要买书架，应该上几楼？　——　请上三楼。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231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2343"/>
            <a:ext cx="10972800" cy="2458641"/>
          </a:xfrm>
          <a:prstGeom prst="roundRect">
            <a:avLst>
              <a:gd name="adj" fmla="val 464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5999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开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五层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，第五层专门放「哪儿都不属于」的东西。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0542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用中文给第五层起个名字，还要替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两样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东西辩护，说明为什么放在那儿。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5085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再写一组客人要买你们店里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的东西的对话，并且回答他。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72323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电视柜不是厨房的东西，也不是卧室的东西，所以在五楼。　／　对不起，我们没有……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953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角色扮演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249" y="176213"/>
            <a:ext cx="4598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44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一个当客人，一个当店员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14488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2551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25513"/>
            <a:ext cx="3575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老师发给每组一张纸条，上面四样东西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60674"/>
            <a:ext cx="3575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每组的四样不一样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14600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2562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25626"/>
            <a:ext cx="33655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客人问四次，然后换角色，再换四样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60787"/>
            <a:ext cx="3365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开口一定要说「请问」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14713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25738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回答不能只说数字，要说一整句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860899"/>
            <a:ext cx="29448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✗ 三楼　　✓ 请上三楼。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314825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42585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425851"/>
            <a:ext cx="39965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老师走动，把楼层表从说得出来的那组收走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761012"/>
            <a:ext cx="39965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留给还需要看的那组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2402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纸条提前写好——每组四样，从十五个词里挑。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2063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客人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不说东西的名字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——只描述它，店员要先猜出来才能回答。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店员回答的时候，东西的名字和楼层都要说出来。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然后店员还要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多卖他一样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他本来没打算买的东西。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我要买一个大的，可以放很多书，在房间里面。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4862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看图说话 · You Do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课本 P.140 第 15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分钟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安静，看图写五到六句：房间、家具、位置、大小。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然后把书合上，图翻过去。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分钟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两人一组，一个人凭记忆说出来，另一个人数他用了几个生词（十五个里的）。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每组数得最多的那一个，说给全班听。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客厅不算大，里面有一张沙发和一个茶几，电视在电视柜上面。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059" y="176213"/>
            <a:ext cx="4610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669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66938"/>
            <a:ext cx="10972800" cy="2749451"/>
          </a:xfrm>
          <a:prstGeom prst="roundRect">
            <a:avLst>
              <a:gd name="adj" fmla="val 4157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145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不说图上的房子——说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你自己家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，而且要站起来对全班说满一分钟，不看纸。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开头先说房子（第十三课：层、楼上、楼下），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每个房间用「有」请东西进来，至少三样东西用「在」摆好位置，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最后用「不算大」或者「特别」下一个判断。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79630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说完，接受全班两个「V 不 V」提问，并且回答。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3450" y="426868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我家的房子有两层，楼下有客厅和厨房……我的房间不算大，可是我特别喜欢。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7923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问题卡 · 课本 p.141 第 17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164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七组问题 · 课本 P.141 第 17 题 · 六节课走一遍，游戏接不上时用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16509"/>
            <a:ext cx="10972800" cy="671215"/>
          </a:xfrm>
          <a:prstGeom prst="roundRect">
            <a:avLst>
              <a:gd name="adj" fmla="val 94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64134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3127" y="1164134"/>
            <a:ext cx="181300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你有没有自己的房间？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3127" y="1463873"/>
            <a:ext cx="181300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第五节课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1813024"/>
            <a:ext cx="10972800" cy="671215"/>
          </a:xfrm>
          <a:prstGeom prst="roundRect">
            <a:avLst>
              <a:gd name="adj" fmla="val 94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1860649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3127" y="1860649"/>
            <a:ext cx="163174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你的房间里有什么？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3127" y="2160389"/>
            <a:ext cx="16317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带量词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509540"/>
            <a:ext cx="10972800" cy="671215"/>
          </a:xfrm>
          <a:prstGeom prst="roundRect">
            <a:avLst>
              <a:gd name="adj" fmla="val 94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2557165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3127" y="2557165"/>
            <a:ext cx="184609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你的房间大不大？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3127" y="2856905"/>
            <a:ext cx="184609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不算大 ／ 不大也不小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206055"/>
            <a:ext cx="10972800" cy="671215"/>
          </a:xfrm>
          <a:prstGeom prst="roundRect">
            <a:avLst>
              <a:gd name="adj" fmla="val 94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253680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3127" y="3253680"/>
            <a:ext cx="163174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你的书桌上有什么？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3127" y="3553420"/>
            <a:ext cx="16317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用「在」说位置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3902571"/>
            <a:ext cx="10972800" cy="671215"/>
          </a:xfrm>
          <a:prstGeom prst="roundRect">
            <a:avLst>
              <a:gd name="adj" fmla="val 94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3950196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03127" y="3950196"/>
            <a:ext cx="199425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你们家的客厅里有什么？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3127" y="4249936"/>
            <a:ext cx="199425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第一、二节课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4599087"/>
            <a:ext cx="10972800" cy="671215"/>
          </a:xfrm>
          <a:prstGeom prst="roundRect">
            <a:avLst>
              <a:gd name="adj" fmla="val 94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6826" y="4646712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03127" y="4646712"/>
            <a:ext cx="21755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你们家的厨房里面有什么？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03127" y="4946452"/>
            <a:ext cx="21755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第三节课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9600" y="5295602"/>
            <a:ext cx="10972800" cy="671215"/>
          </a:xfrm>
          <a:prstGeom prst="roundRect">
            <a:avLst>
              <a:gd name="adj" fmla="val 94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96826" y="5343227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203127" y="5343227"/>
            <a:ext cx="235692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你想不想买新家具？买什么？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03127" y="5642967"/>
            <a:ext cx="23569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「V 不 V」＋ 总览页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7683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猜我要买什么 · 3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4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从总览页挑一样，让全班猜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95438"/>
            <a:ext cx="10972800" cy="833438"/>
          </a:xfrm>
          <a:prstGeom prst="roundRect">
            <a:avLst>
              <a:gd name="adj" fmla="val 761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0646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06463"/>
            <a:ext cx="31089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一个同学心里挑一样，不说出来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41624"/>
            <a:ext cx="31089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全班提问，只能用中文，最多二十个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05075"/>
            <a:ext cx="10972800" cy="833438"/>
          </a:xfrm>
          <a:prstGeom prst="roundRect">
            <a:avLst>
              <a:gd name="adj" fmla="val 761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1610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16101"/>
            <a:ext cx="414472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是不是厨房的东西？　有没有门？　大不大？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51262"/>
            <a:ext cx="414472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猜中换人，玩两三轮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14713"/>
            <a:ext cx="10972800" cy="833438"/>
          </a:xfrm>
          <a:prstGeom prst="roundRect">
            <a:avLst>
              <a:gd name="adj" fmla="val 761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25738"/>
            <a:ext cx="435208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：回答的人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不能说「是」也不能说「不是」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860899"/>
            <a:ext cx="435208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每次都要说一整句，给一点消息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324350"/>
            <a:ext cx="10972800" cy="833438"/>
          </a:xfrm>
          <a:prstGeom prst="roundRect">
            <a:avLst>
              <a:gd name="adj" fmla="val 761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43537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435376"/>
            <a:ext cx="291465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而且提问只能用「V 不 V」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770537"/>
            <a:ext cx="2914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问成「……吗？」的，这一轮作废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25928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什么都不用准备。问题接不上的时候，用上一页的七组问题。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六节课一起看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1910" y="176213"/>
            <a:ext cx="4611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688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 · 这一次看的是整课，不只是今天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6912"/>
            <a:ext cx="10972800" cy="3149501"/>
          </a:xfrm>
          <a:prstGeom prst="roundRect">
            <a:avLst>
              <a:gd name="adj" fmla="val 362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1456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把六节课的 success criteria 一起放上来，一节课一节课念——一共十八条。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559993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小白板上画六行，一行一节课：👍 / 😐 / 👎。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收上来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——这是单元测验之前你能拿到的、最清楚的一张全班情况表。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5085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两行，写在同一张纸条上。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59628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第十五课，我们出门——社区、商店、有多远、怎么去。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6866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出门条：① 我要买 ______，应该上几楼？　② 用一句话说你家的任何一个房间，量词要对。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2026-09-15T04:14:12Z</dcterms:created>
  <dcterms:modified xsi:type="dcterms:W3CDTF">2026-09-15T04:14:12Z</dcterms:modified>
</cp:coreProperties>
</file>