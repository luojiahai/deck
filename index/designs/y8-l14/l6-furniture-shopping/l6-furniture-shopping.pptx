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45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6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4354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· 家具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16593" y="176213"/>
            <a:ext cx="3748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P.136 · P.140 · P.141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我要买衣柜，应该上几楼？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Buying Furniture, Describing a House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14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3026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抢答 · 90 秒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441" y="176213"/>
            <a:ext cx="400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6560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8485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44701" y="1392585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963585" y="1732211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79950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98836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315051" y="1392585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33935" y="1732211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550301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669186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0960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8485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84470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6358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07995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9883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31505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3393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50301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66918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09600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8485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2844701" y="4224189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963585" y="4563814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5079950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198836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7315051" y="4224189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433935" y="4563814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9550301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669186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609600" y="558924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先把这一页换成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只有图、编号 1–15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，九十秒写出中文，量词也要写。写得最多的念一遍，全班一起补。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改一改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888" y="176213"/>
            <a:ext cx="4000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7194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三句 · 五节课各挑一个最常错的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98923"/>
            <a:ext cx="34543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213223"/>
            <a:ext cx="31089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我的房间有一个椅子。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59052" y="2098923"/>
            <a:ext cx="34543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62202" y="2213223"/>
            <a:ext cx="31089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我的房间有一把椅子。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92703" y="2313236"/>
            <a:ext cx="95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椅子用「把」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035350"/>
            <a:ext cx="25399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3149650"/>
            <a:ext cx="21762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洗衣机有厨房。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644652" y="3035350"/>
            <a:ext cx="31495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47802" y="3149650"/>
            <a:ext cx="27980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洗衣机在厨房里面。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073503" y="3249662"/>
            <a:ext cx="28021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已知的东西找地方 → 在，而且要方位词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3971776"/>
            <a:ext cx="25399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2750" y="4086076"/>
            <a:ext cx="21762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你有不有书架？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644652" y="3971776"/>
            <a:ext cx="25399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847802" y="4086076"/>
            <a:ext cx="21762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你有没有书架？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463903" y="4186089"/>
            <a:ext cx="2061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「有」配「没」，不配「不」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9600" y="4882902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这三条正好是单元测验最爱考的三条。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292" y="176213"/>
            <a:ext cx="4006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990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99108"/>
            <a:ext cx="10972800" cy="1149251"/>
          </a:xfrm>
          <a:prstGeom prst="roundRect">
            <a:avLst>
              <a:gd name="adj" fmla="val 994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408658"/>
            <a:ext cx="10531602" cy="730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ask which floor of a store sells what we want, and describe a furnished house to the class.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50075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802285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96421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964210"/>
            <a:ext cx="367716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ask which floor sells something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299371"/>
            <a:ext cx="36771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会问「我要买衣柜，应该上几楼？」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8803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40423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4042321"/>
            <a:ext cx="308664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direct someone to a floor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377482"/>
            <a:ext cx="30866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会答「请上三楼」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9585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51204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5120432"/>
            <a:ext cx="622718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describe a room out loud for a minute, without reading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455593"/>
            <a:ext cx="62271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能不看稿，用中文说一分钟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8718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今天没有生词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441" y="176213"/>
            <a:ext cx="400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今天一个新词都没有</a:t>
            </a:r>
            <a:endParaRPr lang="en-US" sz="1100" dirty="0"/>
          </a:p>
        </p:txBody>
      </p:sp>
      <p:pic>
        <p:nvPicPr>
          <p:cNvPr id="9" name="Image 0" descr="/var/folders/6c/210dcgxn4gz5sm71vld2cy1h0000gn/T/tmp.owmCEDjpXl/img/jiajud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44003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应该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第四单元学的。 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楼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几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第十三课学的。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78546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请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七年级就学了。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130897"/>
            <a:ext cx="8031531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所以今天这个句型，是用你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已经有的零件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拼出来的——这正是学到现在最该注意的一件事。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82175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屏幕上的十五个词也一个不少，整节课都留着。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29413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我要买衣柜，应该上几楼？　——　请上三楼。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25736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 all lesson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0697" y="176213"/>
            <a:ext cx="4012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8931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owmCEDjpXl/img/shaf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315" y="1776561"/>
            <a:ext cx="507950" cy="5079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02965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2193429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owmCEDjpXl/img/cha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144" y="1776561"/>
            <a:ext cx="507950" cy="5079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86794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3777258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owmCEDjpXl/img/dianshigu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973" y="1776561"/>
            <a:ext cx="507950" cy="5079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150072" y="2335262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5361087" y="1690836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5975152" y="1776561"/>
            <a:ext cx="2462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6945064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var/folders/6c/210dcgxn4gz5sm71vld2cy1h0000gn/T/tmp.owmCEDjpXl/img/kongtia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5779" y="1776561"/>
            <a:ext cx="507950" cy="5079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38430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8528893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4" descr="/var/folders/6c/210dcgxn4gz5sm71vld2cy1h0000gn/T/tmp.owmCEDjpXl/img/xiyij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9608" y="1776561"/>
            <a:ext cx="507950" cy="50795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901708" y="2335262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1900" dirty="0"/>
          </a:p>
        </p:txBody>
      </p:sp>
      <p:sp>
        <p:nvSpPr>
          <p:cNvPr id="26" name="Text 19"/>
          <p:cNvSpPr/>
          <p:nvPr/>
        </p:nvSpPr>
        <p:spPr>
          <a:xfrm>
            <a:off x="10112722" y="1690836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7" name="Image 5" descr="/var/folders/6c/210dcgxn4gz5sm71vld2cy1h0000gn/T/tmp.owmCEDjpXl/img/limi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3586" y="1776561"/>
            <a:ext cx="507950" cy="50795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0606236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1900" dirty="0"/>
          </a:p>
        </p:txBody>
      </p:sp>
      <p:sp>
        <p:nvSpPr>
          <p:cNvPr id="29" name="Text 21"/>
          <p:cNvSpPr/>
          <p:nvPr/>
        </p:nvSpPr>
        <p:spPr>
          <a:xfrm>
            <a:off x="609600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6" descr="/var/folders/6c/210dcgxn4gz5sm71vld2cy1h0000gn/T/tmp.owmCEDjpXl/img/bingxia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0315" y="2963912"/>
            <a:ext cx="507950" cy="50795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102965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1900" dirty="0"/>
          </a:p>
        </p:txBody>
      </p:sp>
      <p:sp>
        <p:nvSpPr>
          <p:cNvPr id="32" name="Text 23"/>
          <p:cNvSpPr/>
          <p:nvPr/>
        </p:nvSpPr>
        <p:spPr>
          <a:xfrm>
            <a:off x="2193429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3" name="Image 7" descr="/var/folders/6c/210dcgxn4gz5sm71vld2cy1h0000gn/T/tmp.owmCEDjpXl/img/kaoxian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4144" y="2963912"/>
            <a:ext cx="507950" cy="50795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2686794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1900" dirty="0"/>
          </a:p>
        </p:txBody>
      </p:sp>
      <p:sp>
        <p:nvSpPr>
          <p:cNvPr id="35" name="Text 25"/>
          <p:cNvSpPr/>
          <p:nvPr/>
        </p:nvSpPr>
        <p:spPr>
          <a:xfrm>
            <a:off x="3777258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8" descr="/var/folders/6c/210dcgxn4gz5sm71vld2cy1h0000gn/T/tmp.owmCEDjpXl/img/dianlu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7973" y="2963912"/>
            <a:ext cx="507950" cy="50795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4270623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1900" dirty="0"/>
          </a:p>
        </p:txBody>
      </p:sp>
      <p:sp>
        <p:nvSpPr>
          <p:cNvPr id="38" name="Text 27"/>
          <p:cNvSpPr/>
          <p:nvPr/>
        </p:nvSpPr>
        <p:spPr>
          <a:xfrm>
            <a:off x="5361087" y="2878187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9" name="Image 9" descr="/var/folders/6c/210dcgxn4gz5sm71vld2cy1h0000gn/T/tmp.owmCEDjpXl/img/yiz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1950" y="2963912"/>
            <a:ext cx="507950" cy="50795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5854601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1900" dirty="0"/>
          </a:p>
        </p:txBody>
      </p:sp>
      <p:sp>
        <p:nvSpPr>
          <p:cNvPr id="41" name="Text 29"/>
          <p:cNvSpPr/>
          <p:nvPr/>
        </p:nvSpPr>
        <p:spPr>
          <a:xfrm>
            <a:off x="6945064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0"/>
          <p:cNvSpPr/>
          <p:nvPr/>
        </p:nvSpPr>
        <p:spPr>
          <a:xfrm>
            <a:off x="7559129" y="2963912"/>
            <a:ext cx="2462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1900" dirty="0"/>
          </a:p>
        </p:txBody>
      </p:sp>
      <p:sp>
        <p:nvSpPr>
          <p:cNvPr id="43" name="Text 31"/>
          <p:cNvSpPr/>
          <p:nvPr/>
        </p:nvSpPr>
        <p:spPr>
          <a:xfrm>
            <a:off x="8528893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4" name="Image 10" descr="/var/folders/6c/210dcgxn4gz5sm71vld2cy1h0000gn/T/tmp.owmCEDjpXl/img/shuzhu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09608" y="2963912"/>
            <a:ext cx="507950" cy="507950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9022259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endParaRPr lang="en-US" sz="1900" dirty="0"/>
          </a:p>
        </p:txBody>
      </p:sp>
      <p:sp>
        <p:nvSpPr>
          <p:cNvPr id="46" name="Text 33"/>
          <p:cNvSpPr/>
          <p:nvPr/>
        </p:nvSpPr>
        <p:spPr>
          <a:xfrm>
            <a:off x="10112722" y="2878187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7" name="Image 11" descr="/var/folders/6c/210dcgxn4gz5sm71vld2cy1h0000gn/T/tmp.owmCEDjpXl/img/yigui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93586" y="2963912"/>
            <a:ext cx="507950" cy="507950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10606236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endParaRPr lang="en-US" sz="1900" dirty="0"/>
          </a:p>
        </p:txBody>
      </p:sp>
      <p:sp>
        <p:nvSpPr>
          <p:cNvPr id="49" name="Text 35"/>
          <p:cNvSpPr/>
          <p:nvPr/>
        </p:nvSpPr>
        <p:spPr>
          <a:xfrm>
            <a:off x="609600" y="4065538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0" name="Image 12" descr="/var/folders/6c/210dcgxn4gz5sm71vld2cy1h0000gn/T/tmp.owmCEDjpXl/img/shuj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315" y="4151263"/>
            <a:ext cx="507950" cy="507950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1102965" y="4709964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endParaRPr lang="en-US" sz="1900" dirty="0"/>
          </a:p>
        </p:txBody>
      </p:sp>
      <p:sp>
        <p:nvSpPr>
          <p:cNvPr id="52" name="Text 37"/>
          <p:cNvSpPr/>
          <p:nvPr/>
        </p:nvSpPr>
        <p:spPr>
          <a:xfrm>
            <a:off x="609600" y="526553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第十四课全部生词。今天三个活动都要用到它们——全部。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7245" y="176213"/>
            <a:ext cx="3945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545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在家具店问路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54609"/>
            <a:ext cx="10972800" cy="847725"/>
          </a:xfrm>
          <a:prstGeom prst="roundRect">
            <a:avLst>
              <a:gd name="adj" fmla="val 13483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64159"/>
            <a:ext cx="1053160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（请问，）我要买 ＋ 东西 ＋ ，应该上几楼？　→　请上 ＋ 数字 ＋ 楼。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9600" y="2129284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291209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291209"/>
            <a:ext cx="571271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我要买衣柜，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应该上几楼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 —— 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请上三楼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29359"/>
            <a:ext cx="57127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basic exchange, straight from p.136.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2809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49002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490020"/>
            <a:ext cx="571271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我要买冰箱，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应该上几楼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 —— 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请上四楼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28170"/>
            <a:ext cx="57127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Same frame, different item and floor.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2690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68883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688830"/>
            <a:ext cx="641374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请问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，你们有没有书架？ —— 有，在二楼。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26980"/>
            <a:ext cx="641374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Opening with 请问, and last lesson's V-not-V carried straight in.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002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请问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是跟陌生人开口之前那一句。第十五课问路的时候，它会一直出现。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143" y="176213"/>
            <a:ext cx="4007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8952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一次买两样，回答要把两样都处理掉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89547"/>
            <a:ext cx="10972800" cy="1710630"/>
          </a:xfrm>
          <a:prstGeom prst="roundRect">
            <a:avLst>
              <a:gd name="adj" fmla="val 668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13397"/>
            <a:ext cx="10479988" cy="106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请问，我要买一张书桌和一把椅子，应该上几楼？　——　书桌在三楼，椅子也在三楼，请上三楼。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952577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Excuse me, I want to buy a desk and a chair — which floor should I go to? — Desks are on the third floor and chairs are too, so please go to the third.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76532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两样东西、两个量词，答话要先说清楚各在几楼，再给一句结论。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5684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对话 · 课本 p.136 第 8 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638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老师先跟一个同学演两遍，再全班齐读，再两人练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63911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25836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41227" y="1925836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请问，我要买沙发，应该上几楼？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" y="2589312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51237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41227" y="2751237"/>
            <a:ext cx="13601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请上二楼。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09600" y="34147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766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41227" y="3576638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我还要买一个冰箱，应该上几楼？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09600" y="42401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275" y="44020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41227" y="4402038"/>
            <a:ext cx="299237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冰箱在四楼，请上四楼。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09600" y="509096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两人练的时候，四轮，每轮换一样东西——从总览页上挑，不许重复。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4440" y="176213"/>
            <a:ext cx="4586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3108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怎么问「在几楼」？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31089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全班一起说。再说一次，这次买冰箱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39791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Please go to the fourth floor.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397910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516864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这句话对不对？　我要买衣柜，应该几楼？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516864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少了一个字，少了哪个？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48966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点三个同学，各说一样东西，全班答几楼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48966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答案是你们自己定的，只要说得出来就算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9434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两人开一家四层的家具店</a:t>
            </a:r>
            <a:endParaRPr lang="en-US" sz="1100" dirty="0"/>
          </a:p>
        </p:txBody>
      </p:sp>
      <p:pic>
        <p:nvPicPr>
          <p:cNvPr id="9" name="Image 0" descr="/var/folders/6c/210dcgxn4gz5sm71vld2cy1h0000gn/T/tmp.owmCEDjpXl/img/jiajud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61267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把总览页上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十五个词全部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分到四层楼去——一个都不能落下。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95810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每一层用中文写一个名字，写得出理由才算数。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30353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照你们自己的楼层表，写三组完整的问答。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64896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请两组念自己的楼层表，全班检查有没有漏掉的词。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12134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我要买书架，应该上几楼？　——　请上三楼。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696" y="176213"/>
            <a:ext cx="4593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231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2343"/>
            <a:ext cx="10972800" cy="2458641"/>
          </a:xfrm>
          <a:prstGeom prst="roundRect">
            <a:avLst>
              <a:gd name="adj" fmla="val 464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5999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开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五层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，第五层专门放「哪儿都不属于」的东西。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0542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用中文给第五层起个名字，还要替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两样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东西辩护，说明为什么放在那儿。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5085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再写一组客人要买你们店里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没有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的东西的对话，并且回答他。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723233"/>
            <a:ext cx="1053160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电视柜不是厨房的东西，也不是卧室的东西，所以在五楼。　／　对不起，我们没有……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7953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角色扮演 · 5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4142" y="176213"/>
            <a:ext cx="4589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1446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一个当客人，一个当店员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14488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72551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725513"/>
            <a:ext cx="357591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老师发给每组一张纸条，上面四样东西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060674"/>
            <a:ext cx="35759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每组的四样不一样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51460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625626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625626"/>
            <a:ext cx="336551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客人问四次，然后换角色，再换四样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960787"/>
            <a:ext cx="3365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开口一定要说「请问」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14713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5257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525738"/>
            <a:ext cx="294485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回答不能只说数字，要说一整句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860899"/>
            <a:ext cx="29448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✗ 三楼　　✓ 请上三楼。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314825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42585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4425851"/>
            <a:ext cx="399656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老师走动，把楼层表从说得出来的那组收走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761012"/>
            <a:ext cx="39965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留给还需要看的那组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2402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纸条提前写好——每组四样，从十五个词里挑。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547" y="176213"/>
            <a:ext cx="4595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123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12368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76001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客人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不说东西的名字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——只描述它，店员要先猜出来才能回答。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10544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店员回答的时候，东西的名字和楼层都要说出来。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45087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然后店员还要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多卖他一样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他本来没打算买的东西。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92325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我要买一个大的，可以放很多书，在房间里面。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22192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看图说话 · You Do · 6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课本 P.140 第 15 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安静，看图写五到六句：房间、家具、位置、大小。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然后把书合上，图翻过去。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两人一组，一个人凭记忆说出来，另一个人数他用了几个生词（十五个里的）。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每组数得最多的那一个，说给全班听。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客厅不算大，里面有一张沙发和一个茶几，电视在电视柜上面。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2952" y="176213"/>
            <a:ext cx="4601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6691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66938"/>
            <a:ext cx="10972800" cy="2749451"/>
          </a:xfrm>
          <a:prstGeom prst="roundRect">
            <a:avLst>
              <a:gd name="adj" fmla="val 4157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41458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不说图上的房子——说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你自己家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，而且要站起来对全班说满一分钟，不看纸。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76001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开头先说房子（第十三课：层、楼上、楼下），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10544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每个房间用「有」请东西进来，至少三样东西用「在」摆好位置，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45087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最后用「不算大」或者「特别」下一个判断。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379630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说完，接受全班两个「V 不 V」提问，并且回答。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33450" y="426868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我家的房子有两层，楼下有客厅和厨房……我的房间不算大，可是我特别喜欢。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749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问题卡 · 课本 p.141 第 17 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9500" y="176213"/>
            <a:ext cx="4534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4982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七组问题 · 课本 P.141 第 17 题 · 六节课走一遍，游戏接不上时用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49846"/>
            <a:ext cx="10972800" cy="661690"/>
          </a:xfrm>
          <a:prstGeom prst="roundRect">
            <a:avLst>
              <a:gd name="adj" fmla="val 95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197471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3127" y="1197471"/>
            <a:ext cx="1847463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你有没有自己的房间？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3127" y="1497211"/>
            <a:ext cx="18474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第五节课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1836837"/>
            <a:ext cx="10972800" cy="661690"/>
          </a:xfrm>
          <a:prstGeom prst="roundRect">
            <a:avLst>
              <a:gd name="adj" fmla="val 95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1884462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3127" y="1884462"/>
            <a:ext cx="166271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你的房间里有什么？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3127" y="2184202"/>
            <a:ext cx="1662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带量词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523827"/>
            <a:ext cx="10972800" cy="661690"/>
          </a:xfrm>
          <a:prstGeom prst="roundRect">
            <a:avLst>
              <a:gd name="adj" fmla="val 95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2571452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3127" y="2571452"/>
            <a:ext cx="184594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你的房间大不大？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03127" y="2871192"/>
            <a:ext cx="18459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不算大 ／ 不大也不小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210818"/>
            <a:ext cx="10972800" cy="661690"/>
          </a:xfrm>
          <a:prstGeom prst="roundRect">
            <a:avLst>
              <a:gd name="adj" fmla="val 95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258443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3127" y="3258443"/>
            <a:ext cx="166271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你的书桌上有什么？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3127" y="3558183"/>
            <a:ext cx="1662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用「在」说位置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3897809"/>
            <a:ext cx="10972800" cy="661690"/>
          </a:xfrm>
          <a:prstGeom prst="roundRect">
            <a:avLst>
              <a:gd name="adj" fmla="val 95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3945434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03127" y="3945434"/>
            <a:ext cx="2032209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你们家的客厅里有什么？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03127" y="4245173"/>
            <a:ext cx="20322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第一、二节课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4584799"/>
            <a:ext cx="10972800" cy="661690"/>
          </a:xfrm>
          <a:prstGeom prst="roundRect">
            <a:avLst>
              <a:gd name="adj" fmla="val 95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6826" y="4632424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03127" y="4632424"/>
            <a:ext cx="2216956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你们家的厨房里面有什么？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03127" y="4932164"/>
            <a:ext cx="22169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第三节课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9600" y="5271790"/>
            <a:ext cx="10972800" cy="661690"/>
          </a:xfrm>
          <a:prstGeom prst="roundRect">
            <a:avLst>
              <a:gd name="adj" fmla="val 95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96826" y="5319415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203127" y="5319415"/>
            <a:ext cx="240170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你想不想买新家具？买什么？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203127" y="5619155"/>
            <a:ext cx="24017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「V 不 V」＋ 总览页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22035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第一步 · 90 秒 · 先认清楚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398" y="176213"/>
            <a:ext cx="4596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023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独体字 · 这个单元课本教的八个 · UNIT 5'S SIMPLE CHARACTERS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03921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80466" y="1762571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光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80466" y="2389287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guāng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0466" y="2668637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light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0466" y="2979688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第十三课 p.126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90900" y="1603921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461766" y="1762571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金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461766" y="2389287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jīn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61766" y="2668637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61766" y="2979688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第十三课 p.126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72200" y="1603921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3066" y="1762571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匕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243066" y="2389287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bǐ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43066" y="2668637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dagger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43066" y="2979688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第十三课 p.126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53500" y="1603921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024366" y="1762571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入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9024366" y="2389287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024366" y="2668637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024366" y="2979688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第十三课 p.126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9600" y="3478113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0466" y="3636764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井</a:t>
            </a:r>
            <a:endParaRPr lang="en-US" sz="4200" dirty="0"/>
          </a:p>
        </p:txBody>
      </p:sp>
      <p:sp>
        <p:nvSpPr>
          <p:cNvPr id="31" name="Text 29"/>
          <p:cNvSpPr/>
          <p:nvPr/>
        </p:nvSpPr>
        <p:spPr>
          <a:xfrm>
            <a:off x="680466" y="4263479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jǐng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80466" y="4542830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0466" y="4853880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p.137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390900" y="3478113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461766" y="3636764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亡</a:t>
            </a:r>
            <a:endParaRPr lang="en-US" sz="4200" dirty="0"/>
          </a:p>
        </p:txBody>
      </p:sp>
      <p:sp>
        <p:nvSpPr>
          <p:cNvPr id="36" name="Text 34"/>
          <p:cNvSpPr/>
          <p:nvPr/>
        </p:nvSpPr>
        <p:spPr>
          <a:xfrm>
            <a:off x="3461766" y="4263479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wáng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461766" y="4542830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3461766" y="4853880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p.137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72200" y="3478113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3066" y="3636764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乌</a:t>
            </a:r>
            <a:endParaRPr lang="en-US" sz="4200" dirty="0"/>
          </a:p>
        </p:txBody>
      </p:sp>
      <p:sp>
        <p:nvSpPr>
          <p:cNvPr id="41" name="Text 39"/>
          <p:cNvSpPr/>
          <p:nvPr/>
        </p:nvSpPr>
        <p:spPr>
          <a:xfrm>
            <a:off x="6243066" y="4263479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wū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243066" y="4542830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black; dark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243066" y="4853880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p.137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953500" y="3478113"/>
            <a:ext cx="2628900" cy="1721793"/>
          </a:xfrm>
          <a:prstGeom prst="roundRect">
            <a:avLst>
              <a:gd name="adj" fmla="val 3688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9024366" y="3636764"/>
            <a:ext cx="2487168" cy="575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4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勺</a:t>
            </a:r>
            <a:endParaRPr lang="en-US" sz="4200" dirty="0"/>
          </a:p>
        </p:txBody>
      </p:sp>
      <p:sp>
        <p:nvSpPr>
          <p:cNvPr id="46" name="Text 44"/>
          <p:cNvSpPr/>
          <p:nvPr/>
        </p:nvSpPr>
        <p:spPr>
          <a:xfrm>
            <a:off x="9024366" y="4263479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sháo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024366" y="4542830"/>
            <a:ext cx="24871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14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spoon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024366" y="4853880"/>
            <a:ext cx="24871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1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p.137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9600" y="535230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这八个字，这个单元一直没教——现在看九十秒，因为下面两轮要用，单元测验也要用。有的就藏在后面那六个字里面。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3369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六节课一起看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696" y="176213"/>
            <a:ext cx="4593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6688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 · 这一次看的是整课，不只是今天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66912"/>
            <a:ext cx="10972800" cy="3149501"/>
          </a:xfrm>
          <a:prstGeom prst="roundRect">
            <a:avLst>
              <a:gd name="adj" fmla="val 362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21456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回看目标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把六节课的 success criteria 一起放上来，一节课一节课念——一共十八条。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559993"/>
            <a:ext cx="10531602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小白板上画六行，一行一节课：👍 / 😐 / 👎。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收上来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——这是单元测验之前你能拿到的、最清楚的一张全班情况表。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5085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两行，写在同一张纸条上。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59628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下一课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第十五课，我们出门——社区、商店、有多远、怎么去。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68663"/>
            <a:ext cx="1053160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出门条：① 我要买 ______，应该上几楼？　② 用一句话说你家的任何一个房间，量词要对。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65679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第二步 · 部首抢答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2803" y="176213"/>
            <a:ext cx="4602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9559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第一轮 · 写部首 · 四人一组，写在纸上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95624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每个字的部首是什么？写下来，再写它的意思。九十秒。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600" y="2390775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9525" y="2549426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704850" y="3530650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534" y="2390775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39459" y="2549426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厅</a:t>
            </a:r>
            <a:endParaRPr lang="en-US" sz="4400" dirty="0"/>
          </a:p>
        </p:txBody>
      </p:sp>
      <p:sp>
        <p:nvSpPr>
          <p:cNvPr id="15" name="Shape 13"/>
          <p:cNvSpPr/>
          <p:nvPr/>
        </p:nvSpPr>
        <p:spPr>
          <a:xfrm>
            <a:off x="2554784" y="3530650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09467" y="2390775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89392" y="2549426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辆</a:t>
            </a:r>
            <a:endParaRPr lang="en-US" sz="4400" dirty="0"/>
          </a:p>
        </p:txBody>
      </p:sp>
      <p:sp>
        <p:nvSpPr>
          <p:cNvPr id="18" name="Shape 16"/>
          <p:cNvSpPr/>
          <p:nvPr/>
        </p:nvSpPr>
        <p:spPr>
          <a:xfrm>
            <a:off x="4404717" y="3530650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59401" y="2390775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39326" y="2549426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</a:t>
            </a:r>
            <a:endParaRPr lang="en-US" sz="4400" dirty="0"/>
          </a:p>
        </p:txBody>
      </p:sp>
      <p:sp>
        <p:nvSpPr>
          <p:cNvPr id="21" name="Shape 19"/>
          <p:cNvSpPr/>
          <p:nvPr/>
        </p:nvSpPr>
        <p:spPr>
          <a:xfrm>
            <a:off x="6254651" y="3530650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09334" y="2390775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089260" y="2549426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</a:t>
            </a:r>
            <a:endParaRPr lang="en-US" sz="4400" dirty="0"/>
          </a:p>
        </p:txBody>
      </p:sp>
      <p:sp>
        <p:nvSpPr>
          <p:cNvPr id="24" name="Shape 22"/>
          <p:cNvSpPr/>
          <p:nvPr/>
        </p:nvSpPr>
        <p:spPr>
          <a:xfrm>
            <a:off x="8104584" y="3530650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59268" y="2390775"/>
            <a:ext cx="1723132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939192" y="2549426"/>
            <a:ext cx="1563285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站</a:t>
            </a:r>
            <a:endParaRPr lang="en-US" sz="4400" dirty="0"/>
          </a:p>
        </p:txBody>
      </p:sp>
      <p:sp>
        <p:nvSpPr>
          <p:cNvPr id="27" name="Shape 25"/>
          <p:cNvSpPr/>
          <p:nvPr/>
        </p:nvSpPr>
        <p:spPr>
          <a:xfrm>
            <a:off x="9954518" y="3530650"/>
            <a:ext cx="1532632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9600" y="3838575"/>
            <a:ext cx="10972800" cy="993725"/>
          </a:xfrm>
          <a:prstGeom prst="roundRect">
            <a:avLst>
              <a:gd name="adj" fmla="val 6390"/>
            </a:avLst>
          </a:prstGeom>
          <a:solidFill>
            <a:srgbClr val="3D5A73">
              <a:alpha val="11000"/>
            </a:srgbClr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19150" y="3971925"/>
            <a:ext cx="10764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从这里选 · CHOOSE FROM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9150" y="4222700"/>
            <a:ext cx="1076477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7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尸　厂　车　冫　走　立　口　火　氵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609600" y="495925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写对最多的一组得分。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方格里有三个是多出来的。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单元测验第三部分考的就是这六个字，而且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考试不给方格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——今天给，是因为这是第一次。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65679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第三步 · 找独体字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288" y="176213"/>
            <a:ext cx="4842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498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第二轮 · 找里面的独体字 · 同一组，继续写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475012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每个字里面藏着一个独体字，把它找出来，写下来。九十秒。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600" y="2970163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9525" y="3128814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毕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704850" y="4110037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534" y="2970163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39459" y="3128814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忘</a:t>
            </a:r>
            <a:endParaRPr lang="en-US" sz="4400" dirty="0"/>
          </a:p>
        </p:txBody>
      </p:sp>
      <p:sp>
        <p:nvSpPr>
          <p:cNvPr id="15" name="Shape 13"/>
          <p:cNvSpPr/>
          <p:nvPr/>
        </p:nvSpPr>
        <p:spPr>
          <a:xfrm>
            <a:off x="2554784" y="4110037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09467" y="2970163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89392" y="3128814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返</a:t>
            </a:r>
            <a:endParaRPr lang="en-US" sz="4400" dirty="0"/>
          </a:p>
        </p:txBody>
      </p:sp>
      <p:sp>
        <p:nvSpPr>
          <p:cNvPr id="18" name="Shape 16"/>
          <p:cNvSpPr/>
          <p:nvPr/>
        </p:nvSpPr>
        <p:spPr>
          <a:xfrm>
            <a:off x="4404717" y="4110037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59401" y="2970163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39326" y="3128814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蚂</a:t>
            </a:r>
            <a:endParaRPr lang="en-US" sz="4400" dirty="0"/>
          </a:p>
        </p:txBody>
      </p:sp>
      <p:sp>
        <p:nvSpPr>
          <p:cNvPr id="21" name="Shape 19"/>
          <p:cNvSpPr/>
          <p:nvPr/>
        </p:nvSpPr>
        <p:spPr>
          <a:xfrm>
            <a:off x="6254651" y="4110037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09334" y="2970163"/>
            <a:ext cx="1722983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089260" y="3128814"/>
            <a:ext cx="1563133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仙</a:t>
            </a:r>
            <a:endParaRPr lang="en-US" sz="4400" dirty="0"/>
          </a:p>
        </p:txBody>
      </p:sp>
      <p:sp>
        <p:nvSpPr>
          <p:cNvPr id="24" name="Shape 22"/>
          <p:cNvSpPr/>
          <p:nvPr/>
        </p:nvSpPr>
        <p:spPr>
          <a:xfrm>
            <a:off x="8104584" y="4110037"/>
            <a:ext cx="1532483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59268" y="2970163"/>
            <a:ext cx="1723132" cy="1282750"/>
          </a:xfrm>
          <a:prstGeom prst="roundRect">
            <a:avLst>
              <a:gd name="adj" fmla="val 4950"/>
            </a:avLst>
          </a:prstGeom>
          <a:solidFill>
            <a:srgbClr val="E6EAEB"/>
          </a:solidFill>
          <a:ln w="19050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939192" y="3128814"/>
            <a:ext cx="1563285" cy="603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鸣</a:t>
            </a:r>
            <a:endParaRPr lang="en-US" sz="4400" dirty="0"/>
          </a:p>
        </p:txBody>
      </p:sp>
      <p:sp>
        <p:nvSpPr>
          <p:cNvPr id="27" name="Shape 25"/>
          <p:cNvSpPr/>
          <p:nvPr/>
        </p:nvSpPr>
        <p:spPr>
          <a:xfrm>
            <a:off x="9954518" y="4110037"/>
            <a:ext cx="1532632" cy="0"/>
          </a:xfrm>
          <a:prstGeom prst="line">
            <a:avLst/>
          </a:prstGeom>
          <a:noFill/>
          <a:ln w="19050">
            <a:solidFill>
              <a:srgbClr val="6E77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9600" y="43798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这一轮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没有方格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，跟单元测验第四部分一样。上一页那八个字里，有的就在这六个字里面——先回头看一眼。两轮加起来分最高的一组赢。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2026-09-15T04:33:32Z</dcterms:created>
  <dcterms:modified xsi:type="dcterms:W3CDTF">2026-09-15T04:33:32Z</dcterms:modified>
</cp:coreProperties>
</file>