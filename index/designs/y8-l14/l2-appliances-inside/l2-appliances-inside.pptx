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2027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72568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第十四课 · 家具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292" y="176213"/>
            <a:ext cx="4006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2 · P.132 · P.136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里面有什么？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Appliances, and What's Inside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8 · Book 2 · Unit 5 · Lesson 14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第一节课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140" y="176213"/>
            <a:ext cx="4262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575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84562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2897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沙发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03550" y="2684562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16847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茶几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97501" y="2684562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10798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电视柜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91451" y="2684562"/>
            <a:ext cx="2590949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04747" y="3024188"/>
            <a:ext cx="2364358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张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09600" y="429726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字卡快问快答——全班一起读中文，然后点一个同学说英文。两轮，第二轮快一点。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3369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昨天的出门条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02584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昨天的出门条 · 改一改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52824"/>
            <a:ext cx="3514130" cy="1085850"/>
          </a:xfrm>
          <a:prstGeom prst="roundRect">
            <a:avLst>
              <a:gd name="adj" fmla="val 5848"/>
            </a:avLst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2750" y="2467124"/>
            <a:ext cx="316998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3C2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我家的客厅里有一个沙发。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18881" y="2352824"/>
            <a:ext cx="3514130" cy="1085850"/>
          </a:xfrm>
          <a:prstGeom prst="roundRect">
            <a:avLst>
              <a:gd name="adj" fmla="val 5848"/>
            </a:avLst>
          </a:prstGeom>
          <a:solidFill>
            <a:srgbClr val="46684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22031" y="2467124"/>
            <a:ext cx="316998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我家的客厅里有一张沙发。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412361" y="2667149"/>
            <a:ext cx="323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两个都说得通，可是课文用「张」——考试也考「张」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" y="3717875"/>
            <a:ext cx="2539901" cy="657225"/>
          </a:xfrm>
          <a:prstGeom prst="roundRect">
            <a:avLst>
              <a:gd name="adj" fmla="val 9662"/>
            </a:avLst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12750" y="3832175"/>
            <a:ext cx="217627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3C2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茶几有客厅里。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644652" y="3717875"/>
            <a:ext cx="3149501" cy="657225"/>
          </a:xfrm>
          <a:prstGeom prst="roundRect">
            <a:avLst>
              <a:gd name="adj" fmla="val 9662"/>
            </a:avLst>
          </a:prstGeom>
          <a:solidFill>
            <a:srgbClr val="46684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847802" y="3832175"/>
            <a:ext cx="279806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客厅里有一个茶几。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073503" y="3932188"/>
            <a:ext cx="158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地方在前，「有」在后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9600" y="4629001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昨天的条子挑三张贴上去，至少有一张是量词错的。没有人写错就老师自己写一张。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20294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843" y="176213"/>
            <a:ext cx="4265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9908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99108"/>
            <a:ext cx="10972800" cy="1149251"/>
          </a:xfrm>
          <a:prstGeom prst="roundRect">
            <a:avLst>
              <a:gd name="adj" fmla="val 9946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408658"/>
            <a:ext cx="10531602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say what appliances are inside a room, and describe its size without saying just 大 or 小.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50075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802285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964210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964210"/>
            <a:ext cx="537570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name an air-conditioner and a washing machine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299371"/>
            <a:ext cx="53757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能说出空调和洗衣机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880396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40423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4042321"/>
            <a:ext cx="514754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what is inside something using 里面有……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377482"/>
            <a:ext cx="51475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能用「里面有……」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958507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51204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5120432"/>
            <a:ext cx="538147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describe a room's size with 不算大 or 不大也不小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455593"/>
            <a:ext cx="5381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能说「不算大」或者「不大也不小」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140" y="176213"/>
            <a:ext cx="4262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253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26828"/>
            <a:ext cx="5308550" cy="4131320"/>
          </a:xfrm>
          <a:prstGeom prst="roundRect">
            <a:avLst>
              <a:gd name="adj" fmla="val 276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owmCEDjpXl/img/kongti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917353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93802" y="3936653"/>
            <a:ext cx="95879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kōngtiáo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816150" y="4355753"/>
            <a:ext cx="2953208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空调（空調）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2569369" y="5000923"/>
            <a:ext cx="1416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air-conditioner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526828"/>
            <a:ext cx="5308699" cy="4131320"/>
          </a:xfrm>
          <a:prstGeom prst="roundRect">
            <a:avLst>
              <a:gd name="adj" fmla="val 276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owmCEDjpXl/img/xiyij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917353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47361" y="3936653"/>
            <a:ext cx="5724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xǐyījī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997898" y="4355753"/>
            <a:ext cx="3937510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洗衣机（洗衣機）</a:t>
            </a:r>
            <a:endParaRPr lang="en-US" sz="3800" dirty="0"/>
          </a:p>
        </p:txBody>
      </p:sp>
      <p:sp>
        <p:nvSpPr>
          <p:cNvPr id="18" name="Text 14"/>
          <p:cNvSpPr/>
          <p:nvPr/>
        </p:nvSpPr>
        <p:spPr>
          <a:xfrm>
            <a:off x="8137475" y="5000923"/>
            <a:ext cx="16127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washing machine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57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两种说法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396" y="176213"/>
            <a:ext cx="4270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5902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同一样东西，两个名字</a:t>
            </a:r>
            <a:endParaRPr lang="en-US" sz="1100" dirty="0"/>
          </a:p>
        </p:txBody>
      </p:sp>
      <p:pic>
        <p:nvPicPr>
          <p:cNvPr id="9" name="Image 0" descr="/var/folders/6c/210dcgxn4gz5sm71vld2cy1h0000gn/T/tmp.owmCEDjpXl/img/kongti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209800"/>
            <a:ext cx="2667000" cy="2667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708350" y="261267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空调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kōngtiáo — 大陆的说法，课本里排在前面。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708350" y="295810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冷气机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lěngqìjī — 香港、台湾的说法，课本括号里的那个。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708350" y="330353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两个都对，说哪个都可以，可是一句话里不要换来换去。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08350" y="364896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「洗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衣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机」的「衣」，衣服的衣——洗衣服的机器。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708350" y="4121348"/>
            <a:ext cx="80315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客厅里有一个空调。／ 客厅里有一个冷气机。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1796" y="176213"/>
            <a:ext cx="4204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客厅里有一个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空调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There's an air-conditioner in the living room.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厨房里有一个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洗衣机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There's a washing machine in the kitchen.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客厅里有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空调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，厨房里有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洗衣机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living room has an air-conditioner, the kitchen has a washing machine.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问：你们家的洗衣机在哪儿？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694" y="176213"/>
            <a:ext cx="4267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1990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19933"/>
            <a:ext cx="10972800" cy="1314450"/>
          </a:xfrm>
          <a:prstGeom prst="roundRect">
            <a:avLst>
              <a:gd name="adj" fmla="val 8696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64378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 ________ 里有一个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812084"/>
            <a:ext cx="10972800" cy="951458"/>
          </a:xfrm>
          <a:prstGeom prst="roundRect">
            <a:avLst>
              <a:gd name="adj" fmla="val 6674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4008834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272260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两样机器都说，还要各说一句关于它的话：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我家的洗衣机在厨房里面，空调在客厅里面，客厅的空调特别大。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12648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33439" y="166688"/>
            <a:ext cx="12836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Cycle 2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22397" y="180975"/>
            <a:ext cx="3688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6502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54625" y="1466552"/>
            <a:ext cx="2482751" cy="4251871"/>
          </a:xfrm>
          <a:prstGeom prst="roundRect">
            <a:avLst>
              <a:gd name="adj" fmla="val 460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owmCEDjpXl/img/lim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0" y="1857077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63964" y="3876377"/>
            <a:ext cx="67735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lǐmiàn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48640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里面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5830044" y="5070723"/>
            <a:ext cx="542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inside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139" y="176213"/>
            <a:ext cx="4844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厨房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里面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有一个洗衣机。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Inside the kitchen there's a washing machine.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车库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里面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可以停两辆车。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Inside the garage two cars can park.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我的房间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里面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有一张床。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Inside my room there's a bed.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问：你的房间里面有什么？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547" y="176213"/>
            <a:ext cx="4595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7256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72593"/>
            <a:ext cx="10972800" cy="1314450"/>
          </a:xfrm>
          <a:prstGeom prst="roundRect">
            <a:avLst>
              <a:gd name="adj" fmla="val 8696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49644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________ 里面有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664744"/>
            <a:ext cx="10972800" cy="1245989"/>
          </a:xfrm>
          <a:prstGeom prst="roundRect">
            <a:avLst>
              <a:gd name="adj" fmla="val 5096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3861495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124920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一句话里同时用「里面」和「外面」，说同一个地方，再加原因：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车库里面有一辆车，外面也有一辆车，因为车库不大。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797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checkpoint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395" y="176213"/>
            <a:ext cx="4851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257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52761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2897" y="2192387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沙发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03550" y="1852761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16847" y="2192387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茶几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97501" y="1852761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10798" y="2192387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电视柜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91451" y="1852761"/>
            <a:ext cx="2590949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04747" y="2192387"/>
            <a:ext cx="2364358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张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09600" y="3516213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22897" y="3855839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空调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3403550" y="3516213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516847" y="3855839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洗衣机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197501" y="3516213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10798" y="3855839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里面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609600" y="5128915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七个了——昨天四个，今天三个。读不出来就停下来重教。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70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Sentence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693" y="176213"/>
            <a:ext cx="4848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9267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说大小，不要只说「大」「小」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92696"/>
            <a:ext cx="10972800" cy="971550"/>
          </a:xfrm>
          <a:prstGeom prst="roundRect">
            <a:avLst>
              <a:gd name="adj" fmla="val 11765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302246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不算大　／　不大也不小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191196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3531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353121"/>
            <a:ext cx="499437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我们家的客厅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不算大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791271"/>
            <a:ext cx="499437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 that big — a hedge, slightly on the small side.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90007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519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551932"/>
            <a:ext cx="430730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我们家的厨房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不大也不小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3990082"/>
            <a:ext cx="430730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Neither big nor small — right in the middle.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588818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75074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750743"/>
            <a:ext cx="6472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我的卧室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不算大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，可是里面有很多书。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188893"/>
            <a:ext cx="647280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Hedge plus a 可是 clause — what it lacks in size it makes up for.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6217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为什么要学这个：「大」和「小」太绝对，说自己家的时候听起来很硬。「不算大」才是人真的会说的话。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最难的一句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097" y="176213"/>
            <a:ext cx="4854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8952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两个大小，一个「可是」，四样家具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89547"/>
            <a:ext cx="10972800" cy="1710630"/>
          </a:xfrm>
          <a:prstGeom prst="roundRect">
            <a:avLst>
              <a:gd name="adj" fmla="val 6682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413397"/>
            <a:ext cx="10479988" cy="106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我们家的房子不大也不小，楼上有三间卧室，楼下的客厅不算大，可是里面有一张沙发、一个茶几和一个电视柜。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952577"/>
            <a:ext cx="11192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 house is neither big nor small; upstairs there are three bedrooms; the living room downstairs isn't that big, but inside it there's a sofa, a tea table and a TV cupboard.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76532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两个大小说法都用上了，而且用的不是同一个地方——这是这句最难的地方。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494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CD 66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395" y="176213"/>
            <a:ext cx="4851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7746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课本 P.132 · 听两遍，边听边打钩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77492"/>
            <a:ext cx="10972800" cy="1513582"/>
          </a:xfrm>
          <a:prstGeom prst="roundRect">
            <a:avLst>
              <a:gd name="adj" fmla="val 7552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401342"/>
            <a:ext cx="10479988" cy="865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22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我们家的客厅</a:t>
            </a:r>
            <a:r>
              <a:rPr lang="en-US" sz="2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不算大</a:t>
            </a:r>
            <a:r>
              <a:rPr lang="en-US" sz="22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。客厅里有一张三人沙发、一个茶几、一个电视柜和一个</a:t>
            </a:r>
            <a:r>
              <a:rPr lang="en-US" sz="2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空调</a:t>
            </a:r>
            <a:r>
              <a:rPr lang="en-US" sz="22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（冷气机）。我们家的厨房</a:t>
            </a:r>
            <a:r>
              <a:rPr lang="en-US" sz="2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不大也不小</a:t>
            </a:r>
            <a:r>
              <a:rPr lang="en-US" sz="22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</a:t>
            </a:r>
            <a:r>
              <a:rPr lang="en-US" sz="2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里面</a:t>
            </a:r>
            <a:r>
              <a:rPr lang="en-US" sz="22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 ____ 、</a:t>
            </a:r>
            <a:r>
              <a:rPr lang="en-US" sz="2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洗衣机</a:t>
            </a:r>
            <a:r>
              <a:rPr lang="en-US" sz="22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 ____ 和 ____ 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09600" y="3743474"/>
            <a:ext cx="10972800" cy="1262360"/>
          </a:xfrm>
          <a:prstGeom prst="roundRect">
            <a:avLst>
              <a:gd name="adj" fmla="val 9054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33450" y="3991124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用中文回答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他们家的厨房大不大？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4412754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spcBef>
                <a:spcPts val="600"/>
              </a:spcBef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三个空还不会说——屏幕上给你看图。下节课把空填上。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CFU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651" y="176213"/>
            <a:ext cx="4859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526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52661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21458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214586"/>
            <a:ext cx="353644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「不大也不小」是大还是小？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79327" y="1665387"/>
            <a:ext cx="35364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用英文告诉同伴，五秒钟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246412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40833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408337"/>
            <a:ext cx="36607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翻译：</a:t>
            </a:r>
            <a:r>
              <a:rPr lang="en-US" sz="2100" b="1" i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the kitchen is not that big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9327" y="2859137"/>
            <a:ext cx="36607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写在小白板上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516864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这句话对不对？　我的房间不算大也不小。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79327" y="4052888"/>
            <a:ext cx="51686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举大拇指或者倒过来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633913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79583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795838"/>
            <a:ext cx="446913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你的卧室大不大？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79327" y="5246638"/>
            <a:ext cx="44691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点名——要「不算大」，不要只说「大」或「不大」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80221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答案不上屏——老师现场收（白板／点名）。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8640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stays on screen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4050" y="176213"/>
            <a:ext cx="4793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2596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这一课的生词 · STAYS UP WHILE YOU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27486"/>
            <a:ext cx="2052340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owmCEDjpXl/img/shaf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0970" y="2125861"/>
            <a:ext cx="609600" cy="609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30970" y="2798862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沙发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839641" y="2027486"/>
            <a:ext cx="2052340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owmCEDjpXl/img/chaj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11" y="2125861"/>
            <a:ext cx="609600" cy="609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1011" y="2798862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茶几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5069681" y="2027486"/>
            <a:ext cx="2052489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var/folders/6c/210dcgxn4gz5sm71vld2cy1h0000gn/T/tmp.owmCEDjpXl/img/dianshigu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051" y="2125861"/>
            <a:ext cx="609600" cy="609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38651" y="2798862"/>
            <a:ext cx="9326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电视柜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7299871" y="2027486"/>
            <a:ext cx="2052340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8173641" y="2125861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张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9529911" y="2027486"/>
            <a:ext cx="2052489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3" descr="/var/folders/6c/210dcgxn4gz5sm71vld2cy1h0000gn/T/tmp.owmCEDjpXl/img/kongtia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1281" y="2125861"/>
            <a:ext cx="609600" cy="609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251281" y="2798862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空调</a:t>
            </a:r>
            <a:endParaRPr lang="en-US" sz="2400" dirty="0"/>
          </a:p>
        </p:txBody>
      </p:sp>
      <p:sp>
        <p:nvSpPr>
          <p:cNvPr id="23" name="Text 17"/>
          <p:cNvSpPr/>
          <p:nvPr/>
        </p:nvSpPr>
        <p:spPr>
          <a:xfrm>
            <a:off x="609600" y="3503563"/>
            <a:ext cx="2052340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4" descr="/var/folders/6c/210dcgxn4gz5sm71vld2cy1h0000gn/T/tmp.owmCEDjpXl/img/xiyij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0970" y="3601938"/>
            <a:ext cx="609600" cy="6096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78570" y="4274939"/>
            <a:ext cx="9326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洗衣机</a:t>
            </a:r>
            <a:endParaRPr lang="en-US" sz="2400" dirty="0"/>
          </a:p>
        </p:txBody>
      </p:sp>
      <p:sp>
        <p:nvSpPr>
          <p:cNvPr id="26" name="Text 19"/>
          <p:cNvSpPr/>
          <p:nvPr/>
        </p:nvSpPr>
        <p:spPr>
          <a:xfrm>
            <a:off x="2839641" y="3503563"/>
            <a:ext cx="2052340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5" descr="/var/folders/6c/210dcgxn4gz5sm71vld2cy1h0000gn/T/tmp.owmCEDjpXl/img/limi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1011" y="3601938"/>
            <a:ext cx="609600" cy="6096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561011" y="4274939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里面</a:t>
            </a:r>
            <a:endParaRPr lang="en-US" sz="2400" dirty="0"/>
          </a:p>
        </p:txBody>
      </p:sp>
      <p:sp>
        <p:nvSpPr>
          <p:cNvPr id="29" name="Text 21"/>
          <p:cNvSpPr/>
          <p:nvPr/>
        </p:nvSpPr>
        <p:spPr>
          <a:xfrm>
            <a:off x="609600" y="4928890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这一页留在屏幕上——后面两个活动都看它。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5048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分类 · 8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948" y="176213"/>
            <a:ext cx="4856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七个词，分两边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4755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黑板上写两个标题：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客厅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厨房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两人一组，把总览页上的七个词分到两边去。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有三个是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两边都说得通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的——那才是要讨论的地方。（还有一个根本不是东西，找出来。）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全班对答案的时候，说出来的不是哪一栏，是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为什么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，要说一句完整的话。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洗衣机在厨房里面，因为我们家的洗衣机在那儿。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296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Extension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502" y="176213"/>
            <a:ext cx="4860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加难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4755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换一个分法：这七样，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你们家有的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放一边，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没有的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放另一边。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每一边写两句，不是列词。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再从第十三课各加一个词进来，写成六句一段。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不看总览页。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我们家有空调，可是没有洗衣机，我们家的洗衣机在楼下。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7953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两人问答 · 9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987" y="176213"/>
            <a:ext cx="5100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1291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抽题卡，问答，换人（课本 P.136 第 7 题）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12937"/>
            <a:ext cx="10972800" cy="712291"/>
          </a:xfrm>
          <a:prstGeom prst="roundRect">
            <a:avLst>
              <a:gd name="adj" fmla="val 891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185863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03127" y="1185863"/>
            <a:ext cx="184746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你家住什么样的房子？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3127" y="1485602"/>
            <a:ext cx="18474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第十三课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1875979"/>
            <a:ext cx="10972800" cy="712291"/>
          </a:xfrm>
          <a:prstGeom prst="roundRect">
            <a:avLst>
              <a:gd name="adj" fmla="val 891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6826" y="1948904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03127" y="1948904"/>
            <a:ext cx="1662717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你家的房子有几层？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03127" y="2248644"/>
            <a:ext cx="16627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量词是「层」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2639020"/>
            <a:ext cx="10972800" cy="712291"/>
          </a:xfrm>
          <a:prstGeom prst="roundRect">
            <a:avLst>
              <a:gd name="adj" fmla="val 891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6826" y="2711946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03127" y="2711946"/>
            <a:ext cx="147797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你家有几间卧室？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03127" y="3011686"/>
            <a:ext cx="14779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量词是「间」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3402062"/>
            <a:ext cx="10972800" cy="712291"/>
          </a:xfrm>
          <a:prstGeom prst="roundRect">
            <a:avLst>
              <a:gd name="adj" fmla="val 891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3474988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203127" y="3474988"/>
            <a:ext cx="2185988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你家的客厅大不大？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03127" y="3774728"/>
            <a:ext cx="21859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← 今天要听的就是这一题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4165104"/>
            <a:ext cx="10972800" cy="712291"/>
          </a:xfrm>
          <a:prstGeom prst="roundRect">
            <a:avLst>
              <a:gd name="adj" fmla="val 891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96826" y="4238030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203127" y="4238030"/>
            <a:ext cx="1293224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客厅里有什么？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03127" y="4537770"/>
            <a:ext cx="12932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带量词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09600" y="4928146"/>
            <a:ext cx="10972800" cy="712291"/>
          </a:xfrm>
          <a:prstGeom prst="roundRect">
            <a:avLst>
              <a:gd name="adj" fmla="val 891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96826" y="5001071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203127" y="5001071"/>
            <a:ext cx="147797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厨房里面有什么？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03127" y="5300811"/>
            <a:ext cx="14779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用「里面」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09600" y="574193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大小那一题，答案一定要推到「不算大」或者「不大也不小」，不要放过「大」。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296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Extension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395" y="176213"/>
            <a:ext cx="4851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1234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加难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12368"/>
            <a:ext cx="10972800" cy="2058591"/>
          </a:xfrm>
          <a:prstGeom prst="roundRect">
            <a:avLst>
              <a:gd name="adj" fmla="val 5552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760018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不要说你自己家——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扮一个人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：爷爷奶奶、电影里的人、住的地方跟你完全不一样的人。六个答案要前后对得上，不能自相矛盾。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345087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 B 用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第三人称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向全班说 A 的房子，三句，不看笔记。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92325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他家住洋房，房子有两层，客厅不算大。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4638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写汉字 · 练习册 p.155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243" y="176213"/>
            <a:ext cx="5108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3204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笔顺 · 每个字写三遍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32074"/>
            <a:ext cx="10972800" cy="962025"/>
          </a:xfrm>
          <a:prstGeom prst="roundRect">
            <a:avLst>
              <a:gd name="adj" fmla="val 660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47725" y="1955899"/>
            <a:ext cx="673557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空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736675" y="2179737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画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01826" y="2179737"/>
            <a:ext cx="17820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宝盖头，下面「工」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66424" y="2113062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455325" y="2113062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944225" y="2113062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9600" y="2882950"/>
            <a:ext cx="10972800" cy="962025"/>
          </a:xfrm>
          <a:prstGeom prst="roundRect">
            <a:avLst>
              <a:gd name="adj" fmla="val 660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47725" y="3006775"/>
            <a:ext cx="673557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调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1736675" y="3230612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01826" y="3230612"/>
            <a:ext cx="21780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左边言字旁，右边「周」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966424" y="3163937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455325" y="3163937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944225" y="3163937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9600" y="3933825"/>
            <a:ext cx="10972800" cy="962025"/>
          </a:xfrm>
          <a:prstGeom prst="roundRect">
            <a:avLst>
              <a:gd name="adj" fmla="val 660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47725" y="4057650"/>
            <a:ext cx="673557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机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1736675" y="4281488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画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701826" y="4281488"/>
            <a:ext cx="35640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左边木，右边「几」——「几」昨天写过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966424" y="4214813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455325" y="4214813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944225" y="4214813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9600" y="5022800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循环里的「写一句」写完，笔先别放下，把这三个字写完再放。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23863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32981" y="166688"/>
            <a:ext cx="13411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排句子 · 6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06486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排句子 SENTENCE JUMBLE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264890"/>
            <a:ext cx="10972800" cy="935236"/>
          </a:xfrm>
          <a:prstGeom prst="roundRect">
            <a:avLst>
              <a:gd name="adj" fmla="val 679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426815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426815"/>
            <a:ext cx="373029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每组一个信封，里面是剪开的词条，六句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9327" y="1761976"/>
            <a:ext cx="373029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厨房／里面／有／一个／洗衣机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352526"/>
            <a:ext cx="10972800" cy="935236"/>
          </a:xfrm>
          <a:prstGeom prst="roundRect">
            <a:avLst>
              <a:gd name="adj" fmla="val 679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51445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514451"/>
            <a:ext cx="455915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排好一句就举手，老师看语序，不看字写得好不好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9327" y="2849612"/>
            <a:ext cx="45591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客厅／里／有／一个／空调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935236"/>
          </a:xfrm>
          <a:prstGeom prst="roundRect">
            <a:avLst>
              <a:gd name="adj" fmla="val 679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291465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六句全对的第一组赢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9327" y="3937248"/>
            <a:ext cx="29146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我们家的／厨房／不大／也／不小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527798"/>
            <a:ext cx="10972800" cy="935236"/>
          </a:xfrm>
          <a:prstGeom prst="roundRect">
            <a:avLst>
              <a:gd name="adj" fmla="val 679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68972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689723"/>
            <a:ext cx="663158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加难版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：有一个信封里是</a:t>
            </a: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两句混在一起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的词条，而且没告诉你在哪儿分开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79327" y="5024884"/>
            <a:ext cx="663158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排完还要用剩下的词条自己再造一句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58998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词条要提前剪好——每组六句的量。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983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2945" y="176213"/>
            <a:ext cx="5111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24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43–50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4755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回看目标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一个同学念，然后问：哪一条最难？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小白板上画三个点，红黄绿，一起举起来。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一句话，写在纸条上。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把课文里的三个空填上——冰箱、烤箱、电炉——然后整本书的量词一起回来。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出门条：我们家的厨房不算大，里面有一个洗衣机。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2026-09-15T04:29:17Z</dcterms:created>
  <dcterms:modified xsi:type="dcterms:W3CDTF">2026-09-15T04:29:17Z</dcterms:modified>
</cp:coreProperties>
</file>