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0866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4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858714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P.138 · P.139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我的房间里有什么？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Your Own Room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第三节课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1291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 · 六题 · 老师说英文，写中文，举起来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12937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85863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85863"/>
            <a:ext cx="2763301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is a fridge in the kitchen.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85602"/>
            <a:ext cx="27633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厨房里有一个冰箱。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75979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4890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948904"/>
            <a:ext cx="242067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fridge is in the kitchen.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248644"/>
            <a:ext cx="24206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冰箱在厨房里。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639020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711946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711946"/>
            <a:ext cx="1887539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 washing machine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3011686"/>
            <a:ext cx="18875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量词是「台」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402062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4749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474988"/>
            <a:ext cx="138081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three bedrooms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774728"/>
            <a:ext cx="13808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量词是「间」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165104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238030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4238030"/>
            <a:ext cx="116586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cars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537770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量词是「辆」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928146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500107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5001071"/>
            <a:ext cx="269665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living room is not that big.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5300811"/>
            <a:ext cx="2696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我们家的客厅不算大。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7419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第一题和第二题并排贴在黑板上，「有」「在」各圈起来，问全班规律是什么：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新的东西 → 有；已知的东西找地方 → 在。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7182" y="176213"/>
            <a:ext cx="4252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describe the furniture in our own bedroom and say exactly where each piece is.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411633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a desk and a chair in Chinese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4116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能说出书桌和椅子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490541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把 for chairs and 张 for desks and beds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49054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会说「一把椅子」「一张书桌」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46860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where one thing is relative to another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46860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能说「电脑在书桌上面」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yiz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081486" y="3866852"/>
            <a:ext cx="3719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yǐzi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3036689" y="5070723"/>
            <a:ext cx="463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chair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emPkXuZ1Lq/img/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797677" y="3866852"/>
            <a:ext cx="2658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bǎ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623250" y="4285952"/>
            <a:ext cx="621792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7885212" y="5070723"/>
            <a:ext cx="2127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measure word · chairs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482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为什么一起学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一把椅子 · 两把椅子 · 三把椅子</a:t>
            </a:r>
            <a:endParaRPr lang="en-US" sz="1100" dirty="0"/>
          </a:p>
        </p:txBody>
      </p:sp>
      <p:pic>
        <p:nvPicPr>
          <p:cNvPr id="9" name="Image 0" descr="/var/folders/6c/210dcgxn4gz5sm71vld2cy1h0000gn/T/tmp.emPkXuZ1Lq/img/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是给椅子用的量词。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它还能用在刀、伞上面——除此之外你几乎用不到它。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所以不要单独记「把」：跟「椅子」一起记，一辈子都不会分开。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反过来说，说「椅子」的时候忘了「把」，考试就在这里扣分。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我的房间里有一把椅子。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在电视前面。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chair is in front of the TV.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把椅子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chair in my room.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餐厅里有六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把椅子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are six chairs in the dining room.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问：你们家的餐厅里有几把椅子？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391" y="176213"/>
            <a:ext cx="419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 ________ 把椅子。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一句话数三个房间的椅子，再说哪个房间最多：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客厅里有两把椅子，餐厅里有六把，我的房间里有一把。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9473" y="1526828"/>
            <a:ext cx="3473053" cy="4131320"/>
          </a:xfrm>
          <a:prstGeom prst="roundRect">
            <a:avLst>
              <a:gd name="adj" fmla="val 329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shuzhu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45944" y="3936653"/>
            <a:ext cx="9181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shūzhuō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834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书桌（書桌）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5881390" y="5000923"/>
            <a:ext cx="4378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desk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我的房间里有一张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desk in my room.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电脑在我的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computer is on my desk.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前面有一把椅子。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 front of the desk is a chair.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问：你的电脑在哪儿？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734" y="176213"/>
            <a:ext cx="4838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我的书桌上有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书桌上下四样东西，一句话说完，每一样都说在上一样的哪边：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我的书桌上有电脑，电脑前面有书，书桌下面有一个书包。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142" y="176213"/>
            <a:ext cx="458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6560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8485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4470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6358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79950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883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051" y="1392585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33935" y="1732211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50301" y="1392585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69186" y="1732211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0960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8485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84470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6358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07995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883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31505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3393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50301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66918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0960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8485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2844701" y="4224189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963585" y="4563814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5079950" y="4224189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198836" y="4563814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609600" y="558924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十三个了。读不出来就停下来重教。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545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说得更准——不只是「在房间里」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54609"/>
            <a:ext cx="10972800" cy="847725"/>
          </a:xfrm>
          <a:prstGeom prst="roundRect">
            <a:avLst>
              <a:gd name="adj" fmla="val 13483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64159"/>
            <a:ext cx="1053160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东西 A + 在 + 东西 B + 上面／前面／左面／右面／下面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2129284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29120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291209"/>
            <a:ext cx="46998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电脑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29359"/>
            <a:ext cx="469987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 top of — 书桌上 and 书桌上面 are both fine.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2809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49002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490020"/>
            <a:ext cx="21762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28170"/>
            <a:ext cx="217627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 front of.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26905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68883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688830"/>
            <a:ext cx="468013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我的床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房间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，书桌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床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左面。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26980"/>
            <a:ext cx="468013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With a possessor in front, 的 goes in: 床的左面.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002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上一课说东西在哪个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房间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，这一课说东西在哪样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东西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旁边。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288" y="176213"/>
            <a:ext cx="484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一个「有」开头，三个「在」跟着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我的房间不算大，里面有一张床和一张书桌；电脑在书桌上面，椅子在书桌前面。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room isn't that big; inside there's a bed and a desk; the computer is on the desk, and the chair is in front of the desk.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先用「有」把东西请进来，再用「在」一样一样摆好——顺序不能反过来。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49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CD 69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693" y="176213"/>
            <a:ext cx="484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638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课本 P.138 · 两人读，再换角色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63911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25836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1227" y="1925836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你的房间里有什么？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" y="2589312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51237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1227" y="275123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有一张床、一张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和一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把椅子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34147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766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1227" y="3576638"/>
            <a:ext cx="27203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你的房间里有电脑吗？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9600" y="42401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4020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1227" y="4402038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有，在我的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上。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09600" y="50909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CD 69 放到 B 第二次回答就停——完整版里还有两个词，下节课学。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用中文回答：他的电脑在哪儿？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652881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「椅子」的量词是什么？　「书桌」呢？　「床」呢？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65288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全班一起说，一个一个来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43473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there are two chairs in my room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3473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435254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这句话对不对？　我的电脑在书桌。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43525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少了什么？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你的房间里有什么？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点三个同学，一人说一样，要带量词，不许重复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829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84512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emPkXuZ1Lq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315" y="2370237"/>
            <a:ext cx="507950" cy="5079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02965" y="292893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2193429" y="2284512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emPkXuZ1Lq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144" y="2370237"/>
            <a:ext cx="507950" cy="5079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86794" y="292893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777258" y="2284512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emPkXuZ1Lq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973" y="2370237"/>
            <a:ext cx="507950" cy="5079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150072" y="2928938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5361087" y="2284512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5975152" y="2370237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6945064" y="2284512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emPkXuZ1Lq/img/kongti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5779" y="2370237"/>
            <a:ext cx="507950" cy="5079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38430" y="292893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8528893" y="2284512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emPkXuZ1Lq/img/xiyij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608" y="2370237"/>
            <a:ext cx="507950" cy="5079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901708" y="2928938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洗衣机</a:t>
            </a:r>
            <a:endParaRPr lang="en-US" sz="1900" dirty="0"/>
          </a:p>
        </p:txBody>
      </p:sp>
      <p:sp>
        <p:nvSpPr>
          <p:cNvPr id="26" name="Text 19"/>
          <p:cNvSpPr/>
          <p:nvPr/>
        </p:nvSpPr>
        <p:spPr>
          <a:xfrm>
            <a:off x="10112722" y="2284512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5" descr="/var/folders/6c/210dcgxn4gz5sm71vld2cy1h0000gn/T/tmp.emPkXuZ1Lq/img/lim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3586" y="2370237"/>
            <a:ext cx="507950" cy="50795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0606236" y="292893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里面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609600" y="3471863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0" name="Image 6" descr="/var/folders/6c/210dcgxn4gz5sm71vld2cy1h0000gn/T/tmp.emPkXuZ1Lq/img/bingxia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0315" y="3557588"/>
            <a:ext cx="507950" cy="50795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102965" y="411628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冰箱</a:t>
            </a:r>
            <a:endParaRPr lang="en-US" sz="1900" dirty="0"/>
          </a:p>
        </p:txBody>
      </p:sp>
      <p:sp>
        <p:nvSpPr>
          <p:cNvPr id="32" name="Text 23"/>
          <p:cNvSpPr/>
          <p:nvPr/>
        </p:nvSpPr>
        <p:spPr>
          <a:xfrm>
            <a:off x="2193429" y="3471863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7" descr="/var/folders/6c/210dcgxn4gz5sm71vld2cy1h0000gn/T/tmp.emPkXuZ1Lq/img/kaoxian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4144" y="3557588"/>
            <a:ext cx="507950" cy="50795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2686794" y="411628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烤箱</a:t>
            </a:r>
            <a:endParaRPr lang="en-US" sz="1900" dirty="0"/>
          </a:p>
        </p:txBody>
      </p:sp>
      <p:sp>
        <p:nvSpPr>
          <p:cNvPr id="35" name="Text 25"/>
          <p:cNvSpPr/>
          <p:nvPr/>
        </p:nvSpPr>
        <p:spPr>
          <a:xfrm>
            <a:off x="3777258" y="3471863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8" descr="/var/folders/6c/210dcgxn4gz5sm71vld2cy1h0000gn/T/tmp.emPkXuZ1Lq/img/dianlu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7973" y="3557588"/>
            <a:ext cx="507950" cy="50795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270623" y="411628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电炉</a:t>
            </a:r>
            <a:endParaRPr lang="en-US" sz="1900" dirty="0"/>
          </a:p>
        </p:txBody>
      </p:sp>
      <p:sp>
        <p:nvSpPr>
          <p:cNvPr id="38" name="Text 27"/>
          <p:cNvSpPr/>
          <p:nvPr/>
        </p:nvSpPr>
        <p:spPr>
          <a:xfrm>
            <a:off x="5361087" y="3471863"/>
            <a:ext cx="1469678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9" name="Image 9" descr="/var/folders/6c/210dcgxn4gz5sm71vld2cy1h0000gn/T/tmp.emPkXuZ1Lq/img/yiz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1950" y="3557588"/>
            <a:ext cx="507950" cy="50795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5854601" y="411628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900" dirty="0"/>
          </a:p>
        </p:txBody>
      </p:sp>
      <p:sp>
        <p:nvSpPr>
          <p:cNvPr id="41" name="Text 29"/>
          <p:cNvSpPr/>
          <p:nvPr/>
        </p:nvSpPr>
        <p:spPr>
          <a:xfrm>
            <a:off x="6945064" y="3471863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0"/>
          <p:cNvSpPr/>
          <p:nvPr/>
        </p:nvSpPr>
        <p:spPr>
          <a:xfrm>
            <a:off x="7559129" y="3557588"/>
            <a:ext cx="2462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1900" dirty="0"/>
          </a:p>
        </p:txBody>
      </p:sp>
      <p:sp>
        <p:nvSpPr>
          <p:cNvPr id="43" name="Text 31"/>
          <p:cNvSpPr/>
          <p:nvPr/>
        </p:nvSpPr>
        <p:spPr>
          <a:xfrm>
            <a:off x="8528893" y="3471863"/>
            <a:ext cx="1469529" cy="1073051"/>
          </a:xfrm>
          <a:prstGeom prst="roundRect">
            <a:avLst>
              <a:gd name="adj" fmla="val 1065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4" name="Image 10" descr="/var/folders/6c/210dcgxn4gz5sm71vld2cy1h0000gn/T/tmp.emPkXuZ1Lq/img/shuzhu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9608" y="3557588"/>
            <a:ext cx="507950" cy="507950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9022259" y="4116288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书桌</a:t>
            </a:r>
            <a:endParaRPr lang="en-US" sz="1900" dirty="0"/>
          </a:p>
        </p:txBody>
      </p:sp>
      <p:sp>
        <p:nvSpPr>
          <p:cNvPr id="46" name="Text 33"/>
          <p:cNvSpPr/>
          <p:nvPr/>
        </p:nvSpPr>
        <p:spPr>
          <a:xfrm>
            <a:off x="609600" y="467186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十三个词。这一页留在屏幕上——后面三个活动都看它。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9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646" y="176213"/>
            <a:ext cx="4787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画你的卧室，一样家具一句话</a:t>
            </a:r>
            <a:endParaRPr lang="en-US" sz="1100" dirty="0"/>
          </a:p>
        </p:txBody>
      </p:sp>
      <p:pic>
        <p:nvPicPr>
          <p:cNvPr id="9" name="Image 0" descr="/var/folders/6c/210dcgxn4gz5sm71vld2cy1h0000gn/T/tmp.emPkXuZ1Lq/img/chu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老师先画 · 90 秒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黑板上画个房间，放三样东西，全班说一句，老师写一句。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再自己画 · 5 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发纸，画你自己的卧室。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至少五句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，每句一样家具，量词一定要对。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最后一句必须用「在」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加方位词，不能用「有」。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我的房间里有一张床。书桌在床的左面。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不写你现在的房间——写一个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你想要的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房间，只能放六样东西。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写成一段话，不是一条一条：开头说大小（不算大／不大也不小），每一样都用「在」摆在另一样旁边，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总览页上凡是卧室里放得下的词，全部要用上，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最后一句说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为什么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这样摆。不看总览页。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因为我喜欢看书，所以书桌在窗户前面。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7953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量词快问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097" y="176213"/>
            <a:ext cx="485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 P.139 第 13 题 · 十三张图，每组一份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379284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指一张图，B 说出来——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一定要带量词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3792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「一把椅子」，不是「椅子」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272034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量词错了，A 就再指同一张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27203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走完一轮，换人，第二轮快一点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25242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：老师指，全班一起说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25242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犹豫的那几个词写到黑板上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420696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：说出东西、量词，再说它属于哪个房间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42069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而且房间不能连着重复两次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图纸每两人一份，提前印好。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340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写六句 · You Do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582" y="176213"/>
            <a:ext cx="509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3862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课本 P.139 第 12 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38648"/>
            <a:ext cx="10972800" cy="1877020"/>
          </a:xfrm>
          <a:prstGeom prst="roundRect">
            <a:avLst>
              <a:gd name="adj" fmla="val 608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28629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安静，自己写，写在本子上。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63172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三句用「有」，三句用「在」。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97715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六句都要是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你家真的是这样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32258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每句把「有」或者「在」画一条线。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09600" y="4093369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7250" y="4290120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250" y="4553545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六句要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连成一串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：每一句都得接上一句里出现过的一样东西，读起来像走过你家一圈，不是六件互不相干的事。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4638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写汉字 · 练习册 p.160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3204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笔顺 · 每个字写三遍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32074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7725" y="1955899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736675" y="2179737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01826" y="2179737"/>
            <a:ext cx="29700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上面「⺊」和「日」，下面「木」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424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55325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44225" y="2113062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882950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3006775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736675" y="323061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01826" y="3230612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左边提手旁，右边「巴」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6642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5532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4422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3933825"/>
            <a:ext cx="10972800" cy="962025"/>
          </a:xfrm>
          <a:prstGeom prst="roundRect">
            <a:avLst>
              <a:gd name="adj" fmla="val 660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7725" y="4057650"/>
            <a:ext cx="67355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1736675" y="4281488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01826" y="4281488"/>
            <a:ext cx="35640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左边木，右边「奇」——椅子是木头做的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66424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55325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44225" y="421481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502280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「椅」和「桌」都有木字旁，因为都是木头做的——这是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的道理，不是部首练习，不用背部首表。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504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猜房间 · 4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838" y="176213"/>
            <a:ext cx="5102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7073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20 QUESTIONS · 猜他想的是哪个房间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70757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88178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881783"/>
            <a:ext cx="42068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一个同学心里想一个自己家的房间，不说出来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216944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全班提问，只能用中文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67087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7818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781895"/>
            <a:ext cx="437197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问题要能用「有／没有」回答，最多二十个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3117056"/>
            <a:ext cx="4371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房间里有沙发吗？ 床在房间里面吗？ 房间大不大？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570982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68200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682008"/>
            <a:ext cx="210340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猜中就换人，玩两三轮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9600" y="4158704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6826" y="426973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203127" y="4269730"/>
            <a:ext cx="544068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：回答的人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不能说「有」也不能说「没有」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03127" y="4604891"/>
            <a:ext cx="54406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每次都要说一整句，给一点新消息，又不能直接说出是哪个房间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09600" y="508411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什么都不用准备。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6088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70683" y="166688"/>
            <a:ext cx="910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一个同学念三条。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小白板，三条一起举：👍 / 😐 / 👎。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一句话，量词写错不算数。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衣柜和书架把房间写完——然后一个新的问句，把「吗」整个去掉。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出门条：我的房间里有一张书桌和一把椅子。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2026-09-15T04:12:11Z</dcterms:created>
  <dcterms:modified xsi:type="dcterms:W3CDTF">2026-09-15T04:12:11Z</dcterms:modified>
</cp:coreProperties>
</file>