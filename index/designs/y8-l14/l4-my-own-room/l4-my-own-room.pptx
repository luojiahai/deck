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20426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74056" y="166688"/>
            <a:ext cx="1046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第十四课 · 家具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888" y="176213"/>
            <a:ext cx="4000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7320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2 · P.138 · P.139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00176"/>
            <a:ext cx="11192256" cy="905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8"/>
              </a:lnSpc>
              <a:spcBef>
                <a:spcPts val="1000"/>
              </a:spcBef>
              <a:buNone/>
            </a:pPr>
            <a:r>
              <a:rPr lang="en-US" sz="66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我的房间里有什么？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609600" y="3581549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600"/>
              </a:spcBef>
              <a:buNone/>
            </a:pPr>
            <a:r>
              <a:rPr lang="en-US" sz="3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Your Own Room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4267349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8 · Book 2 · Unit 5 · Lesson 14 · 50 minutes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1046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第三节课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736" y="176213"/>
            <a:ext cx="4256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1291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小白板 · 六题 · 老师说英文，写中文，举起来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112937"/>
            <a:ext cx="10972800" cy="712291"/>
          </a:xfrm>
          <a:prstGeom prst="roundRect">
            <a:avLst>
              <a:gd name="adj" fmla="val 891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185863"/>
            <a:ext cx="246075" cy="2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03127" y="1185863"/>
            <a:ext cx="2763301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i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There is a fridge in the kitchen.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3127" y="1485602"/>
            <a:ext cx="27633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厨房里有一个冰箱。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1875979"/>
            <a:ext cx="10972800" cy="712291"/>
          </a:xfrm>
          <a:prstGeom prst="roundRect">
            <a:avLst>
              <a:gd name="adj" fmla="val 891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96826" y="1948904"/>
            <a:ext cx="246075" cy="2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03127" y="1948904"/>
            <a:ext cx="2420678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i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fridge is in the kitchen.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03127" y="2248644"/>
            <a:ext cx="24206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冰箱在厨房里。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2639020"/>
            <a:ext cx="10972800" cy="712291"/>
          </a:xfrm>
          <a:prstGeom prst="roundRect">
            <a:avLst>
              <a:gd name="adj" fmla="val 891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6826" y="2711946"/>
            <a:ext cx="246075" cy="2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203127" y="2711946"/>
            <a:ext cx="1887539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i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 washing machine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03127" y="3011686"/>
            <a:ext cx="18875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量词是「台」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3402062"/>
            <a:ext cx="10972800" cy="712291"/>
          </a:xfrm>
          <a:prstGeom prst="roundRect">
            <a:avLst>
              <a:gd name="adj" fmla="val 891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826" y="3474988"/>
            <a:ext cx="246075" cy="2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203127" y="3474988"/>
            <a:ext cx="1380815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i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three bedrooms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03127" y="3774728"/>
            <a:ext cx="138081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量词是「间」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4165104"/>
            <a:ext cx="10972800" cy="712291"/>
          </a:xfrm>
          <a:prstGeom prst="roundRect">
            <a:avLst>
              <a:gd name="adj" fmla="val 891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96826" y="4238030"/>
            <a:ext cx="246075" cy="2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203127" y="4238030"/>
            <a:ext cx="1165860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i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cars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03127" y="4537770"/>
            <a:ext cx="11658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量词是「辆」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09600" y="4928146"/>
            <a:ext cx="10972800" cy="712291"/>
          </a:xfrm>
          <a:prstGeom prst="roundRect">
            <a:avLst>
              <a:gd name="adj" fmla="val 891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96826" y="5001071"/>
            <a:ext cx="246075" cy="2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6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203127" y="5001071"/>
            <a:ext cx="2696658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i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Our living room is not that big.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03127" y="5300811"/>
            <a:ext cx="26966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我们家的客厅不算大。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09600" y="574193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第一题和第二题并排贴在黑板上，「有」「在」各圈起来，问全班规律是什么：</a:t>
            </a:r>
            <a:r>
              <a:rPr lang="en-US" sz="1200" b="1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新的东西 → 有；已知的东西找地方 → 在。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7417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20577" y="166688"/>
            <a:ext cx="20294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学习目标 · Learning Intention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7182" y="176213"/>
            <a:ext cx="4252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9908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199108"/>
            <a:ext cx="10972800" cy="1149251"/>
          </a:xfrm>
          <a:prstGeom prst="roundRect">
            <a:avLst>
              <a:gd name="adj" fmla="val 9946"/>
            </a:avLst>
          </a:prstGeom>
          <a:solidFill>
            <a:srgbClr val="D8DEE0"/>
          </a:solidFill>
          <a:ln w="19050">
            <a:solidFill>
              <a:srgbClr val="3D5A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408658"/>
            <a:ext cx="10531602" cy="730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buNone/>
            </a:pPr>
            <a:r>
              <a:rPr lang="en-US" sz="2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describe the furniture in our own bedroom and say exactly where each piece is.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09600" y="2500759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我能……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" y="2802285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964210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279327" y="2964210"/>
            <a:ext cx="411633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name a desk and a chair in Chinese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9327" y="3299371"/>
            <a:ext cx="41163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能说出书桌和椅子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600" y="3880396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404232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279327" y="4042321"/>
            <a:ext cx="4905417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use 把 for chairs and 张 for desks and beds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9327" y="4377482"/>
            <a:ext cx="49054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会说「一把椅子」「一张书桌」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9600" y="4958507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275" y="512043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279327" y="5120432"/>
            <a:ext cx="468605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where one thing is relative to another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79327" y="5455593"/>
            <a:ext cx="46860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能说「电脑在书桌上面」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87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1 · Cycle 1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438" y="176213"/>
            <a:ext cx="4259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6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owmCEDjpXl/img/yiz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081486" y="3866852"/>
            <a:ext cx="37192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yǐzi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654201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椅子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3036689" y="5070723"/>
            <a:ext cx="4633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chair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6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owmCEDjpXl/img/b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797677" y="3866852"/>
            <a:ext cx="2658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bǎ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623250" y="4285952"/>
            <a:ext cx="621792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7885212" y="5070723"/>
            <a:ext cx="21272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measure word · chairs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12648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033439" y="166688"/>
            <a:ext cx="13707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1 · 为什么一起学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22397" y="180975"/>
            <a:ext cx="3688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5902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一把椅子 · 两把椅子 · 三把椅子</a:t>
            </a:r>
            <a:endParaRPr lang="en-US" sz="1100" dirty="0"/>
          </a:p>
        </p:txBody>
      </p:sp>
      <p:pic>
        <p:nvPicPr>
          <p:cNvPr id="9" name="Image 0" descr="/var/folders/6c/210dcgxn4gz5sm71vld2cy1h0000gn/T/tmp.owmCEDjpXl/img/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209800"/>
            <a:ext cx="2667000" cy="2667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708350" y="2612678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把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是给椅子用的量词。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708350" y="2958108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它还能用在刀、伞上面——除此之外你几乎用不到它。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708350" y="3303538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所以不要单独记「把」：跟「椅子」一起记，一辈子都不会分开。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708350" y="3648968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反过来说，说「椅子」的时候忘了「把」，考试就在这里扣分。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708350" y="4121348"/>
            <a:ext cx="80315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我的房间里有一把椅子。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20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1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991" y="176213"/>
            <a:ext cx="4264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椅子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在电视前面。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chair is in front of the TV.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我的房间里有一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把椅子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There's a chair in my room.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B05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餐厅里有六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把椅子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There are six chairs in the dining room.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问：你们家的餐厅里有几把椅子？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7858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1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72391" y="176213"/>
            <a:ext cx="4198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1990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19933"/>
            <a:ext cx="10972800" cy="1314450"/>
          </a:xfrm>
          <a:prstGeom prst="roundRect">
            <a:avLst>
              <a:gd name="adj" fmla="val 8696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643783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我的房间里有 ________ 把椅子。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3812084"/>
            <a:ext cx="10972800" cy="951458"/>
          </a:xfrm>
          <a:prstGeom prst="roundRect">
            <a:avLst>
              <a:gd name="adj" fmla="val 6674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4008834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4272260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一句话数三个房间的椅子，再说哪个房间最多：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客厅里有两把椅子，餐厅里有六把，我的房间里有一把。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2 · Cycle 2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438" y="176213"/>
            <a:ext cx="4259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2253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59473" y="1526828"/>
            <a:ext cx="3473053" cy="4131320"/>
          </a:xfrm>
          <a:prstGeom prst="roundRect">
            <a:avLst>
              <a:gd name="adj" fmla="val 3291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owmCEDjpXl/img/shuzhu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0" y="1917353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645944" y="3936653"/>
            <a:ext cx="91811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shūzhuō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648349" y="4355753"/>
            <a:ext cx="2953208" cy="530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书桌（書桌）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5881390" y="5000923"/>
            <a:ext cx="4378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desk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2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843" y="176213"/>
            <a:ext cx="4265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我的房间里有一张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书桌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There's a desk in my room.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电脑在我的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书桌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computer is on my desk.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B05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书桌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前面有一把椅子。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 front of the desk is a chair.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问：你的电脑在哪儿？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3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2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9734" y="176213"/>
            <a:ext cx="4838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7256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172593"/>
            <a:ext cx="10972800" cy="1314450"/>
          </a:xfrm>
          <a:prstGeom prst="roundRect">
            <a:avLst>
              <a:gd name="adj" fmla="val 8696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496443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我的书桌上有 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3664744"/>
            <a:ext cx="10972800" cy="1245989"/>
          </a:xfrm>
          <a:prstGeom prst="roundRect">
            <a:avLst>
              <a:gd name="adj" fmla="val 5096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3861495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4124920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书桌上下四样东西，一句话说完，每一样都说在上一样的哪边：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我的书桌上有电脑，电脑前面有书，书桌下面有一个书包。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12648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033439" y="166688"/>
            <a:ext cx="128821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checkpoint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44709" y="180975"/>
            <a:ext cx="448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05132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CHARACTERS ONLY · 一起读出来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78297"/>
            <a:ext cx="2031950" cy="1222177"/>
          </a:xfrm>
          <a:prstGeom prst="roundRect">
            <a:avLst>
              <a:gd name="adj" fmla="val 93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8485" y="1717923"/>
            <a:ext cx="179418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沙发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844701" y="1378297"/>
            <a:ext cx="2032099" cy="1222177"/>
          </a:xfrm>
          <a:prstGeom prst="roundRect">
            <a:avLst>
              <a:gd name="adj" fmla="val 93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963585" y="1717923"/>
            <a:ext cx="1794331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茶几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079950" y="1378297"/>
            <a:ext cx="2031950" cy="1222177"/>
          </a:xfrm>
          <a:prstGeom prst="roundRect">
            <a:avLst>
              <a:gd name="adj" fmla="val 93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98836" y="1717923"/>
            <a:ext cx="179418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电视柜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315051" y="1378297"/>
            <a:ext cx="2032099" cy="1222177"/>
          </a:xfrm>
          <a:prstGeom prst="roundRect">
            <a:avLst>
              <a:gd name="adj" fmla="val 93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433935" y="1717923"/>
            <a:ext cx="1794331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张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550301" y="1378297"/>
            <a:ext cx="2031950" cy="1222177"/>
          </a:xfrm>
          <a:prstGeom prst="roundRect">
            <a:avLst>
              <a:gd name="adj" fmla="val 93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669186" y="1717923"/>
            <a:ext cx="179418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空调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09600" y="2803624"/>
            <a:ext cx="2031950" cy="1222177"/>
          </a:xfrm>
          <a:prstGeom prst="roundRect">
            <a:avLst>
              <a:gd name="adj" fmla="val 93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28485" y="3143250"/>
            <a:ext cx="179418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洗衣机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2844701" y="2803624"/>
            <a:ext cx="2032099" cy="1222177"/>
          </a:xfrm>
          <a:prstGeom prst="roundRect">
            <a:avLst>
              <a:gd name="adj" fmla="val 93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963585" y="3143250"/>
            <a:ext cx="1794331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里面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079950" y="2803624"/>
            <a:ext cx="2031950" cy="1222177"/>
          </a:xfrm>
          <a:prstGeom prst="roundRect">
            <a:avLst>
              <a:gd name="adj" fmla="val 93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198836" y="3143250"/>
            <a:ext cx="179418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冰箱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7315051" y="2803624"/>
            <a:ext cx="2032099" cy="1222177"/>
          </a:xfrm>
          <a:prstGeom prst="roundRect">
            <a:avLst>
              <a:gd name="adj" fmla="val 93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433935" y="3143250"/>
            <a:ext cx="1794331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烤箱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550301" y="2803624"/>
            <a:ext cx="2031950" cy="1222177"/>
          </a:xfrm>
          <a:prstGeom prst="roundRect">
            <a:avLst>
              <a:gd name="adj" fmla="val 93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669186" y="3143250"/>
            <a:ext cx="179418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电炉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09600" y="4228951"/>
            <a:ext cx="2031950" cy="1222177"/>
          </a:xfrm>
          <a:prstGeom prst="roundRect">
            <a:avLst>
              <a:gd name="adj" fmla="val 93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28485" y="4568577"/>
            <a:ext cx="179418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椅子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2844701" y="4228951"/>
            <a:ext cx="2032099" cy="1222177"/>
          </a:xfrm>
          <a:prstGeom prst="roundRect">
            <a:avLst>
              <a:gd name="adj" fmla="val 93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963585" y="4568577"/>
            <a:ext cx="1794331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5079950" y="4228951"/>
            <a:ext cx="2031950" cy="1222177"/>
          </a:xfrm>
          <a:prstGeom prst="roundRect">
            <a:avLst>
              <a:gd name="adj" fmla="val 93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198836" y="4568577"/>
            <a:ext cx="179418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书桌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609600" y="560352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十三个了。读不出来就停下来重教。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703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Sentence pattern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990" y="176213"/>
            <a:ext cx="4845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5458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说得更准——不只是「在房间里」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154609"/>
            <a:ext cx="10972800" cy="847725"/>
          </a:xfrm>
          <a:prstGeom prst="roundRect">
            <a:avLst>
              <a:gd name="adj" fmla="val 13483"/>
            </a:avLst>
          </a:prstGeom>
          <a:solidFill>
            <a:srgbClr val="D8DEE0"/>
          </a:solidFill>
          <a:ln w="19050">
            <a:solidFill>
              <a:srgbClr val="3D5A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199" y="1364159"/>
            <a:ext cx="1053160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东西 A + 在 + 东西 B + 上面／前面／左面／右面／下面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09600" y="2129284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275" y="2291209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279327" y="2291209"/>
            <a:ext cx="469987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电脑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书桌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上面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9327" y="2729359"/>
            <a:ext cx="469987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 top of — 书桌上 and 书桌上面 are both fine.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328095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490020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279327" y="3490020"/>
            <a:ext cx="217627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椅子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书桌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前面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79327" y="3928170"/>
            <a:ext cx="217627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 front of.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4526905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275" y="4688830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279327" y="4688830"/>
            <a:ext cx="468013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我的床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房间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里面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，书桌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床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左面。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79327" y="5126980"/>
            <a:ext cx="468013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With a possessor in front, 的 goes in: 床的左面.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5700266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上一课说东西在哪个</a:t>
            </a:r>
            <a:r>
              <a:rPr lang="en-US" sz="1200" b="1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房间</a:t>
            </a: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，这一课说东西在哪样</a:t>
            </a:r>
            <a:r>
              <a:rPr lang="en-US" sz="1200" b="1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东西</a:t>
            </a: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旁边。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12648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033439" y="166688"/>
            <a:ext cx="11098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最难的一句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44709" y="180975"/>
            <a:ext cx="448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88952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一个「有」开头，三个「在」跟着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89547"/>
            <a:ext cx="10972800" cy="1710630"/>
          </a:xfrm>
          <a:prstGeom prst="roundRect">
            <a:avLst>
              <a:gd name="adj" fmla="val 6682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413397"/>
            <a:ext cx="10479988" cy="106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我的房间不算大，里面有一张床和一张书桌；电脑在书桌上面，椅子在书桌前面。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09600" y="3952577"/>
            <a:ext cx="11192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room isn't that big; inside there's a bed and a desk; the computer is on the desk, and the chair is in front of the desk.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476532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先用「有」把东西请进来，再用「在」一样一样摆好——顺序不能反过来。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0494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课文二 · CD 69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693" y="176213"/>
            <a:ext cx="4848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56388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课文二 · 课本 P.138 · 两人读，再换角色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763911"/>
            <a:ext cx="10972800" cy="723900"/>
          </a:xfrm>
          <a:prstGeom prst="roundRect">
            <a:avLst>
              <a:gd name="adj" fmla="val 877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925836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41227" y="1925836"/>
            <a:ext cx="244830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你的房间里有什么？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09600" y="2589312"/>
            <a:ext cx="10972800" cy="723900"/>
          </a:xfrm>
          <a:prstGeom prst="roundRect">
            <a:avLst>
              <a:gd name="adj" fmla="val 877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751237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41227" y="2751237"/>
            <a:ext cx="408051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有一张床、一张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书桌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和一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把椅子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09600" y="3414713"/>
            <a:ext cx="10972800" cy="723900"/>
          </a:xfrm>
          <a:prstGeom prst="roundRect">
            <a:avLst>
              <a:gd name="adj" fmla="val 877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576638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41227" y="3576638"/>
            <a:ext cx="27203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你的房间里有电脑吗？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09600" y="4240113"/>
            <a:ext cx="10972800" cy="723900"/>
          </a:xfrm>
          <a:prstGeom prst="roundRect">
            <a:avLst>
              <a:gd name="adj" fmla="val 877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22275" y="4402038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41227" y="4402038"/>
            <a:ext cx="244830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有，在我的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书桌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上。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09600" y="5090964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CD 69 放到 B 第二次回答就停——完整版里还有两个词，下节课学。</a:t>
            </a:r>
            <a:r>
              <a:rPr lang="en-US" sz="1200" b="1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用中文回答：他的电脑在哪儿？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0550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CFU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990" y="176213"/>
            <a:ext cx="4845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5263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CHECK FOR UNDERSTANDING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52661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21458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1214586"/>
            <a:ext cx="652881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「椅子」的量词是什么？　「书桌」呢？　「床」呢？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79327" y="1665387"/>
            <a:ext cx="65288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全班一起说，一个一个来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246412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240833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79327" y="2408337"/>
            <a:ext cx="434738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翻译：</a:t>
            </a:r>
            <a:r>
              <a:rPr lang="en-US" sz="2100" b="1" i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there are two chairs in my room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79327" y="2859137"/>
            <a:ext cx="43473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写在小白板上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440162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360208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279327" y="3602087"/>
            <a:ext cx="435254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这句话对不对？　我的电脑在书桌。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79327" y="4052888"/>
            <a:ext cx="43525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少了什么？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4633913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479583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1279327" y="4795838"/>
            <a:ext cx="408051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你的房间里有什么？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279327" y="5246638"/>
            <a:ext cx="40805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点三个同学，一人说一样，要带量词，不许重复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580221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答案不上屏——老师现场收（白板／点名）。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8640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stays on screen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246" y="176213"/>
            <a:ext cx="4853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8298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这一课的生词 · STAYS UP WHILE YOU WORK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284512"/>
            <a:ext cx="1469529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owmCEDjpXl/img/shaf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315" y="2370237"/>
            <a:ext cx="507950" cy="5079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02965" y="2928938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沙发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2193429" y="2284512"/>
            <a:ext cx="1469529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var/folders/6c/210dcgxn4gz5sm71vld2cy1h0000gn/T/tmp.owmCEDjpXl/img/chaj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144" y="2370237"/>
            <a:ext cx="507950" cy="5079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86794" y="2928938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茶几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3777258" y="2284512"/>
            <a:ext cx="1469529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var/folders/6c/210dcgxn4gz5sm71vld2cy1h0000gn/T/tmp.owmCEDjpXl/img/dianshigu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7973" y="2370237"/>
            <a:ext cx="507950" cy="5079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150072" y="2928938"/>
            <a:ext cx="7383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电视柜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5361087" y="2284512"/>
            <a:ext cx="1469678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5975152" y="2370237"/>
            <a:ext cx="2462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张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6945064" y="2284512"/>
            <a:ext cx="1469529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3" descr="/var/folders/6c/210dcgxn4gz5sm71vld2cy1h0000gn/T/tmp.owmCEDjpXl/img/kongtia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5779" y="2370237"/>
            <a:ext cx="507950" cy="5079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38430" y="2928938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空调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8528893" y="2284512"/>
            <a:ext cx="1469529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4" descr="/var/folders/6c/210dcgxn4gz5sm71vld2cy1h0000gn/T/tmp.owmCEDjpXl/img/xiyiji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9608" y="2370237"/>
            <a:ext cx="507950" cy="50795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901708" y="2928938"/>
            <a:ext cx="7383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洗衣机</a:t>
            </a:r>
            <a:endParaRPr lang="en-US" sz="1900" dirty="0"/>
          </a:p>
        </p:txBody>
      </p:sp>
      <p:sp>
        <p:nvSpPr>
          <p:cNvPr id="26" name="Text 19"/>
          <p:cNvSpPr/>
          <p:nvPr/>
        </p:nvSpPr>
        <p:spPr>
          <a:xfrm>
            <a:off x="10112722" y="2284512"/>
            <a:ext cx="1469678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5" descr="/var/folders/6c/210dcgxn4gz5sm71vld2cy1h0000gn/T/tmp.owmCEDjpXl/img/limi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3586" y="2370237"/>
            <a:ext cx="507950" cy="50795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0606236" y="2928938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里面</a:t>
            </a:r>
            <a:endParaRPr lang="en-US" sz="1900" dirty="0"/>
          </a:p>
        </p:txBody>
      </p:sp>
      <p:sp>
        <p:nvSpPr>
          <p:cNvPr id="29" name="Text 21"/>
          <p:cNvSpPr/>
          <p:nvPr/>
        </p:nvSpPr>
        <p:spPr>
          <a:xfrm>
            <a:off x="609600" y="3471863"/>
            <a:ext cx="1469529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0" name="Image 6" descr="/var/folders/6c/210dcgxn4gz5sm71vld2cy1h0000gn/T/tmp.owmCEDjpXl/img/bingxian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0315" y="3557588"/>
            <a:ext cx="507950" cy="50795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102965" y="4116288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冰箱</a:t>
            </a:r>
            <a:endParaRPr lang="en-US" sz="1900" dirty="0"/>
          </a:p>
        </p:txBody>
      </p:sp>
      <p:sp>
        <p:nvSpPr>
          <p:cNvPr id="32" name="Text 23"/>
          <p:cNvSpPr/>
          <p:nvPr/>
        </p:nvSpPr>
        <p:spPr>
          <a:xfrm>
            <a:off x="2193429" y="3471863"/>
            <a:ext cx="1469529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3" name="Image 7" descr="/var/folders/6c/210dcgxn4gz5sm71vld2cy1h0000gn/T/tmp.owmCEDjpXl/img/kaoxian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74144" y="3557588"/>
            <a:ext cx="507950" cy="50795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2686794" y="4116288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烤箱</a:t>
            </a:r>
            <a:endParaRPr lang="en-US" sz="1900" dirty="0"/>
          </a:p>
        </p:txBody>
      </p:sp>
      <p:sp>
        <p:nvSpPr>
          <p:cNvPr id="35" name="Text 25"/>
          <p:cNvSpPr/>
          <p:nvPr/>
        </p:nvSpPr>
        <p:spPr>
          <a:xfrm>
            <a:off x="3777258" y="3471863"/>
            <a:ext cx="1469529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6" name="Image 8" descr="/var/folders/6c/210dcgxn4gz5sm71vld2cy1h0000gn/T/tmp.owmCEDjpXl/img/dianlu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57973" y="3557588"/>
            <a:ext cx="507950" cy="50795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4270623" y="4116288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电炉</a:t>
            </a:r>
            <a:endParaRPr lang="en-US" sz="1900" dirty="0"/>
          </a:p>
        </p:txBody>
      </p:sp>
      <p:sp>
        <p:nvSpPr>
          <p:cNvPr id="38" name="Text 27"/>
          <p:cNvSpPr/>
          <p:nvPr/>
        </p:nvSpPr>
        <p:spPr>
          <a:xfrm>
            <a:off x="5361087" y="3471863"/>
            <a:ext cx="1469678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9" name="Image 9" descr="/var/folders/6c/210dcgxn4gz5sm71vld2cy1h0000gn/T/tmp.owmCEDjpXl/img/yizi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41950" y="3557588"/>
            <a:ext cx="507950" cy="507950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5854601" y="4116288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椅子</a:t>
            </a:r>
            <a:endParaRPr lang="en-US" sz="1900" dirty="0"/>
          </a:p>
        </p:txBody>
      </p:sp>
      <p:sp>
        <p:nvSpPr>
          <p:cNvPr id="41" name="Text 29"/>
          <p:cNvSpPr/>
          <p:nvPr/>
        </p:nvSpPr>
        <p:spPr>
          <a:xfrm>
            <a:off x="6945064" y="3471863"/>
            <a:ext cx="1469529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0"/>
          <p:cNvSpPr/>
          <p:nvPr/>
        </p:nvSpPr>
        <p:spPr>
          <a:xfrm>
            <a:off x="7559129" y="3557588"/>
            <a:ext cx="2462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</a:t>
            </a:r>
            <a:endParaRPr lang="en-US" sz="1900" dirty="0"/>
          </a:p>
        </p:txBody>
      </p:sp>
      <p:sp>
        <p:nvSpPr>
          <p:cNvPr id="43" name="Text 31"/>
          <p:cNvSpPr/>
          <p:nvPr/>
        </p:nvSpPr>
        <p:spPr>
          <a:xfrm>
            <a:off x="8528893" y="3471863"/>
            <a:ext cx="1469529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4" name="Image 10" descr="/var/folders/6c/210dcgxn4gz5sm71vld2cy1h0000gn/T/tmp.owmCEDjpXl/img/shuzhuo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09608" y="3557588"/>
            <a:ext cx="507950" cy="507950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9022259" y="4116288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书桌</a:t>
            </a:r>
            <a:endParaRPr lang="en-US" sz="1900" dirty="0"/>
          </a:p>
        </p:txBody>
      </p:sp>
      <p:sp>
        <p:nvSpPr>
          <p:cNvPr id="46" name="Text 33"/>
          <p:cNvSpPr/>
          <p:nvPr/>
        </p:nvSpPr>
        <p:spPr>
          <a:xfrm>
            <a:off x="609600" y="4671864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十三个词。这一页留在屏幕上——后面三个活动都看它。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0397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9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14646" y="176213"/>
            <a:ext cx="4787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5902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画你的卧室，一样家具一句话</a:t>
            </a:r>
            <a:endParaRPr lang="en-US" sz="1100" dirty="0"/>
          </a:p>
        </p:txBody>
      </p:sp>
      <p:pic>
        <p:nvPicPr>
          <p:cNvPr id="9" name="Image 0" descr="/var/folders/6c/210dcgxn4gz5sm71vld2cy1h0000gn/T/tmp.owmCEDjpXl/img/chua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209800"/>
            <a:ext cx="2667000" cy="2667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708350" y="2612678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老师先画 · 90 秒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黑板上画个房间，放三样东西，全班说一句，老师写一句。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708350" y="2958108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再自己画 · 5 分钟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发纸，画你自己的卧室。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708350" y="3303538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至少五句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，每句一样家具，量词一定要对。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708350" y="3648968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最后一句必须用「在」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加方位词，不能用「有」。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708350" y="4121348"/>
            <a:ext cx="80315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我的房间里有一张床。书桌在床的左面。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296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Extension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544" y="176213"/>
            <a:ext cx="4850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397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加难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39727"/>
            <a:ext cx="10972800" cy="2404021"/>
          </a:xfrm>
          <a:prstGeom prst="roundRect">
            <a:avLst>
              <a:gd name="adj" fmla="val 4755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5873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不写你现在的房间——写一个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你想要的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房间，只能放六样东西。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9328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写成一段话，不是一条一条：开头说大小（不算大／不大也不小），每一样都用「在」摆在另一样旁边，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27823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总览页上凡是卧室里放得下的词，全部要用上，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62366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最后一句说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为什么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这样摆。不看总览页。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409604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因为我喜欢看书，所以书桌在窗户前面。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7953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量词快问 · 5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097" y="176213"/>
            <a:ext cx="4854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41446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课本 P.139 第 13 题 · 十三张图，每组一份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14488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72551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03127" y="1725513"/>
            <a:ext cx="379284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指一张图，B 说出来——</a:t>
            </a:r>
            <a:r>
              <a:rPr lang="en-US" sz="1600" b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一定要带量词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03127" y="2060674"/>
            <a:ext cx="37928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「一把椅子」，不是「椅子」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514600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96826" y="2625626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203127" y="2625626"/>
            <a:ext cx="272034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量词错了，A 就再指同一张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03127" y="2960787"/>
            <a:ext cx="27203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走完一轮，换人，第二轮快一点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414713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6826" y="3525738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203127" y="3525738"/>
            <a:ext cx="252420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全班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：老师指，全班一起说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03127" y="3860899"/>
            <a:ext cx="25242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犹豫的那几个词写到黑板上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4314825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826" y="4425851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203127" y="4425851"/>
            <a:ext cx="420696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加难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：说出东西、量词，再说它属于哪个房间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03127" y="4761012"/>
            <a:ext cx="42069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而且房间不能连着重复两次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524023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图纸每两人一份，提前印好。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23409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活动三 · 写六句 · You Do · 5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4582" y="176213"/>
            <a:ext cx="5094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83862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活动三 · 课本 P.139 第 12 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38648"/>
            <a:ext cx="10972800" cy="1877020"/>
          </a:xfrm>
          <a:prstGeom prst="roundRect">
            <a:avLst>
              <a:gd name="adj" fmla="val 6089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28629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安静，自己写，写在本子上。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63172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三句用「有」，三句用「在」。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297715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六句都要是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你家真的是这样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32258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每句把「有」或者「在」画一条线。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09600" y="4093369"/>
            <a:ext cx="10972800" cy="951458"/>
          </a:xfrm>
          <a:prstGeom prst="roundRect">
            <a:avLst>
              <a:gd name="adj" fmla="val 6674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57250" y="4290120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7250" y="4553545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六句要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连成一串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：每一句都得接上一句里出现过的一样东西，读起来像走过你家一圈，不是六件互不相干的事。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4638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写汉字 · 练习册 p.160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990" y="176213"/>
            <a:ext cx="4845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21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32049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笔顺 · 每个字写三遍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32074"/>
            <a:ext cx="10972800" cy="962025"/>
          </a:xfrm>
          <a:prstGeom prst="roundRect">
            <a:avLst>
              <a:gd name="adj" fmla="val 6601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47725" y="1955899"/>
            <a:ext cx="673557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桌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736675" y="2179737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画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01826" y="2179737"/>
            <a:ext cx="29700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上面「⺊」和「日」，下面「木」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966424" y="2113062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455325" y="2113062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944225" y="2113062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9600" y="2882950"/>
            <a:ext cx="10972800" cy="962025"/>
          </a:xfrm>
          <a:prstGeom prst="roundRect">
            <a:avLst>
              <a:gd name="adj" fmla="val 6601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47725" y="3006775"/>
            <a:ext cx="673557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1736675" y="3230612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画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701826" y="3230612"/>
            <a:ext cx="21780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左边提手旁，右边「巴」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966424" y="3163937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455325" y="3163937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944225" y="3163937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9600" y="3933825"/>
            <a:ext cx="10972800" cy="962025"/>
          </a:xfrm>
          <a:prstGeom prst="roundRect">
            <a:avLst>
              <a:gd name="adj" fmla="val 6601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47725" y="4057650"/>
            <a:ext cx="673557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椅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1736675" y="4281488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画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701826" y="4281488"/>
            <a:ext cx="35640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左边木，右边「奇」——椅子是木头做的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966424" y="4214813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0455325" y="4214813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0944225" y="4214813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09600" y="5022800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「椅」和「桌」都有木字旁，因为都是木头做的——这是</a:t>
            </a:r>
            <a:r>
              <a:rPr lang="en-US" sz="1200" b="1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</a:t>
            </a: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的道理，不是部首练习，不用背部首表。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5048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猜房间 · 4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838" y="176213"/>
            <a:ext cx="5102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22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57073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20 QUESTIONS · 猜他想的是哪个房间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770757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88178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03127" y="1881783"/>
            <a:ext cx="420681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一个同学心里想一个自己家的房间，不说出来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03127" y="2216944"/>
            <a:ext cx="42068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全班提问，只能用中文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670870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96826" y="2781895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203127" y="2781895"/>
            <a:ext cx="437197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问题要能用「有／没有」回答，最多二十个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03127" y="3117056"/>
            <a:ext cx="4371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房间里有沙发吗？ 床在房间里面吗？ 房间大不大？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570982"/>
            <a:ext cx="10972800" cy="511522"/>
          </a:xfrm>
          <a:prstGeom prst="roundRect">
            <a:avLst>
              <a:gd name="adj" fmla="val 12414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6826" y="3682008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203127" y="3682008"/>
            <a:ext cx="210340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猜中就换人，玩两三轮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9600" y="4158704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96826" y="4269730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203127" y="4269730"/>
            <a:ext cx="544068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加难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：回答的人</a:t>
            </a:r>
            <a:r>
              <a:rPr lang="en-US" sz="1600" b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不能说「有」也不能说「没有」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03127" y="4604891"/>
            <a:ext cx="54406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每次都要说一整句，给一点新消息，又不能直接说出是哪个房间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09600" y="508411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什么都不用准备。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785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44217" y="166688"/>
            <a:ext cx="9839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Plenary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4285" y="176213"/>
            <a:ext cx="5097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23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397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43–50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39727"/>
            <a:ext cx="10972800" cy="2404021"/>
          </a:xfrm>
          <a:prstGeom prst="roundRect">
            <a:avLst>
              <a:gd name="adj" fmla="val 4755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5873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回看目标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一个同学念三条。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9328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自评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小白板，三条一起举：👍 / 😐 / 👎。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27823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一句话，量词写错不算数。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62366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衣柜和书架把房间写完——然后一个新的问句，把「吗」整个去掉。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409604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出门条：我的房间里有一张书桌和一把椅子。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2026-09-15T04:31:30Z</dcterms:created>
  <dcterms:modified xsi:type="dcterms:W3CDTF">2026-09-15T04:31:30Z</dcterms:modified>
</cp:coreProperties>
</file>