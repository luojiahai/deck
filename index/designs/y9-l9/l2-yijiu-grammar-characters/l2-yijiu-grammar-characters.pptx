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5257800" y="2485132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257800" y="2980432"/>
            <a:ext cx="7772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257800" y="4953893"/>
            <a:ext cx="777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0"/>
              </a:lnSpc>
              <a:spcBef>
                <a:spcPts val="8040"/>
              </a:spcBef>
              <a:spcAft>
                <a:spcPts val="600"/>
              </a:spcAft>
              <a:buNone/>
            </a:pPr>
            <a:r>
              <a:rPr lang="en-US" sz="12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</a:t>
            </a:r>
            <a:r>
              <a:rPr lang="en-US" sz="1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2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257800" y="6554093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 Grammar + Character Flash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L1 Vocabulary + Text 1 Bridge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276475"/>
            <a:ext cx="16192500" cy="1495425"/>
          </a:xfrm>
          <a:prstGeom prst="roundRect">
            <a:avLst>
              <a:gd name="adj" fmla="val 1273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3975" y="2495550"/>
            <a:ext cx="15952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文具 FLASHCARD RECAP (L1'S 11 ITEMS)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2838450"/>
            <a:ext cx="1057275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6850" y="2905125"/>
            <a:ext cx="7869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里边/里面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57450" y="2838450"/>
            <a:ext cx="62865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00325" y="29051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62300" y="2838450"/>
            <a:ext cx="62865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05175" y="29051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67150" y="2838450"/>
            <a:ext cx="62865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10025" y="29051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2838450"/>
            <a:ext cx="80010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14875" y="290512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48300" y="2838450"/>
            <a:ext cx="80010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91175" y="290512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24600" y="2838450"/>
            <a:ext cx="62865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67475" y="29051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29450" y="2838450"/>
            <a:ext cx="80010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72325" y="290512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905750" y="2838450"/>
            <a:ext cx="80010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048625" y="290512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82050" y="2838450"/>
            <a:ext cx="62865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924925" y="29051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86900" y="2838450"/>
            <a:ext cx="628650" cy="371475"/>
          </a:xfrm>
          <a:prstGeom prst="roundRect">
            <a:avLst>
              <a:gd name="adj" fmla="val 153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29775" y="29051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23975" y="3324225"/>
            <a:ext cx="159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Rapid-fire flashcards on the projector — teacher shows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class says pinyin + English chorally. Cycle through all 11 items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twice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7750" y="3962400"/>
            <a:ext cx="16192500" cy="1499592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076325" y="3962400"/>
            <a:ext cx="0" cy="1499592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0650" y="4152900"/>
            <a:ext cx="15875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SENTENCE — FILL THE BLANK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390650" y="4438650"/>
            <a:ext cx="15875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你一进校门就能</a:t>
            </a: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图书馆。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90650" y="4991100"/>
            <a:ext cx="15875127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one student to guess the missing word (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看见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); class echoes the full sentence. "你们看见句子里的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'一……就……'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了吗？今天我们要专门学这个句型——还有十二个新汉字。"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315766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639616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677841"/>
            <a:ext cx="15621000" cy="1440061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677841"/>
            <a:ext cx="0" cy="1440061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3887391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135041"/>
            <a:ext cx="1526305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"as soon as X happens, Y happens," and to recognise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new characters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460802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660827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660827"/>
            <a:ext cx="7222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a sentence using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能用"一……就……"造句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3500" y="644366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64368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643688"/>
            <a:ext cx="1229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recognise and read the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characters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目、足、心、舌、叉、勺、巾、血、皿、刀、包、豆 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能认读十二个汉字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3500" y="742652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62654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626548"/>
            <a:ext cx="75498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看见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in a sentence 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能正确使用"进"和"看见"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525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生词 · 句型一……就……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2085975"/>
            <a:ext cx="3238500" cy="838200"/>
          </a:xfrm>
          <a:prstGeom prst="roundRect">
            <a:avLst>
              <a:gd name="adj" fmla="val 22727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71575" y="2266950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05025" y="2266950"/>
            <a:ext cx="41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jìn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105025" y="2514600"/>
            <a:ext cx="41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enter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52500" y="3019425"/>
            <a:ext cx="3238500" cy="838200"/>
          </a:xfrm>
          <a:prstGeom prst="roundRect">
            <a:avLst>
              <a:gd name="adj" fmla="val 22727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71575" y="3262313"/>
            <a:ext cx="7772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看见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105025" y="3200400"/>
            <a:ext cx="570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kànjiàn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2105025" y="3448050"/>
            <a:ext cx="570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457700" y="2085975"/>
            <a:ext cx="12877800" cy="17716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486275" y="2085975"/>
            <a:ext cx="0" cy="1771650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0" y="2219325"/>
            <a:ext cx="125718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62500" y="2447925"/>
            <a:ext cx="1257185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Subject + </a:t>
            </a:r>
            <a:r>
              <a:rPr lang="en-US" sz="19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action 1 + </a:t>
            </a:r>
            <a:r>
              <a:rPr lang="en-US" sz="19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action 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762500" y="2851696"/>
            <a:ext cx="125718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"As soon as action 1 happens, action 2 happens."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52500" y="4029075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例子 (TEACHER READS ALOUD, CLASS REPEATS)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2500" y="4295775"/>
            <a:ext cx="16383000" cy="832396"/>
          </a:xfrm>
          <a:prstGeom prst="roundRect">
            <a:avLst>
              <a:gd name="adj" fmla="val 1373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2525" y="4391025"/>
            <a:ext cx="16302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152525" y="4562475"/>
            <a:ext cx="1630260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进校门</a:t>
            </a: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能看见图书馆。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152525" y="4861471"/>
            <a:ext cx="163026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 soon as you enter the school gate, you can see the library.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52500" y="5204371"/>
            <a:ext cx="16383000" cy="832396"/>
          </a:xfrm>
          <a:prstGeom prst="roundRect">
            <a:avLst>
              <a:gd name="adj" fmla="val 1373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52525" y="5299621"/>
            <a:ext cx="16302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152525" y="5471071"/>
            <a:ext cx="1630260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到家</a:t>
            </a: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吃饭。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152525" y="5770066"/>
            <a:ext cx="163026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 soon as I get home, I eat.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52500" y="6112966"/>
            <a:ext cx="16383000" cy="641896"/>
          </a:xfrm>
          <a:prstGeom prst="roundRect">
            <a:avLst>
              <a:gd name="adj" fmla="val 17807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52525" y="6208216"/>
            <a:ext cx="16302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152525" y="6379666"/>
            <a:ext cx="1630260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</a:t>
            </a: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进教室，学生</a:t>
            </a: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睡觉！😄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952500" y="6907262"/>
            <a:ext cx="16383000" cy="704850"/>
          </a:xfrm>
          <a:prstGeom prst="roundRect">
            <a:avLst>
              <a:gd name="adj" fmla="val 1621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19200" y="7059662"/>
            <a:ext cx="34975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我进校门就能看见……以后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4876800" y="7102525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34000" y="7059662"/>
            <a:ext cx="34975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25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25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进校门</a:t>
            </a:r>
            <a:r>
              <a:rPr lang="en-US" sz="225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25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能看见……。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990600" y="7669262"/>
            <a:ext cx="166329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Common error: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"一……就……"包住两个动作，不可以只用"就"，也不可以放在句子最后。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066800"/>
            <a:ext cx="16764000" cy="228600"/>
          </a:xfrm>
          <a:prstGeom prst="roundRect">
            <a:avLst>
              <a:gd name="adj" fmla="val 41625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5350" y="1095375"/>
            <a:ext cx="168272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Study Grid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428750"/>
            <a:ext cx="1709928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十二字闪记 · Character Flash Set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762000" y="2047875"/>
            <a:ext cx="17099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all 12 characters together for 1 minute so students can look them over. Give brief English glosses only — no deep teaching, this is memorisation practice.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2682776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27163" y="264795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973759" y="3248025"/>
            <a:ext cx="264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mù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989990" y="3524250"/>
            <a:ext cx="2267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eye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78126" y="2476500"/>
            <a:ext cx="2682925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3289" y="264795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4820543" y="3248025"/>
            <a:ext cx="202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zú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784711" y="3524250"/>
            <a:ext cx="2696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94400" y="2476500"/>
            <a:ext cx="2682776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59563" y="264795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7596187" y="3248025"/>
            <a:ext cx="284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566222" y="3524250"/>
            <a:ext cx="339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10526" y="2476500"/>
            <a:ext cx="2682925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275689" y="264795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10403384" y="3248025"/>
            <a:ext cx="30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shé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0325572" y="3524250"/>
            <a:ext cx="4528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tongue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026801" y="2476500"/>
            <a:ext cx="2682925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091964" y="264795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叉</a:t>
            </a:r>
            <a:endParaRPr lang="en-US" sz="4350" dirty="0"/>
          </a:p>
        </p:txBody>
      </p:sp>
      <p:sp>
        <p:nvSpPr>
          <p:cNvPr id="27" name="Text 25"/>
          <p:cNvSpPr/>
          <p:nvPr/>
        </p:nvSpPr>
        <p:spPr>
          <a:xfrm>
            <a:off x="13216384" y="3248025"/>
            <a:ext cx="309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chā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3236573" y="3524250"/>
            <a:ext cx="263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843075" y="2476500"/>
            <a:ext cx="2682776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908238" y="264795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勺</a:t>
            </a:r>
            <a:endParaRPr lang="en-US" sz="4350" dirty="0"/>
          </a:p>
        </p:txBody>
      </p:sp>
      <p:sp>
        <p:nvSpPr>
          <p:cNvPr id="31" name="Text 29"/>
          <p:cNvSpPr/>
          <p:nvPr/>
        </p:nvSpPr>
        <p:spPr>
          <a:xfrm>
            <a:off x="15981611" y="3248025"/>
            <a:ext cx="413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sháo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5985447" y="3524250"/>
            <a:ext cx="3980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2000" y="3981450"/>
            <a:ext cx="2682776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827163" y="41529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巾</a:t>
            </a:r>
            <a:endParaRPr lang="en-US" sz="4350" dirty="0"/>
          </a:p>
        </p:txBody>
      </p:sp>
      <p:sp>
        <p:nvSpPr>
          <p:cNvPr id="35" name="Text 33"/>
          <p:cNvSpPr/>
          <p:nvPr/>
        </p:nvSpPr>
        <p:spPr>
          <a:xfrm>
            <a:off x="1985367" y="4752975"/>
            <a:ext cx="24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941260" y="5029200"/>
            <a:ext cx="324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cloth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78126" y="3981450"/>
            <a:ext cx="2682925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43289" y="41529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血</a:t>
            </a:r>
            <a:endParaRPr lang="en-US" sz="4350" dirty="0"/>
          </a:p>
        </p:txBody>
      </p:sp>
      <p:sp>
        <p:nvSpPr>
          <p:cNvPr id="39" name="Text 37"/>
          <p:cNvSpPr/>
          <p:nvPr/>
        </p:nvSpPr>
        <p:spPr>
          <a:xfrm>
            <a:off x="4768900" y="4752975"/>
            <a:ext cx="307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xuè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4737044" y="5029200"/>
            <a:ext cx="36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blood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94400" y="3981450"/>
            <a:ext cx="2682776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459563" y="41529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皿</a:t>
            </a:r>
            <a:endParaRPr lang="en-US" sz="4350" dirty="0"/>
          </a:p>
        </p:txBody>
      </p:sp>
      <p:sp>
        <p:nvSpPr>
          <p:cNvPr id="43" name="Text 41"/>
          <p:cNvSpPr/>
          <p:nvPr/>
        </p:nvSpPr>
        <p:spPr>
          <a:xfrm>
            <a:off x="7580561" y="4752975"/>
            <a:ext cx="316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mǐn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7600532" y="5029200"/>
            <a:ext cx="2703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210526" y="3981450"/>
            <a:ext cx="2682925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275689" y="41529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刀</a:t>
            </a:r>
            <a:endParaRPr lang="en-US" sz="4350" dirty="0"/>
          </a:p>
        </p:txBody>
      </p:sp>
      <p:sp>
        <p:nvSpPr>
          <p:cNvPr id="47" name="Text 45"/>
          <p:cNvSpPr/>
          <p:nvPr/>
        </p:nvSpPr>
        <p:spPr>
          <a:xfrm>
            <a:off x="10394900" y="4752975"/>
            <a:ext cx="320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dāo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0390392" y="5029200"/>
            <a:ext cx="323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knife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2026801" y="3981450"/>
            <a:ext cx="2682925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3091964" y="41529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4350" dirty="0"/>
          </a:p>
        </p:txBody>
      </p:sp>
      <p:sp>
        <p:nvSpPr>
          <p:cNvPr id="51" name="Text 49"/>
          <p:cNvSpPr/>
          <p:nvPr/>
        </p:nvSpPr>
        <p:spPr>
          <a:xfrm>
            <a:off x="13211175" y="4752975"/>
            <a:ext cx="320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1275" dirty="0"/>
          </a:p>
        </p:txBody>
      </p:sp>
      <p:sp>
        <p:nvSpPr>
          <p:cNvPr id="52" name="Text 50"/>
          <p:cNvSpPr/>
          <p:nvPr/>
        </p:nvSpPr>
        <p:spPr>
          <a:xfrm>
            <a:off x="13245984" y="5029200"/>
            <a:ext cx="2445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4843075" y="3981450"/>
            <a:ext cx="2682776" cy="1371600"/>
          </a:xfrm>
          <a:prstGeom prst="roundRect">
            <a:avLst>
              <a:gd name="adj" fmla="val 1388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5908238" y="41529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4350" dirty="0"/>
          </a:p>
        </p:txBody>
      </p:sp>
      <p:sp>
        <p:nvSpPr>
          <p:cNvPr id="55" name="Text 53"/>
          <p:cNvSpPr/>
          <p:nvPr/>
        </p:nvSpPr>
        <p:spPr>
          <a:xfrm>
            <a:off x="16024622" y="4752975"/>
            <a:ext cx="3260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6025220" y="5029200"/>
            <a:ext cx="3184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2000" y="5524500"/>
            <a:ext cx="16764000" cy="571500"/>
          </a:xfrm>
          <a:prstGeom prst="roundRect">
            <a:avLst>
              <a:gd name="adj" fmla="val 20000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09650" y="5667375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362075" y="5667375"/>
            <a:ext cx="162277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Teacher: 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the grid for 1 minute, then hide it — this feeds straight into the Character Recall Relay game later in the lesson. Keep glosses brief; these are memorisation characters, not deeply taught vocabulary.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568303"/>
          </a:xfrm>
          <a:prstGeom prst="roundRect">
            <a:avLst>
              <a:gd name="adj" fmla="val 7474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the Pattern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3838575"/>
            <a:ext cx="4954905" cy="107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</a:t>
            </a: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我______起床______刷牙。</a:t>
            </a: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Class calls out the missing words together (一…就…).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477000" y="2257425"/>
            <a:ext cx="5334000" cy="3568303"/>
          </a:xfrm>
          <a:prstGeom prst="roundRect">
            <a:avLst>
              <a:gd name="adj" fmla="val 7474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Build It From English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51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"Sam，怎么用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'一……就……'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'as soon as I see my friend, I say hello'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？"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6715125" y="4937522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05625" y="5051822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3568303"/>
          </a:xfrm>
          <a:prstGeom prst="roundRect">
            <a:avLst>
              <a:gd name="adj" fmla="val 7474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看见 Meaning Check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看见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'to see'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thumbs down if it means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'to hear'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6016228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6140053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in checks 1 and 3. For the cold call, pre-identify 4–5 students who need a stretch — ask them to add an extra detail beyond the two verbs.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171700"/>
            <a:ext cx="16383000" cy="1190625"/>
          </a:xfrm>
          <a:prstGeom prst="roundRect">
            <a:avLst>
              <a:gd name="adj" fmla="val 16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9675" y="23526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9396" y="2419350"/>
            <a:ext cx="83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800225" y="2352675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— fill the pattern: 我______起床______刷牙。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00225" y="2638425"/>
            <a:ext cx="2514600" cy="542925"/>
          </a:xfrm>
          <a:prstGeom prst="roundRect">
            <a:avLst>
              <a:gd name="adj" fmla="val 2105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09775" y="2752725"/>
            <a:ext cx="21374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</a:t>
            </a: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刷牙。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3495675"/>
            <a:ext cx="16383000" cy="1190625"/>
          </a:xfrm>
          <a:prstGeom prst="roundRect">
            <a:avLst>
              <a:gd name="adj" fmla="val 16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9675" y="36766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42876" y="3743325"/>
            <a:ext cx="1167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800225" y="3676650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"as soon as I see my friend, I say hello"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00225" y="3962400"/>
            <a:ext cx="3200400" cy="542925"/>
          </a:xfrm>
          <a:prstGeom prst="roundRect">
            <a:avLst>
              <a:gd name="adj" fmla="val 2105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09775" y="4076700"/>
            <a:ext cx="283692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</a:t>
            </a: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看见朋友</a:t>
            </a: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说你好。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4819650"/>
            <a:ext cx="16383000" cy="1438275"/>
          </a:xfrm>
          <a:prstGeom prst="roundRect">
            <a:avLst>
              <a:gd name="adj" fmla="val 1324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09675" y="500062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42430" y="5067300"/>
            <a:ext cx="117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800225" y="5000625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— does 看见 mean "to see" or "to hear"?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00225" y="5286375"/>
            <a:ext cx="4868168" cy="790575"/>
          </a:xfrm>
          <a:prstGeom prst="roundRect">
            <a:avLst>
              <a:gd name="adj" fmla="val 14458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09775" y="5400675"/>
            <a:ext cx="4538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👍 </a:t>
            </a: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'to see'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09775" y="5772150"/>
            <a:ext cx="4538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看见 = "see" (successfully perceived by eye). "听见" would be "hear".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· BASED ON ACT. 2, P.82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一……就…… 造句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152650"/>
            <a:ext cx="8599884" cy="4367213"/>
          </a:xfrm>
          <a:prstGeom prst="roundRect">
            <a:avLst>
              <a:gd name="adj" fmla="val 4362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8250" y="2038350"/>
            <a:ext cx="2400449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9700" y="2076450"/>
            <a:ext cx="209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Sentence Building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8250" y="25527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0913" y="2600325"/>
            <a:ext cx="614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57350" y="2581275"/>
            <a:ext cx="776147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first and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models aloud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thinking through the two actions: </a:t>
            </a: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"图书馆——一进图书馆就要安静。"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238250" y="318135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38858" y="3228975"/>
            <a:ext cx="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57350" y="3209925"/>
            <a:ext cx="776147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pictures 2–4 (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客厅、礼堂、厨房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), students write their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own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一……就…… sentence on mini whiteboards.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238250" y="38100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38560" y="3857625"/>
            <a:ext cx="868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57350" y="3838575"/>
            <a:ext cx="58352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hold up their whiteboard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three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; teacher scans and confirms.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38250" y="4229100"/>
            <a:ext cx="4620667" cy="228600"/>
          </a:xfrm>
          <a:prstGeom prst="roundRect">
            <a:avLst>
              <a:gd name="adj" fmla="val 4162500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71600" y="4257675"/>
            <a:ext cx="4441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· every student writes and holds up a sentence for every picture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238250" y="4686300"/>
            <a:ext cx="2574429" cy="1362075"/>
          </a:xfrm>
          <a:prstGeom prst="roundRect">
            <a:avLst>
              <a:gd name="adj" fmla="val 839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90650" y="4800600"/>
            <a:ext cx="2315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390650" y="4991100"/>
            <a:ext cx="231502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projected: 一______就______。 with a word bank next to each picture (安静, 看电视, 吃饭, 睡觉, 做饭)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3965079" y="4686300"/>
            <a:ext cx="2574578" cy="1362075"/>
          </a:xfrm>
          <a:prstGeom prst="roundRect">
            <a:avLst>
              <a:gd name="adj" fmla="val 839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17479" y="4800600"/>
            <a:ext cx="2315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117479" y="4991100"/>
            <a:ext cx="231517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a different pair of actions from the word bank each time and add one extra detail — e.g. 我一进客厅就打开电视看新闻。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857184" y="2152650"/>
            <a:ext cx="3672334" cy="1343025"/>
          </a:xfrm>
          <a:prstGeom prst="roundRect">
            <a:avLst>
              <a:gd name="adj" fmla="val 14184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346403" y="2333625"/>
            <a:ext cx="693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1547544" y="2543175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1343519" y="3000375"/>
            <a:ext cx="699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662868" y="2152650"/>
            <a:ext cx="3672483" cy="1343025"/>
          </a:xfrm>
          <a:prstGeom prst="roundRect">
            <a:avLst>
              <a:gd name="adj" fmla="val 1418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353377" y="24384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🛋️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5265938" y="28956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57184" y="3629025"/>
            <a:ext cx="3672334" cy="1133475"/>
          </a:xfrm>
          <a:prstGeom prst="roundRect">
            <a:avLst>
              <a:gd name="adj" fmla="val 1680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547544" y="38100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460105" y="42672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662868" y="3629025"/>
            <a:ext cx="3672483" cy="1133475"/>
          </a:xfrm>
          <a:prstGeom prst="roundRect">
            <a:avLst>
              <a:gd name="adj" fmla="val 1680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353377" y="38100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🍳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5265938" y="42672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857184" y="4914900"/>
            <a:ext cx="7478167" cy="719138"/>
          </a:xfrm>
          <a:prstGeom prst="roundRect">
            <a:avLst>
              <a:gd name="adj" fmla="val 15894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028634" y="5029200"/>
            <a:ext cx="72779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028634" y="5248275"/>
            <a:ext cx="727797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图书馆——一进图书馆就要安静。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9857184" y="5786438"/>
            <a:ext cx="7478167" cy="73342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9880997" y="5786438"/>
            <a:ext cx="0" cy="733425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33409" y="5938838"/>
            <a:ext cx="71128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390650"/>
            <a:ext cx="1690497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汉字大挑战 · Character Recall Relay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57250" y="2124075"/>
            <a:ext cx="8701832" cy="2396430"/>
          </a:xfrm>
          <a:prstGeom prst="roundRect">
            <a:avLst>
              <a:gd name="adj" fmla="val 794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4425" y="2466975"/>
            <a:ext cx="8351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 — ACT. 3 STYLE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14425" y="2790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02829" y="282416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57325" y="2771775"/>
            <a:ext cx="426556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Recap (15 sec):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briefly re-project the 12-character grid.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4425" y="31432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92411" y="31765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57325" y="3124200"/>
            <a:ext cx="534337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Hide the grid.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Divide the class into two teams — left half vs right half.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4425" y="34956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2113" y="352901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57325" y="3476625"/>
            <a:ext cx="800147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an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"knife"); the next student in rotation from alternating teams writes the matching </a:t>
            </a:r>
            <a:r>
              <a:rPr lang="en-US" sz="12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their mini whiteboard and holds it up.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4425" y="407283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91667" y="4106168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57325" y="4053780"/>
            <a:ext cx="4935474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= 1 point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the team; incorrect = other team may steal.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63882" y="2124075"/>
            <a:ext cx="7566720" cy="1000125"/>
          </a:xfrm>
          <a:prstGeom prst="roundRect">
            <a:avLst>
              <a:gd name="adj" fmla="val 19048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82957" y="2419350"/>
            <a:ext cx="7271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63882" y="3257550"/>
            <a:ext cx="1213396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880894" y="3324225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34427" y="3257550"/>
            <a:ext cx="1213545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151438" y="3324225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405122" y="3257550"/>
            <a:ext cx="1213396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422134" y="3324225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675668" y="3257550"/>
            <a:ext cx="1213545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692679" y="3324225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946362" y="3257550"/>
            <a:ext cx="1213545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963373" y="3324225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217057" y="3257550"/>
            <a:ext cx="1213396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234069" y="3324225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勺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63882" y="3714750"/>
            <a:ext cx="1213396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880894" y="3781425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巾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134427" y="3714750"/>
            <a:ext cx="1213545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151438" y="3781425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血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405122" y="3714750"/>
            <a:ext cx="1213396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2422134" y="3781425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皿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675668" y="3714750"/>
            <a:ext cx="1213545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692679" y="3781425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刀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946362" y="3714750"/>
            <a:ext cx="1213545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4963373" y="3781425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217057" y="3714750"/>
            <a:ext cx="1213396" cy="400050"/>
          </a:xfrm>
          <a:prstGeom prst="roundRect">
            <a:avLst>
              <a:gd name="adj" fmla="val 1428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6234069" y="3781425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57250" y="4711005"/>
            <a:ext cx="82105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09650" y="4825305"/>
            <a:ext cx="8063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009650" y="5015805"/>
            <a:ext cx="80638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a student hesitates, teacher may give the radical/component as a hint (e.g. "目 looks like an eye turned sideways").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9220200" y="4711005"/>
            <a:ext cx="82105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372600" y="4825305"/>
            <a:ext cx="8063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9372600" y="5015805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also give the pinyin, not just the character.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390650"/>
            <a:ext cx="1690497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一……就…… 句子重组 · Sentence Jumble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57250" y="2124075"/>
            <a:ext cx="8701832" cy="2333625"/>
          </a:xfrm>
          <a:prstGeom prst="roundRect">
            <a:avLst>
              <a:gd name="adj" fmla="val 816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4425" y="2466975"/>
            <a:ext cx="8351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14425" y="2790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02829" y="282416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57325" y="2771775"/>
            <a:ext cx="498131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a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jumbled sentence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word by word out of order.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4425" y="31432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92411" y="31765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57325" y="3124200"/>
            <a:ext cx="5803797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students write the correctly ordered sentence on a mini whiteboard.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4425" y="34956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2113" y="352901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57325" y="3476625"/>
            <a:ext cx="7636231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pair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hold up a fully correct sentence wins the round. Repeat with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more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jumbled sentences.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4425" y="3857625"/>
            <a:ext cx="466725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57300" y="39243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657350" y="3857625"/>
            <a:ext cx="828675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00225" y="392430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2562225" y="3857625"/>
            <a:ext cx="647700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05100" y="39243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看见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286125" y="3857625"/>
            <a:ext cx="647700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9000" y="39243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校门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4010025" y="3857625"/>
            <a:ext cx="466725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52900" y="39243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4552950" y="3857625"/>
            <a:ext cx="466725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95825" y="39243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5095875" y="3857625"/>
            <a:ext cx="466725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38750" y="39243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5638800" y="3857625"/>
            <a:ext cx="466725" cy="381000"/>
          </a:xfrm>
          <a:prstGeom prst="roundRect">
            <a:avLst>
              <a:gd name="adj" fmla="val 15000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81675" y="39243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9863882" y="2124075"/>
            <a:ext cx="7566720" cy="923925"/>
          </a:xfrm>
          <a:prstGeom prst="roundRect">
            <a:avLst>
              <a:gd name="adj" fmla="val 2061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82957" y="2419350"/>
            <a:ext cx="7271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82957" y="2657475"/>
            <a:ext cx="7271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Projector only.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63882" y="3181350"/>
            <a:ext cx="7566720" cy="1000125"/>
          </a:xfrm>
          <a:prstGeom prst="roundRect">
            <a:avLst>
              <a:gd name="adj" fmla="val 19048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082957" y="3476625"/>
            <a:ext cx="7271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ANSWER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82957" y="3714750"/>
            <a:ext cx="72711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你一进校门就能看见图书馆。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57250" y="4648200"/>
            <a:ext cx="8210550" cy="762000"/>
          </a:xfrm>
          <a:prstGeom prst="roundRect">
            <a:avLst>
              <a:gd name="adj" fmla="val 150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09650" y="4762500"/>
            <a:ext cx="8063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009650" y="4953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the first word (你) as a starting point for the first jumble.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9220200" y="4648200"/>
            <a:ext cx="8210550" cy="762000"/>
          </a:xfrm>
          <a:prstGeom prst="roundRect">
            <a:avLst>
              <a:gd name="adj" fmla="val 15000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372600" y="4762500"/>
            <a:ext cx="8063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9372600" y="4953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the third jumble, remove one word entirely and have students supply it from memory before reordering.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自由练习 · Free Practice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8579495" cy="3188791"/>
          </a:xfrm>
          <a:prstGeom prst="roundRect">
            <a:avLst>
              <a:gd name="adj" fmla="val 5974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8250" y="2143125"/>
            <a:ext cx="2649587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9700" y="2181225"/>
            <a:ext cx="23528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Independent Writing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57300" y="2676525"/>
            <a:ext cx="8129293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4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more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 about your own daily life (e.g. getting to school, arriving home) in your exercise book — </a:t>
            </a:r>
            <a:r>
              <a:rPr lang="en-US" sz="14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without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word bank.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257300" y="3426916"/>
            <a:ext cx="4552355" cy="228600"/>
          </a:xfrm>
          <a:prstGeom prst="roundRect">
            <a:avLst>
              <a:gd name="adj" fmla="val 4162500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90650" y="3455491"/>
            <a:ext cx="4371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· all students write independently; cold call 2–3 to share aloud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257300" y="4055566"/>
            <a:ext cx="2554932" cy="1162050"/>
          </a:xfrm>
          <a:prstGeom prst="roundRect">
            <a:avLst>
              <a:gd name="adj" fmla="val 983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09700" y="4169866"/>
            <a:ext cx="22951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409700" y="4360366"/>
            <a:ext cx="229513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still projected for students who need it: 我一______就______。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964632" y="4055566"/>
            <a:ext cx="2555081" cy="1162050"/>
          </a:xfrm>
          <a:prstGeom prst="roundRect">
            <a:avLst>
              <a:gd name="adj" fmla="val 983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17032" y="4169866"/>
            <a:ext cx="22952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117032" y="4360366"/>
            <a:ext cx="229528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sentence must use a verb not modelled today (e.g. 一放学就……).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874895" y="2257425"/>
            <a:ext cx="7460456" cy="1800225"/>
          </a:xfrm>
          <a:prstGeom prst="roundRect">
            <a:avLst>
              <a:gd name="adj" fmla="val 1058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113020" y="2457450"/>
            <a:ext cx="71238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IDEAS TO GET STARTED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13020" y="2714625"/>
            <a:ext cx="712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getting to school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0113020" y="3019425"/>
            <a:ext cx="712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到家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arriving home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0113020" y="3324225"/>
            <a:ext cx="712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school finishing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0113020" y="3629025"/>
            <a:ext cx="712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waking up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9874895" y="4210050"/>
            <a:ext cx="7460456" cy="73342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898707" y="4210050"/>
            <a:ext cx="0" cy="733425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51120" y="4362450"/>
            <a:ext cx="70947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</a:t>
            </a: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900363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224213"/>
            <a:ext cx="163220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143000" y="4176712"/>
            <a:ext cx="7848600" cy="3476625"/>
          </a:xfrm>
          <a:prstGeom prst="roundRect">
            <a:avLst>
              <a:gd name="adj" fmla="val 76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38275" y="4586288"/>
            <a:ext cx="7403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38275" y="4948238"/>
            <a:ext cx="74032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SC; class responds with a matching example. Then: 👍 完全可以 · 👉 差不多 · 👎 还不行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1625" y="5491163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89943" y="5553075"/>
            <a:ext cx="88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43100" y="5491163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61121" y="5553075"/>
            <a:ext cx="89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314575" y="5491163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46734" y="5553075"/>
            <a:ext cx="60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771775" y="5539680"/>
            <a:ext cx="287912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a sentence using 一……就……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571625" y="593883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89943" y="6000750"/>
            <a:ext cx="88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943100" y="593883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61121" y="6000750"/>
            <a:ext cx="89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314575" y="593883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46734" y="6000750"/>
            <a:ext cx="60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771775" y="5987355"/>
            <a:ext cx="302835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Recognise and read the 12 characters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571625" y="6386513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89943" y="6448425"/>
            <a:ext cx="88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43100" y="6386513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61121" y="6448425"/>
            <a:ext cx="89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2314575" y="6386513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46734" y="6448425"/>
            <a:ext cx="60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2771775" y="6435030"/>
            <a:ext cx="3159207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进 and 看见 correctly in a sentence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38275" y="6843713"/>
            <a:ext cx="7258050" cy="552450"/>
          </a:xfrm>
          <a:prstGeom prst="roundRect">
            <a:avLst>
              <a:gd name="adj" fmla="val 20690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90675" y="6938963"/>
            <a:ext cx="70923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on criterion 1 (word order 一……就……) for the next lesson's review.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9296400" y="4176712"/>
            <a:ext cx="7848600" cy="3476625"/>
          </a:xfrm>
          <a:prstGeom prst="roundRect">
            <a:avLst>
              <a:gd name="adj" fmla="val 76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91675" y="4586288"/>
            <a:ext cx="7403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91675" y="4948238"/>
            <a:ext cx="7258050" cy="83626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615488" y="4948238"/>
            <a:ext cx="0" cy="83626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9800" y="5100638"/>
            <a:ext cx="6966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WHITEBOARDS, 2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29800" y="5338763"/>
            <a:ext cx="696601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using 一……就……, about anything you choose.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91675" y="6645473"/>
            <a:ext cx="7258050" cy="428625"/>
          </a:xfrm>
          <a:prstGeom prst="roundRect">
            <a:avLst>
              <a:gd name="adj" fmla="val 26667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782175" y="6759773"/>
            <a:ext cx="7014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"下一课，我们要学一个新语法——'看见/买到/吃光'这种'结果补语'，还会练听力。"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进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343150" y="2095500"/>
            <a:ext cx="1360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343150" y="2514600"/>
            <a:ext cx="1360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343150" y="3657600"/>
            <a:ext cx="13601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2343150" y="4438650"/>
            <a:ext cx="13601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pattern 一……就…… · 进/看见 · 12 characters 目足心舌叉勺巾血皿刀包豆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476500" y="5210175"/>
            <a:ext cx="13335000" cy="2428875"/>
          </a:xfrm>
          <a:prstGeom prst="roundRect">
            <a:avLst>
              <a:gd name="adj" fmla="val 10980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28925" y="5534025"/>
            <a:ext cx="1263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8925" y="5838825"/>
            <a:ext cx="1263015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下一课，我们要学一个新语法——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结果补语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，比如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"看见/买到/吃光"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，还会练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听力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a new grammar point — the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complement of result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看见/买到/吃光), plus a listening practice about students' stationery items.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2026-07-25T11:15:57Z</dcterms:created>
  <dcterms:modified xsi:type="dcterms:W3CDTF">2026-07-25T11:15:57Z</dcterms:modified>
</cp:coreProperties>
</file>