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0" y="5715000"/>
            <a:ext cx="4080510" cy="400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0"/>
              </a:lnSpc>
              <a:buNone/>
            </a:pPr>
            <a:r>
              <a:rPr lang="en-US" sz="31500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到</a:t>
            </a:r>
            <a:endParaRPr lang="en-US" sz="31500" dirty="0"/>
          </a:p>
        </p:txBody>
      </p:sp>
      <p:sp>
        <p:nvSpPr>
          <p:cNvPr id="3" name="Text 1"/>
          <p:cNvSpPr/>
          <p:nvPr/>
        </p:nvSpPr>
        <p:spPr>
          <a:xfrm>
            <a:off x="5423115" y="2578894"/>
            <a:ext cx="744176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LESSON 3 OF 8 · Y9 UNIT 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23115" y="3074194"/>
            <a:ext cx="7441769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500"/>
              </a:lnSpc>
              <a:buNone/>
            </a:pPr>
            <a:r>
              <a:rPr lang="en-US" sz="7500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🔍</a:t>
            </a:r>
            <a:endParaRPr lang="en-US" sz="7500" dirty="0"/>
          </a:p>
        </p:txBody>
      </p:sp>
      <p:sp>
        <p:nvSpPr>
          <p:cNvPr id="5" name="Text 3"/>
          <p:cNvSpPr/>
          <p:nvPr/>
        </p:nvSpPr>
        <p:spPr>
          <a:xfrm>
            <a:off x="5423115" y="4983956"/>
            <a:ext cx="7441769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50"/>
              </a:lnSpc>
              <a:spcBef>
                <a:spcPts val="7538"/>
              </a:spcBef>
              <a:spcAft>
                <a:spcPts val="600"/>
              </a:spcAft>
              <a:buNone/>
            </a:pPr>
            <a:r>
              <a:rPr lang="en-US" sz="1125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结果</a:t>
            </a:r>
            <a:r>
              <a:rPr lang="en-US" sz="11250" b="1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·</a:t>
            </a:r>
            <a:r>
              <a:rPr lang="en-US" sz="1125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补语</a:t>
            </a:r>
            <a:endParaRPr lang="en-US" sz="11250" dirty="0"/>
          </a:p>
        </p:txBody>
      </p:sp>
      <p:sp>
        <p:nvSpPr>
          <p:cNvPr id="6" name="Text 4"/>
          <p:cNvSpPr/>
          <p:nvPr/>
        </p:nvSpPr>
        <p:spPr>
          <a:xfrm>
            <a:off x="5423115" y="6488906"/>
            <a:ext cx="744176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Complement of Result + Listening</a:t>
            </a:r>
            <a:endParaRPr lang="en-US" sz="2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52500" y="1104900"/>
            <a:ext cx="167106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0–8 MIN · REVIEW · WARM-UP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52500" y="1409700"/>
            <a:ext cx="1671066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复习 · Review</a:t>
            </a:r>
            <a:endParaRPr lang="en-US" sz="3450" dirty="0"/>
          </a:p>
        </p:txBody>
      </p:sp>
      <p:sp>
        <p:nvSpPr>
          <p:cNvPr id="7" name="Text 5"/>
          <p:cNvSpPr/>
          <p:nvPr/>
        </p:nvSpPr>
        <p:spPr>
          <a:xfrm>
            <a:off x="952500" y="2238375"/>
            <a:ext cx="8401943" cy="2843213"/>
          </a:xfrm>
          <a:prstGeom prst="roundRect">
            <a:avLst>
              <a:gd name="adj" fmla="val 6700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228725" y="2609850"/>
            <a:ext cx="800648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REORDER THE SENTENCE · 一……就……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228725" y="3724275"/>
            <a:ext cx="800648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Mini whiteboards, 30 sec: reorder into a correct sentence. Target: </a:t>
            </a:r>
            <a:r>
              <a:rPr lang="en-US" sz="1125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他一到教室就拿出课本。</a:t>
            </a:r>
            <a:r>
              <a:rPr lang="en-US" sz="112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(As soon as he arrives at the classroom, he takes out his textbook.)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9697343" y="2238375"/>
            <a:ext cx="7638157" cy="2843213"/>
          </a:xfrm>
          <a:prstGeom prst="roundRect">
            <a:avLst>
              <a:gd name="adj" fmla="val 6700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9973568" y="2609850"/>
            <a:ext cx="722742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FLASHCARD RECAP · 12 CHARACTERS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973568" y="3086100"/>
            <a:ext cx="1101477" cy="647700"/>
          </a:xfrm>
          <a:prstGeom prst="roundRect">
            <a:avLst>
              <a:gd name="adj" fmla="val 17647"/>
            </a:avLst>
          </a:prstGeom>
          <a:solidFill>
            <a:srgbClr val="EAE6DC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0371832" y="3195638"/>
            <a:ext cx="31089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目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1170295" y="3086100"/>
            <a:ext cx="1101626" cy="647700"/>
          </a:xfrm>
          <a:prstGeom prst="roundRect">
            <a:avLst>
              <a:gd name="adj" fmla="val 17647"/>
            </a:avLst>
          </a:prstGeom>
          <a:solidFill>
            <a:srgbClr val="EAE6DC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1568708" y="3195638"/>
            <a:ext cx="31089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足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2367171" y="3086100"/>
            <a:ext cx="1101477" cy="647700"/>
          </a:xfrm>
          <a:prstGeom prst="roundRect">
            <a:avLst>
              <a:gd name="adj" fmla="val 17647"/>
            </a:avLst>
          </a:prstGeom>
          <a:solidFill>
            <a:srgbClr val="EAE6DC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2765435" y="3195638"/>
            <a:ext cx="31089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心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3563898" y="3086100"/>
            <a:ext cx="1101626" cy="647700"/>
          </a:xfrm>
          <a:prstGeom prst="roundRect">
            <a:avLst>
              <a:gd name="adj" fmla="val 17647"/>
            </a:avLst>
          </a:prstGeom>
          <a:solidFill>
            <a:srgbClr val="EAE6DC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3962311" y="3195638"/>
            <a:ext cx="31089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舌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4760773" y="3086100"/>
            <a:ext cx="1101626" cy="647700"/>
          </a:xfrm>
          <a:prstGeom prst="roundRect">
            <a:avLst>
              <a:gd name="adj" fmla="val 17647"/>
            </a:avLst>
          </a:prstGeom>
          <a:solidFill>
            <a:srgbClr val="EAE6DC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5159186" y="3195638"/>
            <a:ext cx="31089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叉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5957649" y="3086100"/>
            <a:ext cx="1101477" cy="647700"/>
          </a:xfrm>
          <a:prstGeom prst="roundRect">
            <a:avLst>
              <a:gd name="adj" fmla="val 17647"/>
            </a:avLst>
          </a:prstGeom>
          <a:solidFill>
            <a:srgbClr val="EAE6DC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6355913" y="3195638"/>
            <a:ext cx="31089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勺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9973568" y="3829050"/>
            <a:ext cx="1101477" cy="647700"/>
          </a:xfrm>
          <a:prstGeom prst="roundRect">
            <a:avLst>
              <a:gd name="adj" fmla="val 17647"/>
            </a:avLst>
          </a:prstGeom>
          <a:solidFill>
            <a:srgbClr val="EAE6DC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10371832" y="3938588"/>
            <a:ext cx="31089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巾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11170295" y="3829050"/>
            <a:ext cx="1101626" cy="647700"/>
          </a:xfrm>
          <a:prstGeom prst="roundRect">
            <a:avLst>
              <a:gd name="adj" fmla="val 17647"/>
            </a:avLst>
          </a:prstGeom>
          <a:solidFill>
            <a:srgbClr val="EAE6DC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11568708" y="3938588"/>
            <a:ext cx="31089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血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12367171" y="3829050"/>
            <a:ext cx="1101477" cy="647700"/>
          </a:xfrm>
          <a:prstGeom prst="roundRect">
            <a:avLst>
              <a:gd name="adj" fmla="val 17647"/>
            </a:avLst>
          </a:prstGeom>
          <a:solidFill>
            <a:srgbClr val="EAE6DC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12765435" y="3938588"/>
            <a:ext cx="31089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皿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13563898" y="3829050"/>
            <a:ext cx="1101626" cy="647700"/>
          </a:xfrm>
          <a:prstGeom prst="roundRect">
            <a:avLst>
              <a:gd name="adj" fmla="val 17647"/>
            </a:avLst>
          </a:prstGeom>
          <a:solidFill>
            <a:srgbClr val="EAE6DC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13962311" y="3938588"/>
            <a:ext cx="31089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刀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14760773" y="3829050"/>
            <a:ext cx="1101626" cy="647700"/>
          </a:xfrm>
          <a:prstGeom prst="roundRect">
            <a:avLst>
              <a:gd name="adj" fmla="val 17647"/>
            </a:avLst>
          </a:prstGeom>
          <a:solidFill>
            <a:srgbClr val="EAE6DC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15159186" y="3938588"/>
            <a:ext cx="31089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包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15957649" y="3829050"/>
            <a:ext cx="1101477" cy="647700"/>
          </a:xfrm>
          <a:prstGeom prst="roundRect">
            <a:avLst>
              <a:gd name="adj" fmla="val 17647"/>
            </a:avLst>
          </a:prstGeom>
          <a:solidFill>
            <a:srgbClr val="EAE6DC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16355913" y="3938588"/>
            <a:ext cx="31089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豆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9973568" y="4629150"/>
            <a:ext cx="7227421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shows each 汉字; class says the English meaning chorally — rapid-fire.</a:t>
            </a:r>
            <a:endParaRPr lang="en-US" sz="1125" dirty="0"/>
          </a:p>
        </p:txBody>
      </p:sp>
      <p:sp>
        <p:nvSpPr>
          <p:cNvPr id="37" name="Text 35"/>
          <p:cNvSpPr/>
          <p:nvPr/>
        </p:nvSpPr>
        <p:spPr>
          <a:xfrm>
            <a:off x="952500" y="5272088"/>
            <a:ext cx="16383000" cy="908596"/>
          </a:xfrm>
          <a:prstGeom prst="rect">
            <a:avLst/>
          </a:prstGeom>
          <a:solidFill>
            <a:srgbClr val="3A5F8A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976313" y="5272088"/>
            <a:ext cx="0" cy="908596"/>
          </a:xfrm>
          <a:prstGeom prst="line">
            <a:avLst/>
          </a:prstGeom>
          <a:noFill/>
          <a:ln w="47625">
            <a:solidFill>
              <a:srgbClr val="3A5F8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266825" y="5462588"/>
            <a:ext cx="1611801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CONNECTION · 承上启下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266825" y="5700713"/>
            <a:ext cx="16118014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425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上节课我们学了"</a:t>
            </a:r>
            <a:r>
              <a:rPr lang="en-US" sz="1425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一……就……</a:t>
            </a:r>
            <a:r>
              <a:rPr lang="en-US" sz="1425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"——两个动作一起发生。今天我们学另外一种句型——"</a:t>
            </a:r>
            <a:r>
              <a:rPr lang="en-US" sz="1425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结果补语</a:t>
            </a:r>
            <a:r>
              <a:rPr lang="en-US" sz="1425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"，说一个动作</a:t>
            </a:r>
            <a:r>
              <a:rPr lang="en-US" sz="1425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做完了</a:t>
            </a:r>
            <a:r>
              <a:rPr lang="en-US" sz="1425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、</a:t>
            </a:r>
            <a:r>
              <a:rPr lang="en-US" sz="1425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完成了</a:t>
            </a:r>
            <a:r>
              <a:rPr lang="en-US" sz="1425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。比如：我买</a:t>
            </a:r>
            <a:r>
              <a:rPr lang="en-US" sz="1425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到</a:t>
            </a:r>
            <a:r>
              <a:rPr lang="en-US" sz="1425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了铅笔——不只是"买"，是"买"并且</a:t>
            </a:r>
            <a:r>
              <a:rPr lang="en-US" sz="1425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成功了</a:t>
            </a:r>
            <a:r>
              <a:rPr lang="en-US" sz="1425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</a:t>
            </a:r>
            <a:endParaRPr lang="en-US" sz="1425" dirty="0"/>
          </a:p>
        </p:txBody>
      </p:sp>
      <p:sp>
        <p:nvSpPr>
          <p:cNvPr id="41" name="Shape 39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333500" y="2372916"/>
            <a:ext cx="159334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8–10 MIN · DISPLAY ON PROJECTOR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33500" y="2696766"/>
            <a:ext cx="15933420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今日目标 · Today's Goal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1333500" y="3734991"/>
            <a:ext cx="15621000" cy="1440061"/>
          </a:xfrm>
          <a:prstGeom prst="rect">
            <a:avLst/>
          </a:prstGeom>
          <a:solidFill>
            <a:srgbClr val="3A5F8A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1357313" y="3734991"/>
            <a:ext cx="0" cy="1440061"/>
          </a:xfrm>
          <a:prstGeom prst="line">
            <a:avLst/>
          </a:prstGeom>
          <a:noFill/>
          <a:ln w="47625">
            <a:solidFill>
              <a:srgbClr val="3A5F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85925" y="3944541"/>
            <a:ext cx="1526305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LEARNING INTENTION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1685925" y="4192191"/>
            <a:ext cx="15263051" cy="773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45"/>
              </a:lnSpc>
              <a:buNone/>
            </a:pPr>
            <a:r>
              <a:rPr lang="en-US" sz="21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are learning to use </a:t>
            </a:r>
            <a:r>
              <a:rPr lang="en-US" sz="21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complement-of-result verb pairs</a:t>
            </a:r>
            <a:r>
              <a:rPr lang="en-US" sz="21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to show that an action was completed and achieved its result.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333500" y="5517952"/>
            <a:ext cx="15621000" cy="773311"/>
          </a:xfrm>
          <a:prstGeom prst="roundRect">
            <a:avLst>
              <a:gd name="adj" fmla="val 14781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571625" y="5698927"/>
            <a:ext cx="388620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2143125" y="5698927"/>
            <a:ext cx="1202839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165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explain the difference between an action alone and an action + result complement </a:t>
            </a:r>
            <a:r>
              <a:rPr lang="en-US" sz="165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能解释动作和"结果补语"的区别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333500" y="6462713"/>
            <a:ext cx="15621000" cy="773311"/>
          </a:xfrm>
          <a:prstGeom prst="roundRect">
            <a:avLst>
              <a:gd name="adj" fmla="val 14781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571625" y="6643688"/>
            <a:ext cx="388620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2143125" y="6643688"/>
            <a:ext cx="10750504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165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make sentences using at least </a:t>
            </a:r>
            <a:r>
              <a:rPr lang="en-US" sz="165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 different complement-of-result pairs</a:t>
            </a:r>
            <a:r>
              <a:rPr lang="en-US" sz="165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65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能用至少三个"结果补语"造句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333500" y="7407473"/>
            <a:ext cx="15621000" cy="773311"/>
          </a:xfrm>
          <a:prstGeom prst="roundRect">
            <a:avLst>
              <a:gd name="adj" fmla="val 14781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571625" y="7588448"/>
            <a:ext cx="388620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2143125" y="7588448"/>
            <a:ext cx="9762104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165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understand a listening passage about students' stationery items </a:t>
            </a:r>
            <a:r>
              <a:rPr lang="en-US" sz="165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能听懂关于文具的听力短文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57250" y="1066800"/>
            <a:ext cx="169049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10–18 MIN · I DO · GRAMMAR FOCUS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57250" y="1352550"/>
            <a:ext cx="1690497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结果补语 · Complement of Result</a:t>
            </a:r>
            <a:endParaRPr lang="en-US" sz="3150" dirty="0"/>
          </a:p>
        </p:txBody>
      </p:sp>
      <p:sp>
        <p:nvSpPr>
          <p:cNvPr id="7" name="Text 5"/>
          <p:cNvSpPr/>
          <p:nvPr/>
        </p:nvSpPr>
        <p:spPr>
          <a:xfrm>
            <a:off x="857250" y="1990725"/>
            <a:ext cx="1690497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这些词都是"</a:t>
            </a:r>
            <a:r>
              <a:rPr lang="en-US" sz="1275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动词 + 补语</a:t>
            </a:r>
            <a:r>
              <a:rPr lang="en-US" sz="12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"。补语告诉我们这个动作的</a:t>
            </a:r>
            <a:r>
              <a:rPr lang="en-US" sz="1275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结果</a:t>
            </a:r>
            <a:r>
              <a:rPr lang="en-US" sz="12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——不只是"做"，而是"做</a:t>
            </a:r>
            <a:r>
              <a:rPr lang="en-US" sz="1275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完</a:t>
            </a:r>
            <a:r>
              <a:rPr lang="en-US" sz="12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了"或"做</a:t>
            </a:r>
            <a:r>
              <a:rPr lang="en-US" sz="1275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到</a:t>
            </a:r>
            <a:r>
              <a:rPr lang="en-US" sz="12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了"。</a:t>
            </a:r>
            <a:endParaRPr lang="en-US" sz="1275" dirty="0"/>
          </a:p>
        </p:txBody>
      </p:sp>
      <p:sp>
        <p:nvSpPr>
          <p:cNvPr id="8" name="Text 6"/>
          <p:cNvSpPr/>
          <p:nvPr/>
        </p:nvSpPr>
        <p:spPr>
          <a:xfrm>
            <a:off x="9494788" y="2405063"/>
            <a:ext cx="809468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MODELLED EXAMPLES · 例句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494788" y="2624138"/>
            <a:ext cx="7935962" cy="666750"/>
          </a:xfrm>
          <a:prstGeom prst="rect">
            <a:avLst/>
          </a:prstGeom>
          <a:solidFill>
            <a:srgbClr val="EAE6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9518600" y="2624138"/>
            <a:ext cx="0" cy="666750"/>
          </a:xfrm>
          <a:prstGeom prst="line">
            <a:avLst/>
          </a:prstGeom>
          <a:noFill/>
          <a:ln w="47625">
            <a:solidFill>
              <a:srgbClr val="3A5F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713863" y="2719388"/>
            <a:ext cx="7696346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我在文具店里找</a:t>
            </a:r>
            <a:r>
              <a:rPr lang="en-US" sz="1575" b="1" u="sng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到</a:t>
            </a:r>
            <a:r>
              <a:rPr lang="en-US" sz="1575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了一支铅笔。</a:t>
            </a:r>
            <a:endParaRPr lang="en-US" sz="1575" dirty="0"/>
          </a:p>
        </p:txBody>
      </p:sp>
      <p:sp>
        <p:nvSpPr>
          <p:cNvPr id="12" name="Text 10"/>
          <p:cNvSpPr/>
          <p:nvPr/>
        </p:nvSpPr>
        <p:spPr>
          <a:xfrm>
            <a:off x="9713863" y="3014663"/>
            <a:ext cx="769634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13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found a pencil in the stationery store — successfully.</a:t>
            </a:r>
            <a:endParaRPr lang="en-US" sz="1013" dirty="0"/>
          </a:p>
        </p:txBody>
      </p:sp>
      <p:sp>
        <p:nvSpPr>
          <p:cNvPr id="13" name="Text 11"/>
          <p:cNvSpPr/>
          <p:nvPr/>
        </p:nvSpPr>
        <p:spPr>
          <a:xfrm>
            <a:off x="9494788" y="3405188"/>
            <a:ext cx="7935962" cy="666750"/>
          </a:xfrm>
          <a:prstGeom prst="rect">
            <a:avLst/>
          </a:prstGeom>
          <a:solidFill>
            <a:srgbClr val="EAE6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9518600" y="3405188"/>
            <a:ext cx="0" cy="666750"/>
          </a:xfrm>
          <a:prstGeom prst="line">
            <a:avLst/>
          </a:prstGeom>
          <a:noFill/>
          <a:ln w="47625">
            <a:solidFill>
              <a:srgbClr val="3A5F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13863" y="3500438"/>
            <a:ext cx="7696346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蛋糕已经吃</a:t>
            </a:r>
            <a:r>
              <a:rPr lang="en-US" sz="1575" b="1" u="sng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光</a:t>
            </a:r>
            <a:r>
              <a:rPr lang="en-US" sz="1575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了。</a:t>
            </a:r>
            <a:endParaRPr lang="en-US" sz="1575" dirty="0"/>
          </a:p>
        </p:txBody>
      </p:sp>
      <p:sp>
        <p:nvSpPr>
          <p:cNvPr id="16" name="Text 14"/>
          <p:cNvSpPr/>
          <p:nvPr/>
        </p:nvSpPr>
        <p:spPr>
          <a:xfrm>
            <a:off x="9713863" y="3795713"/>
            <a:ext cx="769634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13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 cake is completely eaten — none left.</a:t>
            </a:r>
            <a:endParaRPr lang="en-US" sz="1013" dirty="0"/>
          </a:p>
        </p:txBody>
      </p:sp>
      <p:sp>
        <p:nvSpPr>
          <p:cNvPr id="17" name="Text 15"/>
          <p:cNvSpPr/>
          <p:nvPr/>
        </p:nvSpPr>
        <p:spPr>
          <a:xfrm>
            <a:off x="9494788" y="4186238"/>
            <a:ext cx="7935962" cy="666750"/>
          </a:xfrm>
          <a:prstGeom prst="rect">
            <a:avLst/>
          </a:prstGeom>
          <a:solidFill>
            <a:srgbClr val="EAE6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9518600" y="4186238"/>
            <a:ext cx="0" cy="666750"/>
          </a:xfrm>
          <a:prstGeom prst="line">
            <a:avLst/>
          </a:prstGeom>
          <a:noFill/>
          <a:ln w="47625">
            <a:solidFill>
              <a:srgbClr val="3A5F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13863" y="4281488"/>
            <a:ext cx="7696346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老师说的话，我一个字都没听</a:t>
            </a:r>
            <a:r>
              <a:rPr lang="en-US" sz="1575" b="1" u="sng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见</a:t>
            </a:r>
            <a:r>
              <a:rPr lang="en-US" sz="1575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！</a:t>
            </a:r>
            <a:endParaRPr lang="en-US" sz="1575" dirty="0"/>
          </a:p>
        </p:txBody>
      </p:sp>
      <p:sp>
        <p:nvSpPr>
          <p:cNvPr id="20" name="Text 18"/>
          <p:cNvSpPr/>
          <p:nvPr/>
        </p:nvSpPr>
        <p:spPr>
          <a:xfrm>
            <a:off x="9713863" y="4576763"/>
            <a:ext cx="769634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13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didn't hear a single word the teacher said! (silly example)</a:t>
            </a:r>
            <a:endParaRPr lang="en-US" sz="1013" dirty="0"/>
          </a:p>
        </p:txBody>
      </p:sp>
      <p:sp>
        <p:nvSpPr>
          <p:cNvPr id="21" name="Text 19"/>
          <p:cNvSpPr/>
          <p:nvPr/>
        </p:nvSpPr>
        <p:spPr>
          <a:xfrm>
            <a:off x="9494788" y="5043488"/>
            <a:ext cx="7935962" cy="1162050"/>
          </a:xfrm>
          <a:prstGeom prst="roundRect">
            <a:avLst>
              <a:gd name="adj" fmla="val 9836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9694813" y="5186363"/>
            <a:ext cx="768663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CONTRAST · 看 VS 看见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619454" y="5872163"/>
            <a:ext cx="76866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哪个说明我真的看到了？ </a:t>
            </a:r>
            <a:r>
              <a:rPr lang="en-US" sz="105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第二个</a:t>
            </a:r>
            <a:r>
              <a:rPr lang="en-US" sz="10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看见 confirms the seeing actually happened.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52500" y="1104900"/>
            <a:ext cx="167106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18–20 MIN · CHECK FOR UNDERSTANDING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52500" y="1409700"/>
            <a:ext cx="1671066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检查理解 · CFU Checkpoints</a:t>
            </a:r>
            <a:endParaRPr lang="en-US" sz="3450" dirty="0"/>
          </a:p>
        </p:txBody>
      </p:sp>
      <p:sp>
        <p:nvSpPr>
          <p:cNvPr id="7" name="Text 5"/>
          <p:cNvSpPr/>
          <p:nvPr/>
        </p:nvSpPr>
        <p:spPr>
          <a:xfrm>
            <a:off x="952500" y="2257425"/>
            <a:ext cx="5334000" cy="3317379"/>
          </a:xfrm>
          <a:prstGeom prst="roundRect">
            <a:avLst>
              <a:gd name="adj" fmla="val 8039"/>
            </a:avLst>
          </a:prstGeom>
          <a:solidFill>
            <a:srgbClr val="3A5F8A">
              <a:alpha val="12000"/>
            </a:srgbClr>
          </a:solidFill>
          <a:ln w="9525">
            <a:solidFill>
              <a:srgbClr val="3A5F8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190625" y="2533650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355378" y="2609850"/>
            <a:ext cx="912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90625" y="3086100"/>
            <a:ext cx="495490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MINI WHITEBOARDS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1190625" y="3390900"/>
            <a:ext cx="495490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"Finish Completely" Pair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90625" y="3838575"/>
            <a:ext cx="4954905" cy="1003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76"/>
              </a:lnSpc>
              <a:buNone/>
            </a:pPr>
            <a:r>
              <a:rPr lang="en-US" sz="12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"写出一个'吃光/喝光/卖光'这一类的结果补语词。"</a:t>
            </a:r>
            <a:endParaRPr lang="en-US" sz="1275" dirty="0"/>
          </a:p>
          <a:p>
            <a:pPr algn="l" indent="0" marL="0">
              <a:lnSpc>
                <a:spcPts val="1976"/>
              </a:lnSpc>
              <a:buNone/>
            </a:pPr>
            <a:endParaRPr lang="en-US" sz="1275" dirty="0"/>
          </a:p>
          <a:p>
            <a:pPr algn="l" indent="0" marL="0">
              <a:lnSpc>
                <a:spcPts val="1976"/>
              </a:lnSpc>
              <a:buNone/>
            </a:pPr>
            <a:r>
              <a:rPr lang="en-US" sz="12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Write one complement-of-result pair from the </a:t>
            </a:r>
            <a:endParaRPr lang="en-US" sz="1275" dirty="0"/>
          </a:p>
          <a:p>
            <a:pPr algn="l" indent="0" marL="0">
              <a:lnSpc>
                <a:spcPts val="1976"/>
              </a:lnSpc>
              <a:buNone/>
            </a:pPr>
            <a:r>
              <a:rPr lang="en-US" sz="1275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"finish completely"</a:t>
            </a:r>
            <a:r>
              <a:rPr lang="en-US" sz="12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category. Hold up on three.</a:t>
            </a:r>
            <a:endParaRPr lang="en-US" sz="1275" dirty="0"/>
          </a:p>
        </p:txBody>
      </p:sp>
      <p:sp>
        <p:nvSpPr>
          <p:cNvPr id="13" name="Text 11"/>
          <p:cNvSpPr/>
          <p:nvPr/>
        </p:nvSpPr>
        <p:spPr>
          <a:xfrm>
            <a:off x="6477000" y="2257425"/>
            <a:ext cx="5334000" cy="3317379"/>
          </a:xfrm>
          <a:prstGeom prst="roundRect">
            <a:avLst>
              <a:gd name="adj" fmla="val 8039"/>
            </a:avLst>
          </a:prstGeom>
          <a:solidFill>
            <a:srgbClr val="2E7D6E">
              <a:alpha val="10000"/>
            </a:srgbClr>
          </a:solidFill>
          <a:ln w="9525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715125" y="2533650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2E7D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879878" y="2609850"/>
            <a:ext cx="912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715125" y="3086100"/>
            <a:ext cx="495490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COLD CALL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6715125" y="3390900"/>
            <a:ext cx="495490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Fill the Blank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715125" y="3838575"/>
            <a:ext cx="4954905" cy="6051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2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"Jamie，'我买</a:t>
            </a:r>
            <a:r>
              <a:rPr lang="en-US" sz="1800" b="1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______</a:t>
            </a:r>
            <a:r>
              <a:rPr lang="en-US" sz="12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了课本' — what goes in the blank if I successfully bought it?"</a:t>
            </a:r>
            <a:endParaRPr lang="en-US" sz="1275" dirty="0"/>
          </a:p>
        </p:txBody>
      </p:sp>
      <p:sp>
        <p:nvSpPr>
          <p:cNvPr id="19" name="Text 17"/>
          <p:cNvSpPr/>
          <p:nvPr/>
        </p:nvSpPr>
        <p:spPr>
          <a:xfrm>
            <a:off x="6715125" y="4538960"/>
            <a:ext cx="4857750" cy="450056"/>
          </a:xfrm>
          <a:prstGeom prst="roundRect">
            <a:avLst>
              <a:gd name="adj" fmla="val 25397"/>
            </a:avLst>
          </a:prstGeom>
          <a:noFill/>
          <a:ln w="19050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905625" y="4653260"/>
            <a:ext cx="4566285" cy="221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4"/>
              </a:lnSpc>
              <a:buNone/>
            </a:pPr>
            <a:r>
              <a:rPr lang="en-US" sz="1125" i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答案见下一张 · Answer on next slide →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12001500" y="2257425"/>
            <a:ext cx="5334000" cy="3317379"/>
          </a:xfrm>
          <a:prstGeom prst="roundRect">
            <a:avLst>
              <a:gd name="adj" fmla="val 8039"/>
            </a:avLst>
          </a:prstGeom>
          <a:solidFill>
            <a:srgbClr val="C96A5C">
              <a:alpha val="10000"/>
            </a:srgbClr>
          </a:solidFill>
          <a:ln w="9525">
            <a:solidFill>
              <a:srgbClr val="C96A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2239625" y="2533650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C96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2404378" y="2609850"/>
            <a:ext cx="912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2239625" y="3086100"/>
            <a:ext cx="495490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CHORAL RESPONSE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12239625" y="3390900"/>
            <a:ext cx="495490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找 vs 找到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2239625" y="3838575"/>
            <a:ext cx="4954905" cy="7527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76"/>
              </a:lnSpc>
              <a:buNone/>
            </a:pPr>
            <a:r>
              <a:rPr lang="en-US" sz="12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projects </a:t>
            </a:r>
            <a:r>
              <a:rPr lang="en-US" sz="1275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找</a:t>
            </a:r>
            <a:r>
              <a:rPr lang="en-US" sz="12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and </a:t>
            </a:r>
            <a:r>
              <a:rPr lang="en-US" sz="1275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找到</a:t>
            </a:r>
            <a:r>
              <a:rPr lang="en-US" sz="12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side by side.</a:t>
            </a:r>
            <a:endParaRPr lang="en-US" sz="1275" dirty="0"/>
          </a:p>
          <a:p>
            <a:pPr algn="l" indent="0" marL="0">
              <a:lnSpc>
                <a:spcPts val="1976"/>
              </a:lnSpc>
              <a:buNone/>
            </a:pPr>
            <a:endParaRPr lang="en-US" sz="1275" dirty="0"/>
          </a:p>
          <a:p>
            <a:pPr algn="l" indent="0" marL="0">
              <a:lnSpc>
                <a:spcPts val="1976"/>
              </a:lnSpc>
              <a:buNone/>
            </a:pPr>
            <a:r>
              <a:rPr lang="en-US" sz="12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"哪一个说明'找到了'？大家一起说！"</a:t>
            </a:r>
            <a:endParaRPr lang="en-US" sz="1275" dirty="0"/>
          </a:p>
        </p:txBody>
      </p:sp>
      <p:sp>
        <p:nvSpPr>
          <p:cNvPr id="27" name="Text 25"/>
          <p:cNvSpPr/>
          <p:nvPr/>
        </p:nvSpPr>
        <p:spPr>
          <a:xfrm>
            <a:off x="12239625" y="4686598"/>
            <a:ext cx="4857750" cy="450056"/>
          </a:xfrm>
          <a:prstGeom prst="roundRect">
            <a:avLst>
              <a:gd name="adj" fmla="val 25397"/>
            </a:avLst>
          </a:prstGeom>
          <a:noFill/>
          <a:ln w="19050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2430125" y="4800898"/>
            <a:ext cx="4566285" cy="221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4"/>
              </a:lnSpc>
              <a:buNone/>
            </a:pPr>
            <a:r>
              <a:rPr lang="en-US" sz="1125" i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答案见下一张 · Answer on next slide →</a:t>
            </a:r>
            <a:endParaRPr lang="en-US" sz="1125" dirty="0"/>
          </a:p>
        </p:txBody>
      </p:sp>
      <p:sp>
        <p:nvSpPr>
          <p:cNvPr id="29" name="Text 27"/>
          <p:cNvSpPr/>
          <p:nvPr/>
        </p:nvSpPr>
        <p:spPr>
          <a:xfrm>
            <a:off x="952500" y="5765304"/>
            <a:ext cx="16383000" cy="476250"/>
          </a:xfrm>
          <a:prstGeom prst="roundRect">
            <a:avLst>
              <a:gd name="adj" fmla="val 24000"/>
            </a:avLst>
          </a:prstGeom>
          <a:solidFill>
            <a:srgbClr val="B87A30">
              <a:alpha val="12000"/>
            </a:srgbClr>
          </a:solidFill>
          <a:ln w="9525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1190625" y="5889129"/>
            <a:ext cx="162248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note:</a:t>
            </a:r>
            <a:r>
              <a:rPr lang="en-US" sz="12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Check 1 is open-ended — accept any valid pair (吃光/喝光/卖光). Scan whiteboards for 100% participation before revealing checks 2 and 3.</a:t>
            </a:r>
            <a:endParaRPr lang="en-US" sz="1275" dirty="0"/>
          </a:p>
        </p:txBody>
      </p:sp>
      <p:sp>
        <p:nvSpPr>
          <p:cNvPr id="31" name="Shape 29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B87A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52500" y="1104900"/>
            <a:ext cx="167106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ANSWERS REVEALED · 答案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52500" y="1409700"/>
            <a:ext cx="1671066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答案 · CFU Checkpoints</a:t>
            </a:r>
            <a:endParaRPr lang="en-US" sz="3450" dirty="0"/>
          </a:p>
        </p:txBody>
      </p:sp>
      <p:sp>
        <p:nvSpPr>
          <p:cNvPr id="7" name="Text 5"/>
          <p:cNvSpPr/>
          <p:nvPr/>
        </p:nvSpPr>
        <p:spPr>
          <a:xfrm>
            <a:off x="952500" y="2295525"/>
            <a:ext cx="10477500" cy="1647825"/>
          </a:xfrm>
          <a:prstGeom prst="roundRect">
            <a:avLst>
              <a:gd name="adj" fmla="val 11561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228725" y="2495550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B87A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372642" y="2562225"/>
            <a:ext cx="13389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876425" y="2495550"/>
            <a:ext cx="946289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Cold Call — "我买______了课本" — successfully bought it</a:t>
            </a:r>
            <a:endParaRPr lang="en-US" sz="1275" dirty="0"/>
          </a:p>
        </p:txBody>
      </p:sp>
      <p:sp>
        <p:nvSpPr>
          <p:cNvPr id="11" name="Text 9"/>
          <p:cNvSpPr/>
          <p:nvPr/>
        </p:nvSpPr>
        <p:spPr>
          <a:xfrm>
            <a:off x="1876425" y="2819400"/>
            <a:ext cx="6073229" cy="923925"/>
          </a:xfrm>
          <a:prstGeom prst="roundRect">
            <a:avLst>
              <a:gd name="adj" fmla="val 12371"/>
            </a:avLst>
          </a:prstGeom>
          <a:solidFill>
            <a:srgbClr val="B87A30">
              <a:alpha val="12000"/>
            </a:srgbClr>
          </a:solidFill>
          <a:ln w="19050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105025" y="2952750"/>
            <a:ext cx="57283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✅</a:t>
            </a:r>
            <a:r>
              <a:rPr lang="en-US" sz="21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我买</a:t>
            </a:r>
            <a:r>
              <a:rPr lang="en-US" sz="2100" b="1" dirty="0">
                <a:solidFill>
                  <a:srgbClr val="B87A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到</a:t>
            </a:r>
            <a:r>
              <a:rPr lang="en-US" sz="21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了课本。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2105025" y="3409950"/>
            <a:ext cx="57283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到 marks that the buying was </a:t>
            </a:r>
            <a:r>
              <a:rPr lang="en-US" sz="1125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achieved</a:t>
            </a:r>
            <a:r>
              <a:rPr lang="en-US" sz="112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the textbook was successfully bought.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952500" y="4114800"/>
            <a:ext cx="10477500" cy="1647825"/>
          </a:xfrm>
          <a:prstGeom prst="roundRect">
            <a:avLst>
              <a:gd name="adj" fmla="val 11561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228725" y="4314825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B87A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372046" y="4381500"/>
            <a:ext cx="13495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876425" y="4314825"/>
            <a:ext cx="946289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Choral Response — 找 vs 找到 — which one shows "found it"?</a:t>
            </a:r>
            <a:endParaRPr lang="en-US" sz="1275" dirty="0"/>
          </a:p>
        </p:txBody>
      </p:sp>
      <p:sp>
        <p:nvSpPr>
          <p:cNvPr id="18" name="Text 16"/>
          <p:cNvSpPr/>
          <p:nvPr/>
        </p:nvSpPr>
        <p:spPr>
          <a:xfrm>
            <a:off x="1876425" y="4638675"/>
            <a:ext cx="6714232" cy="923925"/>
          </a:xfrm>
          <a:prstGeom prst="roundRect">
            <a:avLst>
              <a:gd name="adj" fmla="val 12371"/>
            </a:avLst>
          </a:prstGeom>
          <a:solidFill>
            <a:srgbClr val="B87A30">
              <a:alpha val="12000"/>
            </a:srgbClr>
          </a:solidFill>
          <a:ln w="19050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105025" y="4772025"/>
            <a:ext cx="638217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✅</a:t>
            </a:r>
            <a:r>
              <a:rPr lang="en-US" sz="21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找</a:t>
            </a:r>
            <a:r>
              <a:rPr lang="en-US" sz="2100" b="1" dirty="0">
                <a:solidFill>
                  <a:srgbClr val="B87A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到</a:t>
            </a:r>
            <a:r>
              <a:rPr lang="en-US" sz="21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= 找到了！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2105025" y="5229225"/>
            <a:ext cx="638217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找 alone just means "to search"; 找</a:t>
            </a:r>
            <a:r>
              <a:rPr lang="en-US" sz="1125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到</a:t>
            </a:r>
            <a:r>
              <a:rPr lang="en-US" sz="112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confirms the search was successful — it was found.</a:t>
            </a:r>
            <a:endParaRPr lang="en-US" sz="1125" dirty="0"/>
          </a:p>
        </p:txBody>
      </p:sp>
      <p:sp>
        <p:nvSpPr>
          <p:cNvPr id="21" name="Shape 19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52500" y="1143000"/>
            <a:ext cx="1671066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20–27 MIN · WE DO · ACTIVITY 1 · SPEAKING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952500" y="1371600"/>
            <a:ext cx="16710660" cy="481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3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活动1 · 配对造句 </a:t>
            </a:r>
            <a:r>
              <a:rPr lang="en-US" sz="2400" b="1" dirty="0">
                <a:solidFill>
                  <a:srgbClr val="4E5C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Pair Sentence-Making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952500" y="2044005"/>
            <a:ext cx="8001000" cy="7404795"/>
          </a:xfrm>
          <a:prstGeom prst="roundRect">
            <a:avLst>
              <a:gd name="adj" fmla="val 2573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266825" y="2339280"/>
            <a:ext cx="2069705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活动 1 · Activity 1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7185273" y="2320230"/>
            <a:ext cx="1453902" cy="390525"/>
          </a:xfrm>
          <a:prstGeom prst="roundRect">
            <a:avLst>
              <a:gd name="adj" fmla="val 2436585"/>
            </a:avLst>
          </a:prstGeom>
          <a:solidFill>
            <a:srgbClr val="3A5F8A">
              <a:alpha val="12000"/>
            </a:srgbClr>
          </a:solidFill>
          <a:ln w="19050">
            <a:solidFill>
              <a:srgbClr val="3A5F8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394823" y="2396430"/>
            <a:ext cx="105549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👥</a:t>
            </a:r>
            <a:r>
              <a:rPr lang="en-US" sz="1125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Pair Work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1266825" y="2863155"/>
            <a:ext cx="7372350" cy="1543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025"/>
              </a:lnSpc>
              <a:buSzPct val="100000"/>
              <a:buChar char="•"/>
            </a:pPr>
            <a:r>
              <a:rPr lang="en-US" sz="13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</a:t>
            </a:r>
            <a:r>
              <a:rPr lang="en-US" sz="135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models one example</a:t>
            </a:r>
            <a:r>
              <a:rPr lang="en-US" sz="13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per category first, same as in I Do</a:t>
            </a:r>
            <a:endParaRPr lang="en-US" sz="1350" dirty="0"/>
          </a:p>
          <a:p>
            <a:pPr algn="l" marL="342900" indent="-342900">
              <a:lnSpc>
                <a:spcPts val="2025"/>
              </a:lnSpc>
              <a:buSzPct val="100000"/>
              <a:buChar char="•"/>
            </a:pPr>
            <a:r>
              <a:rPr lang="en-US" sz="13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Partner A picks a category and says a sentence; </a:t>
            </a:r>
            <a:r>
              <a:rPr lang="en-US" sz="135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Partner B identifies which category</a:t>
            </a:r>
            <a:r>
              <a:rPr lang="en-US" sz="13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it belongs to — then swap roles</a:t>
            </a:r>
            <a:endParaRPr lang="en-US" sz="1350" dirty="0"/>
          </a:p>
          <a:p>
            <a:pPr algn="l" marL="342900" indent="-342900">
              <a:lnSpc>
                <a:spcPts val="2025"/>
              </a:lnSpc>
              <a:buSzPct val="100000"/>
              <a:buChar char="•"/>
            </a:pPr>
            <a:r>
              <a:rPr lang="en-US" sz="13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Repeat until every student has made sentences from </a:t>
            </a:r>
            <a:r>
              <a:rPr lang="en-US" sz="135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all 4 categories</a:t>
            </a:r>
            <a:endParaRPr lang="en-US" sz="1350" dirty="0"/>
          </a:p>
          <a:p>
            <a:pPr algn="l" marL="342900" indent="-342900">
              <a:lnSpc>
                <a:spcPts val="2025"/>
              </a:lnSpc>
              <a:buSzPct val="100000"/>
              <a:buChar char="•"/>
            </a:pPr>
            <a:r>
              <a:rPr lang="en-US" sz="13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Cold call </a:t>
            </a:r>
            <a:r>
              <a:rPr lang="en-US" sz="135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3–4 pairs</a:t>
            </a:r>
            <a:r>
              <a:rPr lang="en-US" sz="13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to share their best sentence with the class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266825" y="4558605"/>
            <a:ext cx="751979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MODEL ANSWER FORMAT · 句型支架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266825" y="4777680"/>
            <a:ext cx="7372350" cy="514350"/>
          </a:xfrm>
          <a:prstGeom prst="rect">
            <a:avLst/>
          </a:prstGeom>
          <a:solidFill>
            <a:srgbClr val="EAE6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1290638" y="4777680"/>
            <a:ext cx="0" cy="514350"/>
          </a:xfrm>
          <a:prstGeom prst="line">
            <a:avLst/>
          </a:prstGeom>
          <a:noFill/>
          <a:ln w="47625">
            <a:solidFill>
              <a:srgbClr val="3A5F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04950" y="4891980"/>
            <a:ext cx="70826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我在书包里找到了橡皮。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334500" y="2044005"/>
            <a:ext cx="8001000" cy="1190625"/>
          </a:xfrm>
          <a:prstGeom prst="roundRect">
            <a:avLst>
              <a:gd name="adj" fmla="val 16000"/>
            </a:avLst>
          </a:prstGeom>
          <a:solidFill>
            <a:srgbClr val="2E7D6E">
              <a:alpha val="10000"/>
            </a:srgbClr>
          </a:solidFill>
          <a:ln w="19050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9601200" y="2272605"/>
            <a:ext cx="761695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 CATEGORIES · 结果补语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334500" y="3406080"/>
            <a:ext cx="8001000" cy="847725"/>
          </a:xfrm>
          <a:prstGeom prst="roundRect">
            <a:avLst>
              <a:gd name="adj" fmla="val 13483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9334500" y="4653855"/>
            <a:ext cx="3933825" cy="872430"/>
          </a:xfrm>
          <a:prstGeom prst="roundRect">
            <a:avLst>
              <a:gd name="adj" fmla="val 13101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9515475" y="4796730"/>
            <a:ext cx="364331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9515475" y="4996755"/>
            <a:ext cx="3643313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Keep the 4-category table projected throughout the pair activity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3401675" y="4653855"/>
            <a:ext cx="3933825" cy="872430"/>
          </a:xfrm>
          <a:prstGeom prst="roundRect">
            <a:avLst>
              <a:gd name="adj" fmla="val 13101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3582650" y="4796730"/>
            <a:ext cx="364331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13582650" y="4996755"/>
            <a:ext cx="3643313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Use a stationery item as the object in at least 2 sentences, e.g. 我在书包里找到了橡皮。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52500" y="1143000"/>
            <a:ext cx="1671066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27–35 MIN · YOU DO · ACTIVITY 2 · WRITING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952500" y="1371600"/>
            <a:ext cx="16710660" cy="481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3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活动2 · 文具听力 </a:t>
            </a:r>
            <a:r>
              <a:rPr lang="en-US" sz="2250" b="1" dirty="0">
                <a:solidFill>
                  <a:srgbClr val="4E5C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Listening: Whose Stationery?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952500" y="2024955"/>
            <a:ext cx="8001000" cy="7461945"/>
          </a:xfrm>
          <a:prstGeom prst="roundRect">
            <a:avLst>
              <a:gd name="adj" fmla="val 2553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247775" y="2320230"/>
            <a:ext cx="191046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活动 2 · Activity 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1182" y="2282130"/>
            <a:ext cx="1347043" cy="390525"/>
          </a:xfrm>
          <a:prstGeom prst="roundRect">
            <a:avLst>
              <a:gd name="adj" fmla="val 2436585"/>
            </a:avLst>
          </a:prstGeom>
          <a:solidFill>
            <a:srgbClr val="3A5F8A">
              <a:alpha val="12000"/>
            </a:srgbClr>
          </a:solidFill>
          <a:ln w="19050">
            <a:solidFill>
              <a:srgbClr val="3A5F8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520732" y="2358330"/>
            <a:ext cx="94650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▶</a:t>
            </a:r>
            <a:r>
              <a:rPr lang="en-US" sz="1125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Track 34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1247775" y="2806005"/>
            <a:ext cx="741045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Play the audio </a:t>
            </a:r>
            <a:r>
              <a:rPr lang="en-US" sz="12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once straight through</a:t>
            </a: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students listen only</a:t>
            </a:r>
            <a:endParaRPr lang="en-US" sz="1200" dirty="0"/>
          </a:p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Play again, </a:t>
            </a:r>
            <a:r>
              <a:rPr lang="en-US" sz="12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pausing after each of the 6 students</a:t>
            </a: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students write the item(s) they hear in their exercise books</a:t>
            </a:r>
            <a:endParaRPr lang="en-US" sz="1200" dirty="0"/>
          </a:p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Play a </a:t>
            </a:r>
            <a:r>
              <a:rPr lang="en-US" sz="12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third time</a:t>
            </a: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for students to check their answers</a:t>
            </a:r>
            <a:endParaRPr lang="en-US" sz="1200" dirty="0"/>
          </a:p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Answers revealed on the </a:t>
            </a:r>
            <a:r>
              <a:rPr lang="en-US" sz="12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next slide</a:t>
            </a: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students self-mark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334500" y="2024955"/>
            <a:ext cx="8001000" cy="1562100"/>
          </a:xfrm>
          <a:prstGeom prst="roundRect">
            <a:avLst>
              <a:gd name="adj" fmla="val 12195"/>
            </a:avLst>
          </a:prstGeom>
          <a:solidFill>
            <a:srgbClr val="2E7D6E">
              <a:alpha val="10000"/>
            </a:srgbClr>
          </a:solidFill>
          <a:ln w="19050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9582150" y="2234505"/>
            <a:ext cx="765581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WORD BANK · 文具词汇 (LESSON 1)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334500" y="3758505"/>
            <a:ext cx="8001000" cy="781050"/>
          </a:xfrm>
          <a:prstGeom prst="roundRect">
            <a:avLst>
              <a:gd name="adj" fmla="val 14634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9334500" y="4939605"/>
            <a:ext cx="3933825" cy="1044773"/>
          </a:xfrm>
          <a:prstGeom prst="roundRect">
            <a:avLst>
              <a:gd name="adj" fmla="val 10940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9515475" y="5082480"/>
            <a:ext cx="364331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9515475" y="5282505"/>
            <a:ext cx="3643313" cy="3726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8"/>
              </a:lnSpc>
              <a:buNone/>
            </a:pPr>
            <a:r>
              <a:rPr lang="en-US" sz="1013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Word bank of possible stationery items projected before playing the audio</a:t>
            </a:r>
            <a:endParaRPr lang="en-US" sz="1013" dirty="0"/>
          </a:p>
        </p:txBody>
      </p:sp>
      <p:sp>
        <p:nvSpPr>
          <p:cNvPr id="18" name="Text 16"/>
          <p:cNvSpPr/>
          <p:nvPr/>
        </p:nvSpPr>
        <p:spPr>
          <a:xfrm>
            <a:off x="13401675" y="4939605"/>
            <a:ext cx="3933825" cy="1044773"/>
          </a:xfrm>
          <a:prstGeom prst="roundRect">
            <a:avLst>
              <a:gd name="adj" fmla="val 10940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3582650" y="5082480"/>
            <a:ext cx="364331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13582650" y="5282505"/>
            <a:ext cx="3643313" cy="558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8"/>
              </a:lnSpc>
              <a:buNone/>
            </a:pPr>
            <a:r>
              <a:rPr lang="en-US" sz="1013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one full sentence summarising what item(s) one speaker has, using a complement-of-result verb if possible, e.g. 他买到了一个文具盒。</a:t>
            </a:r>
            <a:endParaRPr lang="en-US" sz="1013" dirty="0"/>
          </a:p>
        </p:txBody>
      </p:sp>
      <p:sp>
        <p:nvSpPr>
          <p:cNvPr id="21" name="Shape 19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B87A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52500" y="1104900"/>
            <a:ext cx="167106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ANSWERS REVEALED · 答案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52500" y="1409700"/>
            <a:ext cx="1671066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答案 · 文具听力</a:t>
            </a:r>
            <a:endParaRPr lang="en-US" sz="3150" dirty="0"/>
          </a:p>
        </p:txBody>
      </p:sp>
      <p:sp>
        <p:nvSpPr>
          <p:cNvPr id="7" name="Text 5"/>
          <p:cNvSpPr/>
          <p:nvPr/>
        </p:nvSpPr>
        <p:spPr>
          <a:xfrm>
            <a:off x="9697343" y="2181225"/>
            <a:ext cx="7638157" cy="1104900"/>
          </a:xfrm>
          <a:prstGeom prst="rect">
            <a:avLst/>
          </a:prstGeom>
          <a:solidFill>
            <a:srgbClr val="EAE6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9721155" y="2181225"/>
            <a:ext cx="0" cy="1104900"/>
          </a:xfrm>
          <a:prstGeom prst="line">
            <a:avLst/>
          </a:prstGeom>
          <a:noFill/>
          <a:ln w="47625">
            <a:solidFill>
              <a:srgbClr val="3A5F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954518" y="2333625"/>
            <a:ext cx="731486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 EXAMPLE · 结果补语总结句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954518" y="2571750"/>
            <a:ext cx="7314861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165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山姆买</a:t>
            </a:r>
            <a:r>
              <a:rPr lang="en-US" sz="1650" b="1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到</a:t>
            </a:r>
            <a:r>
              <a:rPr lang="en-US" sz="165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了一个文具盒、一本课本和一把尺子。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9954518" y="2943225"/>
            <a:ext cx="731486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Sam successfully bought a pencil case, a textbook, and a ruler.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697343" y="3438525"/>
            <a:ext cx="7638157" cy="733425"/>
          </a:xfrm>
          <a:prstGeom prst="roundRect">
            <a:avLst>
              <a:gd name="adj" fmla="val 15584"/>
            </a:avLst>
          </a:prstGeom>
          <a:solidFill>
            <a:srgbClr val="2E7D6E">
              <a:alpha val="10000"/>
            </a:srgbClr>
          </a:solidFill>
          <a:ln w="19050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0240268" y="3590925"/>
            <a:ext cx="702339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Students self-mark against this table. Circulate to check any student who marked more than one wrong item — replay the relevant section if needed.</a:t>
            </a:r>
            <a:endParaRPr lang="en-US" sz="1125" dirty="0"/>
          </a:p>
        </p:txBody>
      </p:sp>
      <p:sp>
        <p:nvSpPr>
          <p:cNvPr id="14" name="Shape 12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52500" y="1062038"/>
            <a:ext cx="840879" cy="314325"/>
          </a:xfrm>
          <a:prstGeom prst="roundRect">
            <a:avLst>
              <a:gd name="adj" fmla="val 3027273"/>
            </a:avLst>
          </a:prstGeom>
          <a:solidFill>
            <a:srgbClr val="C96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143000" y="1119188"/>
            <a:ext cx="4690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1945779" y="1047750"/>
            <a:ext cx="927199" cy="342900"/>
          </a:xfrm>
          <a:prstGeom prst="roundRect">
            <a:avLst>
              <a:gd name="adj" fmla="val 2775000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126754" y="1114425"/>
            <a:ext cx="57655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 8 min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3025378" y="1062038"/>
            <a:ext cx="2888903" cy="314325"/>
          </a:xfrm>
          <a:prstGeom prst="roundRect">
            <a:avLst>
              <a:gd name="adj" fmla="val 3027273"/>
            </a:avLst>
          </a:prstGeom>
          <a:solidFill>
            <a:srgbClr val="C96A5C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196828" y="1119188"/>
            <a:ext cx="259692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Slap the Board · Pairs Competition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952500" y="1466850"/>
            <a:ext cx="1671066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结果补语拍黑板 · Slap the Board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952500" y="2038350"/>
            <a:ext cx="1671066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Race a partner to point to (or write) the complement-of-result word matching the English meaning called out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952500" y="2447925"/>
            <a:ext cx="4438650" cy="1933575"/>
          </a:xfrm>
          <a:prstGeom prst="roundRect">
            <a:avLst>
              <a:gd name="adj" fmla="val 9852"/>
            </a:avLst>
          </a:prstGeom>
          <a:noFill/>
          <a:ln w="28575">
            <a:solidFill>
              <a:srgbClr val="C96A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981075" y="2476500"/>
            <a:ext cx="4381500" cy="390525"/>
          </a:xfrm>
          <a:prstGeom prst="rect">
            <a:avLst/>
          </a:prstGeom>
          <a:solidFill>
            <a:srgbClr val="C96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937260" y="2552700"/>
            <a:ext cx="446913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8 结果补语 WORDS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981075" y="2867025"/>
            <a:ext cx="1095375" cy="742950"/>
          </a:xfrm>
          <a:prstGeom prst="rect">
            <a:avLst/>
          </a:prstGeom>
          <a:solidFill>
            <a:srgbClr val="FEFCF7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315022" y="3112740"/>
            <a:ext cx="427482" cy="251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看见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2076450" y="2867025"/>
            <a:ext cx="1095375" cy="742950"/>
          </a:xfrm>
          <a:prstGeom prst="rect">
            <a:avLst/>
          </a:prstGeom>
          <a:solidFill>
            <a:srgbClr val="FEFCF7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410397" y="3112740"/>
            <a:ext cx="427482" cy="251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听见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3171825" y="2867025"/>
            <a:ext cx="1095375" cy="742950"/>
          </a:xfrm>
          <a:prstGeom prst="rect">
            <a:avLst/>
          </a:prstGeom>
          <a:solidFill>
            <a:srgbClr val="FEFCF7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505772" y="3112740"/>
            <a:ext cx="427482" cy="251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看到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4267200" y="2867025"/>
            <a:ext cx="1095375" cy="742950"/>
          </a:xfrm>
          <a:prstGeom prst="rect">
            <a:avLst/>
          </a:prstGeom>
          <a:solidFill>
            <a:srgbClr val="FEFCF7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601146" y="3112740"/>
            <a:ext cx="427482" cy="251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找到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981075" y="3609975"/>
            <a:ext cx="1095375" cy="742950"/>
          </a:xfrm>
          <a:prstGeom prst="rect">
            <a:avLst/>
          </a:prstGeom>
          <a:solidFill>
            <a:srgbClr val="FEFCF7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1315022" y="3855690"/>
            <a:ext cx="427482" cy="251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买到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2076450" y="3609975"/>
            <a:ext cx="1095375" cy="742950"/>
          </a:xfrm>
          <a:prstGeom prst="rect">
            <a:avLst/>
          </a:prstGeom>
          <a:solidFill>
            <a:srgbClr val="FEFCF7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2410397" y="3855690"/>
            <a:ext cx="427482" cy="251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吃光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3171825" y="3609975"/>
            <a:ext cx="1095375" cy="742950"/>
          </a:xfrm>
          <a:prstGeom prst="rect">
            <a:avLst/>
          </a:prstGeom>
          <a:solidFill>
            <a:srgbClr val="FEFCF7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3505772" y="3855690"/>
            <a:ext cx="427482" cy="251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喝光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4267200" y="3609975"/>
            <a:ext cx="1095375" cy="742950"/>
          </a:xfrm>
          <a:prstGeom prst="rect">
            <a:avLst/>
          </a:prstGeom>
          <a:solidFill>
            <a:srgbClr val="FEFCF7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601146" y="3855690"/>
            <a:ext cx="427482" cy="251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卖光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5657850" y="2447925"/>
            <a:ext cx="11677650" cy="2333625"/>
          </a:xfrm>
          <a:prstGeom prst="roundRect">
            <a:avLst>
              <a:gd name="adj" fmla="val 8163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876925" y="2762250"/>
            <a:ext cx="1146429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HOW TO PLAY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876925" y="3067050"/>
            <a:ext cx="2040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1️⃣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6191250" y="3067050"/>
            <a:ext cx="595939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Project the </a:t>
            </a:r>
            <a:r>
              <a:rPr lang="en-US" sz="135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 结果补语 words</a:t>
            </a:r>
            <a:r>
              <a:rPr lang="en-US" sz="135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, scattered on the screen (as shown left).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5876925" y="3419475"/>
            <a:ext cx="2040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2️⃣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6191250" y="3419475"/>
            <a:ext cx="1114367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Two students</a:t>
            </a:r>
            <a:r>
              <a:rPr lang="en-US" sz="135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come to the front — or use </a:t>
            </a:r>
            <a:r>
              <a:rPr lang="en-US" sz="135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mini whiteboards</a:t>
            </a:r>
            <a:r>
              <a:rPr lang="en-US" sz="135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for a seated version, writing the answer instead of touching the screen.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5876925" y="3981450"/>
            <a:ext cx="2040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3️⃣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6191250" y="3981450"/>
            <a:ext cx="881985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says an </a:t>
            </a:r>
            <a:r>
              <a:rPr lang="en-US" sz="135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English meaning</a:t>
            </a:r>
            <a:r>
              <a:rPr lang="en-US" sz="135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(e.g. "sold out"); students race to point to / write the matching word.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5876925" y="4333875"/>
            <a:ext cx="2040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🏆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6191250" y="4333875"/>
            <a:ext cx="916399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First correct answer</a:t>
            </a:r>
            <a:r>
              <a:rPr lang="en-US" sz="135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wins the round; repeat with new pairs of students until most students have had a turn.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5657850" y="4914900"/>
            <a:ext cx="11677650" cy="704850"/>
          </a:xfrm>
          <a:prstGeom prst="roundRect">
            <a:avLst>
              <a:gd name="adj" fmla="val 16216"/>
            </a:avLst>
          </a:prstGeom>
          <a:solidFill>
            <a:srgbClr val="C96A5C">
              <a:alpha val="10000"/>
            </a:srgbClr>
          </a:solidFill>
          <a:ln w="19050">
            <a:solidFill>
              <a:srgbClr val="C96A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5848350" y="5129213"/>
            <a:ext cx="213741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🖥️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6191250" y="5048250"/>
            <a:ext cx="4520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Setup Needed</a:t>
            </a:r>
            <a:endParaRPr lang="en-US" sz="1275" dirty="0"/>
          </a:p>
        </p:txBody>
      </p:sp>
      <p:sp>
        <p:nvSpPr>
          <p:cNvPr id="45" name="Text 43"/>
          <p:cNvSpPr/>
          <p:nvPr/>
        </p:nvSpPr>
        <p:spPr>
          <a:xfrm>
            <a:off x="6191250" y="5295900"/>
            <a:ext cx="452059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Projector only — or mini whiteboards per pair for the seated version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5657850" y="5848350"/>
            <a:ext cx="5772150" cy="624483"/>
          </a:xfrm>
          <a:prstGeom prst="roundRect">
            <a:avLst>
              <a:gd name="adj" fmla="val 18303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5819775" y="5972175"/>
            <a:ext cx="555726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825" dirty="0"/>
          </a:p>
        </p:txBody>
      </p:sp>
      <p:sp>
        <p:nvSpPr>
          <p:cNvPr id="48" name="Text 46"/>
          <p:cNvSpPr/>
          <p:nvPr/>
        </p:nvSpPr>
        <p:spPr>
          <a:xfrm>
            <a:off x="5819775" y="6162675"/>
            <a:ext cx="5557266" cy="186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8"/>
              </a:lnSpc>
              <a:buNone/>
            </a:pPr>
            <a:r>
              <a:rPr lang="en-US" sz="1013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Allow students to keep the 4-category table visible in a corner of the screen</a:t>
            </a:r>
            <a:endParaRPr lang="en-US" sz="1013" dirty="0"/>
          </a:p>
        </p:txBody>
      </p:sp>
      <p:sp>
        <p:nvSpPr>
          <p:cNvPr id="49" name="Text 47"/>
          <p:cNvSpPr/>
          <p:nvPr/>
        </p:nvSpPr>
        <p:spPr>
          <a:xfrm>
            <a:off x="11563350" y="5848350"/>
            <a:ext cx="5772150" cy="624483"/>
          </a:xfrm>
          <a:prstGeom prst="roundRect">
            <a:avLst>
              <a:gd name="adj" fmla="val 18303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11725275" y="5972175"/>
            <a:ext cx="555726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825" dirty="0"/>
          </a:p>
        </p:txBody>
      </p:sp>
      <p:sp>
        <p:nvSpPr>
          <p:cNvPr id="51" name="Text 49"/>
          <p:cNvSpPr/>
          <p:nvPr/>
        </p:nvSpPr>
        <p:spPr>
          <a:xfrm>
            <a:off x="11725275" y="6162675"/>
            <a:ext cx="5557266" cy="186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8"/>
              </a:lnSpc>
              <a:buNone/>
            </a:pPr>
            <a:r>
              <a:rPr lang="en-US" sz="1013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Winning students must use the word in a full sentence before the next round starts</a:t>
            </a:r>
            <a:endParaRPr lang="en-US" sz="1013" dirty="0"/>
          </a:p>
        </p:txBody>
      </p:sp>
      <p:sp>
        <p:nvSpPr>
          <p:cNvPr id="52" name="Shape 50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43000" y="2863304"/>
            <a:ext cx="163220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43–50 MIN · PLENARY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3000" y="3168104"/>
            <a:ext cx="1632204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总结 · Wrap-Up</a:t>
            </a:r>
            <a:endParaRPr lang="en-US" sz="3450" dirty="0"/>
          </a:p>
        </p:txBody>
      </p:sp>
      <p:sp>
        <p:nvSpPr>
          <p:cNvPr id="7" name="Text 5"/>
          <p:cNvSpPr/>
          <p:nvPr/>
        </p:nvSpPr>
        <p:spPr>
          <a:xfrm>
            <a:off x="1143000" y="3996779"/>
            <a:ext cx="7848600" cy="3093541"/>
          </a:xfrm>
          <a:prstGeom prst="roundRect">
            <a:avLst>
              <a:gd name="adj" fmla="val 8621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419225" y="4387304"/>
            <a:ext cx="744207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050"/>
              </a:spcAft>
              <a:buNone/>
            </a:pPr>
            <a:r>
              <a:rPr lang="en-US" sz="12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REVISIT SUCCESS CRITERIA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419225" y="4730204"/>
            <a:ext cx="744207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00"/>
              </a:spcAft>
              <a:buNone/>
            </a:pPr>
            <a:r>
              <a:rPr lang="en-US" sz="975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Show of hands: </a:t>
            </a:r>
            <a:r>
              <a:rPr lang="en-US" sz="975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👍</a:t>
            </a:r>
            <a:r>
              <a:rPr lang="en-US" sz="975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= confident · </a:t>
            </a:r>
            <a:r>
              <a:rPr lang="en-US" sz="975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😐</a:t>
            </a:r>
            <a:r>
              <a:rPr lang="en-US" sz="975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= getting there · </a:t>
            </a:r>
            <a:r>
              <a:rPr lang="en-US" sz="975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👎</a:t>
            </a:r>
            <a:r>
              <a:rPr lang="en-US" sz="975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= need help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1552575" y="5095875"/>
            <a:ext cx="323850" cy="323850"/>
          </a:xfrm>
          <a:prstGeom prst="roundRect">
            <a:avLst>
              <a:gd name="adj" fmla="val 282353"/>
            </a:avLst>
          </a:prstGeom>
          <a:solidFill>
            <a:srgbClr val="2E7D6E">
              <a:alpha val="10000"/>
            </a:srgbClr>
          </a:solidFill>
          <a:ln w="9525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624013" y="5157788"/>
            <a:ext cx="18459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👍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1924050" y="5095875"/>
            <a:ext cx="323850" cy="323850"/>
          </a:xfrm>
          <a:prstGeom prst="roundRect">
            <a:avLst>
              <a:gd name="adj" fmla="val 282353"/>
            </a:avLst>
          </a:prstGeom>
          <a:solidFill>
            <a:srgbClr val="B87A30">
              <a:alpha val="12000"/>
            </a:srgbClr>
          </a:solidFill>
          <a:ln w="9525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995487" y="5157788"/>
            <a:ext cx="18459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😐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2295525" y="5095875"/>
            <a:ext cx="323850" cy="323850"/>
          </a:xfrm>
          <a:prstGeom prst="roundRect">
            <a:avLst>
              <a:gd name="adj" fmla="val 282353"/>
            </a:avLst>
          </a:prstGeom>
          <a:solidFill>
            <a:srgbClr val="C96A5C">
              <a:alpha val="10000"/>
            </a:srgbClr>
          </a:solidFill>
          <a:ln w="9525">
            <a:solidFill>
              <a:srgbClr val="C96A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366963" y="5157788"/>
            <a:ext cx="18459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👎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2752725" y="5044529"/>
            <a:ext cx="594588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Explain the difference between an action alone and action + result complement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552575" y="5585371"/>
            <a:ext cx="323850" cy="323850"/>
          </a:xfrm>
          <a:prstGeom prst="roundRect">
            <a:avLst>
              <a:gd name="adj" fmla="val 282353"/>
            </a:avLst>
          </a:prstGeom>
          <a:solidFill>
            <a:srgbClr val="2E7D6E">
              <a:alpha val="10000"/>
            </a:srgbClr>
          </a:solidFill>
          <a:ln w="9525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624013" y="5647283"/>
            <a:ext cx="18459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👍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1924050" y="5585371"/>
            <a:ext cx="323850" cy="323850"/>
          </a:xfrm>
          <a:prstGeom prst="roundRect">
            <a:avLst>
              <a:gd name="adj" fmla="val 282353"/>
            </a:avLst>
          </a:prstGeom>
          <a:solidFill>
            <a:srgbClr val="B87A30">
              <a:alpha val="12000"/>
            </a:srgbClr>
          </a:solidFill>
          <a:ln w="9525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995487" y="5647283"/>
            <a:ext cx="18459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😐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2295525" y="5585371"/>
            <a:ext cx="323850" cy="323850"/>
          </a:xfrm>
          <a:prstGeom prst="roundRect">
            <a:avLst>
              <a:gd name="adj" fmla="val 282353"/>
            </a:avLst>
          </a:prstGeom>
          <a:solidFill>
            <a:srgbClr val="C96A5C">
              <a:alpha val="10000"/>
            </a:srgbClr>
          </a:solidFill>
          <a:ln w="9525">
            <a:solidFill>
              <a:srgbClr val="C96A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366963" y="5647283"/>
            <a:ext cx="18459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👎</a:t>
            </a:r>
            <a:endParaRPr lang="en-US" sz="1125" dirty="0"/>
          </a:p>
        </p:txBody>
      </p:sp>
      <p:sp>
        <p:nvSpPr>
          <p:cNvPr id="23" name="Text 21"/>
          <p:cNvSpPr/>
          <p:nvPr/>
        </p:nvSpPr>
        <p:spPr>
          <a:xfrm>
            <a:off x="2752725" y="5640586"/>
            <a:ext cx="469638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Make sentences with 3+ different complement-of-result pairs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552575" y="6023521"/>
            <a:ext cx="323850" cy="323850"/>
          </a:xfrm>
          <a:prstGeom prst="roundRect">
            <a:avLst>
              <a:gd name="adj" fmla="val 282353"/>
            </a:avLst>
          </a:prstGeom>
          <a:solidFill>
            <a:srgbClr val="2E7D6E">
              <a:alpha val="10000"/>
            </a:srgbClr>
          </a:solidFill>
          <a:ln w="9525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1624013" y="6085433"/>
            <a:ext cx="18459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👍</a:t>
            </a:r>
            <a:endParaRPr lang="en-US" sz="1125" dirty="0"/>
          </a:p>
        </p:txBody>
      </p:sp>
      <p:sp>
        <p:nvSpPr>
          <p:cNvPr id="26" name="Text 24"/>
          <p:cNvSpPr/>
          <p:nvPr/>
        </p:nvSpPr>
        <p:spPr>
          <a:xfrm>
            <a:off x="1924050" y="6023521"/>
            <a:ext cx="323850" cy="323850"/>
          </a:xfrm>
          <a:prstGeom prst="roundRect">
            <a:avLst>
              <a:gd name="adj" fmla="val 282353"/>
            </a:avLst>
          </a:prstGeom>
          <a:solidFill>
            <a:srgbClr val="B87A30">
              <a:alpha val="12000"/>
            </a:srgbClr>
          </a:solidFill>
          <a:ln w="9525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1995487" y="6085433"/>
            <a:ext cx="18459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😐</a:t>
            </a:r>
            <a:endParaRPr lang="en-US" sz="1125" dirty="0"/>
          </a:p>
        </p:txBody>
      </p:sp>
      <p:sp>
        <p:nvSpPr>
          <p:cNvPr id="28" name="Text 26"/>
          <p:cNvSpPr/>
          <p:nvPr/>
        </p:nvSpPr>
        <p:spPr>
          <a:xfrm>
            <a:off x="2295525" y="6023521"/>
            <a:ext cx="323850" cy="323850"/>
          </a:xfrm>
          <a:prstGeom prst="roundRect">
            <a:avLst>
              <a:gd name="adj" fmla="val 282353"/>
            </a:avLst>
          </a:prstGeom>
          <a:solidFill>
            <a:srgbClr val="C96A5C">
              <a:alpha val="10000"/>
            </a:srgbClr>
          </a:solidFill>
          <a:ln w="9525">
            <a:solidFill>
              <a:srgbClr val="C96A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2366963" y="6085433"/>
            <a:ext cx="18459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👎</a:t>
            </a:r>
            <a:endParaRPr lang="en-US" sz="1125" dirty="0"/>
          </a:p>
        </p:txBody>
      </p:sp>
      <p:sp>
        <p:nvSpPr>
          <p:cNvPr id="30" name="Text 28"/>
          <p:cNvSpPr/>
          <p:nvPr/>
        </p:nvSpPr>
        <p:spPr>
          <a:xfrm>
            <a:off x="2752725" y="6078736"/>
            <a:ext cx="411755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Understand a listening passage about stationery items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419225" y="6461671"/>
            <a:ext cx="7296150" cy="390525"/>
          </a:xfrm>
          <a:prstGeom prst="roundRect">
            <a:avLst>
              <a:gd name="adj" fmla="val 29268"/>
            </a:avLst>
          </a:prstGeom>
          <a:solidFill>
            <a:srgbClr val="B87A30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1571625" y="6556921"/>
            <a:ext cx="713117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note:</a:t>
            </a:r>
            <a:r>
              <a:rPr lang="en-US" sz="9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note any 👎 hands on criterion 1 (concept, not just vocabulary) for a quick re-teach next lesson.</a:t>
            </a:r>
            <a:endParaRPr lang="en-US" sz="975" dirty="0"/>
          </a:p>
        </p:txBody>
      </p:sp>
      <p:sp>
        <p:nvSpPr>
          <p:cNvPr id="33" name="Text 31"/>
          <p:cNvSpPr/>
          <p:nvPr/>
        </p:nvSpPr>
        <p:spPr>
          <a:xfrm>
            <a:off x="9296400" y="3996779"/>
            <a:ext cx="7848600" cy="3093541"/>
          </a:xfrm>
          <a:prstGeom prst="roundRect">
            <a:avLst>
              <a:gd name="adj" fmla="val 8621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9572625" y="4387304"/>
            <a:ext cx="744207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050"/>
              </a:spcAft>
              <a:buNone/>
            </a:pPr>
            <a:r>
              <a:rPr lang="en-US" sz="12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EXIT TICKET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572625" y="4730204"/>
            <a:ext cx="7296150" cy="822871"/>
          </a:xfrm>
          <a:prstGeom prst="rect">
            <a:avLst/>
          </a:prstGeom>
          <a:solidFill>
            <a:srgbClr val="EAE6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9596438" y="4730204"/>
            <a:ext cx="0" cy="822871"/>
          </a:xfrm>
          <a:prstGeom prst="line">
            <a:avLst/>
          </a:prstGeom>
          <a:noFill/>
          <a:ln w="47625">
            <a:solidFill>
              <a:srgbClr val="2E7D6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810750" y="4882604"/>
            <a:ext cx="700487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TASK — MINI WHITEBOARDS, 2 MIN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9810750" y="5120729"/>
            <a:ext cx="7004876" cy="279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5"/>
              </a:lnSpc>
              <a:buNone/>
            </a:pPr>
            <a:r>
              <a:rPr lang="en-US" sz="1575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Write ONE sentence using any complement-of-result pair from today.</a:t>
            </a:r>
            <a:endParaRPr lang="en-US" sz="1575" dirty="0"/>
          </a:p>
        </p:txBody>
      </p:sp>
      <p:sp>
        <p:nvSpPr>
          <p:cNvPr id="39" name="Text 37"/>
          <p:cNvSpPr/>
          <p:nvPr/>
        </p:nvSpPr>
        <p:spPr>
          <a:xfrm>
            <a:off x="9572625" y="5686425"/>
            <a:ext cx="7442073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13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Must include:</a:t>
            </a:r>
            <a:endParaRPr lang="en-US" sz="1013" dirty="0"/>
          </a:p>
        </p:txBody>
      </p:sp>
      <p:sp>
        <p:nvSpPr>
          <p:cNvPr id="40" name="Text 38"/>
          <p:cNvSpPr/>
          <p:nvPr/>
        </p:nvSpPr>
        <p:spPr>
          <a:xfrm>
            <a:off x="9572625" y="6208216"/>
            <a:ext cx="7442073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13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circulates and scans whiteboards for correct pairing of verb + complement.</a:t>
            </a:r>
            <a:endParaRPr lang="en-US" sz="1013" dirty="0"/>
          </a:p>
        </p:txBody>
      </p:sp>
      <p:sp>
        <p:nvSpPr>
          <p:cNvPr id="41" name="Text 39"/>
          <p:cNvSpPr/>
          <p:nvPr/>
        </p:nvSpPr>
        <p:spPr>
          <a:xfrm>
            <a:off x="1143000" y="7261771"/>
            <a:ext cx="16002000" cy="523875"/>
          </a:xfrm>
          <a:prstGeom prst="roundRect">
            <a:avLst>
              <a:gd name="adj" fmla="val 21818"/>
            </a:avLst>
          </a:prstGeom>
          <a:solidFill>
            <a:srgbClr val="3A5F8A">
              <a:alpha val="12000"/>
            </a:srgbClr>
          </a:solidFill>
          <a:ln w="9525">
            <a:solidFill>
              <a:srgbClr val="3A5F8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Shape 40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5143500"/>
            <a:ext cx="46634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0"/>
              </a:lnSpc>
              <a:buNone/>
            </a:pPr>
            <a:r>
              <a:rPr lang="en-US" sz="36000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支</a:t>
            </a:r>
            <a:endParaRPr lang="en-US" sz="36000" dirty="0"/>
          </a:p>
        </p:txBody>
      </p:sp>
      <p:sp>
        <p:nvSpPr>
          <p:cNvPr id="3" name="Text 1"/>
          <p:cNvSpPr/>
          <p:nvPr/>
        </p:nvSpPr>
        <p:spPr>
          <a:xfrm>
            <a:off x="2343150" y="2095500"/>
            <a:ext cx="13601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LESSON 3 COMPLETE</a:t>
            </a:r>
            <a:endParaRPr lang="en-US" sz="1275" dirty="0"/>
          </a:p>
        </p:txBody>
      </p:sp>
      <p:sp>
        <p:nvSpPr>
          <p:cNvPr id="4" name="Text 2"/>
          <p:cNvSpPr/>
          <p:nvPr/>
        </p:nvSpPr>
        <p:spPr>
          <a:xfrm>
            <a:off x="2343150" y="2514600"/>
            <a:ext cx="136017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500"/>
              </a:lnSpc>
              <a:buNone/>
            </a:pPr>
            <a:r>
              <a:rPr lang="en-US" sz="75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✅</a:t>
            </a:r>
            <a:endParaRPr lang="en-US" sz="7500" dirty="0"/>
          </a:p>
        </p:txBody>
      </p:sp>
      <p:sp>
        <p:nvSpPr>
          <p:cNvPr id="5" name="Text 3"/>
          <p:cNvSpPr/>
          <p:nvPr/>
        </p:nvSpPr>
        <p:spPr>
          <a:xfrm>
            <a:off x="2343150" y="3657600"/>
            <a:ext cx="136017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7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今天学了 · What We Covered</a:t>
            </a:r>
            <a:endParaRPr lang="en-US" sz="3750" dirty="0"/>
          </a:p>
        </p:txBody>
      </p:sp>
      <p:sp>
        <p:nvSpPr>
          <p:cNvPr id="6" name="Text 4"/>
          <p:cNvSpPr/>
          <p:nvPr/>
        </p:nvSpPr>
        <p:spPr>
          <a:xfrm>
            <a:off x="2343150" y="4438650"/>
            <a:ext cx="136017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75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结果补语 4 categories · listening for stationery items · pair sentence-making</a:t>
            </a:r>
            <a:endParaRPr lang="en-US" sz="1575" dirty="0"/>
          </a:p>
        </p:txBody>
      </p:sp>
      <p:sp>
        <p:nvSpPr>
          <p:cNvPr id="7" name="Text 5"/>
          <p:cNvSpPr/>
          <p:nvPr/>
        </p:nvSpPr>
        <p:spPr>
          <a:xfrm>
            <a:off x="2476500" y="5210175"/>
            <a:ext cx="13335000" cy="2428875"/>
          </a:xfrm>
          <a:prstGeom prst="roundRect">
            <a:avLst>
              <a:gd name="adj" fmla="val 10980"/>
            </a:avLst>
          </a:prstGeom>
          <a:solidFill>
            <a:srgbClr val="F4F2EE"/>
          </a:solidFill>
          <a:ln w="19050">
            <a:solidFill>
              <a:srgbClr val="3A5F8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828925" y="5534025"/>
            <a:ext cx="12630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下一课 · NEXT LESSON (L4)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828925" y="5838825"/>
            <a:ext cx="12630150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06"/>
              </a:lnSpc>
              <a:buNone/>
            </a:pPr>
            <a:r>
              <a:rPr lang="en-US" sz="18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下一课，我们要学文具的</a:t>
            </a:r>
            <a:r>
              <a:rPr lang="en-US" sz="1875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量词</a:t>
            </a:r>
            <a:r>
              <a:rPr lang="en-US" sz="18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——"</a:t>
            </a:r>
            <a:r>
              <a:rPr lang="en-US" sz="1875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一支铅笔</a:t>
            </a:r>
            <a:r>
              <a:rPr lang="en-US" sz="18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"、"</a:t>
            </a:r>
            <a:r>
              <a:rPr lang="en-US" sz="1875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一本练习本</a:t>
            </a:r>
            <a:r>
              <a:rPr lang="en-US" sz="18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"——还有更多东西的名字。</a:t>
            </a:r>
            <a:endParaRPr lang="en-US" sz="1875" dirty="0"/>
          </a:p>
          <a:p>
            <a:pPr algn="ctr" indent="0" marL="0">
              <a:lnSpc>
                <a:spcPts val="2906"/>
              </a:lnSpc>
              <a:buNone/>
            </a:pPr>
            <a:endParaRPr lang="en-US" sz="1875" dirty="0"/>
          </a:p>
          <a:p>
            <a:pPr algn="ctr" indent="0" marL="0">
              <a:lnSpc>
                <a:spcPts val="2906"/>
              </a:lnSpc>
              <a:buNone/>
            </a:pPr>
            <a:r>
              <a:rPr lang="en-US" sz="18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Next lesson: measure words for stationery — </a:t>
            </a:r>
            <a:endParaRPr lang="en-US" sz="1875" dirty="0"/>
          </a:p>
          <a:p>
            <a:pPr algn="ctr" indent="0" marL="0">
              <a:lnSpc>
                <a:spcPts val="2906"/>
              </a:lnSpc>
              <a:buNone/>
            </a:pPr>
            <a:r>
              <a:rPr lang="en-US" sz="1875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支</a:t>
            </a:r>
            <a:r>
              <a:rPr lang="en-US" sz="18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(pens, pencils), </a:t>
            </a:r>
            <a:r>
              <a:rPr lang="en-US" sz="1875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本</a:t>
            </a:r>
            <a:r>
              <a:rPr lang="en-US" sz="18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(books), </a:t>
            </a:r>
            <a:r>
              <a:rPr lang="en-US" sz="1875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把</a:t>
            </a:r>
            <a:r>
              <a:rPr lang="en-US" sz="18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(handled items) — plus naming more school items.</a:t>
            </a:r>
            <a:endParaRPr lang="en-US" sz="18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2026-07-25T11:16:04Z</dcterms:created>
  <dcterms:modified xsi:type="dcterms:W3CDTF">2026-07-25T11:16:04Z</dcterms:modified>
</cp:coreProperties>
</file>