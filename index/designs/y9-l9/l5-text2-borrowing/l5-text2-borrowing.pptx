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043363" y="2578894"/>
            <a:ext cx="1020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43363" y="3074194"/>
            <a:ext cx="102012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🤝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43363" y="4983956"/>
            <a:ext cx="102012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借东西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043363" y="6488906"/>
            <a:ext cx="10201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— Borrowing &amp; Lending Vocabulary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Measure Words &amp; Items Recap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295525"/>
            <a:ext cx="7924800" cy="2428875"/>
          </a:xfrm>
          <a:prstGeom prst="roundRect">
            <a:avLst>
              <a:gd name="adj" fmla="val 784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L4 MEASURE WORDS + ITEMS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2876550"/>
            <a:ext cx="828675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6850" y="29622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一支笔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546622" y="3219450"/>
            <a:ext cx="391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 zhī bǐ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28850" y="2876550"/>
            <a:ext cx="828675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725" y="29622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一本书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398961" y="3219450"/>
            <a:ext cx="498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 běn shū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33725" y="2876550"/>
            <a:ext cx="100965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76600" y="2962275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一把尺子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3397448" y="3219450"/>
            <a:ext cx="491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 bǎ chǐzi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19575" y="2876550"/>
            <a:ext cx="647700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62450" y="29622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399359" y="3219450"/>
            <a:ext cx="293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43475" y="2876550"/>
            <a:ext cx="828675" cy="561975"/>
          </a:xfrm>
          <a:prstGeom prst="roundRect">
            <a:avLst>
              <a:gd name="adj" fmla="val 1016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86350" y="29622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146923" y="3219450"/>
            <a:ext cx="430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liànxíběn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23975" y="3571875"/>
            <a:ext cx="75197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an item picture; students write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+ item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mini whiteboards, hold up on three. e.g. picture of a calculator → students should write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一个计算器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previewing today's new word.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to confirm 2–3 answers.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5450" y="2295525"/>
            <a:ext cx="7924800" cy="2590800"/>
          </a:xfrm>
          <a:prstGeom prst="roundRect">
            <a:avLst>
              <a:gd name="adj" fmla="val 735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QUICK-FIRE PROMPTS (5 ITEMS)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1675" y="2876550"/>
            <a:ext cx="7372350" cy="542925"/>
          </a:xfrm>
          <a:prstGeom prst="roundRect">
            <a:avLst>
              <a:gd name="adj" fmla="val 21053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91675" y="3533775"/>
            <a:ext cx="7372350" cy="542925"/>
          </a:xfrm>
          <a:prstGeom prst="roundRect">
            <a:avLst>
              <a:gd name="adj" fmla="val 21053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91675" y="4191000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on three each time. Students write the measure word + item for each picture shown; teacher cold calls 2–3 students to read their answer aloud.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7750" y="5095875"/>
            <a:ext cx="16192500" cy="576263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071563" y="5095875"/>
            <a:ext cx="0" cy="57626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3975" y="524827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如果你没有铅笔，但是同学有，你可以怎么办？——你可以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"借"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！今天我们学一段对话，是关于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"借"东西和"还"东西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的。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315766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639616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677841"/>
            <a:ext cx="15621000" cy="1440061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677841"/>
            <a:ext cx="0" cy="1440061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887391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135041"/>
            <a:ext cx="1526305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a dialogue about borrowing and lending stationery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using 借, 还, 别, and 行/可以.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460802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660827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660827"/>
            <a:ext cx="9039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the new vocabulary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忘记, 借, 计算器, 还, 同学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能正确使用新词汇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644366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64368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643688"/>
            <a:ext cx="867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the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borrowing dialogue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能读懂借东西的对话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500" y="742652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62654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626548"/>
            <a:ext cx="14376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the difference between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(borrow) and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(lend), and between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(huán, return) and </a:t>
            </a:r>
            <a:r>
              <a:rPr lang="en-US" sz="18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别</a:t>
            </a: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(don't) </a:t>
            </a:r>
            <a:r>
              <a:rPr lang="en-US" sz="1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能解释这些词的区别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10–13 MIN · I DO · NEW VOCABULARY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借东西 · Borrowing &amp; Lending Words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1336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525" y="22955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忘记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990725" y="2309813"/>
            <a:ext cx="4874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wàngjì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90725" y="2538413"/>
            <a:ext cx="4874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forget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457950" y="21336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57975" y="22955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496175" y="2309813"/>
            <a:ext cx="8777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6175" y="2538413"/>
            <a:ext cx="877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borrow; lend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963400" y="21336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63425" y="22955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001625" y="2309813"/>
            <a:ext cx="2065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001625" y="2538413"/>
            <a:ext cx="20657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(pens, pencils)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2500" y="30480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32099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990725" y="3224213"/>
            <a:ext cx="10699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xíng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90725" y="3452813"/>
            <a:ext cx="1069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 all right; OK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457950" y="30480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7975" y="3262313"/>
            <a:ext cx="7578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572375" y="3224213"/>
            <a:ext cx="6932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jìsuànqì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2375" y="3452813"/>
            <a:ext cx="6932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calculator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1963400" y="30480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163425" y="32099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001625" y="3224213"/>
            <a:ext cx="15887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001625" y="3452813"/>
            <a:ext cx="1588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 early as; right away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52500" y="39624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52525" y="41243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990725" y="4138613"/>
            <a:ext cx="2014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90725" y="4367213"/>
            <a:ext cx="2014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return (something borrowed)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6457950" y="39624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57975" y="41243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7496175" y="4138613"/>
            <a:ext cx="17018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6175" y="4367213"/>
            <a:ext cx="1701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other; don't (imperative)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1963400" y="3962400"/>
            <a:ext cx="5372100" cy="781050"/>
          </a:xfrm>
          <a:prstGeom prst="roundRect">
            <a:avLst>
              <a:gd name="adj" fmla="val 2439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163425" y="4124325"/>
            <a:ext cx="680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同学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13001625" y="4138613"/>
            <a:ext cx="7086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tóngxué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001625" y="4367213"/>
            <a:ext cx="708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classmate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952500" y="4914900"/>
            <a:ext cx="16383000" cy="800100"/>
          </a:xfrm>
          <a:prstGeom prst="roundRect">
            <a:avLst>
              <a:gd name="adj" fmla="val 14286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19250" y="5048250"/>
            <a:ext cx="131233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 (huán, 2nd tone) = "return" here — do </a:t>
            </a:r>
            <a:r>
              <a:rPr lang="en-US" sz="1650" b="1" i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</a:t>
            </a:r>
            <a:r>
              <a:rPr lang="en-US" sz="16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confuse with 还 (hái) = "also/still", same character &amp; tone, different meaning.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619250" y="5372100"/>
            <a:ext cx="13123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each word twice; class repeats twice. Highlight 借 and 还 — today's key grammar words.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47750"/>
            <a:ext cx="16904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13–17 MIN · I DO · TEXT / DIALOGUE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50" y="1295400"/>
            <a:ext cx="335002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Text 2 (p.85)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7250" y="1905000"/>
            <a:ext cx="9345811" cy="1007566"/>
          </a:xfrm>
          <a:prstGeom prst="roundRect">
            <a:avLst>
              <a:gd name="adj" fmla="val 1134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0" y="2988766"/>
            <a:ext cx="9345811" cy="1007566"/>
          </a:xfrm>
          <a:prstGeom prst="roundRect">
            <a:avLst>
              <a:gd name="adj" fmla="val 1134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250" y="4072533"/>
            <a:ext cx="9345811" cy="1007566"/>
          </a:xfrm>
          <a:prstGeom prst="roundRect">
            <a:avLst>
              <a:gd name="adj" fmla="val 1134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250" y="5156299"/>
            <a:ext cx="9345811" cy="584746"/>
          </a:xfrm>
          <a:prstGeom prst="roundRect">
            <a:avLst>
              <a:gd name="adj" fmla="val 1954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507861" y="1905000"/>
            <a:ext cx="6922889" cy="6657975"/>
          </a:xfrm>
          <a:prstGeom prst="roundRect">
            <a:avLst>
              <a:gd name="adj" fmla="val 2861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55511" y="2114550"/>
            <a:ext cx="6556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 · 理解问题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55511" y="3476625"/>
            <a:ext cx="6427589" cy="361950"/>
          </a:xfrm>
          <a:prstGeom prst="roundRect">
            <a:avLst>
              <a:gd name="adj" fmla="val 31579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07911" y="3571875"/>
            <a:ext cx="62452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0507861" y="8715375"/>
            <a:ext cx="6922889" cy="847725"/>
          </a:xfrm>
          <a:prstGeom prst="roundRect">
            <a:avLst>
              <a:gd name="adj" fmla="val 1348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88836" y="8839200"/>
            <a:ext cx="669215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the dialogue aloud once (playing both roles, or using two students), then class reads together in pairs — each student takes one role. Play Track 35. 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answers accepted today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Chinese re-statement invited from fluent speakers.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课文二理解问题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247900"/>
            <a:ext cx="16383000" cy="1543050"/>
          </a:xfrm>
          <a:prstGeom prst="roundRect">
            <a:avLst>
              <a:gd name="adj" fmla="val 123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9675" y="24479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9396" y="2514600"/>
            <a:ext cx="83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800225" y="244792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第一个人忘记带什么了？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0225" y="2733675"/>
            <a:ext cx="15278100" cy="857250"/>
          </a:xfrm>
          <a:prstGeom prst="roundRect">
            <a:avLst>
              <a:gd name="adj" fmla="val 1333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09775" y="2867025"/>
            <a:ext cx="151561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009775" y="3257550"/>
            <a:ext cx="15156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forgot to bring his pencil.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52500" y="3943350"/>
            <a:ext cx="16383000" cy="1543050"/>
          </a:xfrm>
          <a:prstGeom prst="roundRect">
            <a:avLst>
              <a:gd name="adj" fmla="val 123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09675" y="41433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42876" y="4210050"/>
            <a:ext cx="1167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800225" y="414337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第二个人借给他铅笔了吗？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00225" y="4429125"/>
            <a:ext cx="15278100" cy="857250"/>
          </a:xfrm>
          <a:prstGeom prst="roundRect">
            <a:avLst>
              <a:gd name="adj" fmla="val 1333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09775" y="4562475"/>
            <a:ext cx="151561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借了。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09775" y="4953000"/>
            <a:ext cx="15156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 — the second person lent him a pencil.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2500" y="5638800"/>
            <a:ext cx="16383000" cy="1543050"/>
          </a:xfrm>
          <a:prstGeom prst="roundRect">
            <a:avLst>
              <a:gd name="adj" fmla="val 1234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09675" y="58388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42430" y="5905500"/>
            <a:ext cx="117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800225" y="583882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第二个人借给他计算器了吗？为什么？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00225" y="6124575"/>
            <a:ext cx="15278100" cy="857250"/>
          </a:xfrm>
          <a:prstGeom prst="roundRect">
            <a:avLst>
              <a:gd name="adj" fmla="val 1333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09775" y="6257925"/>
            <a:ext cx="151561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没有，因为他正在用。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2009775" y="6648450"/>
            <a:ext cx="151561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— because he was using it himself.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17–19 MIN · I DO · KEY GRAMMAR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906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语法重点 · Key Grammar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143125"/>
            <a:ext cx="8105775" cy="1485900"/>
          </a:xfrm>
          <a:prstGeom prst="roundRect">
            <a:avLst>
              <a:gd name="adj" fmla="val 7692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9200" y="2333625"/>
            <a:ext cx="2447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 VS 借给 — BORROW AND LEND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219200" y="2600325"/>
            <a:ext cx="7723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alone typically means "borrow" — 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我借你的铅笔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I borrow your pencil.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"lend to" — 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借给我一支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lend me one. Context determines direction.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" y="3171825"/>
            <a:ext cx="4489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借你的计算器 (I borrow)  ·  借给我一支 (you lend me)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29725" y="2143125"/>
            <a:ext cx="8105775" cy="1485900"/>
          </a:xfrm>
          <a:prstGeom prst="roundRect">
            <a:avLst>
              <a:gd name="adj" fmla="val 7692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96425" y="2333625"/>
            <a:ext cx="31261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 (HUÁN) VS 还 (HÁI) — DON'T CONFUSE!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496425" y="2600325"/>
            <a:ext cx="7723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 (huán, 2nd tone)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return something borrowed. Do not confuse with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 (hái)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also/still — same character, same tone number, different meaning; context distinguishes them.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96425" y="3171825"/>
            <a:ext cx="38936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我一会儿就还给你。 = I'll return it to you soon.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3800475"/>
            <a:ext cx="8105775" cy="1257300"/>
          </a:xfrm>
          <a:prstGeom prst="roundRect">
            <a:avLst>
              <a:gd name="adj" fmla="val 9091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9200" y="3990975"/>
            <a:ext cx="26843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别 + VERB — NEGATIVE IMPERATIVE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219200" y="4257675"/>
            <a:ext cx="7706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别 + verb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tells someone not to do something. 别 is informal;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also acceptable and more neutral.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9200" y="4600575"/>
            <a:ext cx="1726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别忘记 = don't forget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29725" y="3800475"/>
            <a:ext cx="8105775" cy="1257300"/>
          </a:xfrm>
          <a:prstGeom prst="roundRect">
            <a:avLst>
              <a:gd name="adj" fmla="val 9091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6425" y="3990975"/>
            <a:ext cx="2932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 VS 可以 — INFORMAL VS FORMAL OK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496425" y="4257675"/>
            <a:ext cx="6688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informal "OK/all right."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more formal "may/can." Both appear in the dialogue.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96425" y="460057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行吗？ / 可以吗？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420666"/>
          </a:xfrm>
          <a:prstGeom prst="roundRect">
            <a:avLst>
              <a:gd name="adj" fmla="val 7797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the Word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</a:t>
            </a: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'forget'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write on mini whiteboards and hold up on three.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420666"/>
          </a:xfrm>
          <a:prstGeom prst="roundRect">
            <a:avLst>
              <a:gd name="adj" fmla="val 7797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Who Borrows, Who Lends?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5125" y="3838575"/>
            <a:ext cx="4954905" cy="6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"Jamie，</a:t>
            </a: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'借给我一支铅笔'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who is doing the lending, and who is borrowing?"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001500" y="2257425"/>
            <a:ext cx="5334000" cy="3420666"/>
          </a:xfrm>
          <a:prstGeom prst="roundRect">
            <a:avLst>
              <a:gd name="adj" fmla="val 7797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Spot the Mistake!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39625" y="3838575"/>
            <a:ext cx="4954905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我一会儿就借给你。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"这句话对不对？错在哪儿？"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2239625" y="4789884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430125" y="4904184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52500" y="5868591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992416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in checks 1 and 3. For cold call, pre-identify 2–3 students who need a stretch — ask them to also translate the full sentence.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85850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57250" y="1362075"/>
            <a:ext cx="16904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7250" y="2105025"/>
            <a:ext cx="5397401" cy="7400925"/>
          </a:xfrm>
          <a:prstGeom prst="roundRect">
            <a:avLst>
              <a:gd name="adj" fmla="val 352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333625"/>
            <a:ext cx="1828056" cy="257175"/>
          </a:xfrm>
          <a:prstGeom prst="roundRect">
            <a:avLst>
              <a:gd name="adj" fmla="val 37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38250" y="2381250"/>
            <a:ext cx="1592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1 · WHITEBOARDS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4900" y="2705100"/>
            <a:ext cx="5000143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
</a:t>
            </a:r>
            <a:r>
              <a:rPr lang="en-US" sz="15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'forget'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4900" y="3330178"/>
            <a:ext cx="4902101" cy="9525"/>
          </a:xfrm>
          <a:prstGeom prst="rect">
            <a:avLst/>
          </a:prstGeom>
          <a:solidFill>
            <a:srgbClr val="CFC9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4900" y="3454003"/>
            <a:ext cx="50001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4900" y="3787378"/>
            <a:ext cx="500014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45151" y="2105025"/>
            <a:ext cx="5397550" cy="7400925"/>
          </a:xfrm>
          <a:prstGeom prst="roundRect">
            <a:avLst>
              <a:gd name="adj" fmla="val 352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92801" y="2333625"/>
            <a:ext cx="1629519" cy="257175"/>
          </a:xfrm>
          <a:prstGeom prst="roundRect">
            <a:avLst>
              <a:gd name="adj" fmla="val 37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26151" y="2381250"/>
            <a:ext cx="13900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2 · COLD 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2801" y="2705100"/>
            <a:ext cx="5000295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r>
              <a:rPr lang="en-US" sz="15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'借给我一支铅笔'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who is lending, who is borrowing?"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92801" y="3109317"/>
            <a:ext cx="4902250" cy="9525"/>
          </a:xfrm>
          <a:prstGeom prst="rect">
            <a:avLst/>
          </a:prstGeom>
          <a:solidFill>
            <a:srgbClr val="CFC9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2801" y="3233142"/>
            <a:ext cx="5000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2801" y="3566517"/>
            <a:ext cx="50002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listener (you)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lending; </a:t>
            </a: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speaker (me)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borrowing — 借给 always points toward the person receiving the item.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033200" y="2105025"/>
            <a:ext cx="5397550" cy="7400925"/>
          </a:xfrm>
          <a:prstGeom prst="roundRect">
            <a:avLst>
              <a:gd name="adj" fmla="val 3529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80850" y="2333625"/>
            <a:ext cx="1686669" cy="257175"/>
          </a:xfrm>
          <a:prstGeom prst="roundRect">
            <a:avLst>
              <a:gd name="adj" fmla="val 37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14200" y="2381250"/>
            <a:ext cx="14483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3 · ERROR FIND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280850" y="2705100"/>
            <a:ext cx="5000295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wrong?
</a:t>
            </a:r>
            <a:r>
              <a:rPr lang="en-US" sz="15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我一会儿就借给你。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280850" y="3330178"/>
            <a:ext cx="4902250" cy="9525"/>
          </a:xfrm>
          <a:prstGeom prst="rect">
            <a:avLst/>
          </a:prstGeom>
          <a:solidFill>
            <a:srgbClr val="CFC9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280850" y="3454003"/>
            <a:ext cx="5000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280850" y="3787378"/>
            <a:ext cx="50002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is </a:t>
            </a: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returning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something already borrowed, not lending — needs </a:t>
            </a: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还给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(huán gěi), not 借给.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280850" y="4351139"/>
            <a:ext cx="50002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我一会儿就还给你。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6680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20–28 MIN · WE DO (8 MIN)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1371600"/>
            <a:ext cx="16904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听写 + 课文二填空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7250" y="2057400"/>
            <a:ext cx="8332738" cy="3918645"/>
          </a:xfrm>
          <a:prstGeom prst="roundRect">
            <a:avLst>
              <a:gd name="adj" fmla="val 6806"/>
            </a:avLst>
          </a:prstGeom>
          <a:solidFill>
            <a:srgbClr val="F4F2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943100"/>
            <a:ext cx="2550021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14450" y="1981200"/>
            <a:ext cx="22512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Dictation + Gap-Fill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4900" y="24384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0270" y="2486025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85900" y="2457450"/>
            <a:ext cx="760556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Dictation round: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says the </a:t>
            </a: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students write the </a:t>
            </a: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5 items from today's vocabulary — hold up on three each time.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4900" y="299442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98959" y="3042047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485900" y="3013472"/>
            <a:ext cx="760556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Gap-fill: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the Text 2 dialogue with </a:t>
            </a: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借, 还, 别, 行, 计算器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removed. Students copy and complete it in their exercise books.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4900" y="355044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98662" y="3598069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485900" y="3569494"/>
            <a:ext cx="5701784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to check answers — students read the completed sentence aloud.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4900" y="3912394"/>
            <a:ext cx="7837438" cy="571500"/>
          </a:xfrm>
          <a:prstGeom prst="roundRect">
            <a:avLst>
              <a:gd name="adj" fmla="val 20000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57300" y="4007644"/>
            <a:ext cx="76832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student writes and holds up a whiteboard for the dictation; every student completes the gap-fill independently.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04900" y="4617244"/>
            <a:ext cx="3861495" cy="805755"/>
          </a:xfrm>
          <a:prstGeom prst="roundRect">
            <a:avLst>
              <a:gd name="adj" fmla="val 1418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4731544"/>
            <a:ext cx="3666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238250" y="4922044"/>
            <a:ext cx="366669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the 5 missing words projected alongside the gapped dialogue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80695" y="4617244"/>
            <a:ext cx="3861643" cy="805755"/>
          </a:xfrm>
          <a:prstGeom prst="roundRect">
            <a:avLst>
              <a:gd name="adj" fmla="val 1418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4045" y="4731544"/>
            <a:ext cx="3666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214045" y="4922044"/>
            <a:ext cx="366684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filling the gaps, underline which word is 借 (borrow) vs 借给 (lend) in the dialogue and label each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94788" y="2057400"/>
            <a:ext cx="7935962" cy="2718495"/>
          </a:xfrm>
          <a:prstGeom prst="roundRect">
            <a:avLst>
              <a:gd name="adj" fmla="val 700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713863" y="2238375"/>
            <a:ext cx="7647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GAPPED DIALOGUE · 5 BLANKS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713863" y="2505075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你有铅笔吗？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9713863" y="2803624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有。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713863" y="3102173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我今天忘记带铅笔了。借给我一支用一下，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9713863" y="3400723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713863" y="3699272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用一下，可以吗？我一会儿就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给你。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9713863" y="3997821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对不起，我正用呢。你跟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的同学借吧。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9713863" y="4296370"/>
            <a:ext cx="7647768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好吧。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9494788" y="4909245"/>
            <a:ext cx="7935962" cy="1066800"/>
          </a:xfrm>
          <a:prstGeom prst="roundRect">
            <a:avLst>
              <a:gd name="adj" fmla="val 2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713863" y="5090220"/>
            <a:ext cx="7647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713863" y="5375970"/>
            <a:ext cx="5048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875788" y="546169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0294888" y="5375970"/>
            <a:ext cx="5048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456813" y="546169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0875913" y="5375970"/>
            <a:ext cx="86677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037838" y="546169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1818888" y="5375970"/>
            <a:ext cx="5048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980813" y="546169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2399913" y="5375970"/>
            <a:ext cx="5048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561838" y="546169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28–38 MIN · YOU DO (10 MIN)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写你自己的借东西对话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105025"/>
            <a:ext cx="8579495" cy="2807494"/>
          </a:xfrm>
          <a:prstGeom prst="roundRect">
            <a:avLst>
              <a:gd name="adj" fmla="val 9500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8250" y="1990725"/>
            <a:ext cx="2646611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09700" y="2028825"/>
            <a:ext cx="23497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Write &amp; Peer-Check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0150" y="24860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05520" y="25336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581150" y="2514600"/>
            <a:ext cx="785725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one new example live, thinking aloud about word choice: 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"如果我想借一本练习本，我可以说……'借给我一本练习本，行吗？'"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0150" y="306109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94209" y="3108722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581150" y="3089672"/>
            <a:ext cx="785725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 writing (6 min): write a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line borrowing dialogue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between two classmates, choosing your own item to borrow.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0150" y="363616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93912" y="3683794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581150" y="3664744"/>
            <a:ext cx="703098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Peer-check (2 min): swap books with a neighbour and check for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借/借给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还/别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accuracy.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0150" y="400764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93465" y="4055269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581150" y="4036219"/>
            <a:ext cx="3648777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2–3 pairs to read their dialogue aloud.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0150" y="4369594"/>
            <a:ext cx="8084195" cy="352425"/>
          </a:xfrm>
          <a:prstGeom prst="roundRect">
            <a:avLst>
              <a:gd name="adj" fmla="val 32432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33500" y="4455319"/>
            <a:ext cx="79738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write independently; peer-check requires every student to read and mark a partner's work.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952500" y="5045869"/>
            <a:ext cx="8579495" cy="1053405"/>
          </a:xfrm>
          <a:prstGeom prst="roundRect">
            <a:avLst>
              <a:gd name="adj" fmla="val 10851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23950" y="5179219"/>
            <a:ext cx="84013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(KEPT PROJECTED THROUGHOUT)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3950" y="5417344"/>
            <a:ext cx="84013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975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我忘记带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了。借给我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，行吗？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3950" y="5691634"/>
            <a:ext cx="84013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975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行。/ 对不起，我正用呢。你跟别的同学借吧。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2500" y="6232624"/>
            <a:ext cx="4242048" cy="805755"/>
          </a:xfrm>
          <a:prstGeom prst="roundRect">
            <a:avLst>
              <a:gd name="adj" fmla="val 1418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85850" y="6346924"/>
            <a:ext cx="40548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085850" y="6537424"/>
            <a:ext cx="405485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projected throughout the task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89798" y="6232624"/>
            <a:ext cx="4242197" cy="805755"/>
          </a:xfrm>
          <a:prstGeom prst="roundRect">
            <a:avLst>
              <a:gd name="adj" fmla="val 1418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23148" y="6346924"/>
            <a:ext cx="4055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423148" y="6537424"/>
            <a:ext cx="4055007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third line using 还 (e.g. A: 我一会儿就还给你。) and use 可以 instead of 行 in at least one question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74895" y="2105025"/>
            <a:ext cx="7460456" cy="1123950"/>
          </a:xfrm>
          <a:prstGeom prst="roundRect">
            <a:avLst>
              <a:gd name="adj" fmla="val 237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093970" y="2305050"/>
            <a:ext cx="71627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WORD BANK (FROM L4) · 词库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93970" y="2609850"/>
            <a:ext cx="647700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236845" y="26955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0817870" y="2609850"/>
            <a:ext cx="82867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960745" y="26955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1722745" y="2609850"/>
            <a:ext cx="647700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865620" y="269557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2446645" y="2609850"/>
            <a:ext cx="82867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2589520" y="269557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3351520" y="2609850"/>
            <a:ext cx="4667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494395" y="269557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3894445" y="2609850"/>
            <a:ext cx="466725" cy="419100"/>
          </a:xfrm>
          <a:prstGeom prst="roundRect">
            <a:avLst>
              <a:gd name="adj" fmla="val 27273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4037320" y="2695575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9874895" y="3381375"/>
            <a:ext cx="7460456" cy="1257300"/>
          </a:xfrm>
          <a:prstGeom prst="roundRect">
            <a:avLst>
              <a:gd name="adj" fmla="val 15152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074920" y="3543300"/>
            <a:ext cx="7201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TEACHER'S LIVE REASONING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0074920" y="3790950"/>
            <a:ext cx="72016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练习本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book, use measure word 本 — </a:t>
            </a:r>
            <a:r>
              <a:rPr lang="en-US" sz="12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借给我一本练习本，行吗？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Choose an item + measure word, then slot it straight into the frame.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108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3823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945779" y="1066800"/>
            <a:ext cx="926157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26754" y="1133475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24336" y="1081088"/>
            <a:ext cx="871538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95786" y="1138238"/>
            <a:ext cx="539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859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借东西 Bingo · 宾狗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52500" y="2114550"/>
            <a:ext cx="167106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 meanings → cross off the matching 汉字 — first full line wins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52500" y="2552700"/>
            <a:ext cx="5010150" cy="4219575"/>
          </a:xfrm>
          <a:prstGeom prst="roundRect">
            <a:avLst>
              <a:gd name="adj" fmla="val 4515"/>
            </a:avLst>
          </a:prstGeom>
          <a:noFill/>
          <a:ln w="2857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581275"/>
            <a:ext cx="4953000" cy="619125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622500" y="2581275"/>
            <a:ext cx="0" cy="6191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756" y="2676525"/>
            <a:ext cx="16645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273451" y="2581275"/>
            <a:ext cx="0" cy="6191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706" y="2676525"/>
            <a:ext cx="16645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266466" y="2676525"/>
            <a:ext cx="1683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1075" y="3200400"/>
            <a:ext cx="1650950" cy="118110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92735" y="3654772"/>
            <a:ext cx="42748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632025" y="3200400"/>
            <a:ext cx="1650950" cy="118110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0556" y="36547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282976" y="3200400"/>
            <a:ext cx="1650950" cy="118110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82976" y="3205163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2976" y="4376738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7738" y="3200400"/>
            <a:ext cx="0" cy="118110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6269" y="36547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81075" y="4381500"/>
            <a:ext cx="1650950" cy="118110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99605" y="48358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2632025" y="4381500"/>
            <a:ext cx="1650950" cy="1181100"/>
          </a:xfrm>
          <a:prstGeom prst="rect">
            <a:avLst/>
          </a:prstGeom>
          <a:solidFill>
            <a:srgbClr val="C96A5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136815" y="4835872"/>
            <a:ext cx="641223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借·还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282976" y="4381500"/>
            <a:ext cx="1650950" cy="118110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282976" y="4386263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82976" y="5557838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87738" y="4381500"/>
            <a:ext cx="0" cy="118110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2528" y="4835872"/>
            <a:ext cx="641223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81075" y="5562600"/>
            <a:ext cx="1650950" cy="118110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99605" y="60169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2632025" y="5562600"/>
            <a:ext cx="1650950" cy="1181100"/>
          </a:xfrm>
          <a:prstGeom prst="rect">
            <a:avLst/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50556" y="60169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4282976" y="5562600"/>
            <a:ext cx="1650950" cy="118110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282976" y="5567362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2976" y="6738938"/>
            <a:ext cx="1650950" cy="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87738" y="5562600"/>
            <a:ext cx="0" cy="1181100"/>
          </a:xfrm>
          <a:prstGeom prst="line">
            <a:avLst/>
          </a:prstGeom>
          <a:noFill/>
          <a:ln w="9525">
            <a:solidFill>
              <a:srgbClr val="CFC9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06269" y="6016972"/>
            <a:ext cx="213741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6267450" y="2552700"/>
            <a:ext cx="11068050" cy="2152650"/>
          </a:xfrm>
          <a:prstGeom prst="roundRect">
            <a:avLst>
              <a:gd name="adj" fmla="val 885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5575" y="2895600"/>
            <a:ext cx="10803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6505575" y="322897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829425" y="3228975"/>
            <a:ext cx="1047330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draw a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grid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back of a mini whiteboard and fill it with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of today's vocabulary items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(汉字 only).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505575" y="385762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29425" y="3857625"/>
            <a:ext cx="83821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meanings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time; students cross off the matching 汉字.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505575" y="4229100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829425" y="4229100"/>
            <a:ext cx="1008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to cross off a full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row, column, or diagonal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calls </a:t>
            </a: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"Bingo!"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reads their winning line aloud.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267450" y="4857750"/>
            <a:ext cx="11068050" cy="771525"/>
          </a:xfrm>
          <a:prstGeom prst="roundRect">
            <a:avLst>
              <a:gd name="adj" fmla="val 14815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477000" y="5100638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6829425" y="5010150"/>
            <a:ext cx="444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 → students cross off 汉字</a:t>
            </a:r>
            <a:endParaRPr lang="en-US" sz="1425" dirty="0"/>
          </a:p>
        </p:txBody>
      </p:sp>
      <p:sp>
        <p:nvSpPr>
          <p:cNvPr id="58" name="Text 56"/>
          <p:cNvSpPr/>
          <p:nvPr/>
        </p:nvSpPr>
        <p:spPr>
          <a:xfrm>
            <a:off x="6829425" y="5276850"/>
            <a:ext cx="4445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"calculator" → students cross off 计算器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952500" y="7153275"/>
            <a:ext cx="53847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04900" y="7267575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1104900" y="7458075"/>
            <a:ext cx="5181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students to keep the vocabulary table projected for their first grid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6451550" y="7153275"/>
            <a:ext cx="53847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603950" y="7267575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6603950" y="7458075"/>
            <a:ext cx="51815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use their winning word in a full sentence from today's dialogue pattern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11950601" y="7153275"/>
            <a:ext cx="53847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2103001" y="7267575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2103001" y="7458075"/>
            <a:ext cx="5181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only — no photocopies needed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873425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97275"/>
            <a:ext cx="163220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143000" y="4149775"/>
            <a:ext cx="7848600" cy="3530352"/>
          </a:xfrm>
          <a:prstGeom prst="roundRect">
            <a:avLst>
              <a:gd name="adj" fmla="val 75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38275" y="4559350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8275" y="4921300"/>
            <a:ext cx="74032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1625" y="524515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89943" y="5307062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43100" y="524515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61121" y="5307062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314575" y="524515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46734" y="5307062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771775" y="5293668"/>
            <a:ext cx="305173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忘记, 借, 计算器, 还, 同学 correctly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571625" y="569282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89943" y="5754737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943100" y="569282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61121" y="5754737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314575" y="569282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46734" y="5754737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71775" y="5741343"/>
            <a:ext cx="416734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the Text 2 borrowing dialogue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571625" y="614050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89943" y="6202412"/>
            <a:ext cx="88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943100" y="614050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61121" y="6202412"/>
            <a:ext cx="89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2314575" y="614050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46734" y="6202412"/>
            <a:ext cx="60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2771775" y="6189018"/>
            <a:ext cx="299116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Explain 借 vs 借给, and 还(huán) vs 别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38275" y="6597700"/>
            <a:ext cx="7258050" cy="371475"/>
          </a:xfrm>
          <a:prstGeom prst="roundRect">
            <a:avLst>
              <a:gd name="adj" fmla="val 30769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90675" y="6692950"/>
            <a:ext cx="70923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3 (借/借给, 还/别) for the next lesson's review.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9296400" y="4149775"/>
            <a:ext cx="7848600" cy="3530352"/>
          </a:xfrm>
          <a:prstGeom prst="roundRect">
            <a:avLst>
              <a:gd name="adj" fmla="val 755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91675" y="4559350"/>
            <a:ext cx="74032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91675" y="4921300"/>
            <a:ext cx="7258050" cy="80962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615488" y="4921300"/>
            <a:ext cx="0" cy="80962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9800" y="5073700"/>
            <a:ext cx="6966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ON MINI WHITEBOARD (2 MIN)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29800" y="5311825"/>
            <a:ext cx="6966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"I forgot to bring my pencil today."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91675" y="5864275"/>
            <a:ext cx="74032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591675" y="6401395"/>
            <a:ext cx="740321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checks for 忘记 and correct word order (target: 我今天忘记带铅笔了。).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91675" y="6980337"/>
            <a:ext cx="7258050" cy="442615"/>
          </a:xfrm>
          <a:prstGeom prst="roundRect">
            <a:avLst>
              <a:gd name="adj" fmla="val 25824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763125" y="7094637"/>
            <a:ext cx="7053453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088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下一课预告：</a:t>
            </a: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下一课，我们要去"文具店"买东西——练习问价钱，还有五个新的文具词。</a:t>
            </a:r>
            <a:endParaRPr lang="en-US" sz="1088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343150" y="2095500"/>
            <a:ext cx="1360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343150" y="2514600"/>
            <a:ext cx="1360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343150" y="3657600"/>
            <a:ext cx="13601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343150" y="4438650"/>
            <a:ext cx="13601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borrowing/lending words · Text 2 dialogue · 借 vs 借给 · 还(huán) vs 别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76500" y="5210175"/>
            <a:ext cx="13335000" cy="2428875"/>
          </a:xfrm>
          <a:prstGeom prst="roundRect">
            <a:avLst>
              <a:gd name="adj" fmla="val 10980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8925" y="5534025"/>
            <a:ext cx="1263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(L6)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8925" y="5838825"/>
            <a:ext cx="1263015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下一课，我们要去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"文具店"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买东西——练习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问价钱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，还有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五个新的文具词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a stationery shop roleplay — practising how to ask for prices, plus five new Extra Words for stationery.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2026-07-25T11:16:20Z</dcterms:created>
  <dcterms:modified xsi:type="dcterms:W3CDTF">2026-07-25T11:16:20Z</dcterms:modified>
</cp:coreProperties>
</file>