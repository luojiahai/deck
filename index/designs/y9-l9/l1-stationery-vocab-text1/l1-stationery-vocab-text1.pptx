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0" y="5715000"/>
            <a:ext cx="408051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0"/>
              </a:lnSpc>
              <a:buNone/>
            </a:pPr>
            <a:r>
              <a:rPr lang="en-US" sz="31500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具</a:t>
            </a:r>
            <a:endParaRPr lang="en-US" sz="31500" dirty="0"/>
          </a:p>
        </p:txBody>
      </p:sp>
      <p:sp>
        <p:nvSpPr>
          <p:cNvPr id="3" name="Text 1"/>
          <p:cNvSpPr/>
          <p:nvPr/>
        </p:nvSpPr>
        <p:spPr>
          <a:xfrm>
            <a:off x="4772025" y="2578894"/>
            <a:ext cx="874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1 OF 8 · Y9 UNIT 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772025" y="3074194"/>
            <a:ext cx="87439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00"/>
              </a:lnSpc>
              <a:buNone/>
            </a:pPr>
            <a:r>
              <a:rPr lang="en-US" sz="7500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✏️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4772025" y="4983956"/>
            <a:ext cx="87439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50"/>
              </a:lnSpc>
              <a:spcBef>
                <a:spcPts val="7538"/>
              </a:spcBef>
              <a:spcAft>
                <a:spcPts val="600"/>
              </a:spcAft>
              <a:buNone/>
            </a:pPr>
            <a:r>
              <a:rPr lang="en-US" sz="112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文具店</a:t>
            </a:r>
            <a:r>
              <a:rPr lang="en-US" sz="1125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r>
              <a:rPr lang="en-US" sz="112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词汇</a:t>
            </a:r>
            <a:endParaRPr lang="en-US" sz="11250" dirty="0"/>
          </a:p>
        </p:txBody>
      </p:sp>
      <p:sp>
        <p:nvSpPr>
          <p:cNvPr id="6" name="Text 4"/>
          <p:cNvSpPr/>
          <p:nvPr/>
        </p:nvSpPr>
        <p:spPr>
          <a:xfrm>
            <a:off x="4772025" y="6488906"/>
            <a:ext cx="87439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Stationery Store Vocabulary + Text 1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47750" y="1143000"/>
            <a:ext cx="165163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7750" y="1447800"/>
            <a:ext cx="1651635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回顾 · Location Words Recap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47750" y="2295525"/>
            <a:ext cx="7924800" cy="1971675"/>
          </a:xfrm>
          <a:prstGeom prst="roundRect">
            <a:avLst>
              <a:gd name="adj" fmla="val 9662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323975" y="2533650"/>
            <a:ext cx="75197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A · L8 LOCATION WORDS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3975" y="2876550"/>
            <a:ext cx="719286" cy="561975"/>
          </a:xfrm>
          <a:prstGeom prst="roundRect">
            <a:avLst>
              <a:gd name="adj" fmla="val 10169"/>
            </a:avLst>
          </a:prstGeom>
          <a:solidFill>
            <a:srgbClr val="3A5F8A">
              <a:alpha val="12000"/>
            </a:srgbClr>
          </a:solidFill>
          <a:ln w="9525">
            <a:solidFill>
              <a:srgbClr val="6A90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502569" y="2962275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旁边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1466850" y="3219450"/>
            <a:ext cx="4422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pángbiān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119461" y="2876550"/>
            <a:ext cx="647700" cy="561975"/>
          </a:xfrm>
          <a:prstGeom prst="roundRect">
            <a:avLst>
              <a:gd name="adj" fmla="val 10169"/>
            </a:avLst>
          </a:prstGeom>
          <a:solidFill>
            <a:srgbClr val="3A5F8A">
              <a:alpha val="12000"/>
            </a:srgbClr>
          </a:solidFill>
          <a:ln w="9525">
            <a:solidFill>
              <a:srgbClr val="6A90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262336" y="2962275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隔壁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2342852" y="3219450"/>
            <a:ext cx="2047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gébì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843361" y="2876550"/>
            <a:ext cx="741759" cy="561975"/>
          </a:xfrm>
          <a:prstGeom prst="roundRect">
            <a:avLst>
              <a:gd name="adj" fmla="val 10169"/>
            </a:avLst>
          </a:prstGeom>
          <a:solidFill>
            <a:srgbClr val="3A5F8A">
              <a:alpha val="12000"/>
            </a:srgbClr>
          </a:solidFill>
          <a:ln w="9525">
            <a:solidFill>
              <a:srgbClr val="6A90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033266" y="2962275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中间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2986236" y="3219450"/>
            <a:ext cx="4651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zhōngjiān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661321" y="2876550"/>
            <a:ext cx="654397" cy="561975"/>
          </a:xfrm>
          <a:prstGeom prst="roundRect">
            <a:avLst>
              <a:gd name="adj" fmla="val 10169"/>
            </a:avLst>
          </a:prstGeom>
          <a:solidFill>
            <a:srgbClr val="3A5F8A">
              <a:alpha val="12000"/>
            </a:srgbClr>
          </a:solidFill>
          <a:ln w="9525">
            <a:solidFill>
              <a:srgbClr val="6A90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807470" y="2962275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左边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3804196" y="3219450"/>
            <a:ext cx="3760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zuǒbiān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391918" y="2876550"/>
            <a:ext cx="656630" cy="561975"/>
          </a:xfrm>
          <a:prstGeom prst="roundRect">
            <a:avLst>
              <a:gd name="adj" fmla="val 10169"/>
            </a:avLst>
          </a:prstGeom>
          <a:solidFill>
            <a:srgbClr val="3A5F8A">
              <a:alpha val="12000"/>
            </a:srgbClr>
          </a:solidFill>
          <a:ln w="9525">
            <a:solidFill>
              <a:srgbClr val="6A90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539258" y="2962275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右边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4534793" y="3219450"/>
            <a:ext cx="3782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yòubiān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124748" y="2876550"/>
            <a:ext cx="713184" cy="561975"/>
          </a:xfrm>
          <a:prstGeom prst="roundRect">
            <a:avLst>
              <a:gd name="adj" fmla="val 10169"/>
            </a:avLst>
          </a:prstGeom>
          <a:solidFill>
            <a:srgbClr val="3A5F8A">
              <a:alpha val="12000"/>
            </a:srgbClr>
          </a:solidFill>
          <a:ln w="9525">
            <a:solidFill>
              <a:srgbClr val="6A90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300365" y="2962275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楼上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5267623" y="3219450"/>
            <a:ext cx="4359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lóushàng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914132" y="2876550"/>
            <a:ext cx="647700" cy="561975"/>
          </a:xfrm>
          <a:prstGeom prst="roundRect">
            <a:avLst>
              <a:gd name="adj" fmla="val 10169"/>
            </a:avLst>
          </a:prstGeom>
          <a:solidFill>
            <a:srgbClr val="3A5F8A">
              <a:alpha val="12000"/>
            </a:srgbClr>
          </a:solidFill>
          <a:ln w="9525">
            <a:solidFill>
              <a:srgbClr val="6A90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057007" y="2962275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楼下</a:t>
            </a:r>
            <a:endParaRPr lang="en-US" sz="1425" dirty="0"/>
          </a:p>
        </p:txBody>
      </p:sp>
      <p:sp>
        <p:nvSpPr>
          <p:cNvPr id="29" name="Text 27"/>
          <p:cNvSpPr/>
          <p:nvPr/>
        </p:nvSpPr>
        <p:spPr>
          <a:xfrm>
            <a:off x="6097191" y="3219450"/>
            <a:ext cx="2872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lóuxià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323975" y="3571875"/>
            <a:ext cx="75197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6 quick-fire prompts one at a time, e.g. </a:t>
            </a: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图书馆在体育馆的______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[旁边]，</a:t>
            </a: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教室在______层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[三]. Students write answers on mini whiteboards, hold up on three.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315450" y="2295525"/>
            <a:ext cx="7924800" cy="2981325"/>
          </a:xfrm>
          <a:prstGeom prst="roundRect">
            <a:avLst>
              <a:gd name="adj" fmla="val 639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9591675" y="2533650"/>
            <a:ext cx="75197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B · COLD CALL CHECK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591675" y="2876550"/>
            <a:ext cx="7372350" cy="514350"/>
          </a:xfrm>
          <a:prstGeom prst="roundRect">
            <a:avLst>
              <a:gd name="adj" fmla="val 22222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9591675" y="3505200"/>
            <a:ext cx="75197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one student per item to say the full sentence aloud; class echoes chorally. Also recap the measure words </a:t>
            </a: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个/幢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from L8.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591675" y="4076700"/>
            <a:ext cx="75197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ALSO USED WITH 个/幢 MEASURE WORDS — QUICK RECALL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591675" y="4343400"/>
            <a:ext cx="647700" cy="561975"/>
          </a:xfrm>
          <a:prstGeom prst="roundRect">
            <a:avLst>
              <a:gd name="adj" fmla="val 10169"/>
            </a:avLst>
          </a:prstGeom>
          <a:solidFill>
            <a:srgbClr val="3A5F8A">
              <a:alpha val="12000"/>
            </a:srgbClr>
          </a:solidFill>
          <a:ln w="9525">
            <a:solidFill>
              <a:srgbClr val="6A90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9734550" y="4429125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一个</a:t>
            </a:r>
            <a:endParaRPr lang="en-US" sz="1425" dirty="0"/>
          </a:p>
        </p:txBody>
      </p:sp>
      <p:sp>
        <p:nvSpPr>
          <p:cNvPr id="38" name="Text 36"/>
          <p:cNvSpPr/>
          <p:nvPr/>
        </p:nvSpPr>
        <p:spPr>
          <a:xfrm>
            <a:off x="9799886" y="4686300"/>
            <a:ext cx="2359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yí ge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0315575" y="4343400"/>
            <a:ext cx="738485" cy="561975"/>
          </a:xfrm>
          <a:prstGeom prst="roundRect">
            <a:avLst>
              <a:gd name="adj" fmla="val 10169"/>
            </a:avLst>
          </a:prstGeom>
          <a:solidFill>
            <a:srgbClr val="3A5F8A">
              <a:alpha val="12000"/>
            </a:srgbClr>
          </a:solidFill>
          <a:ln w="9525">
            <a:solidFill>
              <a:srgbClr val="6A90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0503843" y="4429125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一幢</a:t>
            </a:r>
            <a:endParaRPr lang="en-US" sz="1425" dirty="0"/>
          </a:p>
        </p:txBody>
      </p:sp>
      <p:sp>
        <p:nvSpPr>
          <p:cNvPr id="41" name="Text 39"/>
          <p:cNvSpPr/>
          <p:nvPr/>
        </p:nvSpPr>
        <p:spPr>
          <a:xfrm>
            <a:off x="10458450" y="4686300"/>
            <a:ext cx="4617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yí zhuàng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047750" y="5486400"/>
            <a:ext cx="16192500" cy="576263"/>
          </a:xfrm>
          <a:prstGeom prst="rect">
            <a:avLst/>
          </a:prstGeom>
          <a:solidFill>
            <a:srgbClr val="3A5F8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1071563" y="5486400"/>
            <a:ext cx="0" cy="576262"/>
          </a:xfrm>
          <a:prstGeom prst="line">
            <a:avLst/>
          </a:prstGeom>
          <a:noFill/>
          <a:ln w="47625">
            <a:solidFill>
              <a:srgbClr val="3A5F8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323975" y="5638800"/>
            <a:ext cx="16001429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上节课我们学了怎么说"东西在哪儿"——</a:t>
            </a:r>
            <a:r>
              <a:rPr lang="en-US" sz="142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旁边、隔壁、中间</a:t>
            </a:r>
            <a:r>
              <a:rPr lang="en-US" sz="14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。今天我们学一个新地方：</a:t>
            </a:r>
            <a:r>
              <a:rPr lang="en-US" sz="142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文具店</a:t>
            </a:r>
            <a:r>
              <a:rPr lang="en-US" sz="14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，还有一个新词——</a:t>
            </a:r>
            <a:r>
              <a:rPr lang="en-US" sz="142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"里边"</a:t>
            </a:r>
            <a:r>
              <a:rPr lang="en-US" sz="14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，说说文具店</a:t>
            </a:r>
            <a:r>
              <a:rPr lang="en-US" sz="142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里边</a:t>
            </a:r>
            <a:r>
              <a:rPr lang="en-US" sz="14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有什么。</a:t>
            </a:r>
            <a:endParaRPr lang="en-US" sz="1425" dirty="0"/>
          </a:p>
        </p:txBody>
      </p:sp>
      <p:sp>
        <p:nvSpPr>
          <p:cNvPr id="45" name="Shape 43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333500" y="2343448"/>
            <a:ext cx="159334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33500" y="2667298"/>
            <a:ext cx="15933420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1333500" y="3705523"/>
            <a:ext cx="15621000" cy="1384697"/>
          </a:xfrm>
          <a:prstGeom prst="rect">
            <a:avLst/>
          </a:prstGeom>
          <a:solidFill>
            <a:srgbClr val="3A5F8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357313" y="3705523"/>
            <a:ext cx="0" cy="1384697"/>
          </a:xfrm>
          <a:prstGeom prst="line">
            <a:avLst/>
          </a:prstGeom>
          <a:noFill/>
          <a:ln w="47625">
            <a:solidFill>
              <a:srgbClr val="3A5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85925" y="3915073"/>
            <a:ext cx="1526305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685925" y="4162723"/>
            <a:ext cx="15263051" cy="717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8"/>
              </a:lnSpc>
              <a:buNone/>
            </a:pPr>
            <a:r>
              <a:rPr lang="en-US" sz="19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</a:t>
            </a:r>
            <a:r>
              <a:rPr lang="en-US" sz="19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name stationery items</a:t>
            </a:r>
            <a:r>
              <a:rPr lang="en-US" sz="19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Chinese and read a description of our school's stationery store using </a:t>
            </a:r>
            <a:r>
              <a:rPr lang="en-US" sz="19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我们学校有一个文具店，里边有……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333500" y="5433120"/>
            <a:ext cx="15621000" cy="811411"/>
          </a:xfrm>
          <a:prstGeom prst="roundRect">
            <a:avLst>
              <a:gd name="adj" fmla="val 14087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571625" y="5633145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2143125" y="5633145"/>
            <a:ext cx="908384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name the </a:t>
            </a:r>
            <a:r>
              <a:rPr lang="en-US" sz="18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 core stationery/shop items</a:t>
            </a:r>
            <a:r>
              <a:rPr lang="en-US" sz="18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Chinese </a:t>
            </a:r>
            <a:r>
              <a:rPr lang="en-US" sz="13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能说出十一个文具/商店相关的词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33500" y="6415980"/>
            <a:ext cx="15621000" cy="811411"/>
          </a:xfrm>
          <a:prstGeom prst="roundRect">
            <a:avLst>
              <a:gd name="adj" fmla="val 14087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571625" y="6616005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2143125" y="6616005"/>
            <a:ext cx="1118117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read and understand the </a:t>
            </a:r>
            <a:r>
              <a:rPr lang="en-US" sz="18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 1 passage</a:t>
            </a:r>
            <a:r>
              <a:rPr lang="en-US" sz="18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about the school's stationery store </a:t>
            </a:r>
            <a:r>
              <a:rPr lang="en-US" sz="13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能读懂关于文具店的短文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33500" y="7398841"/>
            <a:ext cx="15621000" cy="811411"/>
          </a:xfrm>
          <a:prstGeom prst="roundRect">
            <a:avLst>
              <a:gd name="adj" fmla="val 14087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571625" y="7598866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2143125" y="7598866"/>
            <a:ext cx="79966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describe what is inside a place using </a:t>
            </a:r>
            <a:r>
              <a:rPr lang="en-US" sz="18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里边/里面</a:t>
            </a:r>
            <a:r>
              <a:rPr lang="en-US" sz="18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3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能用"里边/里面"描述位置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12395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10–13 MIN · I DO · NEW VOCABULARY (TEXT 1, P.80)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2500" y="1409700"/>
            <a:ext cx="1671066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文具 · Stationery Vocabulary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952500" y="2171700"/>
            <a:ext cx="4010025" cy="762000"/>
          </a:xfrm>
          <a:prstGeom prst="roundRect">
            <a:avLst>
              <a:gd name="adj" fmla="val 25000"/>
            </a:avLst>
          </a:prstGeom>
          <a:solidFill>
            <a:srgbClr val="3A5F8A">
              <a:alpha val="12000"/>
            </a:srgbClr>
          </a:solidFill>
          <a:ln w="9525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14425" y="2419350"/>
            <a:ext cx="10040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里边 = 里面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213074" y="2314575"/>
            <a:ext cx="11259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lǐbiān = lǐmiàn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2213074" y="2562225"/>
            <a:ext cx="11259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inside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5076825" y="2171700"/>
            <a:ext cx="4010025" cy="762000"/>
          </a:xfrm>
          <a:prstGeom prst="roundRect">
            <a:avLst>
              <a:gd name="adj" fmla="val 2500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238750" y="2314575"/>
            <a:ext cx="77724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铅笔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115050" y="2314575"/>
            <a:ext cx="4877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qiānbǐ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6115050" y="2562225"/>
            <a:ext cx="4877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pencil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9201150" y="2171700"/>
            <a:ext cx="4010025" cy="762000"/>
          </a:xfrm>
          <a:prstGeom prst="roundRect">
            <a:avLst>
              <a:gd name="adj" fmla="val 2500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363075" y="2314575"/>
            <a:ext cx="77724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尺子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0239375" y="2314575"/>
            <a:ext cx="372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chǐzi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10239375" y="2562225"/>
            <a:ext cx="372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ruler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13325475" y="2171700"/>
            <a:ext cx="4010025" cy="762000"/>
          </a:xfrm>
          <a:prstGeom prst="roundRect">
            <a:avLst>
              <a:gd name="adj" fmla="val 2500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3487400" y="2314575"/>
            <a:ext cx="77724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橡皮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14363700" y="2314575"/>
            <a:ext cx="11216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xiàngpí</a:t>
            </a:r>
            <a:endParaRPr lang="en-US" sz="1275" dirty="0"/>
          </a:p>
        </p:txBody>
      </p:sp>
      <p:sp>
        <p:nvSpPr>
          <p:cNvPr id="22" name="Text 20"/>
          <p:cNvSpPr/>
          <p:nvPr/>
        </p:nvSpPr>
        <p:spPr>
          <a:xfrm>
            <a:off x="14363700" y="2562225"/>
            <a:ext cx="11216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rubber; eraser</a:t>
            </a:r>
            <a:endParaRPr lang="en-US" sz="1275" dirty="0"/>
          </a:p>
        </p:txBody>
      </p:sp>
      <p:sp>
        <p:nvSpPr>
          <p:cNvPr id="23" name="Text 21"/>
          <p:cNvSpPr/>
          <p:nvPr/>
        </p:nvSpPr>
        <p:spPr>
          <a:xfrm>
            <a:off x="952500" y="3048000"/>
            <a:ext cx="4010025" cy="762000"/>
          </a:xfrm>
          <a:prstGeom prst="roundRect">
            <a:avLst>
              <a:gd name="adj" fmla="val 2500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114425" y="3295650"/>
            <a:ext cx="7772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卷笔刀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990725" y="3190875"/>
            <a:ext cx="13199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juǎnbǐdāo</a:t>
            </a:r>
            <a:endParaRPr lang="en-US" sz="1275" dirty="0"/>
          </a:p>
        </p:txBody>
      </p:sp>
      <p:sp>
        <p:nvSpPr>
          <p:cNvPr id="26" name="Text 24"/>
          <p:cNvSpPr/>
          <p:nvPr/>
        </p:nvSpPr>
        <p:spPr>
          <a:xfrm>
            <a:off x="1990725" y="3438525"/>
            <a:ext cx="13199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pencil sharpener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5076825" y="3048000"/>
            <a:ext cx="4010025" cy="762000"/>
          </a:xfrm>
          <a:prstGeom prst="roundRect">
            <a:avLst>
              <a:gd name="adj" fmla="val 2500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238750" y="3190875"/>
            <a:ext cx="104927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练习本</a:t>
            </a:r>
            <a:endParaRPr lang="en-US" sz="2700" dirty="0"/>
          </a:p>
        </p:txBody>
      </p:sp>
      <p:sp>
        <p:nvSpPr>
          <p:cNvPr id="29" name="Text 27"/>
          <p:cNvSpPr/>
          <p:nvPr/>
        </p:nvSpPr>
        <p:spPr>
          <a:xfrm>
            <a:off x="6381750" y="3190875"/>
            <a:ext cx="1110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liànxíběn</a:t>
            </a:r>
            <a:endParaRPr lang="en-US" sz="1275" dirty="0"/>
          </a:p>
        </p:txBody>
      </p:sp>
      <p:sp>
        <p:nvSpPr>
          <p:cNvPr id="30" name="Text 28"/>
          <p:cNvSpPr/>
          <p:nvPr/>
        </p:nvSpPr>
        <p:spPr>
          <a:xfrm>
            <a:off x="6381750" y="3438525"/>
            <a:ext cx="1110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exercise book</a:t>
            </a:r>
            <a:endParaRPr lang="en-US" sz="1275" dirty="0"/>
          </a:p>
        </p:txBody>
      </p:sp>
      <p:sp>
        <p:nvSpPr>
          <p:cNvPr id="31" name="Text 29"/>
          <p:cNvSpPr/>
          <p:nvPr/>
        </p:nvSpPr>
        <p:spPr>
          <a:xfrm>
            <a:off x="9201150" y="3048000"/>
            <a:ext cx="4010025" cy="762000"/>
          </a:xfrm>
          <a:prstGeom prst="roundRect">
            <a:avLst>
              <a:gd name="adj" fmla="val 2500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9363075" y="3190875"/>
            <a:ext cx="77724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课本</a:t>
            </a:r>
            <a:endParaRPr lang="en-US" sz="2700" dirty="0"/>
          </a:p>
        </p:txBody>
      </p:sp>
      <p:sp>
        <p:nvSpPr>
          <p:cNvPr id="33" name="Text 31"/>
          <p:cNvSpPr/>
          <p:nvPr/>
        </p:nvSpPr>
        <p:spPr>
          <a:xfrm>
            <a:off x="10239375" y="3190875"/>
            <a:ext cx="696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kèběn</a:t>
            </a:r>
            <a:endParaRPr lang="en-US" sz="1275" dirty="0"/>
          </a:p>
        </p:txBody>
      </p:sp>
      <p:sp>
        <p:nvSpPr>
          <p:cNvPr id="34" name="Text 32"/>
          <p:cNvSpPr/>
          <p:nvPr/>
        </p:nvSpPr>
        <p:spPr>
          <a:xfrm>
            <a:off x="10239375" y="3438525"/>
            <a:ext cx="696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textbook</a:t>
            </a:r>
            <a:endParaRPr lang="en-US" sz="1275" dirty="0"/>
          </a:p>
        </p:txBody>
      </p:sp>
      <p:sp>
        <p:nvSpPr>
          <p:cNvPr id="35" name="Text 33"/>
          <p:cNvSpPr/>
          <p:nvPr/>
        </p:nvSpPr>
        <p:spPr>
          <a:xfrm>
            <a:off x="13325475" y="3048000"/>
            <a:ext cx="4010025" cy="762000"/>
          </a:xfrm>
          <a:prstGeom prst="roundRect">
            <a:avLst>
              <a:gd name="adj" fmla="val 2500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3487400" y="3190875"/>
            <a:ext cx="104927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日记本</a:t>
            </a:r>
            <a:endParaRPr lang="en-US" sz="2700" dirty="0"/>
          </a:p>
        </p:txBody>
      </p:sp>
      <p:sp>
        <p:nvSpPr>
          <p:cNvPr id="37" name="Text 35"/>
          <p:cNvSpPr/>
          <p:nvPr/>
        </p:nvSpPr>
        <p:spPr>
          <a:xfrm>
            <a:off x="14630400" y="3190875"/>
            <a:ext cx="95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rìjìběn</a:t>
            </a:r>
            <a:endParaRPr lang="en-US" sz="1275" dirty="0"/>
          </a:p>
        </p:txBody>
      </p:sp>
      <p:sp>
        <p:nvSpPr>
          <p:cNvPr id="38" name="Text 36"/>
          <p:cNvSpPr/>
          <p:nvPr/>
        </p:nvSpPr>
        <p:spPr>
          <a:xfrm>
            <a:off x="14630400" y="3438525"/>
            <a:ext cx="95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diary (book)</a:t>
            </a:r>
            <a:endParaRPr lang="en-US" sz="1275" dirty="0"/>
          </a:p>
        </p:txBody>
      </p:sp>
      <p:sp>
        <p:nvSpPr>
          <p:cNvPr id="39" name="Text 37"/>
          <p:cNvSpPr/>
          <p:nvPr/>
        </p:nvSpPr>
        <p:spPr>
          <a:xfrm>
            <a:off x="952500" y="3924300"/>
            <a:ext cx="5384750" cy="762000"/>
          </a:xfrm>
          <a:prstGeom prst="roundRect">
            <a:avLst>
              <a:gd name="adj" fmla="val 2500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114425" y="4067175"/>
            <a:ext cx="104927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文具盒</a:t>
            </a:r>
            <a:endParaRPr lang="en-US" sz="2700" dirty="0"/>
          </a:p>
        </p:txBody>
      </p:sp>
      <p:sp>
        <p:nvSpPr>
          <p:cNvPr id="41" name="Text 39"/>
          <p:cNvSpPr/>
          <p:nvPr/>
        </p:nvSpPr>
        <p:spPr>
          <a:xfrm>
            <a:off x="2257425" y="4067175"/>
            <a:ext cx="9008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wénjùhé</a:t>
            </a:r>
            <a:endParaRPr lang="en-US" sz="1275" dirty="0"/>
          </a:p>
        </p:txBody>
      </p:sp>
      <p:sp>
        <p:nvSpPr>
          <p:cNvPr id="42" name="Text 40"/>
          <p:cNvSpPr/>
          <p:nvPr/>
        </p:nvSpPr>
        <p:spPr>
          <a:xfrm>
            <a:off x="2257425" y="4314825"/>
            <a:ext cx="9008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pencil case</a:t>
            </a:r>
            <a:endParaRPr lang="en-US" sz="1275" dirty="0"/>
          </a:p>
        </p:txBody>
      </p:sp>
      <p:sp>
        <p:nvSpPr>
          <p:cNvPr id="43" name="Text 41"/>
          <p:cNvSpPr/>
          <p:nvPr/>
        </p:nvSpPr>
        <p:spPr>
          <a:xfrm>
            <a:off x="6451550" y="3924300"/>
            <a:ext cx="5384899" cy="762000"/>
          </a:xfrm>
          <a:prstGeom prst="roundRect">
            <a:avLst>
              <a:gd name="adj" fmla="val 2500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613475" y="4067175"/>
            <a:ext cx="77724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小说</a:t>
            </a:r>
            <a:endParaRPr lang="en-US" sz="2700" dirty="0"/>
          </a:p>
        </p:txBody>
      </p:sp>
      <p:sp>
        <p:nvSpPr>
          <p:cNvPr id="45" name="Text 43"/>
          <p:cNvSpPr/>
          <p:nvPr/>
        </p:nvSpPr>
        <p:spPr>
          <a:xfrm>
            <a:off x="7489775" y="4067175"/>
            <a:ext cx="7181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xiǎoshuō</a:t>
            </a:r>
            <a:endParaRPr lang="en-US" sz="1275" dirty="0"/>
          </a:p>
        </p:txBody>
      </p:sp>
      <p:sp>
        <p:nvSpPr>
          <p:cNvPr id="46" name="Text 44"/>
          <p:cNvSpPr/>
          <p:nvPr/>
        </p:nvSpPr>
        <p:spPr>
          <a:xfrm>
            <a:off x="7489775" y="4314825"/>
            <a:ext cx="7181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novel</a:t>
            </a:r>
            <a:endParaRPr lang="en-US" sz="1275" dirty="0"/>
          </a:p>
        </p:txBody>
      </p:sp>
      <p:sp>
        <p:nvSpPr>
          <p:cNvPr id="47" name="Text 45"/>
          <p:cNvSpPr/>
          <p:nvPr/>
        </p:nvSpPr>
        <p:spPr>
          <a:xfrm>
            <a:off x="11950750" y="3924300"/>
            <a:ext cx="5384750" cy="762000"/>
          </a:xfrm>
          <a:prstGeom prst="roundRect">
            <a:avLst>
              <a:gd name="adj" fmla="val 2500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2112675" y="4067175"/>
            <a:ext cx="77724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卡片</a:t>
            </a:r>
            <a:endParaRPr lang="en-US" sz="2700" dirty="0"/>
          </a:p>
        </p:txBody>
      </p:sp>
      <p:sp>
        <p:nvSpPr>
          <p:cNvPr id="49" name="Text 47"/>
          <p:cNvSpPr/>
          <p:nvPr/>
        </p:nvSpPr>
        <p:spPr>
          <a:xfrm>
            <a:off x="12988975" y="4067175"/>
            <a:ext cx="5253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kǎpiàn</a:t>
            </a:r>
            <a:endParaRPr lang="en-US" sz="1275" dirty="0"/>
          </a:p>
        </p:txBody>
      </p:sp>
      <p:sp>
        <p:nvSpPr>
          <p:cNvPr id="50" name="Text 48"/>
          <p:cNvSpPr/>
          <p:nvPr/>
        </p:nvSpPr>
        <p:spPr>
          <a:xfrm>
            <a:off x="12988975" y="4314825"/>
            <a:ext cx="5253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card</a:t>
            </a:r>
            <a:endParaRPr lang="en-US" sz="1275" dirty="0"/>
          </a:p>
        </p:txBody>
      </p:sp>
      <p:sp>
        <p:nvSpPr>
          <p:cNvPr id="51" name="Text 49"/>
          <p:cNvSpPr/>
          <p:nvPr/>
        </p:nvSpPr>
        <p:spPr>
          <a:xfrm>
            <a:off x="952500" y="4857750"/>
            <a:ext cx="16383000" cy="540990"/>
          </a:xfrm>
          <a:prstGeom prst="roundRect">
            <a:avLst>
              <a:gd name="adj" fmla="val 21128"/>
            </a:avLst>
          </a:prstGeom>
          <a:solidFill>
            <a:srgbClr val="3A5F8A">
              <a:alpha val="12000"/>
            </a:srgbClr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1200150" y="5010150"/>
            <a:ext cx="14793215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字形小知识 · Component breakdown: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练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(practise)+</a:t>
            </a: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习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(practise)+</a:t>
            </a: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(book)=练习本 "exercise book" · </a:t>
            </a: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日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(day)+</a:t>
            </a: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记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(record)+</a:t>
            </a: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(book)=日记本 "diary" · </a:t>
            </a: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(writing)+</a:t>
            </a: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具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(tool)+</a:t>
            </a: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盒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(box)=文具盒 "pencil case"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57250" y="1066800"/>
            <a:ext cx="169049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13–19 MIN · I DO · TEXT PRESENTATION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857250" y="1323975"/>
            <a:ext cx="1690497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课文一 · 文具店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2011412" y="1962150"/>
            <a:ext cx="5611416" cy="695325"/>
          </a:xfrm>
          <a:prstGeom prst="roundRect">
            <a:avLst>
              <a:gd name="adj" fmla="val 16438"/>
            </a:avLst>
          </a:prstGeom>
          <a:solidFill>
            <a:srgbClr val="EAE6DC"/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297162" y="2095500"/>
            <a:ext cx="514071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我们学校有一个文具店</a:t>
            </a:r>
            <a:r>
              <a:rPr lang="en-US" sz="18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</a:t>
            </a:r>
            <a:r>
              <a:rPr lang="en-US" sz="24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里边有……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57250" y="2809875"/>
            <a:ext cx="16573500" cy="1658243"/>
          </a:xfrm>
          <a:prstGeom prst="roundRect">
            <a:avLst>
              <a:gd name="adj" fmla="val 16083"/>
            </a:avLst>
          </a:prstGeom>
          <a:solidFill>
            <a:srgbClr val="F4F2EE"/>
          </a:solidFill>
          <a:ln w="19050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81100" y="3019425"/>
            <a:ext cx="1843832" cy="295275"/>
          </a:xfrm>
          <a:prstGeom prst="roundRect">
            <a:avLst>
              <a:gd name="adj" fmla="val 3222581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23975" y="3067050"/>
            <a:ext cx="15892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🎵 CD Track 33 · p.80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3158282" y="3052763"/>
            <a:ext cx="4954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课文一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181100" y="3409950"/>
            <a:ext cx="16244316" cy="848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41"/>
              </a:lnSpc>
              <a:buNone/>
            </a:pPr>
            <a:r>
              <a:rPr lang="en-US" sz="202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我们学校有一个文具店，</a:t>
            </a:r>
            <a:r>
              <a:rPr lang="en-US" sz="2025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里边</a:t>
            </a:r>
            <a:r>
              <a:rPr lang="en-US" sz="202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有铅笔、尺子、橡皮、卷笔刀、练习本、日记本、文具盒等。除了这些，文具店还卖小说、课本、卡片等。文具店在</a:t>
            </a:r>
            <a:r>
              <a:rPr lang="en-US" sz="2025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五号教学楼</a:t>
            </a:r>
            <a:r>
              <a:rPr lang="en-US" sz="202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里，在一楼。你一进校门就能看见。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857250" y="4639568"/>
            <a:ext cx="5422850" cy="1428750"/>
          </a:xfrm>
          <a:prstGeom prst="roundRect">
            <a:avLst>
              <a:gd name="adj" fmla="val 13333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57275" y="480149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75296" y="4849118"/>
            <a:ext cx="7013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7275" y="5201543"/>
            <a:ext cx="51232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文具店里边有什么？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1057275" y="5506343"/>
            <a:ext cx="51232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is inside the stationery store? (Name 3 items.)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1057275" y="5734943"/>
            <a:ext cx="51232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i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 on next slide →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6432500" y="4639568"/>
            <a:ext cx="5422850" cy="1428750"/>
          </a:xfrm>
          <a:prstGeom prst="roundRect">
            <a:avLst>
              <a:gd name="adj" fmla="val 13333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632525" y="480149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736556" y="4849118"/>
            <a:ext cx="985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32525" y="5201543"/>
            <a:ext cx="51232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文具店在哪儿？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6632525" y="5506343"/>
            <a:ext cx="51232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Where is the stationery store?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6632525" y="5734943"/>
            <a:ext cx="51232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i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 on next slide →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12007751" y="4639568"/>
            <a:ext cx="5422850" cy="1428750"/>
          </a:xfrm>
          <a:prstGeom prst="roundRect">
            <a:avLst>
              <a:gd name="adj" fmla="val 13333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2207776" y="480149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2311509" y="4849118"/>
            <a:ext cx="992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207776" y="5201543"/>
            <a:ext cx="51232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除了文具，文具店还卖什么？</a:t>
            </a:r>
            <a:endParaRPr lang="en-US" sz="1425" dirty="0"/>
          </a:p>
        </p:txBody>
      </p:sp>
      <p:sp>
        <p:nvSpPr>
          <p:cNvPr id="30" name="Text 28"/>
          <p:cNvSpPr/>
          <p:nvPr/>
        </p:nvSpPr>
        <p:spPr>
          <a:xfrm>
            <a:off x="12207776" y="5506343"/>
            <a:ext cx="51232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Besides stationery, what else does the store sell?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12207776" y="5734943"/>
            <a:ext cx="51232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i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 on next slide →</a:t>
            </a:r>
            <a:endParaRPr lang="en-US" sz="975" dirty="0"/>
          </a:p>
        </p:txBody>
      </p:sp>
      <p:sp>
        <p:nvSpPr>
          <p:cNvPr id="32" name="Shape 30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333500" y="2501354"/>
            <a:ext cx="159334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33500" y="2825204"/>
            <a:ext cx="1593342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Text 1 Comprehension</a:t>
            </a:r>
            <a:endParaRPr lang="en-US" sz="3750" dirty="0"/>
          </a:p>
        </p:txBody>
      </p:sp>
      <p:sp>
        <p:nvSpPr>
          <p:cNvPr id="7" name="Text 5"/>
          <p:cNvSpPr/>
          <p:nvPr/>
        </p:nvSpPr>
        <p:spPr>
          <a:xfrm>
            <a:off x="1333500" y="3796754"/>
            <a:ext cx="15621000" cy="1291530"/>
          </a:xfrm>
          <a:prstGeom prst="roundRect">
            <a:avLst>
              <a:gd name="adj" fmla="val 1475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609725" y="3996779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772692" y="4063454"/>
            <a:ext cx="950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2219325" y="3996779"/>
            <a:ext cx="1474812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文具店里边有什么？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2219325" y="4320629"/>
            <a:ext cx="1474812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文具店里边有铅笔、尺子、橡皮等。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219325" y="4678710"/>
            <a:ext cx="147481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Inside the stationery store are pencils, rulers, erasers etc. — any 3 of the 7 listed items are acceptable.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33500" y="5278785"/>
            <a:ext cx="15621000" cy="1291530"/>
          </a:xfrm>
          <a:prstGeom prst="roundRect">
            <a:avLst>
              <a:gd name="adj" fmla="val 1475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609725" y="547881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753642" y="5545485"/>
            <a:ext cx="1338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2219325" y="5478810"/>
            <a:ext cx="1474812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文具店在哪儿？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2219325" y="5802660"/>
            <a:ext cx="1474812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文具店在五号教学楼一楼。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219325" y="6160740"/>
            <a:ext cx="147481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stationery store is on the ground floor of Building No. 5 — visible right as you enter the school gate.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33500" y="6760815"/>
            <a:ext cx="15621000" cy="1291530"/>
          </a:xfrm>
          <a:prstGeom prst="roundRect">
            <a:avLst>
              <a:gd name="adj" fmla="val 1475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609725" y="696084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753046" y="7027515"/>
            <a:ext cx="13495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2219325" y="6960840"/>
            <a:ext cx="1474812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除了文具，文具店还卖什么？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2219325" y="7284690"/>
            <a:ext cx="1474812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文具店还卖小说、课本、卡片。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219325" y="7642771"/>
            <a:ext cx="147481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 also sells novels, textbooks, and cards.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1049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19–20 MIN · CHECK FOR UNDERSTANDING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2500" y="1409700"/>
            <a:ext cx="1671066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检查理解 · CFU Checkpoints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952500" y="2257425"/>
            <a:ext cx="5334000" cy="3067645"/>
          </a:xfrm>
          <a:prstGeom prst="roundRect">
            <a:avLst>
              <a:gd name="adj" fmla="val 8694"/>
            </a:avLst>
          </a:prstGeom>
          <a:solidFill>
            <a:srgbClr val="3A5F8A">
              <a:alpha val="12000"/>
            </a:srgbClr>
          </a:solidFill>
          <a:ln w="9525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90625" y="25336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355378" y="260985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90625" y="3086100"/>
            <a:ext cx="4954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GESTURE CHECK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1190625" y="3390900"/>
            <a:ext cx="49549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文具盒 = "Pencil Case"?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90625" y="3838575"/>
            <a:ext cx="4954905" cy="1003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says: </a:t>
            </a:r>
            <a:r>
              <a:rPr lang="en-US" sz="127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"文具盒的意思是'pencil case'。"</a:t>
            </a:r>
            <a:endParaRPr lang="en-US" sz="1275" dirty="0"/>
          </a:p>
          <a:p>
            <a:pPr algn="l" indent="0" marL="0">
              <a:lnSpc>
                <a:spcPts val="1976"/>
              </a:lnSpc>
              <a:buNone/>
            </a:pPr>
            <a:endParaRPr lang="en-US" sz="1275" dirty="0"/>
          </a:p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"对不对？大拇指向上表示对，向下表示错。" Every student shows a thumbs-up or thumbs-down.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6477000" y="2257425"/>
            <a:ext cx="5334000" cy="3067645"/>
          </a:xfrm>
          <a:prstGeom prst="roundRect">
            <a:avLst>
              <a:gd name="adj" fmla="val 8694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715125" y="25336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879878" y="260985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715125" y="3086100"/>
            <a:ext cx="4954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WHITEBOARDS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6715125" y="3390900"/>
            <a:ext cx="49549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Write "Ruler"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15125" y="3838575"/>
            <a:ext cx="4954905" cy="11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asks: </a:t>
            </a:r>
            <a:r>
              <a:rPr lang="en-US" sz="127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"Write the Chinese for 'ruler'."</a:t>
            </a:r>
            <a:endParaRPr lang="en-US" sz="1275" dirty="0"/>
          </a:p>
          <a:p>
            <a:pPr algn="l" indent="0" marL="0">
              <a:lnSpc>
                <a:spcPts val="2790"/>
              </a:lnSpc>
              <a:buNone/>
            </a:pPr>
            <a:endParaRPr lang="en-US" sz="1275" dirty="0"/>
          </a:p>
          <a:p>
            <a:pPr algn="l" indent="0" marL="0">
              <a:lnSpc>
                <a:spcPts val="2790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Students write </a:t>
            </a:r>
            <a:endParaRPr lang="en-US" sz="1275" dirty="0"/>
          </a:p>
          <a:p>
            <a:pPr algn="l" indent="0" marL="0">
              <a:lnSpc>
                <a:spcPts val="2790"/>
              </a:lnSpc>
              <a:buNone/>
            </a:pPr>
            <a:r>
              <a:rPr lang="en-US" sz="180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尺子</a:t>
            </a: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on their mini whiteboards and hold up on three: "一、二、三，举起来！"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12001500" y="2257425"/>
            <a:ext cx="5334000" cy="3067645"/>
          </a:xfrm>
          <a:prstGeom prst="roundRect">
            <a:avLst>
              <a:gd name="adj" fmla="val 8694"/>
            </a:avLst>
          </a:prstGeom>
          <a:solidFill>
            <a:srgbClr val="C96A5C">
              <a:alpha val="10000"/>
            </a:srgbClr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2239625" y="25336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2404378" y="260985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239625" y="3086100"/>
            <a:ext cx="4954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12239625" y="3390900"/>
            <a:ext cx="49549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Rapid Translation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239625" y="3838575"/>
            <a:ext cx="4954905" cy="1210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asks individual students, in order:</a:t>
            </a:r>
            <a:endParaRPr lang="en-US" sz="1275" dirty="0"/>
          </a:p>
          <a:p>
            <a:pPr algn="l" indent="0" marL="0">
              <a:lnSpc>
                <a:spcPts val="2790"/>
              </a:lnSpc>
              <a:buNone/>
            </a:pPr>
            <a:endParaRPr lang="en-US" sz="1275" dirty="0"/>
          </a:p>
          <a:p>
            <a:pPr algn="l" indent="0" marL="0">
              <a:lnSpc>
                <a:spcPts val="2790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"Alex，</a:t>
            </a:r>
            <a:endParaRPr lang="en-US" sz="1275" dirty="0"/>
          </a:p>
          <a:p>
            <a:pPr algn="l" indent="0" marL="0">
              <a:lnSpc>
                <a:spcPts val="2790"/>
              </a:lnSpc>
              <a:buNone/>
            </a:pPr>
            <a:r>
              <a:rPr lang="en-US" sz="180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'exercise book'</a:t>
            </a: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用中文怎么说？"</a:t>
            </a:r>
            <a:endParaRPr lang="en-US" sz="1275" dirty="0"/>
          </a:p>
          <a:p>
            <a:pPr algn="l" indent="0" marL="0">
              <a:lnSpc>
                <a:spcPts val="2790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"Priya，</a:t>
            </a:r>
            <a:endParaRPr lang="en-US" sz="1275" dirty="0"/>
          </a:p>
          <a:p>
            <a:pPr algn="l" indent="0" marL="0">
              <a:lnSpc>
                <a:spcPts val="2790"/>
              </a:lnSpc>
              <a:buNone/>
            </a:pPr>
            <a:r>
              <a:rPr lang="en-US" sz="180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'novel'</a:t>
            </a: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呢？"</a:t>
            </a:r>
            <a:endParaRPr lang="en-US" sz="1275" dirty="0"/>
          </a:p>
        </p:txBody>
      </p:sp>
      <p:sp>
        <p:nvSpPr>
          <p:cNvPr id="25" name="Text 23"/>
          <p:cNvSpPr/>
          <p:nvPr/>
        </p:nvSpPr>
        <p:spPr>
          <a:xfrm>
            <a:off x="952500" y="5515570"/>
            <a:ext cx="16383000" cy="476250"/>
          </a:xfrm>
          <a:prstGeom prst="roundRect">
            <a:avLst>
              <a:gd name="adj" fmla="val 24000"/>
            </a:avLst>
          </a:prstGeom>
          <a:solidFill>
            <a:srgbClr val="B87A30">
              <a:alpha val="12000"/>
            </a:srgbClr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190625" y="5639395"/>
            <a:ext cx="162248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note:</a:t>
            </a: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Aim for 100% participation on checks 1 and 2. For cold call, pre-identify 4–5 students who need a stretch — give them the harder items like 卷笔刀/日记本.</a:t>
            </a:r>
            <a:endParaRPr lang="en-US" sz="1275" dirty="0"/>
          </a:p>
        </p:txBody>
      </p:sp>
      <p:sp>
        <p:nvSpPr>
          <p:cNvPr id="27" name="Shape 25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1049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2500" y="1409700"/>
            <a:ext cx="1671066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CFU Checkpoints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952500" y="2295525"/>
            <a:ext cx="16383000" cy="1466850"/>
          </a:xfrm>
          <a:prstGeom prst="roundRect">
            <a:avLst>
              <a:gd name="adj" fmla="val 12987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28725" y="25336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391692" y="2600325"/>
            <a:ext cx="950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876425" y="2533650"/>
            <a:ext cx="15486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Gesture Check — 文具盒的意思是"pencil case"，对不对？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876425" y="2867025"/>
            <a:ext cx="3333006" cy="657225"/>
          </a:xfrm>
          <a:prstGeom prst="roundRect">
            <a:avLst>
              <a:gd name="adj" fmla="val 17391"/>
            </a:avLst>
          </a:prstGeom>
          <a:solidFill>
            <a:srgbClr val="B87A30">
              <a:alpha val="12000"/>
            </a:srgbClr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105025" y="3019425"/>
            <a:ext cx="293332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👍</a:t>
            </a:r>
            <a:r>
              <a:rPr lang="en-US" sz="19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对！文具盒 = pencil case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52500" y="3952875"/>
            <a:ext cx="16383000" cy="1466850"/>
          </a:xfrm>
          <a:prstGeom prst="roundRect">
            <a:avLst>
              <a:gd name="adj" fmla="val 12987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228725" y="419100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372642" y="4257675"/>
            <a:ext cx="1338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876425" y="4191000"/>
            <a:ext cx="15486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Whiteboards — Write the Chinese for "ruler"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876425" y="4524375"/>
            <a:ext cx="1726704" cy="657225"/>
          </a:xfrm>
          <a:prstGeom prst="roundRect">
            <a:avLst>
              <a:gd name="adj" fmla="val 17391"/>
            </a:avLst>
          </a:prstGeom>
          <a:solidFill>
            <a:srgbClr val="B87A30">
              <a:alpha val="12000"/>
            </a:srgbClr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105025" y="4676775"/>
            <a:ext cx="129489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</a:t>
            </a:r>
            <a:r>
              <a:rPr lang="en-US" sz="19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尺子 </a:t>
            </a:r>
            <a:r>
              <a:rPr lang="en-US" sz="1200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(chǐzi)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52500" y="5610225"/>
            <a:ext cx="16383000" cy="1743075"/>
          </a:xfrm>
          <a:prstGeom prst="roundRect">
            <a:avLst>
              <a:gd name="adj" fmla="val 10929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228725" y="58483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372046" y="5915025"/>
            <a:ext cx="13495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876425" y="5848350"/>
            <a:ext cx="15486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— "exercise book" / "novel" 用中文怎么说？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876425" y="6181725"/>
            <a:ext cx="4622304" cy="933450"/>
          </a:xfrm>
          <a:prstGeom prst="roundRect">
            <a:avLst>
              <a:gd name="adj" fmla="val 12245"/>
            </a:avLst>
          </a:prstGeom>
          <a:solidFill>
            <a:srgbClr val="B87A30">
              <a:alpha val="12000"/>
            </a:srgbClr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105025" y="6334125"/>
            <a:ext cx="424840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</a:t>
            </a:r>
            <a:r>
              <a:rPr lang="en-US" sz="19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练习本 </a:t>
            </a:r>
            <a:r>
              <a:rPr lang="en-US" sz="195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r>
              <a:rPr lang="en-US" sz="19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小说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2105025" y="6762750"/>
            <a:ext cx="42484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exercise book = 练习本 (liànxíběn)  |  novel = 小说 (xiǎoshuō)</a:t>
            </a:r>
            <a:endParaRPr lang="en-US" sz="1125" dirty="0"/>
          </a:p>
        </p:txBody>
      </p:sp>
      <p:sp>
        <p:nvSpPr>
          <p:cNvPr id="26" name="Shape 24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062038"/>
            <a:ext cx="1153120" cy="314325"/>
          </a:xfrm>
          <a:prstGeom prst="roundRect">
            <a:avLst>
              <a:gd name="adj" fmla="val 3027273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43000" y="1119188"/>
            <a:ext cx="7875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2258020" y="1047750"/>
            <a:ext cx="927199" cy="342900"/>
          </a:xfrm>
          <a:prstGeom prst="roundRect">
            <a:avLst>
              <a:gd name="adj" fmla="val 277500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438995" y="1114425"/>
            <a:ext cx="57655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8 min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3337620" y="1062038"/>
            <a:ext cx="2255341" cy="314325"/>
          </a:xfrm>
          <a:prstGeom prst="roundRect">
            <a:avLst>
              <a:gd name="adj" fmla="val 3027273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09070" y="1119188"/>
            <a:ext cx="19506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Mini Whiteboards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952500" y="1466850"/>
            <a:ext cx="1671066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活动一 · 词汇听写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952500" y="2124075"/>
            <a:ext cx="8769846" cy="3324225"/>
          </a:xfrm>
          <a:prstGeom prst="roundRect">
            <a:avLst>
              <a:gd name="adj" fmla="val 5731"/>
            </a:avLst>
          </a:prstGeom>
          <a:solidFill>
            <a:srgbClr val="F4F2EE"/>
          </a:solidFill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219200" y="237172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324570" y="2419350"/>
            <a:ext cx="570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1619250" y="2390775"/>
            <a:ext cx="799312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1 (pinyin allowed):</a:t>
            </a: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teacher says the </a:t>
            </a:r>
            <a:r>
              <a:rPr lang="en-US" sz="127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English meaning</a:t>
            </a: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students write pinyin or 汉字, hold up on three: "一、二、三，举起来！"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1219200" y="298132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313259" y="3028950"/>
            <a:ext cx="800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1619250" y="3000375"/>
            <a:ext cx="3669119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scans and confirms across the room.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1219200" y="335280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312962" y="3400425"/>
            <a:ext cx="806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1619250" y="3371850"/>
            <a:ext cx="6371546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2 (汉字 only):</a:t>
            </a: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repeat with all 11 items — </a:t>
            </a:r>
            <a:r>
              <a:rPr lang="en-US" sz="127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汉字 required, no pinyin credit</a:t>
            </a: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275" dirty="0"/>
          </a:p>
        </p:txBody>
      </p:sp>
      <p:sp>
        <p:nvSpPr>
          <p:cNvPr id="22" name="Text 20"/>
          <p:cNvSpPr/>
          <p:nvPr/>
        </p:nvSpPr>
        <p:spPr>
          <a:xfrm>
            <a:off x="1219200" y="372427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312515" y="3771900"/>
            <a:ext cx="815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1619250" y="3743325"/>
            <a:ext cx="6887379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After each round, reveal the correct answer on the projector so students self-correct.</a:t>
            </a:r>
            <a:endParaRPr lang="en-US" sz="1275" dirty="0"/>
          </a:p>
        </p:txBody>
      </p:sp>
      <p:sp>
        <p:nvSpPr>
          <p:cNvPr id="25" name="Text 23"/>
          <p:cNvSpPr/>
          <p:nvPr/>
        </p:nvSpPr>
        <p:spPr>
          <a:xfrm>
            <a:off x="1219200" y="4219575"/>
            <a:ext cx="2643783" cy="1019175"/>
          </a:xfrm>
          <a:prstGeom prst="roundRect">
            <a:avLst>
              <a:gd name="adj" fmla="val 11215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371600" y="4333875"/>
            <a:ext cx="23857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1371600" y="4524375"/>
            <a:ext cx="2385762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Keep the vocabulary table projected in a corner during Round 1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4015383" y="4219575"/>
            <a:ext cx="2643932" cy="1019175"/>
          </a:xfrm>
          <a:prstGeom prst="roundRect">
            <a:avLst>
              <a:gd name="adj" fmla="val 11215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167783" y="4333875"/>
            <a:ext cx="23859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167783" y="4524375"/>
            <a:ext cx="238591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Fluent speakers must also write one sentence using the word, not just the word itself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6811714" y="4219575"/>
            <a:ext cx="2643783" cy="1019175"/>
          </a:xfrm>
          <a:prstGeom prst="roundRect">
            <a:avLst>
              <a:gd name="adj" fmla="val 11215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964114" y="4333875"/>
            <a:ext cx="23857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6964114" y="4524375"/>
            <a:ext cx="238576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student writes and holds up a whiteboard for all 11 items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10027146" y="2124075"/>
            <a:ext cx="74545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 ITEMS DICTATED ACROSS BOTH ROUNDS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0027146" y="2447925"/>
            <a:ext cx="2385268" cy="600075"/>
          </a:xfrm>
          <a:prstGeom prst="roundRect">
            <a:avLst>
              <a:gd name="adj" fmla="val 19048"/>
            </a:avLst>
          </a:prstGeom>
          <a:solidFill>
            <a:srgbClr val="EAE6DC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0110164" y="2543175"/>
            <a:ext cx="221923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里边/里面</a:t>
            </a:r>
            <a:endParaRPr lang="en-US" sz="1425" dirty="0"/>
          </a:p>
        </p:txBody>
      </p:sp>
      <p:sp>
        <p:nvSpPr>
          <p:cNvPr id="37" name="Text 35"/>
          <p:cNvSpPr/>
          <p:nvPr/>
        </p:nvSpPr>
        <p:spPr>
          <a:xfrm>
            <a:off x="10110164" y="2800350"/>
            <a:ext cx="22192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inside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12488614" y="2447925"/>
            <a:ext cx="2385268" cy="600075"/>
          </a:xfrm>
          <a:prstGeom prst="roundRect">
            <a:avLst>
              <a:gd name="adj" fmla="val 19048"/>
            </a:avLst>
          </a:prstGeom>
          <a:solidFill>
            <a:srgbClr val="EAE6DC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2571632" y="2543175"/>
            <a:ext cx="221923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铅笔</a:t>
            </a:r>
            <a:endParaRPr lang="en-US" sz="1425" dirty="0"/>
          </a:p>
        </p:txBody>
      </p:sp>
      <p:sp>
        <p:nvSpPr>
          <p:cNvPr id="40" name="Text 38"/>
          <p:cNvSpPr/>
          <p:nvPr/>
        </p:nvSpPr>
        <p:spPr>
          <a:xfrm>
            <a:off x="12571632" y="2800350"/>
            <a:ext cx="22192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pencil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14950083" y="2447925"/>
            <a:ext cx="2385268" cy="600075"/>
          </a:xfrm>
          <a:prstGeom prst="roundRect">
            <a:avLst>
              <a:gd name="adj" fmla="val 19048"/>
            </a:avLst>
          </a:prstGeom>
          <a:solidFill>
            <a:srgbClr val="EAE6DC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5033101" y="2543175"/>
            <a:ext cx="221923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尺子</a:t>
            </a:r>
            <a:endParaRPr lang="en-US" sz="1425" dirty="0"/>
          </a:p>
        </p:txBody>
      </p:sp>
      <p:sp>
        <p:nvSpPr>
          <p:cNvPr id="43" name="Text 41"/>
          <p:cNvSpPr/>
          <p:nvPr/>
        </p:nvSpPr>
        <p:spPr>
          <a:xfrm>
            <a:off x="15033101" y="2800350"/>
            <a:ext cx="22192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ruler</a:t>
            </a:r>
            <a:endParaRPr lang="en-US" sz="825" dirty="0"/>
          </a:p>
        </p:txBody>
      </p:sp>
      <p:sp>
        <p:nvSpPr>
          <p:cNvPr id="44" name="Text 42"/>
          <p:cNvSpPr/>
          <p:nvPr/>
        </p:nvSpPr>
        <p:spPr>
          <a:xfrm>
            <a:off x="10027146" y="3124200"/>
            <a:ext cx="2385268" cy="600075"/>
          </a:xfrm>
          <a:prstGeom prst="roundRect">
            <a:avLst>
              <a:gd name="adj" fmla="val 19048"/>
            </a:avLst>
          </a:prstGeom>
          <a:solidFill>
            <a:srgbClr val="EAE6DC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10110164" y="3219450"/>
            <a:ext cx="221923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橡皮</a:t>
            </a:r>
            <a:endParaRPr lang="en-US" sz="1425" dirty="0"/>
          </a:p>
        </p:txBody>
      </p:sp>
      <p:sp>
        <p:nvSpPr>
          <p:cNvPr id="46" name="Text 44"/>
          <p:cNvSpPr/>
          <p:nvPr/>
        </p:nvSpPr>
        <p:spPr>
          <a:xfrm>
            <a:off x="10110164" y="3476625"/>
            <a:ext cx="22192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eraser</a:t>
            </a:r>
            <a:endParaRPr lang="en-US" sz="825" dirty="0"/>
          </a:p>
        </p:txBody>
      </p:sp>
      <p:sp>
        <p:nvSpPr>
          <p:cNvPr id="47" name="Text 45"/>
          <p:cNvSpPr/>
          <p:nvPr/>
        </p:nvSpPr>
        <p:spPr>
          <a:xfrm>
            <a:off x="12488614" y="3124200"/>
            <a:ext cx="2385268" cy="600075"/>
          </a:xfrm>
          <a:prstGeom prst="roundRect">
            <a:avLst>
              <a:gd name="adj" fmla="val 19048"/>
            </a:avLst>
          </a:prstGeom>
          <a:solidFill>
            <a:srgbClr val="EAE6DC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2571632" y="3219450"/>
            <a:ext cx="221923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卷笔刀</a:t>
            </a:r>
            <a:endParaRPr lang="en-US" sz="1425" dirty="0"/>
          </a:p>
        </p:txBody>
      </p:sp>
      <p:sp>
        <p:nvSpPr>
          <p:cNvPr id="49" name="Text 47"/>
          <p:cNvSpPr/>
          <p:nvPr/>
        </p:nvSpPr>
        <p:spPr>
          <a:xfrm>
            <a:off x="12571632" y="3476625"/>
            <a:ext cx="22192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sharpener</a:t>
            </a:r>
            <a:endParaRPr lang="en-US" sz="825" dirty="0"/>
          </a:p>
        </p:txBody>
      </p:sp>
      <p:sp>
        <p:nvSpPr>
          <p:cNvPr id="50" name="Text 48"/>
          <p:cNvSpPr/>
          <p:nvPr/>
        </p:nvSpPr>
        <p:spPr>
          <a:xfrm>
            <a:off x="14950083" y="3124200"/>
            <a:ext cx="2385268" cy="600075"/>
          </a:xfrm>
          <a:prstGeom prst="roundRect">
            <a:avLst>
              <a:gd name="adj" fmla="val 19048"/>
            </a:avLst>
          </a:prstGeom>
          <a:solidFill>
            <a:srgbClr val="EAE6DC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15033101" y="3219450"/>
            <a:ext cx="221923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练习本</a:t>
            </a:r>
            <a:endParaRPr lang="en-US" sz="1425" dirty="0"/>
          </a:p>
        </p:txBody>
      </p:sp>
      <p:sp>
        <p:nvSpPr>
          <p:cNvPr id="52" name="Text 50"/>
          <p:cNvSpPr/>
          <p:nvPr/>
        </p:nvSpPr>
        <p:spPr>
          <a:xfrm>
            <a:off x="15033101" y="3476625"/>
            <a:ext cx="22192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exercise bk</a:t>
            </a:r>
            <a:endParaRPr lang="en-US" sz="825" dirty="0"/>
          </a:p>
        </p:txBody>
      </p:sp>
      <p:sp>
        <p:nvSpPr>
          <p:cNvPr id="53" name="Text 51"/>
          <p:cNvSpPr/>
          <p:nvPr/>
        </p:nvSpPr>
        <p:spPr>
          <a:xfrm>
            <a:off x="10027146" y="3800475"/>
            <a:ext cx="2385268" cy="600075"/>
          </a:xfrm>
          <a:prstGeom prst="roundRect">
            <a:avLst>
              <a:gd name="adj" fmla="val 19048"/>
            </a:avLst>
          </a:prstGeom>
          <a:solidFill>
            <a:srgbClr val="EAE6DC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10110164" y="3895725"/>
            <a:ext cx="221923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课本</a:t>
            </a:r>
            <a:endParaRPr lang="en-US" sz="1425" dirty="0"/>
          </a:p>
        </p:txBody>
      </p:sp>
      <p:sp>
        <p:nvSpPr>
          <p:cNvPr id="55" name="Text 53"/>
          <p:cNvSpPr/>
          <p:nvPr/>
        </p:nvSpPr>
        <p:spPr>
          <a:xfrm>
            <a:off x="10110164" y="4152900"/>
            <a:ext cx="22192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textbook</a:t>
            </a:r>
            <a:endParaRPr lang="en-US" sz="825" dirty="0"/>
          </a:p>
        </p:txBody>
      </p:sp>
      <p:sp>
        <p:nvSpPr>
          <p:cNvPr id="56" name="Text 54"/>
          <p:cNvSpPr/>
          <p:nvPr/>
        </p:nvSpPr>
        <p:spPr>
          <a:xfrm>
            <a:off x="12488614" y="3800475"/>
            <a:ext cx="2385268" cy="600075"/>
          </a:xfrm>
          <a:prstGeom prst="roundRect">
            <a:avLst>
              <a:gd name="adj" fmla="val 19048"/>
            </a:avLst>
          </a:prstGeom>
          <a:solidFill>
            <a:srgbClr val="EAE6DC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12571632" y="3895725"/>
            <a:ext cx="221923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日记本</a:t>
            </a:r>
            <a:endParaRPr lang="en-US" sz="1425" dirty="0"/>
          </a:p>
        </p:txBody>
      </p:sp>
      <p:sp>
        <p:nvSpPr>
          <p:cNvPr id="58" name="Text 56"/>
          <p:cNvSpPr/>
          <p:nvPr/>
        </p:nvSpPr>
        <p:spPr>
          <a:xfrm>
            <a:off x="12571632" y="4152900"/>
            <a:ext cx="22192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diary</a:t>
            </a:r>
            <a:endParaRPr lang="en-US" sz="825" dirty="0"/>
          </a:p>
        </p:txBody>
      </p:sp>
      <p:sp>
        <p:nvSpPr>
          <p:cNvPr id="59" name="Text 57"/>
          <p:cNvSpPr/>
          <p:nvPr/>
        </p:nvSpPr>
        <p:spPr>
          <a:xfrm>
            <a:off x="14950083" y="3800475"/>
            <a:ext cx="2385268" cy="600075"/>
          </a:xfrm>
          <a:prstGeom prst="roundRect">
            <a:avLst>
              <a:gd name="adj" fmla="val 19048"/>
            </a:avLst>
          </a:prstGeom>
          <a:solidFill>
            <a:srgbClr val="EAE6DC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15033101" y="3895725"/>
            <a:ext cx="221923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文具盒</a:t>
            </a:r>
            <a:endParaRPr lang="en-US" sz="1425" dirty="0"/>
          </a:p>
        </p:txBody>
      </p:sp>
      <p:sp>
        <p:nvSpPr>
          <p:cNvPr id="61" name="Text 59"/>
          <p:cNvSpPr/>
          <p:nvPr/>
        </p:nvSpPr>
        <p:spPr>
          <a:xfrm>
            <a:off x="15033101" y="4152900"/>
            <a:ext cx="22192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pencil case</a:t>
            </a:r>
            <a:endParaRPr lang="en-US" sz="825" dirty="0"/>
          </a:p>
        </p:txBody>
      </p:sp>
      <p:sp>
        <p:nvSpPr>
          <p:cNvPr id="62" name="Text 60"/>
          <p:cNvSpPr/>
          <p:nvPr/>
        </p:nvSpPr>
        <p:spPr>
          <a:xfrm>
            <a:off x="10027146" y="4476750"/>
            <a:ext cx="2385268" cy="600075"/>
          </a:xfrm>
          <a:prstGeom prst="roundRect">
            <a:avLst>
              <a:gd name="adj" fmla="val 19048"/>
            </a:avLst>
          </a:prstGeom>
          <a:solidFill>
            <a:srgbClr val="EAE6DC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10110164" y="4572000"/>
            <a:ext cx="221923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小说</a:t>
            </a:r>
            <a:endParaRPr lang="en-US" sz="1425" dirty="0"/>
          </a:p>
        </p:txBody>
      </p:sp>
      <p:sp>
        <p:nvSpPr>
          <p:cNvPr id="64" name="Text 62"/>
          <p:cNvSpPr/>
          <p:nvPr/>
        </p:nvSpPr>
        <p:spPr>
          <a:xfrm>
            <a:off x="10110164" y="4829175"/>
            <a:ext cx="22192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novel</a:t>
            </a:r>
            <a:endParaRPr lang="en-US" sz="825" dirty="0"/>
          </a:p>
        </p:txBody>
      </p:sp>
      <p:sp>
        <p:nvSpPr>
          <p:cNvPr id="65" name="Text 63"/>
          <p:cNvSpPr/>
          <p:nvPr/>
        </p:nvSpPr>
        <p:spPr>
          <a:xfrm>
            <a:off x="12488614" y="4476750"/>
            <a:ext cx="2385268" cy="600075"/>
          </a:xfrm>
          <a:prstGeom prst="roundRect">
            <a:avLst>
              <a:gd name="adj" fmla="val 19048"/>
            </a:avLst>
          </a:prstGeom>
          <a:solidFill>
            <a:srgbClr val="EAE6DC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12571632" y="4572000"/>
            <a:ext cx="221923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卡片</a:t>
            </a:r>
            <a:endParaRPr lang="en-US" sz="1425" dirty="0"/>
          </a:p>
        </p:txBody>
      </p:sp>
      <p:sp>
        <p:nvSpPr>
          <p:cNvPr id="67" name="Text 65"/>
          <p:cNvSpPr/>
          <p:nvPr/>
        </p:nvSpPr>
        <p:spPr>
          <a:xfrm>
            <a:off x="12571632" y="4829175"/>
            <a:ext cx="22192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card</a:t>
            </a:r>
            <a:endParaRPr lang="en-US" sz="825" dirty="0"/>
          </a:p>
        </p:txBody>
      </p:sp>
      <p:sp>
        <p:nvSpPr>
          <p:cNvPr id="68" name="Shape 66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0287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28–38 MIN · YOU DO (ACT. 1, P.81)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2500" y="1314450"/>
            <a:ext cx="1671066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活动二 · 课文填空 + 位置句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952500" y="1952625"/>
            <a:ext cx="8599884" cy="3232547"/>
          </a:xfrm>
          <a:prstGeom prst="roundRect">
            <a:avLst>
              <a:gd name="adj" fmla="val 8250"/>
            </a:avLst>
          </a:prstGeom>
          <a:solidFill>
            <a:srgbClr val="F4F2EE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38250" y="1838325"/>
            <a:ext cx="1756023" cy="266700"/>
          </a:xfrm>
          <a:prstGeom prst="roundRect">
            <a:avLst>
              <a:gd name="adj" fmla="val 3567857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409700" y="1876425"/>
            <a:ext cx="14413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Gap-Fill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200150" y="2295525"/>
            <a:ext cx="8104584" cy="994172"/>
          </a:xfrm>
          <a:prstGeom prst="roundRect">
            <a:avLst>
              <a:gd name="adj" fmla="val 11497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90650" y="2447925"/>
            <a:ext cx="7878056" cy="689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13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我们学校有一个文具店，里边有</a:t>
            </a:r>
            <a:r>
              <a:rPr lang="en-US" sz="135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①</a:t>
            </a:r>
            <a:r>
              <a:rPr lang="en-US" sz="13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、尺子、</a:t>
            </a:r>
            <a:r>
              <a:rPr lang="en-US" sz="135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②</a:t>
            </a:r>
            <a:r>
              <a:rPr lang="en-US" sz="13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、</a:t>
            </a:r>
            <a:r>
              <a:rPr lang="en-US" sz="135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③</a:t>
            </a:r>
            <a:r>
              <a:rPr lang="en-US" sz="13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、练习本、</a:t>
            </a:r>
            <a:r>
              <a:rPr lang="en-US" sz="135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④</a:t>
            </a:r>
            <a:r>
              <a:rPr lang="en-US" sz="13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、文具盒等。除了这些，文具店还卖</a:t>
            </a:r>
            <a:r>
              <a:rPr lang="en-US" sz="135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⑤</a:t>
            </a:r>
            <a:r>
              <a:rPr lang="en-US" sz="13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、</a:t>
            </a:r>
            <a:r>
              <a:rPr lang="en-US" sz="135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⑥</a:t>
            </a:r>
            <a:r>
              <a:rPr lang="en-US" sz="13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、卡片等。文具店在五号教学楼里，在一楼。你一进校门就能看见。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200150" y="3423047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288554" y="3456384"/>
            <a:ext cx="52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524000" y="3442097"/>
            <a:ext cx="7180665" cy="20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088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the gapped Text 1 above; students copy into exercise books and complete independently (5 min).</a:t>
            </a:r>
            <a:endParaRPr lang="en-US" sz="1088" dirty="0"/>
          </a:p>
        </p:txBody>
      </p:sp>
      <p:sp>
        <p:nvSpPr>
          <p:cNvPr id="15" name="Text 13"/>
          <p:cNvSpPr/>
          <p:nvPr/>
        </p:nvSpPr>
        <p:spPr>
          <a:xfrm>
            <a:off x="1200150" y="373737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278136" y="3770709"/>
            <a:ext cx="739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524000" y="3756422"/>
            <a:ext cx="5488802" cy="20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088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students to read one completed sentence each; class checks together.</a:t>
            </a:r>
            <a:endParaRPr lang="en-US" sz="1088" dirty="0"/>
          </a:p>
        </p:txBody>
      </p:sp>
      <p:sp>
        <p:nvSpPr>
          <p:cNvPr id="18" name="Text 16"/>
          <p:cNvSpPr/>
          <p:nvPr/>
        </p:nvSpPr>
        <p:spPr>
          <a:xfrm>
            <a:off x="1200150" y="4194572"/>
            <a:ext cx="3976092" cy="819150"/>
          </a:xfrm>
          <a:prstGeom prst="roundRect">
            <a:avLst>
              <a:gd name="adj" fmla="val 13953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352550" y="4308872"/>
            <a:ext cx="37447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1352550" y="4499372"/>
            <a:ext cx="374471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bank of the 11 vocabulary items projected alongside the gapped text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5328642" y="4194572"/>
            <a:ext cx="3976092" cy="819150"/>
          </a:xfrm>
          <a:prstGeom prst="roundRect">
            <a:avLst>
              <a:gd name="adj" fmla="val 13953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481042" y="4308872"/>
            <a:ext cx="37447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5481042" y="4499372"/>
            <a:ext cx="374471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a 3rd position sentence combining 里边 with an L8 location word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9857184" y="1952625"/>
            <a:ext cx="7478167" cy="2070646"/>
          </a:xfrm>
          <a:prstGeom prst="roundRect">
            <a:avLst>
              <a:gd name="adj" fmla="val 1288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0076259" y="2152650"/>
            <a:ext cx="71808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B · POSITION SENTENCES (5 MIN)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076259" y="2438400"/>
            <a:ext cx="7180817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a stationery-scene picture (pencil case on the desk, ruler in the drawer, etc.). Using 里边/里面 or L8 location words, write </a:t>
            </a:r>
            <a:r>
              <a:rPr lang="en-US" sz="120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sentences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describing where two items are positioned.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76259" y="3025080"/>
            <a:ext cx="7040017" cy="428625"/>
          </a:xfrm>
          <a:prstGeom prst="roundRect">
            <a:avLst>
              <a:gd name="adj" fmla="val 26667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0228659" y="3139380"/>
            <a:ext cx="68699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Scene:</a:t>
            </a: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铅笔在文具盒里边；尺子在书包旁边；橡皮在桌子上……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10076259" y="3548955"/>
            <a:ext cx="718081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</a:t>
            </a:r>
            <a:r>
              <a:rPr lang="en-US" sz="13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里边/旁边。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857184" y="4156621"/>
            <a:ext cx="7478167" cy="895350"/>
          </a:xfrm>
          <a:prstGeom prst="roundRect">
            <a:avLst>
              <a:gd name="adj" fmla="val 29787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0057209" y="4318546"/>
            <a:ext cx="72196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BANK · 词库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057209" y="4575721"/>
            <a:ext cx="533400" cy="314325"/>
          </a:xfrm>
          <a:prstGeom prst="roundRect">
            <a:avLst>
              <a:gd name="adj" fmla="val 36364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0181034" y="4632871"/>
            <a:ext cx="2914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铅笔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10647759" y="4575721"/>
            <a:ext cx="533400" cy="314325"/>
          </a:xfrm>
          <a:prstGeom prst="roundRect">
            <a:avLst>
              <a:gd name="adj" fmla="val 36364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0771584" y="4632871"/>
            <a:ext cx="2914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橡皮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11238309" y="4575721"/>
            <a:ext cx="676275" cy="314325"/>
          </a:xfrm>
          <a:prstGeom prst="roundRect">
            <a:avLst>
              <a:gd name="adj" fmla="val 36364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1362134" y="4632871"/>
            <a:ext cx="4371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卷笔刀</a:t>
            </a:r>
            <a:endParaRPr lang="en-US" sz="1125" dirty="0"/>
          </a:p>
        </p:txBody>
      </p:sp>
      <p:sp>
        <p:nvSpPr>
          <p:cNvPr id="38" name="Text 36"/>
          <p:cNvSpPr/>
          <p:nvPr/>
        </p:nvSpPr>
        <p:spPr>
          <a:xfrm>
            <a:off x="11971734" y="4575721"/>
            <a:ext cx="676275" cy="314325"/>
          </a:xfrm>
          <a:prstGeom prst="roundRect">
            <a:avLst>
              <a:gd name="adj" fmla="val 36364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2095559" y="4632871"/>
            <a:ext cx="4371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日记本</a:t>
            </a:r>
            <a:endParaRPr lang="en-US" sz="1125" dirty="0"/>
          </a:p>
        </p:txBody>
      </p:sp>
      <p:sp>
        <p:nvSpPr>
          <p:cNvPr id="40" name="Text 38"/>
          <p:cNvSpPr/>
          <p:nvPr/>
        </p:nvSpPr>
        <p:spPr>
          <a:xfrm>
            <a:off x="12705159" y="4575721"/>
            <a:ext cx="533400" cy="314325"/>
          </a:xfrm>
          <a:prstGeom prst="roundRect">
            <a:avLst>
              <a:gd name="adj" fmla="val 36364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2828984" y="4632871"/>
            <a:ext cx="2914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小说</a:t>
            </a:r>
            <a:endParaRPr lang="en-US" sz="1125" dirty="0"/>
          </a:p>
        </p:txBody>
      </p:sp>
      <p:sp>
        <p:nvSpPr>
          <p:cNvPr id="42" name="Text 40"/>
          <p:cNvSpPr/>
          <p:nvPr/>
        </p:nvSpPr>
        <p:spPr>
          <a:xfrm>
            <a:off x="13295709" y="4575721"/>
            <a:ext cx="533400" cy="314325"/>
          </a:xfrm>
          <a:prstGeom prst="roundRect">
            <a:avLst>
              <a:gd name="adj" fmla="val 36364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3419534" y="4632871"/>
            <a:ext cx="2914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课本</a:t>
            </a:r>
            <a:endParaRPr lang="en-US" sz="1125" dirty="0"/>
          </a:p>
        </p:txBody>
      </p:sp>
      <p:sp>
        <p:nvSpPr>
          <p:cNvPr id="44" name="Text 42"/>
          <p:cNvSpPr/>
          <p:nvPr/>
        </p:nvSpPr>
        <p:spPr>
          <a:xfrm>
            <a:off x="13886259" y="4575721"/>
            <a:ext cx="676275" cy="314325"/>
          </a:xfrm>
          <a:prstGeom prst="roundRect">
            <a:avLst>
              <a:gd name="adj" fmla="val 36364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14010084" y="4632871"/>
            <a:ext cx="4371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文具盒</a:t>
            </a:r>
            <a:endParaRPr lang="en-US" sz="1125" dirty="0"/>
          </a:p>
        </p:txBody>
      </p:sp>
      <p:sp>
        <p:nvSpPr>
          <p:cNvPr id="46" name="Text 44"/>
          <p:cNvSpPr/>
          <p:nvPr/>
        </p:nvSpPr>
        <p:spPr>
          <a:xfrm>
            <a:off x="14619684" y="4575721"/>
            <a:ext cx="533400" cy="314325"/>
          </a:xfrm>
          <a:prstGeom prst="roundRect">
            <a:avLst>
              <a:gd name="adj" fmla="val 36364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4743509" y="4632871"/>
            <a:ext cx="2914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书包</a:t>
            </a:r>
            <a:endParaRPr lang="en-US" sz="1125" dirty="0"/>
          </a:p>
        </p:txBody>
      </p:sp>
      <p:sp>
        <p:nvSpPr>
          <p:cNvPr id="48" name="Text 46"/>
          <p:cNvSpPr/>
          <p:nvPr/>
        </p:nvSpPr>
        <p:spPr>
          <a:xfrm>
            <a:off x="15210234" y="4575721"/>
            <a:ext cx="533400" cy="314325"/>
          </a:xfrm>
          <a:prstGeom prst="roundRect">
            <a:avLst>
              <a:gd name="adj" fmla="val 36364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15334059" y="4632871"/>
            <a:ext cx="2914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桌子</a:t>
            </a:r>
            <a:endParaRPr lang="en-US" sz="1125" dirty="0"/>
          </a:p>
        </p:txBody>
      </p:sp>
      <p:sp>
        <p:nvSpPr>
          <p:cNvPr id="50" name="Shape 48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47750" y="1104900"/>
            <a:ext cx="165163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7750" y="1409700"/>
            <a:ext cx="165163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课文填空 + 位置句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1047750" y="2257425"/>
            <a:ext cx="16192500" cy="1626691"/>
          </a:xfrm>
          <a:prstGeom prst="roundRect">
            <a:avLst>
              <a:gd name="adj" fmla="val 1639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343025" y="2495550"/>
            <a:ext cx="1591398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COMPLETED GAP-FILL PASSAGE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343025" y="2800350"/>
            <a:ext cx="15913989" cy="845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30"/>
              </a:lnSpc>
              <a:buNone/>
            </a:pPr>
            <a:r>
              <a:rPr lang="en-US" sz="18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我们学校有一个文具店，里边有</a:t>
            </a:r>
            <a:r>
              <a:rPr lang="en-US" sz="1800" b="1" u="sng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铅笔</a:t>
            </a:r>
            <a:r>
              <a:rPr lang="en-US" sz="18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、尺子、</a:t>
            </a:r>
            <a:r>
              <a:rPr lang="en-US" sz="1800" b="1" u="sng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橡皮</a:t>
            </a:r>
            <a:r>
              <a:rPr lang="en-US" sz="18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、</a:t>
            </a:r>
            <a:r>
              <a:rPr lang="en-US" sz="1800" b="1" u="sng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卷笔刀</a:t>
            </a:r>
            <a:r>
              <a:rPr lang="en-US" sz="18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、练习本、</a:t>
            </a:r>
            <a:r>
              <a:rPr lang="en-US" sz="1800" b="1" u="sng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日记本</a:t>
            </a:r>
            <a:r>
              <a:rPr lang="en-US" sz="18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、文具盒等。除了这些，文具店还卖</a:t>
            </a:r>
            <a:r>
              <a:rPr lang="en-US" sz="1800" b="1" u="sng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小说</a:t>
            </a:r>
            <a:r>
              <a:rPr lang="en-US" sz="18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、</a:t>
            </a:r>
            <a:r>
              <a:rPr lang="en-US" sz="1800" b="1" u="sng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课本</a:t>
            </a:r>
            <a:r>
              <a:rPr lang="en-US" sz="18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、卡片等。文具店在五号教学楼里，在一楼。你一进校门就能看见。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47750" y="4093666"/>
            <a:ext cx="8001000" cy="914400"/>
          </a:xfrm>
          <a:prstGeom prst="roundRect">
            <a:avLst>
              <a:gd name="adj" fmla="val 20833"/>
            </a:avLst>
          </a:prstGeom>
          <a:solidFill>
            <a:srgbClr val="2E7D6E">
              <a:alpha val="10000"/>
            </a:srgbClr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276350" y="4284166"/>
            <a:ext cx="76946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SAMPLE POSITION SENTENCE 1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276350" y="4531816"/>
            <a:ext cx="76946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铅笔在文具盒里边。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239250" y="4093666"/>
            <a:ext cx="8001000" cy="914400"/>
          </a:xfrm>
          <a:prstGeom prst="roundRect">
            <a:avLst>
              <a:gd name="adj" fmla="val 20833"/>
            </a:avLst>
          </a:prstGeom>
          <a:solidFill>
            <a:srgbClr val="2E7D6E">
              <a:alpha val="10000"/>
            </a:srgbClr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467850" y="4284166"/>
            <a:ext cx="76946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SAMPLE POSITION SENTENCE 2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9467850" y="4531816"/>
            <a:ext cx="76946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尺子在书包旁边。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062038"/>
            <a:ext cx="840879" cy="314325"/>
          </a:xfrm>
          <a:prstGeom prst="roundRect">
            <a:avLst>
              <a:gd name="adj" fmla="val 3027273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43000" y="1119188"/>
            <a:ext cx="4690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1945779" y="1047750"/>
            <a:ext cx="926157" cy="342900"/>
          </a:xfrm>
          <a:prstGeom prst="roundRect">
            <a:avLst>
              <a:gd name="adj" fmla="val 277500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126754" y="1114425"/>
            <a:ext cx="5754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5 min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3024336" y="1062038"/>
            <a:ext cx="2471440" cy="314325"/>
          </a:xfrm>
          <a:prstGeom prst="roundRect">
            <a:avLst>
              <a:gd name="adj" fmla="val 3027273"/>
            </a:avLst>
          </a:prstGeom>
          <a:solidFill>
            <a:srgbClr val="C96A5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195786" y="1119188"/>
            <a:ext cx="217111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Whiteboards · Individual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952500" y="1466850"/>
            <a:ext cx="1671066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文具 Bingo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52500" y="2038350"/>
            <a:ext cx="1671066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Rapid English → 汉字 recall for all 11 new stationery words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52500" y="2447925"/>
            <a:ext cx="4248150" cy="3590925"/>
          </a:xfrm>
          <a:prstGeom prst="roundRect">
            <a:avLst>
              <a:gd name="adj" fmla="val 5305"/>
            </a:avLst>
          </a:prstGeom>
          <a:noFill/>
          <a:ln w="2857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81075" y="2476500"/>
            <a:ext cx="4191000" cy="390525"/>
          </a:xfrm>
          <a:prstGeom prst="rect">
            <a:avLst/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39165" y="2552700"/>
            <a:ext cx="427482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SAMPLE 3 × 3 BINGO GRID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81075" y="2867025"/>
            <a:ext cx="1396901" cy="1047750"/>
          </a:xfrm>
          <a:prstGeom prst="rect">
            <a:avLst/>
          </a:prstGeom>
          <a:solidFill>
            <a:srgbClr val="FEFCF7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465784" y="3248025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CFC9B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铅笔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2377976" y="2867025"/>
            <a:ext cx="1397050" cy="1047750"/>
          </a:xfrm>
          <a:prstGeom prst="rect">
            <a:avLst/>
          </a:prstGeom>
          <a:solidFill>
            <a:srgbClr val="FEFCF7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862685" y="3248025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尺子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3775025" y="2867025"/>
            <a:ext cx="1397050" cy="1047750"/>
          </a:xfrm>
          <a:prstGeom prst="rect">
            <a:avLst/>
          </a:prstGeom>
          <a:solidFill>
            <a:srgbClr val="FEFCF7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259735" y="3248025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橡皮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981075" y="3914775"/>
            <a:ext cx="1396901" cy="1047750"/>
          </a:xfrm>
          <a:prstGeom prst="rect">
            <a:avLst/>
          </a:prstGeom>
          <a:solidFill>
            <a:srgbClr val="FEFCF7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358914" y="4295775"/>
            <a:ext cx="64122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卷笔刀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2377976" y="3914775"/>
            <a:ext cx="1397050" cy="1047750"/>
          </a:xfrm>
          <a:prstGeom prst="rect">
            <a:avLst/>
          </a:prstGeom>
          <a:solidFill>
            <a:srgbClr val="FEFCF7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755815" y="4295775"/>
            <a:ext cx="64122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CFC9B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练习本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3775025" y="3914775"/>
            <a:ext cx="1397050" cy="1047750"/>
          </a:xfrm>
          <a:prstGeom prst="rect">
            <a:avLst/>
          </a:prstGeom>
          <a:solidFill>
            <a:srgbClr val="FEFCF7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259735" y="4295775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课本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981075" y="4962525"/>
            <a:ext cx="1396901" cy="1047750"/>
          </a:xfrm>
          <a:prstGeom prst="rect">
            <a:avLst/>
          </a:prstGeom>
          <a:solidFill>
            <a:srgbClr val="FEFCF7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358914" y="5343525"/>
            <a:ext cx="64122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日记本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2377976" y="4962525"/>
            <a:ext cx="1397050" cy="1047750"/>
          </a:xfrm>
          <a:prstGeom prst="rect">
            <a:avLst/>
          </a:prstGeom>
          <a:solidFill>
            <a:srgbClr val="FEFCF7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755815" y="5343525"/>
            <a:ext cx="64122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文具盒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3775025" y="4962525"/>
            <a:ext cx="1397050" cy="1047750"/>
          </a:xfrm>
          <a:prstGeom prst="rect">
            <a:avLst/>
          </a:prstGeom>
          <a:solidFill>
            <a:srgbClr val="FEFCF7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259735" y="5343525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CFC9B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小说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5467350" y="2447925"/>
            <a:ext cx="11868150" cy="1771650"/>
          </a:xfrm>
          <a:prstGeom prst="roundRect">
            <a:avLst>
              <a:gd name="adj" fmla="val 10753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686425" y="2762250"/>
            <a:ext cx="1165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TO PLAY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686425" y="3067050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1️⃣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000750" y="3067050"/>
            <a:ext cx="108469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draw a </a:t>
            </a:r>
            <a:r>
              <a:rPr lang="en-US" sz="13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3×3 grid</a:t>
            </a: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on the back of a mini whiteboard and fill it with </a:t>
            </a:r>
            <a:r>
              <a:rPr lang="en-US" sz="13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 of the 11</a:t>
            </a: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vocabulary items (汉字 only), in any order.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5686425" y="3419475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2️⃣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6000750" y="3419475"/>
            <a:ext cx="754393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calls out </a:t>
            </a:r>
            <a:r>
              <a:rPr lang="en-US" sz="13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English meanings</a:t>
            </a: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one at a time; students cross off the matching 汉字.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5686425" y="3771900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🏆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6000750" y="3771900"/>
            <a:ext cx="1091900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First student to cross off a full </a:t>
            </a:r>
            <a:r>
              <a:rPr lang="en-US" sz="13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row, column, or diagonal</a:t>
            </a: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calls "Bingo!" and reads their winning line aloud in Chinese to confirm.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5467350" y="4352925"/>
            <a:ext cx="11868150" cy="704850"/>
          </a:xfrm>
          <a:prstGeom prst="roundRect">
            <a:avLst>
              <a:gd name="adj" fmla="val 16216"/>
            </a:avLst>
          </a:prstGeom>
          <a:solidFill>
            <a:srgbClr val="C96A5C">
              <a:alpha val="10000"/>
            </a:srgbClr>
          </a:solidFill>
          <a:ln w="19050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657850" y="4567238"/>
            <a:ext cx="21374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🗂️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000750" y="4486275"/>
            <a:ext cx="27883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Setup Needed</a:t>
            </a:r>
            <a:endParaRPr lang="en-US" sz="1275" dirty="0"/>
          </a:p>
        </p:txBody>
      </p:sp>
      <p:sp>
        <p:nvSpPr>
          <p:cNvPr id="45" name="Text 43"/>
          <p:cNvSpPr/>
          <p:nvPr/>
        </p:nvSpPr>
        <p:spPr>
          <a:xfrm>
            <a:off x="6000750" y="4733925"/>
            <a:ext cx="27883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whiteboards only — already on desks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467350" y="5286375"/>
            <a:ext cx="5876925" cy="819150"/>
          </a:xfrm>
          <a:prstGeom prst="roundRect">
            <a:avLst>
              <a:gd name="adj" fmla="val 13953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619750" y="5400675"/>
            <a:ext cx="56835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48" name="Text 46"/>
          <p:cNvSpPr/>
          <p:nvPr/>
        </p:nvSpPr>
        <p:spPr>
          <a:xfrm>
            <a:off x="5619750" y="5591175"/>
            <a:ext cx="568356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Allow students to keep the vocabulary table projected for their first grid to draw from</a:t>
            </a:r>
            <a:endParaRPr lang="en-US" sz="1125" dirty="0"/>
          </a:p>
        </p:txBody>
      </p:sp>
      <p:sp>
        <p:nvSpPr>
          <p:cNvPr id="49" name="Text 47"/>
          <p:cNvSpPr/>
          <p:nvPr/>
        </p:nvSpPr>
        <p:spPr>
          <a:xfrm>
            <a:off x="11458575" y="5286375"/>
            <a:ext cx="5876925" cy="819150"/>
          </a:xfrm>
          <a:prstGeom prst="roundRect">
            <a:avLst>
              <a:gd name="adj" fmla="val 13953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11610975" y="5400675"/>
            <a:ext cx="56835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51" name="Text 49"/>
          <p:cNvSpPr/>
          <p:nvPr/>
        </p:nvSpPr>
        <p:spPr>
          <a:xfrm>
            <a:off x="11610975" y="5591175"/>
            <a:ext cx="568356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Winning students must read their winning line as a full sentence: "尺子——我的尺子在文具盒里边。"</a:t>
            </a:r>
            <a:endParaRPr lang="en-US" sz="1125" dirty="0"/>
          </a:p>
        </p:txBody>
      </p:sp>
      <p:sp>
        <p:nvSpPr>
          <p:cNvPr id="52" name="Shape 50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3000" y="2975074"/>
            <a:ext cx="163220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43–50 MIN · PLENARY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3279874"/>
            <a:ext cx="1632204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Wrap-Up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143000" y="4127599"/>
            <a:ext cx="7867650" cy="2803178"/>
          </a:xfrm>
          <a:prstGeom prst="roundRect">
            <a:avLst>
              <a:gd name="adj" fmla="val 9514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400175" y="4499074"/>
            <a:ext cx="75003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00175" y="4841974"/>
            <a:ext cx="75003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00"/>
              </a:spcAft>
              <a:buNone/>
            </a:pPr>
            <a:r>
              <a:rPr lang="en-US" sz="975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Hold up fingers: </a:t>
            </a:r>
            <a:r>
              <a:rPr lang="en-US" sz="975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r>
              <a:rPr lang="en-US" sz="975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完全可以 · </a:t>
            </a:r>
            <a:r>
              <a:rPr lang="en-US" sz="975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r>
              <a:rPr lang="en-US" sz="975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差不多 · </a:t>
            </a:r>
            <a:r>
              <a:rPr lang="en-US" sz="975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r>
              <a:rPr lang="en-US" sz="975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还不行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533525" y="5127724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645146" y="5186809"/>
            <a:ext cx="830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85950" y="5127724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B87A30">
              <a:alpha val="12000"/>
            </a:srgbClr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997422" y="5186809"/>
            <a:ext cx="834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238375" y="5127724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96A5C">
              <a:alpha val="10000"/>
            </a:srgbClr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363093" y="5186809"/>
            <a:ext cx="5647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676525" y="5173414"/>
            <a:ext cx="345294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Name the 11 stationery/shop items in Chinese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33525" y="553729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645146" y="5596384"/>
            <a:ext cx="830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885950" y="553729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B87A30">
              <a:alpha val="12000"/>
            </a:srgbClr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997422" y="5596384"/>
            <a:ext cx="834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238375" y="553729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96A5C">
              <a:alpha val="10000"/>
            </a:srgbClr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363093" y="5596384"/>
            <a:ext cx="5647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676525" y="5582989"/>
            <a:ext cx="307829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 and understand the Text 1 passage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533525" y="5946874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645146" y="6005959"/>
            <a:ext cx="830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885950" y="5946874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B87A30">
              <a:alpha val="12000"/>
            </a:srgbClr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997422" y="6005959"/>
            <a:ext cx="834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238375" y="5946874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96A5C">
              <a:alpha val="10000"/>
            </a:srgbClr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363093" y="6005959"/>
            <a:ext cx="5647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676525" y="5992564"/>
            <a:ext cx="35740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Describe what is inside a place using 里边/里面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400175" y="6365974"/>
            <a:ext cx="7353300" cy="333375"/>
          </a:xfrm>
          <a:prstGeom prst="roundRect">
            <a:avLst>
              <a:gd name="adj" fmla="val 34286"/>
            </a:avLst>
          </a:prstGeom>
          <a:solidFill>
            <a:srgbClr val="B87A30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533525" y="6451699"/>
            <a:ext cx="72283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note:</a:t>
            </a:r>
            <a:r>
              <a:rPr lang="en-US" sz="938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teacher reads the first criterion; a student volunteer reads the second and third — "今天我们做到了吗？"</a:t>
            </a:r>
            <a:endParaRPr lang="en-US" sz="938" dirty="0"/>
          </a:p>
        </p:txBody>
      </p:sp>
      <p:sp>
        <p:nvSpPr>
          <p:cNvPr id="33" name="Text 31"/>
          <p:cNvSpPr/>
          <p:nvPr/>
        </p:nvSpPr>
        <p:spPr>
          <a:xfrm>
            <a:off x="9277350" y="4127599"/>
            <a:ext cx="7867650" cy="2803178"/>
          </a:xfrm>
          <a:prstGeom prst="roundRect">
            <a:avLst>
              <a:gd name="adj" fmla="val 9514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9534525" y="4499074"/>
            <a:ext cx="75003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 (2 MIN)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534525" y="4841974"/>
            <a:ext cx="7353300" cy="788640"/>
          </a:xfrm>
          <a:prstGeom prst="rect">
            <a:avLst/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9558338" y="4841974"/>
            <a:ext cx="0" cy="788640"/>
          </a:xfrm>
          <a:prstGeom prst="line">
            <a:avLst/>
          </a:prstGeom>
          <a:noFill/>
          <a:ln w="47625">
            <a:solidFill>
              <a:srgbClr val="2E7D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753600" y="4975324"/>
            <a:ext cx="71020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 — WRITE ONE SENTENCE ON MINI WHITEBOARD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9753600" y="5203924"/>
            <a:ext cx="710203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我的书包里边有</a:t>
            </a:r>
            <a:r>
              <a:rPr lang="en-US" sz="16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和</a:t>
            </a:r>
            <a:r>
              <a:rPr lang="en-US" sz="16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9534525" y="5744914"/>
            <a:ext cx="7500366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Must include:</a:t>
            </a:r>
            <a:endParaRPr lang="en-US" sz="975" dirty="0"/>
          </a:p>
        </p:txBody>
      </p:sp>
      <p:sp>
        <p:nvSpPr>
          <p:cNvPr id="40" name="Text 38"/>
          <p:cNvSpPr/>
          <p:nvPr/>
        </p:nvSpPr>
        <p:spPr>
          <a:xfrm>
            <a:off x="9534525" y="6216402"/>
            <a:ext cx="750036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circulates and scans whiteboards for correct word choice.</a:t>
            </a:r>
            <a:endParaRPr lang="en-US" sz="975" dirty="0"/>
          </a:p>
        </p:txBody>
      </p:sp>
      <p:sp>
        <p:nvSpPr>
          <p:cNvPr id="41" name="Text 39"/>
          <p:cNvSpPr/>
          <p:nvPr/>
        </p:nvSpPr>
        <p:spPr>
          <a:xfrm>
            <a:off x="1143000" y="7121277"/>
            <a:ext cx="16002000" cy="457200"/>
          </a:xfrm>
          <a:prstGeom prst="rect">
            <a:avLst/>
          </a:prstGeom>
          <a:solidFill>
            <a:srgbClr val="3A5F8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1166813" y="7121277"/>
            <a:ext cx="0" cy="457200"/>
          </a:xfrm>
          <a:prstGeom prst="line">
            <a:avLst/>
          </a:prstGeom>
          <a:noFill/>
          <a:ln w="47625">
            <a:solidFill>
              <a:srgbClr val="3A5F8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00175" y="7235577"/>
            <a:ext cx="15845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Preview: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"下一课，我们要学一个新句型——'一……就……'，还有十二个新汉字。"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5143500"/>
            <a:ext cx="4663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0"/>
              </a:lnSpc>
              <a:buNone/>
            </a:pPr>
            <a:r>
              <a:rPr lang="en-US" sz="36000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店</a:t>
            </a:r>
            <a:endParaRPr lang="en-US" sz="36000" dirty="0"/>
          </a:p>
        </p:txBody>
      </p:sp>
      <p:sp>
        <p:nvSpPr>
          <p:cNvPr id="3" name="Text 1"/>
          <p:cNvSpPr/>
          <p:nvPr/>
        </p:nvSpPr>
        <p:spPr>
          <a:xfrm>
            <a:off x="2822702" y="2280047"/>
            <a:ext cx="126424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1 COMPLETE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2822702" y="2699147"/>
            <a:ext cx="12642446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00"/>
              </a:lnSpc>
              <a:buNone/>
            </a:pPr>
            <a:r>
              <a:rPr lang="en-US" sz="75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2822702" y="3842147"/>
            <a:ext cx="1264244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7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今天学了 · What We Covered</a:t>
            </a:r>
            <a:endParaRPr lang="en-US" sz="3750" dirty="0"/>
          </a:p>
        </p:txBody>
      </p:sp>
      <p:sp>
        <p:nvSpPr>
          <p:cNvPr id="6" name="Text 4"/>
          <p:cNvSpPr/>
          <p:nvPr/>
        </p:nvSpPr>
        <p:spPr>
          <a:xfrm>
            <a:off x="2822702" y="4623197"/>
            <a:ext cx="1264244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75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 stationery items · Text 1 (文具店) · 里边/里面 · 我们学校有一个文具店，里边有……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2946648" y="5394722"/>
            <a:ext cx="12394555" cy="2059781"/>
          </a:xfrm>
          <a:prstGeom prst="roundRect">
            <a:avLst>
              <a:gd name="adj" fmla="val 12948"/>
            </a:avLst>
          </a:prstGeom>
          <a:solidFill>
            <a:srgbClr val="F4F2EE"/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308477" y="5718572"/>
            <a:ext cx="116708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下一课 · NEXT LESSON (L2)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308477" y="6023372"/>
            <a:ext cx="11670896" cy="1107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06"/>
              </a:lnSpc>
              <a:buNone/>
            </a:pPr>
            <a:r>
              <a:rPr lang="en-US" sz="18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下一课，我们要学一个新句型——</a:t>
            </a:r>
            <a:r>
              <a:rPr lang="en-US" sz="187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"一……就……"</a:t>
            </a:r>
            <a:r>
              <a:rPr lang="en-US" sz="18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，还有</a:t>
            </a:r>
            <a:r>
              <a:rPr lang="en-US" sz="187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十二个新汉字</a:t>
            </a:r>
            <a:r>
              <a:rPr lang="en-US" sz="18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875" dirty="0"/>
          </a:p>
          <a:p>
            <a:pPr algn="ctr" indent="0" marL="0">
              <a:lnSpc>
                <a:spcPts val="2906"/>
              </a:lnSpc>
              <a:buNone/>
            </a:pPr>
            <a:endParaRPr lang="en-US" sz="1875" dirty="0"/>
          </a:p>
          <a:p>
            <a:pPr algn="ctr" indent="0" marL="0">
              <a:lnSpc>
                <a:spcPts val="2906"/>
              </a:lnSpc>
              <a:buNone/>
            </a:pPr>
            <a:r>
              <a:rPr lang="en-US" sz="18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Next lesson: the new grammar pattern </a:t>
            </a:r>
            <a:endParaRPr lang="en-US" sz="1875" dirty="0"/>
          </a:p>
          <a:p>
            <a:pPr algn="ctr" indent="0" marL="0">
              <a:lnSpc>
                <a:spcPts val="2906"/>
              </a:lnSpc>
              <a:buNone/>
            </a:pPr>
            <a:r>
              <a:rPr lang="en-US" sz="187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一……就……</a:t>
            </a:r>
            <a:r>
              <a:rPr lang="en-US" sz="18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("as soon as… then…"), plus 12 new characters.</a:t>
            </a:r>
            <a:endParaRPr lang="en-US" sz="18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2026-07-25T11:15:49Z</dcterms:created>
  <dcterms:modified xsi:type="dcterms:W3CDTF">2026-07-25T11:15:49Z</dcterms:modified>
</cp:coreProperties>
</file>