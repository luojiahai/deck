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具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7618065" y="2237482"/>
            <a:ext cx="3051870" cy="266700"/>
          </a:xfrm>
          <a:prstGeom prst="roundRect">
            <a:avLst>
              <a:gd name="adj" fmla="val 3567857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81857" y="2285107"/>
            <a:ext cx="27242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LESSON · TEST 3.3 PREP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257800" y="2732782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OF 8 · Y9 UNIT 3 · FINAL LESSON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57800" y="3228082"/>
            <a:ext cx="7772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7500" dirty="0"/>
          </a:p>
        </p:txBody>
      </p:sp>
      <p:sp>
        <p:nvSpPr>
          <p:cNvPr id="7" name="Text 5"/>
          <p:cNvSpPr/>
          <p:nvPr/>
        </p:nvSpPr>
        <p:spPr>
          <a:xfrm>
            <a:off x="5257800" y="5201543"/>
            <a:ext cx="777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0"/>
              </a:lnSpc>
              <a:spcBef>
                <a:spcPts val="8040"/>
              </a:spcBef>
              <a:spcAft>
                <a:spcPts val="600"/>
              </a:spcAft>
              <a:buNone/>
            </a:pPr>
            <a:r>
              <a:rPr lang="en-US" sz="12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</a:t>
            </a:r>
            <a:r>
              <a:rPr lang="en-US" sz="1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2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5257800" y="6801743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+ Test 3.3 Prep — Stationery 文具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287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WARM-UP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2573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Quick-Fire 快速问答 · 10 Items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1981200"/>
            <a:ext cx="8039100" cy="1306711"/>
          </a:xfrm>
          <a:prstGeom prst="roundRect">
            <a:avLst>
              <a:gd name="adj" fmla="val 874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52525" y="245358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97037" y="2520255"/>
            <a:ext cx="74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9296400" y="1981200"/>
            <a:ext cx="8039100" cy="1306711"/>
          </a:xfrm>
          <a:prstGeom prst="roundRect">
            <a:avLst>
              <a:gd name="adj" fmla="val 874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496425" y="245358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25013" y="2520255"/>
            <a:ext cx="106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952500" y="3402211"/>
            <a:ext cx="8039100" cy="1306860"/>
          </a:xfrm>
          <a:prstGeom prst="roundRect">
            <a:avLst>
              <a:gd name="adj" fmla="val 87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52525" y="3874591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82303" y="3941266"/>
            <a:ext cx="104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296400" y="3402211"/>
            <a:ext cx="8039100" cy="1306860"/>
          </a:xfrm>
          <a:prstGeom prst="roundRect">
            <a:avLst>
              <a:gd name="adj" fmla="val 87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496425" y="3874591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29775" y="3941266"/>
            <a:ext cx="97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952500" y="4823371"/>
            <a:ext cx="8039100" cy="1306860"/>
          </a:xfrm>
          <a:prstGeom prst="roundRect">
            <a:avLst>
              <a:gd name="adj" fmla="val 87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52525" y="5295751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81857" y="5362426"/>
            <a:ext cx="105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9296400" y="4823371"/>
            <a:ext cx="8039100" cy="1306860"/>
          </a:xfrm>
          <a:prstGeom prst="roundRect">
            <a:avLst>
              <a:gd name="adj" fmla="val 87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496425" y="5295751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25310" y="5362426"/>
            <a:ext cx="106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952500" y="6244530"/>
            <a:ext cx="8039100" cy="1306860"/>
          </a:xfrm>
          <a:prstGeom prst="roundRect">
            <a:avLst>
              <a:gd name="adj" fmla="val 87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52525" y="6716911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81261" y="6783586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9296400" y="6244530"/>
            <a:ext cx="8039100" cy="1306860"/>
          </a:xfrm>
          <a:prstGeom prst="roundRect">
            <a:avLst>
              <a:gd name="adj" fmla="val 87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496425" y="6716911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625013" y="6783586"/>
            <a:ext cx="106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952500" y="7665690"/>
            <a:ext cx="8039100" cy="1306860"/>
          </a:xfrm>
          <a:prstGeom prst="roundRect">
            <a:avLst>
              <a:gd name="adj" fmla="val 87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52525" y="8138071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82005" y="8204746"/>
            <a:ext cx="104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9296400" y="7665690"/>
            <a:ext cx="8039100" cy="1306860"/>
          </a:xfrm>
          <a:prstGeom prst="roundRect">
            <a:avLst>
              <a:gd name="adj" fmla="val 87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496425" y="8138071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88550" y="8204746"/>
            <a:ext cx="181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952500" y="9124950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430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GOALS · 课堂目标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Learning Intention &amp; Success Criteria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" y="2162175"/>
            <a:ext cx="16383000" cy="1763018"/>
          </a:xfrm>
          <a:prstGeom prst="roundRect">
            <a:avLst>
              <a:gd name="adj" fmla="val 10805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6350" y="24098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76363" y="2476500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828800" y="2500313"/>
            <a:ext cx="33459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学习目标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76350" y="2962275"/>
            <a:ext cx="1605000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consolidating all Lesson 9 vocabulary and sentence patterns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preparing accurate written responses for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3.3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76350" y="3382268"/>
            <a:ext cx="160500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我们正在巩固第九课所有的词汇和句型，准备好考试 3.3 需要的书面答案。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2500" y="4191893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 · 成功标准 — 我能……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4496693"/>
            <a:ext cx="16383000" cy="981075"/>
          </a:xfrm>
          <a:prstGeom prst="roundRect">
            <a:avLst>
              <a:gd name="adj" fmla="val 1165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52500" y="4501455"/>
            <a:ext cx="16383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30738" y="4496693"/>
            <a:ext cx="0" cy="981075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2500" y="5473005"/>
            <a:ext cx="16383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1550" y="4496693"/>
            <a:ext cx="0" cy="981075"/>
          </a:xfrm>
          <a:prstGeom prst="line">
            <a:avLst/>
          </a:prstGeom>
          <a:noFill/>
          <a:ln w="38100">
            <a:solidFill>
              <a:srgbClr val="3A5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9200" y="471576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45853" y="4753868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52600" y="4696718"/>
            <a:ext cx="45916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我能翻译 Lesson 9 所有测验词汇（</a:t>
            </a:r>
            <a:r>
              <a:rPr lang="en-US" sz="16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中文 ↔ 英文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）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752600" y="5049143"/>
            <a:ext cx="45916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translate all Test 3.3 vocabulary in both directions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2500" y="5611118"/>
            <a:ext cx="16383000" cy="981075"/>
          </a:xfrm>
          <a:prstGeom prst="roundRect">
            <a:avLst>
              <a:gd name="adj" fmla="val 1165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52500" y="5615880"/>
            <a:ext cx="16383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30738" y="5611118"/>
            <a:ext cx="0" cy="981075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500" y="6587430"/>
            <a:ext cx="16383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1550" y="5611118"/>
            <a:ext cx="0" cy="981075"/>
          </a:xfrm>
          <a:prstGeom prst="line">
            <a:avLst/>
          </a:prstGeom>
          <a:noFill/>
          <a:ln w="38100">
            <a:solidFill>
              <a:srgbClr val="2E7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9200" y="583019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45853" y="5868293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752600" y="5811143"/>
            <a:ext cx="53867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我能正确使用 </a:t>
            </a:r>
            <a:r>
              <a:rPr lang="en-US" sz="16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"一……就……"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和 </a:t>
            </a:r>
            <a:r>
              <a:rPr lang="en-US" sz="16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结果补语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造句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752600" y="6163568"/>
            <a:ext cx="5386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correctly use 一……就…… and complement of result in sentences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2500" y="6725543"/>
            <a:ext cx="16383000" cy="981075"/>
          </a:xfrm>
          <a:prstGeom prst="roundRect">
            <a:avLst>
              <a:gd name="adj" fmla="val 1165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52500" y="6730305"/>
            <a:ext cx="16383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330738" y="6725543"/>
            <a:ext cx="0" cy="981075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2500" y="7701855"/>
            <a:ext cx="16383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1550" y="6725543"/>
            <a:ext cx="0" cy="981075"/>
          </a:xfrm>
          <a:prstGeom prst="line">
            <a:avLst/>
          </a:prstGeom>
          <a:noFill/>
          <a:ln w="38100">
            <a:solidFill>
              <a:srgbClr val="C96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19200" y="694461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345853" y="6982718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752600" y="6925568"/>
            <a:ext cx="59502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我能写出 </a:t>
            </a:r>
            <a:r>
              <a:rPr lang="en-US" sz="16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个正确的中文句子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，对应英文提示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752600" y="7277993"/>
            <a:ext cx="595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5 correct Chinese sentences from English prompts, Test 3.3 format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990600"/>
            <a:ext cx="3030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Test 3.3 · 词汇总表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9077325"/>
            <a:ext cx="16764000" cy="561975"/>
          </a:xfrm>
          <a:prstGeom prst="roundRect">
            <a:avLst>
              <a:gd name="adj" fmla="val 20339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0125" y="9224963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33500" y="9163050"/>
            <a:ext cx="9620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3 items are grammar/pattern words, not standalone nouns — know how they function in a sentence, not just their meaning.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333500" y="9382125"/>
            <a:ext cx="9620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 (12) is the paired pattern frame · 支 (17) is the measure word for pens/pencils · 就 (20) also appears alone meaning "right away"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47750"/>
            <a:ext cx="147675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句型总结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2590800" y="1238250"/>
            <a:ext cx="4069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Key Sentence Patterns · Review &amp; Produce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952500" y="1724025"/>
            <a:ext cx="5359301" cy="984349"/>
          </a:xfrm>
          <a:prstGeom prst="roundRect">
            <a:avLst>
              <a:gd name="adj" fmla="val 1161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71575" y="19240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02693" y="1976438"/>
            <a:ext cx="82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66875" y="1905000"/>
            <a:ext cx="451436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一……就……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as soon as X, Y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681163" y="2270224"/>
            <a:ext cx="0" cy="257175"/>
          </a:xfrm>
          <a:prstGeom prst="line">
            <a:avLst/>
          </a:prstGeom>
          <a:noFill/>
          <a:ln w="28575">
            <a:solidFill>
              <a:srgbClr val="CFC9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9750" y="2270224"/>
            <a:ext cx="43686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3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进校门</a:t>
            </a:r>
            <a:r>
              <a:rPr lang="en-US" sz="13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能看见图书馆。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64201" y="1724025"/>
            <a:ext cx="5359450" cy="984349"/>
          </a:xfrm>
          <a:prstGeom prst="roundRect">
            <a:avLst>
              <a:gd name="adj" fmla="val 1161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83276" y="19240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14393" y="1976438"/>
            <a:ext cx="82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576" y="1905000"/>
            <a:ext cx="4514520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Verb + </a:t>
            </a:r>
            <a:r>
              <a:rPr lang="en-US" sz="157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结果补语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complement of result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7192863" y="2270224"/>
            <a:ext cx="0" cy="257175"/>
          </a:xfrm>
          <a:prstGeom prst="line">
            <a:avLst/>
          </a:prstGeom>
          <a:noFill/>
          <a:ln w="28575">
            <a:solidFill>
              <a:srgbClr val="CFC9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1451" y="2270224"/>
            <a:ext cx="43687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我找</a:t>
            </a:r>
            <a:r>
              <a:rPr lang="en-US" sz="13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了铅笔。 / 蛋糕吃</a:t>
            </a:r>
            <a:r>
              <a:rPr lang="en-US" sz="13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光</a:t>
            </a: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976050" y="1724025"/>
            <a:ext cx="5359450" cy="984349"/>
          </a:xfrm>
          <a:prstGeom prst="roundRect">
            <a:avLst>
              <a:gd name="adj" fmla="val 1161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195125" y="19240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326243" y="1976438"/>
            <a:ext cx="82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690425" y="1905000"/>
            <a:ext cx="4514520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57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(borrow) vs </a:t>
            </a:r>
            <a:r>
              <a:rPr lang="en-US" sz="157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借给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(lend)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2704713" y="2270224"/>
            <a:ext cx="0" cy="257175"/>
          </a:xfrm>
          <a:prstGeom prst="line">
            <a:avLst/>
          </a:prstGeom>
          <a:noFill/>
          <a:ln w="28575">
            <a:solidFill>
              <a:srgbClr val="CFC9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33300" y="2270224"/>
            <a:ext cx="43687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3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你的橡皮。 / </a:t>
            </a:r>
            <a:r>
              <a:rPr lang="en-US" sz="13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借给</a:t>
            </a: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我一支用一下。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2500" y="2860774"/>
            <a:ext cx="8115300" cy="984349"/>
          </a:xfrm>
          <a:prstGeom prst="roundRect">
            <a:avLst>
              <a:gd name="adj" fmla="val 1161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71575" y="306079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02693" y="3113187"/>
            <a:ext cx="82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66875" y="3041749"/>
            <a:ext cx="7325487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575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(huán, return) vs </a:t>
            </a:r>
            <a:r>
              <a:rPr lang="en-US" sz="1575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(don't)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1681163" y="3406973"/>
            <a:ext cx="0" cy="257175"/>
          </a:xfrm>
          <a:prstGeom prst="line">
            <a:avLst/>
          </a:prstGeom>
          <a:noFill/>
          <a:ln w="28575">
            <a:solidFill>
              <a:srgbClr val="CFC9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09750" y="3406973"/>
            <a:ext cx="71797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我一会儿就</a:t>
            </a:r>
            <a:r>
              <a:rPr lang="en-US" sz="13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给你。 / </a:t>
            </a:r>
            <a:r>
              <a:rPr lang="en-US" sz="13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r>
              <a:rPr lang="en-US" sz="13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忘记带铅笔。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20200" y="2860774"/>
            <a:ext cx="8115300" cy="984349"/>
          </a:xfrm>
          <a:prstGeom prst="roundRect">
            <a:avLst>
              <a:gd name="adj" fmla="val 1161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439275" y="306079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6A90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70393" y="3113187"/>
            <a:ext cx="82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934575" y="3041749"/>
            <a:ext cx="7325487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575" b="1" dirty="0">
                <a:solidFill>
                  <a:srgbClr val="6A90B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 (informal) vs 可以 (formal)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9948863" y="3406973"/>
            <a:ext cx="0" cy="257175"/>
          </a:xfrm>
          <a:prstGeom prst="line">
            <a:avLst/>
          </a:prstGeom>
          <a:noFill/>
          <a:ln w="28575">
            <a:solidFill>
              <a:srgbClr val="CFC9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77450" y="3406973"/>
            <a:ext cx="71797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行吗？ / 可以吗？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52500" y="4016573"/>
            <a:ext cx="16383000" cy="781943"/>
          </a:xfrm>
          <a:prstGeom prst="roundRect">
            <a:avLst>
              <a:gd name="adj" fmla="val 14617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00150" y="4188023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552575" y="4168973"/>
            <a:ext cx="15845980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 1 · common error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552575" y="4417516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"一……就……" 必须包住两个动作，"就" 不能单独放在句尾！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一……就…… must wrap both actions in the sentence; 就 can never appear alone at the end without the paired 一.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430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16–20 MIN · CFU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0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三个检查点 · 3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103983"/>
            <a:ext cx="5283101" cy="7344817"/>
          </a:xfrm>
          <a:prstGeom prst="roundRect">
            <a:avLst>
              <a:gd name="adj" fmla="val 3606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57300" y="2408783"/>
            <a:ext cx="47669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257300" y="2580233"/>
            <a:ext cx="47669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词汇检查 · Vocab Check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3006923"/>
            <a:ext cx="47669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your whiteboard — show me your translation for: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57300" y="4445198"/>
            <a:ext cx="4673501" cy="695325"/>
          </a:xfrm>
          <a:prstGeom prst="roundRect">
            <a:avLst>
              <a:gd name="adj" fmla="val 16438"/>
            </a:avLst>
          </a:prstGeom>
          <a:solidFill>
            <a:srgbClr val="3A5F8A">
              <a:alpha val="8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19225" y="4569023"/>
            <a:ext cx="44366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419225" y="4759523"/>
            <a:ext cx="443664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Hold-up-whiteboard — teacher scans for errors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57300" y="8982075"/>
            <a:ext cx="47669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on board if needed.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502301" y="2103983"/>
            <a:ext cx="5283250" cy="7344817"/>
          </a:xfrm>
          <a:prstGeom prst="roundRect">
            <a:avLst>
              <a:gd name="adj" fmla="val 3606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07101" y="2408783"/>
            <a:ext cx="4767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2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807101" y="2580233"/>
            <a:ext cx="47671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句型检查 · Pattern Check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07101" y="3006923"/>
            <a:ext cx="47671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</a:t>
            </a:r>
            <a:r>
              <a:rPr lang="en-US" sz="15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</a:t>
            </a: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 using </a:t>
            </a: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07101" y="3464123"/>
            <a:ext cx="4673650" cy="49530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826151" y="3464123"/>
            <a:ext cx="0" cy="495300"/>
          </a:xfrm>
          <a:prstGeom prst="line">
            <a:avLst/>
          </a:prstGeom>
          <a:noFill/>
          <a:ln w="38100">
            <a:solidFill>
              <a:srgbClr val="2E7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7601" y="3559373"/>
            <a:ext cx="44173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807101" y="4111823"/>
            <a:ext cx="4673650" cy="952500"/>
          </a:xfrm>
          <a:prstGeom prst="roundRect">
            <a:avLst>
              <a:gd name="adj" fmla="val 12000"/>
            </a:avLst>
          </a:prstGeom>
          <a:solidFill>
            <a:srgbClr val="2E7D6E">
              <a:alpha val="8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69026" y="4235648"/>
            <a:ext cx="44367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969026" y="4426148"/>
            <a:ext cx="44367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r>
              <a:rPr lang="en-US" sz="13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students.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Class echoes the better one 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052250" y="2103983"/>
            <a:ext cx="5283250" cy="7344817"/>
          </a:xfrm>
          <a:prstGeom prst="roundRect">
            <a:avLst>
              <a:gd name="adj" fmla="val 3606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357050" y="2408783"/>
            <a:ext cx="4767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3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2357050" y="2580233"/>
            <a:ext cx="47671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改错检查 · Error Check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57050" y="3006923"/>
            <a:ext cx="47671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找出错误！</a:t>
            </a: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Project and correct: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57050" y="3464123"/>
            <a:ext cx="4673650" cy="542925"/>
          </a:xfrm>
          <a:prstGeom prst="roundRect">
            <a:avLst>
              <a:gd name="adj" fmla="val 21053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509450" y="3578423"/>
            <a:ext cx="44562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我进校门就看见图书馆。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57050" y="4159448"/>
            <a:ext cx="4673650" cy="952500"/>
          </a:xfrm>
          <a:prstGeom prst="roundRect">
            <a:avLst>
              <a:gd name="adj" fmla="val 12000"/>
            </a:avLst>
          </a:prstGeom>
          <a:solidFill>
            <a:srgbClr val="C96A5C">
              <a:alpha val="8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518975" y="4283273"/>
            <a:ext cx="44367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2518975" y="4473773"/>
            <a:ext cx="44367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r>
              <a:rPr lang="en-US" sz="13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student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fix it.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430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0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检查点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103983"/>
            <a:ext cx="5283101" cy="7344817"/>
          </a:xfrm>
          <a:prstGeom prst="roundRect">
            <a:avLst>
              <a:gd name="adj" fmla="val 3606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57300" y="2408783"/>
            <a:ext cx="47669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257300" y="2580233"/>
            <a:ext cx="47669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词汇检查 · Vocab Check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3006923"/>
            <a:ext cx="4673501" cy="504825"/>
          </a:xfrm>
          <a:prstGeom prst="roundRect">
            <a:avLst>
              <a:gd name="adj" fmla="val 226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57300" y="3664148"/>
            <a:ext cx="4673501" cy="504825"/>
          </a:xfrm>
          <a:prstGeom prst="roundRect">
            <a:avLst>
              <a:gd name="adj" fmla="val 226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02301" y="2103983"/>
            <a:ext cx="5283250" cy="7344817"/>
          </a:xfrm>
          <a:prstGeom prst="roundRect">
            <a:avLst>
              <a:gd name="adj" fmla="val 3606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07101" y="2408783"/>
            <a:ext cx="4767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07101" y="2580233"/>
            <a:ext cx="47671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句型检查 · Pattern Check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07101" y="3006923"/>
            <a:ext cx="4673650" cy="581025"/>
          </a:xfrm>
          <a:prstGeom prst="roundRect">
            <a:avLst>
              <a:gd name="adj" fmla="val 1967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78551" y="3140273"/>
            <a:ext cx="44173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你一进校门就能看见图书馆。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07101" y="3740348"/>
            <a:ext cx="476712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answer — </a:t>
            </a: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accept any valid 一……就…… sentence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that wraps both actions correctly (一 before the first action, 就 before the second).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052250" y="2103983"/>
            <a:ext cx="5283250" cy="7344817"/>
          </a:xfrm>
          <a:prstGeom prst="roundRect">
            <a:avLst>
              <a:gd name="adj" fmla="val 3606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357050" y="2408783"/>
            <a:ext cx="4767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3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2357050" y="2580233"/>
            <a:ext cx="47671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改错检查 · Error Check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57050" y="3406973"/>
            <a:ext cx="4673650" cy="581025"/>
          </a:xfrm>
          <a:prstGeom prst="roundRect">
            <a:avLst>
              <a:gd name="adj" fmla="val 1967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528500" y="3540323"/>
            <a:ext cx="44173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我一进校门就看见图书馆。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57050" y="4197548"/>
            <a:ext cx="47671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Missing 一 — the pattern is always 一……就……, never 就 alone.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68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20–28 MIN · WE DO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295400"/>
            <a:ext cx="1671066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活动1 · 造句练习（引导）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" y="1882973"/>
            <a:ext cx="81998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LIVE · 老师示范 (SENTENCE 1)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52500" y="2140148"/>
            <a:ext cx="8039100" cy="1393478"/>
          </a:xfrm>
          <a:prstGeom prst="roundRect">
            <a:avLst>
              <a:gd name="adj" fmla="val 13671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00150" y="2349698"/>
            <a:ext cx="2102793" cy="247650"/>
          </a:xfrm>
          <a:prstGeom prst="roundRect">
            <a:avLst>
              <a:gd name="adj" fmla="val 384230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33500" y="2387798"/>
            <a:ext cx="18728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THINKS ALOUD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200150" y="2692598"/>
            <a:ext cx="769467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forgot to bring my pencil today."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296400" y="1882973"/>
            <a:ext cx="81998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· 你们试试 (SENTENCE 2, 3 MIN)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296400" y="2140148"/>
            <a:ext cx="8039100" cy="790575"/>
          </a:xfrm>
          <a:prstGeom prst="roundRect">
            <a:avLst>
              <a:gd name="adj" fmla="val 1445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15475" y="232112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16083" y="2368748"/>
            <a:ext cx="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934575" y="2325886"/>
            <a:ext cx="40375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"May I borrow your Chinese textbook?"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934575" y="2735461"/>
            <a:ext cx="7181850" cy="0"/>
          </a:xfrm>
          <a:prstGeom prst="line">
            <a:avLst/>
          </a:prstGeom>
          <a:noFill/>
          <a:ln w="28575">
            <a:solidFill>
              <a:srgbClr val="C96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6400" y="3083123"/>
            <a:ext cx="81998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 · WORD BANK (SCRAMBLED)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2500" y="8763000"/>
            <a:ext cx="8115300" cy="762000"/>
          </a:xfrm>
          <a:prstGeom prst="roundRect">
            <a:avLst>
              <a:gd name="adj" fmla="val 1500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4900" y="8877300"/>
            <a:ext cx="7966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1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104900" y="9067800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attempts Sentence 2 with their partner during turn-and-talk.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220200" y="8763000"/>
            <a:ext cx="8115300" cy="762000"/>
          </a:xfrm>
          <a:prstGeom prst="roundRect">
            <a:avLst>
              <a:gd name="adj" fmla="val 1500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72600" y="8877300"/>
            <a:ext cx="7966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9372600" y="9067800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Produce a second, correct version of Sentence 2 using 行 instead of 可以.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335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造句练习（引导）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2095500"/>
            <a:ext cx="16383000" cy="1409700"/>
          </a:xfrm>
          <a:prstGeom prst="roundRect">
            <a:avLst>
              <a:gd name="adj" fmla="val 13514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19200" y="2305050"/>
            <a:ext cx="161665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"I forgot to bring my pencil today."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19200" y="2619375"/>
            <a:ext cx="161665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我今天忘记带铅笔了。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3676650"/>
            <a:ext cx="16383000" cy="1771650"/>
          </a:xfrm>
          <a:prstGeom prst="roundRect">
            <a:avLst>
              <a:gd name="adj" fmla="val 1075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9200" y="3886200"/>
            <a:ext cx="161665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"May I borrow your Chinese textbook?"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19200" y="4200525"/>
            <a:ext cx="161665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我可以借你的汉语课本吗？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19200" y="4676775"/>
            <a:ext cx="161665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 借你的汉语课本，可以吗？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19200" y="5038725"/>
            <a:ext cx="161665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Accept either word order — both are correct.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52500" y="5600700"/>
            <a:ext cx="16383000" cy="495300"/>
          </a:xfrm>
          <a:prstGeom prst="roundRect">
            <a:avLst>
              <a:gd name="adj" fmla="val 2307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71575" y="5743575"/>
            <a:ext cx="16263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answer: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借你的汉语课本，行吗？ — same meaning, informal register with 行 instead of 可以.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13037" y="838200"/>
            <a:ext cx="2417713" cy="323850"/>
          </a:xfrm>
          <a:prstGeom prst="roundRect">
            <a:avLst>
              <a:gd name="adj" fmla="val 2938235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203537" y="904875"/>
            <a:ext cx="20774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+ 3 MIN · SILENT 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7250" y="971550"/>
            <a:ext cx="16904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28–38 MIN · YOU DO · INDEPENDENT, TIMED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57250" y="1181100"/>
            <a:ext cx="1690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活动2 · 计时练习 Timed Practice Test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57250" y="1733550"/>
            <a:ext cx="95638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1 · 句子翻译 (7 MIN) — REMAINING 3 SENTENCES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7250" y="1971675"/>
            <a:ext cx="9376321" cy="495300"/>
          </a:xfrm>
          <a:prstGeom prst="roundRect">
            <a:avLst>
              <a:gd name="adj" fmla="val 2307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19175" y="21145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7579" y="2147888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62075" y="2095500"/>
            <a:ext cx="50352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"As soon as you enter the school gate, you can see the library."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7250" y="2562225"/>
            <a:ext cx="9376321" cy="495300"/>
          </a:xfrm>
          <a:prstGeom prst="roundRect">
            <a:avLst>
              <a:gd name="adj" fmla="val 2307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19175" y="27051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97161" y="273843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62075" y="2686050"/>
            <a:ext cx="31475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can return your calculator tomorrow."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7250" y="3152775"/>
            <a:ext cx="9376321" cy="495300"/>
          </a:xfrm>
          <a:prstGeom prst="roundRect">
            <a:avLst>
              <a:gd name="adj" fmla="val 2307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19175" y="32956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6863" y="332898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62075" y="3276600"/>
            <a:ext cx="24961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"Don't forget your pencil case."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7250" y="3743325"/>
            <a:ext cx="95638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independently against a visible 7-minute countdown. Answers revealed &amp; self-marked next slide →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500271" y="1733550"/>
            <a:ext cx="6930479" cy="3686175"/>
          </a:xfrm>
          <a:prstGeom prst="roundRect">
            <a:avLst>
              <a:gd name="adj" fmla="val 5168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728871" y="1924050"/>
            <a:ext cx="66027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2 · 词汇检查 (3 MIN) — 8 ITEMS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8871" y="2181225"/>
            <a:ext cx="66027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translation for each item. Direction is </a:t>
            </a: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mixed</a:t>
            </a: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read carefully.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28871" y="2505075"/>
            <a:ext cx="3198465" cy="390525"/>
          </a:xfrm>
          <a:prstGeom prst="roundRect">
            <a:avLst>
              <a:gd name="adj" fmla="val 14634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003536" y="2505075"/>
            <a:ext cx="3198614" cy="390525"/>
          </a:xfrm>
          <a:prstGeom prst="roundRect">
            <a:avLst>
              <a:gd name="adj" fmla="val 14634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728871" y="2971800"/>
            <a:ext cx="3198465" cy="390525"/>
          </a:xfrm>
          <a:prstGeom prst="roundRect">
            <a:avLst>
              <a:gd name="adj" fmla="val 14634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4003536" y="2971800"/>
            <a:ext cx="3198614" cy="390525"/>
          </a:xfrm>
          <a:prstGeom prst="roundRect">
            <a:avLst>
              <a:gd name="adj" fmla="val 14634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728871" y="3438525"/>
            <a:ext cx="3198465" cy="390525"/>
          </a:xfrm>
          <a:prstGeom prst="roundRect">
            <a:avLst>
              <a:gd name="adj" fmla="val 14634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4003536" y="3438525"/>
            <a:ext cx="3198614" cy="390525"/>
          </a:xfrm>
          <a:prstGeom prst="roundRect">
            <a:avLst>
              <a:gd name="adj" fmla="val 14634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728871" y="3905250"/>
            <a:ext cx="3198465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003536" y="3905250"/>
            <a:ext cx="3198614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728871" y="4352925"/>
            <a:ext cx="6473279" cy="609600"/>
          </a:xfrm>
          <a:prstGeom prst="roundRect">
            <a:avLst>
              <a:gd name="adj" fmla="val 1875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890796" y="4457700"/>
            <a:ext cx="62724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 a 6th sentence of your own choosing using any two patterns from today's summary table.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728871" y="5057775"/>
            <a:ext cx="66027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reveals model answers next — students self-mark both sections.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009650"/>
            <a:ext cx="16904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57250" y="1238250"/>
            <a:ext cx="1690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Part 1 &amp; Part 2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857250" y="1847850"/>
            <a:ext cx="95638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1 · 句子翻译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7250" y="2085975"/>
            <a:ext cx="9376321" cy="790575"/>
          </a:xfrm>
          <a:prstGeom prst="roundRect">
            <a:avLst>
              <a:gd name="adj" fmla="val 14458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19175" y="2209800"/>
            <a:ext cx="9233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"As soon as you enter the school gate, you can see the library."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19175" y="2438400"/>
            <a:ext cx="92335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你一进校门就能看见图书馆。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7250" y="2971800"/>
            <a:ext cx="9376321" cy="790575"/>
          </a:xfrm>
          <a:prstGeom prst="roundRect">
            <a:avLst>
              <a:gd name="adj" fmla="val 14458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19175" y="3095625"/>
            <a:ext cx="9233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can return your calculator tomorrow."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19175" y="3324225"/>
            <a:ext cx="92335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我明天可以还给你计算器。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7250" y="3857625"/>
            <a:ext cx="9376321" cy="790575"/>
          </a:xfrm>
          <a:prstGeom prst="roundRect">
            <a:avLst>
              <a:gd name="adj" fmla="val 14458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19175" y="3981450"/>
            <a:ext cx="9233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"Don't forget your pencil case."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19175" y="4210050"/>
            <a:ext cx="92335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别忘记带你的文具盒。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00271" y="1847850"/>
            <a:ext cx="6930479" cy="7210425"/>
          </a:xfrm>
          <a:prstGeom prst="roundRect">
            <a:avLst>
              <a:gd name="adj" fmla="val 2749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709821" y="2019300"/>
            <a:ext cx="66416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2 · 词汇检查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09821" y="2257425"/>
            <a:ext cx="3217515" cy="381000"/>
          </a:xfrm>
          <a:prstGeom prst="roundRect">
            <a:avLst>
              <a:gd name="adj" fmla="val 15000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003536" y="2257425"/>
            <a:ext cx="3217664" cy="381000"/>
          </a:xfrm>
          <a:prstGeom prst="roundRect">
            <a:avLst>
              <a:gd name="adj" fmla="val 15000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709821" y="2714625"/>
            <a:ext cx="3217515" cy="381000"/>
          </a:xfrm>
          <a:prstGeom prst="roundRect">
            <a:avLst>
              <a:gd name="adj" fmla="val 15000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003536" y="2714625"/>
            <a:ext cx="3217664" cy="381000"/>
          </a:xfrm>
          <a:prstGeom prst="roundRect">
            <a:avLst>
              <a:gd name="adj" fmla="val 15000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709821" y="3171825"/>
            <a:ext cx="3217515" cy="381000"/>
          </a:xfrm>
          <a:prstGeom prst="roundRect">
            <a:avLst>
              <a:gd name="adj" fmla="val 15000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003536" y="3171825"/>
            <a:ext cx="3217664" cy="381000"/>
          </a:xfrm>
          <a:prstGeom prst="roundRect">
            <a:avLst>
              <a:gd name="adj" fmla="val 15000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709821" y="3629025"/>
            <a:ext cx="3217515" cy="381000"/>
          </a:xfrm>
          <a:prstGeom prst="roundRect">
            <a:avLst>
              <a:gd name="adj" fmla="val 15000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4003536" y="3629025"/>
            <a:ext cx="3217664" cy="381000"/>
          </a:xfrm>
          <a:prstGeom prst="roundRect">
            <a:avLst>
              <a:gd name="adj" fmla="val 15000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57250" y="9172575"/>
            <a:ext cx="16573500" cy="409575"/>
          </a:xfrm>
          <a:prstGeom prst="roundRect">
            <a:avLst>
              <a:gd name="adj" fmla="val 27907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57275" y="9277350"/>
            <a:ext cx="164969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Self-mark both sections now.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Accept minor word-order variants in Part 1 if the meaning and pattern are correct.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38–39 MIN · GAME · ROUND 1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14450"/>
            <a:ext cx="1671066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复习问答接力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52500" y="1836390"/>
            <a:ext cx="167106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词汇闪卡 · Vocab Flash Cards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2500" y="2160240"/>
            <a:ext cx="16383000" cy="361950"/>
          </a:xfrm>
          <a:prstGeom prst="roundRect">
            <a:avLst>
              <a:gd name="adj" fmla="val 2628947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71575" y="2226915"/>
            <a:ext cx="5289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r>
              <a:rPr lang="en-US" sz="1275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Chinese → Teams call out English. First team wins the point!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952500" y="2769840"/>
            <a:ext cx="2679650" cy="12573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17856" y="3112740"/>
            <a:ext cx="174879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3898850" y="2769840"/>
            <a:ext cx="2679650" cy="12573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64206" y="3112740"/>
            <a:ext cx="174879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6845201" y="2769840"/>
            <a:ext cx="2679799" cy="12573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93635" y="3112740"/>
            <a:ext cx="5829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952500" y="4736753"/>
            <a:ext cx="13265200" cy="533400"/>
          </a:xfrm>
          <a:prstGeom prst="roundRect">
            <a:avLst>
              <a:gd name="adj" fmla="val 21429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484400" y="4293840"/>
            <a:ext cx="2851100" cy="1419225"/>
          </a:xfrm>
          <a:prstGeom prst="roundRect">
            <a:avLst>
              <a:gd name="adj" fmla="val 13423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786216" y="4465290"/>
            <a:ext cx="22474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928056" y="4722465"/>
            <a:ext cx="571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4808250" y="4970115"/>
            <a:ext cx="8001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036850" y="5017740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798850" y="5055840"/>
            <a:ext cx="2266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330910" y="4722465"/>
            <a:ext cx="5724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B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6211550" y="4970115"/>
            <a:ext cx="8001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440150" y="5017740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14450"/>
            <a:ext cx="1671066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Round 1 · 词汇闪卡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52500" y="2084040"/>
            <a:ext cx="2679650" cy="1603921"/>
          </a:xfrm>
          <a:prstGeom prst="roundRect">
            <a:avLst>
              <a:gd name="adj" fmla="val 11877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51028" y="2388840"/>
            <a:ext cx="1282446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62050" y="2983111"/>
            <a:ext cx="2260550" cy="438150"/>
          </a:xfrm>
          <a:prstGeom prst="roundRect">
            <a:avLst>
              <a:gd name="adj" fmla="val 26087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04608" y="3068836"/>
            <a:ext cx="1975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 sharpener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98850" y="2084040"/>
            <a:ext cx="2679650" cy="1603921"/>
          </a:xfrm>
          <a:prstGeom prst="roundRect">
            <a:avLst>
              <a:gd name="adj" fmla="val 11877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97378" y="2388840"/>
            <a:ext cx="1282446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108400" y="2983111"/>
            <a:ext cx="2260550" cy="438150"/>
          </a:xfrm>
          <a:prstGeom prst="roundRect">
            <a:avLst>
              <a:gd name="adj" fmla="val 26087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50958" y="3068836"/>
            <a:ext cx="1975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45201" y="2084040"/>
            <a:ext cx="2679799" cy="1603921"/>
          </a:xfrm>
          <a:prstGeom prst="roundRect">
            <a:avLst>
              <a:gd name="adj" fmla="val 11877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71359" y="2388840"/>
            <a:ext cx="427482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7054751" y="2983111"/>
            <a:ext cx="2260699" cy="438150"/>
          </a:xfrm>
          <a:prstGeom prst="roundRect">
            <a:avLst>
              <a:gd name="adj" fmla="val 26087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97307" y="3068836"/>
            <a:ext cx="1975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don't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68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39–41 MIN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2954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Round 2 · 改错句 · Correct the Sentence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" y="1914525"/>
            <a:ext cx="167106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Teams confer </a:t>
            </a:r>
            <a:r>
              <a:rPr lang="en-US" sz="15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seconds</a:t>
            </a: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then hold up books. </a:t>
            </a:r>
            <a:r>
              <a:rPr lang="en-US" sz="15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team reads the correction aloud for the point!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500" y="2428875"/>
            <a:ext cx="16383000" cy="952500"/>
          </a:xfrm>
          <a:prstGeom prst="roundRect">
            <a:avLst>
              <a:gd name="adj" fmla="val 20000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57300" y="269557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22053" y="2771775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5950" y="2676525"/>
            <a:ext cx="4046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❌ 我进校门就看见图书馆。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52500" y="3552825"/>
            <a:ext cx="16383000" cy="952500"/>
          </a:xfrm>
          <a:prstGeom prst="roundRect">
            <a:avLst>
              <a:gd name="adj" fmla="val 20000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57300" y="38195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22053" y="3895725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85950" y="3800475"/>
            <a:ext cx="33858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❌ 我一会儿就借给你。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52500" y="4714875"/>
            <a:ext cx="16383000" cy="438150"/>
          </a:xfrm>
          <a:prstGeom prst="roundRect">
            <a:avLst>
              <a:gd name="adj" fmla="val 26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2025" y="4752975"/>
            <a:ext cx="1451521" cy="3619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408783" y="4752975"/>
            <a:ext cx="0" cy="36195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525" y="4848225"/>
            <a:ext cx="10822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SCOREBOARD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3419029" y="4724400"/>
            <a:ext cx="0" cy="41910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4046" y="4819650"/>
            <a:ext cx="632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A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3423791" y="4733925"/>
            <a:ext cx="6441132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9860161" y="4733925"/>
            <a:ext cx="0" cy="40005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64923" y="4733925"/>
            <a:ext cx="9525" cy="400050"/>
          </a:xfrm>
          <a:prstGeom prst="rect">
            <a:avLst/>
          </a:prstGeom>
          <a:solidFill>
            <a:srgbClr val="CFC9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0881122" y="4724400"/>
            <a:ext cx="0" cy="41910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64948" y="4819650"/>
            <a:ext cx="6333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B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0885884" y="4733925"/>
            <a:ext cx="6440091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7321213" y="4733925"/>
            <a:ext cx="0" cy="40005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500" y="5286375"/>
            <a:ext cx="16383000" cy="38100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43000" y="5381625"/>
            <a:ext cx="16322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52500" y="5762625"/>
            <a:ext cx="16383000" cy="438150"/>
          </a:xfrm>
          <a:prstGeom prst="roundRect">
            <a:avLst>
              <a:gd name="adj" fmla="val 26087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68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2954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Round 2 · 改错句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" y="2085975"/>
            <a:ext cx="16383000" cy="1666875"/>
          </a:xfrm>
          <a:prstGeom prst="roundRect">
            <a:avLst>
              <a:gd name="adj" fmla="val 11429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57300" y="231457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07468" y="2386013"/>
            <a:ext cx="82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790700" y="2809875"/>
            <a:ext cx="15544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我一进校门就看见图书馆。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790700" y="3324225"/>
            <a:ext cx="1554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Missing 一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the pattern is always 一……就……, never 就 alone.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52500" y="3924300"/>
            <a:ext cx="16383000" cy="1666875"/>
          </a:xfrm>
          <a:prstGeom prst="roundRect">
            <a:avLst>
              <a:gd name="adj" fmla="val 11429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57300" y="41529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07468" y="4224338"/>
            <a:ext cx="82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90700" y="4648200"/>
            <a:ext cx="15544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我一会儿就还给你。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790700" y="5162550"/>
            <a:ext cx="1554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借给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(to lend) confused with </a:t>
            </a: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还给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(to return) — returning something you borrowed uses 还, not 借.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52500" y="5781675"/>
            <a:ext cx="16383000" cy="4572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71575" y="5905500"/>
            <a:ext cx="16263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 point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awarded if the team also correctly named which word was missing or wrong.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41–43 MIN · GAME · ROUND 3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14450"/>
            <a:ext cx="1671066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复习问答接力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52500" y="1836390"/>
            <a:ext cx="167106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量词问答 · Measure Word Challenge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2500" y="2160240"/>
            <a:ext cx="16383000" cy="361950"/>
          </a:xfrm>
          <a:prstGeom prst="roundRect">
            <a:avLst>
              <a:gd name="adj" fmla="val 2628947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71575" y="2226915"/>
            <a:ext cx="6055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Teams write the correct measure word — hold up books for the point!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952500" y="2769840"/>
            <a:ext cx="2679650" cy="1173361"/>
          </a:xfrm>
          <a:prstGeom prst="roundRect">
            <a:avLst>
              <a:gd name="adj" fmla="val 16235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20701" y="3112740"/>
            <a:ext cx="194310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3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3898850" y="2769840"/>
            <a:ext cx="2679650" cy="1173361"/>
          </a:xfrm>
          <a:prstGeom prst="roundRect">
            <a:avLst>
              <a:gd name="adj" fmla="val 16235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67051" y="3112740"/>
            <a:ext cx="194310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3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845201" y="2769840"/>
            <a:ext cx="2679799" cy="1173361"/>
          </a:xfrm>
          <a:prstGeom prst="roundRect">
            <a:avLst>
              <a:gd name="adj" fmla="val 16235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13550" y="3112740"/>
            <a:ext cx="194310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3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52500" y="4652814"/>
            <a:ext cx="13265200" cy="533400"/>
          </a:xfrm>
          <a:prstGeom prst="roundRect">
            <a:avLst>
              <a:gd name="adj" fmla="val 21429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484400" y="4209901"/>
            <a:ext cx="2851100" cy="1419225"/>
          </a:xfrm>
          <a:prstGeom prst="roundRect">
            <a:avLst>
              <a:gd name="adj" fmla="val 13423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786216" y="4381351"/>
            <a:ext cx="22474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928056" y="4638526"/>
            <a:ext cx="571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4808250" y="4886176"/>
            <a:ext cx="8001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036850" y="4933801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798850" y="4971901"/>
            <a:ext cx="2266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330910" y="4638526"/>
            <a:ext cx="5724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B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6211550" y="4886176"/>
            <a:ext cx="8001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440150" y="4933801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14450"/>
            <a:ext cx="1671066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Round 3 · 量词问答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52500" y="2084040"/>
            <a:ext cx="2679650" cy="1032421"/>
          </a:xfrm>
          <a:prstGeom prst="roundRect">
            <a:avLst>
              <a:gd name="adj" fmla="val 18452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37287" y="2388840"/>
            <a:ext cx="1709928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33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r>
              <a:rPr lang="en-US" sz="3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898850" y="2084040"/>
            <a:ext cx="2679650" cy="1032421"/>
          </a:xfrm>
          <a:prstGeom prst="roundRect">
            <a:avLst>
              <a:gd name="adj" fmla="val 18452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83637" y="2388840"/>
            <a:ext cx="1709928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33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</a:t>
            </a:r>
            <a:r>
              <a:rPr lang="en-US" sz="3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45201" y="2084040"/>
            <a:ext cx="2679799" cy="1032421"/>
          </a:xfrm>
          <a:prstGeom prst="roundRect">
            <a:avLst>
              <a:gd name="adj" fmla="val 18452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  <a:effectLst>
            <a:outerShdw sx="100000" sy="100000" kx="0" ky="0" algn="bl" rotWithShape="0" blurRad="114300" dist="19050" dir="5400000">
              <a:srgbClr val="1a253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30136" y="2388840"/>
            <a:ext cx="1709928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33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r>
              <a:rPr lang="en-US" sz="3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9906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2001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Plenary + Exit Ticket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" y="1838325"/>
            <a:ext cx="864041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你做到了吗？ · Did You Get There?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952500" y="2247900"/>
            <a:ext cx="1138238" cy="371475"/>
          </a:xfrm>
          <a:prstGeom prst="roundRect">
            <a:avLst>
              <a:gd name="adj" fmla="val 2561538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4425" y="2314575"/>
            <a:ext cx="8306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准备好了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185988" y="2247900"/>
            <a:ext cx="992535" cy="371475"/>
          </a:xfrm>
          <a:prstGeom prst="roundRect">
            <a:avLst>
              <a:gd name="adj" fmla="val 2561538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47913" y="2314575"/>
            <a:ext cx="6820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 差不多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273772" y="2247900"/>
            <a:ext cx="1429792" cy="371475"/>
          </a:xfrm>
          <a:prstGeom prst="roundRect">
            <a:avLst>
              <a:gd name="adj" fmla="val 2561538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35697" y="2314575"/>
            <a:ext cx="11280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还需要多练习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52500" y="2771775"/>
            <a:ext cx="8470999" cy="666601"/>
          </a:xfrm>
          <a:prstGeom prst="roundRect">
            <a:avLst>
              <a:gd name="adj" fmla="val 1714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33475" y="2905125"/>
            <a:ext cx="266700" cy="266700"/>
          </a:xfrm>
          <a:prstGeom prst="roundRect">
            <a:avLst>
              <a:gd name="adj" fmla="val 21429"/>
            </a:avLst>
          </a:prstGeom>
          <a:noFill/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14475" y="2886075"/>
            <a:ext cx="37237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我能翻译Lesson 9所有测验词汇（中文↔英文）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14475" y="3137446"/>
            <a:ext cx="3723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translate all Test 3.3 vocabulary in both directions.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2500" y="3514576"/>
            <a:ext cx="8470999" cy="666601"/>
          </a:xfrm>
          <a:prstGeom prst="roundRect">
            <a:avLst>
              <a:gd name="adj" fmla="val 1714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33475" y="3647926"/>
            <a:ext cx="266700" cy="266700"/>
          </a:xfrm>
          <a:prstGeom prst="roundRect">
            <a:avLst>
              <a:gd name="adj" fmla="val 21429"/>
            </a:avLst>
          </a:prstGeom>
          <a:noFill/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14475" y="3628876"/>
            <a:ext cx="475209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我能正确使用"一……就……"和结果补语造句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14475" y="3880247"/>
            <a:ext cx="47520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correctly use 一……就…… and complement of result in sentences.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52500" y="4257377"/>
            <a:ext cx="8470999" cy="666601"/>
          </a:xfrm>
          <a:prstGeom prst="roundRect">
            <a:avLst>
              <a:gd name="adj" fmla="val 1714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33475" y="4390727"/>
            <a:ext cx="266700" cy="266700"/>
          </a:xfrm>
          <a:prstGeom prst="roundRect">
            <a:avLst>
              <a:gd name="adj" fmla="val 21429"/>
            </a:avLst>
          </a:prstGeom>
          <a:noFill/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14475" y="4371677"/>
            <a:ext cx="524515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我能写出5个正确的中文句子，对应英文提示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514475" y="4623048"/>
            <a:ext cx="52451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5 correct Chinese sentences from English prompts, Test 3.3 format.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2500" y="5057329"/>
            <a:ext cx="8470999" cy="566738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76313" y="5057329"/>
            <a:ext cx="0" cy="566738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0625" y="5190679"/>
            <a:ext cx="820322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自我总结：我最需要复习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，因为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952500" y="5776466"/>
            <a:ext cx="8640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cold-calls 1–2 students to share their sentence.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52500" y="6100316"/>
            <a:ext cx="8470999" cy="409575"/>
          </a:xfrm>
          <a:prstGeom prst="roundRect">
            <a:avLst>
              <a:gd name="adj" fmla="val 27907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33475" y="6205091"/>
            <a:ext cx="82712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下节课预告：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整个第三单元复习——科目、学校设施、文具——为单元测验做准备。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671149" y="1838325"/>
            <a:ext cx="7664202" cy="7781925"/>
          </a:xfrm>
          <a:prstGeom prst="roundRect">
            <a:avLst>
              <a:gd name="adj" fmla="val 2486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356949" y="2124075"/>
            <a:ext cx="22919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出门票 · Exit Ticket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937849" y="2628900"/>
            <a:ext cx="7130802" cy="1714500"/>
          </a:xfrm>
          <a:prstGeom prst="roundRect">
            <a:avLst>
              <a:gd name="adj" fmla="val 6667"/>
            </a:avLst>
          </a:prstGeom>
          <a:solidFill>
            <a:srgbClr val="FFFFFF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090249" y="2762250"/>
            <a:ext cx="69625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用中文写两三句话：说说你今天忘记带了什么，你跟同学借了什么。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90249" y="3524250"/>
            <a:ext cx="69625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2–3 sentences in Chinese: say what you forgot to bring today, and what you borrowed from a classmate.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37849" y="4457700"/>
            <a:ext cx="7130802" cy="695325"/>
          </a:xfrm>
          <a:prstGeom prst="roundRect">
            <a:avLst>
              <a:gd name="adj" fmla="val 1643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090249" y="4562475"/>
            <a:ext cx="696252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这正是考试3.3会考的格式！</a:t>
            </a:r>
            <a:endParaRPr lang="en-US" sz="127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This mirrors the exact format Test 3.3 will expect.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9937849" y="5267325"/>
            <a:ext cx="72734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reads over shoulders — look for correct use of 忘记, 借, and word order.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0" y="6096000"/>
            <a:ext cx="310896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24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单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7225159" y="2107406"/>
            <a:ext cx="3837533" cy="390525"/>
          </a:xfrm>
          <a:prstGeom prst="roundRect">
            <a:avLst>
              <a:gd name="adj" fmla="val 2436585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39387" y="2183606"/>
            <a:ext cx="3409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🎉 UNIT 3 COMPLETE · 文具全部学完！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42037" y="2878931"/>
            <a:ext cx="100037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NEXT: UNIT 3 REVIEW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42037" y="3627537"/>
            <a:ext cx="10003777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0"/>
              </a:lnSpc>
              <a:spcBef>
                <a:spcPts val="4020"/>
              </a:spcBef>
              <a:spcAft>
                <a:spcPts val="750"/>
              </a:spcAft>
              <a:buNone/>
            </a:pPr>
            <a:r>
              <a:rPr lang="en-US" sz="6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第三单元复习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142037" y="4599087"/>
            <a:ext cx="100037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3 Review — Subjects, Facilities &amp; Stationery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40113" y="5218212"/>
            <a:ext cx="9807625" cy="1180058"/>
          </a:xfrm>
          <a:prstGeom prst="roundRect">
            <a:avLst>
              <a:gd name="adj" fmla="val 16143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50088" y="5465862"/>
            <a:ext cx="918767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下节课我们会复习整个第三单元——科目、学校设施、文具——为单元测验做准备。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088" y="5907732"/>
            <a:ext cx="9187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we'll review the whole of Unit 3 — subjects, school facilities, stationery — to prepare for the unit test.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751290" y="6779270"/>
            <a:ext cx="10858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80946" y="6779270"/>
            <a:ext cx="16573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82101" y="6779270"/>
            <a:ext cx="1154311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42037" y="7922270"/>
            <a:ext cx="100037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今天复习完，测验3.3就准备好了！Well done finishing Unit 3 Stationery 文具.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2026-07-25T11:16:48Z</dcterms:created>
  <dcterms:modified xsi:type="dcterms:W3CDTF">2026-07-25T11:16:48Z</dcterms:modified>
</cp:coreProperties>
</file>