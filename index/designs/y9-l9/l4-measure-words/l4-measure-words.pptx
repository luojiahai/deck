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043363" y="2578894"/>
            <a:ext cx="1020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OF 8 · Y9 UNIT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043363" y="3074194"/>
            <a:ext cx="102012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043363" y="4983956"/>
            <a:ext cx="102012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Bef>
                <a:spcPts val="7538"/>
              </a:spcBef>
              <a:spcAft>
                <a:spcPts val="600"/>
              </a:spcAft>
              <a:buNone/>
            </a:pP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文具量词</a:t>
            </a:r>
            <a:r>
              <a:rPr lang="en-US" sz="1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112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命名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4043363" y="6488906"/>
            <a:ext cx="10201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Words 支/本/把 + Naming Items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 · WHITEBOARD WARM-UP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 · Quick Review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19325"/>
            <a:ext cx="8599884" cy="2705546"/>
          </a:xfrm>
          <a:prstGeom prst="roundRect">
            <a:avLst>
              <a:gd name="adj" fmla="val 704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9675" y="2438400"/>
            <a:ext cx="82472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VOCABULARY FLASH · 11 ITEMS (L1–L3)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09675" y="2762250"/>
            <a:ext cx="1019175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33500" y="2838450"/>
            <a:ext cx="7869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里边/里面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40061" y="3086100"/>
            <a:ext cx="5694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lǐbiān/lǐmiàn</a:t>
            </a:r>
            <a:endParaRPr lang="en-US" sz="713" dirty="0"/>
          </a:p>
        </p:txBody>
      </p:sp>
      <p:sp>
        <p:nvSpPr>
          <p:cNvPr id="12" name="Text 10"/>
          <p:cNvSpPr/>
          <p:nvPr/>
        </p:nvSpPr>
        <p:spPr>
          <a:xfrm>
            <a:off x="2305050" y="2762250"/>
            <a:ext cx="590550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28875" y="283845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63403" y="3086100"/>
            <a:ext cx="2791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qiānbǐ</a:t>
            </a:r>
            <a:endParaRPr lang="en-US" sz="713" dirty="0"/>
          </a:p>
        </p:txBody>
      </p:sp>
      <p:sp>
        <p:nvSpPr>
          <p:cNvPr id="15" name="Text 13"/>
          <p:cNvSpPr/>
          <p:nvPr/>
        </p:nvSpPr>
        <p:spPr>
          <a:xfrm>
            <a:off x="2971800" y="2762250"/>
            <a:ext cx="590550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95625" y="283845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61854" y="3086100"/>
            <a:ext cx="214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chǐzi</a:t>
            </a:r>
            <a:endParaRPr lang="en-US" sz="713" dirty="0"/>
          </a:p>
        </p:txBody>
      </p:sp>
      <p:sp>
        <p:nvSpPr>
          <p:cNvPr id="18" name="Text 16"/>
          <p:cNvSpPr/>
          <p:nvPr/>
        </p:nvSpPr>
        <p:spPr>
          <a:xfrm>
            <a:off x="3638550" y="2762250"/>
            <a:ext cx="590550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62375" y="283845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770709" y="3086100"/>
            <a:ext cx="3326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xiàngpí</a:t>
            </a:r>
            <a:endParaRPr lang="en-US" sz="713" dirty="0"/>
          </a:p>
        </p:txBody>
      </p:sp>
      <p:sp>
        <p:nvSpPr>
          <p:cNvPr id="21" name="Text 19"/>
          <p:cNvSpPr/>
          <p:nvPr/>
        </p:nvSpPr>
        <p:spPr>
          <a:xfrm>
            <a:off x="4305300" y="2762250"/>
            <a:ext cx="762000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29125" y="2838450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67671" y="3086100"/>
            <a:ext cx="4458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juǎnbǐdāo</a:t>
            </a:r>
            <a:endParaRPr lang="en-US" sz="713" dirty="0"/>
          </a:p>
        </p:txBody>
      </p:sp>
      <p:sp>
        <p:nvSpPr>
          <p:cNvPr id="24" name="Text 22"/>
          <p:cNvSpPr/>
          <p:nvPr/>
        </p:nvSpPr>
        <p:spPr>
          <a:xfrm>
            <a:off x="5143500" y="2762250"/>
            <a:ext cx="762000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67325" y="2838450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练习本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324177" y="3086100"/>
            <a:ext cx="4086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liànxíběn</a:t>
            </a:r>
            <a:endParaRPr lang="en-US" sz="713" dirty="0"/>
          </a:p>
        </p:txBody>
      </p:sp>
      <p:sp>
        <p:nvSpPr>
          <p:cNvPr id="27" name="Text 25"/>
          <p:cNvSpPr/>
          <p:nvPr/>
        </p:nvSpPr>
        <p:spPr>
          <a:xfrm>
            <a:off x="5981700" y="2762250"/>
            <a:ext cx="590550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05525" y="283845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143476" y="3086100"/>
            <a:ext cx="2723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kèběn</a:t>
            </a:r>
            <a:endParaRPr lang="en-US" sz="713" dirty="0"/>
          </a:p>
        </p:txBody>
      </p:sp>
      <p:sp>
        <p:nvSpPr>
          <p:cNvPr id="30" name="Text 28"/>
          <p:cNvSpPr/>
          <p:nvPr/>
        </p:nvSpPr>
        <p:spPr>
          <a:xfrm>
            <a:off x="6648450" y="2762250"/>
            <a:ext cx="762000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72275" y="2838450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日记本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89998" y="3086100"/>
            <a:ext cx="2844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rìjìběn</a:t>
            </a:r>
            <a:endParaRPr lang="en-US" sz="713" dirty="0"/>
          </a:p>
        </p:txBody>
      </p:sp>
      <p:sp>
        <p:nvSpPr>
          <p:cNvPr id="33" name="Text 31"/>
          <p:cNvSpPr/>
          <p:nvPr/>
        </p:nvSpPr>
        <p:spPr>
          <a:xfrm>
            <a:off x="7486650" y="2762250"/>
            <a:ext cx="762000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610475" y="2838450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文具盒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683847" y="3086100"/>
            <a:ext cx="3749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wénjùhé</a:t>
            </a:r>
            <a:endParaRPr lang="en-US" sz="713" dirty="0"/>
          </a:p>
        </p:txBody>
      </p:sp>
      <p:sp>
        <p:nvSpPr>
          <p:cNvPr id="36" name="Text 34"/>
          <p:cNvSpPr/>
          <p:nvPr/>
        </p:nvSpPr>
        <p:spPr>
          <a:xfrm>
            <a:off x="8324850" y="2762250"/>
            <a:ext cx="651421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479036" y="2838450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448675" y="3086100"/>
            <a:ext cx="4118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xiǎoshuō</a:t>
            </a:r>
            <a:endParaRPr lang="en-US" sz="713" dirty="0"/>
          </a:p>
        </p:txBody>
      </p:sp>
      <p:sp>
        <p:nvSpPr>
          <p:cNvPr id="39" name="Text 37"/>
          <p:cNvSpPr/>
          <p:nvPr/>
        </p:nvSpPr>
        <p:spPr>
          <a:xfrm>
            <a:off x="1209675" y="3362325"/>
            <a:ext cx="590550" cy="523875"/>
          </a:xfrm>
          <a:prstGeom prst="roundRect">
            <a:avLst>
              <a:gd name="adj" fmla="val 10909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6A9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333500" y="34385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卡片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357610" y="3686175"/>
            <a:ext cx="3005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kǎpiàn</a:t>
            </a:r>
            <a:endParaRPr lang="en-US" sz="713" dirty="0"/>
          </a:p>
        </p:txBody>
      </p:sp>
      <p:sp>
        <p:nvSpPr>
          <p:cNvPr id="42" name="Text 40"/>
          <p:cNvSpPr/>
          <p:nvPr/>
        </p:nvSpPr>
        <p:spPr>
          <a:xfrm>
            <a:off x="1209675" y="4019550"/>
            <a:ext cx="8247245" cy="68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</a:t>
            </a:r>
            <a:r>
              <a:rPr lang="en-US" sz="1163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quick-fire prompts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mixing L1–L3 content — e.g. "尺子" → English; "一……就……" starter → complete it; "找_____" → complete with the correct complement. Students write on mini whiteboards, hold up on three: "一、二、三，举起来！" Cold call to confirm 2–3 items.</a:t>
            </a:r>
            <a:endParaRPr lang="en-US" sz="1163" dirty="0"/>
          </a:p>
        </p:txBody>
      </p:sp>
      <p:sp>
        <p:nvSpPr>
          <p:cNvPr id="43" name="Text 41"/>
          <p:cNvSpPr/>
          <p:nvPr/>
        </p:nvSpPr>
        <p:spPr>
          <a:xfrm>
            <a:off x="9857184" y="2219325"/>
            <a:ext cx="7478167" cy="2857798"/>
          </a:xfrm>
          <a:prstGeom prst="roundRect">
            <a:avLst>
              <a:gd name="adj" fmla="val 666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114359" y="2438400"/>
            <a:ext cx="71030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GRAMMAR RECALL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114359" y="2762250"/>
            <a:ext cx="6963817" cy="704850"/>
          </a:xfrm>
          <a:prstGeom prst="roundRect">
            <a:avLst>
              <a:gd name="adj" fmla="val 1621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285809" y="2876550"/>
            <a:ext cx="67533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一……就…… (L2)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114359" y="3581400"/>
            <a:ext cx="6963817" cy="704850"/>
          </a:xfrm>
          <a:prstGeom prst="roundRect">
            <a:avLst>
              <a:gd name="adj" fmla="val 1621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285809" y="3695700"/>
            <a:ext cx="67533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结果补语 COMPLEMENT OF RESULT (L3)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114359" y="4400550"/>
            <a:ext cx="7103093" cy="457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2 students to complete each sentence aloud; class echoes chorally. Target: </a:t>
            </a:r>
            <a:r>
              <a:rPr lang="en-US" sz="1163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一放学就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回家做作业 · 可是</a:t>
            </a:r>
            <a:r>
              <a:rPr lang="en-US" sz="1163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找到 (到 = accomplished; 没……到 = not yet accomplished).</a:t>
            </a:r>
            <a:endParaRPr lang="en-US" sz="1163" dirty="0"/>
          </a:p>
        </p:txBody>
      </p:sp>
      <p:sp>
        <p:nvSpPr>
          <p:cNvPr id="50" name="Text 48"/>
          <p:cNvSpPr/>
          <p:nvPr/>
        </p:nvSpPr>
        <p:spPr>
          <a:xfrm>
            <a:off x="952500" y="5248573"/>
            <a:ext cx="16383000" cy="1138684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976313" y="5248573"/>
            <a:ext cx="0" cy="1138684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47775" y="5420023"/>
            <a:ext cx="16156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 · 承上启下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247775" y="5658148"/>
            <a:ext cx="1615687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你们已经会说很多文具的名字了。但是中文说"一个东西"的时候，需要用对的</a:t>
            </a:r>
            <a:r>
              <a:rPr lang="en-US" sz="13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量词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——不是所有东西都用"个"！今天我们专门学文具的量词。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247775" y="6008638"/>
            <a:ext cx="1615687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already know lots of stationery words. But in Chinese, saying "one [item]" needs the correct </a:t>
            </a:r>
            <a:r>
              <a:rPr lang="en-US" sz="1088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</a:t>
            </a: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not everything uses 个! Today we focus on measure words for stationery.</a:t>
            </a:r>
            <a:endParaRPr lang="en-US" sz="1088" dirty="0"/>
          </a:p>
        </p:txBody>
      </p:sp>
      <p:sp>
        <p:nvSpPr>
          <p:cNvPr id="55" name="Shape 5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3500" y="2372916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33500" y="2696766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3734991"/>
            <a:ext cx="15621000" cy="1440061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357313" y="3734991"/>
            <a:ext cx="0" cy="1440061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5925" y="3944541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685925" y="4192191"/>
            <a:ext cx="1526305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2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all the stationery/school items</a:t>
            </a: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this unit and use the correct measure word — </a:t>
            </a:r>
            <a:r>
              <a:rPr lang="en-US" sz="2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支, 本, or 把</a:t>
            </a:r>
            <a:r>
              <a:rPr lang="en-US" sz="21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for each.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" y="5517952"/>
            <a:ext cx="15621000" cy="77331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71625" y="5698927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143125" y="5698927"/>
            <a:ext cx="889317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</a:t>
            </a: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least 12 stationery/school items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能说出至少十二个文具的名称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33500" y="6462713"/>
            <a:ext cx="15621000" cy="77331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71625" y="664368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143125" y="6643688"/>
            <a:ext cx="9705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the correct measure word + item for </a:t>
            </a: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least 10 items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能正确使用量词"支"、"本"、"把"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33500" y="7407473"/>
            <a:ext cx="15621000" cy="773311"/>
          </a:xfrm>
          <a:prstGeom prst="roundRect">
            <a:avLst>
              <a:gd name="adj" fmla="val 14781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71625" y="7588448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143125" y="7588448"/>
            <a:ext cx="1032074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explain </a:t>
            </a:r>
            <a:r>
              <a:rPr lang="en-US" sz="16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category of object</a:t>
            </a: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each measure word is used for </a:t>
            </a:r>
            <a:r>
              <a:rPr lang="en-US" sz="16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能解释每个量词用于哪一类东西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57250" y="1085850"/>
            <a:ext cx="169049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10–15 MIN · I DO · VOCABULARY (P.86–87, ACT. 7)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7250" y="1371600"/>
            <a:ext cx="1690497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 · Stationery Items — 12 Words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857250" y="5324475"/>
            <a:ext cx="16573500" cy="714375"/>
          </a:xfrm>
          <a:prstGeom prst="roundRect">
            <a:avLst>
              <a:gd name="adj" fmla="val 16000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04950" y="5457825"/>
            <a:ext cx="674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10 are recap from Lesson 1 — say each twice, class repeats twice.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504950" y="5715000"/>
            <a:ext cx="6744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白板 and 计算器 are new — previewed in Y9 L8's Extra Words box, and needed for Text 2 next lesson.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58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15–19 MIN · I DO · GRAMMAR FOCUS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 · Measure Words 支 / 本 / 把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2152650"/>
            <a:ext cx="6431161" cy="916186"/>
          </a:xfrm>
          <a:prstGeom prst="roundRect">
            <a:avLst>
              <a:gd name="adj" fmla="val 20793"/>
            </a:avLst>
          </a:prstGeom>
          <a:solidFill>
            <a:srgbClr val="3A5F8A">
              <a:alpha val="12000"/>
            </a:srgbClr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62050" y="2324993"/>
            <a:ext cx="58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885950" y="2295525"/>
            <a:ext cx="25106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zhī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85950" y="2552700"/>
            <a:ext cx="251069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pens, pencils — long, thin, held items: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铅笔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2500" y="3183136"/>
            <a:ext cx="6431161" cy="916186"/>
          </a:xfrm>
          <a:prstGeom prst="roundRect">
            <a:avLst>
              <a:gd name="adj" fmla="val 20793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62050" y="3355479"/>
            <a:ext cx="58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885950" y="3326011"/>
            <a:ext cx="141330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běn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885950" y="3583186"/>
            <a:ext cx="141330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books, notebooks: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练习本 / 一</a:t>
            </a:r>
            <a:r>
              <a:rPr lang="en-US" sz="10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课本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2500" y="4213622"/>
            <a:ext cx="6431161" cy="916186"/>
          </a:xfrm>
          <a:prstGeom prst="roundRect">
            <a:avLst>
              <a:gd name="adj" fmla="val 2079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62050" y="4385965"/>
            <a:ext cx="5829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1885950" y="4356497"/>
            <a:ext cx="13238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bǎ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885950" y="4613672"/>
            <a:ext cx="132388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with a handle: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</a:t>
            </a: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尺子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88461" y="2152650"/>
            <a:ext cx="9647039" cy="1443930"/>
          </a:xfrm>
          <a:prstGeom prst="roundRect">
            <a:avLst>
              <a:gd name="adj" fmla="val 13193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26586" y="2457450"/>
            <a:ext cx="93542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MEASURE WORD?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7926586" y="2809875"/>
            <a:ext cx="935420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细长的东西（笔类）用"支"；书本类的东西用"本"；带柄的东西用"把"。</a:t>
            </a: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Long, thin held things (pens/pencils) take 支; book-type things take 本; things with a handle (like a ruler) take 把.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8461" y="3729930"/>
            <a:ext cx="9647039" cy="628650"/>
          </a:xfrm>
          <a:prstGeom prst="roundRect">
            <a:avLst>
              <a:gd name="adj" fmla="val 1818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88461" y="4491930"/>
            <a:ext cx="9647039" cy="723900"/>
          </a:xfrm>
          <a:prstGeom prst="roundRect">
            <a:avLst>
              <a:gd name="adj" fmla="val 15789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317111" y="4625280"/>
            <a:ext cx="68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 everything gets 支/本/把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8317111" y="4891980"/>
            <a:ext cx="68708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橡皮、卷笔刀、文具盒、卡片、白板、计算器 all keep the default measure word 个: 一</a:t>
            </a:r>
            <a:r>
              <a:rPr lang="en-US" sz="10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</a:t>
            </a: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橡皮，一</a:t>
            </a:r>
            <a:r>
              <a:rPr lang="en-US" sz="10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</a:t>
            </a: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文具盒。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19–20 MIN · CHECK FOR UNDERSTANDING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952500" y="2257425"/>
            <a:ext cx="5334000" cy="3450282"/>
          </a:xfrm>
          <a:prstGeom prst="roundRect">
            <a:avLst>
              <a:gd name="adj" fmla="val 7730"/>
            </a:avLst>
          </a:prstGeom>
          <a:solidFill>
            <a:srgbClr val="3A5F8A">
              <a:alpha val="12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一支铅笔 vs 一个铅笔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625" y="38385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"一支铅笔"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2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"一个铅笔"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side by side.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"哪个对？右手指对的那个。" Every student points with their right hand.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477000" y="2257425"/>
            <a:ext cx="5334000" cy="3450282"/>
          </a:xfrm>
          <a:prstGeom prst="roundRect">
            <a:avLst>
              <a:gd name="adj" fmla="val 773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Fill the Measure Word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15125" y="3838575"/>
            <a:ext cx="4954905" cy="1210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 individual students, in order: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"Priya，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'一______练习本'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？"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"Alex，</a:t>
            </a:r>
            <a:endParaRPr lang="en-US" sz="1275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'一______尺子'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？"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2001500" y="2257425"/>
            <a:ext cx="5334000" cy="3450282"/>
          </a:xfrm>
          <a:prstGeom prst="roundRect">
            <a:avLst>
              <a:gd name="adj" fmla="val 773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ERROR CORRECTION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Spot the Mistake!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239625" y="3838575"/>
            <a:ext cx="4954905" cy="885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projects:</a:t>
            </a:r>
            <a:endParaRPr lang="en-US" sz="1275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275" dirty="0"/>
          </a:p>
          <a:p>
            <a:pPr algn="l" indent="0" marL="0">
              <a:lnSpc>
                <a:spcPts val="3023"/>
              </a:lnSpc>
              <a:buNone/>
            </a:pPr>
            <a:r>
              <a:rPr lang="en-US" sz="1950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我有一个课本。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"这个句子有错误。哪里错了？大家一起说！"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2239625" y="4819501"/>
            <a:ext cx="4857750" cy="450056"/>
          </a:xfrm>
          <a:prstGeom prst="roundRect">
            <a:avLst>
              <a:gd name="adj" fmla="val 25397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430125" y="4933801"/>
            <a:ext cx="4566285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952500" y="5898207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6022032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in checks 1 and 3. For cold call, pre-identify 4–5 students who need a stretch — give them the trickier items like 日记本/文具盒.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68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13716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52500" y="2143125"/>
            <a:ext cx="16383000" cy="1438275"/>
          </a:xfrm>
          <a:prstGeom prst="roundRect">
            <a:avLst>
              <a:gd name="adj" fmla="val 1324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09675" y="23050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59396" y="2371725"/>
            <a:ext cx="83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800225" y="2305050"/>
            <a:ext cx="15583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Gesture Check — which is correct, "一支铅笔" or "一个铅笔"?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00225" y="2590800"/>
            <a:ext cx="4089946" cy="828675"/>
          </a:xfrm>
          <a:prstGeom prst="roundRect">
            <a:avLst>
              <a:gd name="adj" fmla="val 1379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09775" y="2705100"/>
            <a:ext cx="374426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一</a:t>
            </a:r>
            <a:r>
              <a:rPr lang="en-US" sz="195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009775" y="3114675"/>
            <a:ext cx="3744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 → </a:t>
            </a:r>
            <a:r>
              <a:rPr lang="en-US" sz="1088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</a:t>
            </a: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 铅笔 is a long, thin held item, so it takes 支.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952500" y="3714750"/>
            <a:ext cx="16383000" cy="1438275"/>
          </a:xfrm>
          <a:prstGeom prst="roundRect">
            <a:avLst>
              <a:gd name="adj" fmla="val 1324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09675" y="387667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42876" y="3943350"/>
            <a:ext cx="1167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800225" y="3876675"/>
            <a:ext cx="155836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fill the measure word for 练习本 and 尺子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00225" y="4162425"/>
            <a:ext cx="4414540" cy="828675"/>
          </a:xfrm>
          <a:prstGeom prst="roundRect">
            <a:avLst>
              <a:gd name="adj" fmla="val 1379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09775" y="4276725"/>
            <a:ext cx="407534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一</a:t>
            </a:r>
            <a:r>
              <a:rPr lang="en-US" sz="195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练习本 · 一</a:t>
            </a:r>
            <a:r>
              <a:rPr lang="en-US" sz="195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09775" y="4686300"/>
            <a:ext cx="40753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练习本 is a book-type item → 本  |  尺子 has a handle → 把.</a:t>
            </a:r>
            <a:endParaRPr lang="en-US" sz="1088" dirty="0"/>
          </a:p>
        </p:txBody>
      </p:sp>
      <p:sp>
        <p:nvSpPr>
          <p:cNvPr id="21" name="Text 19"/>
          <p:cNvSpPr/>
          <p:nvPr/>
        </p:nvSpPr>
        <p:spPr>
          <a:xfrm>
            <a:off x="952500" y="528637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09675" y="54483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42430" y="5514975"/>
            <a:ext cx="1176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800225" y="5448300"/>
            <a:ext cx="155836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Error Correction — spot the mistake in: </a:t>
            </a:r>
            <a:r>
              <a:rPr lang="en-US" sz="1350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我有一个课本。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00225" y="5762625"/>
            <a:ext cx="5107484" cy="828675"/>
          </a:xfrm>
          <a:prstGeom prst="roundRect">
            <a:avLst>
              <a:gd name="adj" fmla="val 13793"/>
            </a:avLst>
          </a:prstGeom>
          <a:solidFill>
            <a:srgbClr val="B87A30">
              <a:alpha val="12000"/>
            </a:srgbClr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009775" y="5876925"/>
            <a:ext cx="478215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✅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我有一</a:t>
            </a:r>
            <a:r>
              <a:rPr lang="en-US" sz="1950" b="1" u="sng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</a:t>
            </a:r>
            <a:r>
              <a:rPr lang="en-US" sz="1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课本。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2009775" y="6286500"/>
            <a:ext cx="47821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 → </a:t>
            </a:r>
            <a:r>
              <a:rPr lang="en-US" sz="1088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</a:t>
            </a: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 课本 is a book-type item, so it takes 本, not the default 个.</a:t>
            </a:r>
            <a:endParaRPr lang="en-US" sz="1088" dirty="0"/>
          </a:p>
        </p:txBody>
      </p:sp>
      <p:sp>
        <p:nvSpPr>
          <p:cNvPr id="28" name="Shape 26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2038"/>
            <a:ext cx="1153120" cy="314325"/>
          </a:xfrm>
          <a:prstGeom prst="roundRect">
            <a:avLst>
              <a:gd name="adj" fmla="val 3027273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19188"/>
            <a:ext cx="787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58020" y="1047750"/>
            <a:ext cx="919311" cy="342900"/>
          </a:xfrm>
          <a:prstGeom prst="roundRect">
            <a:avLst>
              <a:gd name="adj" fmla="val 277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38995" y="1114425"/>
            <a:ext cx="56850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329732" y="1062038"/>
            <a:ext cx="1936105" cy="314325"/>
          </a:xfrm>
          <a:prstGeom prst="roundRect">
            <a:avLst>
              <a:gd name="adj" fmla="val 3027273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01182" y="1119188"/>
            <a:ext cx="162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Picture Flash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14668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看图说名字 (Act. 7, p.86)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52500" y="2105025"/>
            <a:ext cx="8599884" cy="3367088"/>
          </a:xfrm>
          <a:prstGeom prst="roundRect">
            <a:avLst>
              <a:gd name="adj" fmla="val 5658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00150" y="23336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98079" y="2376488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62100" y="2343150"/>
            <a:ext cx="5790438" cy="21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each </a:t>
            </a:r>
            <a:r>
              <a:rPr lang="en-US" sz="1163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 for 3 seconds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class chorally names the item.</a:t>
            </a:r>
            <a:endParaRPr lang="en-US" sz="1163" dirty="0"/>
          </a:p>
        </p:txBody>
      </p:sp>
      <p:sp>
        <p:nvSpPr>
          <p:cNvPr id="16" name="Text 14"/>
          <p:cNvSpPr/>
          <p:nvPr/>
        </p:nvSpPr>
        <p:spPr>
          <a:xfrm>
            <a:off x="1200150" y="266700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7661" y="2709863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62100" y="2676525"/>
            <a:ext cx="3147822" cy="21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naming, the </a:t>
            </a:r>
            <a:r>
              <a:rPr lang="en-US" sz="1163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 fades in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confirm.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1200150" y="30003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87363" y="3043238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62100" y="3009900"/>
            <a:ext cx="5822469" cy="21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all 14: display all at once. </a:t>
            </a:r>
            <a:r>
              <a:rPr lang="en-US" sz="1163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individual students to point and name.</a:t>
            </a:r>
            <a:endParaRPr lang="en-US" sz="1163" dirty="0"/>
          </a:p>
        </p:txBody>
      </p:sp>
      <p:sp>
        <p:nvSpPr>
          <p:cNvPr id="22" name="Text 20"/>
          <p:cNvSpPr/>
          <p:nvPr/>
        </p:nvSpPr>
        <p:spPr>
          <a:xfrm>
            <a:off x="1200150" y="33337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86917" y="3376613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62100" y="3343275"/>
            <a:ext cx="7143625" cy="21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round: teacher says the </a:t>
            </a:r>
            <a:r>
              <a:rPr lang="en-US" sz="1163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name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class chorally says the </a:t>
            </a:r>
            <a:r>
              <a:rPr lang="en-US" sz="1163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 visual support.</a:t>
            </a:r>
            <a:endParaRPr lang="en-US" sz="1163" dirty="0"/>
          </a:p>
        </p:txBody>
      </p:sp>
      <p:sp>
        <p:nvSpPr>
          <p:cNvPr id="25" name="Text 23"/>
          <p:cNvSpPr/>
          <p:nvPr/>
        </p:nvSpPr>
        <p:spPr>
          <a:xfrm>
            <a:off x="1200150" y="3676650"/>
            <a:ext cx="8104584" cy="352425"/>
          </a:xfrm>
          <a:prstGeom prst="roundRect">
            <a:avLst>
              <a:gd name="adj" fmla="val 32432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33500" y="3762375"/>
            <a:ext cx="7994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OTR:</a:t>
            </a: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choral naming for every picture; final round is 100% response by design.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1200150" y="4162425"/>
            <a:ext cx="4004667" cy="791766"/>
          </a:xfrm>
          <a:prstGeom prst="roundRect">
            <a:avLst>
              <a:gd name="adj" fmla="val 1443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33500" y="4276725"/>
            <a:ext cx="38127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333500" y="4467225"/>
            <a:ext cx="3812727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pinyin visible on the first pass through all 14 pictures; remove for the second and third passes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5300067" y="4162425"/>
            <a:ext cx="4004667" cy="791766"/>
          </a:xfrm>
          <a:prstGeom prst="roundRect">
            <a:avLst>
              <a:gd name="adj" fmla="val 1443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33417" y="4276725"/>
            <a:ext cx="38127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433417" y="4467225"/>
            <a:ext cx="3812727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naming each item, fluent speakers immediately add the measure word: "铅笔——一支铅笔。"</a:t>
            </a:r>
            <a:endParaRPr lang="en-US" sz="1013" dirty="0"/>
          </a:p>
        </p:txBody>
      </p:sp>
      <p:sp>
        <p:nvSpPr>
          <p:cNvPr id="33" name="Text 31"/>
          <p:cNvSpPr/>
          <p:nvPr/>
        </p:nvSpPr>
        <p:spPr>
          <a:xfrm>
            <a:off x="9857184" y="2105025"/>
            <a:ext cx="7627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 PICTURES FOR THIS ACTIVITY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9857184" y="2371725"/>
            <a:ext cx="2441823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920206" y="2466975"/>
            <a:ext cx="23157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9920206" y="2724150"/>
            <a:ext cx="2315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qiānbǐ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2375207" y="2371725"/>
            <a:ext cx="2441972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438227" y="2466975"/>
            <a:ext cx="23159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2438227" y="2724150"/>
            <a:ext cx="23159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chǐzi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4893379" y="2371725"/>
            <a:ext cx="2441823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4956401" y="2466975"/>
            <a:ext cx="23157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14956401" y="2724150"/>
            <a:ext cx="2315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xiàngpí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9857184" y="3048000"/>
            <a:ext cx="2441823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920206" y="3143250"/>
            <a:ext cx="23157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卷笔刀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9920206" y="3400425"/>
            <a:ext cx="2315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juǎnbǐdāo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2375207" y="3048000"/>
            <a:ext cx="2441972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2438227" y="3143250"/>
            <a:ext cx="23159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练习本</a:t>
            </a:r>
            <a:endParaRPr lang="en-US" sz="1425" dirty="0"/>
          </a:p>
        </p:txBody>
      </p:sp>
      <p:sp>
        <p:nvSpPr>
          <p:cNvPr id="48" name="Text 46"/>
          <p:cNvSpPr/>
          <p:nvPr/>
        </p:nvSpPr>
        <p:spPr>
          <a:xfrm>
            <a:off x="12438227" y="3400425"/>
            <a:ext cx="23159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liànxíběn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4893379" y="3048000"/>
            <a:ext cx="2441823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4956401" y="3143250"/>
            <a:ext cx="23157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1425" dirty="0"/>
          </a:p>
        </p:txBody>
      </p:sp>
      <p:sp>
        <p:nvSpPr>
          <p:cNvPr id="51" name="Text 49"/>
          <p:cNvSpPr/>
          <p:nvPr/>
        </p:nvSpPr>
        <p:spPr>
          <a:xfrm>
            <a:off x="14956401" y="3400425"/>
            <a:ext cx="2315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kèběn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9857184" y="3724275"/>
            <a:ext cx="2441823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920206" y="3819525"/>
            <a:ext cx="23157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日记本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9920206" y="4076700"/>
            <a:ext cx="2315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rìjìběn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12375207" y="3724275"/>
            <a:ext cx="2441972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2438227" y="3819525"/>
            <a:ext cx="23159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文具盒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12438227" y="4076700"/>
            <a:ext cx="23159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wénjùhé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14893379" y="3724275"/>
            <a:ext cx="2441823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4956401" y="3819525"/>
            <a:ext cx="23157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1425" dirty="0"/>
          </a:p>
        </p:txBody>
      </p:sp>
      <p:sp>
        <p:nvSpPr>
          <p:cNvPr id="60" name="Text 58"/>
          <p:cNvSpPr/>
          <p:nvPr/>
        </p:nvSpPr>
        <p:spPr>
          <a:xfrm>
            <a:off x="14956401" y="4076700"/>
            <a:ext cx="2315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xiǎoshuō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9857184" y="4400550"/>
            <a:ext cx="2441823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9920206" y="4495800"/>
            <a:ext cx="23157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卡片</a:t>
            </a:r>
            <a:endParaRPr lang="en-US" sz="1425" dirty="0"/>
          </a:p>
        </p:txBody>
      </p:sp>
      <p:sp>
        <p:nvSpPr>
          <p:cNvPr id="63" name="Text 61"/>
          <p:cNvSpPr/>
          <p:nvPr/>
        </p:nvSpPr>
        <p:spPr>
          <a:xfrm>
            <a:off x="9920206" y="4752975"/>
            <a:ext cx="2315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kǎpiàn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12375207" y="4400550"/>
            <a:ext cx="2441972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2438227" y="4495800"/>
            <a:ext cx="23159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</a:t>
            </a:r>
            <a:endParaRPr lang="en-US" sz="1425" dirty="0"/>
          </a:p>
        </p:txBody>
      </p:sp>
      <p:sp>
        <p:nvSpPr>
          <p:cNvPr id="66" name="Text 64"/>
          <p:cNvSpPr/>
          <p:nvPr/>
        </p:nvSpPr>
        <p:spPr>
          <a:xfrm>
            <a:off x="12438227" y="4752975"/>
            <a:ext cx="23159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báibǎn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4893379" y="4400550"/>
            <a:ext cx="2441823" cy="600075"/>
          </a:xfrm>
          <a:prstGeom prst="roundRect">
            <a:avLst>
              <a:gd name="adj" fmla="val 19048"/>
            </a:avLst>
          </a:prstGeom>
          <a:solidFill>
            <a:srgbClr val="EAE6DC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4956401" y="4495800"/>
            <a:ext cx="23157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计算器</a:t>
            </a:r>
            <a:endParaRPr lang="en-US" sz="1425" dirty="0"/>
          </a:p>
        </p:txBody>
      </p:sp>
      <p:sp>
        <p:nvSpPr>
          <p:cNvPr id="69" name="Text 67"/>
          <p:cNvSpPr/>
          <p:nvPr/>
        </p:nvSpPr>
        <p:spPr>
          <a:xfrm>
            <a:off x="14956401" y="4752975"/>
            <a:ext cx="2315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jìsuànqì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9857184" y="5114925"/>
            <a:ext cx="762773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Act. 7 (p.86) shows 14 pictures in total — these 12 vocabulary items plus 2 further review items on the printed textbook page. Use the physical Act. 7 page or class picture cards for the actual projected images.</a:t>
            </a:r>
            <a:endParaRPr lang="en-US" sz="938" dirty="0"/>
          </a:p>
        </p:txBody>
      </p:sp>
      <p:sp>
        <p:nvSpPr>
          <p:cNvPr id="71" name="Shape 6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62038"/>
            <a:ext cx="1179165" cy="314325"/>
          </a:xfrm>
          <a:prstGeom prst="roundRect">
            <a:avLst>
              <a:gd name="adj" fmla="val 3027273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19188"/>
            <a:ext cx="8141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284065" y="1047750"/>
            <a:ext cx="927199" cy="342900"/>
          </a:xfrm>
          <a:prstGeom prst="roundRect">
            <a:avLst>
              <a:gd name="adj" fmla="val 277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65040" y="1114425"/>
            <a:ext cx="5765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363664" y="1062038"/>
            <a:ext cx="2047875" cy="314325"/>
          </a:xfrm>
          <a:prstGeom prst="roundRect">
            <a:avLst>
              <a:gd name="adj" fmla="val 3027273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35114" y="1119188"/>
            <a:ext cx="1739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Pair Speaking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14668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量词接龙 (Act. 8, p.87)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52500" y="2105025"/>
            <a:ext cx="8599884" cy="3790950"/>
          </a:xfrm>
          <a:prstGeom prst="roundRect">
            <a:avLst>
              <a:gd name="adj" fmla="val 5025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00150" y="23336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98079" y="2376488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62100" y="2343150"/>
            <a:ext cx="5006822" cy="21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</a:t>
            </a:r>
            <a:r>
              <a:rPr lang="en-US" sz="1163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models 3 examples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first: 一支铅笔，一本练习本，一把尺子。</a:t>
            </a:r>
            <a:endParaRPr lang="en-US" sz="1163" dirty="0"/>
          </a:p>
        </p:txBody>
      </p:sp>
      <p:sp>
        <p:nvSpPr>
          <p:cNvPr id="16" name="Text 14"/>
          <p:cNvSpPr/>
          <p:nvPr/>
        </p:nvSpPr>
        <p:spPr>
          <a:xfrm>
            <a:off x="1200150" y="266700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7661" y="2709863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62100" y="2676525"/>
            <a:ext cx="7897487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</a:t>
            </a:r>
            <a:r>
              <a:rPr lang="en-US" sz="1163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A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says an item name; </a:t>
            </a:r>
            <a:r>
              <a:rPr lang="en-US" sz="1163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B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must respond with the correct measure word + item (e.g. A: "课本" → B: "一本课本"). </a:t>
            </a:r>
            <a:r>
              <a:rPr lang="en-US" sz="1163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 roles after 6 items.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1200150" y="319028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87363" y="3233142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62100" y="3199805"/>
            <a:ext cx="7244271" cy="214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6"/>
              </a:lnSpc>
              <a:buNone/>
            </a:pP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4–5 students individually to say one measure word + item pair each, </a:t>
            </a:r>
            <a:r>
              <a:rPr lang="en-US" sz="1163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partner support</a:t>
            </a:r>
            <a:r>
              <a:rPr lang="en-US" sz="116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163" dirty="0"/>
          </a:p>
        </p:txBody>
      </p:sp>
      <p:sp>
        <p:nvSpPr>
          <p:cNvPr id="22" name="Text 20"/>
          <p:cNvSpPr/>
          <p:nvPr/>
        </p:nvSpPr>
        <p:spPr>
          <a:xfrm>
            <a:off x="1200150" y="3533180"/>
            <a:ext cx="8104584" cy="352425"/>
          </a:xfrm>
          <a:prstGeom prst="roundRect">
            <a:avLst>
              <a:gd name="adj" fmla="val 32432"/>
            </a:avLst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33500" y="3618905"/>
            <a:ext cx="7994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OTR:</a:t>
            </a: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pair drill requires every student to respond multiple times; cold call checks individual accuracy.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1200150" y="4018955"/>
            <a:ext cx="4004667" cy="791766"/>
          </a:xfrm>
          <a:prstGeom prst="roundRect">
            <a:avLst>
              <a:gd name="adj" fmla="val 1443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33500" y="4133255"/>
            <a:ext cx="38127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333500" y="4323755"/>
            <a:ext cx="3812727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measure word table (支/本/把) projected throughout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5300067" y="4018955"/>
            <a:ext cx="4004667" cy="791766"/>
          </a:xfrm>
          <a:prstGeom prst="roundRect">
            <a:avLst>
              <a:gd name="adj" fmla="val 14436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33417" y="4133255"/>
            <a:ext cx="38127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433417" y="4323755"/>
            <a:ext cx="3812727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must also say a full sentence: "我的书包里有一支铅笔。"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9857184" y="2105025"/>
            <a:ext cx="7627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TEACHER'S 3 MODEL EXAMPLES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9857184" y="2390775"/>
            <a:ext cx="7478167" cy="476250"/>
          </a:xfrm>
          <a:prstGeom prst="roundRect">
            <a:avLst>
              <a:gd name="adj" fmla="val 24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019109" y="2495550"/>
            <a:ext cx="7297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一支铅笔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857184" y="2943225"/>
            <a:ext cx="7478167" cy="476250"/>
          </a:xfrm>
          <a:prstGeom prst="roundRect">
            <a:avLst>
              <a:gd name="adj" fmla="val 24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019109" y="3048000"/>
            <a:ext cx="7297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一本练习本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57184" y="3495675"/>
            <a:ext cx="7478167" cy="476250"/>
          </a:xfrm>
          <a:prstGeom prst="roundRect">
            <a:avLst>
              <a:gd name="adj" fmla="val 24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019109" y="3600450"/>
            <a:ext cx="72974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一把尺子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857184" y="4086225"/>
            <a:ext cx="76277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CHAIN DRILL DEMO · 13 ITEMS FROM ACT. 8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9857184" y="4371975"/>
            <a:ext cx="7478167" cy="1524000"/>
          </a:xfrm>
          <a:prstGeom prst="roundRect">
            <a:avLst>
              <a:gd name="adj" fmla="val 12500"/>
            </a:avLst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028634" y="45243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111532" y="4567238"/>
            <a:ext cx="83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71534" y="4529138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0028634" y="48482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111085" y="4891088"/>
            <a:ext cx="844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371534" y="4852988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3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028634" y="517207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111532" y="5214938"/>
            <a:ext cx="83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71534" y="5176838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0028634" y="54959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111085" y="5538788"/>
            <a:ext cx="844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371534" y="5500688"/>
            <a:ext cx="6995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3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</a:t>
            </a: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52500" y="108108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113823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945779" y="1066800"/>
            <a:ext cx="927199" cy="342900"/>
          </a:xfrm>
          <a:prstGeom prst="roundRect">
            <a:avLst>
              <a:gd name="adj" fmla="val 2775000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26754" y="1133475"/>
            <a:ext cx="5765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025378" y="1081088"/>
            <a:ext cx="1881783" cy="314325"/>
          </a:xfrm>
          <a:prstGeom prst="roundRect">
            <a:avLst>
              <a:gd name="adj" fmla="val 3027273"/>
            </a:avLst>
          </a:prstGeom>
          <a:solidFill>
            <a:srgbClr val="C96A5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96828" y="1138238"/>
            <a:ext cx="1569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· Teams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52500" y="148590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传声筒 · Telephone Measure Word Relay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952500" y="2085975"/>
            <a:ext cx="16710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Whisper down the line, then say the "measure word + item" phrase aloud — accuracy wins the point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52500" y="2514600"/>
            <a:ext cx="8039100" cy="3544491"/>
          </a:xfrm>
          <a:prstGeom prst="roundRect">
            <a:avLst>
              <a:gd name="adj" fmla="val 537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09675" y="2867025"/>
            <a:ext cx="76752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09675" y="3190875"/>
            <a:ext cx="20402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524000" y="3190875"/>
            <a:ext cx="482131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Divide the class into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2–3 teams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each standing in a line.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09675" y="3535561"/>
            <a:ext cx="20402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524000" y="3535561"/>
            <a:ext cx="735463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whispers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 "measure word + item" phrase (e.g. 一把尺子) to the first student in each line.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09675" y="4120158"/>
            <a:ext cx="20402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24000" y="4120158"/>
            <a:ext cx="7354634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student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whispers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 they heard to the next student down the line. The last student says the phrase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aloud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09675" y="4704755"/>
            <a:ext cx="20402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4️⃣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524000" y="4704755"/>
            <a:ext cx="71630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 to the original — correct = </a:t>
            </a:r>
            <a:r>
              <a:rPr lang="en-US" sz="13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point</a:t>
            </a: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the team. Repeat with 4–5 phrases.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09675" y="5097066"/>
            <a:ext cx="7524750" cy="742950"/>
          </a:xfrm>
          <a:prstGeom prst="roundRect">
            <a:avLst>
              <a:gd name="adj" fmla="val 15385"/>
            </a:avLst>
          </a:prstGeom>
          <a:solidFill>
            <a:srgbClr val="C96A5C">
              <a:alpha val="10000"/>
            </a:srgbClr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419225" y="5325666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🧰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771650" y="5249466"/>
            <a:ext cx="4631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Setup: none beyond the classroom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771650" y="5497116"/>
            <a:ext cx="46311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needs a list of 5 target phrases ready before the game starts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96400" y="2514600"/>
            <a:ext cx="8039100" cy="514350"/>
          </a:xfrm>
          <a:prstGeom prst="roundRect">
            <a:avLst>
              <a:gd name="adj" fmla="val 22222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477375" y="2628900"/>
            <a:ext cx="78306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一支铅笔 </a:t>
            </a:r>
            <a:r>
              <a:rPr lang="en-US" sz="975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yì zhī qiānbǐ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296400" y="3124200"/>
            <a:ext cx="8039100" cy="514350"/>
          </a:xfrm>
          <a:prstGeom prst="roundRect">
            <a:avLst>
              <a:gd name="adj" fmla="val 22222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477375" y="3238500"/>
            <a:ext cx="78306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一本练习本 </a:t>
            </a:r>
            <a:r>
              <a:rPr lang="en-US" sz="975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yì běn liànxíběn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296400" y="3733800"/>
            <a:ext cx="8039100" cy="514350"/>
          </a:xfrm>
          <a:prstGeom prst="roundRect">
            <a:avLst>
              <a:gd name="adj" fmla="val 22222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477375" y="3848100"/>
            <a:ext cx="78306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一把尺子 </a:t>
            </a:r>
            <a:r>
              <a:rPr lang="en-US" sz="975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yì bǎ chǐzi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296400" y="4343400"/>
            <a:ext cx="8039100" cy="514350"/>
          </a:xfrm>
          <a:prstGeom prst="roundRect">
            <a:avLst>
              <a:gd name="adj" fmla="val 22222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477375" y="4457700"/>
            <a:ext cx="78306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一本日记本 </a:t>
            </a:r>
            <a:r>
              <a:rPr lang="en-US" sz="975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yì běn rìjìběn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296400" y="4953000"/>
            <a:ext cx="8039100" cy="514350"/>
          </a:xfrm>
          <a:prstGeom prst="roundRect">
            <a:avLst>
              <a:gd name="adj" fmla="val 22222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477375" y="5067300"/>
            <a:ext cx="78306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一本课本 </a:t>
            </a:r>
            <a:r>
              <a:rPr lang="en-US" sz="975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yì běn kèběn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52500" y="6344841"/>
            <a:ext cx="8124825" cy="747713"/>
          </a:xfrm>
          <a:prstGeom prst="roundRect">
            <a:avLst>
              <a:gd name="adj" fmla="val 15287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104900" y="6459141"/>
            <a:ext cx="79764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1104900" y="6649641"/>
            <a:ext cx="79764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with shorter, more familiar phrases (一支铅笔) before moving to less familiar ones (一本日记本)</a:t>
            </a:r>
            <a:endParaRPr lang="en-US" sz="1088" dirty="0"/>
          </a:p>
        </p:txBody>
      </p:sp>
      <p:sp>
        <p:nvSpPr>
          <p:cNvPr id="40" name="Text 38"/>
          <p:cNvSpPr/>
          <p:nvPr/>
        </p:nvSpPr>
        <p:spPr>
          <a:xfrm>
            <a:off x="9210675" y="6344841"/>
            <a:ext cx="8124825" cy="747713"/>
          </a:xfrm>
          <a:prstGeom prst="roundRect">
            <a:avLst>
              <a:gd name="adj" fmla="val 15287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363075" y="6459141"/>
            <a:ext cx="79764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9363075" y="6649641"/>
            <a:ext cx="79764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the final round, use a full sentence instead of just the phrase (e.g. 我借了一把尺子。) to raise the difficulty</a:t>
            </a:r>
            <a:endParaRPr lang="en-US" sz="1088" dirty="0"/>
          </a:p>
        </p:txBody>
      </p:sp>
      <p:sp>
        <p:nvSpPr>
          <p:cNvPr id="43" name="Shape 4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3000" y="2840831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3164681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43000" y="4050506"/>
            <a:ext cx="7848600" cy="3028950"/>
          </a:xfrm>
          <a:prstGeom prst="roundRect">
            <a:avLst>
              <a:gd name="adj" fmla="val 880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19225" y="4431506"/>
            <a:ext cx="7442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419225" y="4764881"/>
            <a:ext cx="74420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fingers: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75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552575" y="50506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64196" y="5109716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05000" y="50506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16472" y="5109716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57425" y="50506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82143" y="5109716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95575" y="5096321"/>
            <a:ext cx="34153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12+ stationery/school items in Chinese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2575" y="54697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64196" y="5528816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05000" y="54697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16472" y="5528816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57425" y="54697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82143" y="5528816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95575" y="5515421"/>
            <a:ext cx="27297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支/本/把 correctly for 10+ items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2575" y="58888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64196" y="5947916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05000" y="58888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7A30">
              <a:alpha val="12000"/>
            </a:srgbClr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016472" y="5947916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57425" y="58888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96A5C">
              <a:alpha val="10000"/>
            </a:srgbClr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382143" y="5947916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95575" y="5934521"/>
            <a:ext cx="36779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Explain which category each measure word suits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19225" y="6307931"/>
            <a:ext cx="7296150" cy="533400"/>
          </a:xfrm>
          <a:prstGeom prst="roundRect">
            <a:avLst>
              <a:gd name="adj" fmla="val 21429"/>
            </a:avLst>
          </a:prstGeom>
          <a:solidFill>
            <a:srgbClr val="B87A30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71625" y="6403181"/>
            <a:ext cx="71311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note any students showing 1 finger on criterion 2 (支/本/把 accuracy) for follow-up practice next lesson.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9296400" y="4050506"/>
            <a:ext cx="7848600" cy="3028950"/>
          </a:xfrm>
          <a:prstGeom prst="roundRect">
            <a:avLst>
              <a:gd name="adj" fmla="val 880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572625" y="4431506"/>
            <a:ext cx="74420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572625" y="4764881"/>
            <a:ext cx="7296150" cy="833438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596438" y="4764881"/>
            <a:ext cx="0" cy="833437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10750" y="4898231"/>
            <a:ext cx="70048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MINI WHITEBOARDS, 2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810750" y="5136356"/>
            <a:ext cx="7004876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17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铅笔，一</a:t>
            </a:r>
            <a:r>
              <a:rPr lang="en-US" sz="17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课本，一</a:t>
            </a:r>
            <a:r>
              <a:rPr lang="en-US" sz="1725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尺子。</a:t>
            </a:r>
            <a:endParaRPr lang="en-US" sz="1725" dirty="0"/>
          </a:p>
        </p:txBody>
      </p:sp>
      <p:sp>
        <p:nvSpPr>
          <p:cNvPr id="39" name="Text 37"/>
          <p:cNvSpPr/>
          <p:nvPr/>
        </p:nvSpPr>
        <p:spPr>
          <a:xfrm>
            <a:off x="9572625" y="5712619"/>
            <a:ext cx="744207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13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endParaRPr lang="en-US" sz="1013" dirty="0"/>
          </a:p>
        </p:txBody>
      </p:sp>
      <p:sp>
        <p:nvSpPr>
          <p:cNvPr id="40" name="Text 38"/>
          <p:cNvSpPr/>
          <p:nvPr/>
        </p:nvSpPr>
        <p:spPr>
          <a:xfrm>
            <a:off x="9572625" y="6234410"/>
            <a:ext cx="744207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scans held-up whiteboards for 支/本/把 accuracy.</a:t>
            </a:r>
            <a:endParaRPr lang="en-US" sz="1013" dirty="0"/>
          </a:p>
        </p:txBody>
      </p:sp>
      <p:sp>
        <p:nvSpPr>
          <p:cNvPr id="41" name="Text 39"/>
          <p:cNvSpPr/>
          <p:nvPr/>
        </p:nvSpPr>
        <p:spPr>
          <a:xfrm>
            <a:off x="1143000" y="7269956"/>
            <a:ext cx="16002000" cy="442913"/>
          </a:xfrm>
          <a:prstGeom prst="rect">
            <a:avLst/>
          </a:prstGeom>
          <a:solidFill>
            <a:srgbClr val="3A5F8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1166813" y="7269956"/>
            <a:ext cx="0" cy="442912"/>
          </a:xfrm>
          <a:prstGeom prst="line">
            <a:avLst/>
          </a:prstGeom>
          <a:noFill/>
          <a:ln w="47625">
            <a:solidFill>
              <a:srgbClr val="3A5F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00175" y="7384256"/>
            <a:ext cx="1584598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预告 · Preview:</a:t>
            </a:r>
            <a:r>
              <a:rPr lang="en-US" sz="112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下一课，我们要学怎么"借"东西和"还"东西——一段新的对话。 Next lesson: borrowing and lending vocabulary — a new dialogue.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4193042" y="2280047"/>
            <a:ext cx="9901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4193042" y="2699147"/>
            <a:ext cx="9901916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193042" y="3842147"/>
            <a:ext cx="990191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4193042" y="4623197"/>
            <a:ext cx="99019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stationery items · measure words 支/本/把 · naming + chain drill practice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4290120" y="5394722"/>
            <a:ext cx="9707761" cy="2059781"/>
          </a:xfrm>
          <a:prstGeom prst="roundRect">
            <a:avLst>
              <a:gd name="adj" fmla="val 12948"/>
            </a:avLst>
          </a:prstGeom>
          <a:solidFill>
            <a:srgbClr val="F4F2EE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78817" y="5718572"/>
            <a:ext cx="89303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(L5)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78817" y="6023372"/>
            <a:ext cx="8930366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下一课，我们要学怎么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"借"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东西和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"还"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东西——一段新的</a:t>
            </a:r>
            <a:r>
              <a:rPr lang="en-US" sz="1875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对话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how to say 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"borrow"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875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"lend/return"</a:t>
            </a:r>
            <a:r>
              <a:rPr lang="en-US" sz="1875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 new dialogue (Text 2).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2026-07-25T11:16:12Z</dcterms:created>
  <dcterms:modified xsi:type="dcterms:W3CDTF">2026-07-25T11:16:12Z</dcterms:modified>
</cp:coreProperties>
</file>