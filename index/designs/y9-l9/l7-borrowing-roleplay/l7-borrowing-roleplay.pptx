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578894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3074194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🤝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4983956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借东西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488906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Borrowing Roleplay + 行/可以 Translation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Borrowing Dialogue + Price Pattern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295525"/>
            <a:ext cx="7924800" cy="1971675"/>
          </a:xfrm>
          <a:prstGeom prst="roundRect">
            <a:avLst>
              <a:gd name="adj" fmla="val 96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L5 TEXT 2 DIALOGUE — FILL THE 5 BLANKS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6850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忘记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495276" y="3219450"/>
            <a:ext cx="311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wàngjì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47875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90750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借给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227511" y="3219450"/>
            <a:ext cx="294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jiè gěi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71775" y="2876550"/>
            <a:ext cx="486221" cy="561975"/>
          </a:xfrm>
          <a:prstGeom prst="roundRect">
            <a:avLst>
              <a:gd name="adj" fmla="val 11754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24324" y="296227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914650" y="3219450"/>
            <a:ext cx="204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xíng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34196" y="2876550"/>
            <a:ext cx="513457" cy="561975"/>
          </a:xfrm>
          <a:prstGeom prst="roundRect">
            <a:avLst>
              <a:gd name="adj" fmla="val 11130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00438" y="296227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3477071" y="3219450"/>
            <a:ext cx="232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23854" y="2876550"/>
            <a:ext cx="466725" cy="561975"/>
          </a:xfrm>
          <a:prstGeom prst="roundRect">
            <a:avLst>
              <a:gd name="adj" fmla="val 12245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66729" y="296227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4085779" y="3219450"/>
            <a:ext cx="1455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bié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23975" y="3571875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full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dialogue with these 5 words blanked out. Cold call students to fill each one in turn; class echoes the full sentence chorally.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5450" y="2295525"/>
            <a:ext cx="7924800" cy="1905000"/>
          </a:xfrm>
          <a:prstGeom prst="roundRect">
            <a:avLst>
              <a:gd name="adj" fmla="val 10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MINI-WHITEBOARD 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1675" y="2876550"/>
            <a:ext cx="737235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91675" y="3505200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write their translation, hold up on three.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可以借一下吗？ </a:t>
            </a:r>
            <a:r>
              <a:rPr lang="en-US" sz="1200" i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借一下，行吗？ — also recap L6's price-asking pattern (多少钱？) as a quick chorus.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7750" y="4476750"/>
            <a:ext cx="16192500" cy="576263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071563" y="4476750"/>
            <a:ext cx="0" cy="57626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3975" y="462915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这节课我们要更深入地练习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"借东西"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——不只是问，还要练习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答应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或者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拒绝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，还要想一想：什么东西你会借给同学，什么不会？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566243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890093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928318"/>
            <a:ext cx="15621000" cy="1053405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928318"/>
            <a:ext cx="0" cy="105340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4137868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385518"/>
            <a:ext cx="1526305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to borrow and lend items politely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to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sentences using 行 and 可以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324624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50559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505599"/>
            <a:ext cx="110563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to borrow an item and respond by lending it or politely declining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能礼貌地借东西、回答借东西的请求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269385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45036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450360"/>
            <a:ext cx="71955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sentences using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能翻译用"行"和"可以"的句子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33500" y="7214146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39512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395121"/>
            <a:ext cx="94170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what I would and wouldn't lend, and why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能说出我会借什么、不会借什么，为什么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PATTERNS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Key Sentence Pattern Recap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55340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例子 (TEACHER READS ALOUD, CLASS REPEATS)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5829300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71575" y="5953125"/>
            <a:ext cx="162637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 · LENDING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1575" y="6153150"/>
            <a:ext cx="162637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借你的橡皮用一下，可以吗？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</a:t>
            </a:r>
            <a:r>
              <a:rPr lang="en-US" sz="15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可以，给你。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52500" y="6672263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71575" y="6796088"/>
            <a:ext cx="162637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 · DECLINING + REDIRECT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1575" y="6996113"/>
            <a:ext cx="162637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借你的课本看一下，行吗？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</a:t>
            </a:r>
            <a:r>
              <a:rPr lang="en-US" sz="15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对不起，我正在看呢。你跟别的同学借吧。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710309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GRAMMAR 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015109"/>
            <a:ext cx="163220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语法回顾 · 行 vs 可以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43000" y="3900934"/>
            <a:ext cx="7867650" cy="2837408"/>
          </a:xfrm>
          <a:prstGeom prst="roundRect">
            <a:avLst>
              <a:gd name="adj" fmla="val 9399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47800" y="4167634"/>
            <a:ext cx="1023491" cy="247650"/>
          </a:xfrm>
          <a:prstGeom prst="roundRect">
            <a:avLst>
              <a:gd name="adj" fmla="val 3842308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81150" y="4205734"/>
            <a:ext cx="771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INFORMAL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447800" y="4548634"/>
            <a:ext cx="74032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447800" y="5291584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xíng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7800" y="5634484"/>
            <a:ext cx="740321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"OK / all right"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used in casual requests among classmates.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47800" y="6033492"/>
            <a:ext cx="7258050" cy="438150"/>
          </a:xfrm>
          <a:prstGeom prst="roundRect">
            <a:avLst>
              <a:gd name="adj" fmla="val 26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00200" y="6128742"/>
            <a:ext cx="7092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借给我一支用一下，行吗？——行。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277350" y="3900934"/>
            <a:ext cx="7867650" cy="2837408"/>
          </a:xfrm>
          <a:prstGeom prst="roundRect">
            <a:avLst>
              <a:gd name="adj" fmla="val 9399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82150" y="4167634"/>
            <a:ext cx="1355229" cy="247650"/>
          </a:xfrm>
          <a:prstGeom prst="roundRect">
            <a:avLst>
              <a:gd name="adj" fmla="val 384230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15500" y="4205734"/>
            <a:ext cx="11102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MORE FORMAL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582150" y="4548634"/>
            <a:ext cx="74032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582150" y="5291584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kěyǐ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82150" y="5634484"/>
            <a:ext cx="740321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"May / can"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slightly more polite, works in any context.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582150" y="6033492"/>
            <a:ext cx="7258050" cy="438150"/>
          </a:xfrm>
          <a:prstGeom prst="roundRect">
            <a:avLst>
              <a:gd name="adj" fmla="val 26087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34550" y="6128742"/>
            <a:ext cx="7092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可以借一下吗？——可以，给你。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143000" y="6985992"/>
            <a:ext cx="16002000" cy="857250"/>
          </a:xfrm>
          <a:prstGeom prst="roundRect">
            <a:avLst>
              <a:gd name="adj" fmla="val 1333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28750" y="7157442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847850" y="7157442"/>
            <a:ext cx="8534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are interchangeable in most casual requests, but 可以 sounds more polite/formal.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47850" y="7462242"/>
            <a:ext cx="85340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either with classmates; prefer 可以 when speaking to teachers or people you don't know well.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893046"/>
          </a:xfrm>
          <a:prstGeom prst="roundRect">
            <a:avLst>
              <a:gd name="adj" fmla="val 6851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132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"Translate: 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'May I borrow your ruler?'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endParaRPr lang="en-US" sz="1275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write, hold up on three.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190625" y="5262265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1125" y="5376565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3893046"/>
          </a:xfrm>
          <a:prstGeom prst="roundRect">
            <a:avLst>
              <a:gd name="adj" fmla="val 685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Polite Decline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"Sam，how would you politely decline if a classmate asks to borrow your calculator while you're using it?"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6715125" y="4937522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05625" y="5051822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2001500" y="2257425"/>
            <a:ext cx="5334000" cy="3893046"/>
          </a:xfrm>
          <a:prstGeom prst="roundRect">
            <a:avLst>
              <a:gd name="adj" fmla="val 6851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 vs 可以 — Which Is Which?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39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"'行' 比较正式还是比较随便？" 大家一起说！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"那'可以'呢？"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2239625" y="4937522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430125" y="5051822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52500" y="6340971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90625" y="6464796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3. For the cold call, pre-identify 2–3 students who need a stretch — push them to vary the decline reason beyond "我正用呢".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76475"/>
            <a:ext cx="16383000" cy="1285875"/>
          </a:xfrm>
          <a:prstGeom prst="roundRect">
            <a:avLst>
              <a:gd name="adj" fmla="val 148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24765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91692" y="25431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76425" y="2476500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Translate: "May I borrow your ruler?"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876425" y="2781300"/>
            <a:ext cx="5160169" cy="581025"/>
          </a:xfrm>
          <a:prstGeom prst="roundRect">
            <a:avLst>
              <a:gd name="adj" fmla="val 19672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85975" y="2914650"/>
            <a:ext cx="48358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可以借一下你的尺子吗？ </a:t>
            </a:r>
            <a:r>
              <a:rPr lang="en-US" sz="1275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 借一下你的尺子，行吗？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3714750"/>
            <a:ext cx="16383000" cy="1543050"/>
          </a:xfrm>
          <a:prstGeom prst="roundRect">
            <a:avLst>
              <a:gd name="adj" fmla="val 123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28725" y="39147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72642" y="398145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76425" y="391477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politely decline while using your calculator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876425" y="4219575"/>
            <a:ext cx="4800600" cy="838200"/>
          </a:xfrm>
          <a:prstGeom prst="roundRect">
            <a:avLst>
              <a:gd name="adj" fmla="val 13636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85975" y="4352925"/>
            <a:ext cx="44691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对不起，我正用呢。你跟别的同学借吧。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85975" y="4724400"/>
            <a:ext cx="4469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for a varied reason, e.g. 对不起，这是新的，我不想借。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52500" y="5410200"/>
            <a:ext cx="16383000" cy="1285875"/>
          </a:xfrm>
          <a:prstGeom prst="roundRect">
            <a:avLst>
              <a:gd name="adj" fmla="val 148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28725" y="56102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2046" y="567690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876425" y="5610225"/>
            <a:ext cx="154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— 行 比较正式还是比较随便？那 可以 呢？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876425" y="5915025"/>
            <a:ext cx="6659166" cy="581025"/>
          </a:xfrm>
          <a:prstGeom prst="roundRect">
            <a:avLst>
              <a:gd name="adj" fmla="val 19672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085975" y="6048375"/>
            <a:ext cx="63648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行 = 比较随便 (informal) · 可以 = 比较正式 (more formal)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52525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209675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02681" y="1066800"/>
            <a:ext cx="441857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借东西 · Borrowing Roleplay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1676400"/>
            <a:ext cx="844153" cy="304800"/>
          </a:xfrm>
          <a:prstGeom prst="roundRect">
            <a:avLst>
              <a:gd name="adj" fmla="val 3121875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425" y="1733550"/>
            <a:ext cx="530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10953" y="1695450"/>
            <a:ext cx="2498973" cy="266700"/>
          </a:xfrm>
          <a:prstGeom prst="roundRect">
            <a:avLst>
              <a:gd name="adj" fmla="val 3567857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44303" y="1743075"/>
            <a:ext cx="22769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 · SPEAKING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524226" y="1743075"/>
            <a:ext cx="14234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Act. 10, p. 88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2133600"/>
            <a:ext cx="7269361" cy="3190280"/>
          </a:xfrm>
          <a:prstGeom prst="roundRect">
            <a:avLst>
              <a:gd name="adj" fmla="val 59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71575" y="2476500"/>
            <a:ext cx="69678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71575" y="2828925"/>
            <a:ext cx="6831211" cy="108168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one round with a volunteer: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borrow → lend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a second round: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borrow → politely decline + redirect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students work through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7 items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swapping roles (borrower/lender) halfway</a:t>
            </a:r>
            <a:endParaRPr lang="en-US" sz="1200" dirty="0"/>
          </a:p>
          <a:p>
            <a:pPr algn="l" marL="85725" indent="-85725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pairs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perform one exchange for the class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1575" y="4063008"/>
            <a:ext cx="6831211" cy="1060847"/>
          </a:xfrm>
          <a:prstGeom prst="roundRect">
            <a:avLst>
              <a:gd name="adj" fmla="val 17957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62075" y="4215408"/>
            <a:ext cx="65792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62075" y="4453533"/>
            <a:ext cx="657921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2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借你的______用一下，行吗？/可以吗？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62075" y="4712494"/>
            <a:ext cx="657921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2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行。/可以。 </a:t>
            </a:r>
            <a:r>
              <a:rPr lang="en-US" sz="1275" b="1" i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or</a:t>
            </a:r>
            <a:r>
              <a:rPr lang="en-US" sz="12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对不起，我正用呢。你跟别的同学借吧。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8450461" y="2133600"/>
            <a:ext cx="8885039" cy="2705100"/>
          </a:xfrm>
          <a:prstGeom prst="roundRect">
            <a:avLst>
              <a:gd name="adj" fmla="val 704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40961" y="2447925"/>
            <a:ext cx="86741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ITEMS TO BORROW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640961" y="27622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950130" y="27622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40961" y="32575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950130" y="32575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640961" y="37528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950130" y="37528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40961" y="4248150"/>
            <a:ext cx="4194870" cy="419100"/>
          </a:xfrm>
          <a:prstGeom prst="roundRect">
            <a:avLst>
              <a:gd name="adj" fmla="val 27273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5476280"/>
            <a:ext cx="8134350" cy="690563"/>
          </a:xfrm>
          <a:prstGeom prst="roundRect">
            <a:avLst>
              <a:gd name="adj" fmla="val 165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85850" y="5571530"/>
            <a:ext cx="8025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085850" y="5762030"/>
            <a:ext cx="8025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frames projected throughout for both roles (A: borrower, B: lender)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9201150" y="5476280"/>
            <a:ext cx="8134350" cy="690563"/>
          </a:xfrm>
          <a:prstGeom prst="roundRect">
            <a:avLst>
              <a:gd name="adj" fmla="val 165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334500" y="5571530"/>
            <a:ext cx="8025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9334500" y="5762030"/>
            <a:ext cx="8025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Vary the decline reason beyond "我正用呢" for at least one item, e.g. 对不起，这是新的，我不想借。</a:t>
            </a:r>
            <a:endParaRPr lang="en-US" sz="1013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23950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81100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6940" y="1047750"/>
            <a:ext cx="3973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行/可以 翻译 · Translation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1619250"/>
            <a:ext cx="851446" cy="304800"/>
          </a:xfrm>
          <a:prstGeom prst="roundRect">
            <a:avLst>
              <a:gd name="adj" fmla="val 3121875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425" y="1676400"/>
            <a:ext cx="5381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18246" y="1638300"/>
            <a:ext cx="1652736" cy="266700"/>
          </a:xfrm>
          <a:prstGeom prst="roundRect">
            <a:avLst>
              <a:gd name="adj" fmla="val 3567857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51596" y="1685925"/>
            <a:ext cx="14137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685282" y="1685925"/>
            <a:ext cx="1366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Act. 9, p. 87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2057400"/>
            <a:ext cx="16383000" cy="4913412"/>
          </a:xfrm>
          <a:prstGeom prst="roundRect">
            <a:avLst>
              <a:gd name="adj" fmla="val 5428"/>
            </a:avLst>
          </a:prstGeom>
          <a:solidFill>
            <a:srgbClr val="F4F2EE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38250" y="1943100"/>
            <a:ext cx="2649587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09700" y="1981200"/>
            <a:ext cx="23528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Independent Writing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9200" y="2505075"/>
            <a:ext cx="161665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each sentence one at a time. Students translate it in their exercise books; after each, cold call a student to share and check together as a class.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19200" y="2847975"/>
            <a:ext cx="7877175" cy="603796"/>
          </a:xfrm>
          <a:prstGeom prst="roundRect">
            <a:avLst>
              <a:gd name="adj" fmla="val 189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1600" y="294322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533971" y="2990850"/>
            <a:ext cx="2489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33971" y="3143250"/>
            <a:ext cx="24897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May I use your pencil sharpener?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91625" y="2847975"/>
            <a:ext cx="7877175" cy="603796"/>
          </a:xfrm>
          <a:prstGeom prst="roundRect">
            <a:avLst>
              <a:gd name="adj" fmla="val 189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44025" y="294322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506396" y="2990850"/>
            <a:ext cx="3307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506396" y="3143250"/>
            <a:ext cx="33070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I borrow your calculator for a moment?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9200" y="3547021"/>
            <a:ext cx="7877175" cy="630436"/>
          </a:xfrm>
          <a:prstGeom prst="roundRect">
            <a:avLst>
              <a:gd name="adj" fmla="val 181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71600" y="3642271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33971" y="3689896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33971" y="3842296"/>
            <a:ext cx="17487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借给我一支笔，行吗？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91625" y="3547021"/>
            <a:ext cx="7877175" cy="630436"/>
          </a:xfrm>
          <a:prstGeom prst="roundRect">
            <a:avLst>
              <a:gd name="adj" fmla="val 181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44025" y="3642271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506396" y="3689896"/>
            <a:ext cx="1810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506396" y="3842296"/>
            <a:ext cx="18107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I'll return it to you soon.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19200" y="4272707"/>
            <a:ext cx="7877175" cy="630436"/>
          </a:xfrm>
          <a:prstGeom prst="roundRect">
            <a:avLst>
              <a:gd name="adj" fmla="val 181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371600" y="436795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33971" y="4415582"/>
            <a:ext cx="3322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33971" y="4567982"/>
            <a:ext cx="33227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对不起，我正用着呢。你跟别的同学借吧。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191625" y="4272707"/>
            <a:ext cx="7877175" cy="630436"/>
          </a:xfrm>
          <a:prstGeom prst="roundRect">
            <a:avLst>
              <a:gd name="adj" fmla="val 181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44025" y="4367957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9506396" y="4415582"/>
            <a:ext cx="2260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 · NO WORD BANK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506396" y="4567982"/>
            <a:ext cx="22609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it OK if I borrow your ruler?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19200" y="4998393"/>
            <a:ext cx="7877175" cy="630436"/>
          </a:xfrm>
          <a:prstGeom prst="roundRect">
            <a:avLst>
              <a:gd name="adj" fmla="val 1813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371600" y="5093643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533971" y="5141268"/>
            <a:ext cx="1923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 · NO WORD BANK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533971" y="5293668"/>
            <a:ext cx="19236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可以借一下你的课本吗？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219200" y="5762179"/>
            <a:ext cx="15849600" cy="361950"/>
          </a:xfrm>
          <a:prstGeom prst="roundRect">
            <a:avLst>
              <a:gd name="adj" fmla="val 3157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35583" y="5857429"/>
            <a:ext cx="158168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219200" y="6238429"/>
            <a:ext cx="7867650" cy="560933"/>
          </a:xfrm>
          <a:prstGeom prst="roundRect">
            <a:avLst>
              <a:gd name="adj" fmla="val 20377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352550" y="6333679"/>
            <a:ext cx="7752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352550" y="6524179"/>
            <a:ext cx="775296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(借, 用, 一下, 行, 可以) projected alongside sentences 1–5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9201150" y="6238429"/>
            <a:ext cx="7867650" cy="560933"/>
          </a:xfrm>
          <a:prstGeom prst="roundRect">
            <a:avLst>
              <a:gd name="adj" fmla="val 20377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334500" y="6333679"/>
            <a:ext cx="7752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9334500" y="6524179"/>
            <a:ext cx="775296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sentences 6–7: no word bank, and add one extra clause (a reason or a time frame with 就)</a:t>
            </a:r>
            <a:endParaRPr lang="en-US" sz="1013" dirty="0"/>
          </a:p>
        </p:txBody>
      </p:sp>
      <p:sp>
        <p:nvSpPr>
          <p:cNvPr id="53" name="Shape 5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2870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1314450"/>
            <a:ext cx="169049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行/可以 Translation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857250" y="1971675"/>
            <a:ext cx="8239125" cy="893564"/>
          </a:xfrm>
          <a:prstGeom prst="roundRect">
            <a:avLst>
              <a:gd name="adj" fmla="val 1279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9175" y="2095500"/>
            <a:ext cx="774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19175" y="2324100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May I use your pencil sharpener?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1019175" y="2522934"/>
            <a:ext cx="80735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我可以用一下你的卷笔刀吗？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191625" y="1971675"/>
            <a:ext cx="8239125" cy="893564"/>
          </a:xfrm>
          <a:prstGeom prst="roundRect">
            <a:avLst>
              <a:gd name="adj" fmla="val 1279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53550" y="2095500"/>
            <a:ext cx="774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353550" y="2324100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I borrow your calculator for a moment?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9353550" y="2522934"/>
            <a:ext cx="80735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借你的计算器用一下，行吗？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57250" y="2960489"/>
            <a:ext cx="8239125" cy="893564"/>
          </a:xfrm>
          <a:prstGeom prst="roundRect">
            <a:avLst>
              <a:gd name="adj" fmla="val 1279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19175" y="3084314"/>
            <a:ext cx="774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19175" y="3312914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借给我一支笔，行吗？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1019175" y="3511748"/>
            <a:ext cx="80735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Lend me a pen, OK?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191625" y="2960489"/>
            <a:ext cx="8239125" cy="893564"/>
          </a:xfrm>
          <a:prstGeom prst="roundRect">
            <a:avLst>
              <a:gd name="adj" fmla="val 1279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53550" y="3084314"/>
            <a:ext cx="774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353550" y="3312914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I'll return it to you soon.</a:t>
            </a:r>
            <a:endParaRPr lang="en-US" sz="938" dirty="0"/>
          </a:p>
        </p:txBody>
      </p:sp>
      <p:sp>
        <p:nvSpPr>
          <p:cNvPr id="22" name="Text 20"/>
          <p:cNvSpPr/>
          <p:nvPr/>
        </p:nvSpPr>
        <p:spPr>
          <a:xfrm>
            <a:off x="9353550" y="3511748"/>
            <a:ext cx="80735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我一会儿就还给你。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857250" y="3949303"/>
            <a:ext cx="8239125" cy="1084064"/>
          </a:xfrm>
          <a:prstGeom prst="roundRect">
            <a:avLst>
              <a:gd name="adj" fmla="val 1054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19175" y="4073128"/>
            <a:ext cx="774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019175" y="4301728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对不起，我正用着呢。你跟别的同学借吧。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1019175" y="4500563"/>
            <a:ext cx="80735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Sorry, I'm using it right now. Ask another classmate.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191625" y="3949303"/>
            <a:ext cx="8239125" cy="1084064"/>
          </a:xfrm>
          <a:prstGeom prst="roundRect">
            <a:avLst>
              <a:gd name="adj" fmla="val 1054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53550" y="4073128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→ 中文 · EXTENSION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353550" y="4301728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it OK if I borrow your ruler?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9353550" y="4500563"/>
            <a:ext cx="8073581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借一下你的尺子，行吗？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353550" y="4757142"/>
            <a:ext cx="8073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extra clause: ……我一会儿就还给你。</a:t>
            </a:r>
            <a:endParaRPr lang="en-US" sz="863" dirty="0"/>
          </a:p>
        </p:txBody>
      </p:sp>
      <p:sp>
        <p:nvSpPr>
          <p:cNvPr id="32" name="Text 30"/>
          <p:cNvSpPr/>
          <p:nvPr/>
        </p:nvSpPr>
        <p:spPr>
          <a:xfrm>
            <a:off x="857250" y="5128617"/>
            <a:ext cx="8239125" cy="1058466"/>
          </a:xfrm>
          <a:prstGeom prst="roundRect">
            <a:avLst>
              <a:gd name="adj" fmla="val 1079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19175" y="5252442"/>
            <a:ext cx="162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r>
              <a:rPr lang="en-US" sz="825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→ EN · EXTENSION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019175" y="5481042"/>
            <a:ext cx="8073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可以借一下你的课本吗？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1019175" y="5679877"/>
            <a:ext cx="80735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May I borrow your textbook for a moment?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019175" y="5910858"/>
            <a:ext cx="8073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extra clause: ……我看完就还给你。 (I'll return it as soon as I've read it.)</a:t>
            </a:r>
            <a:endParaRPr lang="en-US" sz="863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2054572" cy="304800"/>
          </a:xfrm>
          <a:prstGeom prst="roundRect">
            <a:avLst>
              <a:gd name="adj" fmla="val 3121875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200150"/>
            <a:ext cx="17070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SURVEY + MINGLING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97572" y="1066800"/>
            <a:ext cx="2972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你会借给同学什么？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1657350"/>
            <a:ext cx="851446" cy="304800"/>
          </a:xfrm>
          <a:prstGeom prst="roundRect">
            <a:avLst>
              <a:gd name="adj" fmla="val 3121875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425" y="1714500"/>
            <a:ext cx="5381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18246" y="1676400"/>
            <a:ext cx="2709714" cy="266700"/>
          </a:xfrm>
          <a:prstGeom prst="roundRect">
            <a:avLst>
              <a:gd name="adj" fmla="val 3567857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51596" y="1724025"/>
            <a:ext cx="24918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SOMEONE WHO · SPEAKING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42259" y="1724025"/>
            <a:ext cx="1712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Act. 11 &amp; 12, p. 88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2133600"/>
            <a:ext cx="6857405" cy="2555677"/>
          </a:xfrm>
          <a:prstGeom prst="roundRect">
            <a:avLst>
              <a:gd name="adj" fmla="val 74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90625" y="2495550"/>
            <a:ext cx="6508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90625" y="2847975"/>
            <a:ext cx="6381155" cy="1469827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04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Stand up and interview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classmates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noting one item + reason from each in your exercise book</a:t>
            </a:r>
            <a:endParaRPr lang="en-US" sz="1200" dirty="0"/>
          </a:p>
          <a:p>
            <a:pPr algn="l" marL="85725" indent="-85725">
              <a:lnSpc>
                <a:spcPts val="1704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Reconvene as a class; cold call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students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share what they found, e.g. "Sam说他会借铅笔，但是不会借他的日记本，因为……"</a:t>
            </a:r>
            <a:endParaRPr lang="en-US" sz="1200" dirty="0"/>
          </a:p>
          <a:p>
            <a:pPr algn="l" marL="85725" indent="-85725">
              <a:lnSpc>
                <a:spcPts val="1704"/>
              </a:lnSpc>
              <a:buSzPct val="100000"/>
              <a:buChar char="•"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Wrap up with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short partner borrowing dialogues, performed on the spot by volunteer pairs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57555" y="2133600"/>
            <a:ext cx="9277945" cy="3305175"/>
          </a:xfrm>
          <a:prstGeom prst="roundRect">
            <a:avLst>
              <a:gd name="adj" fmla="val 5764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67105" y="2466975"/>
            <a:ext cx="9036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FRAME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267105" y="2781300"/>
            <a:ext cx="8858845" cy="609600"/>
          </a:xfrm>
          <a:prstGeom prst="roundRect">
            <a:avLst>
              <a:gd name="adj" fmla="val 18750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38555" y="2914650"/>
            <a:ext cx="8686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你会借给同学什么？你不会借给同学什么？为什么？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5591175"/>
            <a:ext cx="8134350" cy="690563"/>
          </a:xfrm>
          <a:prstGeom prst="roundRect">
            <a:avLst>
              <a:gd name="adj" fmla="val 165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85850" y="5686425"/>
            <a:ext cx="8025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085850" y="5876925"/>
            <a:ext cx="8025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projected: 我会借给同学______，因为______。我不会借给同学______，因为______。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9201150" y="5591175"/>
            <a:ext cx="8134350" cy="690563"/>
          </a:xfrm>
          <a:prstGeom prst="roundRect">
            <a:avLst>
              <a:gd name="adj" fmla="val 16552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334500" y="5686425"/>
            <a:ext cx="8025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334500" y="5876925"/>
            <a:ext cx="8025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interview at least 5 classmates and report back using reported speech ("Sam说他……")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976563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281363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4167188"/>
            <a:ext cx="7848600" cy="3028950"/>
          </a:xfrm>
          <a:prstGeom prst="roundRect">
            <a:avLst>
              <a:gd name="adj" fmla="val 88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9225" y="4557713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9225" y="4900613"/>
            <a:ext cx="7442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552575" y="51863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64196" y="5245447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5000" y="51863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6472" y="5245447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57425" y="51863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82143" y="5245447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5575" y="5232053"/>
            <a:ext cx="36524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to borrow &amp; respond by lending or declining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2575" y="56054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64196" y="5664547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5000" y="56054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16472" y="5664547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57425" y="56054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82143" y="5664547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95575" y="5651153"/>
            <a:ext cx="28827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sentences using 行 and 可以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2575" y="60245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64196" y="6083647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05000" y="60245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6472" y="6083647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57425" y="60245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82143" y="6083647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95575" y="6070253"/>
            <a:ext cx="33430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Explain what I would/wouldn't lend, and why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9225" y="6443663"/>
            <a:ext cx="7296150" cy="514350"/>
          </a:xfrm>
          <a:prstGeom prst="roundRect">
            <a:avLst>
              <a:gd name="adj" fmla="val 22222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52575" y="6529388"/>
            <a:ext cx="71700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2 (行/可以 translation) for extra scaffolding next lesson's review.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296400" y="4167188"/>
            <a:ext cx="7848600" cy="3028950"/>
          </a:xfrm>
          <a:prstGeom prst="roundRect">
            <a:avLst>
              <a:gd name="adj" fmla="val 88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72625" y="4557713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72625" y="4900613"/>
            <a:ext cx="7296150" cy="77152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96438" y="4900613"/>
            <a:ext cx="0" cy="77152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91700" y="5033963"/>
            <a:ext cx="7043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IN EXERCISE BOOK (MINI WHITEBOARD, 2 MIN)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91700" y="5272088"/>
            <a:ext cx="70437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我会借给同学</a:t>
            </a: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，因为</a:t>
            </a: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72625" y="5786438"/>
            <a:ext cx="744207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572625" y="6262241"/>
            <a:ext cx="7442073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reads over shoulders; tap any student with an incomplete reason and gesture them to add one.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982980" y="7386638"/>
            <a:ext cx="16322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Next up: </a:t>
            </a: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复习 Unit 3 + 测验 3.3 准备, the final lesson of this unit.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562356" y="2280047"/>
            <a:ext cx="1316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562356" y="2699147"/>
            <a:ext cx="1316328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562356" y="3842147"/>
            <a:ext cx="131632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562356" y="4623197"/>
            <a:ext cx="131632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politely borrowing &amp; lending · 行/可以 translation · mingling survey 你会借给同学什么？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691408" y="5394722"/>
            <a:ext cx="12905184" cy="2059781"/>
          </a:xfrm>
          <a:prstGeom prst="roundRect">
            <a:avLst>
              <a:gd name="adj" fmla="val 12948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131" y="5718572"/>
            <a:ext cx="12191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(L8, FINAL LESSON OF UNIT 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8131" y="6023372"/>
            <a:ext cx="12191738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下一课是这个单元最后一课——我们要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复习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所有关于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的内容，准备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考试3.3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is the final lesson of this unit — we'll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everything about 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stationery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prepare for 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3.3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2026-07-25T11:16:36Z</dcterms:created>
  <dcterms:modified xsi:type="dcterms:W3CDTF">2026-07-25T11:16:36Z</dcterms:modified>
</cp:coreProperties>
</file>