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57150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卖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4043363" y="2578894"/>
            <a:ext cx="10201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6 OF 8 · Y9 UNIT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043363" y="3074194"/>
            <a:ext cx="1020127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🛍️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4043363" y="4983956"/>
            <a:ext cx="1020127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0"/>
              </a:lnSpc>
              <a:spcBef>
                <a:spcPts val="7538"/>
              </a:spcBef>
              <a:spcAft>
                <a:spcPts val="600"/>
              </a:spcAft>
              <a:buNone/>
            </a:pPr>
            <a:r>
              <a:rPr lang="en-US" sz="112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文具店</a:t>
            </a:r>
            <a:r>
              <a:rPr lang="en-US" sz="1125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112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买东西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4043363" y="6488906"/>
            <a:ext cx="102012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Stationery Shop Roleplay + Extra Words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47750" y="1143000"/>
            <a:ext cx="16516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7750" y="1447800"/>
            <a:ext cx="1651635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Borrowing Recap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47750" y="2295525"/>
            <a:ext cx="16192500" cy="3333750"/>
          </a:xfrm>
          <a:prstGeom prst="roundRect">
            <a:avLst>
              <a:gd name="adj" fmla="val 571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23975" y="2533650"/>
            <a:ext cx="159528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L5 TEXT 2 DIALOGUE — FILL THE BLANKS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3975" y="2876550"/>
            <a:ext cx="15640050" cy="466725"/>
          </a:xfrm>
          <a:prstGeom prst="roundRect">
            <a:avLst>
              <a:gd name="adj" fmla="val 24490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95425" y="2971800"/>
            <a:ext cx="1560309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糟糕，我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带铅笔了！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323975" y="3438525"/>
            <a:ext cx="15640050" cy="466725"/>
          </a:xfrm>
          <a:prstGeom prst="roundRect">
            <a:avLst>
              <a:gd name="adj" fmla="val 24490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95425" y="3533775"/>
            <a:ext cx="1560309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没关系，我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你一支。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1323975" y="4000500"/>
            <a:ext cx="15640050" cy="466725"/>
          </a:xfrm>
          <a:prstGeom prst="roundRect">
            <a:avLst>
              <a:gd name="adj" fmla="val 24490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95425" y="4095750"/>
            <a:ext cx="1560309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谢谢！我可以借你的橡皮擦吗？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1323975" y="4562475"/>
            <a:ext cx="15640050" cy="466725"/>
          </a:xfrm>
          <a:prstGeom prst="roundRect">
            <a:avLst>
              <a:gd name="adj" fmla="val 24490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495425" y="4657725"/>
            <a:ext cx="1560309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，但是你要早一点</a:t>
            </a:r>
            <a:r>
              <a:rPr lang="en-US" sz="157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给我。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323975" y="5162550"/>
            <a:ext cx="15952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the dialogue with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忘记、借给、行、还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blanked out; cold call students to fill each blank aloud, class echoes chorally.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47750" y="5819775"/>
            <a:ext cx="16192500" cy="1171575"/>
          </a:xfrm>
          <a:prstGeom prst="roundRect">
            <a:avLst>
              <a:gd name="adj" fmla="val 1626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323975" y="6057900"/>
            <a:ext cx="159528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B · MINI WHITEBOARD CHECK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24025" y="6462713"/>
            <a:ext cx="68343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"Write the Chinese for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'calculator'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." Students write on mini whiteboards, hold up on three.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47750" y="7296150"/>
            <a:ext cx="16192500" cy="576263"/>
          </a:xfrm>
          <a:prstGeom prst="rect">
            <a:avLst/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071563" y="7296150"/>
            <a:ext cx="0" cy="576262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3975" y="7448550"/>
            <a:ext cx="1600142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上节课我们学了怎么"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借</a:t>
            </a: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"东西。今天我们要去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文具店</a:t>
            </a: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——学怎么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买</a:t>
            </a:r>
            <a:r>
              <a:rPr lang="en-US" sz="14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东西，还有怎么问价钱。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33500" y="2509093"/>
            <a:ext cx="159334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33500" y="2832943"/>
            <a:ext cx="1593342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333500" y="3871168"/>
            <a:ext cx="15621000" cy="1053405"/>
          </a:xfrm>
          <a:prstGeom prst="rect">
            <a:avLst/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357313" y="3871168"/>
            <a:ext cx="0" cy="1053405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85925" y="4080718"/>
            <a:ext cx="152630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685925" y="4328368"/>
            <a:ext cx="1526305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r>
              <a:rPr lang="en-US" sz="21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roleplay buying stationery</a:t>
            </a:r>
            <a:r>
              <a:rPr lang="en-US" sz="21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asking prices with </a:t>
            </a:r>
            <a:r>
              <a:rPr lang="en-US" sz="21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多少钱</a:t>
            </a:r>
            <a:r>
              <a:rPr lang="en-US" sz="21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and using 5 new Extra Words.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33500" y="5267474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71625" y="5467499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143125" y="5467499"/>
            <a:ext cx="73994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name the </a:t>
            </a:r>
            <a:r>
              <a:rPr lang="en-US" sz="16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Extra Words</a:t>
            </a: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stationery items </a:t>
            </a:r>
            <a:r>
              <a:rPr lang="en-US" sz="16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能说出五个新的文具词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33500" y="6250335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71625" y="6450360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2143125" y="6450360"/>
            <a:ext cx="816405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ask and answer </a:t>
            </a:r>
            <a:r>
              <a:rPr lang="en-US" sz="16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"how much does X cost"</a:t>
            </a: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using 多少钱 </a:t>
            </a:r>
            <a:r>
              <a:rPr lang="en-US" sz="16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能用"多少钱"问价钱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333500" y="7233196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71625" y="7433221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2143125" y="7433221"/>
            <a:ext cx="790204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perform a </a:t>
            </a:r>
            <a:r>
              <a:rPr lang="en-US" sz="16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short shop dialogue</a:t>
            </a: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a partner </a:t>
            </a:r>
            <a:r>
              <a:rPr lang="en-US" sz="16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能和同伴表演买文具的对话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430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10–14 MIN · I DO · NEW VOCABULARY (EXTRA WORDS, P.84 ACT.6)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428750"/>
            <a:ext cx="167106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新词 · 5 Extra Words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52500" y="2266950"/>
            <a:ext cx="3154561" cy="1685925"/>
          </a:xfrm>
          <a:prstGeom prst="roundRect">
            <a:avLst>
              <a:gd name="adj" fmla="val 1129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33475" y="2486025"/>
            <a:ext cx="3303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支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133475" y="3019425"/>
            <a:ext cx="2848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zhī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1133475" y="3276600"/>
            <a:ext cx="2848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measure word for pens/pencils (recap)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4259461" y="2266950"/>
            <a:ext cx="3154710" cy="1685925"/>
          </a:xfrm>
          <a:prstGeom prst="roundRect">
            <a:avLst>
              <a:gd name="adj" fmla="val 1129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40436" y="2486025"/>
            <a:ext cx="9909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礼品纸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4440436" y="3019425"/>
            <a:ext cx="15723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lǐpǐnzhǐ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4440436" y="3276600"/>
            <a:ext cx="15723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gift wrapping paper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7566571" y="2266950"/>
            <a:ext cx="3154710" cy="1685925"/>
          </a:xfrm>
          <a:prstGeom prst="roundRect">
            <a:avLst>
              <a:gd name="adj" fmla="val 1129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47546" y="2486025"/>
            <a:ext cx="660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钢笔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7747546" y="3019425"/>
            <a:ext cx="10035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gāngbǐ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7747546" y="3276600"/>
            <a:ext cx="10035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fountain pen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0873680" y="2266950"/>
            <a:ext cx="3154710" cy="1685925"/>
          </a:xfrm>
          <a:prstGeom prst="roundRect">
            <a:avLst>
              <a:gd name="adj" fmla="val 1129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054655" y="2486025"/>
            <a:ext cx="660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毛笔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054655" y="3019425"/>
            <a:ext cx="1358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máobǐ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11054655" y="3276600"/>
            <a:ext cx="1358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calligraphy brush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14180790" y="2266950"/>
            <a:ext cx="3154710" cy="1685925"/>
          </a:xfrm>
          <a:prstGeom prst="roundRect">
            <a:avLst>
              <a:gd name="adj" fmla="val 1129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4361765" y="2486025"/>
            <a:ext cx="9909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笔记本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4361765" y="3019425"/>
            <a:ext cx="7430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bǐjìběn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14361765" y="3276600"/>
            <a:ext cx="7430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notebook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952500" y="4219575"/>
            <a:ext cx="16383000" cy="921841"/>
          </a:xfrm>
          <a:prstGeom prst="roundRect">
            <a:avLst>
              <a:gd name="adj" fmla="val 12399"/>
            </a:avLst>
          </a:prstGeom>
          <a:solidFill>
            <a:srgbClr val="3A5F8A">
              <a:alpha val="12000"/>
            </a:srgbClr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660922" y="4391025"/>
            <a:ext cx="15696605" cy="578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字形小知识 · Component breakdown:</a:t>
            </a:r>
            <a:r>
              <a:rPr lang="en-US" sz="1425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钢</a:t>
            </a:r>
            <a:r>
              <a:rPr lang="en-US" sz="1425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(steel)+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笔</a:t>
            </a:r>
            <a:r>
              <a:rPr lang="en-US" sz="1425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(pen)=钢笔 "fountain pen" · 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毛</a:t>
            </a:r>
            <a:r>
              <a:rPr lang="en-US" sz="1425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(hair/fur)+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笔</a:t>
            </a:r>
            <a:r>
              <a:rPr lang="en-US" sz="1425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(pen)=毛笔 "calligraphy brush" — traditionally made with animal hair · 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笔记本</a:t>
            </a:r>
            <a:r>
              <a:rPr lang="en-US" sz="1425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(notebook) vs </a:t>
            </a:r>
            <a:r>
              <a:rPr lang="en-US" sz="14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练习本</a:t>
            </a:r>
            <a:r>
              <a:rPr lang="en-US" sz="1425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(exercise book, L1) — both use 本, but 笔记 means "notes"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8585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14–18 MIN · I DO · ASKING PRICES (P.87)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371600"/>
            <a:ext cx="167106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句型 · Asking Prices with 多少钱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52500" y="2057400"/>
            <a:ext cx="16383000" cy="870496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81075" y="2057400"/>
            <a:ext cx="0" cy="870496"/>
          </a:xfrm>
          <a:prstGeom prst="line">
            <a:avLst/>
          </a:prstGeom>
          <a:noFill/>
          <a:ln w="57150">
            <a:solidFill>
              <a:srgbClr val="3A5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2190750"/>
            <a:ext cx="160694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STRUCTURE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952500" y="3099346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SAMPLE DIALOGUE · P.87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52500" y="3394621"/>
            <a:ext cx="8077200" cy="438150"/>
          </a:xfrm>
          <a:prstGeom prst="roundRect">
            <a:avLst>
              <a:gd name="adj" fmla="val 260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14425" y="3489871"/>
            <a:ext cx="79084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r>
              <a:rPr lang="en-US" sz="14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一本汉语课本多少钱？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952500" y="3908971"/>
            <a:ext cx="8077200" cy="438150"/>
          </a:xfrm>
          <a:prstGeom prst="roundRect">
            <a:avLst>
              <a:gd name="adj" fmla="val 260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14425" y="4004221"/>
            <a:ext cx="79084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r>
              <a:rPr lang="en-US" sz="14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一百一十八块。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952500" y="4423321"/>
            <a:ext cx="8077200" cy="438150"/>
          </a:xfrm>
          <a:prstGeom prst="roundRect">
            <a:avLst>
              <a:gd name="adj" fmla="val 260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14425" y="4518571"/>
            <a:ext cx="79084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r>
              <a:rPr lang="en-US" sz="14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一支铅笔多少钱？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952500" y="4937671"/>
            <a:ext cx="8077200" cy="438150"/>
          </a:xfrm>
          <a:prstGeom prst="roundRect">
            <a:avLst>
              <a:gd name="adj" fmla="val 260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14425" y="5032921"/>
            <a:ext cx="79084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r>
              <a:rPr lang="en-US" sz="14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三块九毛。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9258300" y="3099346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MODELLED EXAMPLES · TEACHER READS, CLASS REPEATS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9258300" y="3394621"/>
            <a:ext cx="8077200" cy="619125"/>
          </a:xfrm>
          <a:prstGeom prst="roundRect">
            <a:avLst>
              <a:gd name="adj" fmla="val 1846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420225" y="3489871"/>
            <a:ext cx="7908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1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9420225" y="3670846"/>
            <a:ext cx="79084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一本笔记本多少钱？——五块。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9258300" y="4089946"/>
            <a:ext cx="8077200" cy="619125"/>
          </a:xfrm>
          <a:prstGeom prst="roundRect">
            <a:avLst>
              <a:gd name="adj" fmla="val 1846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420225" y="4185196"/>
            <a:ext cx="7908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2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9420225" y="4366171"/>
            <a:ext cx="79084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一支钢笔多少钱？——二十五块。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9258300" y="4785271"/>
            <a:ext cx="8077200" cy="647700"/>
          </a:xfrm>
          <a:prstGeom prst="roundRect">
            <a:avLst>
              <a:gd name="adj" fmla="val 17647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420225" y="4880521"/>
            <a:ext cx="7908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SILLY EXAMPLE — WAIT FOR REACTION!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9420225" y="5061496"/>
            <a:ext cx="79084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一支毛笔多少钱？——一千块！😄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18–20 MIN · CHECK FOR UNDERSTANDING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52500" y="2257425"/>
            <a:ext cx="5334000" cy="3111698"/>
          </a:xfrm>
          <a:prstGeom prst="roundRect">
            <a:avLst>
              <a:gd name="adj" fmla="val 8571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90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55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90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190625" y="3390900"/>
            <a:ext cx="49549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毛笔 or 钢笔?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90625" y="3810000"/>
            <a:ext cx="4954905" cy="1254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 </a:t>
            </a: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毛笔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"毛笔是用来写书法的吗？大拇指向上表示对，向下表示错！" Thumbs up if 毛笔 is used for calligraphy, thumbs down if it's a ballpoint pen.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6477000" y="2257425"/>
            <a:ext cx="5334000" cy="3111698"/>
          </a:xfrm>
          <a:prstGeom prst="roundRect">
            <a:avLst>
              <a:gd name="adj" fmla="val 857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151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798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151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715125" y="3390900"/>
            <a:ext cx="49549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the Price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715125" y="3810000"/>
            <a:ext cx="4954905" cy="57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"Write the price </a:t>
            </a:r>
            <a:r>
              <a:rPr lang="en-US" sz="16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'15 块 5 毛'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as you would say it." Every student writes on a mini whiteboard and holds up on three.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6715125" y="4480917"/>
            <a:ext cx="4857750" cy="450056"/>
          </a:xfrm>
          <a:prstGeom prst="roundRect">
            <a:avLst>
              <a:gd name="adj" fmla="val 25397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05625" y="4595217"/>
            <a:ext cx="4566285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2001500" y="2257425"/>
            <a:ext cx="5334000" cy="3111698"/>
          </a:xfrm>
          <a:prstGeom prst="roundRect">
            <a:avLst>
              <a:gd name="adj" fmla="val 8571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239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404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239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2239625" y="3390900"/>
            <a:ext cx="49549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Ask the Price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2239625" y="3810000"/>
            <a:ext cx="4954905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asks: "Priya，怎么问</a:t>
            </a:r>
            <a:r>
              <a:rPr lang="en-US" sz="16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'how much is this notebook'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？"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12239625" y="4229993"/>
            <a:ext cx="4857750" cy="450056"/>
          </a:xfrm>
          <a:prstGeom prst="roundRect">
            <a:avLst>
              <a:gd name="adj" fmla="val 25397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2430125" y="4344293"/>
            <a:ext cx="4566285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952500" y="5559623"/>
            <a:ext cx="16383000" cy="476250"/>
          </a:xfrm>
          <a:prstGeom prst="roundRect">
            <a:avLst>
              <a:gd name="adj" fmla="val 24000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190625" y="5683448"/>
            <a:ext cx="16224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Aim for 100% participation on checks 1 and 2. For the cold call, pre-identify 2–3 students who need a stretch — ask them to extend with a second item.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Checkpoints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52500" y="2295525"/>
            <a:ext cx="10477500" cy="1609725"/>
          </a:xfrm>
          <a:prstGeom prst="roundRect">
            <a:avLst>
              <a:gd name="adj" fmla="val 1183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28725" y="24955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72642" y="2562225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876425" y="2495550"/>
            <a:ext cx="946289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— write the price "15 块 5 毛"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876425" y="2828925"/>
            <a:ext cx="6831062" cy="876300"/>
          </a:xfrm>
          <a:prstGeom prst="roundRect">
            <a:avLst>
              <a:gd name="adj" fmla="val 13043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105025" y="2962275"/>
            <a:ext cx="650133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</a:t>
            </a:r>
            <a:r>
              <a:rPr lang="en-US" sz="195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十五</a:t>
            </a:r>
            <a:r>
              <a:rPr lang="en-US" sz="1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块</a:t>
            </a:r>
            <a:r>
              <a:rPr lang="en-US" sz="195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</a:t>
            </a:r>
            <a:r>
              <a:rPr lang="en-US" sz="1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2105025" y="3371850"/>
            <a:ext cx="6501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Number before 块 (yuan), then number before 毛 (jiao) — no 和 or 零 needed between them.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952500" y="4076700"/>
            <a:ext cx="10477500" cy="1609725"/>
          </a:xfrm>
          <a:prstGeom prst="roundRect">
            <a:avLst>
              <a:gd name="adj" fmla="val 1183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28725" y="4276725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72046" y="4343400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876425" y="4276725"/>
            <a:ext cx="946289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— how to ask "how much is this notebook"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876425" y="4610100"/>
            <a:ext cx="7142559" cy="876300"/>
          </a:xfrm>
          <a:prstGeom prst="roundRect">
            <a:avLst>
              <a:gd name="adj" fmla="val 13043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105025" y="4743450"/>
            <a:ext cx="681906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这本</a:t>
            </a:r>
            <a:r>
              <a:rPr lang="en-US" sz="195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笔记本</a:t>
            </a:r>
            <a:r>
              <a:rPr lang="en-US" sz="1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多少钱？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105025" y="5153025"/>
            <a:ext cx="68190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Measure word 本 (for bound items) + item + 多少钱？ — same structure as 一本汉语课本多少钱？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271588"/>
            <a:ext cx="1259681" cy="304800"/>
          </a:xfrm>
          <a:prstGeom prst="roundRect">
            <a:avLst>
              <a:gd name="adj" fmla="val 3121875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43000" y="1328738"/>
            <a:ext cx="8962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02681" y="1143000"/>
            <a:ext cx="4003849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Guided Roleplay Model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952500" y="1952625"/>
            <a:ext cx="965448" cy="352425"/>
          </a:xfrm>
          <a:prstGeom prst="roundRect">
            <a:avLst>
              <a:gd name="adj" fmla="val 2700000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33475" y="2019300"/>
            <a:ext cx="61556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32248" y="1985963"/>
            <a:ext cx="794891" cy="285750"/>
          </a:xfrm>
          <a:prstGeom prst="roundRect">
            <a:avLst>
              <a:gd name="adj" fmla="val 3330000"/>
            </a:avLst>
          </a:prstGeom>
          <a:solidFill>
            <a:srgbClr val="C96A5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65598" y="2033588"/>
            <a:ext cx="5387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52500" y="2552700"/>
            <a:ext cx="8039100" cy="3009900"/>
          </a:xfrm>
          <a:prstGeom prst="roundRect">
            <a:avLst>
              <a:gd name="adj" fmla="val 632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09675" y="2962275"/>
            <a:ext cx="76752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 (BASED ON ACT. 6, P.84)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09675" y="3324225"/>
            <a:ext cx="7524750" cy="1828800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algn="l" marL="104775" indent="-104775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(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seller</a:t>
            </a: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 and a student volunteer (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buyer</a:t>
            </a: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 perform the full shop dialogue using the projected sample pattern</a:t>
            </a:r>
            <a:endParaRPr lang="en-US" sz="1350" dirty="0"/>
          </a:p>
          <a:p>
            <a:pPr algn="l" marL="104775" indent="-104775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 come from the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vocabulary lists</a:t>
            </a: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(Lessons 1, 4, 6)</a:t>
            </a:r>
            <a:endParaRPr lang="en-US" sz="1350" dirty="0"/>
          </a:p>
          <a:p>
            <a:pPr algn="l" marL="104775" indent="-104775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Perform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rounds</a:t>
            </a: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teacher highlights the price-answer structure (X块Y毛) on the projector each time</a:t>
            </a:r>
            <a:endParaRPr lang="en-US" sz="1350" dirty="0"/>
          </a:p>
          <a:p>
            <a:pPr algn="l" marL="104775" indent="-104775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 observes and notes the pattern, then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chorally repeats</a:t>
            </a:r>
            <a:r>
              <a:rPr lang="en-US" sz="13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each line once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296400" y="2552700"/>
            <a:ext cx="8039100" cy="438150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9320212" y="2552700"/>
            <a:ext cx="0" cy="438150"/>
          </a:xfrm>
          <a:prstGeom prst="line">
            <a:avLst/>
          </a:prstGeom>
          <a:noFill/>
          <a:ln w="47625">
            <a:solidFill>
              <a:srgbClr val="B87A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15475" y="2647950"/>
            <a:ext cx="78015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买家</a:t>
            </a:r>
            <a:r>
              <a:rPr lang="en-US" sz="14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你好！我想买一支钢笔。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9296400" y="3105150"/>
            <a:ext cx="8039100" cy="438150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9320212" y="3105150"/>
            <a:ext cx="0" cy="438150"/>
          </a:xfrm>
          <a:prstGeom prst="line">
            <a:avLst/>
          </a:prstGeom>
          <a:noFill/>
          <a:ln w="47625">
            <a:solidFill>
              <a:srgbClr val="B87A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15475" y="3200400"/>
            <a:ext cx="78015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卖家</a:t>
            </a:r>
            <a:r>
              <a:rPr lang="en-US" sz="14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好的，给你。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296400" y="3657600"/>
            <a:ext cx="8039100" cy="438150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9320212" y="3657600"/>
            <a:ext cx="0" cy="438150"/>
          </a:xfrm>
          <a:prstGeom prst="line">
            <a:avLst/>
          </a:prstGeom>
          <a:noFill/>
          <a:ln w="47625">
            <a:solidFill>
              <a:srgbClr val="B87A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15475" y="3752850"/>
            <a:ext cx="78015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买家</a:t>
            </a:r>
            <a:r>
              <a:rPr lang="en-US" sz="14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一支钢笔多少钱？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9296400" y="4210050"/>
            <a:ext cx="8039100" cy="438150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9320212" y="4210050"/>
            <a:ext cx="0" cy="438150"/>
          </a:xfrm>
          <a:prstGeom prst="line">
            <a:avLst/>
          </a:prstGeom>
          <a:noFill/>
          <a:ln w="47625">
            <a:solidFill>
              <a:srgbClr val="B87A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15475" y="4305300"/>
            <a:ext cx="78015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卖家</a:t>
            </a:r>
            <a:r>
              <a:rPr lang="en-US" sz="14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二十五块。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9296400" y="4762500"/>
            <a:ext cx="8039100" cy="1047750"/>
          </a:xfrm>
          <a:prstGeom prst="roundRect">
            <a:avLst>
              <a:gd name="adj" fmla="val 18182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486900" y="5029200"/>
            <a:ext cx="78112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PRICE LIST · KEEP PROJECTED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486900" y="5314950"/>
            <a:ext cx="523726" cy="361950"/>
          </a:xfrm>
          <a:prstGeom prst="roundRect">
            <a:avLst>
              <a:gd name="adj" fmla="val 31579"/>
            </a:avLst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629775" y="5381625"/>
            <a:ext cx="242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5块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10086826" y="5314950"/>
            <a:ext cx="837456" cy="361950"/>
          </a:xfrm>
          <a:prstGeom prst="roundRect">
            <a:avLst>
              <a:gd name="adj" fmla="val 31579"/>
            </a:avLst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229701" y="5381625"/>
            <a:ext cx="5627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15块5毛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11000482" y="5314950"/>
            <a:ext cx="599629" cy="361950"/>
          </a:xfrm>
          <a:prstGeom prst="roundRect">
            <a:avLst>
              <a:gd name="adj" fmla="val 31579"/>
            </a:avLst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1143357" y="5381625"/>
            <a:ext cx="320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25块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11676311" y="5314950"/>
            <a:ext cx="761554" cy="361950"/>
          </a:xfrm>
          <a:prstGeom prst="roundRect">
            <a:avLst>
              <a:gd name="adj" fmla="val 31579"/>
            </a:avLst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1819186" y="5381625"/>
            <a:ext cx="485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3块9毛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12514064" y="5314950"/>
            <a:ext cx="675531" cy="361950"/>
          </a:xfrm>
          <a:prstGeom prst="roundRect">
            <a:avLst>
              <a:gd name="adj" fmla="val 31579"/>
            </a:avLst>
          </a:prstGeom>
          <a:solidFill>
            <a:srgbClr val="FEFCF7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2656939" y="5381625"/>
            <a:ext cx="397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118块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952500" y="6038850"/>
            <a:ext cx="5359301" cy="962025"/>
          </a:xfrm>
          <a:prstGeom prst="roundRect">
            <a:avLst>
              <a:gd name="adj" fmla="val 11881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104900" y="6153150"/>
            <a:ext cx="51555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1104900" y="6343650"/>
            <a:ext cx="515559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the sentence pattern and price list projected throughout the demonstration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6464201" y="6038850"/>
            <a:ext cx="5359450" cy="962025"/>
          </a:xfrm>
          <a:prstGeom prst="roundRect">
            <a:avLst>
              <a:gd name="adj" fmla="val 11881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16601" y="6153150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6616601" y="6343650"/>
            <a:ext cx="51557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a fluent volunteer to extend the model dialogue with one extra line, e.g. asking for a second item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11976050" y="6038850"/>
            <a:ext cx="5359450" cy="962025"/>
          </a:xfrm>
          <a:prstGeom prst="roundRect">
            <a:avLst>
              <a:gd name="adj" fmla="val 11881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2128450" y="6153150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12128450" y="6343650"/>
            <a:ext cx="51557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 class watches both rounds, then chorally repeats each line of the modelled dialogue once</a:t>
            </a:r>
            <a:endParaRPr lang="en-US" sz="1125" dirty="0"/>
          </a:p>
        </p:txBody>
      </p:sp>
      <p:sp>
        <p:nvSpPr>
          <p:cNvPr id="48" name="Shape 4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81088"/>
            <a:ext cx="978545" cy="314325"/>
          </a:xfrm>
          <a:prstGeom prst="roundRect">
            <a:avLst>
              <a:gd name="adj" fmla="val 3027273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43000" y="1138238"/>
            <a:ext cx="6094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1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083445" y="1066800"/>
            <a:ext cx="927646" cy="342900"/>
          </a:xfrm>
          <a:prstGeom prst="roundRect">
            <a:avLst>
              <a:gd name="adj" fmla="val 2775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64420" y="1133475"/>
            <a:ext cx="5770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6 min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163491" y="1081088"/>
            <a:ext cx="1670298" cy="314325"/>
          </a:xfrm>
          <a:prstGeom prst="roundRect">
            <a:avLst>
              <a:gd name="adj" fmla="val 3027273"/>
            </a:avLst>
          </a:prstGeom>
          <a:solidFill>
            <a:srgbClr val="C96A5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34941" y="1138238"/>
            <a:ext cx="13539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 Competition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52500" y="1504950"/>
            <a:ext cx="167106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猜价钱 · Price Guessing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52500" y="2076450"/>
            <a:ext cx="167106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teams, guess the price of the projected item using the X块Y毛 pattern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52500" y="2486025"/>
            <a:ext cx="3676650" cy="2419350"/>
          </a:xfrm>
          <a:prstGeom prst="roundRect">
            <a:avLst>
              <a:gd name="adj" fmla="val 7874"/>
            </a:avLst>
          </a:prstGeom>
          <a:noFill/>
          <a:ln w="2857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81075" y="2514600"/>
            <a:ext cx="3619500" cy="390525"/>
          </a:xfrm>
          <a:prstGeom prst="rect">
            <a:avLst/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44880" y="2590800"/>
            <a:ext cx="36918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GUESS THE PRICE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81075" y="2905125"/>
            <a:ext cx="3619500" cy="1971675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39190" y="3286125"/>
            <a:ext cx="330327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钢笔</a:t>
            </a:r>
            <a:endParaRPr lang="en-US" sz="4500" dirty="0"/>
          </a:p>
        </p:txBody>
      </p:sp>
      <p:sp>
        <p:nvSpPr>
          <p:cNvPr id="18" name="Shape 16"/>
          <p:cNvSpPr/>
          <p:nvPr/>
        </p:nvSpPr>
        <p:spPr>
          <a:xfrm>
            <a:off x="2028825" y="4481513"/>
            <a:ext cx="1524000" cy="0"/>
          </a:xfrm>
          <a:prstGeom prst="line">
            <a:avLst/>
          </a:prstGeom>
          <a:noFill/>
          <a:ln w="28575">
            <a:solidFill>
              <a:srgbClr val="C96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3585" y="4181475"/>
            <a:ext cx="15544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？块？毛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4895850" y="2486025"/>
            <a:ext cx="12439650" cy="2124075"/>
          </a:xfrm>
          <a:prstGeom prst="roundRect">
            <a:avLst>
              <a:gd name="adj" fmla="val 896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14925" y="2800350"/>
            <a:ext cx="122415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14925" y="3105150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29250" y="3105150"/>
            <a:ext cx="52651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 a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stationery item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(e.g. 钢笔) without a price.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114925" y="3457575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29250" y="3457575"/>
            <a:ext cx="102626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teams, students discuss briefly and write a guessed price in Chinese on a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(X块Y毛), hold up on three.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114925" y="3810000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3️⃣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29250" y="3810000"/>
            <a:ext cx="932763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reveals the "real" price (teacher-set for the game);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closest team without going over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wins the round.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14925" y="4162425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29250" y="4162425"/>
            <a:ext cx="19241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Repeat for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4–5 items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895850" y="4743450"/>
            <a:ext cx="12439650" cy="704850"/>
          </a:xfrm>
          <a:prstGeom prst="roundRect">
            <a:avLst>
              <a:gd name="adj" fmla="val 16216"/>
            </a:avLst>
          </a:prstGeom>
          <a:solidFill>
            <a:srgbClr val="C96A5C">
              <a:alpha val="10000"/>
            </a:srgbClr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86350" y="4957763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🖥️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29250" y="4876800"/>
            <a:ext cx="2961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Needed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5429250" y="5124450"/>
            <a:ext cx="29615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Projector only — mini whiteboards for teams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52500" y="5810250"/>
            <a:ext cx="5359301" cy="962025"/>
          </a:xfrm>
          <a:prstGeom prst="roundRect">
            <a:avLst>
              <a:gd name="adj" fmla="val 11881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104900" y="5924550"/>
            <a:ext cx="51555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1104900" y="6115050"/>
            <a:ext cx="51555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Provide a price range on the board (0–200 块) to narrow guesses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6464201" y="5810250"/>
            <a:ext cx="5359450" cy="962025"/>
          </a:xfrm>
          <a:prstGeom prst="roundRect">
            <a:avLst>
              <a:gd name="adj" fmla="val 11881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616601" y="5924550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6616601" y="6115050"/>
            <a:ext cx="51557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Winning teams must say their guess as a full question-answer pair: "一支钢笔多少钱？——二十五块。"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11976050" y="5810250"/>
            <a:ext cx="5359450" cy="962025"/>
          </a:xfrm>
          <a:prstGeom prst="roundRect">
            <a:avLst>
              <a:gd name="adj" fmla="val 11881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2128450" y="5924550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12128450" y="6115050"/>
            <a:ext cx="51557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team writes and holds up a guess for all 4–5 rounds</a:t>
            </a:r>
            <a:endParaRPr lang="en-US" sz="1125" dirty="0"/>
          </a:p>
        </p:txBody>
      </p:sp>
      <p:sp>
        <p:nvSpPr>
          <p:cNvPr id="43" name="Shape 4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81088"/>
            <a:ext cx="1004590" cy="314325"/>
          </a:xfrm>
          <a:prstGeom prst="roundRect">
            <a:avLst>
              <a:gd name="adj" fmla="val 3027273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43000" y="1138238"/>
            <a:ext cx="636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2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109490" y="1066800"/>
            <a:ext cx="927646" cy="342900"/>
          </a:xfrm>
          <a:prstGeom prst="roundRect">
            <a:avLst>
              <a:gd name="adj" fmla="val 2775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90465" y="1133475"/>
            <a:ext cx="5770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6 min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189536" y="1081088"/>
            <a:ext cx="1372344" cy="314325"/>
          </a:xfrm>
          <a:prstGeom prst="roundRect">
            <a:avLst>
              <a:gd name="adj" fmla="val 3027273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60986" y="1138238"/>
            <a:ext cx="10500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Rotating Pairs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52500" y="1504950"/>
            <a:ext cx="167106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购物接力 · Shop Roleplay Relay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52500" y="2076450"/>
            <a:ext cx="167106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Perform the shop dialogue, then swap partners and repeat with a new item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52500" y="2486025"/>
            <a:ext cx="3867150" cy="3095625"/>
          </a:xfrm>
          <a:prstGeom prst="roundRect">
            <a:avLst>
              <a:gd name="adj" fmla="val 6154"/>
            </a:avLst>
          </a:prstGeom>
          <a:noFill/>
          <a:ln w="2857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81075" y="2514600"/>
            <a:ext cx="3810000" cy="390525"/>
          </a:xfrm>
          <a:prstGeom prst="rect">
            <a:avLst/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42975" y="2590800"/>
            <a:ext cx="38862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DIALOGUE SKELETON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81075" y="2905125"/>
            <a:ext cx="3810000" cy="264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71575" y="3095625"/>
            <a:ext cx="3429000" cy="409575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195388" y="3095625"/>
            <a:ext cx="0" cy="409575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181350"/>
            <a:ext cx="31381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买家</a:t>
            </a: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你好！我想买……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71575" y="3581400"/>
            <a:ext cx="3429000" cy="409575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195388" y="3581400"/>
            <a:ext cx="0" cy="409575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3667125"/>
            <a:ext cx="31381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卖家</a:t>
            </a: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好的，给你。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71575" y="4067175"/>
            <a:ext cx="3429000" cy="409575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195388" y="4067175"/>
            <a:ext cx="0" cy="409575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4152900"/>
            <a:ext cx="31381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买家</a:t>
            </a: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……多少钱？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71575" y="4552950"/>
            <a:ext cx="3429000" cy="409575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1195388" y="4552950"/>
            <a:ext cx="0" cy="409575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4638675"/>
            <a:ext cx="31381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卖家</a:t>
            </a: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……块……毛。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37285" y="5038725"/>
            <a:ext cx="34975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🔁 swap partners after 90 sec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5086350" y="2486025"/>
            <a:ext cx="12249150" cy="1981200"/>
          </a:xfrm>
          <a:prstGeom prst="roundRect">
            <a:avLst>
              <a:gd name="adj" fmla="val 961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305425" y="2800350"/>
            <a:ext cx="120472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05425" y="3105150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619750" y="3105150"/>
            <a:ext cx="1172660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pairs, students perform a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short shop dialogue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(buyer asks for an item + price, seller answers), using any items from Lessons 1, 4, and today.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305425" y="3667125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619750" y="3667125"/>
            <a:ext cx="108640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90 seconds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students swap partners (move one seat over) and repeat with a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item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alternating who plays buyer/seller.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305425" y="4019550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3️⃣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619750" y="4019550"/>
            <a:ext cx="73430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Repeat for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2–3 rounds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so students practise with multiple partners and multiple items.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086350" y="4600575"/>
            <a:ext cx="12249150" cy="704850"/>
          </a:xfrm>
          <a:prstGeom prst="roundRect">
            <a:avLst>
              <a:gd name="adj" fmla="val 16216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276850" y="4814888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🖥️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619750" y="4733925"/>
            <a:ext cx="48867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Needed</a:t>
            </a:r>
            <a:endParaRPr lang="en-US" sz="1275" dirty="0"/>
          </a:p>
        </p:txBody>
      </p:sp>
      <p:sp>
        <p:nvSpPr>
          <p:cNvPr id="41" name="Text 39"/>
          <p:cNvSpPr/>
          <p:nvPr/>
        </p:nvSpPr>
        <p:spPr>
          <a:xfrm>
            <a:off x="5619750" y="4981575"/>
            <a:ext cx="48867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None — projector displays the sentence pattern as a reminder throughout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52500" y="5943600"/>
            <a:ext cx="5359301" cy="962025"/>
          </a:xfrm>
          <a:prstGeom prst="roundRect">
            <a:avLst>
              <a:gd name="adj" fmla="val 11881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104900" y="6057900"/>
            <a:ext cx="51555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1104900" y="6248400"/>
            <a:ext cx="515559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may keep a card in front of them listing 5 items + made-up prices to draw from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6464201" y="5943600"/>
            <a:ext cx="5359450" cy="962025"/>
          </a:xfrm>
          <a:prstGeom prst="roundRect">
            <a:avLst>
              <a:gd name="adj" fmla="val 11881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616601" y="6057900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6616601" y="6248400"/>
            <a:ext cx="51557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Fluent pairs negotiate ("太贵了！便宜一点，行吗？") as an improvised extra line — bonus, not required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11976050" y="5943600"/>
            <a:ext cx="5359450" cy="962025"/>
          </a:xfrm>
          <a:prstGeom prst="roundRect">
            <a:avLst>
              <a:gd name="adj" fmla="val 11881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2128450" y="6057900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12128450" y="6248400"/>
            <a:ext cx="51557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pair performs 2–3 rounds with different partners and items</a:t>
            </a:r>
            <a:endParaRPr lang="en-US" sz="1125" dirty="0"/>
          </a:p>
        </p:txBody>
      </p:sp>
      <p:sp>
        <p:nvSpPr>
          <p:cNvPr id="51" name="Shape 4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81088"/>
            <a:ext cx="1374428" cy="314325"/>
          </a:xfrm>
          <a:prstGeom prst="roundRect">
            <a:avLst>
              <a:gd name="adj" fmla="val 3027273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43000" y="1138238"/>
            <a:ext cx="101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 Game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479328" y="1066800"/>
            <a:ext cx="926157" cy="342900"/>
          </a:xfrm>
          <a:prstGeom prst="roundRect">
            <a:avLst>
              <a:gd name="adj" fmla="val 2775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60303" y="1133475"/>
            <a:ext cx="5754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557885" y="1081088"/>
            <a:ext cx="1285726" cy="314325"/>
          </a:xfrm>
          <a:prstGeom prst="roundRect">
            <a:avLst>
              <a:gd name="adj" fmla="val 3027273"/>
            </a:avLst>
          </a:prstGeom>
          <a:solidFill>
            <a:srgbClr val="B87A3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29335" y="1138238"/>
            <a:ext cx="9616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Speed Recall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52500" y="1504950"/>
            <a:ext cx="167106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拍词游戏 · Extra Words Slap the Board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52500" y="2076450"/>
            <a:ext cx="167106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the English meaning, students write the matching 汉字 on mini whiteboards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52500" y="2486025"/>
            <a:ext cx="4057650" cy="2705100"/>
          </a:xfrm>
          <a:prstGeom prst="roundRect">
            <a:avLst>
              <a:gd name="adj" fmla="val 7042"/>
            </a:avLst>
          </a:prstGeom>
          <a:noFill/>
          <a:ln w="2857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81075" y="2514600"/>
            <a:ext cx="4000500" cy="390525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41070" y="2590800"/>
            <a:ext cx="40805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 EXTRA WORDS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81075" y="2905125"/>
            <a:ext cx="4000500" cy="2257425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73385" y="3114675"/>
            <a:ext cx="17585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支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73385" y="3467100"/>
            <a:ext cx="17585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zhī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3030760" y="3114675"/>
            <a:ext cx="17585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礼品纸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3030760" y="3467100"/>
            <a:ext cx="17585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lǐpǐnzhǐ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173385" y="3771900"/>
            <a:ext cx="17585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钢笔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73385" y="4124325"/>
            <a:ext cx="17585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gāngbǐ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3030760" y="3771900"/>
            <a:ext cx="17585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毛笔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3030760" y="4124325"/>
            <a:ext cx="17585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máobǐ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173385" y="4429125"/>
            <a:ext cx="17585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笔记本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173385" y="4781550"/>
            <a:ext cx="17585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bǐjìběn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5276850" y="2486025"/>
            <a:ext cx="12058650" cy="1771650"/>
          </a:xfrm>
          <a:prstGeom prst="roundRect">
            <a:avLst>
              <a:gd name="adj" fmla="val 1075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95925" y="2800350"/>
            <a:ext cx="118529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95925" y="3105150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810250" y="3105150"/>
            <a:ext cx="40501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the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Extra Words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scattered on screen.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495925" y="3457575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810250" y="3457575"/>
            <a:ext cx="867305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an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 meaning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; students write the matching 汉字 on mini whiteboards and hold up.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495925" y="3810000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810250" y="3810000"/>
            <a:ext cx="45772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Fastest correct answer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scores a point for their team.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276850" y="4391025"/>
            <a:ext cx="12058650" cy="704850"/>
          </a:xfrm>
          <a:prstGeom prst="roundRect">
            <a:avLst>
              <a:gd name="adj" fmla="val 16216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467350" y="4605338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🖥️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810250" y="4524375"/>
            <a:ext cx="1815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Needed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5810250" y="4772025"/>
            <a:ext cx="18154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Projector, mini whiteboards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52500" y="5553075"/>
            <a:ext cx="5359301" cy="962025"/>
          </a:xfrm>
          <a:prstGeom prst="roundRect">
            <a:avLst>
              <a:gd name="adj" fmla="val 11881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104900" y="5667375"/>
            <a:ext cx="51555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1104900" y="5857875"/>
            <a:ext cx="51555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pinyin visible next to each word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6464201" y="5553075"/>
            <a:ext cx="5359450" cy="962025"/>
          </a:xfrm>
          <a:prstGeom prst="roundRect">
            <a:avLst>
              <a:gd name="adj" fmla="val 11881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16601" y="5667375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6616601" y="5857875"/>
            <a:ext cx="51557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Winning students must also give the price-question sentence for that item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11976050" y="5553075"/>
            <a:ext cx="5359450" cy="962025"/>
          </a:xfrm>
          <a:prstGeom prst="roundRect">
            <a:avLst>
              <a:gd name="adj" fmla="val 11881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2128450" y="5667375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12128450" y="5857875"/>
            <a:ext cx="51557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writes an answer for each of the 5 calls</a:t>
            </a:r>
            <a:endParaRPr lang="en-US" sz="1125" dirty="0"/>
          </a:p>
        </p:txBody>
      </p:sp>
      <p:sp>
        <p:nvSpPr>
          <p:cNvPr id="48" name="Shape 4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3000" y="2838450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3143250"/>
            <a:ext cx="1632204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143000" y="3990975"/>
            <a:ext cx="7867650" cy="2800350"/>
          </a:xfrm>
          <a:prstGeom prst="roundRect">
            <a:avLst>
              <a:gd name="adj" fmla="val 952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00175" y="4362450"/>
            <a:ext cx="75003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00175" y="4705350"/>
            <a:ext cx="75003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00"/>
              </a:spcAft>
              <a:buNone/>
            </a:pP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fingers: </a:t>
            </a:r>
            <a:r>
              <a:rPr lang="en-US" sz="97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完全可以 · </a:t>
            </a:r>
            <a:r>
              <a:rPr lang="en-US" sz="97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差不多 · </a:t>
            </a:r>
            <a:r>
              <a:rPr lang="en-US" sz="97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还不行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533525" y="499110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45146" y="5050185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85950" y="499110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997422" y="5050185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38375" y="499110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63093" y="5050185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76525" y="5036790"/>
            <a:ext cx="338919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the 5 Extra Words for stationery items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33525" y="54006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645146" y="5459760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85950" y="54006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997422" y="5459760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38375" y="54006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63093" y="5459760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76525" y="5446365"/>
            <a:ext cx="313598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and answer "how much" using 多少钱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33525" y="581025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645146" y="5869335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885950" y="581025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997422" y="5869335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38375" y="581025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363093" y="5869335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676525" y="5855940"/>
            <a:ext cx="3403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Perform a short shop dialogue with a partner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00175" y="6229350"/>
            <a:ext cx="7353300" cy="342900"/>
          </a:xfrm>
          <a:prstGeom prst="roundRect">
            <a:avLst>
              <a:gd name="adj" fmla="val 33333"/>
            </a:avLst>
          </a:prstGeom>
          <a:solidFill>
            <a:srgbClr val="B87A3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533525" y="6315075"/>
            <a:ext cx="72283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9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Teacher reads the first SC; a student volunteer reads the second and third.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9277350" y="3990975"/>
            <a:ext cx="7867650" cy="2800350"/>
          </a:xfrm>
          <a:prstGeom prst="roundRect">
            <a:avLst>
              <a:gd name="adj" fmla="val 952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534525" y="4362450"/>
            <a:ext cx="75003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534525" y="4705350"/>
            <a:ext cx="7353300" cy="765721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9558338" y="4705350"/>
            <a:ext cx="0" cy="765721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53600" y="4838700"/>
            <a:ext cx="71020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WRITE ONE LINE ON MINI WHITEBOARD (2 MIN)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753600" y="5057775"/>
            <a:ext cx="7102031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一本笔记本多少钱？</a:t>
            </a:r>
            <a:endParaRPr lang="en-US" sz="1575" dirty="0"/>
          </a:p>
        </p:txBody>
      </p:sp>
      <p:sp>
        <p:nvSpPr>
          <p:cNvPr id="39" name="Text 37"/>
          <p:cNvSpPr/>
          <p:nvPr/>
        </p:nvSpPr>
        <p:spPr>
          <a:xfrm>
            <a:off x="9534525" y="5585371"/>
            <a:ext cx="7500366" cy="38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9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Must include:</a:t>
            </a: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 stationery item + 多少钱 in a complete question — students may choose any item they like. Teacher circulates and checks for the correct measure word.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1143000" y="7000875"/>
            <a:ext cx="16002000" cy="714375"/>
          </a:xfrm>
          <a:prstGeom prst="rect">
            <a:avLst/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1166813" y="7000875"/>
            <a:ext cx="0" cy="714375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19225" y="7134225"/>
            <a:ext cx="158071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预告 · PREVIEW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419225" y="7353300"/>
            <a:ext cx="158071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"下一课，我们要练习</a:t>
            </a: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'借'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东西的对话，还要做一个调查——你会借给同学什么，不会借什么？"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143500"/>
            <a:ext cx="4663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0"/>
              </a:lnSpc>
              <a:buNone/>
            </a:pPr>
            <a:r>
              <a:rPr lang="en-US" sz="36000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2343150" y="1910953"/>
            <a:ext cx="1360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6 COMPLETE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2343150" y="2330053"/>
            <a:ext cx="13601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2343150" y="3473053"/>
            <a:ext cx="136017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今天学了 · What We Covered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2343150" y="4254103"/>
            <a:ext cx="136017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Extra Words · asking prices with 多少钱 · shop roleplay dialogue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2476500" y="5025628"/>
            <a:ext cx="13335000" cy="2797969"/>
          </a:xfrm>
          <a:prstGeom prst="roundRect">
            <a:avLst>
              <a:gd name="adj" fmla="val 9532"/>
            </a:avLst>
          </a:prstGeom>
          <a:solidFill>
            <a:srgbClr val="F4F2EE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28925" y="5349478"/>
            <a:ext cx="1263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 · NEXT LESSON (L7)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28925" y="5654278"/>
            <a:ext cx="12630150" cy="1845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下一课，我们要练习</a:t>
            </a: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"借"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东西的对话，还要做一个</a:t>
            </a:r>
            <a:r>
              <a:rPr lang="en-US" sz="18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调查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——你会借给同学什么，不会借什么？我们还会学怎么翻译</a:t>
            </a: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"行"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和</a:t>
            </a: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"可以"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Next lesson: borrowing roleplay dialogue, a class survey on what you would and wouldn't lend, plus translating 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可以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2026-07-25T11:16:28Z</dcterms:created>
  <dcterms:modified xsi:type="dcterms:W3CDTF">2026-07-25T11:16:28Z</dcterms:modified>
</cp:coreProperties>
</file>