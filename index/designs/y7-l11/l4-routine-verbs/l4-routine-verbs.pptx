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· Y7 UNIT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-121920" y="2241500"/>
            <a:ext cx="1243584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5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我的一天。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-121920" y="3266926"/>
            <a:ext cx="12435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Daily Routine Verbs · 起居动词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-121920" y="3800326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Writing + Speaking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0337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PART A — 4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Radicals Recap · 部首复习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07305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radical is inside each character? Write it, hold it up.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3850" y="1501676"/>
            <a:ext cx="2286000" cy="1266527"/>
          </a:xfrm>
          <a:prstGeom prst="roundRect">
            <a:avLst>
              <a:gd name="adj" fmla="val 601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22244" y="1603177"/>
            <a:ext cx="196921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622244" y="2485727"/>
            <a:ext cx="1969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radical is hiding inside?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53000" y="1501676"/>
            <a:ext cx="2286000" cy="1266527"/>
          </a:xfrm>
          <a:prstGeom prst="roundRect">
            <a:avLst>
              <a:gd name="adj" fmla="val 601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11395" y="1603177"/>
            <a:ext cx="196921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111395" y="2485727"/>
            <a:ext cx="1969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radical is hiding inside?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42150" y="1501676"/>
            <a:ext cx="2286000" cy="1266527"/>
          </a:xfrm>
          <a:prstGeom prst="roundRect">
            <a:avLst>
              <a:gd name="adj" fmla="val 601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00545" y="1603177"/>
            <a:ext cx="196921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600545" y="2485727"/>
            <a:ext cx="1969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radical is hiding inside?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8465" y="3022104"/>
            <a:ext cx="11555069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2000"/>
              </a:spcBef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「You now know radicals, times, and time-of-day words. Today we put it all together to describe an actual DAY — what you do, and when.」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0337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PART B — 4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Time Conversion Sprint · 时间转换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07305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 digital time. Convert to Chinese, write it, hold it up!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3850" y="1501676"/>
            <a:ext cx="2286000" cy="1317427"/>
          </a:xfrm>
          <a:prstGeom prst="roundRect">
            <a:avLst>
              <a:gd name="adj" fmla="val 57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22244" y="1603177"/>
            <a:ext cx="1969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22244" y="2212777"/>
            <a:ext cx="19692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22244" y="2536627"/>
            <a:ext cx="1969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in Chinese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53000" y="1501676"/>
            <a:ext cx="2286000" cy="1317427"/>
          </a:xfrm>
          <a:prstGeom prst="roundRect">
            <a:avLst>
              <a:gd name="adj" fmla="val 57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11395" y="1603177"/>
            <a:ext cx="1969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111395" y="2212777"/>
            <a:ext cx="19692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11395" y="2536627"/>
            <a:ext cx="1969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in Chinese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42150" y="1501676"/>
            <a:ext cx="2286000" cy="1317427"/>
          </a:xfrm>
          <a:prstGeom prst="roundRect">
            <a:avLst>
              <a:gd name="adj" fmla="val 57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00545" y="1603177"/>
            <a:ext cx="19692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9:45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600545" y="2212777"/>
            <a:ext cx="19692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00545" y="2536627"/>
            <a:ext cx="1969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in Chinese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8465" y="3098453"/>
            <a:ext cx="115550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Cold call to check — no notes!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8405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200001"/>
            <a:ext cx="11328499" cy="697557"/>
          </a:xfrm>
          <a:prstGeom prst="rect">
            <a:avLst/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5563" y="1200001"/>
            <a:ext cx="0" cy="697557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526" y="1326952"/>
            <a:ext cx="110920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2526" y="1539627"/>
            <a:ext cx="1109206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write the six daily-routine verbs and use them with a time to describe a day.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2075259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1851" y="2075259"/>
            <a:ext cx="4068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 / 吃早饭 / 去上学 / 上课 / 放学 / 睡觉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851" y="2310110"/>
            <a:ext cx="40680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写出六个日常起居动作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1750" y="2573536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1851" y="2573536"/>
            <a:ext cx="58453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copy and complete Text 2's six routine sentences with the correct time.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1851" y="2808387"/>
            <a:ext cx="5845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完成日常起居的六个句子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1750" y="3071813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1851" y="3071813"/>
            <a:ext cx="44225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build my own sentence using a routine verb + a time.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1851" y="3306663"/>
            <a:ext cx="44225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自己写一个日常起居的句子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0512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P.82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 (1/2)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3495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pronunciation twice per word — class repeats twice.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438126"/>
            <a:ext cx="6603950" cy="2736652"/>
          </a:xfrm>
          <a:prstGeom prst="roundRect">
            <a:avLst>
              <a:gd name="adj" fmla="val 27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1438126"/>
            <a:ext cx="6603950" cy="2736652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qǐ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get up</a:t>
            </a:r>
            <a:endParaRPr lang="en-US" sz="14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床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chuáng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bed</a:t>
            </a:r>
            <a:endParaRPr lang="en-US" sz="14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qǐ chuáng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get up</a:t>
            </a:r>
            <a:endParaRPr lang="en-US" sz="14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吃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chī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eat</a:t>
            </a:r>
            <a:endParaRPr lang="en-US" sz="14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饭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fàn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cooked rice; meal</a:t>
            </a:r>
            <a:endParaRPr lang="en-US" sz="14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早饭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zǎo fàn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breakfast</a:t>
            </a:r>
            <a:endParaRPr lang="en-US" sz="14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qù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go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0512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P.82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 (2/2)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3495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pronunciation twice per word — class repeats twice.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412677"/>
            <a:ext cx="5562600" cy="2322909"/>
          </a:xfrm>
          <a:prstGeom prst="roundRect">
            <a:avLst>
              <a:gd name="adj" fmla="val 32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1412677"/>
            <a:ext cx="5562600" cy="2322909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上学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xué</a:t>
            </a: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school; attend school</a:t>
            </a:r>
            <a:endParaRPr lang="en-US" sz="13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kè</a:t>
            </a: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class; period</a:t>
            </a:r>
            <a:endParaRPr lang="en-US" sz="13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上课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kè</a:t>
            </a: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attend class</a:t>
            </a:r>
            <a:endParaRPr lang="en-US" sz="13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fàng</a:t>
            </a: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 go; release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97501" y="1412677"/>
            <a:ext cx="5562749" cy="2322909"/>
          </a:xfrm>
          <a:prstGeom prst="roundRect">
            <a:avLst>
              <a:gd name="adj" fmla="val 32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7501" y="1412677"/>
            <a:ext cx="5562749" cy="2322909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放学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fàng xué</a:t>
            </a: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classes are over</a:t>
            </a:r>
            <a:endParaRPr lang="en-US" sz="13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shuì</a:t>
            </a: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sleep</a:t>
            </a:r>
            <a:endParaRPr lang="en-US" sz="13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觉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jiào</a:t>
            </a: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sleep</a:t>
            </a:r>
            <a:endParaRPr lang="en-US" sz="13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shuì jiào</a:t>
            </a: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sleep; go to bed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1750" y="3913287"/>
            <a:ext cx="115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Notice: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uses the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 (zǒu)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radical taught last lesson — you already know 起 from Lesson 3!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4886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2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P.82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 2 · 我的一天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1750" y="99685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Six daily routine scenes, in time order.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298377"/>
            <a:ext cx="11328499" cy="400050"/>
          </a:xfrm>
          <a:prstGeom prst="roundRect">
            <a:avLst>
              <a:gd name="adj" fmla="val 19048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501" y="1393627"/>
            <a:ext cx="111536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 播放 CD T52 — listen once, follow along, then read chorally line by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1750" y="1825377"/>
            <a:ext cx="11328499" cy="1992511"/>
          </a:xfrm>
          <a:prstGeom prst="roundRect">
            <a:avLst>
              <a:gd name="adj" fmla="val 3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1750" y="1825377"/>
            <a:ext cx="11328499" cy="1992511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我早上六点半起床。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吃早饭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我六点三刻吃早饭。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去上学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我七点一刻去上学。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上课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我们八点上课。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放学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我们下午三点半放学。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我晚上九点半睡觉。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1750" y="3944838"/>
            <a:ext cx="2255044" cy="238125"/>
          </a:xfrm>
          <a:prstGeom prst="roundRect">
            <a:avLst>
              <a:gd name="adj" fmla="val 85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8701" y="3982938"/>
            <a:ext cx="20411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 What time does this person get up?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39194" y="3944838"/>
            <a:ext cx="1900238" cy="238125"/>
          </a:xfrm>
          <a:prstGeom prst="roundRect">
            <a:avLst>
              <a:gd name="adj" fmla="val 85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66145" y="3982938"/>
            <a:ext cx="16792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 What time do classes finish?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566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87351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1091" y="1314301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93602" y="1376214"/>
            <a:ext cx="10570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"eat breakfast"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 Write on paper, hold it up.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1750" y="1920627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1091" y="2047577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93602" y="2109490"/>
            <a:ext cx="10570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the difference between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上学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上课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653903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91" y="2780854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93602" y="2842766"/>
            <a:ext cx="10570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verb pairs with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觉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make a routine word?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750" y="3437930"/>
            <a:ext cx="11328499" cy="400050"/>
          </a:xfrm>
          <a:prstGeom prst="roundRect">
            <a:avLst>
              <a:gd name="adj" fmla="val 19048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501" y="3533180"/>
            <a:ext cx="111536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答案见下一张 · Answers on next slide 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2369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 — Answers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87351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0800" y="1187351"/>
            <a:ext cx="0" cy="606326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191" y="1314301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1702" y="1376214"/>
            <a:ext cx="9474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"eat breakfast"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063" y="1352401"/>
            <a:ext cx="8762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吃早饭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1750" y="1920627"/>
            <a:ext cx="11328499" cy="1092101"/>
          </a:xfrm>
          <a:prstGeom prst="roundRect">
            <a:avLst>
              <a:gd name="adj" fmla="val 697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0800" y="1920627"/>
            <a:ext cx="0" cy="1092101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191" y="2290465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1702" y="2352377"/>
            <a:ext cx="75008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the difference between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上学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上课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07270" y="2047577"/>
            <a:ext cx="284982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上学 = go to / attend school generally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上课 = attend a specific class / period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750" y="3139678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0800" y="3139678"/>
            <a:ext cx="0" cy="606326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191" y="3266629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31702" y="3328541"/>
            <a:ext cx="9143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verb pairs with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觉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make a routine word?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73469" y="3304729"/>
            <a:ext cx="120730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睡 → 睡觉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316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CHARACTER WRITING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Character Writing Practice · 写一写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1750" y="99685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Trace, then copy each phrase 3 times on the grid-paper worksheet. Follow the stroke order shown.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374577"/>
            <a:ext cx="1779091" cy="110787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1399" y="1511052"/>
            <a:ext cx="1639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qǐ chuáng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1399" y="1723727"/>
            <a:ext cx="16397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1399" y="2165003"/>
            <a:ext cx="1639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× 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7792" y="1374577"/>
            <a:ext cx="1779240" cy="110787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07439" y="1511052"/>
            <a:ext cx="16399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chī zǎofàn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07439" y="1723727"/>
            <a:ext cx="163994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吃早饭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07439" y="2165003"/>
            <a:ext cx="16399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×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43983" y="1374577"/>
            <a:ext cx="1779091" cy="110787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13631" y="1511052"/>
            <a:ext cx="1639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qù shàngxué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13631" y="1723727"/>
            <a:ext cx="16397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去上学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13631" y="2165003"/>
            <a:ext cx="1639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×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50025" y="1374577"/>
            <a:ext cx="1779091" cy="110787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9673" y="1511052"/>
            <a:ext cx="1639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shàngkè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9673" y="1723727"/>
            <a:ext cx="16397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9673" y="2165003"/>
            <a:ext cx="1639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×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56066" y="1374577"/>
            <a:ext cx="1779091" cy="110787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25715" y="1511052"/>
            <a:ext cx="1639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fàngxué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25715" y="1723727"/>
            <a:ext cx="16397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25715" y="2165003"/>
            <a:ext cx="1639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×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962108" y="1374577"/>
            <a:ext cx="1798141" cy="110787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041282" y="1520577"/>
            <a:ext cx="1639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shuìjiào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41282" y="1733252"/>
            <a:ext cx="16397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41282" y="2174528"/>
            <a:ext cx="1639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× 3 ⚠️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1750" y="2685604"/>
            <a:ext cx="2772370" cy="238125"/>
          </a:xfrm>
          <a:prstGeom prst="roundRect">
            <a:avLst>
              <a:gd name="adj" fmla="val 85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8701" y="2723704"/>
            <a:ext cx="2568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🔨 Scaffold: pinyin printed above each character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05621" y="2685604"/>
            <a:ext cx="2982516" cy="238125"/>
          </a:xfrm>
          <a:prstGeom prst="roundRect">
            <a:avLst>
              <a:gd name="adj" fmla="val 85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32572" y="2723704"/>
            <a:ext cx="27831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 Teacher models 觉 stroke order on the board first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89638" y="2685604"/>
            <a:ext cx="2753618" cy="238125"/>
          </a:xfrm>
          <a:prstGeom prst="roundRect">
            <a:avLst>
              <a:gd name="adj" fmla="val 85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516588" y="2723704"/>
            <a:ext cx="25497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🚀 Extension: add pinyin + English from memory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1750" y="3025229"/>
            <a:ext cx="3061097" cy="238125"/>
          </a:xfrm>
          <a:prstGeom prst="roundRect">
            <a:avLst>
              <a:gd name="adj" fmla="val 85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58701" y="3063329"/>
            <a:ext cx="28633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OTR: turn-and-talk to check partner's stroke order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064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TEXT 2 CLOZE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 2 Cloze Completion · 完成句子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987326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in each blank from memory, then self-check against the projected original.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1750" y="1269802"/>
            <a:ext cx="11328499" cy="1612106"/>
          </a:xfrm>
          <a:prstGeom prst="roundRect">
            <a:avLst>
              <a:gd name="adj" fmla="val 472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1269802"/>
            <a:ext cx="11328499" cy="1612106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 我早上</a:t>
            </a: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 我六点三刻</a:t>
            </a: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 我</a:t>
            </a: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去上学。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 我们八点</a:t>
            </a: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 我们</a:t>
            </a: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 我晚上九点半</a:t>
            </a: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750" y="2997696"/>
            <a:ext cx="10290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🧩 WORD BANK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42157" y="2983409"/>
            <a:ext cx="461516" cy="219075"/>
          </a:xfrm>
          <a:prstGeom prst="roundRect">
            <a:avLst>
              <a:gd name="adj" fmla="val 927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69107" y="3021509"/>
            <a:ext cx="211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5174" y="2983409"/>
            <a:ext cx="565249" cy="219075"/>
          </a:xfrm>
          <a:prstGeom prst="roundRect">
            <a:avLst>
              <a:gd name="adj" fmla="val 927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32124" y="3021509"/>
            <a:ext cx="317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吃早饭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71924" y="2983409"/>
            <a:ext cx="565249" cy="219075"/>
          </a:xfrm>
          <a:prstGeom prst="roundRect">
            <a:avLst>
              <a:gd name="adj" fmla="val 927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98874" y="3021509"/>
            <a:ext cx="317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去上学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38674" y="2983409"/>
            <a:ext cx="461516" cy="219075"/>
          </a:xfrm>
          <a:prstGeom prst="roundRect">
            <a:avLst>
              <a:gd name="adj" fmla="val 927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65624" y="3021509"/>
            <a:ext cx="211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上课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01691" y="2983409"/>
            <a:ext cx="461516" cy="219075"/>
          </a:xfrm>
          <a:prstGeom prst="roundRect">
            <a:avLst>
              <a:gd name="adj" fmla="val 927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28641" y="3021509"/>
            <a:ext cx="211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放学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64707" y="2983409"/>
            <a:ext cx="461516" cy="219075"/>
          </a:xfrm>
          <a:prstGeom prst="roundRect">
            <a:avLst>
              <a:gd name="adj" fmla="val 927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91658" y="3021509"/>
            <a:ext cx="2117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27724" y="2983409"/>
            <a:ext cx="565249" cy="219075"/>
          </a:xfrm>
          <a:prstGeom prst="roundRect">
            <a:avLst>
              <a:gd name="adj" fmla="val 927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54675" y="3021509"/>
            <a:ext cx="317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六点半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94474" y="2983409"/>
            <a:ext cx="668982" cy="219075"/>
          </a:xfrm>
          <a:prstGeom prst="roundRect">
            <a:avLst>
              <a:gd name="adj" fmla="val 927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21425" y="3021509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七点一刻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64957" y="2983409"/>
            <a:ext cx="772864" cy="219075"/>
          </a:xfrm>
          <a:prstGeom prst="roundRect">
            <a:avLst>
              <a:gd name="adj" fmla="val 927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91908" y="3021509"/>
            <a:ext cx="529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下午三点半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1750" y="3303984"/>
            <a:ext cx="3344912" cy="238125"/>
          </a:xfrm>
          <a:prstGeom prst="roundRect">
            <a:avLst>
              <a:gd name="adj" fmla="val 85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8701" y="3342084"/>
            <a:ext cx="31528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🚀 Extension: rewrite all 6 sentences about YOUR OWN day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78163" y="3303984"/>
            <a:ext cx="2755404" cy="238125"/>
          </a:xfrm>
          <a:prstGeom prst="roundRect">
            <a:avLst>
              <a:gd name="adj" fmla="val 85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05114" y="3342084"/>
            <a:ext cx="25515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OTR: cold call 6 students, one sentence each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1750" y="3643610"/>
            <a:ext cx="11328499" cy="355402"/>
          </a:xfrm>
          <a:prstGeom prst="roundRect">
            <a:avLst>
              <a:gd name="adj" fmla="val 21441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3200" y="3726061"/>
            <a:ext cx="112053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答案见下一张 · Answers on next slide 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5043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CLOZE · 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 2 Cloze Completion — Answers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1750" y="1123801"/>
            <a:ext cx="11328499" cy="2260402"/>
          </a:xfrm>
          <a:prstGeom prst="roundRect">
            <a:avLst>
              <a:gd name="adj" fmla="val 337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1123801"/>
            <a:ext cx="11328499" cy="2260402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 我早上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六点半</a:t>
            </a: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起床。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 我六点三刻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吃早饭</a:t>
            </a: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 我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七点一刻</a:t>
            </a: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去上学。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 我们八点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</a:t>
            </a: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 我们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下午三点半</a:t>
            </a: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放学。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 我晚上九点半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</a:t>
            </a: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810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BUILD YOUR OWN SENTENCE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08325" y="381000"/>
            <a:ext cx="1375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48301" y="593675"/>
            <a:ext cx="489539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Build-Your-Own Sentence · 自己写句子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59334" y="1034951"/>
            <a:ext cx="66731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new sentence (not from Text 2) — a time-of-day word + clock time + a routine verb.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24263" y="1463576"/>
            <a:ext cx="4943475" cy="488752"/>
          </a:xfrm>
          <a:prstGeom prst="roundRect">
            <a:avLst>
              <a:gd name="adj" fmla="val 1559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56083" y="1565077"/>
            <a:ext cx="46798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 </a:t>
            </a: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[time-of-day] </a:t>
            </a: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[time] </a:t>
            </a: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[verb phrase]。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68787" y="2155478"/>
            <a:ext cx="4454277" cy="1025277"/>
          </a:xfrm>
          <a:prstGeom prst="roundRect">
            <a:avLst>
              <a:gd name="adj" fmla="val 743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5499" y="2256979"/>
            <a:ext cx="41808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05499" y="2495104"/>
            <a:ext cx="418085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我下午四点半吃早饭。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05499" y="2898279"/>
            <a:ext cx="41808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silly one is fine for fun — or write a realistic one about yourself!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0946" y="3383905"/>
            <a:ext cx="3452515" cy="238125"/>
          </a:xfrm>
          <a:prstGeom prst="roundRect">
            <a:avLst>
              <a:gd name="adj" fmla="val 85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25910" y="3422005"/>
            <a:ext cx="32625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🚀 Extension: add a second clause with 我们, e.g. 我们八点上课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10411" y="3383905"/>
            <a:ext cx="3950643" cy="238125"/>
          </a:xfrm>
          <a:prstGeom prst="roundRect">
            <a:avLst>
              <a:gd name="adj" fmla="val 85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00394" y="3422005"/>
            <a:ext cx="37706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OTR: partner swap — read aloud, thumbs up/down if it makes sense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4872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SEQUENCE THE SCENES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598993" y="381000"/>
            <a:ext cx="9938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461671" y="593675"/>
            <a:ext cx="326865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Sequence the Scenes · 排排看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20842" y="996851"/>
            <a:ext cx="79503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team gets 6 shuffled strips. Race to lay them on your desk in the correct time order. First correct team wins!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47788" y="1374577"/>
            <a:ext cx="1967805" cy="488752"/>
          </a:xfrm>
          <a:prstGeom prst="roundRect">
            <a:avLst>
              <a:gd name="adj" fmla="val 15591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44538" y="15046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B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12538" y="1528465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62197" y="1495127"/>
            <a:ext cx="12690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我们八点上课。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2543" y="1374577"/>
            <a:ext cx="2323356" cy="488752"/>
          </a:xfrm>
          <a:prstGeom prst="roundRect">
            <a:avLst>
              <a:gd name="adj" fmla="val 15591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39294" y="15046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B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06838" y="1528465"/>
            <a:ext cx="935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53397" y="1495127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我晚上九点半睡觉。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2850" y="1374577"/>
            <a:ext cx="2323356" cy="488752"/>
          </a:xfrm>
          <a:prstGeom prst="roundRect">
            <a:avLst>
              <a:gd name="adj" fmla="val 15591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89600" y="15046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B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54412" y="1528465"/>
            <a:ext cx="989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3704" y="1495127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我早上六点半起床。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3156" y="1374577"/>
            <a:ext cx="2501057" cy="488752"/>
          </a:xfrm>
          <a:prstGeom prst="roundRect">
            <a:avLst>
              <a:gd name="adj" fmla="val 15591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539907" y="15046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B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605629" y="1528465"/>
            <a:ext cx="97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52233" y="1495127"/>
            <a:ext cx="18130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我们下午三点半放学。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09095" y="1990279"/>
            <a:ext cx="2323356" cy="488752"/>
          </a:xfrm>
          <a:prstGeom prst="roundRect">
            <a:avLst>
              <a:gd name="adj" fmla="val 15591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05845" y="21203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B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76426" y="2144167"/>
            <a:ext cx="874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19949" y="2110829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我六点三刻吃早饭。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59401" y="1990279"/>
            <a:ext cx="2323356" cy="488752"/>
          </a:xfrm>
          <a:prstGeom prst="roundRect">
            <a:avLst>
              <a:gd name="adj" fmla="val 15591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56152" y="21203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B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30679" y="2144167"/>
            <a:ext cx="795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0255" y="2110829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我七点一刻去上学。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257364" y="2656731"/>
            <a:ext cx="182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First correct team wins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3956" y="2656731"/>
            <a:ext cx="2781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📏 6 strips per team, printed in advance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75807" y="2656731"/>
            <a:ext cx="2667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🪑 Enough desk space to lay them out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42668" y="3037731"/>
            <a:ext cx="3306663" cy="38100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10288" y="3132981"/>
            <a:ext cx="2971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正确顺序见下一张 · Correct order on next slide →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9493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598993" y="2544961"/>
            <a:ext cx="9938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492033" y="2757636"/>
            <a:ext cx="32077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Correct Order · 正确顺序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85802" y="3402062"/>
            <a:ext cx="673150" cy="733127"/>
          </a:xfrm>
          <a:prstGeom prst="roundRect">
            <a:avLst>
              <a:gd name="adj" fmla="val 11320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7259" y="3567113"/>
            <a:ext cx="230237" cy="168176"/>
          </a:xfrm>
          <a:prstGeom prst="roundRect">
            <a:avLst>
              <a:gd name="adj" fmla="val 565804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2680" y="3579763"/>
            <a:ext cx="793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53950" y="3786039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33373" y="3644801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89202" y="3402062"/>
            <a:ext cx="838200" cy="733127"/>
          </a:xfrm>
          <a:prstGeom prst="roundRect">
            <a:avLst>
              <a:gd name="adj" fmla="val 10394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97722" y="3567113"/>
            <a:ext cx="221159" cy="168176"/>
          </a:xfrm>
          <a:prstGeom prst="roundRect">
            <a:avLst>
              <a:gd name="adj" fmla="val 565804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73235" y="3579763"/>
            <a:ext cx="701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55699" y="3786039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吃早饭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01823" y="3644801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651" y="3402062"/>
            <a:ext cx="838200" cy="733127"/>
          </a:xfrm>
          <a:prstGeom prst="roundRect">
            <a:avLst>
              <a:gd name="adj" fmla="val 10394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69148" y="3567113"/>
            <a:ext cx="215057" cy="168176"/>
          </a:xfrm>
          <a:prstGeom prst="roundRect">
            <a:avLst>
              <a:gd name="adj" fmla="val 565804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44722" y="3579763"/>
            <a:ext cx="63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24148" y="3786039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去上学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0273" y="3644801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26101" y="3402062"/>
            <a:ext cx="673150" cy="733127"/>
          </a:xfrm>
          <a:prstGeom prst="roundRect">
            <a:avLst>
              <a:gd name="adj" fmla="val 11320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49938" y="3567113"/>
            <a:ext cx="225326" cy="168176"/>
          </a:xfrm>
          <a:prstGeom prst="roundRect">
            <a:avLst>
              <a:gd name="adj" fmla="val 565804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25409" y="3579763"/>
            <a:ext cx="743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94248" y="3786039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3672" y="3644801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29500" y="3402062"/>
            <a:ext cx="673150" cy="733127"/>
          </a:xfrm>
          <a:prstGeom prst="roundRect">
            <a:avLst>
              <a:gd name="adj" fmla="val 11320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51552" y="3567113"/>
            <a:ext cx="228898" cy="168176"/>
          </a:xfrm>
          <a:prstGeom prst="roundRect">
            <a:avLst>
              <a:gd name="adj" fmla="val 565804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726987" y="3579763"/>
            <a:ext cx="780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97648" y="3786039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77071" y="3644801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32899" y="3402062"/>
            <a:ext cx="673150" cy="733127"/>
          </a:xfrm>
          <a:prstGeom prst="roundRect">
            <a:avLst>
              <a:gd name="adj" fmla="val 11320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656439" y="3567113"/>
            <a:ext cx="225921" cy="168176"/>
          </a:xfrm>
          <a:prstGeom prst="roundRect">
            <a:avLst>
              <a:gd name="adj" fmla="val 565804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731904" y="3579763"/>
            <a:ext cx="7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601047" y="3786039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1972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起居动词</a:t>
            </a: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366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1750" y="1349276"/>
            <a:ext cx="11328499" cy="63728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4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起床 / 吃早饭 / 去上学 / 上课 / 放学 / 睡觉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copy and complete Text 2's six routine sentences with the correct time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build my own sentence using a routine verb + a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750" y="2113508"/>
            <a:ext cx="11328499" cy="658862"/>
          </a:xfrm>
          <a:prstGeom prst="roundRect">
            <a:avLst>
              <a:gd name="adj" fmla="val 1156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451" y="2215009"/>
            <a:ext cx="11192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451" y="2475309"/>
            <a:ext cx="1119256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your paper, write the routine verb you're </a:t>
            </a: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most confident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writing, and one you still need </a:t>
            </a: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practice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1750" y="2899321"/>
            <a:ext cx="11328499" cy="733276"/>
          </a:xfrm>
          <a:prstGeom prst="roundRect">
            <a:avLst>
              <a:gd name="adj" fmla="val 10392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3951" y="3045321"/>
            <a:ext cx="111017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3951" y="3257996"/>
            <a:ext cx="11101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sentence: what time do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get up? (Use 起床.)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1750" y="3759547"/>
            <a:ext cx="7755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5264" y="3759547"/>
            <a:ext cx="10401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18184" y="3759547"/>
            <a:ext cx="840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762000"/>
            <a:ext cx="1243584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-121920" y="1619250"/>
            <a:ext cx="124358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-121920" y="2187476"/>
            <a:ext cx="1243584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write your daily routine and describe a whole day in Chinese.</a:t>
            </a:r>
            <a:endParaRPr lang="en-US" sz="1300" dirty="0"/>
          </a:p>
          <a:p>
            <a:pPr algn="ctr" indent="0" marL="0">
              <a:lnSpc>
                <a:spcPts val="195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Remember: </a:t>
            </a:r>
            <a:endParaRPr lang="en-US" sz="1300" dirty="0"/>
          </a:p>
          <a:p>
            <a:pPr algn="ctr" indent="0" marL="0">
              <a:lnSpc>
                <a:spcPts val="1950"/>
              </a:lnSpc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 uses the 走 radical!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29000" y="2936379"/>
            <a:ext cx="5334000" cy="1409402"/>
          </a:xfrm>
          <a:prstGeom prst="roundRect">
            <a:avLst>
              <a:gd name="adj" fmla="val 9011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05987" y="3133130"/>
            <a:ext cx="4780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05987" y="3345805"/>
            <a:ext cx="4780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Asking About Routines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05987" y="3748980"/>
            <a:ext cx="47800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你几点起床？ — turn your sentences into questions to ask a classmate about their 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121920" y="4574381"/>
            <a:ext cx="1243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18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 / 吃早饭 / 去上学 / 上课 / 放学 / 睡觉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a time = a whole day</a:t>
            </a:r>
            <a:endParaRPr lang="en-US" sz="1200" dirty="0"/>
          </a:p>
          <a:p>
            <a:pPr algn="ctr" indent="0" marL="0">
              <a:lnSpc>
                <a:spcPts val="1800"/>
              </a:lnSpc>
              <a:spcBef>
                <a:spcPts val="18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asking a classmate about THEIR routine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2026-07-21T08:47:54Z</dcterms:created>
  <dcterms:modified xsi:type="dcterms:W3CDTF">2026-07-21T08:47:54Z</dcterms:modified>
</cp:coreProperties>
</file>