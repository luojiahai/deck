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21920" y="1905000"/>
            <a:ext cx="124358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6 · Y7 UNIT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-121920" y="2241500"/>
            <a:ext cx="1243584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4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几点打篮球？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-121920" y="3149501"/>
            <a:ext cx="124358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Listening (a.m. / p.m.) + Sports Vocabulary · 听力练习与运动词汇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-121920" y="3689152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 ·  50 mins  ·  Listening + Game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 · REVIEW · SENTENCE PATTERNS · 0–8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— 0–8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12725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你几点起床？· Statements &amp; Questions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092101"/>
            <a:ext cx="115550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Pairs: Student A asks, Student B answers — then swap. 90 seconds!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1750" y="1454051"/>
            <a:ext cx="5588050" cy="507802"/>
          </a:xfrm>
          <a:prstGeom prst="roundRect">
            <a:avLst>
              <a:gd name="adj" fmla="val 150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34901" y="1581001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30300" y="1607939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15752" y="1584127"/>
            <a:ext cx="110847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你几点起床？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2200" y="1454051"/>
            <a:ext cx="5588050" cy="507802"/>
          </a:xfrm>
          <a:prstGeom prst="roundRect">
            <a:avLst>
              <a:gd name="adj" fmla="val 150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75350" y="1581001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58099" y="1607939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756202" y="1584127"/>
            <a:ext cx="129322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你几点吃早饭？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1750" y="2063353"/>
            <a:ext cx="5588050" cy="507802"/>
          </a:xfrm>
          <a:prstGeom prst="roundRect">
            <a:avLst>
              <a:gd name="adj" fmla="val 150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34901" y="219030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17203" y="2217241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15752" y="2193429"/>
            <a:ext cx="110847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你几点上学？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72200" y="2063353"/>
            <a:ext cx="5588050" cy="507802"/>
          </a:xfrm>
          <a:prstGeom prst="roundRect">
            <a:avLst>
              <a:gd name="adj" fmla="val 150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375350" y="219030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457206" y="2217241"/>
            <a:ext cx="919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56202" y="2193429"/>
            <a:ext cx="129322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你几点做作业？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31750" y="2672655"/>
            <a:ext cx="5588050" cy="507802"/>
          </a:xfrm>
          <a:prstGeom prst="roundRect">
            <a:avLst>
              <a:gd name="adj" fmla="val 150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34901" y="2799606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17352" y="2826544"/>
            <a:ext cx="9062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15752" y="2802731"/>
            <a:ext cx="129322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你几点吃晚饭？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72200" y="2672655"/>
            <a:ext cx="5588050" cy="507802"/>
          </a:xfrm>
          <a:prstGeom prst="roundRect">
            <a:avLst>
              <a:gd name="adj" fmla="val 150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375350" y="2799606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457057" y="2826544"/>
            <a:ext cx="922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756202" y="2802731"/>
            <a:ext cx="110847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你几点睡觉？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31750" y="3332857"/>
            <a:ext cx="1676251" cy="469702"/>
          </a:xfrm>
          <a:prstGeom prst="roundRect">
            <a:avLst>
              <a:gd name="adj" fmla="val 21631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53951" y="3453408"/>
            <a:ext cx="12564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 + 动词？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234952" y="3443883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539752" y="3332857"/>
            <a:ext cx="1898749" cy="469702"/>
          </a:xfrm>
          <a:prstGeom prst="roundRect">
            <a:avLst>
              <a:gd name="adj" fmla="val 21631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761952" y="3453408"/>
            <a:ext cx="14834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 + 时间 + 动词。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641652" y="3486745"/>
            <a:ext cx="22743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 → Statement (Lesson 5 recap)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31750" y="3954959"/>
            <a:ext cx="3379440" cy="361950"/>
          </a:xfrm>
          <a:prstGeom prst="roundRect">
            <a:avLst>
              <a:gd name="adj" fmla="val 561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34901" y="4031159"/>
            <a:ext cx="303260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Pairs: A asks, B answers, then swap (90 sec)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963591" y="3954959"/>
            <a:ext cx="3553123" cy="361950"/>
          </a:xfrm>
          <a:prstGeom prst="roundRect">
            <a:avLst>
              <a:gd name="adj" fmla="val 561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166741" y="4031159"/>
            <a:ext cx="320975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📣 Cold call 3 pairs to perform one exchange each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 · REVIEW · SPORTS VOCAB FLASH · 0–8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89086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— 0–8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2122587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Sports Vocabulary Flash · 运动词汇闪卡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2601962"/>
            <a:ext cx="115550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flashes the English — whole class says the Chinese chorally.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1750" y="3014663"/>
            <a:ext cx="2143720" cy="1285726"/>
          </a:xfrm>
          <a:prstGeom prst="roundRect">
            <a:avLst>
              <a:gd name="adj" fmla="val 98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13844" y="3217813"/>
            <a:ext cx="19795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3844" y="3474988"/>
            <a:ext cx="197953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3844" y="3916263"/>
            <a:ext cx="19795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yóu yǒng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27871" y="3014663"/>
            <a:ext cx="2143869" cy="1285726"/>
          </a:xfrm>
          <a:prstGeom prst="roundRect">
            <a:avLst>
              <a:gd name="adj" fmla="val 98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809963" y="3217813"/>
            <a:ext cx="19796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basketball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09963" y="3474988"/>
            <a:ext cx="197968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809963" y="3916263"/>
            <a:ext cx="19796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lán qiú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4140" y="3014663"/>
            <a:ext cx="2143720" cy="1285726"/>
          </a:xfrm>
          <a:prstGeom prst="roundRect">
            <a:avLst>
              <a:gd name="adj" fmla="val 98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106233" y="3217813"/>
            <a:ext cx="19795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table tennis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06233" y="3474988"/>
            <a:ext cx="197953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打乒乓球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106233" y="3916263"/>
            <a:ext cx="19795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pīngpāng qiú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20260" y="3014663"/>
            <a:ext cx="2143869" cy="1285726"/>
          </a:xfrm>
          <a:prstGeom prst="roundRect">
            <a:avLst>
              <a:gd name="adj" fmla="val 98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402352" y="3217813"/>
            <a:ext cx="19796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 homework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402352" y="3474988"/>
            <a:ext cx="197968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做作业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402352" y="3916263"/>
            <a:ext cx="19796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zuò zuòyè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616529" y="3014663"/>
            <a:ext cx="2143720" cy="1285726"/>
          </a:xfrm>
          <a:prstGeom prst="roundRect">
            <a:avLst>
              <a:gd name="adj" fmla="val 98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698623" y="3217813"/>
            <a:ext cx="19795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books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698623" y="3474988"/>
            <a:ext cx="197953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看书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98623" y="3916263"/>
            <a:ext cx="19795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kàn shū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31750" y="4503539"/>
            <a:ext cx="3535114" cy="361950"/>
          </a:xfrm>
          <a:prstGeom prst="roundRect">
            <a:avLst>
              <a:gd name="adj" fmla="val 561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34901" y="4579739"/>
            <a:ext cx="31913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📢 Choral response — everyone speaks every time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119265" y="4503539"/>
            <a:ext cx="2608957" cy="361950"/>
          </a:xfrm>
          <a:prstGeom prst="roundRect">
            <a:avLst>
              <a:gd name="adj" fmla="val 561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322415" y="4579739"/>
            <a:ext cx="224670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⚡ Start slow, speed up each round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 · LEARNING INTENTION &amp; SUCCESS CRITERIA · 8–10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498997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1756172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2400598"/>
            <a:ext cx="11328499" cy="1120527"/>
          </a:xfrm>
          <a:prstGeom prst="rect">
            <a:avLst/>
          </a:prstGeom>
          <a:solidFill>
            <a:srgbClr val="F6E9D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60325" y="2400598"/>
            <a:ext cx="0" cy="1120527"/>
          </a:xfrm>
          <a:prstGeom prst="line">
            <a:avLst/>
          </a:prstGeom>
          <a:noFill/>
          <a:ln w="57150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2801" y="2578298"/>
            <a:ext cx="109788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2801" y="2810024"/>
            <a:ext cx="1097881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Bef>
                <a:spcPts val="400"/>
              </a:spcBef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</a:t>
            </a: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for a.m./p.m. context</a:t>
            </a: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combine our daily-routine sentences with activities we already know.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1750" y="3698825"/>
            <a:ext cx="279350" cy="279350"/>
          </a:xfrm>
          <a:prstGeom prst="roundRect">
            <a:avLst>
              <a:gd name="adj" fmla="val 32733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39800" y="3738414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3501" y="3698825"/>
            <a:ext cx="49095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listen and correctly tick whether a time is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a.m. or p.m.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3501" y="3952726"/>
            <a:ext cx="490951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听音判断上午还是下午/晚上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1750" y="4260652"/>
            <a:ext cx="279350" cy="279350"/>
          </a:xfrm>
          <a:prstGeom prst="roundRect">
            <a:avLst>
              <a:gd name="adj" fmla="val 32733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27149" y="4300240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63501" y="4260652"/>
            <a:ext cx="59360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make a sentence combining a </a:t>
            </a:r>
            <a:r>
              <a:rPr lang="en-US" sz="13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+ an activity</a:t>
            </a: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from earlier units.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3501" y="4514552"/>
            <a:ext cx="59360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用时间+活动造句，例：我下午四点打篮球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1750" y="4822478"/>
            <a:ext cx="279350" cy="279350"/>
          </a:xfrm>
          <a:prstGeom prst="roundRect">
            <a:avLst>
              <a:gd name="adj" fmla="val 32733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26852" y="4862066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3501" y="4822478"/>
            <a:ext cx="52985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spot an </a:t>
            </a:r>
            <a:r>
              <a:rPr lang="en-US" sz="13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</a:t>
            </a: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a combined routine-and-activity sentence.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3501" y="5076379"/>
            <a:ext cx="529859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找出句子里的错误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 · I DO · SPORTS VOCAB RECAP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UNITS 1–3 RECAP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1272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Sports &amp; Activity Vocabulary · 运动与活动词汇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130201"/>
            <a:ext cx="5537299" cy="1492151"/>
          </a:xfrm>
          <a:prstGeom prst="roundRect">
            <a:avLst>
              <a:gd name="adj" fmla="val 68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1750" y="1130201"/>
            <a:ext cx="5537299" cy="1492151"/>
          </a:xfrm>
          <a:prstGeom prst="rect">
            <a:avLst/>
          </a:prstGeom>
          <a:noFill/>
          <a:ln/>
        </p:spPr>
        <p:txBody>
          <a:bodyPr wrap="square" lIns="203200" tIns="127000" rIns="203200" bIns="1270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看书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kàn shū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read books (看)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游泳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yóu yǒng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swim (游泳)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打篮球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lán qiú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play basketball (打)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踢澳大利亚足球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tī àodàlìyà zúqiú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play Aussie rules (踢)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打棒球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bàng qiú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play baseball (打)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222950" y="1130201"/>
            <a:ext cx="5537299" cy="1492151"/>
          </a:xfrm>
          <a:prstGeom prst="roundRect">
            <a:avLst>
              <a:gd name="adj" fmla="val 68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222950" y="1130201"/>
            <a:ext cx="5537299" cy="1492151"/>
          </a:xfrm>
          <a:prstGeom prst="rect">
            <a:avLst/>
          </a:prstGeom>
          <a:noFill/>
          <a:ln/>
        </p:spPr>
        <p:txBody>
          <a:bodyPr wrap="square" lIns="203200" tIns="127000" rIns="203200" bIns="1270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打板球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bǎn qiú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play cricket (打)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打乒乓球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pīngpāng qiú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play table tennis (打)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打羽毛球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yǔmáo qiú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play badminton (打)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打网球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wǎng qiú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play tennis (打)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做作业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zuò zuòyè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do homework (做)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1750" y="2749302"/>
            <a:ext cx="11328499" cy="841177"/>
          </a:xfrm>
          <a:prstGeom prst="roundRect">
            <a:avLst>
              <a:gd name="adj" fmla="val 12078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4901" y="2876252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NOTICE THE PATTERN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34901" y="3063478"/>
            <a:ext cx="1114064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Most ball sports use </a:t>
            </a: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 + ball name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(打篮球/棒球/板球/乒乓球/羽毛球/网球) — the exception is 踢 (kick) for foot-based sports, and 游泳 which has no separate object.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 · I DO · COMBINING ROUTINE + SPORTS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614934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1846659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Time + Activity · 时间 + 活动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506242" y="2478435"/>
            <a:ext cx="919907" cy="656927"/>
          </a:xfrm>
          <a:prstGeom prst="roundRect">
            <a:avLst>
              <a:gd name="adj" fmla="val 1933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723687" y="2598986"/>
            <a:ext cx="4850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723687" y="2871936"/>
            <a:ext cx="4850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SUBJECT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27649" y="2664023"/>
            <a:ext cx="13267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59226" y="2478435"/>
            <a:ext cx="1174998" cy="656927"/>
          </a:xfrm>
          <a:prstGeom prst="roundRect">
            <a:avLst>
              <a:gd name="adj" fmla="val 19332"/>
            </a:avLst>
          </a:prstGeom>
          <a:solidFill>
            <a:srgbClr val="EDE7D7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974120" y="2598986"/>
            <a:ext cx="74520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74120" y="2871936"/>
            <a:ext cx="7452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TIME-OF-DAY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035725" y="2664023"/>
            <a:ext cx="13267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67301" y="2478435"/>
            <a:ext cx="1097607" cy="656927"/>
          </a:xfrm>
          <a:prstGeom prst="roundRect">
            <a:avLst>
              <a:gd name="adj" fmla="val 19332"/>
            </a:avLst>
          </a:prstGeom>
          <a:solidFill>
            <a:srgbClr val="EDE7D7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82969" y="2598986"/>
            <a:ext cx="6662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四点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82969" y="2871936"/>
            <a:ext cx="6662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CLOCK TIME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466409" y="2664023"/>
            <a:ext cx="13267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697986" y="2478435"/>
            <a:ext cx="987772" cy="656927"/>
          </a:xfrm>
          <a:prstGeom prst="roundRect">
            <a:avLst>
              <a:gd name="adj" fmla="val 19332"/>
            </a:avLst>
          </a:prstGeom>
          <a:solidFill>
            <a:srgbClr val="EDE7D7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914753" y="2598986"/>
            <a:ext cx="55423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打篮球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14753" y="2871936"/>
            <a:ext cx="5542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31750" y="3338513"/>
            <a:ext cx="5562600" cy="949077"/>
          </a:xfrm>
          <a:prstGeom prst="roundRect">
            <a:avLst>
              <a:gd name="adj" fmla="val 1338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60350" y="3516213"/>
            <a:ext cx="52075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19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下午四点</a:t>
            </a:r>
            <a:r>
              <a:rPr lang="en-US" sz="19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r>
              <a:rPr lang="en-US" sz="19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60350" y="3909864"/>
            <a:ext cx="520750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play basketball at 4:00 in the afternoon.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97501" y="3338513"/>
            <a:ext cx="5562749" cy="949077"/>
          </a:xfrm>
          <a:prstGeom prst="roundRect">
            <a:avLst>
              <a:gd name="adj" fmla="val 1338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426101" y="3516213"/>
            <a:ext cx="52076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19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晚上八点</a:t>
            </a:r>
            <a:r>
              <a:rPr lang="en-US" sz="19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做作业</a:t>
            </a:r>
            <a:r>
              <a:rPr lang="en-US" sz="19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426101" y="3909864"/>
            <a:ext cx="52076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homework at 8:00 in the evening.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31750" y="4490740"/>
            <a:ext cx="11328499" cy="650677"/>
          </a:xfrm>
          <a:prstGeom prst="roundRect">
            <a:avLst>
              <a:gd name="adj" fmla="val 15615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60350" y="4617690"/>
            <a:ext cx="110887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KEY POINT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60350" y="4804916"/>
            <a:ext cx="1108872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Sports verbs slot into the </a:t>
            </a:r>
            <a:r>
              <a:rPr lang="en-US" sz="12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exact same position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as routine verbs — time first, then activity. Nothing new to learn about word order!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 · I DO · CHECK FOR UNDERSTANDING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343323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1575048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2181374"/>
            <a:ext cx="11328499" cy="657225"/>
          </a:xfrm>
          <a:prstGeom prst="roundRect">
            <a:avLst>
              <a:gd name="adj" fmla="val 1545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82350" y="2333774"/>
            <a:ext cx="33670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93453" y="2395686"/>
            <a:ext cx="10519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「我下午四点半___。」Fill in a 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sports activity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Write it on paper, hold it up.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1750" y="2965549"/>
            <a:ext cx="11328499" cy="657225"/>
          </a:xfrm>
          <a:prstGeom prst="roundRect">
            <a:avLst>
              <a:gd name="adj" fmla="val 1545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82350" y="3117949"/>
            <a:ext cx="33670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193453" y="3179862"/>
            <a:ext cx="10519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「我晚上七点游泳。」Is this a likely sentence — or should we picture-check it? </a:t>
            </a:r>
            <a:r>
              <a:rPr lang="en-US" sz="1300" i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(discuss with your partner)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1750" y="3749725"/>
            <a:ext cx="11328499" cy="657225"/>
          </a:xfrm>
          <a:prstGeom prst="roundRect">
            <a:avLst>
              <a:gd name="adj" fmla="val 1545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82350" y="3902125"/>
            <a:ext cx="33670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93453" y="3949750"/>
            <a:ext cx="1051915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a time + activity sentence. 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if it makes logical sense, 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if the combo is odd.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1750" y="4584650"/>
            <a:ext cx="12573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= Makes sense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18395" y="4584650"/>
            <a:ext cx="1342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= Unusual / odd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750" y="4990951"/>
            <a:ext cx="2945011" cy="422077"/>
          </a:xfrm>
          <a:prstGeom prst="roundRect">
            <a:avLst>
              <a:gd name="adj" fmla="val 24072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79400" y="5111502"/>
            <a:ext cx="249870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 · I DO · CFU · ANSWERS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359247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ANSWER CHECK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1590973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Understanding: Answers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2171998"/>
            <a:ext cx="1509861" cy="361950"/>
          </a:xfrm>
          <a:prstGeom prst="roundRect">
            <a:avLst>
              <a:gd name="adj" fmla="val 56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0350" y="2248198"/>
            <a:ext cx="107371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1750" y="2686348"/>
            <a:ext cx="11328499" cy="742801"/>
          </a:xfrm>
          <a:prstGeom prst="roundRect">
            <a:avLst>
              <a:gd name="adj" fmla="val 136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82603" y="2813298"/>
            <a:ext cx="3108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68152" y="2813298"/>
            <a:ext cx="105449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「我下午四点半___。」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8152" y="3073598"/>
            <a:ext cx="105449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Any sports activity fits! e.g. 打篮球 / 看书 / 做作业 / 打网球 — as long as it's a verb + activity.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1750" y="3556099"/>
            <a:ext cx="11328499" cy="742801"/>
          </a:xfrm>
          <a:prstGeom prst="roundRect">
            <a:avLst>
              <a:gd name="adj" fmla="val 136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82603" y="3683050"/>
            <a:ext cx="3108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68152" y="3683050"/>
            <a:ext cx="105449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「我晚上七点游泳。」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68152" y="3943350"/>
            <a:ext cx="105449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Not wrong — just picture-check it! Unusual timing, but pools can be indoor, so it's grammatically fine.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1750" y="4425851"/>
            <a:ext cx="11328499" cy="971401"/>
          </a:xfrm>
          <a:prstGeom prst="roundRect">
            <a:avLst>
              <a:gd name="adj" fmla="val 1045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82603" y="4552801"/>
            <a:ext cx="3108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68152" y="4552801"/>
            <a:ext cx="105449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 sentences teacher might say: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68152" y="4813102"/>
            <a:ext cx="105449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我下午四点打篮球 → 👍 makes sense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68152" y="5041702"/>
            <a:ext cx="105449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我晚上十二点打网球 → 👎 odd — very late, courts are closed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 · ACTIVITY 1 · LISTEN &amp; TICK · 20–28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8 MIN · EX8, P.83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1272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Listen &amp; Tick · 听音打勾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05400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items — tick a.m. or p.m. for each, based on the context clues you hear.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380976"/>
            <a:ext cx="1682651" cy="438150"/>
          </a:xfrm>
          <a:prstGeom prst="roundRect">
            <a:avLst>
              <a:gd name="adj" fmla="val 23188"/>
            </a:avLst>
          </a:prstGeom>
          <a:solidFill>
            <a:srgbClr val="DCEAEC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79400" y="1476226"/>
            <a:ext cx="121109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🔊 播放 CD T53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58701" y="1971377"/>
            <a:ext cx="5181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42039" y="1971377"/>
            <a:ext cx="52594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上午 A.M.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25287" y="1971377"/>
            <a:ext cx="52595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 / 晚上 P.M.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1750" y="2234803"/>
            <a:ext cx="11328499" cy="400050"/>
          </a:xfrm>
          <a:prstGeom prst="roundRect">
            <a:avLst>
              <a:gd name="adj" fmla="val 190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58701" y="2311003"/>
            <a:ext cx="51810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70102" y="2333179"/>
            <a:ext cx="203150" cy="203150"/>
          </a:xfrm>
          <a:prstGeom prst="roundRect">
            <a:avLst>
              <a:gd name="adj" fmla="val 18755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953500" y="2333179"/>
            <a:ext cx="203150" cy="203150"/>
          </a:xfrm>
          <a:prstGeom prst="roundRect">
            <a:avLst>
              <a:gd name="adj" fmla="val 18755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58701" y="2787253"/>
            <a:ext cx="51810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670102" y="2809429"/>
            <a:ext cx="203150" cy="203150"/>
          </a:xfrm>
          <a:prstGeom prst="roundRect">
            <a:avLst>
              <a:gd name="adj" fmla="val 18755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953500" y="2809429"/>
            <a:ext cx="203150" cy="203150"/>
          </a:xfrm>
          <a:prstGeom prst="roundRect">
            <a:avLst>
              <a:gd name="adj" fmla="val 18755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31750" y="3187303"/>
            <a:ext cx="11328499" cy="400050"/>
          </a:xfrm>
          <a:prstGeom prst="roundRect">
            <a:avLst>
              <a:gd name="adj" fmla="val 190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58701" y="3263503"/>
            <a:ext cx="51810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670102" y="3285679"/>
            <a:ext cx="203150" cy="203150"/>
          </a:xfrm>
          <a:prstGeom prst="roundRect">
            <a:avLst>
              <a:gd name="adj" fmla="val 18755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953500" y="3285679"/>
            <a:ext cx="203150" cy="203150"/>
          </a:xfrm>
          <a:prstGeom prst="roundRect">
            <a:avLst>
              <a:gd name="adj" fmla="val 18755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58701" y="3739753"/>
            <a:ext cx="51810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670102" y="3761929"/>
            <a:ext cx="203150" cy="203150"/>
          </a:xfrm>
          <a:prstGeom prst="roundRect">
            <a:avLst>
              <a:gd name="adj" fmla="val 18755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953500" y="3761929"/>
            <a:ext cx="203150" cy="203150"/>
          </a:xfrm>
          <a:prstGeom prst="roundRect">
            <a:avLst>
              <a:gd name="adj" fmla="val 18755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31750" y="4139803"/>
            <a:ext cx="11328499" cy="400050"/>
          </a:xfrm>
          <a:prstGeom prst="roundRect">
            <a:avLst>
              <a:gd name="adj" fmla="val 190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58701" y="4216003"/>
            <a:ext cx="51810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670102" y="4238179"/>
            <a:ext cx="203150" cy="203150"/>
          </a:xfrm>
          <a:prstGeom prst="roundRect">
            <a:avLst>
              <a:gd name="adj" fmla="val 18755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953500" y="4238179"/>
            <a:ext cx="203150" cy="203150"/>
          </a:xfrm>
          <a:prstGeom prst="roundRect">
            <a:avLst>
              <a:gd name="adj" fmla="val 18755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58701" y="4692253"/>
            <a:ext cx="51810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670102" y="4714429"/>
            <a:ext cx="203150" cy="203150"/>
          </a:xfrm>
          <a:prstGeom prst="roundRect">
            <a:avLst>
              <a:gd name="adj" fmla="val 18755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953500" y="4714429"/>
            <a:ext cx="203150" cy="203150"/>
          </a:xfrm>
          <a:prstGeom prst="roundRect">
            <a:avLst>
              <a:gd name="adj" fmla="val 18755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31750" y="5143054"/>
            <a:ext cx="2439442" cy="298252"/>
          </a:xfrm>
          <a:prstGeom prst="roundRect">
            <a:avLst>
              <a:gd name="adj" fmla="val 6813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84150" y="5206454"/>
            <a:ext cx="217733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▶️ Play the track once through fully first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72693" y="5143054"/>
            <a:ext cx="3385691" cy="298252"/>
          </a:xfrm>
          <a:prstGeom prst="roundRect">
            <a:avLst>
              <a:gd name="adj" fmla="val 6813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125093" y="5206454"/>
            <a:ext cx="314250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Scaffold: transcript with time-of-day word blanked out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459885" y="5143054"/>
            <a:ext cx="3034159" cy="298252"/>
          </a:xfrm>
          <a:prstGeom prst="roundRect">
            <a:avLst>
              <a:gd name="adj" fmla="val 6813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612285" y="5206454"/>
            <a:ext cx="27839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🚀 Extension: also write the full sentence you heard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31750" y="5542806"/>
            <a:ext cx="2844850" cy="298252"/>
          </a:xfrm>
          <a:prstGeom prst="roundRect">
            <a:avLst>
              <a:gd name="adj" fmla="val 6813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84150" y="5606207"/>
            <a:ext cx="259085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OTR: thumbs up/down check after each item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 · ACTIVITY 1 · ANSWERS REVEAL · 20–28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CHECK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1272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Listen &amp; Tick: Answers · 答案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05400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once more straight through for self-check. How many out of 6?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380976"/>
            <a:ext cx="1352252" cy="317302"/>
          </a:xfrm>
          <a:prstGeom prst="roundRect">
            <a:avLst>
              <a:gd name="adj" fmla="val 640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34901" y="1444377"/>
            <a:ext cx="96487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58701" y="1850529"/>
            <a:ext cx="3886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66651" y="1850529"/>
            <a:ext cx="63112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Transcript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60505" y="1850529"/>
            <a:ext cx="21038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上午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550064" y="1850529"/>
            <a:ext cx="21038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下午/晚上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1750" y="2113955"/>
            <a:ext cx="11328499" cy="469702"/>
          </a:xfrm>
          <a:prstGeom prst="roundRect">
            <a:avLst>
              <a:gd name="adj" fmla="val 1622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8701" y="2234505"/>
            <a:ext cx="388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66651" y="2215455"/>
            <a:ext cx="63112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我上午八点看书。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360505" y="2215455"/>
            <a:ext cx="21038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58701" y="2780407"/>
            <a:ext cx="388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66651" y="2761357"/>
            <a:ext cx="63112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我下午四点打篮球。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550064" y="2761357"/>
            <a:ext cx="21038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31750" y="3205758"/>
            <a:ext cx="11328499" cy="469702"/>
          </a:xfrm>
          <a:prstGeom prst="roundRect">
            <a:avLst>
              <a:gd name="adj" fmla="val 1622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58701" y="3326309"/>
            <a:ext cx="388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66651" y="3307259"/>
            <a:ext cx="63112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我晚上八点做作业。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550064" y="3307259"/>
            <a:ext cx="21038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58701" y="3872210"/>
            <a:ext cx="388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66651" y="3853160"/>
            <a:ext cx="63112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我早上七点游泳。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360505" y="3853160"/>
            <a:ext cx="21038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31750" y="4297561"/>
            <a:ext cx="11328499" cy="469702"/>
          </a:xfrm>
          <a:prstGeom prst="roundRect">
            <a:avLst>
              <a:gd name="adj" fmla="val 1622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58701" y="4418112"/>
            <a:ext cx="388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66651" y="4399062"/>
            <a:ext cx="63112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我下午三点半打网球。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550064" y="4399062"/>
            <a:ext cx="21038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58701" y="4964013"/>
            <a:ext cx="388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66651" y="4944963"/>
            <a:ext cx="63112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我上午十点打乒乓球。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360505" y="4944963"/>
            <a:ext cx="21038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 · ACTIVITY 2 · SENTENCE JUMBLE · 28–36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8 MIN · TEAMS OF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1272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Sentence Jumble · 句子拼图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05400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Arrange your envelope of cards into 3 different valid sentences. Write each one down as you build it!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406426"/>
            <a:ext cx="647700" cy="526852"/>
          </a:xfrm>
          <a:prstGeom prst="roundRect">
            <a:avLst>
              <a:gd name="adj" fmla="val 19284"/>
            </a:avLst>
          </a:prstGeom>
          <a:solidFill>
            <a:srgbClr val="FFFFFF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3951" y="1526977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0951" y="1406426"/>
            <a:ext cx="850850" cy="526852"/>
          </a:xfrm>
          <a:prstGeom prst="roundRect">
            <a:avLst>
              <a:gd name="adj" fmla="val 19284"/>
            </a:avLst>
          </a:prstGeom>
          <a:solidFill>
            <a:srgbClr val="FFFFFF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403152" y="1526977"/>
            <a:ext cx="414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133302" y="1406426"/>
            <a:ext cx="850850" cy="526852"/>
          </a:xfrm>
          <a:prstGeom prst="roundRect">
            <a:avLst>
              <a:gd name="adj" fmla="val 19284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355503" y="1526977"/>
            <a:ext cx="414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085654" y="1406426"/>
            <a:ext cx="1054001" cy="526852"/>
          </a:xfrm>
          <a:prstGeom prst="roundRect">
            <a:avLst>
              <a:gd name="adj" fmla="val 19284"/>
            </a:avLst>
          </a:prstGeom>
          <a:solidFill>
            <a:srgbClr val="FFFFFF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307854" y="1526977"/>
            <a:ext cx="6217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241155" y="1406426"/>
            <a:ext cx="850850" cy="526852"/>
          </a:xfrm>
          <a:prstGeom prst="roundRect">
            <a:avLst>
              <a:gd name="adj" fmla="val 19284"/>
            </a:avLst>
          </a:prstGeom>
          <a:solidFill>
            <a:srgbClr val="FFFFFF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463355" y="1526977"/>
            <a:ext cx="414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93506" y="1406426"/>
            <a:ext cx="850850" cy="526852"/>
          </a:xfrm>
          <a:prstGeom prst="roundRect">
            <a:avLst>
              <a:gd name="adj" fmla="val 19284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415707" y="1526977"/>
            <a:ext cx="414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145857" y="1406426"/>
            <a:ext cx="850850" cy="526852"/>
          </a:xfrm>
          <a:prstGeom prst="roundRect">
            <a:avLst>
              <a:gd name="adj" fmla="val 19284"/>
            </a:avLst>
          </a:prstGeom>
          <a:solidFill>
            <a:srgbClr val="FFFFFF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368058" y="1526977"/>
            <a:ext cx="414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起床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98209" y="1406426"/>
            <a:ext cx="850850" cy="526852"/>
          </a:xfrm>
          <a:prstGeom prst="roundRect">
            <a:avLst>
              <a:gd name="adj" fmla="val 19284"/>
            </a:avLst>
          </a:prstGeom>
          <a:solidFill>
            <a:srgbClr val="FFFFFF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320409" y="1526977"/>
            <a:ext cx="414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晚上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050560" y="1406426"/>
            <a:ext cx="1054001" cy="526852"/>
          </a:xfrm>
          <a:prstGeom prst="roundRect">
            <a:avLst>
              <a:gd name="adj" fmla="val 19284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272760" y="1526977"/>
            <a:ext cx="6217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九点半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206061" y="1406426"/>
            <a:ext cx="1054001" cy="526852"/>
          </a:xfrm>
          <a:prstGeom prst="roundRect">
            <a:avLst>
              <a:gd name="adj" fmla="val 19284"/>
            </a:avLst>
          </a:prstGeom>
          <a:solidFill>
            <a:srgbClr val="FFFFFF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428262" y="1526977"/>
            <a:ext cx="6217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做作业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31750" y="2085677"/>
            <a:ext cx="2305794" cy="400050"/>
          </a:xfrm>
          <a:prstGeom prst="roundRect">
            <a:avLst>
              <a:gd name="adj" fmla="val 25397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53951" y="2180927"/>
            <a:ext cx="18986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 + 时间词 + 几点 + 动词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915245" y="2204740"/>
            <a:ext cx="341044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Scaffold: ask for the sentence-frame reminder card if stuck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31750" y="2638127"/>
            <a:ext cx="2962573" cy="298252"/>
          </a:xfrm>
          <a:prstGeom prst="roundRect">
            <a:avLst>
              <a:gd name="adj" fmla="val 6813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84150" y="2701528"/>
            <a:ext cx="271092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🧩 Teams race to build 3 different valid sentences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3495824" y="2638127"/>
            <a:ext cx="3045023" cy="298252"/>
          </a:xfrm>
          <a:prstGeom prst="roundRect">
            <a:avLst>
              <a:gd name="adj" fmla="val 6813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648224" y="2701528"/>
            <a:ext cx="279502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each sentence down as your team builds it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642348" y="2638127"/>
            <a:ext cx="3416350" cy="298252"/>
          </a:xfrm>
          <a:prstGeom prst="roundRect">
            <a:avLst>
              <a:gd name="adj" fmla="val 6813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794748" y="2701528"/>
            <a:ext cx="31737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🚀 Extension: build a 4th sentence using 我们 instead of 我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31750" y="3037880"/>
            <a:ext cx="3199358" cy="298252"/>
          </a:xfrm>
          <a:prstGeom prst="roundRect">
            <a:avLst>
              <a:gd name="adj" fmla="val 6813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84150" y="3101280"/>
            <a:ext cx="29524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OTR: every team member reads one sentence aloud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 · GAME · 二真一假 · 36–43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950607" y="1607046"/>
            <a:ext cx="62907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7 MIN · GROUPS OF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950607" y="1838771"/>
            <a:ext cx="629078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Two Truths, One Lie · 二真一假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950607" y="2318147"/>
            <a:ext cx="629078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Mix daily routine + sports sentences — 2 true, 1 false. Can your group spot the lie?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666256" y="2705398"/>
            <a:ext cx="1566118" cy="749201"/>
          </a:xfrm>
          <a:prstGeom prst="roundRect">
            <a:avLst>
              <a:gd name="adj" fmla="val 169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857808" y="2832348"/>
            <a:ext cx="118301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857808" y="3146673"/>
            <a:ext cx="118301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3 sentences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57546" y="2956173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64125" y="2705398"/>
            <a:ext cx="1491109" cy="749201"/>
          </a:xfrm>
          <a:prstGeom prst="roundRect">
            <a:avLst>
              <a:gd name="adj" fmla="val 169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856427" y="2832348"/>
            <a:ext cx="110650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56427" y="3146673"/>
            <a:ext cx="11065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them aloud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80405" y="2956173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6984" y="2705398"/>
            <a:ext cx="1186160" cy="749201"/>
          </a:xfrm>
          <a:prstGeom prst="roundRect">
            <a:avLst>
              <a:gd name="adj" fmla="val 169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82336" y="2832348"/>
            <a:ext cx="79545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🤔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782336" y="3146673"/>
            <a:ext cx="79545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Group votes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898316" y="2956173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04895" y="2705398"/>
            <a:ext cx="1320701" cy="749201"/>
          </a:xfrm>
          <a:prstGeom prst="roundRect">
            <a:avLst>
              <a:gd name="adj" fmla="val 169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398901" y="2832348"/>
            <a:ext cx="93268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98901" y="3146673"/>
            <a:ext cx="93268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Reveal the lie!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53098" y="3632299"/>
            <a:ext cx="5485656" cy="1129903"/>
          </a:xfrm>
          <a:prstGeom prst="roundRect">
            <a:avLst>
              <a:gd name="adj" fmla="val 112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09137" y="3810000"/>
            <a:ext cx="49735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09137" y="4048125"/>
            <a:ext cx="4973577" cy="304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我早上六点起床。我下午打网球。我晚上十二点睡觉。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609137" y="4403527"/>
            <a:ext cx="497357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one doesn't match reality? Point or vote to guess!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48982" y="4939903"/>
            <a:ext cx="338372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3 minutes writing time before groups start sharing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016873" y="4939903"/>
            <a:ext cx="372938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📄 Setup: paper and pen only — no other materials needed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 · PLENARY · 43–50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452414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1684139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2265164"/>
            <a:ext cx="1155506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 — SHOW 👍 😐 👎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31750" y="2595414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60202" y="2531864"/>
            <a:ext cx="48694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listen and correctly tick whether a time is a.m. or p.m.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1750" y="2900214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60202" y="2836664"/>
            <a:ext cx="43601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make a sentence combining a time + an activity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1750" y="3205014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60202" y="3141464"/>
            <a:ext cx="52310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spot an error in a combined routine-and-activity sentence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31750" y="3522464"/>
            <a:ext cx="11328499" cy="778371"/>
          </a:xfrm>
          <a:prstGeom prst="roundRect">
            <a:avLst>
              <a:gd name="adj" fmla="val 1631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60350" y="3674864"/>
            <a:ext cx="1108872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60350" y="3935164"/>
            <a:ext cx="1108872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your paper, write </a:t>
            </a:r>
            <a:r>
              <a:rPr lang="en-US" sz="12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sentence combining a time and a sport/activity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that you're proud of.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1750" y="4453235"/>
            <a:ext cx="11328499" cy="850850"/>
          </a:xfrm>
          <a:prstGeom prst="roundRect">
            <a:avLst>
              <a:gd name="adj" fmla="val 14926"/>
            </a:avLst>
          </a:prstGeom>
          <a:solidFill>
            <a:srgbClr val="F6E9D3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4701" y="4624685"/>
            <a:ext cx="10998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4701" y="4865936"/>
            <a:ext cx="10998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Write: "I play badminton at 5:00 in the afternoon."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21920" y="1015901"/>
            <a:ext cx="124358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-121920" y="1879402"/>
            <a:ext cx="12435840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-121920" y="2511177"/>
            <a:ext cx="12435840" cy="495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spcBef>
                <a:spcPts val="1000"/>
              </a:spcBef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listen for a.m./p.m. and combine your routine with sports.</a:t>
            </a:r>
            <a:endParaRPr lang="en-US" sz="1300" dirty="0"/>
          </a:p>
          <a:p>
            <a:pPr algn="ctr" indent="0" marL="0">
              <a:lnSpc>
                <a:spcPts val="1950"/>
              </a:lnSpc>
              <a:spcBef>
                <a:spcPts val="1000"/>
              </a:spcBef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Remember: sports verbs slot right where routine verbs go!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850059" y="3260080"/>
            <a:ext cx="6491734" cy="1396901"/>
          </a:xfrm>
          <a:prstGeom prst="roundRect">
            <a:avLst>
              <a:gd name="adj" fmla="val 10910"/>
            </a:avLst>
          </a:prstGeom>
          <a:solidFill>
            <a:srgbClr val="DCEAEC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93192" y="3507730"/>
            <a:ext cx="5805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193192" y="3720405"/>
            <a:ext cx="580546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采访同伴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193192" y="4199781"/>
            <a:ext cx="58054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interview a partner about their whole daily routine and write up a report.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-121920" y="4885581"/>
            <a:ext cx="1243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800"/>
              </a:spcBef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 (time) + 活动 (activity)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sentences</a:t>
            </a:r>
            <a:endParaRPr lang="en-US" sz="1300" dirty="0"/>
          </a:p>
          <a:p>
            <a:pPr algn="ctr" indent="0" marL="0">
              <a:spcBef>
                <a:spcPts val="1800"/>
              </a:spcBef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Next: interview + written report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2026-07-21T08:47:28Z</dcterms:created>
  <dcterms:modified xsi:type="dcterms:W3CDTF">2026-07-21T08:47:28Z</dcterms:modified>
</cp:coreProperties>
</file>