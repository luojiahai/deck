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7401" y="1835646"/>
            <a:ext cx="520700" cy="5207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73701" y="1835646"/>
            <a:ext cx="520700" cy="520700"/>
          </a:xfrm>
          <a:prstGeom prst="roundRect">
            <a:avLst/>
          </a:prstGeom>
          <a:solidFill>
            <a:srgbClr val="000000">
              <a:alpha val="0"/>
            </a:srgbClr>
          </a:solidFill>
          <a:ln w="25400">
            <a:solidFill>
              <a:srgbClr val="C894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96495" y="49334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36568" y="4933454"/>
            <a:ext cx="25400" cy="254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96500" y="4953000"/>
            <a:ext cx="23134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0" dirty="0">
                <a:solidFill>
                  <a:srgbClr val="C8943E">
                    <a:alpha val="4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访</a:t>
            </a:r>
            <a:endParaRPr lang="en-US" sz="18000" dirty="0"/>
          </a:p>
        </p:txBody>
      </p:sp>
      <p:sp>
        <p:nvSpPr>
          <p:cNvPr id="7" name="Text 5"/>
          <p:cNvSpPr/>
          <p:nvPr/>
        </p:nvSpPr>
        <p:spPr>
          <a:xfrm>
            <a:off x="5397401" y="1835646"/>
            <a:ext cx="548132" cy="538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问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019701" y="1984871"/>
            <a:ext cx="179832" cy="240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5CE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⇄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73701" y="1835646"/>
            <a:ext cx="548132" cy="5389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96852" y="2610346"/>
            <a:ext cx="7025628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spc="20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OF 8 · Y7 UNIT 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96852" y="3296444"/>
            <a:ext cx="7025628" cy="8424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5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采访·报告</a:t>
            </a:r>
            <a:endParaRPr lang="en-US" sz="5900" dirty="0"/>
          </a:p>
        </p:txBody>
      </p:sp>
      <p:sp>
        <p:nvSpPr>
          <p:cNvPr id="12" name="Text 10"/>
          <p:cNvSpPr/>
          <p:nvPr/>
        </p:nvSpPr>
        <p:spPr>
          <a:xfrm>
            <a:off x="2596852" y="4171454"/>
            <a:ext cx="7025628" cy="310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spc="64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Partner Interview &amp; Daily Routine Report · 采访同伴，写日常起居报告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80409" y="4869954"/>
            <a:ext cx="791119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74295" y="4869954"/>
            <a:ext cx="43730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14368" y="4869954"/>
            <a:ext cx="1624457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spc="48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Speaking + Writing + Listening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2000" y="3163888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3278188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257800" y="3163888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22900" y="3278188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2000" y="3722688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27100" y="3836988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57800" y="3722688"/>
            <a:ext cx="4394200" cy="4572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22900" y="3836988"/>
            <a:ext cx="228600" cy="2286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4319588"/>
            <a:ext cx="1862931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51931" y="4319588"/>
            <a:ext cx="1866999" cy="2730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2000" y="4706938"/>
            <a:ext cx="9010650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190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253927" y="187325"/>
            <a:ext cx="167763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6 Recap · 0–8 min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62000" y="2166938"/>
            <a:ext cx="10695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0–8 MIN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62000" y="2395538"/>
            <a:ext cx="10695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 + 活动 · Combined Sentences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762000" y="2852738"/>
            <a:ext cx="10695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an English sentence — write the Chinese on paper and hold it up.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27100" y="327818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70000" y="3284538"/>
            <a:ext cx="1597767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homework at 8pm.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22900" y="327818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765800" y="3284538"/>
            <a:ext cx="2779661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basketball at 4:30 in the afternoon.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927100" y="383698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70000" y="3843338"/>
            <a:ext cx="2339923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swim at 9 o'clock in the morning.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22900" y="3836988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765800" y="3843338"/>
            <a:ext cx="2739378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play table tennis at 7:15 in the evening.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000" y="4319588"/>
            <a:ext cx="1890363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Chinese → hold up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751931" y="4319588"/>
            <a:ext cx="1894431" cy="291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 students per item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62000" y="4706938"/>
            <a:ext cx="9038082" cy="180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🔗 Connection: You can describe your own day. Today you find out about someone else's day by asking them directly — a real interview — and write it up.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717800"/>
            <a:ext cx="8693150" cy="698500"/>
          </a:xfrm>
          <a:prstGeom prst="rect">
            <a:avLst/>
          </a:prstGeom>
          <a:solidFill>
            <a:srgbClr val="C8943E">
              <a:alpha val="12000"/>
            </a:srgbClr>
          </a:solidFill>
          <a:ln w="31750">
            <a:solidFill>
              <a:srgbClr val="1E2A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6449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421005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4775200"/>
            <a:ext cx="228600" cy="22860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253927" y="187325"/>
            <a:ext cx="224407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889000" y="178435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89000" y="2012950"/>
            <a:ext cx="10441432" cy="49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123950" y="28702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65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23950" y="3028950"/>
            <a:ext cx="8282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interview a classmate about their daily routine and write up what we find out.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9000" y="36449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219200" y="3651250"/>
            <a:ext cx="4524720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ask all 8 interview questions about someone's daily routine.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193800" y="396240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问八个关于日常起居的问题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89000" y="421005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19200" y="4216400"/>
            <a:ext cx="4384127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a short report about my partner's routine in Chinese.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93800" y="452755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写一份关于同伴日常起居的报告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89000" y="4775200"/>
            <a:ext cx="2560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219200" y="4781550"/>
            <a:ext cx="3928316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and correctly tick the time and activity I hear.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93800" y="5092700"/>
            <a:ext cx="79776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听音判断时间和活动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2451100"/>
            <a:ext cx="1853505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2505" y="2451100"/>
            <a:ext cx="2057003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99509" y="2451100"/>
            <a:ext cx="2022078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21587" y="2451100"/>
            <a:ext cx="2322413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000" y="2692400"/>
            <a:ext cx="1853505" cy="4857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2505" y="2692400"/>
            <a:ext cx="2057003" cy="4857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99509" y="2692400"/>
            <a:ext cx="2022078" cy="4857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21587" y="2692400"/>
            <a:ext cx="2322413" cy="4857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8587" y="2860675"/>
            <a:ext cx="637084" cy="158750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9000" y="3178175"/>
            <a:ext cx="1853505" cy="4826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2505" y="3178175"/>
            <a:ext cx="2057003" cy="482600"/>
          </a:xfrm>
          <a:prstGeom prst="rect">
            <a:avLst/>
          </a:prstGeom>
          <a:solidFill>
            <a:srgbClr val="F6F2E8"/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99509" y="3178175"/>
            <a:ext cx="2022078" cy="48260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587" y="3178175"/>
            <a:ext cx="2322413" cy="4826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48587" y="3343275"/>
            <a:ext cx="561777" cy="1587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000" y="3660775"/>
            <a:ext cx="1853505" cy="4826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2505" y="3660775"/>
            <a:ext cx="2057003" cy="4826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5B667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99509" y="3660775"/>
            <a:ext cx="2022078" cy="4826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21587" y="3660775"/>
            <a:ext cx="2322413" cy="4826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48587" y="3825875"/>
            <a:ext cx="561777" cy="15875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9000" y="4324350"/>
            <a:ext cx="1355030" cy="387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74230" y="4324350"/>
            <a:ext cx="1355030" cy="387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59461" y="4324350"/>
            <a:ext cx="1355030" cy="3873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89000" y="4864100"/>
            <a:ext cx="8559800" cy="508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1253927" y="187325"/>
            <a:ext cx="1680714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889000" y="166370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NEW VOCABULARY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89000" y="1879600"/>
            <a:ext cx="10441432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新词汇 · 午饭 &amp; 晚饭</a:t>
            </a:r>
            <a:endParaRPr lang="en-US" sz="2300" dirty="0"/>
          </a:p>
        </p:txBody>
      </p:sp>
      <p:sp>
        <p:nvSpPr>
          <p:cNvPr id="33" name="Text 31"/>
          <p:cNvSpPr/>
          <p:nvPr/>
        </p:nvSpPr>
        <p:spPr>
          <a:xfrm>
            <a:off x="889000" y="2451100"/>
            <a:ext cx="1880937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2742505" y="2451100"/>
            <a:ext cx="2084435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799509" y="2451100"/>
            <a:ext cx="2049510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89000" y="2692400"/>
            <a:ext cx="1880937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早饭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2742505" y="2692400"/>
            <a:ext cx="2084435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zǎo fàn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99509" y="2692400"/>
            <a:ext cx="2049510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821587" y="2692400"/>
            <a:ext cx="2349845" cy="5040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已学 Recall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89000" y="3178175"/>
            <a:ext cx="1880937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午饭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2742505" y="3178175"/>
            <a:ext cx="208443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wǔ fàn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799509" y="3178175"/>
            <a:ext cx="2049510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lunch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821587" y="3178175"/>
            <a:ext cx="234984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新词 New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89000" y="3660775"/>
            <a:ext cx="1880937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晚饭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2742505" y="3660775"/>
            <a:ext cx="208443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677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wǎn fàn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799509" y="3660775"/>
            <a:ext cx="2049510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dinner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821587" y="3660775"/>
            <a:ext cx="2349845" cy="500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新词 New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89000" y="4324350"/>
            <a:ext cx="1382462" cy="405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 + 饭 = 早饭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345630" y="4425950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574230" y="4324350"/>
            <a:ext cx="1382462" cy="405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 + 饭 = 午饭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030861" y="4425950"/>
            <a:ext cx="154432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·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259461" y="4324350"/>
            <a:ext cx="1382462" cy="405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 + 饭 = 晚饭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1041400" y="4965700"/>
            <a:ext cx="82824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GUESS THE PATTERN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2984798" y="5111750"/>
            <a:ext cx="79161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 + 饭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5500" y="2314575"/>
            <a:ext cx="508000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33500" y="2314575"/>
            <a:ext cx="5236567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70067" y="2314575"/>
            <a:ext cx="3780433" cy="2413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5500" y="2555875"/>
            <a:ext cx="508000" cy="3841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33500" y="2555875"/>
            <a:ext cx="5236567" cy="3841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0067" y="2555875"/>
            <a:ext cx="3780433" cy="3841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5500" y="2940050"/>
            <a:ext cx="508000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3500" y="2940050"/>
            <a:ext cx="5236567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70067" y="2940050"/>
            <a:ext cx="3780433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500" y="3321050"/>
            <a:ext cx="508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33500" y="3321050"/>
            <a:ext cx="5236567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70067" y="3321050"/>
            <a:ext cx="3780433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500" y="3702050"/>
            <a:ext cx="508000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33500" y="3702050"/>
            <a:ext cx="5236567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70067" y="3702050"/>
            <a:ext cx="3780433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5500" y="4083050"/>
            <a:ext cx="508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33500" y="4083050"/>
            <a:ext cx="5236567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067" y="4083050"/>
            <a:ext cx="3780433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5500" y="4464050"/>
            <a:ext cx="508000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33500" y="4464050"/>
            <a:ext cx="5236567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70067" y="4464050"/>
            <a:ext cx="3780433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5500" y="4845050"/>
            <a:ext cx="508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33500" y="4845050"/>
            <a:ext cx="5236567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70067" y="4845050"/>
            <a:ext cx="3780433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5500" y="5226050"/>
            <a:ext cx="508000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5226050"/>
            <a:ext cx="5236567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70067" y="5226050"/>
            <a:ext cx="3780433" cy="381000"/>
          </a:xfrm>
          <a:prstGeom prst="rect">
            <a:avLst/>
          </a:prstGeom>
          <a:solidFill>
            <a:srgbClr val="F6F2E8"/>
          </a:solidFill>
          <a:ln w="6350">
            <a:solidFill>
              <a:srgbClr val="8B94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1253927" y="187325"/>
            <a:ext cx="1855637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Interview Questions · 10–20 min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825500" y="1425575"/>
            <a:ext cx="10568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EX9, P.84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5500" y="1628775"/>
            <a:ext cx="10568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采访问题 · The 8 Interview Questions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825500" y="2047875"/>
            <a:ext cx="10568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These are the questions you'll use to interview a partner later in the lesson.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333500" y="2314575"/>
            <a:ext cx="5263999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570067" y="2314575"/>
            <a:ext cx="3807865" cy="2595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Covers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825500" y="2555875"/>
            <a:ext cx="535432" cy="4024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333500" y="2555875"/>
            <a:ext cx="5263999" cy="4024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你早上几点起床？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570067" y="2555875"/>
            <a:ext cx="3807865" cy="4024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wake up · 起床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25500" y="2940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333500" y="2940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你几点吃早饭？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6570067" y="2940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breakfast · 早饭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25500" y="3321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333500" y="3321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你几点去上学？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6570067" y="3321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 · 上学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25500" y="3702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333500" y="3702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你们几点上课？</a:t>
            </a:r>
            <a:endParaRPr lang="en-US" sz="1350" dirty="0"/>
          </a:p>
        </p:txBody>
      </p:sp>
      <p:sp>
        <p:nvSpPr>
          <p:cNvPr id="51" name="Text 49"/>
          <p:cNvSpPr/>
          <p:nvPr/>
        </p:nvSpPr>
        <p:spPr>
          <a:xfrm>
            <a:off x="6570067" y="3702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class · 上课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825500" y="4083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333500" y="4083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你几点吃午饭？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6570067" y="4083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lunch · 午饭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825500" y="4464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333500" y="4464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你们下午几点放学？</a:t>
            </a:r>
            <a:endParaRPr lang="en-US" sz="1350" dirty="0"/>
          </a:p>
        </p:txBody>
      </p:sp>
      <p:sp>
        <p:nvSpPr>
          <p:cNvPr id="57" name="Text 55"/>
          <p:cNvSpPr/>
          <p:nvPr/>
        </p:nvSpPr>
        <p:spPr>
          <a:xfrm>
            <a:off x="6570067" y="4464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school · 放学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25500" y="4845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333500" y="4845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你几点吃晚饭？</a:t>
            </a:r>
            <a:endParaRPr lang="en-US" sz="1350" dirty="0"/>
          </a:p>
        </p:txBody>
      </p:sp>
      <p:sp>
        <p:nvSpPr>
          <p:cNvPr id="60" name="Text 58"/>
          <p:cNvSpPr/>
          <p:nvPr/>
        </p:nvSpPr>
        <p:spPr>
          <a:xfrm>
            <a:off x="6570067" y="4845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dinner · 晚饭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25500" y="5226050"/>
            <a:ext cx="535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>
                    <a:alpha val="12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1333500" y="5226050"/>
            <a:ext cx="5263999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你晚上几点睡觉？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6570067" y="5226050"/>
            <a:ext cx="3807865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sleep · 睡觉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8500" y="1689100"/>
            <a:ext cx="51435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9950" y="1835150"/>
            <a:ext cx="1133078" cy="1714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9950" y="2495550"/>
            <a:ext cx="716062" cy="3111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49512" y="2495550"/>
            <a:ext cx="843062" cy="3111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56073" y="2495550"/>
            <a:ext cx="482600" cy="3111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0" y="1689100"/>
            <a:ext cx="5143500" cy="126365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21450" y="1835150"/>
            <a:ext cx="1464667" cy="1714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8500" y="3092450"/>
            <a:ext cx="10795000" cy="48260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253927" y="187325"/>
            <a:ext cx="215577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Modelling: Notes → Report · 10–20 min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98500" y="762000"/>
            <a:ext cx="10822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TEACHER MODEL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98500" y="965200"/>
            <a:ext cx="10822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示范 · Notes → Report Sentence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98500" y="1384300"/>
            <a:ext cx="10822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a volunteer all 8 questions, then models turning the notes into a report.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69950" y="1835150"/>
            <a:ext cx="1160510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1 · Ask &amp; Note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69950" y="2082800"/>
            <a:ext cx="4828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asks the volunteer all 8 questions and writes the answers on the board in note form — keywords only, not full sentences.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69950" y="2495550"/>
            <a:ext cx="743494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7点 起床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49512" y="2495550"/>
            <a:ext cx="870494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7点半 早饭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56073" y="2495550"/>
            <a:ext cx="510032" cy="3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……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69000" y="1689100"/>
            <a:ext cx="281432" cy="128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21450" y="1835150"/>
            <a:ext cx="1492099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Step 2 · Notes → Sentence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6521450" y="2082800"/>
            <a:ext cx="4828032" cy="1802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notes become one flowing report sentence: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21450" y="2333625"/>
            <a:ext cx="4828032" cy="342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他/她早上七点起床，七点半吃早饭……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50900" y="3194050"/>
            <a:ext cx="217932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3235325"/>
            <a:ext cx="4654300" cy="2151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Person switch: the interview uses 你 (you) — the written report uses 他 (he) or 她 (she).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8500" y="762000"/>
            <a:ext cx="10795000" cy="1587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8500" y="1555750"/>
            <a:ext cx="10795000" cy="901005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8500" y="2571055"/>
            <a:ext cx="10795000" cy="1262955"/>
          </a:xfrm>
          <a:prstGeom prst="roundRect">
            <a:avLst/>
          </a:prstGeom>
          <a:solidFill>
            <a:srgbClr val="3A7D8C">
              <a:alpha val="1000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63650" y="3402211"/>
            <a:ext cx="1985764" cy="2857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8500" y="3948311"/>
            <a:ext cx="10795000" cy="901005"/>
          </a:xfrm>
          <a:prstGeom prst="roundRect">
            <a:avLst/>
          </a:prstGeom>
          <a:solidFill>
            <a:srgbClr val="C8943E">
              <a:alpha val="12000"/>
            </a:srgbClr>
          </a:solidFill>
          <a:ln w="635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253927" y="187325"/>
            <a:ext cx="207223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98500" y="762000"/>
            <a:ext cx="10822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98500" y="1009650"/>
            <a:ext cx="10822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理解检查 · CFU Checkpoints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82650" y="1701800"/>
            <a:ext cx="2687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263650" y="1701800"/>
            <a:ext cx="100731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263650" y="1860550"/>
            <a:ext cx="100731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Which question asks about lunch?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63650" y="2129730"/>
            <a:ext cx="1007313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about the 8 interview questions — which one covers 午饭?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650" y="2717105"/>
            <a:ext cx="2687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1263650" y="2717105"/>
            <a:ext cx="100731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&amp; HOLD UP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263650" y="2875855"/>
            <a:ext cx="100731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Turn question 6 into third person for your report.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63650" y="3145036"/>
            <a:ext cx="1007313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6: 你们下午几点放学？ — rewrite it as a report sentence about your partner.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263650" y="3402211"/>
            <a:ext cx="2013196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 on next slide →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882650" y="4094361"/>
            <a:ext cx="2687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1263650" y="4094361"/>
            <a:ext cx="100731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263650" y="4253111"/>
            <a:ext cx="10073132" cy="249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What's the pattern connecting 早饭、午饭、晚饭?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3650" y="4522291"/>
            <a:ext cx="10073132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Think back to the vocabulary you just learned.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8500" y="762000"/>
            <a:ext cx="10795000" cy="1587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8500" y="1555750"/>
            <a:ext cx="8686800" cy="1456630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1253927" y="187325"/>
            <a:ext cx="1649659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 · 10–20 min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698500" y="762000"/>
            <a:ext cx="10822432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698500" y="1009650"/>
            <a:ext cx="10822432" cy="424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1746250"/>
            <a:ext cx="306832" cy="431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346200" y="1746250"/>
            <a:ext cx="7850632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78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&amp; HOLD UP · CFU ANSWER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346200" y="1930400"/>
            <a:ext cx="7850632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 question 6 into third person for your report: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346200" y="2222500"/>
            <a:ext cx="7850632" cy="3636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你们下午几点放学？  →  他们/她 下午几点放学  →  他们下午三点半放学。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46200" y="2669480"/>
            <a:ext cx="78506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你们 (asking a group) becomes 他们 (they) or 她 (she) in the written report.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98500" y="3152080"/>
            <a:ext cx="8282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 &amp; 3 (which question asks about lunch? / the 早饭·午饭·晚饭 pattern) were checked orally via cold call — no written reveal needed.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30250"/>
            <a:ext cx="919361" cy="15875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40582" y="730250"/>
            <a:ext cx="1048643" cy="1587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684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18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352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686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020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354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8800" y="1670050"/>
            <a:ext cx="469900" cy="254000"/>
          </a:xfrm>
          <a:prstGeom prst="roundRect">
            <a:avLst/>
          </a:prstGeom>
          <a:solidFill>
            <a:srgbClr val="F6F2E8"/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00" y="2063750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2308225"/>
            <a:ext cx="165100" cy="1651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000" y="2654300"/>
            <a:ext cx="10922000" cy="1109166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500" y="2578100"/>
            <a:ext cx="1474291" cy="177800"/>
          </a:xfrm>
          <a:prstGeom prst="roundRect">
            <a:avLst/>
          </a:prstGeom>
          <a:solidFill>
            <a:srgbClr val="3A7D8C"/>
          </a:solidFill>
          <a:ln w="12700">
            <a:solidFill>
              <a:srgbClr val="3A7D8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253927" y="187325"/>
            <a:ext cx="2545505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 · Partner Interview (Ex9) · 20–43 min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35000" y="730250"/>
            <a:ext cx="946793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40582" y="730250"/>
            <a:ext cx="107607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10 min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635000" y="977900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同伴采访 · Partner Interview (Ex9)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635000" y="139700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pairs: Student A asks all 8 questions, Student B answers and notes their own answers in note form. Then swap roles.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0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起床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684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早饭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7018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2352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上课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686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午饭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3020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放学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8354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晚饭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368800" y="1670050"/>
            <a:ext cx="497332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睡觉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5000" y="2063750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889000" y="2051050"/>
            <a:ext cx="5380978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 asks all 8 questions — B answers and writes their own answers in note form (to keep a record).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5000" y="2308225"/>
            <a:ext cx="1925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889000" y="2295525"/>
            <a:ext cx="2120551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Swap — B asks, A answers and notes.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25500" y="2578100"/>
            <a:ext cx="1501723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→ You Do · 10 min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850900" y="2882900"/>
            <a:ext cx="342249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50900" y="3054350"/>
            <a:ext cx="3422499" cy="3724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Question sheet with pinyin available throughout. Note-form answers only, not full sentences, during the interview itself.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98367" y="2882900"/>
            <a:ext cx="3422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4398367" y="3054350"/>
            <a:ext cx="3422598" cy="549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the standard 8 questions, fluent pairs add one follow-up question of their own, e.g. 你几点吃晚饭以后做作业？ (English scaffolding accepted if needed).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945934" y="2882900"/>
            <a:ext cx="3422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7945934" y="3054350"/>
            <a:ext cx="3422598" cy="3724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must both ask and answer all 8 questions — no observers.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730250"/>
            <a:ext cx="493713" cy="15875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4934" y="730250"/>
            <a:ext cx="1048643" cy="1587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1682750"/>
            <a:ext cx="10922000" cy="508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2603500"/>
            <a:ext cx="10922000" cy="1109166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5500" y="2527300"/>
            <a:ext cx="1030188" cy="17780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253927" y="187325"/>
            <a:ext cx="1826863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Write the Report · 20–43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5000" y="730250"/>
            <a:ext cx="52114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214934" y="730250"/>
            <a:ext cx="107607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10 min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35000" y="977900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写报告 · Write the Report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35000" y="1397000"/>
            <a:ext cx="109494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Using your partner's note-form answers, write a short report (5–6 sentences) about their day — switch to 他/她.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15839" y="1844675"/>
            <a:ext cx="968026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[time-of-day]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19933" y="1844675"/>
            <a:ext cx="521244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[time]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77245" y="1844675"/>
            <a:ext cx="513405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 [verb]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5000" y="2254250"/>
            <a:ext cx="10949432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Sentence-starter template — all 8 slots outlined on the worksheet.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25500" y="2527300"/>
            <a:ext cx="1057620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10 min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50900" y="2832100"/>
            <a:ext cx="3422499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850900" y="3003550"/>
            <a:ext cx="3422499" cy="3724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Sentence-starter template provided. Struggling students may write in the same order as the interview questions.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398367" y="2832100"/>
            <a:ext cx="3422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4398367" y="3003550"/>
            <a:ext cx="3422598" cy="5496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Combine sentences using time-of-day words: 他早上七点起床，七点半吃早饭 — and add one sentence about a sport/activity from Lesson 6.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945934" y="2832100"/>
            <a:ext cx="3422598" cy="138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7945934" y="3003550"/>
            <a:ext cx="3422598" cy="3724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Pair-check — partner reads the report about themselves and confirms every detail is correct before handing 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1136650"/>
            <a:ext cx="493713" cy="158750"/>
          </a:xfrm>
          <a:prstGeom prst="roundRect">
            <a:avLst/>
          </a:prstGeom>
          <a:solidFill>
            <a:srgbClr val="D4756B"/>
          </a:solidFill>
          <a:ln w="12700">
            <a:solidFill>
              <a:srgbClr val="D4756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4934" y="1136650"/>
            <a:ext cx="993378" cy="15875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5000" y="2044700"/>
            <a:ext cx="10922000" cy="330200"/>
          </a:xfrm>
          <a:prstGeom prst="roundRect">
            <a:avLst/>
          </a:prstGeom>
          <a:solidFill>
            <a:srgbClr val="D4756B">
              <a:alpha val="10000"/>
            </a:srgbClr>
          </a:solidFill>
          <a:ln w="12700">
            <a:solidFill>
              <a:srgbClr val="D475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000" y="2476500"/>
            <a:ext cx="1603871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38871" y="2476500"/>
            <a:ext cx="3960515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9386" y="2476500"/>
            <a:ext cx="3960614" cy="21590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000" y="2692400"/>
            <a:ext cx="1603871" cy="2825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38871" y="2692400"/>
            <a:ext cx="3960515" cy="2825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4579" y="28457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9386" y="2692400"/>
            <a:ext cx="3960614" cy="28257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35193" y="28457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000" y="2974975"/>
            <a:ext cx="1603871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38871" y="2974975"/>
            <a:ext cx="3960515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4579" y="31251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99386" y="2974975"/>
            <a:ext cx="3960614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35193" y="31251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000" y="3254375"/>
            <a:ext cx="1603871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38871" y="3254375"/>
            <a:ext cx="3960515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74579" y="34045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99386" y="3254375"/>
            <a:ext cx="3960614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35193" y="34045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000" y="3533775"/>
            <a:ext cx="1603871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38871" y="3533775"/>
            <a:ext cx="3960515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74579" y="36839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386" y="3533775"/>
            <a:ext cx="3960614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35193" y="36839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5000" y="3813175"/>
            <a:ext cx="1603871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38871" y="3813175"/>
            <a:ext cx="3960515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74579" y="39633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99386" y="3813175"/>
            <a:ext cx="3960614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35193" y="39633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5000" y="4092575"/>
            <a:ext cx="1603871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38871" y="4092575"/>
            <a:ext cx="3960515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74579" y="42427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99386" y="4092575"/>
            <a:ext cx="3960614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35193" y="42427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5000" y="4371975"/>
            <a:ext cx="1603871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38871" y="4371975"/>
            <a:ext cx="3960515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74579" y="45221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99386" y="4371975"/>
            <a:ext cx="3960614" cy="27940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35193" y="45221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5000" y="4651375"/>
            <a:ext cx="1603871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38871" y="4651375"/>
            <a:ext cx="3960515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774579" y="48015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99386" y="4651375"/>
            <a:ext cx="3960614" cy="27940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735193" y="4801592"/>
            <a:ext cx="889000" cy="12700"/>
          </a:xfrm>
          <a:prstGeom prst="rect">
            <a:avLst/>
          </a:prstGeom>
          <a:solidFill>
            <a:srgbClr val="D5CEBB"/>
          </a:solidFill>
          <a:ln w="12700">
            <a:solidFill>
              <a:srgbClr val="D5CEBB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35000" y="5022850"/>
            <a:ext cx="10922000" cy="260350"/>
          </a:xfrm>
          <a:prstGeom prst="round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D5CEB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5000" y="5372100"/>
            <a:ext cx="2069604" cy="254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06204" y="5372100"/>
            <a:ext cx="2395736" cy="254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303540" y="5372100"/>
            <a:ext cx="2728218" cy="254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3358" y="5372100"/>
            <a:ext cx="2541091" cy="254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35000" y="5727700"/>
            <a:ext cx="2358529" cy="2540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1253927" y="187325"/>
            <a:ext cx="2013891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Ex10 Listen-and-Tick · 20–43 min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635000" y="1136650"/>
            <a:ext cx="521145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1214934" y="1136650"/>
            <a:ext cx="1020810" cy="1770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50" b="1" spc="5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8 min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635000" y="1384300"/>
            <a:ext cx="10949432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 Ex10 · Listen &amp; Tick</a:t>
            </a:r>
            <a:endParaRPr lang="en-US" sz="2100" dirty="0"/>
          </a:p>
        </p:txBody>
      </p:sp>
      <p:sp>
        <p:nvSpPr>
          <p:cNvPr id="63" name="Text 61"/>
          <p:cNvSpPr/>
          <p:nvPr/>
        </p:nvSpPr>
        <p:spPr>
          <a:xfrm>
            <a:off x="635000" y="1790700"/>
            <a:ext cx="10949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 items — tick the correct TIME and ACTIVITY you hear on each.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35000" y="2044700"/>
            <a:ext cx="10949432" cy="348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🔊 播放 CD T54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35000" y="2476500"/>
            <a:ext cx="1631303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2238871" y="2476500"/>
            <a:ext cx="3987947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heard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6199386" y="2476500"/>
            <a:ext cx="3988046" cy="234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spc="45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heard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635000" y="2692400"/>
            <a:ext cx="1631303" cy="3008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635000" y="29749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35000" y="32543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635000" y="35337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635000" y="38131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635000" y="40925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635000" y="43719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635000" y="4651375"/>
            <a:ext cx="1631303" cy="29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635000" y="5022850"/>
            <a:ext cx="10949432" cy="278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i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Self-check on next slide →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635000" y="5372100"/>
            <a:ext cx="2097036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▶️ Pass 1: pause after each item to tick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2806204" y="5372100"/>
            <a:ext cx="2423168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 Pass 2: play straight through for self-check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303540" y="5372100"/>
            <a:ext cx="2755650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Scaffold: activity already given, only tick the time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8133358" y="5372100"/>
            <a:ext cx="2568523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🚀 Extension: write the full sentence for 4+ items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35000" y="5727700"/>
            <a:ext cx="2385961" cy="27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OTR: thumbs up/down after every 2 items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5000" y="2400300"/>
            <a:ext cx="10922000" cy="23495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5000" y="2736850"/>
            <a:ext cx="1352748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87748" y="2736850"/>
            <a:ext cx="572224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09991" y="2736850"/>
            <a:ext cx="156398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273977" y="2736850"/>
            <a:ext cx="183852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12700">
            <a:solidFill>
              <a:srgbClr val="5B667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000" y="2946400"/>
            <a:ext cx="1352748" cy="3016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87748" y="2946400"/>
            <a:ext cx="5722243" cy="3016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09991" y="2946400"/>
            <a:ext cx="1563985" cy="3016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73977" y="2946400"/>
            <a:ext cx="1838523" cy="301625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000" y="3248025"/>
            <a:ext cx="1352748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87748" y="3248025"/>
            <a:ext cx="572224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09991" y="3248025"/>
            <a:ext cx="1563985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73977" y="3248025"/>
            <a:ext cx="183852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000" y="3546475"/>
            <a:ext cx="1352748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87748" y="3546475"/>
            <a:ext cx="572224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09991" y="3546475"/>
            <a:ext cx="1563985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3977" y="3546475"/>
            <a:ext cx="183852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000" y="3844925"/>
            <a:ext cx="1352748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87748" y="3844925"/>
            <a:ext cx="572224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09991" y="3844925"/>
            <a:ext cx="1563985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273977" y="3844925"/>
            <a:ext cx="183852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5000" y="4143375"/>
            <a:ext cx="1352748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87748" y="4143375"/>
            <a:ext cx="572224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09991" y="4143375"/>
            <a:ext cx="1563985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977" y="4143375"/>
            <a:ext cx="183852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5000" y="4441825"/>
            <a:ext cx="1352748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7748" y="4441825"/>
            <a:ext cx="572224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09991" y="4441825"/>
            <a:ext cx="1563985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273977" y="4441825"/>
            <a:ext cx="183852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000" y="4740275"/>
            <a:ext cx="1352748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87748" y="4740275"/>
            <a:ext cx="572224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09991" y="4740275"/>
            <a:ext cx="1563985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73977" y="4740275"/>
            <a:ext cx="1838523" cy="2984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35000" y="5038725"/>
            <a:ext cx="1352748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87748" y="5038725"/>
            <a:ext cx="572224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09991" y="5038725"/>
            <a:ext cx="1563985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273977" y="5038725"/>
            <a:ext cx="1838523" cy="298450"/>
          </a:xfrm>
          <a:prstGeom prst="rect">
            <a:avLst/>
          </a:prstGeom>
          <a:solidFill>
            <a:srgbClr val="F6F2E8"/>
          </a:solidFill>
          <a:ln w="6350">
            <a:solidFill>
              <a:srgbClr val="3A7D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1253927" y="187325"/>
            <a:ext cx="1915466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Ex10 Self-Check ↳ · 20–43 min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35000" y="1758950"/>
            <a:ext cx="10949432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 Ex10 · Self-Check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635000" y="2146300"/>
            <a:ext cx="10949432" cy="1833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once more straight through. Compare your ticks — how many out of 8?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5000" y="2400300"/>
            <a:ext cx="109494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56" kern="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🔑 Answer Key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35000" y="2736850"/>
            <a:ext cx="138018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1987748" y="2736850"/>
            <a:ext cx="5749675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Transcript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709991" y="2736850"/>
            <a:ext cx="1591417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9273977" y="2736850"/>
            <a:ext cx="1865955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42" kern="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35000" y="2946400"/>
            <a:ext cx="1380180" cy="3199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987748" y="2946400"/>
            <a:ext cx="5749675" cy="3199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我早上六点半起床。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709991" y="2946400"/>
            <a:ext cx="1591417" cy="3199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9273977" y="2946400"/>
            <a:ext cx="1865955" cy="3199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起床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35000" y="324802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987748" y="324802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我早上七点吃早饭。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709991" y="324802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273977" y="324802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早饭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35000" y="354647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987748" y="354647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我早上七点四十五去上学。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7709991" y="354647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273977" y="354647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上学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35000" y="384492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1987748" y="384492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我们八点半上课。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7709991" y="384492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9273977" y="384492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上课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35000" y="414337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1987748" y="414337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我十二点一刻吃午饭。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7709991" y="414337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9273977" y="414337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午饭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635000" y="444182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1987748" y="444182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我们下午三点半放学。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709991" y="444182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3:30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9273977" y="444182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放学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5000" y="474027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7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987748" y="474027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我晚上六点吃晚饭。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7709991" y="474027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6:00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9273977" y="474027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晚饭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35000" y="5038725"/>
            <a:ext cx="1380180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8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987748" y="5038725"/>
            <a:ext cx="574967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我晚上十点睡觉。</a:t>
            </a:r>
            <a:endParaRPr lang="en-US" sz="1050" dirty="0"/>
          </a:p>
        </p:txBody>
      </p:sp>
      <p:sp>
        <p:nvSpPr>
          <p:cNvPr id="82" name="Text 80"/>
          <p:cNvSpPr/>
          <p:nvPr/>
        </p:nvSpPr>
        <p:spPr>
          <a:xfrm>
            <a:off x="7709991" y="5038725"/>
            <a:ext cx="1591417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10:00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9273977" y="5038725"/>
            <a:ext cx="1865955" cy="316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睡觉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813050" y="3432175"/>
            <a:ext cx="13462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52950" y="3432175"/>
            <a:ext cx="13462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92850" y="3432175"/>
            <a:ext cx="13462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32750" y="3432175"/>
            <a:ext cx="1346200" cy="787400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8549" y="4422775"/>
            <a:ext cx="2982516" cy="3048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98865" y="4422775"/>
            <a:ext cx="3354487" cy="304800"/>
          </a:xfrm>
          <a:prstGeom prst="roundRect">
            <a:avLst/>
          </a:prstGeom>
          <a:solidFill>
            <a:srgbClr val="EDE7D7"/>
          </a:solidFill>
          <a:ln w="12700">
            <a:solidFill>
              <a:srgbClr val="EDE7D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53927" y="187325"/>
            <a:ext cx="2205780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Report-Back Round Robin · 20–43 min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654179" y="2308225"/>
            <a:ext cx="910975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74305" y="2536825"/>
            <a:ext cx="58707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报告接龙 · Report-Back Round Robin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2291358" y="3032125"/>
            <a:ext cx="7636716" cy="20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groups of 4: each student reads ONE sentence from their report aloud — don't say the name! The group guesses who it's about.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978150" y="3559175"/>
            <a:ext cx="10434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👥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2978150" y="3940175"/>
            <a:ext cx="1043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Groups of 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73550" y="370840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18050" y="3559175"/>
            <a:ext cx="10434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4718050" y="3940175"/>
            <a:ext cx="1043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1 sentence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13450" y="370840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57950" y="3559175"/>
            <a:ext cx="10434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🕵️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457950" y="3940175"/>
            <a:ext cx="1043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Group guesses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753350" y="3708400"/>
            <a:ext cx="192532" cy="253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97850" y="3559175"/>
            <a:ext cx="1043432" cy="373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🔁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8197850" y="3940175"/>
            <a:ext cx="1043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student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838549" y="4422775"/>
            <a:ext cx="3009948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📄 Reuse reports from Activity 2 — no new writing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98865" y="4422775"/>
            <a:ext cx="338191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Never say the name — guess from routine details only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514350"/>
          </a:xfrm>
          <a:prstGeom prst="rect">
            <a:avLst/>
          </a:prstGeom>
          <a:solidFill>
            <a:srgbClr val="FEFCF7">
              <a:alpha val="92000"/>
            </a:srgbClr>
          </a:solidFill>
          <a:ln w="6350">
            <a:solidFill>
              <a:srgbClr val="1E2A3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20577" y="190500"/>
            <a:ext cx="6350" cy="127000"/>
          </a:xfrm>
          <a:prstGeom prst="rect">
            <a:avLst/>
          </a:prstGeom>
          <a:solidFill>
            <a:srgbClr val="E5DFD0"/>
          </a:solidFill>
          <a:ln w="12700">
            <a:solidFill>
              <a:srgbClr val="E5DF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8000" y="0"/>
            <a:ext cx="11176000" cy="25400"/>
          </a:xfrm>
          <a:prstGeom prst="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9000" y="30582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9000" y="33122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000" y="3566220"/>
            <a:ext cx="63500" cy="63500"/>
          </a:xfrm>
          <a:prstGeom prst="roundRect">
            <a:avLst/>
          </a:prstGeom>
          <a:solidFill>
            <a:srgbClr val="C8943E"/>
          </a:solidFill>
          <a:ln w="12700">
            <a:solidFill>
              <a:srgbClr val="C8943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9000" y="3871020"/>
            <a:ext cx="5130800" cy="900311"/>
          </a:xfrm>
          <a:prstGeom prst="roundRect">
            <a:avLst/>
          </a:prstGeom>
          <a:solidFill>
            <a:srgbClr val="F6F2E8"/>
          </a:solidFill>
          <a:ln w="12700">
            <a:solidFill>
              <a:srgbClr val="F6F2E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172200" y="3871020"/>
            <a:ext cx="5130800" cy="900311"/>
          </a:xfrm>
          <a:prstGeom prst="roundRect">
            <a:avLst/>
          </a:prstGeom>
          <a:solidFill>
            <a:srgbClr val="C8943E">
              <a:alpha val="12000"/>
            </a:srgbClr>
          </a:solidFill>
          <a:ln w="12700">
            <a:solidFill>
              <a:srgbClr val="C894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0" y="6521450"/>
            <a:ext cx="12192000" cy="336550"/>
          </a:xfrm>
          <a:prstGeom prst="rect">
            <a:avLst/>
          </a:prstGeom>
          <a:solidFill>
            <a:srgbClr val="000000">
              <a:alpha val="0"/>
            </a:srgbClr>
          </a:solidFill>
          <a:ln w="6350">
            <a:solidFill>
              <a:srgbClr val="E5DF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8000" y="190500"/>
            <a:ext cx="513009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84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采访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253927" y="187325"/>
            <a:ext cx="983008" cy="1516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889000" y="1946970"/>
            <a:ext cx="10441432" cy="170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spc="112" kern="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89000" y="2175570"/>
            <a:ext cx="10441432" cy="4564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Plenary + Exit Ticket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89000" y="2778820"/>
            <a:ext cx="8282432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066800" y="4010720"/>
            <a:ext cx="4802632" cy="1897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spc="51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066800" y="4245670"/>
            <a:ext cx="4802632" cy="21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paper: "Which of the 8 questions can you now ask without checking the sheet?"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362700" y="4023420"/>
            <a:ext cx="4777232" cy="1643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362700" y="4232970"/>
            <a:ext cx="4777232" cy="4042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from your partner's report using 他 or 她. Collect on the way out.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9000" y="4911030"/>
            <a:ext cx="475107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Got it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565275" y="4911030"/>
            <a:ext cx="838248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Nearly there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604691" y="4911030"/>
            <a:ext cx="728016" cy="196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8000" y="6638925"/>
            <a:ext cx="1161998" cy="1262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00" spc="36" kern="0" dirty="0">
                <a:solidFill>
                  <a:srgbClr val="8B94A3">
                    <a:alpha val="50000"/>
                  </a:srgbClr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 日常起居</a:t>
            </a:r>
            <a:endParaRPr lang="en-US" sz="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5659" y="3654723"/>
            <a:ext cx="5780584" cy="1196975"/>
          </a:xfrm>
          <a:prstGeom prst="roundRect">
            <a:avLst/>
          </a:prstGeom>
          <a:solidFill>
            <a:srgbClr val="3A7D8C">
              <a:alpha val="10000"/>
            </a:srgbClr>
          </a:solidFill>
          <a:ln w="12700">
            <a:solidFill>
              <a:srgbClr val="3A7D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18386" y="1803102"/>
            <a:ext cx="582561" cy="843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5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3451820" y="2692102"/>
            <a:ext cx="5315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今天学得真棒！Great Work Today!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490020" y="3200102"/>
            <a:ext cx="5239294" cy="231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interviewed a partner about their daily routine and wrote up a report in Chinese.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523159" y="3857923"/>
            <a:ext cx="5173016" cy="145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b="1" spc="70" kern="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523159" y="4035723"/>
            <a:ext cx="5173016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总复习 · Cumulative Review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523159" y="4467523"/>
            <a:ext cx="5173016" cy="1992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9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Put together everything from this whole unit for one big dialogue, plus get ready for Test 4.2.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276626" y="5042198"/>
            <a:ext cx="3666081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采访 (cǎifǎng) = interview · 报告 (bàogào) = report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deck.liyu.dev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Editable classroom lesson slides</dc:subject>
  <dc:creator>deck.liyu.dev</dc:creator>
  <cp:lastModifiedBy>deck.liyu.dev</cp:lastModifiedBy>
  <cp:revision>1</cp:revision>
  <dcterms:created xsi:type="dcterms:W3CDTF">2026-07-20T00:31:19Z</dcterms:created>
  <dcterms:modified xsi:type="dcterms:W3CDTF">2026-07-20T00:31:19Z</dcterms:modified>
</cp:coreProperties>
</file>