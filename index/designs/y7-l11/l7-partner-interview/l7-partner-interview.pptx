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1920" y="1905000"/>
            <a:ext cx="12435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7 OF 8 · Y7 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-121920" y="2231975"/>
            <a:ext cx="1243584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4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采访 · 报告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-121920" y="3114526"/>
            <a:ext cx="124358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Interview &amp; Daily Routine Report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-121920" y="3476476"/>
            <a:ext cx="12435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采访同伴，写日常起居报告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-121920" y="3914626"/>
            <a:ext cx="12435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 ·  50 mins  ·  Speaking + Writing + Listening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4157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采访 · REVIEW · LESSON 6 RECAP · 0–8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— 0–8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733276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时间 + 活动 · Combined Sentences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1288852"/>
            <a:ext cx="11555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an English sentence — write the Chinese on paper and hold it up.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1750" y="1676102"/>
            <a:ext cx="11328499" cy="482501"/>
          </a:xfrm>
          <a:prstGeom prst="roundRect">
            <a:avLst>
              <a:gd name="adj" fmla="val 1579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451" y="179040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6912" y="1790402"/>
            <a:ext cx="25897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5752" y="1803053"/>
            <a:ext cx="1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homework at 8pm.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1750" y="2260104"/>
            <a:ext cx="11328499" cy="482501"/>
          </a:xfrm>
          <a:prstGeom prst="roundRect">
            <a:avLst>
              <a:gd name="adj" fmla="val 1579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451" y="237440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6912" y="2374404"/>
            <a:ext cx="25897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5752" y="2387054"/>
            <a:ext cx="3363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play basketball at 4:30 in the afternoon.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750" y="2844105"/>
            <a:ext cx="11328499" cy="482501"/>
          </a:xfrm>
          <a:prstGeom prst="roundRect">
            <a:avLst>
              <a:gd name="adj" fmla="val 1579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451" y="295840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6912" y="2958405"/>
            <a:ext cx="25897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15752" y="2971056"/>
            <a:ext cx="2820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swim at 9 o'clock in the morning.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1750" y="3428107"/>
            <a:ext cx="11328499" cy="482501"/>
          </a:xfrm>
          <a:prstGeom prst="roundRect">
            <a:avLst>
              <a:gd name="adj" fmla="val 1579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9451" y="354240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6912" y="3542407"/>
            <a:ext cx="25897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15752" y="3555057"/>
            <a:ext cx="3284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play table tennis at 7:15 in the evening.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1750" y="4088309"/>
            <a:ext cx="2333476" cy="336352"/>
          </a:xfrm>
          <a:prstGeom prst="roundRect">
            <a:avLst>
              <a:gd name="adj" fmla="val 6041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09451" y="4151709"/>
            <a:ext cx="20176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Write the Chinese → hold up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92177" y="4088309"/>
            <a:ext cx="2348657" cy="336352"/>
          </a:xfrm>
          <a:prstGeom prst="roundRect">
            <a:avLst>
              <a:gd name="adj" fmla="val 6041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069878" y="4151709"/>
            <a:ext cx="2033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 Cold call 2 students per item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0800" y="4602361"/>
            <a:ext cx="0" cy="22860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2250" y="4602361"/>
            <a:ext cx="113607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🔗 Connection: You can describe </a:t>
            </a:r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your own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day. Today you find out about </a:t>
            </a:r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someone else's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day by asking them directly — a real interview — and write it up.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6154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采访 · LEARNING INTENTION &amp; SUCCESS CRITERIA · 8–10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733276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1750" y="1326952"/>
            <a:ext cx="11328499" cy="765125"/>
          </a:xfrm>
          <a:prstGeom prst="roundRect">
            <a:avLst>
              <a:gd name="adj" fmla="val 9959"/>
            </a:avLst>
          </a:prstGeom>
          <a:solidFill>
            <a:srgbClr val="F5E8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0325" y="1326952"/>
            <a:ext cx="0" cy="765125"/>
          </a:xfrm>
          <a:prstGeom prst="line">
            <a:avLst/>
          </a:prstGeom>
          <a:noFill/>
          <a:ln w="57150">
            <a:solidFill>
              <a:srgbClr val="C894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2051" y="1479352"/>
            <a:ext cx="110823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2051" y="1692027"/>
            <a:ext cx="110823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interview a classmate</a:t>
            </a:r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 their daily routine and </a:t>
            </a:r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up</a:t>
            </a:r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what we find out.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1750" y="2269778"/>
            <a:ext cx="11328499" cy="622102"/>
          </a:xfrm>
          <a:prstGeom prst="roundRect">
            <a:avLst>
              <a:gd name="adj" fmla="val 1224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451" y="2371279"/>
            <a:ext cx="2072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9552" y="2371279"/>
            <a:ext cx="500105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all </a:t>
            </a:r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interview questions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 someone's daily routine.
</a:t>
            </a:r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问八个关于日常起居的问题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1750" y="2993380"/>
            <a:ext cx="11328499" cy="622102"/>
          </a:xfrm>
          <a:prstGeom prst="roundRect">
            <a:avLst>
              <a:gd name="adj" fmla="val 1224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9451" y="3094881"/>
            <a:ext cx="2072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9552" y="3094881"/>
            <a:ext cx="487095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a </a:t>
            </a:r>
            <a:pPr algn="l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short report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 my partner's routine in Chinese.
</a:t>
            </a:r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写一份关于同伴日常起居的报告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1750" y="3716982"/>
            <a:ext cx="11328499" cy="622102"/>
          </a:xfrm>
          <a:prstGeom prst="roundRect">
            <a:avLst>
              <a:gd name="adj" fmla="val 1224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9451" y="3818483"/>
            <a:ext cx="2072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9552" y="3818483"/>
            <a:ext cx="440764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pPr algn="l" indent="0" marL="0">
              <a:buNone/>
            </a:pPr>
            <a:r>
              <a:rPr lang="en-US" sz="12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and correctly tick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time and activity I hear.
</a:t>
            </a:r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听音判断时间和活动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430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采访 · I DO · NEW VOCABULARY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NEW VOCABULARY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733276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新词汇 · 午饭 &amp; 晚饭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1288852"/>
            <a:ext cx="11328499" cy="1168301"/>
          </a:xfrm>
          <a:prstGeom prst="roundRect">
            <a:avLst>
              <a:gd name="adj" fmla="val 869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1750" y="1288852"/>
            <a:ext cx="11328499" cy="1168301"/>
          </a:xfrm>
          <a:prstGeom prst="rect">
            <a:avLst/>
          </a:prstGeom>
          <a:noFill/>
          <a:ln/>
        </p:spPr>
        <p:txBody>
          <a:bodyPr wrap="square" lIns="203200" tIns="127000" rIns="203200" bIns="1270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早饭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zǎo fàn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breakfast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已学 Recall</a:t>
            </a:r>
            <a:endParaRPr lang="en-US" sz="13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午饭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wǔ fàn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lunch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新词 New</a:t>
            </a:r>
            <a:endParaRPr lang="en-US" sz="13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晚饭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wǎn fàn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dinner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新词 New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1750" y="2584103"/>
            <a:ext cx="1519386" cy="438150"/>
          </a:xfrm>
          <a:prstGeom prst="roundRect">
            <a:avLst>
              <a:gd name="adj" fmla="val 17391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501" y="2679353"/>
            <a:ext cx="11484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 + 饭 = 早饭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78087" y="2584103"/>
            <a:ext cx="1519386" cy="438150"/>
          </a:xfrm>
          <a:prstGeom prst="roundRect">
            <a:avLst>
              <a:gd name="adj" fmla="val 17391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74838" y="2679353"/>
            <a:ext cx="11484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 + 饭 = 午饭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24424" y="2584103"/>
            <a:ext cx="1519386" cy="438150"/>
          </a:xfrm>
          <a:prstGeom prst="roundRect">
            <a:avLst>
              <a:gd name="adj" fmla="val 17391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21175" y="2679353"/>
            <a:ext cx="11484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 + 饭 = 晚饭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1750" y="3149203"/>
            <a:ext cx="11328499" cy="653951"/>
          </a:xfrm>
          <a:prstGeom prst="roundRect">
            <a:avLst>
              <a:gd name="adj" fmla="val 11652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451" y="3276154"/>
            <a:ext cx="111925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GUESS THE PATTERN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9451" y="3476179"/>
            <a:ext cx="111925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These follow the same pattern as 早饭: </a:t>
            </a:r>
            <a:pPr algn="l" indent="0" marL="0"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 word + 饭</a:t>
            </a:r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You should be able to guess the meaning of 午饭 and 晚饭 without being told.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7328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采访 · I DO · INTERVIEW QUESTIONS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EX9, P.84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707827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采访问题 · The 8 Interview Questions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199852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These are the questions you'll use to interview a partner later in the lesson.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501378"/>
            <a:ext cx="11328499" cy="2336602"/>
          </a:xfrm>
          <a:prstGeom prst="roundRect">
            <a:avLst>
              <a:gd name="adj" fmla="val 434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1501378"/>
            <a:ext cx="11328499" cy="2336602"/>
          </a:xfrm>
          <a:prstGeom prst="rect">
            <a:avLst/>
          </a:prstGeom>
          <a:noFill/>
          <a:ln/>
        </p:spPr>
        <p:txBody>
          <a:bodyPr wrap="square" lIns="203200" tIns="101600" rIns="203200" bIns="1016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CD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你早上几点起床？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wake up · </a:t>
            </a:r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起床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8CD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你几点吃早饭？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breakfast · </a:t>
            </a:r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早饭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8CD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你几点去上学？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to school · </a:t>
            </a:r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上学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8CD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你们几点上课？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 class · </a:t>
            </a:r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上课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8CD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你几点吃午饭？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lunch · </a:t>
            </a:r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午饭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8CD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你们下午几点放学？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finish school · </a:t>
            </a:r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放学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8CD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你几点吃晚饭？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dinner · </a:t>
            </a:r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晚饭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8CD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你晚上几点睡觉？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sleep · </a:t>
            </a:r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睡觉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28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采访 · I DO · MODELLING: NOTES → REPORT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TEACHER 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720626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示范 · Notes → Report Sentence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22545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 a volunteer all 8 questions, then models turning the notes into a report.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539776"/>
            <a:ext cx="5575399" cy="1514177"/>
          </a:xfrm>
          <a:prstGeom prst="roundRect">
            <a:avLst>
              <a:gd name="adj" fmla="val 671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1701701"/>
            <a:ext cx="1405830" cy="238125"/>
          </a:xfrm>
          <a:prstGeom prst="roundRect">
            <a:avLst>
              <a:gd name="adj" fmla="val 8533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5927" y="1739801"/>
            <a:ext cx="11749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Step 1 · Ask &amp; Note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976" y="2016026"/>
            <a:ext cx="530496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 the volunteer all 8 questions and writes the answers on the board in </a:t>
            </a:r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note form</a:t>
            </a:r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keywords only, not full sentences.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8976" y="2517577"/>
            <a:ext cx="858887" cy="374452"/>
          </a:xfrm>
          <a:prstGeom prst="roundRect">
            <a:avLst>
              <a:gd name="adj" fmla="val 20350"/>
            </a:avLst>
          </a:prstGeom>
          <a:solidFill>
            <a:srgbClr val="FFFFFF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4977" y="2600027"/>
            <a:ext cx="5782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7点 起床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063" y="2517577"/>
            <a:ext cx="1011287" cy="374452"/>
          </a:xfrm>
          <a:prstGeom prst="roundRect">
            <a:avLst>
              <a:gd name="adj" fmla="val 20350"/>
            </a:avLst>
          </a:prstGeom>
          <a:solidFill>
            <a:srgbClr val="FFFFFF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00064" y="2600027"/>
            <a:ext cx="7336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7点半 早饭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41550" y="2517577"/>
            <a:ext cx="577007" cy="374452"/>
          </a:xfrm>
          <a:prstGeom prst="roundRect">
            <a:avLst>
              <a:gd name="adj" fmla="val 20350"/>
            </a:avLst>
          </a:prstGeom>
          <a:solidFill>
            <a:srgbClr val="FFFFFF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87551" y="2600027"/>
            <a:ext cx="2907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……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84850" y="1539776"/>
            <a:ext cx="5575399" cy="1514177"/>
          </a:xfrm>
          <a:prstGeom prst="roundRect">
            <a:avLst>
              <a:gd name="adj" fmla="val 671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72076" y="1701701"/>
            <a:ext cx="1838771" cy="238125"/>
          </a:xfrm>
          <a:prstGeom prst="roundRect">
            <a:avLst>
              <a:gd name="adj" fmla="val 85333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99027" y="1739801"/>
            <a:ext cx="16165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Step 2 · Notes → Sentence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72076" y="2016026"/>
            <a:ext cx="53049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notes become </a:t>
            </a:r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flowing report sentence</a:t>
            </a:r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72076" y="2317552"/>
            <a:ext cx="5304967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他/她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早上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起床，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七点半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吃早饭……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1750" y="3168253"/>
            <a:ext cx="11328499" cy="526852"/>
          </a:xfrm>
          <a:prstGeom prst="roundRect">
            <a:avLst>
              <a:gd name="adj" fmla="val 14463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8501" y="3288804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🔁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4527" y="3331666"/>
            <a:ext cx="6037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Person switch: the interview uses </a:t>
            </a:r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(you) — the written report uses </a:t>
            </a:r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(he) or </a:t>
            </a:r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她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(she).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1700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采访 · I DO · CHECK FOR UNDERSTANDING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2177802" cy="263426"/>
          </a:xfrm>
          <a:prstGeom prst="roundRect">
            <a:avLst>
              <a:gd name="adj" fmla="val 77137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451" y="457051"/>
            <a:ext cx="18588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1750" y="796677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 Checkpoints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31750" y="1352252"/>
            <a:ext cx="11328499" cy="1047750"/>
          </a:xfrm>
          <a:prstGeom prst="roundRect">
            <a:avLst>
              <a:gd name="adj" fmla="val 9697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3951" y="1523702"/>
            <a:ext cx="2623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63526" y="1523702"/>
            <a:ext cx="106840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63526" y="1723727"/>
            <a:ext cx="106840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Which question asks about lunch?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63526" y="2028527"/>
            <a:ext cx="106840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Think about the 8 interview questions — which one covers </a:t>
            </a:r>
            <a:pPr algn="l" indent="0" marL="0"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午饭</a:t>
            </a:r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1750" y="2526953"/>
            <a:ext cx="11328499" cy="1450777"/>
          </a:xfrm>
          <a:prstGeom prst="roundRect">
            <a:avLst>
              <a:gd name="adj" fmla="val 7003"/>
            </a:avLst>
          </a:prstGeom>
          <a:solidFill>
            <a:srgbClr val="E8F0F1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3951" y="2698403"/>
            <a:ext cx="2623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63526" y="2698403"/>
            <a:ext cx="106840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&amp; HOLD UP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3526" y="2898428"/>
            <a:ext cx="106840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Turn question 6 into third person for your report.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63526" y="3203228"/>
            <a:ext cx="106840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 6: </a:t>
            </a:r>
            <a:pPr algn="l" indent="0" marL="0"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你们下午几点放学？</a:t>
            </a:r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rewrite it as a report sentence about your partner.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3526" y="3479453"/>
            <a:ext cx="2440632" cy="326827"/>
          </a:xfrm>
          <a:prstGeom prst="roundRect">
            <a:avLst>
              <a:gd name="adj" fmla="val 23315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09526" y="3561904"/>
            <a:ext cx="2191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 on next slide 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1750" y="4104680"/>
            <a:ext cx="11328499" cy="1047750"/>
          </a:xfrm>
          <a:prstGeom prst="roundRect">
            <a:avLst>
              <a:gd name="adj" fmla="val 9697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53951" y="4276130"/>
            <a:ext cx="2623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63526" y="4276130"/>
            <a:ext cx="106840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3526" y="4476155"/>
            <a:ext cx="106840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What's the pattern connecting 早饭、午饭、晚饭?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63526" y="4780955"/>
            <a:ext cx="106840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Think back to the vocabulary you just learned.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3091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采访 · I DO · CFU ANSWERS ↳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781324" cy="263426"/>
          </a:xfrm>
          <a:prstGeom prst="roundRect">
            <a:avLst>
              <a:gd name="adj" fmla="val 77137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451" y="457051"/>
            <a:ext cx="14544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1750" y="847427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31750" y="1453753"/>
            <a:ext cx="11328499" cy="1599902"/>
          </a:xfrm>
          <a:prstGeom prst="roundRect">
            <a:avLst>
              <a:gd name="adj" fmla="val 6350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9400" y="1675954"/>
            <a:ext cx="34004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90476" y="1675954"/>
            <a:ext cx="105285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&amp; HOLD UP · CFU ANSWER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90476" y="1914079"/>
            <a:ext cx="105285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 question 6 into third person for your report: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90476" y="2225129"/>
            <a:ext cx="1052856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你们下午几点放学？</a:t>
            </a:r>
            <a:pPr algn="l" indent="0" marL="0">
              <a:lnSpc>
                <a:spcPts val="2550"/>
              </a:lnSpc>
              <a:spcBef>
                <a:spcPts val="800"/>
              </a:spcBef>
              <a:buNone/>
            </a:pPr>
            <a:r>
              <a:rPr lang="en-US" sz="17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→ 他们/她 下午几点放学 → </a:t>
            </a:r>
            <a:pPr algn="l" indent="0" marL="0">
              <a:lnSpc>
                <a:spcPts val="2550"/>
              </a:lnSpc>
              <a:spcBef>
                <a:spcPts val="800"/>
              </a:spcBef>
              <a:buNone/>
            </a:pPr>
            <a:r>
              <a:rPr lang="en-US" sz="17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他们下午三点半放学。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90476" y="2650480"/>
            <a:ext cx="105285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你们 (asking a group) becomes </a:t>
            </a:r>
            <a:pPr algn="l" indent="0" marL="0">
              <a:spcBef>
                <a:spcPts val="800"/>
              </a:spcBef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他们</a:t>
            </a:r>
            <a:pPr algn="l" indent="0" marL="0">
              <a:spcBef>
                <a:spcPts val="8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(they) or </a:t>
            </a:r>
            <a:pPr algn="l" indent="0" marL="0">
              <a:spcBef>
                <a:spcPts val="800"/>
              </a:spcBef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她</a:t>
            </a:r>
            <a:pPr algn="l" indent="0" marL="0">
              <a:spcBef>
                <a:spcPts val="8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(she) in the written report.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1750" y="3231356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1 &amp; 3 (which question asks about lunch? / the 早饭·午饭·晚饭 pattern) were checked orally via cold call — no written reveal needed.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9609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采访 · WE DO → YOU DO · PARTNER INTERVIEW (EX9)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353145" cy="263426"/>
          </a:xfrm>
          <a:prstGeom prst="roundRect">
            <a:avLst>
              <a:gd name="adj" fmla="val 77137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451" y="457051"/>
            <a:ext cx="10176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→ You 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86396" y="406301"/>
            <a:ext cx="1347936" cy="263426"/>
          </a:xfrm>
          <a:prstGeom prst="roundRect">
            <a:avLst>
              <a:gd name="adj" fmla="val 77137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38796" y="457051"/>
            <a:ext cx="10639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10 min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1750" y="771227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同伴采访 · Partner Interview (Ex9)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1750" y="1263253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pairs: Student A asks all 8 questions, Student B answers and notes their own answers in note form. Then swap roles.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1750" y="1564779"/>
            <a:ext cx="603200" cy="320576"/>
          </a:xfrm>
          <a:prstGeom prst="roundRect">
            <a:avLst>
              <a:gd name="adj" fmla="val 633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3675" y="1625054"/>
            <a:ext cx="284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起床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1151" y="1564779"/>
            <a:ext cx="603200" cy="320576"/>
          </a:xfrm>
          <a:prstGeom prst="roundRect">
            <a:avLst>
              <a:gd name="adj" fmla="val 633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73076" y="1625054"/>
            <a:ext cx="284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早饭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90551" y="1564779"/>
            <a:ext cx="603200" cy="320576"/>
          </a:xfrm>
          <a:prstGeom prst="roundRect">
            <a:avLst>
              <a:gd name="adj" fmla="val 633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52476" y="1625054"/>
            <a:ext cx="284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上学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9952" y="1564779"/>
            <a:ext cx="603200" cy="320576"/>
          </a:xfrm>
          <a:prstGeom prst="roundRect">
            <a:avLst>
              <a:gd name="adj" fmla="val 633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31877" y="1625054"/>
            <a:ext cx="284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49352" y="1564779"/>
            <a:ext cx="603200" cy="320576"/>
          </a:xfrm>
          <a:prstGeom prst="roundRect">
            <a:avLst>
              <a:gd name="adj" fmla="val 633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11277" y="1625054"/>
            <a:ext cx="284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午饭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28752" y="1564779"/>
            <a:ext cx="603200" cy="320576"/>
          </a:xfrm>
          <a:prstGeom prst="roundRect">
            <a:avLst>
              <a:gd name="adj" fmla="val 633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990677" y="1625054"/>
            <a:ext cx="284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放学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08153" y="1564779"/>
            <a:ext cx="603200" cy="320576"/>
          </a:xfrm>
          <a:prstGeom prst="roundRect">
            <a:avLst>
              <a:gd name="adj" fmla="val 633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70078" y="1625054"/>
            <a:ext cx="284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晚饭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87553" y="1564779"/>
            <a:ext cx="603200" cy="320576"/>
          </a:xfrm>
          <a:prstGeom prst="roundRect">
            <a:avLst>
              <a:gd name="adj" fmla="val 633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49478" y="1625054"/>
            <a:ext cx="284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睡觉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1750" y="1986855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asks all 8 questions — </a:t>
            </a:r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answers and writes their own answers in note form (to keep a record).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1750" y="225028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Swap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B asks, A answers and notes.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1750" y="2577108"/>
            <a:ext cx="11328499" cy="1323975"/>
          </a:xfrm>
          <a:prstGeom prst="roundRect">
            <a:avLst>
              <a:gd name="adj" fmla="val 7674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53951" y="2748558"/>
            <a:ext cx="111017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→ You Do · 10 min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3951" y="2986683"/>
            <a:ext cx="35624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3951" y="3186708"/>
            <a:ext cx="356240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 sheet with </a:t>
            </a:r>
            <a:pPr algn="l" indent="0" marL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</a:t>
            </a:r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available throughout. Note-form answers only, not full sentences, during the interview itself.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49651" y="2986683"/>
            <a:ext cx="35625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49651" y="3186708"/>
            <a:ext cx="3562552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the standard 8 questions, fluent pairs add one follow-up question of their own, e.g. </a:t>
            </a:r>
            <a:pPr algn="l" indent="0" marL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你几点吃晚饭以后做作业？</a:t>
            </a:r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(English scaffolding accepted if needed).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5500" y="2986683"/>
            <a:ext cx="35624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45500" y="3186708"/>
            <a:ext cx="356240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must both </a:t>
            </a:r>
            <a:pPr algn="l" indent="0" marL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and answer</a:t>
            </a:r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all 8 questions — no observers.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7659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采访 · YOU DO · WRITE THE REPORT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779115" cy="263426"/>
          </a:xfrm>
          <a:prstGeom prst="roundRect">
            <a:avLst>
              <a:gd name="adj" fmla="val 77137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451" y="457051"/>
            <a:ext cx="4321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12366" y="406301"/>
            <a:ext cx="1368772" cy="263426"/>
          </a:xfrm>
          <a:prstGeom prst="roundRect">
            <a:avLst>
              <a:gd name="adj" fmla="val 77137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64766" y="457051"/>
            <a:ext cx="10852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10 min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1750" y="784027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写报告 · Write the Report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1750" y="1288852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Using your partner's note-form answers, write a short report (5–6 sentences) about their day — switch to 他/她.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1750" y="1603177"/>
            <a:ext cx="3028801" cy="558701"/>
          </a:xfrm>
          <a:prstGeom prst="roundRect">
            <a:avLst>
              <a:gd name="adj" fmla="val 18185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3951" y="1749177"/>
            <a:ext cx="2636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他/她 </a:t>
            </a:r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 [time-of-day]</a:t>
            </a:r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</a:t>
            </a:r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 [time]</a:t>
            </a:r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</a:t>
            </a:r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 [verb]</a:t>
            </a:r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1750" y="2276177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Sentence-starter template — all 8 slots outlined on the worksheet.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1750" y="2552402"/>
            <a:ext cx="11328499" cy="1323975"/>
          </a:xfrm>
          <a:prstGeom prst="roundRect">
            <a:avLst>
              <a:gd name="adj" fmla="val 7674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3951" y="2723852"/>
            <a:ext cx="111017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10 min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3951" y="2961977"/>
            <a:ext cx="35624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3951" y="3162002"/>
            <a:ext cx="356240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Sentence-starter template provided. Struggling students may write in the </a:t>
            </a:r>
            <a:pPr algn="l" indent="0" marL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same order</a:t>
            </a:r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as the interview questions.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49651" y="2961977"/>
            <a:ext cx="35625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49651" y="3162002"/>
            <a:ext cx="3562552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Combine sentences using time-of-day words: </a:t>
            </a:r>
            <a:pPr algn="l" indent="0" marL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他早上七点起床，七点半吃早饭</a:t>
            </a:r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and add one sentence about a sport/activity from Lesson 6.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5500" y="2961977"/>
            <a:ext cx="35624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5500" y="3162002"/>
            <a:ext cx="356240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Pair-check</a:t>
            </a:r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partner reads the report about themselves and confirms every detail is correct before handing in.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0433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采访 · YOU DO · EX10 LISTEN-AND-TICK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779115" cy="263426"/>
          </a:xfrm>
          <a:prstGeom prst="roundRect">
            <a:avLst>
              <a:gd name="adj" fmla="val 77137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451" y="457051"/>
            <a:ext cx="4321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12366" y="406301"/>
            <a:ext cx="1317278" cy="263426"/>
          </a:xfrm>
          <a:prstGeom prst="roundRect">
            <a:avLst>
              <a:gd name="adj" fmla="val 77137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64766" y="457051"/>
            <a:ext cx="10327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8 min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1750" y="758577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听力 Ex10 · Listen &amp; Tick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1750" y="1237952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items — tick the correct TIME and ACTIVITY you hear on each.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1750" y="1526828"/>
            <a:ext cx="1479352" cy="393502"/>
          </a:xfrm>
          <a:prstGeom prst="roundRect">
            <a:avLst>
              <a:gd name="adj" fmla="val 19365"/>
            </a:avLst>
          </a:prstGeom>
          <a:solidFill>
            <a:srgbClr val="F6DDD9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8501" y="1609279"/>
            <a:ext cx="11075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🔊 播放 CD T54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1750" y="2009180"/>
            <a:ext cx="11328499" cy="1803202"/>
          </a:xfrm>
          <a:prstGeom prst="roundRect">
            <a:avLst>
              <a:gd name="adj" fmla="val 563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1750" y="2009180"/>
            <a:ext cx="11328499" cy="1803202"/>
          </a:xfrm>
          <a:prstGeom prst="rect">
            <a:avLst/>
          </a:prstGeom>
          <a:noFill/>
          <a:ln/>
        </p:spPr>
        <p:txBody>
          <a:bodyPr wrap="square" lIns="203200" tIns="101600" rIns="203200" bIns="1016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Time: ______ Activity: ______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Time: ______ Activity: ______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Time: ______ Activity: ______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Time: ______ Activity: ______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Time: ______ Activity: ______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Time: ______ Activity: ______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Time: ______ Activity: ______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Time: ______ Activity: ______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1750" y="3901232"/>
            <a:ext cx="2699593" cy="301526"/>
          </a:xfrm>
          <a:prstGeom prst="roundRect">
            <a:avLst>
              <a:gd name="adj" fmla="val 25271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3200" y="3971032"/>
            <a:ext cx="24038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Self-check on next slide →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1750" y="4291608"/>
            <a:ext cx="2475905" cy="292001"/>
          </a:xfrm>
          <a:prstGeom prst="roundRect">
            <a:avLst>
              <a:gd name="adj" fmla="val 69589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8701" y="4342358"/>
            <a:ext cx="22664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▶️ Pass 1: pause after each item to tick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83855" y="4291608"/>
            <a:ext cx="2875359" cy="292001"/>
          </a:xfrm>
          <a:prstGeom prst="roundRect">
            <a:avLst>
              <a:gd name="adj" fmla="val 69589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110805" y="4342358"/>
            <a:ext cx="26738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🔁 Pass 2: play straight through for self-check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35414" y="4291608"/>
            <a:ext cx="3184029" cy="292001"/>
          </a:xfrm>
          <a:prstGeom prst="roundRect">
            <a:avLst>
              <a:gd name="adj" fmla="val 69589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62365" y="4342358"/>
            <a:ext cx="29887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Scaffold: activity already given, only tick the time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1750" y="4659809"/>
            <a:ext cx="3010495" cy="292001"/>
          </a:xfrm>
          <a:prstGeom prst="roundRect">
            <a:avLst>
              <a:gd name="adj" fmla="val 69589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8701" y="4710559"/>
            <a:ext cx="28117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🚀 Extension: write the full sentence for 4+ items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18446" y="4659809"/>
            <a:ext cx="2777430" cy="292001"/>
          </a:xfrm>
          <a:prstGeom prst="roundRect">
            <a:avLst>
              <a:gd name="adj" fmla="val 69589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645396" y="4710559"/>
            <a:ext cx="257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OTR: thumbs up/down after every 2 items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8590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采访 · YOU DO · EX10 SELF-CHECK ↳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听力 Ex10 · Self-Check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1750" y="898327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once more straight through. Compare your ticks — how many out of 8?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1750" y="1199852"/>
            <a:ext cx="1367582" cy="336352"/>
          </a:xfrm>
          <a:prstGeom prst="roundRect">
            <a:avLst>
              <a:gd name="adj" fmla="val 60413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1263253"/>
            <a:ext cx="9805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🔑 Answer Key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1750" y="1637705"/>
            <a:ext cx="11328499" cy="1879402"/>
          </a:xfrm>
          <a:prstGeom prst="roundRect">
            <a:avLst>
              <a:gd name="adj" fmla="val 54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1750" y="1637705"/>
            <a:ext cx="11328499" cy="1879402"/>
          </a:xfrm>
          <a:prstGeom prst="rect">
            <a:avLst/>
          </a:prstGeom>
          <a:noFill/>
          <a:ln/>
        </p:spPr>
        <p:txBody>
          <a:bodyPr wrap="square" lIns="203200" tIns="101600" rIns="2032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我早上六点半起床。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6:30 · 起床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我早上七点吃早饭。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7:00 · 早饭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我早上七点四十五去上学。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7:45 · 上学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我们八点半上课。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8:30 · 上课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我十二点一刻吃午饭。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12:15 · 午饭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我们下午三点半放学。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3:30 · 放学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我晚上六点吃晚饭。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6:00 · 晚饭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我晚上十点睡觉。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10:00 · 睡觉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3003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采访 · GAME · REPORT-BACK ROUND ROBIN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9694" y="1733699"/>
            <a:ext cx="1212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5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15243" y="2111425"/>
            <a:ext cx="556136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报告接龙 · Report-Back Round Robin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62051" y="2755850"/>
            <a:ext cx="906774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groups of 4: each student reads ONE sentence from their report aloud — don't say the name! The group guesses who it's about.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01094" y="3352651"/>
            <a:ext cx="1170831" cy="876300"/>
          </a:xfrm>
          <a:prstGeom prst="roundRect">
            <a:avLst>
              <a:gd name="adj" fmla="val 1159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96599" y="3505051"/>
            <a:ext cx="7798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96599" y="3895576"/>
            <a:ext cx="7798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Groups of 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96842" y="3647926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29125" y="3352651"/>
            <a:ext cx="1456432" cy="876300"/>
          </a:xfrm>
          <a:prstGeom prst="roundRect">
            <a:avLst>
              <a:gd name="adj" fmla="val 1159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21774" y="3505051"/>
            <a:ext cx="107113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21774" y="3895576"/>
            <a:ext cx="10711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1 sentence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10474" y="3647926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2757" y="3352651"/>
            <a:ext cx="1362521" cy="876300"/>
          </a:xfrm>
          <a:prstGeom prst="roundRect">
            <a:avLst>
              <a:gd name="adj" fmla="val 1159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36345" y="3505051"/>
            <a:ext cx="97534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🕵️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36345" y="3895576"/>
            <a:ext cx="9753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Group guesses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30196" y="3647926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62479" y="3352651"/>
            <a:ext cx="1228427" cy="876300"/>
          </a:xfrm>
          <a:prstGeom prst="roundRect">
            <a:avLst>
              <a:gd name="adj" fmla="val 1159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357408" y="3505051"/>
            <a:ext cx="83856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🔁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57408" y="3895576"/>
            <a:ext cx="8385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student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66504" y="4406652"/>
            <a:ext cx="3547170" cy="361950"/>
          </a:xfrm>
          <a:prstGeom prst="roundRect">
            <a:avLst>
              <a:gd name="adj" fmla="val 5614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438245" y="4482852"/>
            <a:ext cx="32036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📄 Reuse reports from Activity 2 — no new writing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66073" y="4406652"/>
            <a:ext cx="3959423" cy="361950"/>
          </a:xfrm>
          <a:prstGeom prst="roundRect">
            <a:avLst>
              <a:gd name="adj" fmla="val 5614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33692" y="4482852"/>
            <a:ext cx="36241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🚫 Never say the name — guess from routine details only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23250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采访 · PLENARY · 43–50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720626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Plenary + Exit Ticket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126355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1750" y="1501676"/>
            <a:ext cx="11328499" cy="60007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all 8 interview questions about someone's daily routine.</a:t>
            </a:r>
            <a:endParaRPr lang="en-US" sz="1100" dirty="0"/>
          </a:p>
          <a:p>
            <a:pPr algn="l" marL="114300" indent="-114300"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a short report about my partner's routine in Chinese.</a:t>
            </a:r>
            <a:endParaRPr lang="en-US" sz="1100" dirty="0"/>
          </a:p>
          <a:p>
            <a:pPr algn="l" marL="114300" indent="-114300"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listen and correctly tick the time and activity I hear.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1750" y="2216051"/>
            <a:ext cx="5556349" cy="1015901"/>
          </a:xfrm>
          <a:prstGeom prst="roundRect">
            <a:avLst>
              <a:gd name="adj" fmla="val 1000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4901" y="2368451"/>
            <a:ext cx="52530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 Self-Assessment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4901" y="2641402"/>
            <a:ext cx="525304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paper: "Which of the 8 questions can you now ask </a:t>
            </a:r>
            <a:pPr algn="l" indent="0" marL="0">
              <a:spcBef>
                <a:spcPts val="500"/>
              </a:spcBef>
              <a:buNone/>
            </a:pP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without checking the sheet</a:t>
            </a:r>
            <a:pPr algn="l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65800" y="2216051"/>
            <a:ext cx="5594449" cy="1015901"/>
          </a:xfrm>
          <a:prstGeom prst="roundRect">
            <a:avLst>
              <a:gd name="adj" fmla="val 10001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88001" y="2387501"/>
            <a:ext cx="52530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🚪 Exit Ticket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88001" y="2660452"/>
            <a:ext cx="525304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</a:t>
            </a:r>
            <a:pPr algn="l" indent="0" marL="0">
              <a:spcBef>
                <a:spcPts val="500"/>
              </a:spcBef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sentence</a:t>
            </a:r>
            <a:pPr algn="l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your partner's report using </a:t>
            </a:r>
            <a:pPr algn="l" indent="0" marL="0">
              <a:spcBef>
                <a:spcPts val="500"/>
              </a:spcBef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</a:t>
            </a:r>
            <a:pPr algn="l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 </a:t>
            </a:r>
            <a:pPr algn="l" indent="0" marL="0">
              <a:spcBef>
                <a:spcPts val="500"/>
              </a:spcBef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她</a:t>
            </a:r>
            <a:pPr algn="l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Collect on the way out.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1750" y="3346252"/>
            <a:ext cx="617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Got 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42132" y="3346252"/>
            <a:ext cx="1064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 Nearly there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0961" y="3346252"/>
            <a:ext cx="9178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 Need help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1920" y="762000"/>
            <a:ext cx="1243584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-121920" y="1593800"/>
            <a:ext cx="1243584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今天学得真棒！Great Work Today!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-121920" y="2200126"/>
            <a:ext cx="1243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interviewed a partner about their daily routine and wrote up a report in Chinese.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47491" y="2682627"/>
            <a:ext cx="7097018" cy="1311027"/>
          </a:xfrm>
          <a:prstGeom prst="roundRect">
            <a:avLst>
              <a:gd name="adj" fmla="val 7750"/>
            </a:avLst>
          </a:prstGeom>
          <a:solidFill>
            <a:srgbClr val="E8F0F1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58613" y="2904827"/>
            <a:ext cx="64747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→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58613" y="3130153"/>
            <a:ext cx="647477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总复习 · Cumulative Review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858613" y="3571429"/>
            <a:ext cx="64747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Put together everything from this whole unit for one big dialogue, plus get ready for Test 4.2.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-121920" y="4247555"/>
            <a:ext cx="1243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Today: </a:t>
            </a:r>
            <a:pPr algn="ctr" indent="0" marL="0">
              <a:spcBef>
                <a:spcPts val="2000"/>
              </a:spcBef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采访 (cǎifǎng)</a:t>
            </a:r>
            <a:pPr algn="ctr" indent="0" marL="0">
              <a:spcBef>
                <a:spcPts val="2000"/>
              </a:spcBef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interview · </a:t>
            </a:r>
            <a:pPr algn="ctr" indent="0" marL="0">
              <a:spcBef>
                <a:spcPts val="2000"/>
              </a:spcBef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报告 (bàogào)</a:t>
            </a:r>
            <a:pPr algn="ctr" indent="0" marL="0">
              <a:spcBef>
                <a:spcPts val="2000"/>
              </a:spcBef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report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2026-07-21T08:47:15Z</dcterms:created>
  <dcterms:modified xsi:type="dcterms:W3CDTF">2026-07-21T08:47:15Z</dcterms:modified>
</cp:coreProperties>
</file>