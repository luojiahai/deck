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90492" y="1905000"/>
            <a:ext cx="1206550" cy="282476"/>
          </a:xfrm>
          <a:prstGeom prst="roundRect">
            <a:avLst>
              <a:gd name="adj" fmla="val 71935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59681" y="1955750"/>
            <a:ext cx="8681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Radicals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52418" y="1905000"/>
            <a:ext cx="1049089" cy="282476"/>
          </a:xfrm>
          <a:prstGeom prst="roundRect">
            <a:avLst>
              <a:gd name="adj" fmla="val 71935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23182" y="1955750"/>
            <a:ext cx="7075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 Pinyin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-121920" y="2416076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· Y7 UNIT 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-121920" y="2727127"/>
            <a:ext cx="1243584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5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部首 &amp; 拼音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-121920" y="3819227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 &amp; Listening for an / en / in / un / ün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-121920" y="4333577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Reading + Listening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2832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REVIEW · 0-8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0-8 MIN · QUICK-FIRE REVIEW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6825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· 复习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200001"/>
            <a:ext cx="115550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huddle-and-shout! First team to call out the correct Chinese time scores a point.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50" y="1612702"/>
            <a:ext cx="2136130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13920" y="1765102"/>
            <a:ext cx="19717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3920" y="2101602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07:15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3920" y="2431703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早上七点十五分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0280" y="1612702"/>
            <a:ext cx="2136279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02448" y="1765102"/>
            <a:ext cx="19719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☀️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02448" y="2101602"/>
            <a:ext cx="19719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12:30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02448" y="2431703"/>
            <a:ext cx="19719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中午十二点半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08959" y="1612702"/>
            <a:ext cx="2136130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91129" y="1765102"/>
            <a:ext cx="19717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🌙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91129" y="2101602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18:45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91129" y="2431703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晚上六点四十五分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97489" y="1612702"/>
            <a:ext cx="2136130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379659" y="1765102"/>
            <a:ext cx="19717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🌅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79659" y="2101602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09:00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79659" y="2431703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早上九点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586020" y="1612702"/>
            <a:ext cx="2174230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687239" y="1784152"/>
            <a:ext cx="19717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🌇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87239" y="2120652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15:50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87239" y="2450753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下午四点差十分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687239" y="2704654"/>
            <a:ext cx="19717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 差 form!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1750" y="3241179"/>
            <a:ext cx="2907506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84150" y="3304580"/>
            <a:ext cx="26547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 Huddle with your team, then shout together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466207" y="3241179"/>
            <a:ext cx="2009775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618607" y="3304580"/>
            <a:ext cx="1739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correct team = 1 point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02932" y="3241179"/>
            <a:ext cx="3403402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755332" y="3304580"/>
            <a:ext cx="316057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🔗 Today: from telling time → looking inside characters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3320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LI &amp; SC · 8-10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5720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8-10 MIN · DISPLAY ON PROJECTOR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425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41400"/>
            <a:ext cx="11328499" cy="765125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0325" y="1441400"/>
            <a:ext cx="0" cy="765125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7500" y="1593800"/>
            <a:ext cx="110304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17500" y="1806476"/>
            <a:ext cx="110304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recognise </a:t>
            </a:r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</a:t>
            </a:r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to hear the difference between </a:t>
            </a:r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 / en / in / un / ün</a:t>
            </a:r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sounds.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2435126"/>
            <a:ext cx="11328499" cy="599777"/>
          </a:xfrm>
          <a:prstGeom prst="roundRect">
            <a:avLst>
              <a:gd name="adj" fmla="val 127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451" y="2536627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9552" y="2536627"/>
            <a:ext cx="54135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the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give an example character for each.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9552" y="2771477"/>
            <a:ext cx="54135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说出六个新部首和例字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1750" y="3161854"/>
            <a:ext cx="11328499" cy="599777"/>
          </a:xfrm>
          <a:prstGeom prst="roundRect">
            <a:avLst>
              <a:gd name="adj" fmla="val 127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451" y="3263354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9552" y="3263354"/>
            <a:ext cx="3872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a radical inside an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unfamiliar character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9552" y="3498205"/>
            <a:ext cx="38728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在生字里找到部首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1750" y="3888581"/>
            <a:ext cx="11328499" cy="599777"/>
          </a:xfrm>
          <a:prstGeom prst="roundRect">
            <a:avLst>
              <a:gd name="adj" fmla="val 127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09451" y="3990082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9552" y="3990082"/>
            <a:ext cx="44782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add the correct </a:t>
            </a:r>
            <a:pPr algn="l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tonal mark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after listening to a sound.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9552" y="4224933"/>
            <a:ext cx="44782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听音写声调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1919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I DO · 6 RADICALS · 10-20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10-20 MIN · I DO · TEXTBOOK P.81, EXERCISE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634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 New Radicals · 六个新部首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19051"/>
            <a:ext cx="11328499" cy="2082701"/>
          </a:xfrm>
          <a:prstGeom prst="roundRect">
            <a:avLst>
              <a:gd name="adj" fmla="val 48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1219051"/>
            <a:ext cx="11328499" cy="208270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穴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xué · cave 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穿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chuān, "to wear, put on"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矢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shǐ · arrow 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短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duǎn, "short"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页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yè · page 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yán, "face, colour (颜色)"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扌(才)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shǒu · hand 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拉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lā, "to pull"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艹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cǎo · grass 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英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yīng, "as in 英语, 英国"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zǒu · walk 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qǐ, "get up"</a:t>
            </a:r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THIS UNIT'S WORD!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1750" y="3454152"/>
            <a:ext cx="11328499" cy="825401"/>
          </a:xfrm>
          <a:prstGeom prst="roundRect">
            <a:avLst>
              <a:gd name="adj" fmla="val 12309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9400" y="3600152"/>
            <a:ext cx="3886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238101" y="3658939"/>
            <a:ext cx="50904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 (qǐ, "get up") uses the 走 (walk) radical!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8101" y="3893790"/>
            <a:ext cx="50904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Getting up is the start of moving through your day — that's why 起 is built on 走.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6448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I DO · CFU · 10-20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5079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84175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542901"/>
            <a:ext cx="11328499" cy="920651"/>
          </a:xfrm>
          <a:prstGeom prst="roundRect">
            <a:avLst>
              <a:gd name="adj" fmla="val 110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1079" y="1769864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46002" y="1746052"/>
            <a:ext cx="28562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means </a:t>
            </a:r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"grass"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6002" y="2050852"/>
            <a:ext cx="28562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Cold call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1750" y="2641253"/>
            <a:ext cx="11328499" cy="920651"/>
          </a:xfrm>
          <a:prstGeom prst="roundRect">
            <a:avLst>
              <a:gd name="adj" fmla="val 110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1079" y="2868216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46002" y="2844403"/>
            <a:ext cx="52984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</a:t>
            </a:r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highlighted — which radical is inside?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6002" y="3149203"/>
            <a:ext cx="52984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on paper, hold it up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1750" y="3739604"/>
            <a:ext cx="11328499" cy="920651"/>
          </a:xfrm>
          <a:prstGeom prst="roundRect">
            <a:avLst>
              <a:gd name="adj" fmla="val 110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1079" y="3966567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46002" y="3942755"/>
            <a:ext cx="20051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has which radical?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6002" y="4247555"/>
            <a:ext cx="20051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Cold call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750" y="4888855"/>
            <a:ext cx="3260675" cy="441127"/>
          </a:xfrm>
          <a:prstGeom prst="roundRect">
            <a:avLst>
              <a:gd name="adj" fmla="val 23032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79400" y="5009406"/>
            <a:ext cx="28206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6108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I DO · CFU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5079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84175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Understanding: Answers · 答案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15951"/>
            <a:ext cx="1509861" cy="361950"/>
          </a:xfrm>
          <a:prstGeom prst="roundRect">
            <a:avLst>
              <a:gd name="adj" fmla="val 56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1492151"/>
            <a:ext cx="107371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1750" y="1981051"/>
            <a:ext cx="11328499" cy="911126"/>
          </a:xfrm>
          <a:prstGeom prst="roundRect">
            <a:avLst>
              <a:gd name="adj" fmla="val 1115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00129" y="2203252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65052" y="2303264"/>
            <a:ext cx="94794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means </a:t>
            </a:r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"grass"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861774" y="2241352"/>
            <a:ext cx="63803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31750" y="3069878"/>
            <a:ext cx="11328499" cy="911126"/>
          </a:xfrm>
          <a:prstGeom prst="roundRect">
            <a:avLst>
              <a:gd name="adj" fmla="val 1115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0129" y="3292078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65052" y="3392091"/>
            <a:ext cx="94794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</a:t>
            </a:r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highlighted — which radical is inside?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861774" y="3330178"/>
            <a:ext cx="63803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页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31750" y="4158704"/>
            <a:ext cx="11328499" cy="911126"/>
          </a:xfrm>
          <a:prstGeom prst="roundRect">
            <a:avLst>
              <a:gd name="adj" fmla="val 1115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0129" y="4380905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365052" y="4480917"/>
            <a:ext cx="94794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has which radical?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861774" y="4419005"/>
            <a:ext cx="63803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走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3541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I DO · PINYIN FOCUS · 10-20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10-20 MIN · I DO · EX6, P.81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634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Pinyin Focus · 五个韵母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11740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target finals — watch the teacher's mouth shape for each one!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95127"/>
            <a:ext cx="2164110" cy="1669703"/>
          </a:xfrm>
          <a:prstGeom prst="roundRect">
            <a:avLst>
              <a:gd name="adj" fmla="val 7606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7264" y="1666577"/>
            <a:ext cx="20130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264" y="1860203"/>
            <a:ext cx="20130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an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7264" y="2317403"/>
            <a:ext cx="20130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Wide open — jaw drops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7000" y="2580829"/>
            <a:ext cx="1973610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1933" y="2644229"/>
            <a:ext cx="18837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 </a:t>
            </a:r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wǎn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22811" y="1495127"/>
            <a:ext cx="2164259" cy="1669703"/>
          </a:xfrm>
          <a:prstGeom prst="roundRect">
            <a:avLst>
              <a:gd name="adj" fmla="val 7606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798323" y="1666577"/>
            <a:ext cx="20132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98323" y="1860203"/>
            <a:ext cx="201323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en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798323" y="2317403"/>
            <a:ext cx="20132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Neutral — relaxed jaw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18061" y="2580829"/>
            <a:ext cx="1973759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62992" y="2644229"/>
            <a:ext cx="1883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 </a:t>
            </a:r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hěn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14020" y="1495127"/>
            <a:ext cx="2164110" cy="1669703"/>
          </a:xfrm>
          <a:prstGeom prst="roundRect">
            <a:avLst>
              <a:gd name="adj" fmla="val 7606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089533" y="1666577"/>
            <a:ext cx="20130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089533" y="1860203"/>
            <a:ext cx="20130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in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089533" y="2317403"/>
            <a:ext cx="20130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Smile — corners pulled 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09270" y="2580829"/>
            <a:ext cx="1973610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154202" y="2644229"/>
            <a:ext cx="18837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 </a:t>
            </a:r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jīn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05080" y="1495127"/>
            <a:ext cx="2164110" cy="1669703"/>
          </a:xfrm>
          <a:prstGeom prst="roundRect">
            <a:avLst>
              <a:gd name="adj" fmla="val 7606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380594" y="1666577"/>
            <a:ext cx="20130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80594" y="1860203"/>
            <a:ext cx="20130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un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380594" y="2317403"/>
            <a:ext cx="20130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Rounded lips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00330" y="2580829"/>
            <a:ext cx="1973610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45262" y="2644229"/>
            <a:ext cx="18837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春 </a:t>
            </a:r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chūn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596140" y="1495127"/>
            <a:ext cx="2164110" cy="1669703"/>
          </a:xfrm>
          <a:prstGeom prst="roundRect">
            <a:avLst>
              <a:gd name="adj" fmla="val 7606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671654" y="1666577"/>
            <a:ext cx="20130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71654" y="1860203"/>
            <a:ext cx="20130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ün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671654" y="2317403"/>
            <a:ext cx="20130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Rounded + smile together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691390" y="2580829"/>
            <a:ext cx="1973610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736323" y="2644229"/>
            <a:ext cx="18837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裙 </a:t>
            </a:r>
            <a:pPr algn="ctr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qún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31750" y="3367980"/>
            <a:ext cx="11328499" cy="777776"/>
          </a:xfrm>
          <a:prstGeom prst="roundRect">
            <a:avLst>
              <a:gd name="adj" fmla="val 16329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79400" y="3561606"/>
            <a:ext cx="281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1133326" y="3539430"/>
            <a:ext cx="89868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播放 CD T51 · Play CD Track 51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133326" y="3793331"/>
            <a:ext cx="898683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once straight through, no pausing — just get used to the natural pace. Next: you'll add the correct tone mark above the vowel you hear.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8449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ACTIVITY 1 · RADICAL SLAP · 20-43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6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Slap · 拍部首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09195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sets of the 6 radical cards, spread on the table. Two students race to slap the correct one!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44377"/>
            <a:ext cx="1782217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31750" y="14539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04442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750" y="24826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563" y="1444377"/>
            <a:ext cx="0" cy="104775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944" y="1615827"/>
            <a:ext cx="159440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穴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39944" y="2158752"/>
            <a:ext cx="15944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cave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40918" y="1444377"/>
            <a:ext cx="1782366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2340918" y="14539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3758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0918" y="24826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64730" y="1444377"/>
            <a:ext cx="0" cy="1047750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9110" y="1615827"/>
            <a:ext cx="1594556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2449110" y="2158752"/>
            <a:ext cx="15945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arrow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50234" y="1444377"/>
            <a:ext cx="1782217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250234" y="14539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22925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50234" y="24826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74046" y="1444377"/>
            <a:ext cx="0" cy="1047750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58427" y="1615827"/>
            <a:ext cx="159440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页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4358427" y="2158752"/>
            <a:ext cx="15944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page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59401" y="1444377"/>
            <a:ext cx="1782366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159401" y="14539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32241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59401" y="24826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3213" y="1444377"/>
            <a:ext cx="0" cy="104775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7593" y="1615827"/>
            <a:ext cx="1594556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扌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6267593" y="2158752"/>
            <a:ext cx="15945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68717" y="1444377"/>
            <a:ext cx="1782217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8068717" y="14539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41409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68717" y="24826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92529" y="1444377"/>
            <a:ext cx="0" cy="1047750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6910" y="1615827"/>
            <a:ext cx="159440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8176910" y="2158752"/>
            <a:ext cx="15944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grass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977884" y="1444377"/>
            <a:ext cx="1782366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9977884" y="14539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750725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977884" y="24826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001696" y="1444377"/>
            <a:ext cx="0" cy="1047750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086076" y="1615827"/>
            <a:ext cx="1594556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10086076" y="2158752"/>
            <a:ext cx="15945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31750" y="2644527"/>
            <a:ext cx="2343596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84150" y="2707928"/>
            <a:ext cx="20795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🙋 2 students race at the front table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902297" y="2644527"/>
            <a:ext cx="3716089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054697" y="2707928"/>
            <a:ext cx="347951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 Teacher calls a meaning OR shows the example character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745337" y="2644527"/>
            <a:ext cx="2547342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897737" y="2707928"/>
            <a:ext cx="22873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 First to slap the correct radical wins!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31750" y="3088779"/>
            <a:ext cx="3270200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84150" y="3152180"/>
            <a:ext cx="30247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 Winner stays up — rotate through the whole class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31750" y="3558480"/>
            <a:ext cx="3691533" cy="695027"/>
          </a:xfrm>
          <a:prstGeom prst="roundRect">
            <a:avLst>
              <a:gd name="adj" fmla="val 146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584150" y="3659981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4150" y="3828157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Radical table stays projected as a reference throughout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250234" y="3558480"/>
            <a:ext cx="3691533" cy="695027"/>
          </a:xfrm>
          <a:prstGeom prst="roundRect">
            <a:avLst>
              <a:gd name="adj" fmla="val 146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4402634" y="3659981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4402634" y="3828157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the example character (e.g. 颜) — students identify the radical inside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8068717" y="3558480"/>
            <a:ext cx="3691533" cy="695027"/>
          </a:xfrm>
          <a:prstGeom prst="roundRect">
            <a:avLst>
              <a:gd name="adj" fmla="val 146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221117" y="3659981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8221117" y="3828157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Everyone gets a turn; class chants the correct radical name after each slap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9526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ACTIVITY 2 · RADICAL BINGO · 20-43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7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Bingo · 部首宾果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53852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9-square card, mixing radicals and example characters. Cross off the matching square!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61777"/>
            <a:ext cx="2793950" cy="1910655"/>
          </a:xfrm>
          <a:prstGeom prst="roundRect">
            <a:avLst>
              <a:gd name="adj" fmla="val 5318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7751" y="1507778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5442" y="1618804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37084" y="1507778"/>
            <a:ext cx="783282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464774" y="1618804"/>
            <a:ext cx="7279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96567" y="1507778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324258" y="1618804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7751" y="2072729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5442" y="2183755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37084" y="2072729"/>
            <a:ext cx="783282" cy="488752"/>
          </a:xfrm>
          <a:prstGeom prst="roundRect">
            <a:avLst>
              <a:gd name="adj" fmla="val 10394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464774" y="2183755"/>
            <a:ext cx="7279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FREE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296567" y="2072729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24258" y="2183755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短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77751" y="2637681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5442" y="2748707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37084" y="2637681"/>
            <a:ext cx="783282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464774" y="2748707"/>
            <a:ext cx="7279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穿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296567" y="2637681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324258" y="2748707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页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79602" y="1361777"/>
            <a:ext cx="84462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— MIX OF RADICALS &amp; EXAMPLE CHARACTERS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79602" y="1599902"/>
            <a:ext cx="8280648" cy="745927"/>
          </a:xfrm>
          <a:prstGeom prst="roundRect">
            <a:avLst>
              <a:gd name="adj" fmla="val 102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479602" y="1599902"/>
            <a:ext cx="8280648" cy="745927"/>
          </a:xfrm>
          <a:prstGeom prst="rect">
            <a:avLst/>
          </a:prstGeom>
          <a:noFill/>
          <a:ln/>
        </p:spPr>
        <p:txBody>
          <a:bodyPr wrap="square" lIns="127000" tIns="101600" rIns="127000" bIns="10160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穴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cave ·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矢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arrow ·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页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page ·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扌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hand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艹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grass ·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walk ·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穿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chuān ·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短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duǎn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yán ·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拉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lā ·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英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yīng ·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pPr algn="l" indent="0" marL="0"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qǐ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479602" y="2447330"/>
            <a:ext cx="8446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Draw a 3×3 grid. Centre = </a:t>
            </a:r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FREE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479602" y="2618780"/>
            <a:ext cx="8446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Pick 8 items from the word bank, arrange randomly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479602" y="2790230"/>
            <a:ext cx="8446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Teacher calls a meaning or reads an example character — cross it off!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479602" y="2961680"/>
            <a:ext cx="8446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Shout </a:t>
            </a:r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BINGO!</a:t>
            </a:r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a line — then read your full line back correctly to win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1750" y="3399383"/>
            <a:ext cx="3691533" cy="431750"/>
          </a:xfrm>
          <a:prstGeom prst="roundRect">
            <a:avLst>
              <a:gd name="adj" fmla="val 176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58701" y="3475583"/>
            <a:ext cx="35063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58701" y="3612059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Struggling students may use the radical table as an open reference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50234" y="3399383"/>
            <a:ext cx="3691533" cy="431750"/>
          </a:xfrm>
          <a:prstGeom prst="roundRect">
            <a:avLst>
              <a:gd name="adj" fmla="val 176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377184" y="3475583"/>
            <a:ext cx="35063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377184" y="3612059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Early Bingo winners keep playing for a full-card win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068717" y="3399383"/>
            <a:ext cx="3691533" cy="431750"/>
          </a:xfrm>
          <a:prstGeom prst="roundRect">
            <a:avLst>
              <a:gd name="adj" fmla="val 176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195667" y="3475583"/>
            <a:ext cx="35063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195667" y="3612059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choral confirmation of the answer after every call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811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ACTIVITY 3 · PINYIN LISTENING (YOU DO) · 20-43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YOU DO · 7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Add the Tone · 听音写声调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2855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A4 sheet: listen to each syllable, then write the tone mark above the correct vowel.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11027"/>
            <a:ext cx="3038921" cy="400050"/>
          </a:xfrm>
          <a:prstGeom prst="roundRect">
            <a:avLst>
              <a:gd name="adj" fmla="val 25397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3951" y="1406277"/>
            <a:ext cx="26464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播放 CD T51 — pause after each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1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2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92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74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635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35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ban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17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778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78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hen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60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21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921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men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03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64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64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jin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6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07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07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xin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89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350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50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chun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32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493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93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kun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75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636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36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qun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718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0779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9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yun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431750" y="2606129"/>
            <a:ext cx="2970312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84150" y="2669530"/>
            <a:ext cx="27188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 Write the tone mark above the correct vowel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529013" y="2606129"/>
            <a:ext cx="3497759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681413" y="2669530"/>
            <a:ext cx="32568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👍👎 Thumbs up/down after each item before moving on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53721" y="2606129"/>
            <a:ext cx="3542258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306121" y="2669530"/>
            <a:ext cx="330220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Self-mark against the projected answer key at the end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31750" y="3050381"/>
            <a:ext cx="5600700" cy="482501"/>
          </a:xfrm>
          <a:prstGeom prst="roundRect">
            <a:avLst>
              <a:gd name="adj" fmla="val 210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84150" y="3126581"/>
            <a:ext cx="54018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84150" y="3294757"/>
            <a:ext cx="54018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Track played twice per item + may check the vowel-mouth-shape chart from I Do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159401" y="3050381"/>
            <a:ext cx="5600849" cy="482501"/>
          </a:xfrm>
          <a:prstGeom prst="roundRect">
            <a:avLst>
              <a:gd name="adj" fmla="val 210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311801" y="3126581"/>
            <a:ext cx="5401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311801" y="3294757"/>
            <a:ext cx="54019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write the full pinyin syllable — initial + final + tone, not just the mark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31750" y="3659832"/>
            <a:ext cx="2959001" cy="371475"/>
          </a:xfrm>
          <a:prstGeom prst="roundRect">
            <a:avLst>
              <a:gd name="adj" fmla="val 2735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53951" y="3755082"/>
            <a:ext cx="25648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1141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PINYIN LISTENING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 · SELF-MARK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Add the Tone: Answers · 答案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2855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 your A4 sheet against the key below.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11027"/>
            <a:ext cx="1352252" cy="317302"/>
          </a:xfrm>
          <a:prstGeom prst="roundRect">
            <a:avLst>
              <a:gd name="adj" fmla="val 640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1374428"/>
            <a:ext cx="96487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2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92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wǎn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2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92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2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evening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574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635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635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bàn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35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35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35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17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778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78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hěn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778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78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78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very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860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921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21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mén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21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921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门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921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door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003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064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64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jīn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064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64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064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 (今天)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46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207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207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xīn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207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207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07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heart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289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350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350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chūn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350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350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春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350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spring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432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493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493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kùn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493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493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困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493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sleepy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9575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9636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636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qún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9636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ün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9636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裙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9636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skirt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0718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779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10779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yún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10779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ün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0779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云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10779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cloud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5857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GAME · WRITING RELAY · 20-43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18465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18465" y="63802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Writing Relay · 写字接力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18465" y="109195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teams. Teacher calls a radical's meaning — first runner writes ONE example character with it!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80247" y="1469678"/>
            <a:ext cx="759470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79866" y="1571179"/>
            <a:ext cx="36023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079866" y="1882229"/>
            <a:ext cx="3602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64889" y="168384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1467" y="1469678"/>
            <a:ext cx="669727" cy="675977"/>
          </a:xfrm>
          <a:prstGeom prst="roundRect">
            <a:avLst>
              <a:gd name="adj" fmla="val 151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271983" y="1571179"/>
            <a:ext cx="26869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1983" y="1882229"/>
            <a:ext cx="2686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Run!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66366" y="168384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944" y="1469678"/>
            <a:ext cx="753963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72618" y="1571179"/>
            <a:ext cx="354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72618" y="1882229"/>
            <a:ext cx="3546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Write!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2079" y="168384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58658" y="1469678"/>
            <a:ext cx="952946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556342" y="1571179"/>
            <a:ext cx="557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🙌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56342" y="1882229"/>
            <a:ext cx="5575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Tag next!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2323356"/>
            <a:ext cx="17695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5820" y="245030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65820" y="263128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穴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5820" y="304710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cave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328267" y="2323356"/>
            <a:ext cx="1769715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362335" y="2450306"/>
            <a:ext cx="17015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362335" y="2631281"/>
            <a:ext cx="170157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矢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2362335" y="3047107"/>
            <a:ext cx="17015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arrow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4933" y="2323356"/>
            <a:ext cx="17695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259003" y="245030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59003" y="263128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页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259003" y="304710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page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1450" y="2323356"/>
            <a:ext cx="17695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155519" y="245030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55519" y="263128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扌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155519" y="304710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017966" y="2323356"/>
            <a:ext cx="18076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071086" y="246935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 · BONUS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071086" y="265033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071086" y="306615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grass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952583" y="2323356"/>
            <a:ext cx="18076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005703" y="246935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 · BONUS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005703" y="265033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005703" y="306615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307665" y="3507432"/>
            <a:ext cx="38951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Any correct character with the radical counts — taught or bonus!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46018" y="3507432"/>
            <a:ext cx="22201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Fastest correct team scores a point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6561" y="3507432"/>
            <a:ext cx="31604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🪑 Board space: 4 lanes, chalk/markers ready per team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145459" y="3824883"/>
            <a:ext cx="3901083" cy="371475"/>
          </a:xfrm>
          <a:prstGeom prst="roundRect">
            <a:avLst>
              <a:gd name="adj" fmla="val 2735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333092" y="3920133"/>
            <a:ext cx="35258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参考答案见下一张 · Reference answers on next slide →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4574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GAME · WRITING RELAY — REFERENCE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18465" y="4572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REFERENCE ANSWERS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18465" y="688925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Writing Relay · 写字接力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18465" y="114285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Accepted example characters — students may also use any other valid character with the radical.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26707" y="1425327"/>
            <a:ext cx="1538436" cy="317302"/>
          </a:xfrm>
          <a:prstGeom prst="roundRect">
            <a:avLst>
              <a:gd name="adj" fmla="val 640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18536" y="1488728"/>
            <a:ext cx="11547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Reference Key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1920329"/>
            <a:ext cx="1782217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5125" y="20663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5125" y="2247305"/>
            <a:ext cx="16754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穴 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5125" y="2539305"/>
            <a:ext cx="167546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穿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5125" y="28917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chuān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340918" y="1920329"/>
            <a:ext cx="1782366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394290" y="20663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394290" y="2247305"/>
            <a:ext cx="1675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矢 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394290" y="2539305"/>
            <a:ext cx="1675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短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94290" y="28917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duǎn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250234" y="1920329"/>
            <a:ext cx="1782217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303608" y="20663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03608" y="2247305"/>
            <a:ext cx="16754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页 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303608" y="2539305"/>
            <a:ext cx="167546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颜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303608" y="28917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yán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59401" y="1920329"/>
            <a:ext cx="1782366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12774" y="20663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2774" y="2247305"/>
            <a:ext cx="1675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扌 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2774" y="2539305"/>
            <a:ext cx="1675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拉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212774" y="28917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lā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068717" y="1920329"/>
            <a:ext cx="1782217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122091" y="20663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 · BONUS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122091" y="2247305"/>
            <a:ext cx="16754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 →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22091" y="2539305"/>
            <a:ext cx="167546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英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122091" y="28917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yīng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977884" y="1920329"/>
            <a:ext cx="1782366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031257" y="20663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 · BONUS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031257" y="2247305"/>
            <a:ext cx="1675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 →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031257" y="2539305"/>
            <a:ext cx="1675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10031257" y="28917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18465" y="3358307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Any other character the students know that genuinely contains the target radical should also be marked correct — the goal is spotting the radical, not memorising one fixed answer.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5623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PLENARY · 43-50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5720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43-50 MIN · 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425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403300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· SHOW 👍/😐/👎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1750" y="1644551"/>
            <a:ext cx="11328499" cy="67925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the 6 new radicals and give an example character for each</a:t>
            </a:r>
            <a:endParaRPr lang="en-US" sz="12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a radical inside an unfamiliar character</a:t>
            </a:r>
            <a:endParaRPr lang="en-US" sz="12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add the correct tonal mark after listening to a sound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1750" y="2501503"/>
            <a:ext cx="11328499" cy="790575"/>
          </a:xfrm>
          <a:prstGeom prst="roundRect">
            <a:avLst>
              <a:gd name="adj" fmla="val 128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60350" y="2653903"/>
            <a:ext cx="11088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 · 自我评价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0350" y="2939653"/>
            <a:ext cx="54148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radical you find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easiest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spot.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22950" y="2939653"/>
            <a:ext cx="54148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you still need to practise.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3444478"/>
            <a:ext cx="11328499" cy="1015901"/>
          </a:xfrm>
          <a:prstGeom prst="roundRect">
            <a:avLst>
              <a:gd name="adj" fmla="val 10001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4701" y="3615928"/>
            <a:ext cx="10998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701" y="3828604"/>
            <a:ext cx="10998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inside </a:t>
            </a:r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短</a:t>
            </a:r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 Which sound was trickiest today — an, en, in, un, or ün?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4701" y="4127004"/>
            <a:ext cx="10998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both answers on paper and hand to teacher on the way out.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1750" y="4587329"/>
            <a:ext cx="7755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46014" y="4587329"/>
            <a:ext cx="10401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19685" y="4587329"/>
            <a:ext cx="8406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558701"/>
            <a:ext cx="12435840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-121920" y="1346150"/>
            <a:ext cx="1243584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-121920" y="1914376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spot 6 new radicals inside characters and tell apart tricky an/en/in/un/ün sounds.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4938" y="2377827"/>
            <a:ext cx="6041975" cy="1285726"/>
          </a:xfrm>
          <a:prstGeom prst="roundRect">
            <a:avLst>
              <a:gd name="adj" fmla="val 9878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48376" y="2600027"/>
            <a:ext cx="52950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48376" y="2812703"/>
            <a:ext cx="529509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日常起居 · Daily Routine Verbs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48376" y="3241328"/>
            <a:ext cx="52950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Brand new verbs: getting up, eating breakfast, going to school, going to bed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-121920" y="3892153"/>
            <a:ext cx="124358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spcBef>
                <a:spcPts val="18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(bùshǒu)</a:t>
            </a:r>
            <a:pPr algn="ctr" indent="0" marL="0">
              <a:spcBef>
                <a:spcPts val="1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radicals · </a:t>
            </a:r>
            <a:pPr algn="ctr" indent="0" marL="0">
              <a:spcBef>
                <a:spcPts val="18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an/en/in/un/ün</a:t>
            </a:r>
            <a:pPr algn="ctr" indent="0" marL="0">
              <a:spcBef>
                <a:spcPts val="1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tricky finals</a:t>
            </a:r>
            <a:endParaRPr lang="en-US" sz="1200" dirty="0"/>
          </a:p>
          <a:p>
            <a:pPr algn="ctr" indent="0" marL="0">
              <a:spcBef>
                <a:spcPts val="1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new verbs for your daily routine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2026-07-21T08:47:00Z</dcterms:created>
  <dcterms:modified xsi:type="dcterms:W3CDTF">2026-07-21T08:47:00Z</dcterms:modified>
</cp:coreProperties>
</file>