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4766" y="1945977"/>
            <a:ext cx="825897" cy="1778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89563" y="1945977"/>
            <a:ext cx="727670" cy="1778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8773" y="4823123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18845" y="4823123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508000" y="-635000"/>
            <a:ext cx="2186432" cy="217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0" b="1" dirty="0">
                <a:solidFill>
                  <a:srgbClr val="3A7D8C">
                    <a:alpha val="1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17000" dirty="0"/>
          </a:p>
        </p:txBody>
      </p:sp>
      <p:sp>
        <p:nvSpPr>
          <p:cNvPr id="7" name="Text 5"/>
          <p:cNvSpPr/>
          <p:nvPr/>
        </p:nvSpPr>
        <p:spPr>
          <a:xfrm>
            <a:off x="5274766" y="1945977"/>
            <a:ext cx="853329" cy="19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spc="4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 Radicals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89563" y="1945977"/>
            <a:ext cx="755102" cy="19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spc="4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 Pinyin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93220" y="2377777"/>
            <a:ext cx="4832993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spc="20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· Y7 UNIT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93220" y="3114973"/>
            <a:ext cx="4832993" cy="926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 &amp; 拼音</a:t>
            </a:r>
            <a:endParaRPr lang="en-US" sz="6500" dirty="0"/>
          </a:p>
        </p:txBody>
      </p:sp>
      <p:sp>
        <p:nvSpPr>
          <p:cNvPr id="11" name="Text 9"/>
          <p:cNvSpPr/>
          <p:nvPr/>
        </p:nvSpPr>
        <p:spPr>
          <a:xfrm>
            <a:off x="3693220" y="4073823"/>
            <a:ext cx="4832993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 &amp; Listening for an / en / in / un / ün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2686" y="4759623"/>
            <a:ext cx="7911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56573" y="4759623"/>
            <a:ext cx="43730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6645" y="4759623"/>
            <a:ext cx="106000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+ Listening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25000" y="4572000"/>
            <a:ext cx="3075432" cy="306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500" y="3101975"/>
            <a:ext cx="1993900" cy="14668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9400" y="3101975"/>
            <a:ext cx="1993900" cy="14668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40300" y="3101975"/>
            <a:ext cx="1993900" cy="14668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1200" y="3101975"/>
            <a:ext cx="1993900" cy="14668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2100" y="3101975"/>
            <a:ext cx="1993900" cy="14668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8500" y="4746625"/>
            <a:ext cx="2803327" cy="2794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4227" y="4746625"/>
            <a:ext cx="1867793" cy="2794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74420" y="4746625"/>
            <a:ext cx="3240088" cy="2794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53059" y="187325"/>
            <a:ext cx="85015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98500" y="2009775"/>
            <a:ext cx="10822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QUICK-FIRE REVIEW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8500" y="2238375"/>
            <a:ext cx="10822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· 复习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8500" y="2714625"/>
            <a:ext cx="10822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huddle-and-shout! First team to call out the correct Chinese time scores a point. (Hover to check as teacher.)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" y="3254375"/>
            <a:ext cx="18181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00" y="3603625"/>
            <a:ext cx="18181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07:15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21000" y="3254375"/>
            <a:ext cx="18181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☀️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21000" y="3603625"/>
            <a:ext cx="18181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12:30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41900" y="3254375"/>
            <a:ext cx="18181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41900" y="3603625"/>
            <a:ext cx="18181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18:45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62800" y="3254375"/>
            <a:ext cx="18181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2800" y="3603625"/>
            <a:ext cx="18181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09:00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96400" y="3267075"/>
            <a:ext cx="17927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6400" y="3616325"/>
            <a:ext cx="179273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15:50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8500" y="4746625"/>
            <a:ext cx="283075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 Huddle with your team, then shout together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4227" y="4746625"/>
            <a:ext cx="1895225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correct team = 1 point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74420" y="4746625"/>
            <a:ext cx="32675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🔗 Today: from telling time → looking inside characters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546350"/>
            <a:ext cx="8693150" cy="958850"/>
          </a:xfrm>
          <a:prstGeom prst="rect">
            <a:avLst/>
          </a:prstGeom>
          <a:solidFill>
            <a:srgbClr val="C8943E">
              <a:alpha val="12000"/>
            </a:srgbClr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75920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435610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495300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53059" y="187325"/>
            <a:ext cx="89023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 &amp; SC · 8–10 min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89000" y="158750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9000" y="1816100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23950" y="2698750"/>
            <a:ext cx="82824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23950" y="2857500"/>
            <a:ext cx="8282432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recognise 6 new radicals and to hear the difference between an / en / in / un / ün sounds.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9000" y="37592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19200" y="3762375"/>
            <a:ext cx="4999879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the 6 new radicals and give an example character for each.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93800" y="408940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说出六个新部首和例字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000" y="43561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19200" y="4359275"/>
            <a:ext cx="3620441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spot a radical inside an unfamiliar character.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93800" y="468630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在生字里找到部首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000" y="49530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19200" y="4956175"/>
            <a:ext cx="4155428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add the correct tonal mark after listening to a sound.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3800" y="528320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听音写声调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527175"/>
            <a:ext cx="825500" cy="241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7500" y="1527175"/>
            <a:ext cx="1079500" cy="241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67000" y="1527175"/>
            <a:ext cx="1270000" cy="241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7000" y="1527175"/>
            <a:ext cx="7493000" cy="241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68475"/>
            <a:ext cx="825500" cy="555625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7500" y="1768475"/>
            <a:ext cx="1079500" cy="555625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67000" y="1768475"/>
            <a:ext cx="1270000" cy="555625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7000" y="1768475"/>
            <a:ext cx="7493000" cy="555625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2324100"/>
            <a:ext cx="825500" cy="552450"/>
          </a:xfrm>
          <a:prstGeom prst="rect">
            <a:avLst/>
          </a:prstGeom>
          <a:solidFill>
            <a:srgbClr val="F6F2E8"/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7500" y="2324100"/>
            <a:ext cx="1079500" cy="552450"/>
          </a:xfrm>
          <a:prstGeom prst="rect">
            <a:avLst/>
          </a:prstGeom>
          <a:solidFill>
            <a:srgbClr val="F6F2E8"/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7000" y="2324100"/>
            <a:ext cx="1270000" cy="552450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7000" y="2324100"/>
            <a:ext cx="7493000" cy="552450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2876550"/>
            <a:ext cx="82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7500" y="2876550"/>
            <a:ext cx="107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7000" y="2876550"/>
            <a:ext cx="127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7000" y="2876550"/>
            <a:ext cx="749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3429000"/>
            <a:ext cx="825500" cy="971550"/>
          </a:xfrm>
          <a:prstGeom prst="rect">
            <a:avLst/>
          </a:prstGeom>
          <a:solidFill>
            <a:srgbClr val="F6F2E8"/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7500" y="3429000"/>
            <a:ext cx="1079500" cy="971550"/>
          </a:xfrm>
          <a:prstGeom prst="rect">
            <a:avLst/>
          </a:prstGeom>
          <a:solidFill>
            <a:srgbClr val="F6F2E8"/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67000" y="3429000"/>
            <a:ext cx="1270000" cy="971550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7000" y="3429000"/>
            <a:ext cx="7493000" cy="971550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4400550"/>
            <a:ext cx="82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7500" y="4400550"/>
            <a:ext cx="107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7000" y="4400550"/>
            <a:ext cx="127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7000" y="4400550"/>
            <a:ext cx="749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" y="4953000"/>
            <a:ext cx="825500" cy="552450"/>
          </a:xfrm>
          <a:prstGeom prst="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7500" y="4953000"/>
            <a:ext cx="1079500" cy="552450"/>
          </a:xfrm>
          <a:prstGeom prst="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8B94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67000" y="4953000"/>
            <a:ext cx="1270000" cy="552450"/>
          </a:xfrm>
          <a:prstGeom prst="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7000" y="4953000"/>
            <a:ext cx="7493000" cy="552450"/>
          </a:xfrm>
          <a:prstGeom prst="rect">
            <a:avLst/>
          </a:prstGeom>
          <a:solidFill>
            <a:srgbClr val="C8943E">
              <a:alpha val="1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2000" y="5661025"/>
            <a:ext cx="9956800" cy="6096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453059" y="187325"/>
            <a:ext cx="1402505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6 Radicals · 10–20 min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2000" y="765175"/>
            <a:ext cx="10695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TEXTBOOK P.81, EXERCISE 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2000" y="981075"/>
            <a:ext cx="10695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New Radicals · 六个新部首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762000" y="1527175"/>
            <a:ext cx="852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45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587500" y="1527175"/>
            <a:ext cx="11069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45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667000" y="1527175"/>
            <a:ext cx="12974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45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937000" y="1527175"/>
            <a:ext cx="75204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45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CHARACTER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62000" y="1768475"/>
            <a:ext cx="852932" cy="5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穴</a:t>
            </a:r>
            <a:endParaRPr lang="en-US" sz="2300" dirty="0"/>
          </a:p>
        </p:txBody>
      </p:sp>
      <p:sp>
        <p:nvSpPr>
          <p:cNvPr id="44" name="Text 42"/>
          <p:cNvSpPr/>
          <p:nvPr/>
        </p:nvSpPr>
        <p:spPr>
          <a:xfrm>
            <a:off x="1587500" y="1768475"/>
            <a:ext cx="1106932" cy="5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xué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67000" y="1768475"/>
            <a:ext cx="1297432" cy="5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37000" y="1768475"/>
            <a:ext cx="7520432" cy="5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穿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chuān — to wear, put 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2000" y="2324100"/>
            <a:ext cx="852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矢</a:t>
            </a:r>
            <a:endParaRPr lang="en-US" sz="2300" dirty="0"/>
          </a:p>
        </p:txBody>
      </p:sp>
      <p:sp>
        <p:nvSpPr>
          <p:cNvPr id="48" name="Text 46"/>
          <p:cNvSpPr/>
          <p:nvPr/>
        </p:nvSpPr>
        <p:spPr>
          <a:xfrm>
            <a:off x="1587500" y="2324100"/>
            <a:ext cx="1106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67000" y="2324100"/>
            <a:ext cx="1297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37000" y="2324100"/>
            <a:ext cx="7520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duǎn — short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62000" y="2876550"/>
            <a:ext cx="852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页</a:t>
            </a:r>
            <a:endParaRPr lang="en-US" sz="2300" dirty="0"/>
          </a:p>
        </p:txBody>
      </p:sp>
      <p:sp>
        <p:nvSpPr>
          <p:cNvPr id="52" name="Text 50"/>
          <p:cNvSpPr/>
          <p:nvPr/>
        </p:nvSpPr>
        <p:spPr>
          <a:xfrm>
            <a:off x="1587500" y="2876550"/>
            <a:ext cx="1106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667000" y="2876550"/>
            <a:ext cx="1297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page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937000" y="2876550"/>
            <a:ext cx="7520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 — face, colour (颜色)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2000" y="3429000"/>
            <a:ext cx="852932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扌(才)</a:t>
            </a:r>
            <a:endParaRPr lang="en-US" sz="2300" dirty="0"/>
          </a:p>
        </p:txBody>
      </p:sp>
      <p:sp>
        <p:nvSpPr>
          <p:cNvPr id="56" name="Text 54"/>
          <p:cNvSpPr/>
          <p:nvPr/>
        </p:nvSpPr>
        <p:spPr>
          <a:xfrm>
            <a:off x="1587500" y="3429000"/>
            <a:ext cx="1106932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shǒu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67000" y="3429000"/>
            <a:ext cx="1297432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937000" y="3429000"/>
            <a:ext cx="7520432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拉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lā — to pull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2000" y="4400550"/>
            <a:ext cx="852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艹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1587500" y="4400550"/>
            <a:ext cx="1106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cǎo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667000" y="4400550"/>
            <a:ext cx="1297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937000" y="4400550"/>
            <a:ext cx="7520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 — as in 英语, 英国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2000" y="4953000"/>
            <a:ext cx="852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走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1587500" y="4953000"/>
            <a:ext cx="11069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667000" y="4953000"/>
            <a:ext cx="1297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937000" y="4953000"/>
            <a:ext cx="7520432" cy="57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 — get up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THIS UNIT'S WORD!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77900" y="5788025"/>
            <a:ext cx="383032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1460500" y="5791200"/>
            <a:ext cx="3766491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 (qǐ, "get up") uses the 走 (walk) radical!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460500" y="5988050"/>
            <a:ext cx="376649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Getting up is the start of moving through your day — that's why 起 is built on 走.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444750"/>
            <a:ext cx="8890000" cy="7683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352800"/>
            <a:ext cx="8890000" cy="7683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4260850"/>
            <a:ext cx="8890000" cy="7683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5207000"/>
            <a:ext cx="10414000" cy="3175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53059" y="187325"/>
            <a:ext cx="171901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89000" y="151130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9000" y="1739900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04900" y="2609850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38300" y="2609850"/>
            <a:ext cx="2341610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means "grass"?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38300" y="2882900"/>
            <a:ext cx="2341610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Cold call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04900" y="3517900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38300" y="3517900"/>
            <a:ext cx="426982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颜 highlighted — which radical is inside?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38300" y="3790950"/>
            <a:ext cx="4269827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on paper, hold it up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4900" y="4425950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38300" y="4425950"/>
            <a:ext cx="16362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 has which radical?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38300" y="4699000"/>
            <a:ext cx="1636264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Cold call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9000" y="5207000"/>
            <a:ext cx="10441432" cy="3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447925"/>
            <a:ext cx="10414000" cy="26035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2860675"/>
            <a:ext cx="8890000" cy="793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794125"/>
            <a:ext cx="8890000" cy="793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4727575"/>
            <a:ext cx="8890000" cy="793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53059" y="187325"/>
            <a:ext cx="104482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89000" y="1514475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9000" y="1743075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Understanding: Answers · 答案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9000" y="2447925"/>
            <a:ext cx="1044143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7600" y="3038475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51000" y="3133725"/>
            <a:ext cx="2341610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means "grass"?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7578" y="3143250"/>
            <a:ext cx="179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7600" y="3971925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51000" y="4067175"/>
            <a:ext cx="4269827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颜 highlighted — which radical is inside?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45795" y="4076700"/>
            <a:ext cx="179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600" y="4905375"/>
            <a:ext cx="40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51000" y="5000625"/>
            <a:ext cx="163626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 has which radical?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2232" y="5010150"/>
            <a:ext cx="179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500" y="2676525"/>
            <a:ext cx="2067520" cy="18288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3775075"/>
            <a:ext cx="1838920" cy="55245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20" y="2676525"/>
            <a:ext cx="2067520" cy="18288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4620" y="3775075"/>
            <a:ext cx="1838920" cy="55245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2141" y="2676525"/>
            <a:ext cx="2067620" cy="18288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6441" y="3775075"/>
            <a:ext cx="1839020" cy="55245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44060" y="2676525"/>
            <a:ext cx="2067520" cy="182880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8360" y="3775075"/>
            <a:ext cx="1838920" cy="55245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5880" y="2676525"/>
            <a:ext cx="2067620" cy="18288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0180" y="3775075"/>
            <a:ext cx="1839020" cy="552450"/>
          </a:xfrm>
          <a:prstGeom prst="round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500" y="4683125"/>
            <a:ext cx="9956800" cy="6985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453059" y="187325"/>
            <a:ext cx="151948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Pinyin Focus · 10–20 min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98500" y="1654175"/>
            <a:ext cx="10822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EX6, P.81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8500" y="1870075"/>
            <a:ext cx="10822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 Focus · 五个韵母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98500" y="2327275"/>
            <a:ext cx="10822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target finals — watch the teacher's mouth shape for each one!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2800" y="2854325"/>
            <a:ext cx="186635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7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1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12800" y="3025775"/>
            <a:ext cx="186635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8943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2800" y="3432175"/>
            <a:ext cx="186635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Wide open — jaw drops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637010" y="3838575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3600" y="4130675"/>
            <a:ext cx="17647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994620" y="2854325"/>
            <a:ext cx="186635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7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2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994620" y="3025775"/>
            <a:ext cx="186635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A7D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en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994620" y="3432175"/>
            <a:ext cx="186635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Neutral — relaxed jaw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18830" y="3838575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045420" y="4130675"/>
            <a:ext cx="17647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hěn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76441" y="2854325"/>
            <a:ext cx="186645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7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3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176441" y="3025775"/>
            <a:ext cx="186645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8943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176441" y="3432175"/>
            <a:ext cx="186645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Smile — corners pulled back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00651" y="3838575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27241" y="4130675"/>
            <a:ext cx="17648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58360" y="2854325"/>
            <a:ext cx="186635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7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4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358360" y="3025775"/>
            <a:ext cx="186635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A7D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358360" y="3432175"/>
            <a:ext cx="186635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Rounded lips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82570" y="3838575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409160" y="4130675"/>
            <a:ext cx="17647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540180" y="2854325"/>
            <a:ext cx="186645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72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5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9540180" y="3025775"/>
            <a:ext cx="186645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8943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ün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540180" y="3432175"/>
            <a:ext cx="186645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Rounded + smile together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364391" y="3838575"/>
            <a:ext cx="2179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590980" y="4130675"/>
            <a:ext cx="17648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qún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14400" y="4835525"/>
            <a:ext cx="294132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320800" y="4838700"/>
            <a:ext cx="7063331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播放 CD T51 · Play CD Track 51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20800" y="5067300"/>
            <a:ext cx="7063331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once straight through, no pausing — just get used to the natural pace. Next: you'll add the correct tone mark above the vowel you hear.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5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307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68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629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9000" y="2768600"/>
            <a:ext cx="1714500" cy="99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5C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500" y="4013200"/>
            <a:ext cx="2050653" cy="27305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3453" y="4013200"/>
            <a:ext cx="3307953" cy="27305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5706" y="4013200"/>
            <a:ext cx="2241153" cy="27305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500" y="4400550"/>
            <a:ext cx="3315891" cy="27305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500" y="4699000"/>
            <a:ext cx="3530600" cy="615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0700" y="4699000"/>
            <a:ext cx="3530600" cy="615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2900" y="4699000"/>
            <a:ext cx="3530600" cy="615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53059" y="187325"/>
            <a:ext cx="174441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Radical Slap · 20–43 min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98500" y="1797050"/>
            <a:ext cx="10822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6 MIN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8500" y="2000250"/>
            <a:ext cx="10822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Slap · 拍部首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98500" y="2457450"/>
            <a:ext cx="10822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sets of the 6 radical cards, spread on the table. Two students race to slap the correct one!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01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穴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001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162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162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323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323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484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484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645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0645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80600" y="2914650"/>
            <a:ext cx="154508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880600" y="3460750"/>
            <a:ext cx="154508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8500" y="4013200"/>
            <a:ext cx="2078085" cy="29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🙋 2 students race at the front table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63453" y="4013200"/>
            <a:ext cx="3335385" cy="29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 Teacher calls a meaning OR shows the example character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85706" y="4013200"/>
            <a:ext cx="2268585" cy="29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 First to slap the correct radical wins!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8500" y="4400550"/>
            <a:ext cx="3343323" cy="29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 Winner stays up — rotate through the whole class in pairs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2800" y="4787900"/>
            <a:ext cx="332943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445000" y="4787900"/>
            <a:ext cx="332943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077200" y="4787900"/>
            <a:ext cx="332943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500" y="2332434"/>
            <a:ext cx="3213100" cy="2514600"/>
          </a:xfrm>
          <a:prstGeom prst="roundRect">
            <a:avLst/>
          </a:prstGeom>
          <a:solidFill>
            <a:srgbClr val="F6F2E8"/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550" y="2478484"/>
            <a:ext cx="931267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39317" y="2478484"/>
            <a:ext cx="931366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184" y="2478484"/>
            <a:ext cx="931366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550" y="3240484"/>
            <a:ext cx="931267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39317" y="3240484"/>
            <a:ext cx="931366" cy="6985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184" y="3240484"/>
            <a:ext cx="931366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550" y="4002484"/>
            <a:ext cx="931267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9317" y="4002484"/>
            <a:ext cx="931366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184" y="4002484"/>
            <a:ext cx="931366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5700" y="25356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90000" y="25356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5700" y="28594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0000" y="28594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5700" y="31833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90000" y="31833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5700" y="35071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90000" y="35071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5700" y="38310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90000" y="383103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5700" y="41548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90000" y="4154884"/>
            <a:ext cx="2603500" cy="273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5700" y="4548584"/>
            <a:ext cx="139700" cy="1397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5700" y="4711105"/>
            <a:ext cx="139700" cy="1397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5700" y="4873625"/>
            <a:ext cx="139700" cy="1397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5700" y="5036145"/>
            <a:ext cx="139700" cy="1397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8500" y="5293916"/>
            <a:ext cx="3539034" cy="412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6434" y="5293916"/>
            <a:ext cx="3539034" cy="412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4367" y="5293916"/>
            <a:ext cx="3539034" cy="412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453059" y="187325"/>
            <a:ext cx="180523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Radical Bingo · 20–43 min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8500" y="1405334"/>
            <a:ext cx="10822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7 MIN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8500" y="1608534"/>
            <a:ext cx="10822432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Bingo · 部首宾果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8500" y="2040334"/>
            <a:ext cx="108224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9-square card, mixing radicals and example characters. Cross off the matching square!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4550" y="2478484"/>
            <a:ext cx="958699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839317" y="2478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834184" y="2478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550" y="3240484"/>
            <a:ext cx="958699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839317" y="3240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 FREE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184" y="3240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4550" y="4002484"/>
            <a:ext cx="958699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839317" y="4002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834184" y="4002484"/>
            <a:ext cx="958798" cy="71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35700" y="2332434"/>
            <a:ext cx="528523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— MIX OF RADICALS &amp; EXAMPLE CHARACTERS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37300" y="25927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穴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57816" y="2611834"/>
            <a:ext cx="207216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991600" y="25927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59827" y="2611834"/>
            <a:ext cx="259505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arrow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337300" y="29166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47001" y="2935684"/>
            <a:ext cx="218031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page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991600" y="29166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89593" y="2935684"/>
            <a:ext cx="229739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337300" y="32404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532019" y="3259534"/>
            <a:ext cx="23301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991600" y="32404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205270" y="3259534"/>
            <a:ext cx="21406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337300" y="35643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493423" y="3583384"/>
            <a:ext cx="271609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chuān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991600" y="35643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189692" y="3583384"/>
            <a:ext cx="229640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duǎn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337300" y="38881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595816" y="3907234"/>
            <a:ext cx="169216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991600" y="388818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1319768" y="3907234"/>
            <a:ext cx="99564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lā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337300" y="42120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英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569722" y="4231084"/>
            <a:ext cx="195310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991600" y="4212034"/>
            <a:ext cx="13538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1316097" y="4231084"/>
            <a:ext cx="103235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235700" y="4529534"/>
            <a:ext cx="5285232" cy="18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Draw a 3×3 grid. Centre = 部首 FREE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235700" y="4692055"/>
            <a:ext cx="5285232" cy="18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Pick 8 items from the word bank, arrange randomly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235700" y="4854575"/>
            <a:ext cx="5285232" cy="18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Teacher calls a meaning or reads an example character — cross it off!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35700" y="5017095"/>
            <a:ext cx="5285232" cy="18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Shout BINGO! on a line — then read your full line back correctly to win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00100" y="5370116"/>
            <a:ext cx="33632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4428034" y="5370116"/>
            <a:ext cx="33632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8055967" y="5370116"/>
            <a:ext cx="3363266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2232025"/>
            <a:ext cx="10922000" cy="3556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2714625"/>
            <a:ext cx="2077641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3320" y="329882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4241" y="271462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2561" y="329882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3580" y="271462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41901" y="329882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2920" y="271462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1241" y="329882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52260" y="271462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00580" y="329882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000" y="3686175"/>
            <a:ext cx="2077641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3320" y="427037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4241" y="368617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62561" y="427037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3580" y="368617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41901" y="427037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2920" y="368617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1241" y="427037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52260" y="3686175"/>
            <a:ext cx="2077740" cy="8699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D5CE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00580" y="4270375"/>
            <a:ext cx="381000" cy="12700"/>
          </a:xfrm>
          <a:prstGeom prst="roundRect">
            <a:avLst/>
          </a:prstGeom>
          <a:solidFill>
            <a:srgbClr val="D5CEBB"/>
          </a:solidFill>
          <a:ln w="12700">
            <a:solidFill>
              <a:srgbClr val="D5CEB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00" y="4683125"/>
            <a:ext cx="2491978" cy="2540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8578" y="4683125"/>
            <a:ext cx="2956917" cy="2540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7095" y="4683125"/>
            <a:ext cx="2948880" cy="254000"/>
          </a:xfrm>
          <a:prstGeom prst="roundRect">
            <a:avLst/>
          </a:prstGeom>
          <a:solidFill>
            <a:srgbClr val="EDE7D7"/>
          </a:solidFill>
          <a:ln w="12700">
            <a:solidFill>
              <a:srgbClr val="EDE7D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000" y="5026025"/>
            <a:ext cx="5353050" cy="412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6950" y="5026025"/>
            <a:ext cx="5353050" cy="412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000" y="5527675"/>
            <a:ext cx="10922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53059" y="187325"/>
            <a:ext cx="231115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Pinyin Listening (You Do) · 20–43 min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5000" y="1317625"/>
            <a:ext cx="10949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 · 7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000" y="1520825"/>
            <a:ext cx="10949432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Add the Tone · 听音写声调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5000" y="1952625"/>
            <a:ext cx="109494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A4 sheet: listen to each syllable, then write the tone mark above the correct vowel.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000" y="2232025"/>
            <a:ext cx="10949432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播放 CD T51 — pause after each item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1200" y="2841625"/>
            <a:ext cx="195267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11200" y="3013075"/>
            <a:ext cx="195267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wan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1200" y="3349625"/>
            <a:ext cx="19526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890441" y="284162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890441" y="301307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890441" y="334962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069780" y="284162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069780" y="301307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hen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69780" y="334962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7249120" y="284162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249120" y="301307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249120" y="334962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9428460" y="284162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428460" y="301307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jin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428460" y="334962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11200" y="3813175"/>
            <a:ext cx="195267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11200" y="3984625"/>
            <a:ext cx="195267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xin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11200" y="4321175"/>
            <a:ext cx="19526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2890441" y="381317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890441" y="398462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chun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2890441" y="432117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069780" y="381317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069780" y="398462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kun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5069780" y="432117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249120" y="381317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249120" y="398462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qun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7249120" y="432117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9428460" y="3813175"/>
            <a:ext cx="19527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9428460" y="3984625"/>
            <a:ext cx="19527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yun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9428460" y="4321175"/>
            <a:ext cx="19527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tone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35000" y="4683125"/>
            <a:ext cx="2519410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 Write the tone mark above the correct vowel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228578" y="4683125"/>
            <a:ext cx="2984349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👍👎 Thumbs up/down after each item before moving 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87095" y="4683125"/>
            <a:ext cx="297631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Self-mark against the projected answer key at the end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36600" y="5102225"/>
            <a:ext cx="5177282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6178550" y="5102225"/>
            <a:ext cx="5177282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35000" y="5527675"/>
            <a:ext cx="10949432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000" y="2663825"/>
            <a:ext cx="10922000" cy="26035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3038475"/>
            <a:ext cx="2077641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4241" y="303847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93580" y="303847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2920" y="303847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52260" y="303847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000" y="4251325"/>
            <a:ext cx="2077641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4241" y="425132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93580" y="425132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2920" y="425132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2260" y="4251325"/>
            <a:ext cx="2077740" cy="111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453059" y="187325"/>
            <a:ext cx="1268659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Listening · Answers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5000" y="1762125"/>
            <a:ext cx="10949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 · SELF-MARK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000" y="1965325"/>
            <a:ext cx="10949432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Add the Tone: Answers · 答案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000" y="2397125"/>
            <a:ext cx="109494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 your A4 sheet against the key below.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000" y="2663825"/>
            <a:ext cx="10949432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8500" y="3152775"/>
            <a:ext cx="197807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98500" y="3311525"/>
            <a:ext cx="1978073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wǎn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500" y="3559175"/>
            <a:ext cx="19780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98500" y="3705225"/>
            <a:ext cx="197807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500" y="3927475"/>
            <a:ext cx="19780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evening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877741" y="315277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877741" y="331152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bàn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77741" y="35591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877741" y="370522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77741" y="39274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57080" y="315277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057080" y="331152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hěn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57080" y="35591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57080" y="370522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57080" y="39274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236420" y="315277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236420" y="331152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mén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36420" y="35591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236420" y="370522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门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36420" y="39274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door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9415760" y="315277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415760" y="331152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jīn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15760" y="35591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9415760" y="370522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15760" y="392747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 (今天)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98500" y="4365625"/>
            <a:ext cx="1978073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98500" y="4524375"/>
            <a:ext cx="1978073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xīn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8500" y="4772025"/>
            <a:ext cx="19780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98500" y="4918075"/>
            <a:ext cx="197807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8500" y="5140325"/>
            <a:ext cx="1978073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heart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2877741" y="436562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877741" y="452437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chūn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877741" y="47720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2877741" y="491807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877741" y="51403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057080" y="436562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57080" y="452437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kùn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057080" y="47720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057080" y="491807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困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57080" y="51403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236420" y="436562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236420" y="452437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qún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236420" y="47720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7236420" y="491807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236420" y="51403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skirt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9415760" y="4365625"/>
            <a:ext cx="197817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9415760" y="4524375"/>
            <a:ext cx="197817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yún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9415760" y="47720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24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ün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9415760" y="4918075"/>
            <a:ext cx="197817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云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415760" y="5140325"/>
            <a:ext cx="197817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2765425"/>
            <a:ext cx="1066800" cy="666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1400" y="2765425"/>
            <a:ext cx="1066800" cy="666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73800" y="2765425"/>
            <a:ext cx="1066800" cy="666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6200" y="2765425"/>
            <a:ext cx="1066800" cy="6667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6890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8077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9263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0450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1637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823" y="3597275"/>
            <a:ext cx="992287" cy="9271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1377" y="4962525"/>
            <a:ext cx="3169245" cy="31115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453059" y="187325"/>
            <a:ext cx="163805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Writing Relay · 20–43 min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54179" y="1762125"/>
            <a:ext cx="91097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39741" y="1965325"/>
            <a:ext cx="4939951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Writing Relay · 写字接力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63925" y="2428875"/>
            <a:ext cx="529158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teams. Teacher calls a radical's meaning — first runner writes ONE example character with it!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81400" y="2867025"/>
            <a:ext cx="789432" cy="3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81400" y="3197225"/>
            <a:ext cx="789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97400" y="2987675"/>
            <a:ext cx="1798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03800" y="2867025"/>
            <a:ext cx="789432" cy="3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03800" y="3197225"/>
            <a:ext cx="789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Run!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19800" y="2987675"/>
            <a:ext cx="1798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26200" y="2867025"/>
            <a:ext cx="789432" cy="3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26200" y="3197225"/>
            <a:ext cx="789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Write!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442200" y="2987675"/>
            <a:ext cx="1798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48600" y="2867025"/>
            <a:ext cx="789432" cy="3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🙌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848600" y="3197225"/>
            <a:ext cx="789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next!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73090" y="3724275"/>
            <a:ext cx="8673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73090" y="3870325"/>
            <a:ext cx="8673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穴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973090" y="4244975"/>
            <a:ext cx="8673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cave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054277" y="3724275"/>
            <a:ext cx="8673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054277" y="3870325"/>
            <a:ext cx="8673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054277" y="4244975"/>
            <a:ext cx="8673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arrow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35463" y="3724275"/>
            <a:ext cx="8673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135463" y="3870325"/>
            <a:ext cx="8673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35463" y="4244975"/>
            <a:ext cx="8673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page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16650" y="3724275"/>
            <a:ext cx="8673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216650" y="3870325"/>
            <a:ext cx="8673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216650" y="4244975"/>
            <a:ext cx="8673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310537" y="37369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 · BONUS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310537" y="3883025"/>
            <a:ext cx="8419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310537" y="4257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391723" y="37369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 · BONUS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8391723" y="3883025"/>
            <a:ext cx="841919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391723" y="4257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915914" y="4664075"/>
            <a:ext cx="3406327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Any correct character with the radical counts — taught or bonus!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72609" y="4664075"/>
            <a:ext cx="1915664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Fastest correct team scores a point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38641" y="4664075"/>
            <a:ext cx="2764778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🪑 Board space: 4 lanes, chalk/markers ready per team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11377" y="4962525"/>
            <a:ext cx="3196677" cy="32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参考答案见下一张 · Reference answers on next slide →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60206" y="2854325"/>
            <a:ext cx="1271488" cy="26035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6890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8077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59263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0450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1637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2823" y="3254375"/>
            <a:ext cx="992287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53059" y="187325"/>
            <a:ext cx="2023217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Writing Relay — Reference Answers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22900" y="1914525"/>
            <a:ext cx="137353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ANSWERS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2131" y="2117725"/>
            <a:ext cx="351517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Writing Relay · 写字接力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541117" y="2562225"/>
            <a:ext cx="5137098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Accepted example characters — students may also use any other valid character with the radical.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60206" y="2854325"/>
            <a:ext cx="1298920" cy="27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Reference Key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85790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985790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85790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85790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985790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chuān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66977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066977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66977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66977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066977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duǎn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48163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148163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48163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8163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148163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29350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229350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扌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29350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29350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229350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lā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310537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 · BONUS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310537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艹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310537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0537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英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7310537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391723" y="3394075"/>
            <a:ext cx="84191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spc="4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 · BONUS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391723" y="3540125"/>
            <a:ext cx="841919" cy="29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91723" y="3844925"/>
            <a:ext cx="8419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91723" y="4022725"/>
            <a:ext cx="841919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8391723" y="4384675"/>
            <a:ext cx="84191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651000" y="4791075"/>
            <a:ext cx="891743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Any other character the students know that genuinely contains the target radical should also be marked correct — the goal is spotting the radical, not memorising one fixed answer.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19709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653010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2919710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186410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3497560"/>
            <a:ext cx="8661400" cy="73273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" y="4369991"/>
            <a:ext cx="8737600" cy="89535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000" y="190500"/>
            <a:ext cx="712141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部首拼音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53059" y="187325"/>
            <a:ext cx="98300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9000" y="148461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9000" y="1713210"/>
            <a:ext cx="10441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89000" y="2348210"/>
            <a:ext cx="8282432" cy="16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· SHOW 👍/😐/👎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92200" y="3649960"/>
            <a:ext cx="8282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spc="68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 · 自我评价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2200" y="3884910"/>
            <a:ext cx="4053332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radical you find easiest to spot.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1300" y="3884910"/>
            <a:ext cx="4053332" cy="21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you still need to practise.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0300" y="4535091"/>
            <a:ext cx="6630936" cy="16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30300" y="4681141"/>
            <a:ext cx="663093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radical is inside 短? Which sound was trickiest today — an, en, in, un, or ün?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0300" y="4966891"/>
            <a:ext cx="663093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both answers on paper and hand to teacher on the way out.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89000" y="5379641"/>
            <a:ext cx="642985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07753" y="5379641"/>
            <a:ext cx="843109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26630" y="5379641"/>
            <a:ext cx="696464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741" y="3616920"/>
            <a:ext cx="4836517" cy="120015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7054" y="1647230"/>
            <a:ext cx="625225" cy="90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563666" y="2612430"/>
            <a:ext cx="3092101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052266" y="3139480"/>
            <a:ext cx="6114899" cy="24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spot 6 new radicals inside characters and tell apart tricky an/en/in/un/ün sounds.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95241" y="3832820"/>
            <a:ext cx="422894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995241" y="4010620"/>
            <a:ext cx="4228949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日常起居 · Daily Routine Verbs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995241" y="4429720"/>
            <a:ext cx="4228949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Brand new verbs: getting up, eating breakfast, going to school, going to bed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99037" y="5020270"/>
            <a:ext cx="3821359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部首 (bùshǒu) = radicals · an/en/in/un/ün = tricky finals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new verbs for your daily routine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deck.liyu.dev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classroom lesson slides</dc:subject>
  <dc:creator>deck.liyu.dev</dc:creator>
  <cp:lastModifiedBy>deck.liyu.dev</cp:lastModifiedBy>
  <cp:revision>1</cp:revision>
  <dcterms:created xsi:type="dcterms:W3CDTF">2026-07-20T00:30:50Z</dcterms:created>
  <dcterms:modified xsi:type="dcterms:W3CDTF">2026-07-20T00:30:50Z</dcterms:modified>
</cp:coreProperties>
</file>