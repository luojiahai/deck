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1905000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· Y7 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-121920" y="2231975"/>
            <a:ext cx="12435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4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时间换算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-121920" y="3190726"/>
            <a:ext cx="1243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 Conversion · 时间词 + 点 + 分/半/刻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-121920" y="3679627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 ·  50 mins  ·  Writing Focus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0047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REVIEW · TIME-OF-DAY WORDS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38026"/>
            <a:ext cx="115550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Review: Time-of-Day Words · 复习时间词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31750" y="1088827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time-of-day word fits each digital time? Write the word only — hold up!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390352"/>
            <a:ext cx="2204740" cy="644426"/>
          </a:xfrm>
          <a:prstGeom prst="roundRect">
            <a:avLst>
              <a:gd name="adj" fmla="val 11824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1468" y="1504652"/>
            <a:ext cx="21453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468" y="1777603"/>
            <a:ext cx="2145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5:00–8:00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12690" y="1390352"/>
            <a:ext cx="2204740" cy="644426"/>
          </a:xfrm>
          <a:prstGeom prst="roundRect">
            <a:avLst>
              <a:gd name="adj" fmla="val 11824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42408" y="1504652"/>
            <a:ext cx="21453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2408" y="1777603"/>
            <a:ext cx="2145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before noon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93630" y="1390352"/>
            <a:ext cx="2204740" cy="644426"/>
          </a:xfrm>
          <a:prstGeom prst="roundRect">
            <a:avLst>
              <a:gd name="adj" fmla="val 11824"/>
            </a:avLst>
          </a:prstGeom>
          <a:solidFill>
            <a:srgbClr val="B582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23348" y="1504652"/>
            <a:ext cx="21453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3348" y="1777603"/>
            <a:ext cx="2145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274570" y="1390352"/>
            <a:ext cx="2204740" cy="644426"/>
          </a:xfrm>
          <a:prstGeom prst="roundRect">
            <a:avLst>
              <a:gd name="adj" fmla="val 11824"/>
            </a:avLst>
          </a:prstGeom>
          <a:solidFill>
            <a:srgbClr val="6BAF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04288" y="1504652"/>
            <a:ext cx="21453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04288" y="1777603"/>
            <a:ext cx="2145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afternoon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555510" y="1390352"/>
            <a:ext cx="2204740" cy="644426"/>
          </a:xfrm>
          <a:prstGeom prst="roundRect">
            <a:avLst>
              <a:gd name="adj" fmla="val 1182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585228" y="1504652"/>
            <a:ext cx="21453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晚上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85228" y="1777603"/>
            <a:ext cx="2145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18:00–24:00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1750" y="2187178"/>
            <a:ext cx="1797100" cy="977801"/>
          </a:xfrm>
          <a:prstGeom prst="roundRect">
            <a:avLst>
              <a:gd name="adj" fmla="val 77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5545" y="2301478"/>
            <a:ext cx="1729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5545" y="2514154"/>
            <a:ext cx="17295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06:30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5545" y="2850654"/>
            <a:ext cx="17295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word?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30351" y="2187178"/>
            <a:ext cx="1797248" cy="977801"/>
          </a:xfrm>
          <a:prstGeom prst="roundRect">
            <a:avLst>
              <a:gd name="adj" fmla="val 77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364144" y="2301478"/>
            <a:ext cx="17296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64144" y="2514154"/>
            <a:ext cx="17296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364144" y="2850654"/>
            <a:ext cx="17296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word?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29100" y="2187178"/>
            <a:ext cx="1797100" cy="977801"/>
          </a:xfrm>
          <a:prstGeom prst="roundRect">
            <a:avLst>
              <a:gd name="adj" fmla="val 77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262894" y="2301478"/>
            <a:ext cx="1729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62894" y="2514154"/>
            <a:ext cx="17295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14:00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262894" y="2850654"/>
            <a:ext cx="17295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word?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7700" y="2187178"/>
            <a:ext cx="1797248" cy="977801"/>
          </a:xfrm>
          <a:prstGeom prst="roundRect">
            <a:avLst>
              <a:gd name="adj" fmla="val 77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61493" y="2301478"/>
            <a:ext cx="17296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61493" y="2514154"/>
            <a:ext cx="17296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19:00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61493" y="2850654"/>
            <a:ext cx="17296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word?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26450" y="2187178"/>
            <a:ext cx="1835200" cy="977801"/>
          </a:xfrm>
          <a:prstGeom prst="roundRect">
            <a:avLst>
              <a:gd name="adj" fmla="val 7793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079294" y="2320528"/>
            <a:ext cx="1729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79294" y="2533204"/>
            <a:ext cx="17295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09:45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079294" y="2869704"/>
            <a:ext cx="1729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🤔 Careful, justify it!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963150" y="2187178"/>
            <a:ext cx="1797100" cy="977801"/>
          </a:xfrm>
          <a:prstGeom prst="roundRect">
            <a:avLst>
              <a:gd name="adj" fmla="val 77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996944" y="2301478"/>
            <a:ext cx="1729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996944" y="2514154"/>
            <a:ext cx="17295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12:30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996944" y="2850654"/>
            <a:ext cx="17295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word?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31750" y="3317379"/>
            <a:ext cx="3099346" cy="326827"/>
          </a:xfrm>
          <a:prstGeom prst="roundRect">
            <a:avLst>
              <a:gd name="adj" fmla="val 4663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84150" y="3380780"/>
            <a:ext cx="2850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the time-of-day word only — hold up!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658046" y="3317379"/>
            <a:ext cx="2758232" cy="326827"/>
          </a:xfrm>
          <a:prstGeom prst="roundRect">
            <a:avLst>
              <a:gd name="adj" fmla="val 4663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810446" y="3380780"/>
            <a:ext cx="250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Cold call 2 students per item to justify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31750" y="3771156"/>
            <a:ext cx="11328499" cy="288727"/>
          </a:xfrm>
          <a:prstGeom prst="roundRect">
            <a:avLst>
              <a:gd name="adj" fmla="val 26392"/>
            </a:avLst>
          </a:prstGeom>
          <a:noFill/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93675" y="3844082"/>
            <a:ext cx="112247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1535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REVIEW · ANSWERS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38026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Answers · 答案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155502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your word against each time.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457027"/>
            <a:ext cx="11328499" cy="292001"/>
          </a:xfrm>
          <a:prstGeom prst="roundRect">
            <a:avLst>
              <a:gd name="adj" fmla="val 5219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451" y="1507778"/>
            <a:ext cx="11192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Answer Key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1750" y="1850529"/>
            <a:ext cx="1782217" cy="901601"/>
          </a:xfrm>
          <a:prstGeom prst="roundRect">
            <a:avLst>
              <a:gd name="adj" fmla="val 8452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125" y="1996529"/>
            <a:ext cx="16754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06:30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5125" y="2320379"/>
            <a:ext cx="16754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40918" y="1850529"/>
            <a:ext cx="1782366" cy="901601"/>
          </a:xfrm>
          <a:prstGeom prst="roundRect">
            <a:avLst>
              <a:gd name="adj" fmla="val 8452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94290" y="1996529"/>
            <a:ext cx="1675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94290" y="2320379"/>
            <a:ext cx="16756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50234" y="1850529"/>
            <a:ext cx="1782217" cy="901601"/>
          </a:xfrm>
          <a:prstGeom prst="roundRect">
            <a:avLst>
              <a:gd name="adj" fmla="val 8452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03608" y="1996529"/>
            <a:ext cx="16754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14:00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03608" y="2320379"/>
            <a:ext cx="16754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59401" y="1850529"/>
            <a:ext cx="1782366" cy="901601"/>
          </a:xfrm>
          <a:prstGeom prst="roundRect">
            <a:avLst>
              <a:gd name="adj" fmla="val 8452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2774" y="1996529"/>
            <a:ext cx="1675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19:00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2774" y="2320379"/>
            <a:ext cx="16756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68717" y="1850529"/>
            <a:ext cx="1782217" cy="901601"/>
          </a:xfrm>
          <a:prstGeom prst="roundRect">
            <a:avLst>
              <a:gd name="adj" fmla="val 8452"/>
            </a:avLst>
          </a:prstGeom>
          <a:solidFill>
            <a:srgbClr val="FBEEEC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22091" y="1996529"/>
            <a:ext cx="16754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09:45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2091" y="2320379"/>
            <a:ext cx="16754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上午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77884" y="1850529"/>
            <a:ext cx="1782366" cy="901601"/>
          </a:xfrm>
          <a:prstGeom prst="roundRect">
            <a:avLst>
              <a:gd name="adj" fmla="val 8452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031257" y="1996529"/>
            <a:ext cx="1675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12:30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31257" y="2320379"/>
            <a:ext cx="16756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1750" y="3006030"/>
            <a:ext cx="11328499" cy="552450"/>
          </a:xfrm>
          <a:prstGeom prst="roundRect">
            <a:avLst>
              <a:gd name="adj" fmla="val 13793"/>
            </a:avLst>
          </a:prstGeom>
          <a:solidFill>
            <a:srgbClr val="FBEEEC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3951" y="3177480"/>
            <a:ext cx="111017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5 — 09:45: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it's after the 早上 cutoff (5:00–8:00), so even though it still feels like "morning" in English, in Chinese it's already 上午.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8773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LEARNING INTENTION &amp; SUCCESS CRITERIA · 8–10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38026"/>
            <a:ext cx="1155506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31750" y="1193602"/>
            <a:ext cx="11328499" cy="715566"/>
          </a:xfrm>
          <a:prstGeom prst="rect">
            <a:avLst/>
          </a:prstGeom>
          <a:solidFill>
            <a:srgbClr val="F5E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5563" y="1193602"/>
            <a:ext cx="0" cy="715566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526" y="1320552"/>
            <a:ext cx="110920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2526" y="1533227"/>
            <a:ext cx="1109206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combine a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time-of-day word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a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clock time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describe when something happens.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1750" y="2086868"/>
            <a:ext cx="203150" cy="203150"/>
          </a:xfrm>
          <a:prstGeom prst="roundRect">
            <a:avLst>
              <a:gd name="adj" fmla="val 45011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355" y="2107406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1851" y="2086868"/>
            <a:ext cx="6333443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convert a digital time into Chinese with the correct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time-of-day prefix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1851" y="2326630"/>
            <a:ext cx="112183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用时间词+点说完整时间，e.g. 16:45 → 下午四点三刻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1750" y="2634555"/>
            <a:ext cx="203150" cy="203150"/>
          </a:xfrm>
          <a:prstGeom prst="roundRect">
            <a:avLst>
              <a:gd name="adj" fmla="val 45011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7086" y="2655094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1851" y="2634555"/>
            <a:ext cx="462624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order a set of Chinese characters by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 count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1851" y="2874318"/>
            <a:ext cx="112183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按笔画数排序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750" y="3182243"/>
            <a:ext cx="203150" cy="203150"/>
          </a:xfrm>
          <a:prstGeom prst="roundRect">
            <a:avLst>
              <a:gd name="adj" fmla="val 45011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6788" y="3202781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1851" y="3182243"/>
            <a:ext cx="6467791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spot which time-of-day word is needed just from the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digital time</a:t>
            </a: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shown.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1851" y="3422005"/>
            <a:ext cx="112183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根据数字时间判断该用哪个时间词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9827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I DO · CONVERSION PATTERN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P.80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380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Key Pattern: Time-of-Day + Clock Time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079302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时间词 + 点 + (分/半/刻/差) — say the time-of-day word first, then the clock 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39084" y="1380827"/>
            <a:ext cx="965002" cy="457200"/>
          </a:xfrm>
          <a:prstGeom prst="roundRect">
            <a:avLst>
              <a:gd name="adj" fmla="val 2222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35835" y="1476077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05586" y="1495127"/>
            <a:ext cx="108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13499" y="1380827"/>
            <a:ext cx="584002" cy="457200"/>
          </a:xfrm>
          <a:prstGeom prst="roundRect">
            <a:avLst>
              <a:gd name="adj" fmla="val 2222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10250" y="147607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99002" y="1495127"/>
            <a:ext cx="108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06914" y="1380827"/>
            <a:ext cx="1346002" cy="457200"/>
          </a:xfrm>
          <a:prstGeom prst="roundRect">
            <a:avLst>
              <a:gd name="adj" fmla="val 2222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03665" y="1476077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 / 半 / 刻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1750" y="2015728"/>
            <a:ext cx="6118920" cy="1250752"/>
          </a:xfrm>
          <a:prstGeom prst="roundRect">
            <a:avLst>
              <a:gd name="adj" fmla="val 609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1750" y="2015728"/>
            <a:ext cx="6118920" cy="1250752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07:00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早上七点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10:30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上午十点半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12:00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中午十二点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16:45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下午四点三刻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20:15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晚上八点一刻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53820" y="2015728"/>
            <a:ext cx="5006429" cy="892076"/>
          </a:xfrm>
          <a:prstGeom prst="roundRect">
            <a:avLst>
              <a:gd name="adj" fmla="val 8542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50571" y="2161729"/>
            <a:ext cx="470518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</a:t>
            </a: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Think-aloud (16:45):</a:t>
            </a: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First, which time-of-day word? 16:00 is afternoon → </a:t>
            </a: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</a:t>
            </a: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Then the clock time: 45 minutes is </a:t>
            </a: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三刻</a:t>
            </a: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Put them together: </a:t>
            </a: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下午四点三刻</a:t>
            </a:r>
            <a:r>
              <a:rPr lang="en-US" sz="10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1750" y="3393430"/>
            <a:ext cx="11328499" cy="460177"/>
          </a:xfrm>
          <a:prstGeom prst="roundRect">
            <a:avLst>
              <a:gd name="adj" fmla="val 16559"/>
            </a:avLst>
          </a:prstGeom>
          <a:solidFill>
            <a:srgbClr val="FBEEEC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8501" y="3513981"/>
            <a:ext cx="1115369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👀 Coming up: a silly example that breaks this pattern — watch closely on the next slide!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3071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I DO · SPOT THE SILLY SENTENCE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67637" y="1771799"/>
            <a:ext cx="22565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DISCUSS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59412" y="2003524"/>
            <a:ext cx="627317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找找看，哪里怪？ · Spot the Silly Sentence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841849" y="2521000"/>
            <a:ext cx="4508153" cy="1552575"/>
          </a:xfrm>
          <a:prstGeom prst="roundRect">
            <a:avLst>
              <a:gd name="adj" fmla="val 9816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34308" y="2844850"/>
            <a:ext cx="352323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我晚上五点起床。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34308" y="3521125"/>
            <a:ext cx="35232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Wǒ wǎnshang wǔ diǎn qǐchuáng.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1236" y="4276725"/>
            <a:ext cx="57895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🤔 What's strange about this sentence? Discuss with a partner.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51363" y="4695825"/>
            <a:ext cx="2289125" cy="288727"/>
          </a:xfrm>
          <a:prstGeom prst="roundRect">
            <a:avLst>
              <a:gd name="adj" fmla="val 26392"/>
            </a:avLst>
          </a:prstGeom>
          <a:noFill/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93635" y="4768751"/>
            <a:ext cx="20045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3233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I DO · SILLY SENTENCE · ANSWER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67637" y="1919436"/>
            <a:ext cx="22565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DISCUSS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83032" y="2151162"/>
            <a:ext cx="422578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找找看，哪里怪？ · Answer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60045" y="2668637"/>
            <a:ext cx="1471910" cy="292001"/>
          </a:xfrm>
          <a:prstGeom prst="roundRect">
            <a:avLst>
              <a:gd name="adj" fmla="val 5219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26581" y="2719388"/>
            <a:ext cx="1138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Answer Reveal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99495" y="3062139"/>
            <a:ext cx="2628305" cy="1063526"/>
          </a:xfrm>
          <a:prstGeom prst="roundRect">
            <a:avLst>
              <a:gd name="adj" fmla="val 9553"/>
            </a:avLst>
          </a:prstGeom>
          <a:solidFill>
            <a:srgbClr val="FBEEEC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77580" y="3284339"/>
            <a:ext cx="20721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SILLY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77580" y="3551039"/>
            <a:ext cx="207213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我晚上五点起床。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79414" y="3436739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4201" y="3062139"/>
            <a:ext cx="2628305" cy="1063526"/>
          </a:xfrm>
          <a:prstGeom prst="roundRect">
            <a:avLst>
              <a:gd name="adj" fmla="val 9553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42286" y="3284339"/>
            <a:ext cx="20721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 FIXED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42286" y="3551039"/>
            <a:ext cx="207213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我早上七点起床。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44588" y="4303365"/>
            <a:ext cx="8302675" cy="533400"/>
          </a:xfrm>
          <a:prstGeom prst="roundRect">
            <a:avLst>
              <a:gd name="adj" fmla="val 1904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20540" y="4455765"/>
            <a:ext cx="79507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晚上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means </a:t>
            </a: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evening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not when most people get up! Most people 起床 (get up) in the </a:t>
            </a: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not the </a:t>
            </a: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晚上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4319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I DO · CHECK FOR UNDERSTANDING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518047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1749772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2394198"/>
            <a:ext cx="11328499" cy="606326"/>
          </a:xfrm>
          <a:prstGeom prst="roundRect">
            <a:avLst>
              <a:gd name="adj" fmla="val 125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1345" y="2521148"/>
            <a:ext cx="362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68152" y="2583061"/>
            <a:ext cx="4227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14:00 — which time-of-day word? Write it, hold up.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1750" y="3127474"/>
            <a:ext cx="11328499" cy="606326"/>
          </a:xfrm>
          <a:prstGeom prst="roundRect">
            <a:avLst>
              <a:gd name="adj" fmla="val 125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1345" y="3254425"/>
            <a:ext cx="362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68152" y="3316337"/>
            <a:ext cx="3716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wrong with 「早上十二点」? (cold call)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3860750"/>
            <a:ext cx="11328499" cy="606326"/>
          </a:xfrm>
          <a:prstGeom prst="roundRect">
            <a:avLst>
              <a:gd name="adj" fmla="val 125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345" y="3987701"/>
            <a:ext cx="362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68152" y="4049613"/>
            <a:ext cx="44111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Convert 06:50 to Chinese using 差. Write and hold up.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750" y="4594027"/>
            <a:ext cx="115550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on paper — hold up each 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1750" y="4949577"/>
            <a:ext cx="11328499" cy="288727"/>
          </a:xfrm>
          <a:prstGeom prst="roundRect">
            <a:avLst>
              <a:gd name="adj" fmla="val 26392"/>
            </a:avLst>
          </a:prstGeom>
          <a:noFill/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3675" y="5022503"/>
            <a:ext cx="112247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5151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I DO · CFU · ANSWERS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84011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2071836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 · Answers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2716262"/>
            <a:ext cx="11328499" cy="606326"/>
          </a:xfrm>
          <a:prstGeom prst="roundRect">
            <a:avLst>
              <a:gd name="adj" fmla="val 125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1345" y="2843213"/>
            <a:ext cx="362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68152" y="2905125"/>
            <a:ext cx="6075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14:00 — which time-of-day word?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17307" y="2905125"/>
            <a:ext cx="4339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449538"/>
            <a:ext cx="11328499" cy="606326"/>
          </a:xfrm>
          <a:prstGeom prst="roundRect">
            <a:avLst>
              <a:gd name="adj" fmla="val 125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1345" y="3576489"/>
            <a:ext cx="362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68152" y="3638401"/>
            <a:ext cx="6075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wrong with 「早上十二点」?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17307" y="3638401"/>
            <a:ext cx="4339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 中午十二点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1750" y="4182814"/>
            <a:ext cx="11328499" cy="606326"/>
          </a:xfrm>
          <a:prstGeom prst="roundRect">
            <a:avLst>
              <a:gd name="adj" fmla="val 1256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1345" y="4309765"/>
            <a:ext cx="362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68152" y="4371677"/>
            <a:ext cx="6075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Convert 06:50 to Chinese using 差.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17307" y="4371677"/>
            <a:ext cx="4339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早上差十分七点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0223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WE DO · GUIDED WORKSHEET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20–30 MIN · WE DO · ACTIVITY 1 (EX3, P.80)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380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Guided Conversion Worksheet · 引导练习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079302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#1 on the board. Then #2–4: write it yourself, check with a partner.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380827"/>
            <a:ext cx="11328499" cy="419100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5563" y="1380827"/>
            <a:ext cx="0" cy="419100"/>
          </a:xfrm>
          <a:prstGeom prst="line">
            <a:avLst/>
          </a:prstGeom>
          <a:noFill/>
          <a:ln w="47625">
            <a:solidFill>
              <a:srgbClr val="3A7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076" y="1457027"/>
            <a:ext cx="111439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 + 点 + 分/半/刻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1750" y="1926878"/>
            <a:ext cx="2765375" cy="939552"/>
          </a:xfrm>
          <a:prstGeom prst="roundRect">
            <a:avLst>
              <a:gd name="adj" fmla="val 8110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7058" y="2072878"/>
            <a:ext cx="2574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7058" y="2241054"/>
            <a:ext cx="2574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7058" y="2434679"/>
            <a:ext cx="25747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07:15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24076" y="1926878"/>
            <a:ext cx="2727424" cy="939552"/>
          </a:xfrm>
          <a:prstGeom prst="roundRect">
            <a:avLst>
              <a:gd name="adj" fmla="val 811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00333" y="2079129"/>
            <a:ext cx="2574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00333" y="2272754"/>
            <a:ext cx="25749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11:40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8451" y="1926878"/>
            <a:ext cx="2727424" cy="939552"/>
          </a:xfrm>
          <a:prstGeom prst="roundRect">
            <a:avLst>
              <a:gd name="adj" fmla="val 811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54707" y="2079129"/>
            <a:ext cx="2574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54707" y="2272754"/>
            <a:ext cx="25749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12:30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32825" y="1926878"/>
            <a:ext cx="2727424" cy="939552"/>
          </a:xfrm>
          <a:prstGeom prst="roundRect">
            <a:avLst>
              <a:gd name="adj" fmla="val 811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109082" y="2079129"/>
            <a:ext cx="2574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09082" y="2272754"/>
            <a:ext cx="25749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16:00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1750" y="2993380"/>
            <a:ext cx="3691533" cy="600968"/>
          </a:xfrm>
          <a:prstGeom prst="roundRect">
            <a:avLst>
              <a:gd name="adj" fmla="val 1268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8701" y="3069580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8701" y="3237756"/>
            <a:ext cx="3506385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Time-of-day range chart stays projected. Sentence frame printed at the worksheet top.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50234" y="2993380"/>
            <a:ext cx="3691533" cy="600968"/>
          </a:xfrm>
          <a:prstGeom prst="roundRect">
            <a:avLst>
              <a:gd name="adj" fmla="val 1268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377184" y="3069580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377184" y="3237756"/>
            <a:ext cx="3506385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students also write the 差 form where applicable (an item at :50 or :55).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68717" y="2993380"/>
            <a:ext cx="3691533" cy="600968"/>
          </a:xfrm>
          <a:prstGeom prst="roundRect">
            <a:avLst>
              <a:gd name="adj" fmla="val 1268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95667" y="3069580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95667" y="3237756"/>
            <a:ext cx="3506385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Turn-and-talk before each reveal — every student commits an answer first.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1750" y="3721298"/>
            <a:ext cx="11328499" cy="288727"/>
          </a:xfrm>
          <a:prstGeom prst="roundRect">
            <a:avLst>
              <a:gd name="adj" fmla="val 26392"/>
            </a:avLst>
          </a:prstGeom>
          <a:noFill/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93675" y="3794224"/>
            <a:ext cx="112247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2559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WE DO · ANSWERS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1986260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20–30 MIN · WE DO · ACTIVITY 1 (EX3, P.80)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2217986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Guided Conversion Worksheet · Answers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269736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 · Compare with your partner's answer.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2998887"/>
            <a:ext cx="11328499" cy="292001"/>
          </a:xfrm>
          <a:prstGeom prst="roundRect">
            <a:avLst>
              <a:gd name="adj" fmla="val 5219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451" y="3049637"/>
            <a:ext cx="11192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Answer Key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1750" y="3493889"/>
            <a:ext cx="2717750" cy="1276201"/>
          </a:xfrm>
          <a:prstGeom prst="roundRect">
            <a:avLst>
              <a:gd name="adj" fmla="val 5971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7535" y="3665339"/>
            <a:ext cx="25261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7535" y="3833515"/>
            <a:ext cx="25261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7535" y="4027140"/>
            <a:ext cx="25261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07:15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7535" y="4350990"/>
            <a:ext cx="25261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早上七点一刻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01901" y="3493889"/>
            <a:ext cx="2717899" cy="1276201"/>
          </a:xfrm>
          <a:prstGeom prst="roundRect">
            <a:avLst>
              <a:gd name="adj" fmla="val 5971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97684" y="3690640"/>
            <a:ext cx="2526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97684" y="3884265"/>
            <a:ext cx="25263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11:40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97684" y="4208115"/>
            <a:ext cx="25263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上午十一点四十分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3493889"/>
            <a:ext cx="2717750" cy="1276201"/>
          </a:xfrm>
          <a:prstGeom prst="roundRect">
            <a:avLst>
              <a:gd name="adj" fmla="val 5971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67984" y="3690640"/>
            <a:ext cx="25261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67984" y="3884265"/>
            <a:ext cx="25261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12:30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7984" y="4208115"/>
            <a:ext cx="25261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中午十二点半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42350" y="3493889"/>
            <a:ext cx="2717899" cy="1276201"/>
          </a:xfrm>
          <a:prstGeom prst="roundRect">
            <a:avLst>
              <a:gd name="adj" fmla="val 5971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38133" y="3690640"/>
            <a:ext cx="2526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138133" y="3884265"/>
            <a:ext cx="25263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16:00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38133" y="4208115"/>
            <a:ext cx="25263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下午四点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5936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YOU DO · INDEPENDENT CONVERSION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30–38 MIN · YOU DO · ACTIVITY 2 (EX3, P.80)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380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Independent Conversion · 自己写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079302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items 5–8 by yourself, then self-mark against the projected answer key.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380827"/>
            <a:ext cx="2717750" cy="958602"/>
          </a:xfrm>
          <a:prstGeom prst="roundRect">
            <a:avLst>
              <a:gd name="adj" fmla="val 794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8104" y="1533079"/>
            <a:ext cx="25650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8104" y="1726704"/>
            <a:ext cx="25650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20:45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76451" y="1380827"/>
            <a:ext cx="2717899" cy="958602"/>
          </a:xfrm>
          <a:prstGeom prst="roundRect">
            <a:avLst>
              <a:gd name="adj" fmla="val 794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52803" y="1533079"/>
            <a:ext cx="25651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52803" y="1726704"/>
            <a:ext cx="25651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09:05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1301" y="1380827"/>
            <a:ext cx="2755999" cy="958602"/>
          </a:xfrm>
          <a:prstGeom prst="roundRect">
            <a:avLst>
              <a:gd name="adj" fmla="val 7949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6703" y="1526828"/>
            <a:ext cx="25651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 TRY 差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6703" y="1714054"/>
            <a:ext cx="25651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7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6703" y="1907679"/>
            <a:ext cx="25651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07:50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04250" y="1380827"/>
            <a:ext cx="2755999" cy="958602"/>
          </a:xfrm>
          <a:prstGeom prst="roundRect">
            <a:avLst>
              <a:gd name="adj" fmla="val 7949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099652" y="1526828"/>
            <a:ext cx="25651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 TRY 差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099652" y="1714054"/>
            <a:ext cx="25651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8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099652" y="1907679"/>
            <a:ext cx="25651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14:55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1750" y="2466380"/>
            <a:ext cx="3691533" cy="600968"/>
          </a:xfrm>
          <a:prstGeom prst="roundRect">
            <a:avLst>
              <a:gd name="adj" fmla="val 1268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58701" y="2542580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8701" y="2710755"/>
            <a:ext cx="3506385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who need support get a version with the time-of-day word already given.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50234" y="2466380"/>
            <a:ext cx="3691533" cy="600968"/>
          </a:xfrm>
          <a:prstGeom prst="roundRect">
            <a:avLst>
              <a:gd name="adj" fmla="val 1268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77184" y="2542580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77184" y="2710755"/>
            <a:ext cx="3506385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additional time of your own choosing, convert it, swap with a partner to check.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68717" y="2466380"/>
            <a:ext cx="3691533" cy="600968"/>
          </a:xfrm>
          <a:prstGeom prst="roundRect">
            <a:avLst>
              <a:gd name="adj" fmla="val 1268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95667" y="2542580"/>
            <a:ext cx="35063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195667" y="2710755"/>
            <a:ext cx="3506385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4 students to read out one answer each before self-marking begins.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31750" y="3194298"/>
            <a:ext cx="11328499" cy="288727"/>
          </a:xfrm>
          <a:prstGeom prst="roundRect">
            <a:avLst>
              <a:gd name="adj" fmla="val 26392"/>
            </a:avLst>
          </a:prstGeom>
          <a:noFill/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3675" y="3267224"/>
            <a:ext cx="112247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3398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YOU DO · ANSWERS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2010073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30–38 MIN · YOU DO · ACTIVITY 2 (EX3, P.80)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2241798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Independent Conversion · Answers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2721173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 · Self-mark now.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3022699"/>
            <a:ext cx="11328499" cy="292001"/>
          </a:xfrm>
          <a:prstGeom prst="roundRect">
            <a:avLst>
              <a:gd name="adj" fmla="val 5219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451" y="3073450"/>
            <a:ext cx="11192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Answer Key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1750" y="3517702"/>
            <a:ext cx="2736800" cy="1228576"/>
          </a:xfrm>
          <a:prstGeom prst="roundRect">
            <a:avLst>
              <a:gd name="adj" fmla="val 6202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1537" y="3714452"/>
            <a:ext cx="25972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1537" y="3908078"/>
            <a:ext cx="2597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20:45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1537" y="4212878"/>
            <a:ext cx="2597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晚上八点三刻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5501" y="3517702"/>
            <a:ext cx="2736949" cy="1228576"/>
          </a:xfrm>
          <a:prstGeom prst="roundRect">
            <a:avLst>
              <a:gd name="adj" fmla="val 6202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65287" y="3714452"/>
            <a:ext cx="25973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65287" y="3908078"/>
            <a:ext cx="259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09:05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65287" y="4212878"/>
            <a:ext cx="259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早上九点零五分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59401" y="3517702"/>
            <a:ext cx="2736949" cy="1228576"/>
          </a:xfrm>
          <a:prstGeom prst="roundRect">
            <a:avLst>
              <a:gd name="adj" fmla="val 6202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29186" y="3689152"/>
            <a:ext cx="25973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 差 FORM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29186" y="3876377"/>
            <a:ext cx="25973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29186" y="4070003"/>
            <a:ext cx="259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07:50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29186" y="4374803"/>
            <a:ext cx="25973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早上差十分八点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023300" y="3517702"/>
            <a:ext cx="2736949" cy="1228576"/>
          </a:xfrm>
          <a:prstGeom prst="roundRect">
            <a:avLst>
              <a:gd name="adj" fmla="val 6202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093086" y="3689152"/>
            <a:ext cx="25973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 差 FORM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093086" y="3876377"/>
            <a:ext cx="25973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093086" y="4070003"/>
            <a:ext cx="2597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14:55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93086" y="4374803"/>
            <a:ext cx="25973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下午差五分三点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5577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YOU DO · STROKE-COUNT ORDERING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38–43 MIN · YOU DO · ACTIVITY 3 (EX4, P.80)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3802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Stroke-Count Ordering · 按笔画数排序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079302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pairs: arrange the 12 character cards from lowest to highest stroke count.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380827"/>
            <a:ext cx="1803499" cy="806202"/>
          </a:xfrm>
          <a:prstGeom prst="roundRect">
            <a:avLst>
              <a:gd name="adj" fmla="val 945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5481" y="1482328"/>
            <a:ext cx="17360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5481" y="1923604"/>
            <a:ext cx="1736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chà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6750" y="1380827"/>
            <a:ext cx="1803499" cy="806202"/>
          </a:xfrm>
          <a:prstGeom prst="roundRect">
            <a:avLst>
              <a:gd name="adj" fmla="val 945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70481" y="1482328"/>
            <a:ext cx="17360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70481" y="1923604"/>
            <a:ext cx="1736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shí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41750" y="1380827"/>
            <a:ext cx="1803499" cy="806202"/>
          </a:xfrm>
          <a:prstGeom prst="roundRect">
            <a:avLst>
              <a:gd name="adj" fmla="val 945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75481" y="1482328"/>
            <a:ext cx="17360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75481" y="1923604"/>
            <a:ext cx="1736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wǎn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46750" y="1380827"/>
            <a:ext cx="1803499" cy="806202"/>
          </a:xfrm>
          <a:prstGeom prst="roundRect">
            <a:avLst>
              <a:gd name="adj" fmla="val 945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80481" y="1482328"/>
            <a:ext cx="17360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80481" y="1923604"/>
            <a:ext cx="1736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51750" y="1380827"/>
            <a:ext cx="1803499" cy="806202"/>
          </a:xfrm>
          <a:prstGeom prst="roundRect">
            <a:avLst>
              <a:gd name="adj" fmla="val 945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85481" y="1482328"/>
            <a:ext cx="17360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085481" y="1923604"/>
            <a:ext cx="1736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diǎn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956750" y="1380827"/>
            <a:ext cx="1803499" cy="806202"/>
          </a:xfrm>
          <a:prstGeom prst="roundRect">
            <a:avLst>
              <a:gd name="adj" fmla="val 945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990481" y="1482328"/>
            <a:ext cx="17360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990481" y="1923604"/>
            <a:ext cx="1736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zǎo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1750" y="2288530"/>
            <a:ext cx="1803499" cy="806202"/>
          </a:xfrm>
          <a:prstGeom prst="roundRect">
            <a:avLst>
              <a:gd name="adj" fmla="val 945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65481" y="2390031"/>
            <a:ext cx="17360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65481" y="2831306"/>
            <a:ext cx="1736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bàn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36750" y="2288530"/>
            <a:ext cx="1803499" cy="806202"/>
          </a:xfrm>
          <a:prstGeom prst="roundRect">
            <a:avLst>
              <a:gd name="adj" fmla="val 945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370481" y="2390031"/>
            <a:ext cx="17360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370481" y="2831306"/>
            <a:ext cx="1736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41750" y="2288530"/>
            <a:ext cx="1803499" cy="806202"/>
          </a:xfrm>
          <a:prstGeom prst="roundRect">
            <a:avLst>
              <a:gd name="adj" fmla="val 945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75481" y="2390031"/>
            <a:ext cx="17360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刻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275481" y="2831306"/>
            <a:ext cx="1736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46750" y="2288530"/>
            <a:ext cx="1803499" cy="806202"/>
          </a:xfrm>
          <a:prstGeom prst="roundRect">
            <a:avLst>
              <a:gd name="adj" fmla="val 945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80481" y="2390031"/>
            <a:ext cx="17360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180481" y="2831306"/>
            <a:ext cx="1736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fēn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51750" y="2288530"/>
            <a:ext cx="1803499" cy="806202"/>
          </a:xfrm>
          <a:prstGeom prst="roundRect">
            <a:avLst>
              <a:gd name="adj" fmla="val 945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085481" y="2390031"/>
            <a:ext cx="17360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085481" y="2831306"/>
            <a:ext cx="1736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wǔ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956750" y="2288530"/>
            <a:ext cx="1803499" cy="806202"/>
          </a:xfrm>
          <a:prstGeom prst="roundRect">
            <a:avLst>
              <a:gd name="adj" fmla="val 945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9990481" y="2390031"/>
            <a:ext cx="173603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990481" y="2831306"/>
            <a:ext cx="1736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zhōng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31750" y="3247132"/>
            <a:ext cx="11328499" cy="758726"/>
          </a:xfrm>
          <a:prstGeom prst="roundRect">
            <a:avLst>
              <a:gd name="adj" fmla="val 10043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53951" y="3393132"/>
            <a:ext cx="11101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✏️ Trace each character with a finger and count strokes aloud together.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3951" y="3659832"/>
            <a:ext cx="111017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 Extension: once ordered, group characters that share a stroke count — how many groups can you find?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31750" y="4132808"/>
            <a:ext cx="11328499" cy="288727"/>
          </a:xfrm>
          <a:prstGeom prst="roundRect">
            <a:avLst>
              <a:gd name="adj" fmla="val 26392"/>
            </a:avLst>
          </a:prstGeom>
          <a:noFill/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93675" y="4205734"/>
            <a:ext cx="112247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5130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YOU DO · STROKE-COUNT ANSWERS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2102048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38–43 MIN · YOU DO · ACTIVITY 3 (EX4, P.80)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2333774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Stroke-Count Ordering · Answers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2775049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 · Lowest to highest, grouped by shared count.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3076575"/>
            <a:ext cx="11328499" cy="292001"/>
          </a:xfrm>
          <a:prstGeom prst="roundRect">
            <a:avLst>
              <a:gd name="adj" fmla="val 5219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451" y="3127325"/>
            <a:ext cx="11192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Answer Key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1750" y="3470077"/>
            <a:ext cx="750094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251" y="3655814"/>
            <a:ext cx="242292" cy="168176"/>
          </a:xfrm>
          <a:prstGeom prst="roundRect">
            <a:avLst>
              <a:gd name="adj" fmla="val 604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2102" y="3668464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77044" y="3597027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58044" y="3635127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6644" y="3470077"/>
            <a:ext cx="1017240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88145" y="3655814"/>
            <a:ext cx="242739" cy="168176"/>
          </a:xfrm>
          <a:prstGeom prst="roundRect">
            <a:avLst>
              <a:gd name="adj" fmla="val 604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76995" y="3668464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932384" y="3597027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9084" y="3597027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80084" y="3635127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08684" y="3470077"/>
            <a:ext cx="1284684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10185" y="3655814"/>
            <a:ext cx="243483" cy="168176"/>
          </a:xfrm>
          <a:prstGeom prst="roundRect">
            <a:avLst>
              <a:gd name="adj" fmla="val 604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999036" y="3668464"/>
            <a:ext cx="67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55169" y="3597027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21869" y="3597027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88569" y="3597027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69569" y="3635127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98169" y="3470077"/>
            <a:ext cx="750391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99670" y="3655814"/>
            <a:ext cx="242590" cy="168176"/>
          </a:xfrm>
          <a:prstGeom prst="roundRect">
            <a:avLst>
              <a:gd name="adj" fmla="val 604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588520" y="3668464"/>
            <a:ext cx="661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3760" y="3597027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24760" y="3635127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53360" y="3470077"/>
            <a:ext cx="751433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554861" y="3655814"/>
            <a:ext cx="243632" cy="168176"/>
          </a:xfrm>
          <a:prstGeom prst="roundRect">
            <a:avLst>
              <a:gd name="adj" fmla="val 604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43711" y="3668464"/>
            <a:ext cx="67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99993" y="3597027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80993" y="3635127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09593" y="3470077"/>
            <a:ext cx="751136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611094" y="3655814"/>
            <a:ext cx="243334" cy="168176"/>
          </a:xfrm>
          <a:prstGeom prst="roundRect">
            <a:avLst>
              <a:gd name="adj" fmla="val 604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99945" y="3668464"/>
            <a:ext cx="669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55929" y="3597027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刻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36929" y="3635127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565529" y="3470077"/>
            <a:ext cx="1018133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667030" y="3655814"/>
            <a:ext cx="243632" cy="168176"/>
          </a:xfrm>
          <a:prstGeom prst="roundRect">
            <a:avLst>
              <a:gd name="adj" fmla="val 604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755880" y="3668464"/>
            <a:ext cx="67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012162" y="3597027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78862" y="3597027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59862" y="3635127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888462" y="3470077"/>
            <a:ext cx="777627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989963" y="3655814"/>
            <a:ext cx="269825" cy="168176"/>
          </a:xfrm>
          <a:prstGeom prst="roundRect">
            <a:avLst>
              <a:gd name="adj" fmla="val 604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9078813" y="3668464"/>
            <a:ext cx="939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361289" y="3597027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31750" y="4162127"/>
            <a:ext cx="11328499" cy="492026"/>
          </a:xfrm>
          <a:prstGeom prst="roundRect">
            <a:avLst>
              <a:gd name="adj" fmla="val 15487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53951" y="4308128"/>
            <a:ext cx="111017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tied groups: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上/下 (3 strokes), 午/分/中 (4 strokes), 差/点 (9 strokes) — 8 stroke-count values across 12 characters.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2171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GAME · STROKE-COUNT RELAY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544797" y="1730573"/>
            <a:ext cx="11024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5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46328" y="1962299"/>
            <a:ext cx="489934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Stroke-Count Relay · 笔画接力赛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327843" y="2479774"/>
            <a:ext cx="55361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 up, grab a card, place it in the next slot — race to the correct order!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62164" y="2790825"/>
            <a:ext cx="1010692" cy="793552"/>
          </a:xfrm>
          <a:prstGeom prst="roundRect">
            <a:avLst>
              <a:gd name="adj" fmla="val 1280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33312" y="2917775"/>
            <a:ext cx="6683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33312" y="3295501"/>
            <a:ext cx="6683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Pick a card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23477" y="3063776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5505" y="2790825"/>
            <a:ext cx="761405" cy="793552"/>
          </a:xfrm>
          <a:prstGeom prst="roundRect">
            <a:avLst>
              <a:gd name="adj" fmla="val 1334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29146" y="2917775"/>
            <a:ext cx="41412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🏃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29146" y="3295501"/>
            <a:ext cx="4141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 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7531" y="3063776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99559" y="2790825"/>
            <a:ext cx="1064716" cy="793552"/>
          </a:xfrm>
          <a:prstGeom prst="roundRect">
            <a:avLst>
              <a:gd name="adj" fmla="val 1280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0167" y="2917775"/>
            <a:ext cx="72350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70167" y="3295501"/>
            <a:ext cx="7235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Place in line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14897" y="3063776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46925" y="2790825"/>
            <a:ext cx="1382911" cy="793552"/>
          </a:xfrm>
          <a:prstGeom prst="roundRect">
            <a:avLst>
              <a:gd name="adj" fmla="val 1280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14351" y="2917775"/>
            <a:ext cx="10480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🔁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714351" y="3295501"/>
            <a:ext cx="10480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 back — next!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71466" y="3787527"/>
            <a:ext cx="981819" cy="831800"/>
          </a:xfrm>
          <a:prstGeom prst="roundRect">
            <a:avLst>
              <a:gd name="adj" fmla="val 122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20627" y="3939927"/>
            <a:ext cx="4834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20627" y="4152602"/>
            <a:ext cx="48349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🔴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05685" y="3787527"/>
            <a:ext cx="1002655" cy="831800"/>
          </a:xfrm>
          <a:prstGeom prst="roundRect">
            <a:avLst>
              <a:gd name="adj" fmla="val 122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54637" y="3939927"/>
            <a:ext cx="5047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54637" y="4152602"/>
            <a:ext cx="5047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🔵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60740" y="3787527"/>
            <a:ext cx="1003250" cy="831800"/>
          </a:xfrm>
          <a:prstGeom prst="roundRect">
            <a:avLst>
              <a:gd name="adj" fmla="val 122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09687" y="3939927"/>
            <a:ext cx="5053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9687" y="4152602"/>
            <a:ext cx="5053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🟡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16391" y="3787527"/>
            <a:ext cx="1003995" cy="831800"/>
          </a:xfrm>
          <a:prstGeom prst="roundRect">
            <a:avLst>
              <a:gd name="adj" fmla="val 122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565329" y="3939927"/>
            <a:ext cx="5061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65329" y="4152602"/>
            <a:ext cx="50611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🟢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922020" y="4797028"/>
            <a:ext cx="40021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 First team with a fully correct stroke-count order wins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97945" y="4797028"/>
            <a:ext cx="4173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🔧 Setup: 4 identical 12-card sets + clear floor space to run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5869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PLENARY · 43–50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38026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 · 回顾与反思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231702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1750" y="151105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451" y="1444377"/>
            <a:ext cx="57515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convert a digital time into Chinese with the correct time-of-day prefix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750" y="175870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451" y="1692027"/>
            <a:ext cx="41917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order a set of Chinese characters by stroke count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1750" y="200635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451" y="1939677"/>
            <a:ext cx="58953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spot which time-of-day word is needed just from the digital time shown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1750" y="2314277"/>
            <a:ext cx="11328499" cy="709761"/>
          </a:xfrm>
          <a:prstGeom prst="roundRect">
            <a:avLst>
              <a:gd name="adj" fmla="val 1431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901" y="2441228"/>
            <a:ext cx="111406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4901" y="2701528"/>
            <a:ext cx="1114064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your paper, write one digital time and its Chinese conversion that you're </a:t>
            </a:r>
            <a:r>
              <a:rPr lang="en-US" sz="11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confident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1750" y="3150989"/>
            <a:ext cx="11328499" cy="955477"/>
          </a:xfrm>
          <a:prstGeom prst="roundRect">
            <a:avLst>
              <a:gd name="adj" fmla="val 10633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9400" y="3296989"/>
            <a:ext cx="110498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9400" y="3525589"/>
            <a:ext cx="110498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Convert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15:30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Chinese (time-of-day + clock time).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9400" y="3798540"/>
            <a:ext cx="110498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Collect on the way out.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1750" y="4207966"/>
            <a:ext cx="5679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Got 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91667" y="4207966"/>
            <a:ext cx="10401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Getting there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14588" y="4207966"/>
            <a:ext cx="8406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help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2202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时间换算 · EXIT TICKET · ANSWER REVEAL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18465" y="1189286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CHECK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8465" y="1421011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Exit Ticket Answer · 答案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60045" y="2014686"/>
            <a:ext cx="1471910" cy="292001"/>
          </a:xfrm>
          <a:prstGeom prst="roundRect">
            <a:avLst>
              <a:gd name="adj" fmla="val 5219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26581" y="2065437"/>
            <a:ext cx="11388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Answer Reveal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51027" y="2560588"/>
            <a:ext cx="5289947" cy="2698552"/>
          </a:xfrm>
          <a:prstGeom prst="roundRect">
            <a:avLst>
              <a:gd name="adj" fmla="val 4706"/>
            </a:avLst>
          </a:prstGeom>
          <a:solidFill>
            <a:srgbClr val="F6F2E8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54261" y="2808238"/>
            <a:ext cx="46834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54261" y="3093988"/>
            <a:ext cx="46834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Convert </a:t>
            </a:r>
            <a:r>
              <a:rPr lang="en-US" sz="14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15:30</a:t>
            </a: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Chinese.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54261" y="3494038"/>
            <a:ext cx="46834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54261" y="3706713"/>
            <a:ext cx="468347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下午三点半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54261" y="4262289"/>
            <a:ext cx="46834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xiàwǔ sān diǎn bàn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54261" y="4611439"/>
            <a:ext cx="46834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 (afternoon) + 三点 (3 o'clock) + 半 (half)</a:t>
            </a:r>
            <a:endParaRPr lang="en-US" sz="1050" dirty="0"/>
          </a:p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Remember: check the time-of-day word first, then add the clock time!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8465" y="5386090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 6 new radicals &amp; listening for pinyin an, en, in, un, ün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727" y="1505694"/>
            <a:ext cx="508546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839057" y="2429619"/>
            <a:ext cx="251388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Great work today!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113645" y="2947095"/>
            <a:ext cx="5964710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now convert any digital time into a full Chinese time expression.
</a:t>
            </a:r>
            <a:r>
              <a:rPr lang="en-US" sz="13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Time-of-day word first, then the clock time!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712666" y="3721298"/>
            <a:ext cx="4766667" cy="1260277"/>
          </a:xfrm>
          <a:prstGeom prst="roundRect">
            <a:avLst>
              <a:gd name="adj" fmla="val 10077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95327" y="3943499"/>
            <a:ext cx="42013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95327" y="4156174"/>
            <a:ext cx="420134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Radicals &amp; Pinyin Listening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95327" y="4559350"/>
            <a:ext cx="42013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new radicals + listening for pinyin an, en, in, un, ün sounds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7379" y="5159276"/>
            <a:ext cx="3957093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时间词 + 点 + 分/半/刻/差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a full time expression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Next: 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部首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(radicals) &amp;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拼音听力</a:t>
            </a: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(pinyin listening)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2026-07-21T08:50:08Z</dcterms:created>
  <dcterms:modified xsi:type="dcterms:W3CDTF">2026-07-21T08:50:08Z</dcterms:modified>
</cp:coreProperties>
</file>