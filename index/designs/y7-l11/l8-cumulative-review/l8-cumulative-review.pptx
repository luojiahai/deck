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56200" y="2158901"/>
            <a:ext cx="1079450" cy="1079450"/>
          </a:xfrm>
          <a:prstGeom prst="roundRect">
            <a:avLst>
              <a:gd name="adj" fmla="val 84710"/>
            </a:avLst>
          </a:prstGeom>
          <a:solidFill>
            <a:srgbClr val="FFFFFF"/>
          </a:solidFill>
          <a:ln w="19050">
            <a:solidFill>
              <a:srgbClr val="E8CD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75583" y="2398514"/>
            <a:ext cx="440537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-121920" y="3416052"/>
            <a:ext cx="124358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8 · Y7 UNIT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-121920" y="3717578"/>
            <a:ext cx="12435840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52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</a:t>
            </a:r>
            <a:r>
              <a:rPr lang="en-US" sz="5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-121920" y="4743004"/>
            <a:ext cx="124358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5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Cumulative Review + Test 4.2 Prep · 综合对话与备考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-121920" y="5212854"/>
            <a:ext cx="124358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Writing-Focused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6739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REVIEW · LESSONS 1–7 RECAP · 0–8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8 MIN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587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全单元快速回顾 · Rapid Recap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352401"/>
            <a:ext cx="115550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Chinese for each prompt on paper. Hold it up after each one.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1750" y="1790402"/>
            <a:ext cx="3691533" cy="533400"/>
          </a:xfrm>
          <a:prstGeom prst="roundRect">
            <a:avLst>
              <a:gd name="adj" fmla="val 142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451" y="1942802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0816" y="1942802"/>
            <a:ext cx="19722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"morning (before noon)"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50234" y="1790402"/>
            <a:ext cx="3691533" cy="533400"/>
          </a:xfrm>
          <a:prstGeom prst="roundRect">
            <a:avLst>
              <a:gd name="adj" fmla="val 142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427934" y="1942802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59213" y="1942802"/>
            <a:ext cx="674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"get up"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068717" y="1790402"/>
            <a:ext cx="3691533" cy="533400"/>
          </a:xfrm>
          <a:prstGeom prst="roundRect">
            <a:avLst>
              <a:gd name="adj" fmla="val 142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46418" y="1942802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78589" y="1942802"/>
            <a:ext cx="25360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"What time do you go to bed?"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1750" y="2450753"/>
            <a:ext cx="3691533" cy="533400"/>
          </a:xfrm>
          <a:prstGeom prst="roundRect">
            <a:avLst>
              <a:gd name="adj" fmla="val 142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9451" y="2603153"/>
            <a:ext cx="1085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2814" y="2603153"/>
            <a:ext cx="1367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"play basketball"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250234" y="2450753"/>
            <a:ext cx="3691533" cy="533400"/>
          </a:xfrm>
          <a:prstGeom prst="roundRect">
            <a:avLst>
              <a:gd name="adj" fmla="val 142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427934" y="2603153"/>
            <a:ext cx="1070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59809" y="2603153"/>
            <a:ext cx="14769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"classes are over"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68717" y="2450753"/>
            <a:ext cx="3691533" cy="533400"/>
          </a:xfrm>
          <a:prstGeom prst="roundRect">
            <a:avLst>
              <a:gd name="adj" fmla="val 142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46418" y="2603153"/>
            <a:ext cx="1088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80078" y="2603153"/>
            <a:ext cx="2031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do homework at 8pm."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31750" y="3238054"/>
            <a:ext cx="2809577" cy="381000"/>
          </a:xfrm>
          <a:prstGeom prst="roundRect">
            <a:avLst>
              <a:gd name="adj" fmla="val 4666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4901" y="3314254"/>
            <a:ext cx="2451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→ hold up after each item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19029" y="3238054"/>
            <a:ext cx="3611166" cy="381000"/>
          </a:xfrm>
          <a:prstGeom prst="roundRect">
            <a:avLst>
              <a:gd name="adj" fmla="val 4666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622179" y="3314254"/>
            <a:ext cx="32689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 to say it aloud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62184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LEARNING INTENTION &amp; SUCCESS CRITERIA · 8–10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84175"/>
            <a:ext cx="11555069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1750" y="1441400"/>
            <a:ext cx="11328499" cy="1031825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5563" y="1441400"/>
            <a:ext cx="0" cy="103182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7975" y="1593800"/>
            <a:ext cx="110401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07975" y="1825526"/>
            <a:ext cx="11040148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combine everything from this unit — </a:t>
            </a: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time, time-of-day, routine, and activities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into one cumulative dialogue, and prepare for Test 4.2.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1750" y="2701826"/>
            <a:ext cx="11328499" cy="612577"/>
          </a:xfrm>
          <a:prstGeom prst="roundRect">
            <a:avLst>
              <a:gd name="adj" fmla="val 1243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451" y="2803327"/>
            <a:ext cx="23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90451" y="2803327"/>
            <a:ext cx="52512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full dialogue covering </a:t>
            </a: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time, routine, and activities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90451" y="3031927"/>
            <a:ext cx="525122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写一段综合对话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1750" y="3441353"/>
            <a:ext cx="11328499" cy="612577"/>
          </a:xfrm>
          <a:prstGeom prst="roundRect">
            <a:avLst>
              <a:gd name="adj" fmla="val 1243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9451" y="3542854"/>
            <a:ext cx="23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90451" y="3542854"/>
            <a:ext cx="5686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3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daily-routine sentences between English and Chinese.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90451" y="3771454"/>
            <a:ext cx="56869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中英日常起居句子互译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750" y="4180880"/>
            <a:ext cx="11328499" cy="612577"/>
          </a:xfrm>
          <a:prstGeom prst="roundRect">
            <a:avLst>
              <a:gd name="adj" fmla="val 1243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09451" y="4282380"/>
            <a:ext cx="23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90451" y="4282380"/>
            <a:ext cx="49661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recall </a:t>
            </a: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vocabulary within a category</a:t>
            </a: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without hesitation.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0451" y="4510980"/>
            <a:ext cx="49661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快速说出同类词语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885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I DO · CUMULATIVE DIALOGUE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EX11, P.85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63476"/>
            <a:ext cx="1155506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综合对话示范 · Cumulative Dialogue Model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1750" y="10921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full dialogue combining greetings, routine, activities, and bedtime — nearly every pattern from the unit.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31750" y="1415951"/>
            <a:ext cx="2973437" cy="228600"/>
          </a:xfrm>
          <a:prstGeom prst="roundRect">
            <a:avLst>
              <a:gd name="adj" fmla="val 55555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8701" y="1454051"/>
            <a:ext cx="2773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1 · GREETING &amp; MORNING · 问候与起床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31750" y="1720751"/>
            <a:ext cx="5562600" cy="1517452"/>
          </a:xfrm>
          <a:prstGeom prst="roundRect">
            <a:avLst>
              <a:gd name="adj" fmla="val 5022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31750" y="1720751"/>
            <a:ext cx="5562600" cy="1517452"/>
          </a:xfrm>
          <a:prstGeom prst="rect">
            <a:avLst/>
          </a:prstGeom>
          <a:noFill/>
          <a:ln/>
        </p:spPr>
        <p:txBody>
          <a:bodyPr wrap="square" lIns="152400" tIns="101600" rIns="152400" bIns="10160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早上好！你叫什么名字？</a:t>
            </a:r>
            <a:endParaRPr lang="en-US" sz="10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Zǎoshang hǎo! Nǐ jiào shénme míngzi? · Good morning! What's your name?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我叫王小明。</a:t>
            </a:r>
            <a:endParaRPr lang="en-US" sz="10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jiào Wáng Xiǎomíng. · My name is Wang Xiaoming.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你早上几点起床？</a:t>
            </a:r>
            <a:endParaRPr lang="en-US" sz="10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zǎoshang jǐ diǎn qǐchuáng? · What time do you get up?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我早上六点半起床，六点三刻吃早饭。</a:t>
            </a:r>
            <a:endParaRPr lang="en-US" sz="10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... liù diǎn bàn qǐchuáng, liù diǎn sān kè chī zǎofàn. · I get up at 6:30, breakfast at 6:45.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197501" y="1415951"/>
            <a:ext cx="3870573" cy="228600"/>
          </a:xfrm>
          <a:prstGeom prst="roundRect">
            <a:avLst>
              <a:gd name="adj" fmla="val 55555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24451" y="1454051"/>
            <a:ext cx="36890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2 · SCHOOL, AFTERNOON &amp; NIGHT · 上学、放学与睡觉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197501" y="1720751"/>
            <a:ext cx="5562749" cy="2050852"/>
          </a:xfrm>
          <a:prstGeom prst="roundRect">
            <a:avLst>
              <a:gd name="adj" fmla="val 3716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197501" y="1720751"/>
            <a:ext cx="5562749" cy="2050852"/>
          </a:xfrm>
          <a:prstGeom prst="rect">
            <a:avLst/>
          </a:prstGeom>
          <a:noFill/>
          <a:ln/>
        </p:spPr>
        <p:txBody>
          <a:bodyPr wrap="square" lIns="152400" tIns="101600" rIns="152400" bIns="10160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你几点去上学？</a:t>
            </a:r>
            <a:endParaRPr lang="en-US" sz="10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jǐ diǎn qù shàngxué? · What time do you go to school?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我七点一刻去上学，坐校车。</a:t>
            </a:r>
            <a:endParaRPr lang="en-US" sz="10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... qī diǎn yī kè qù shàngxué, zuò xiàochē. · I go at 7:15, by school bus.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你们下午几点放学？</a:t>
            </a:r>
            <a:endParaRPr lang="en-US" sz="10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Nǐmen xiàwǔ jǐ diǎn fàngxué? · What time do classes finish?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我们下午三点半放学。放学以后，我打篮球。</a:t>
            </a:r>
            <a:endParaRPr lang="en-US" sz="10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... sān diǎn bàn fàngxué. Fàngxué yǐhòu, wǒ dǎ lánqiú. · Finish at 3:30. After, I play basketball.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你晚上几点睡觉？</a:t>
            </a:r>
            <a:endParaRPr lang="en-US" sz="10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wǎnshang jǐ diǎn shuìjiào? · What time do you go to bed?</a:t>
            </a: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我晚上九点半睡觉。</a:t>
            </a:r>
            <a:endParaRPr lang="en-US" sz="10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wǎnshang jiǔ diǎn bàn shuìjiào. · I go to bed at 9:30pm.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1750" y="3949303"/>
            <a:ext cx="11328499" cy="552152"/>
          </a:xfrm>
          <a:prstGeom prst="roundRect">
            <a:avLst>
              <a:gd name="adj" fmla="val 1380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25679" y="4050804"/>
            <a:ext cx="111406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问候 Greeting → 起居 Routine → 活动 Activity → 睡觉 Bedtime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679" y="4257080"/>
            <a:ext cx="111406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one dialogue strings together almost every pattern from the unit.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3788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I DO · TEST 4.2 VOCABULARY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63554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TEST 4.2 FOCUS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714226"/>
            <a:ext cx="635545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测试重点词汇 · Translation Focus Vocab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206252"/>
            <a:ext cx="6230838" cy="3225701"/>
          </a:xfrm>
          <a:prstGeom prst="roundRect">
            <a:avLst>
              <a:gd name="adj" fmla="val 236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31750" y="1206252"/>
            <a:ext cx="6230838" cy="3225701"/>
          </a:xfrm>
          <a:prstGeom prst="rect">
            <a:avLst/>
          </a:prstGeom>
          <a:noFill/>
          <a:ln/>
        </p:spPr>
        <p:txBody>
          <a:bodyPr wrap="square" lIns="203200" tIns="127000" rIns="203200" bIns="1270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early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[时间词]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late; evening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[时间词]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zǎoshàng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early morning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[时间词]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wǎnshàng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evening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[时间词]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shàngwǔ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morning (before noon)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[时间词]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中午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zhōngwǔ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midday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[时间词]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下午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xiàwǔ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afternoon </a:t>
            </a: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[时间词]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看书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kànshū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read books </a:t>
            </a: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[动作词]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shuìjiào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sleep </a:t>
            </a: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[动作词]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swim </a:t>
            </a: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[动作词]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打篮球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dǎ lánqiú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play basketball </a:t>
            </a: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[动作词]</a:t>
            </a:r>
            <a:endParaRPr lang="en-US" sz="12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做作业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r>
              <a:rPr lang="en-US" sz="12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zuò zuòyè</a:t>
            </a: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do homework </a:t>
            </a: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[动作词]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67389" y="431750"/>
            <a:ext cx="4792861" cy="1146125"/>
          </a:xfrm>
          <a:prstGeom prst="roundRect">
            <a:avLst>
              <a:gd name="adj" fmla="val 664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70539" y="584150"/>
            <a:ext cx="447429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TEST 4.2 FOCUS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170539" y="796826"/>
            <a:ext cx="4474291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12 words are the core vocabulary tested in the Test 4.2 English→Chinese translation questions. Model pronunciation twice per word — class repeats twice (choral).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67389" y="1755577"/>
            <a:ext cx="4792861" cy="927050"/>
          </a:xfrm>
          <a:prstGeom prst="roundRect">
            <a:avLst>
              <a:gd name="adj" fmla="val 8220"/>
            </a:avLst>
          </a:prstGeom>
          <a:solidFill>
            <a:srgbClr val="FBEDEB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9589" y="1927027"/>
            <a:ext cx="443542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早上 (5:00–8:00) ≠ 上午 (before noon)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89589" y="2187327"/>
            <a:ext cx="443542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mean "morning" in English but cover different ranges — this exact distinction comes back in today's exit ticket.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7539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I DO · WORKED TRANSLATION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THINK-ALOUD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758726"/>
            <a:ext cx="115550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示范翻译 · Worked Translation Example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31750" y="1352401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how the teacher thinks through word order before writing the Chinese.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1750" y="1679377"/>
            <a:ext cx="2559397" cy="650677"/>
          </a:xfrm>
          <a:prstGeom prst="roundRect">
            <a:avLst>
              <a:gd name="adj" fmla="val 11711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0350" y="1780877"/>
            <a:ext cx="214424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60350" y="1942802"/>
            <a:ext cx="21442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sleep at 9:30 pm."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1750" y="2457004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39800" y="2496592"/>
            <a:ext cx="643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3501" y="2457004"/>
            <a:ext cx="6632499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"Time first or last? In English, the time comes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verb — 'I sleep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9:30pm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.'"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1750" y="283785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7149" y="2877443"/>
            <a:ext cx="901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3501" y="2837855"/>
            <a:ext cx="7008519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"In Chinese, time comes </a:t>
            </a:r>
            <a:r>
              <a:rPr lang="en-US" sz="12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before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verb — time-of-day, then clock time, then the verb."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1750" y="3218706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26852" y="3258294"/>
            <a:ext cx="909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3501" y="3218706"/>
            <a:ext cx="4523324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"So: 我 (I) +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(evening) +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九点半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(9:30) + </a:t>
            </a: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(sleep)."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31750" y="3625007"/>
            <a:ext cx="2819251" cy="507802"/>
          </a:xfrm>
          <a:prstGeom prst="roundRect">
            <a:avLst>
              <a:gd name="adj" fmla="val 15006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9400" y="3745557"/>
            <a:ext cx="23704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晚上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九点半 </a:t>
            </a: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睡觉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1750" y="4259759"/>
            <a:ext cx="2717453" cy="796826"/>
          </a:xfrm>
          <a:prstGeom prst="roundRect">
            <a:avLst>
              <a:gd name="adj" fmla="val 12751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701" y="4405759"/>
            <a:ext cx="22149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ANSWER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04701" y="4567684"/>
            <a:ext cx="22149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我晚上九点半睡觉。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1766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I DO · CHECK FOR UNDERSTANDING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809476"/>
            <a:ext cx="1155506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31750" y="1520577"/>
            <a:ext cx="1132849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1079" y="1698278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46002" y="1807815"/>
            <a:ext cx="87327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</a:t>
            </a: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read books in the evening."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110639" y="1785640"/>
            <a:ext cx="1395710" cy="292001"/>
          </a:xfrm>
          <a:prstGeom prst="roundRect">
            <a:avLst>
              <a:gd name="adj" fmla="val 52192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263039" y="1836390"/>
            <a:ext cx="11127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&amp; hold up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31750" y="2520404"/>
            <a:ext cx="1132849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1079" y="2698105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346002" y="2807643"/>
            <a:ext cx="913833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</a:t>
            </a: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我打篮球下午</a:t>
            </a: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08307" y="2785467"/>
            <a:ext cx="998041" cy="292001"/>
          </a:xfrm>
          <a:prstGeom prst="roundRect">
            <a:avLst>
              <a:gd name="adj" fmla="val 52192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0660707" y="2836218"/>
            <a:ext cx="7071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1750" y="3520232"/>
            <a:ext cx="1132849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81079" y="3697932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346002" y="3807470"/>
            <a:ext cx="87327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</a:t>
            </a: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do homework every day."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110639" y="3785295"/>
            <a:ext cx="1395710" cy="292001"/>
          </a:xfrm>
          <a:prstGeom prst="roundRect">
            <a:avLst>
              <a:gd name="adj" fmla="val 52192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263039" y="3836045"/>
            <a:ext cx="11127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&amp; hold up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1750" y="4520059"/>
            <a:ext cx="2894112" cy="371475"/>
          </a:xfrm>
          <a:prstGeom prst="roundRect">
            <a:avLst>
              <a:gd name="adj" fmla="val 20513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3951" y="4615309"/>
            <a:ext cx="249870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2598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I DO · CFU · ANSWERS · 10–20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31750"/>
            <a:ext cx="115550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31750" y="809476"/>
            <a:ext cx="1155506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31750" y="1520577"/>
            <a:ext cx="1132849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1079" y="1698278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46002" y="1817340"/>
            <a:ext cx="5924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read books in the evening."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274490" y="1817340"/>
            <a:ext cx="4231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我晚上看书。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1750" y="2520404"/>
            <a:ext cx="1132849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81079" y="2698105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46002" y="2817168"/>
            <a:ext cx="5924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wrong with 我打篮球下午?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274490" y="2817168"/>
            <a:ext cx="4231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❌ Time must come before the verb — 我下午打篮球。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1750" y="3520232"/>
            <a:ext cx="1132849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1079" y="3697932"/>
            <a:ext cx="46634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46002" y="3816995"/>
            <a:ext cx="59244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do homework every day."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274490" y="3816995"/>
            <a:ext cx="4231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我每天做作业。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3147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WE DO · GUIDED DIALOGUE BUILDING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 · EX11 WORKSHEET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63476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对话搭建 · Guided Dialogue Building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302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your own dialogue using the sentence frames — fill in your </a:t>
            </a: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real</a:t>
            </a: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times and one activity of your choice. Check each line with a partner before continuing.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1750" y="1463576"/>
            <a:ext cx="11328499" cy="1517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你早上几点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？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我早上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起床，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吃早饭。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你们下午几点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？放学以后你做什么？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我们下午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放学。放学以后，我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A: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你晚上几点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？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B: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我晚上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750" y="3206055"/>
            <a:ext cx="8490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90948" y="3158430"/>
            <a:ext cx="56391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43348" y="3196530"/>
            <a:ext cx="2642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56358" y="3158430"/>
            <a:ext cx="69339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208758" y="3196530"/>
            <a:ext cx="3963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吃早饭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51249" y="3158430"/>
            <a:ext cx="56391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003649" y="3196530"/>
            <a:ext cx="2642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16660" y="3158430"/>
            <a:ext cx="56391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669060" y="3196530"/>
            <a:ext cx="2642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82070" y="3158430"/>
            <a:ext cx="69339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334470" y="3196530"/>
            <a:ext cx="3963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做作业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76961" y="3158430"/>
            <a:ext cx="56391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129361" y="3196530"/>
            <a:ext cx="2642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42372" y="3158430"/>
            <a:ext cx="69339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94772" y="3196530"/>
            <a:ext cx="3963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打篮球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37263" y="3158430"/>
            <a:ext cx="56391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589663" y="3196530"/>
            <a:ext cx="2642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游泳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02673" y="3158430"/>
            <a:ext cx="56391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255073" y="3196530"/>
            <a:ext cx="2642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看书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68084" y="3158430"/>
            <a:ext cx="693390" cy="257175"/>
          </a:xfrm>
          <a:prstGeom prst="roundRect">
            <a:avLst>
              <a:gd name="adj" fmla="val 59259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920484" y="3196530"/>
            <a:ext cx="3963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踢足球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1750" y="3618756"/>
            <a:ext cx="11328499" cy="880765"/>
          </a:xfrm>
          <a:prstGeom prst="roundRect">
            <a:avLst>
              <a:gd name="adj" fmla="val 11535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79400" y="3790206"/>
            <a:ext cx="35624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79400" y="3990231"/>
            <a:ext cx="3562401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sentence frames provided for each line; word bank of routine verbs and sports/activities visible throughout.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349651" y="3790206"/>
            <a:ext cx="35624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349651" y="3990231"/>
            <a:ext cx="3562401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add 2 extra lines of their own — e.g. asking about lunch, or a second activity.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019901" y="3790206"/>
            <a:ext cx="35625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19901" y="3990231"/>
            <a:ext cx="3562552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spcBef>
                <a:spcPts val="300"/>
              </a:spcBef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after each line before moving on to the next.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7780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YOU DO · TEST 4.2 TRANSLATION PRACTICE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10 MIN · YOU DO · TEST 4.2-STYLE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688777"/>
            <a:ext cx="1155506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测试 4.2 翻译练习 · Translation Practice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31750" y="1180802"/>
            <a:ext cx="1155506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 each sentence into Chinese, independently. You'll self-mark against a projected answer key.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31750" y="1549003"/>
            <a:ext cx="2164110" cy="985838"/>
          </a:xfrm>
          <a:prstGeom prst="roundRect">
            <a:avLst>
              <a:gd name="adj" fmla="val 103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86780" y="170140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87317" y="1747391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3640" y="2056805"/>
            <a:ext cx="2000330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read books in the evening."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722811" y="1549003"/>
            <a:ext cx="2164110" cy="985838"/>
          </a:xfrm>
          <a:prstGeom prst="roundRect">
            <a:avLst>
              <a:gd name="adj" fmla="val 103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77841" y="170140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767752" y="1747391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04700" y="2056805"/>
            <a:ext cx="2000330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play basketball in the afternoon."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13871" y="1549003"/>
            <a:ext cx="2164110" cy="985838"/>
          </a:xfrm>
          <a:prstGeom prst="roundRect">
            <a:avLst>
              <a:gd name="adj" fmla="val 103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68901" y="170140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058509" y="1747391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95760" y="2056805"/>
            <a:ext cx="2000330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do homework every day."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04931" y="1549003"/>
            <a:ext cx="2164110" cy="985838"/>
          </a:xfrm>
          <a:prstGeom prst="roundRect">
            <a:avLst>
              <a:gd name="adj" fmla="val 103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259961" y="170140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349113" y="1747391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86821" y="2056805"/>
            <a:ext cx="2000330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sleep at 9:30 pm."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595991" y="1549003"/>
            <a:ext cx="2164259" cy="985838"/>
          </a:xfrm>
          <a:prstGeom prst="roundRect">
            <a:avLst>
              <a:gd name="adj" fmla="val 1030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551170" y="170140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640928" y="1747391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677879" y="2056805"/>
            <a:ext cx="2000482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swim in the morning."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750" y="2737842"/>
            <a:ext cx="11328499" cy="971996"/>
          </a:xfrm>
          <a:prstGeom prst="roundRect">
            <a:avLst>
              <a:gd name="adj" fmla="val 10453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79400" y="2883843"/>
            <a:ext cx="35624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9400" y="3083868"/>
            <a:ext cx="3562401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who need support get the Chinese word order laid out as slots (time-of-day / time / verb) to fill, instead of a blank line.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49651" y="2883843"/>
            <a:ext cx="35624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49651" y="3083868"/>
            <a:ext cx="356240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Fluent students write one additional sentence of their own in the same style and translate it.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19901" y="2883843"/>
            <a:ext cx="35625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019901" y="3083868"/>
            <a:ext cx="356255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spcBef>
                <a:spcPts val="300"/>
              </a:spcBef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5 students, one sentence each, before revealing the answer key.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31750" y="3887539"/>
            <a:ext cx="2772221" cy="352425"/>
          </a:xfrm>
          <a:prstGeom prst="roundRect">
            <a:avLst>
              <a:gd name="adj" fmla="val 21622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53951" y="3982789"/>
            <a:ext cx="23743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03542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YOU DO · TRANSLATION PRACTICE · ANSWERS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YOU DO · TEST 4.2-STYLE · ANSWER KEY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764977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翻译练习答案 · Translation Answers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371302"/>
            <a:ext cx="2164110" cy="1149548"/>
          </a:xfrm>
          <a:prstGeom prst="roundRect">
            <a:avLst>
              <a:gd name="adj" fmla="val 8838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386780" y="154275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87317" y="1588740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3071" y="1898154"/>
            <a:ext cx="1961468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read books in the evening."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33071" y="2101751"/>
            <a:ext cx="1961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我晚上看书。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22811" y="1371302"/>
            <a:ext cx="2164110" cy="1149548"/>
          </a:xfrm>
          <a:prstGeom prst="roundRect">
            <a:avLst>
              <a:gd name="adj" fmla="val 8838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77841" y="154275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767752" y="1588740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824131" y="1898154"/>
            <a:ext cx="1961468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play basketball in the afternoon."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824131" y="2101751"/>
            <a:ext cx="1961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我下午打篮球。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13871" y="1371302"/>
            <a:ext cx="2164110" cy="1149548"/>
          </a:xfrm>
          <a:prstGeom prst="roundRect">
            <a:avLst>
              <a:gd name="adj" fmla="val 8838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68901" y="154275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58509" y="1588740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115191" y="1898154"/>
            <a:ext cx="1961468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do homework every day."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15191" y="2101751"/>
            <a:ext cx="1961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我每天做作业。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304931" y="1371302"/>
            <a:ext cx="2164110" cy="1149548"/>
          </a:xfrm>
          <a:prstGeom prst="roundRect">
            <a:avLst>
              <a:gd name="adj" fmla="val 8838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259961" y="154275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349113" y="1588740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406252" y="1898154"/>
            <a:ext cx="1961468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sleep at 9:30 pm."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406252" y="2101751"/>
            <a:ext cx="1961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我晚上九点半睡觉。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595991" y="1371302"/>
            <a:ext cx="2164259" cy="1149548"/>
          </a:xfrm>
          <a:prstGeom prst="roundRect">
            <a:avLst>
              <a:gd name="adj" fmla="val 8838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551170" y="154275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640928" y="1588740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697310" y="1898154"/>
            <a:ext cx="1961620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swim in the morning."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697310" y="2101751"/>
            <a:ext cx="19616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我早上游泳。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31750" y="2698552"/>
            <a:ext cx="11328499" cy="917525"/>
          </a:xfrm>
          <a:prstGeom prst="roundRect">
            <a:avLst>
              <a:gd name="adj" fmla="val 110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60350" y="2850952"/>
            <a:ext cx="1108872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ORDER CHECK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0350" y="3063627"/>
            <a:ext cx="110887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answer follows the same pattern: </a:t>
            </a: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subject + time-of-day + clock time + verb</a:t>
            </a: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If your sentence put the verb before the time, that's the same mistake as CFU Q2 — fix it now.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44167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YOU DO · WRITE YOUR OWN DIALOGUE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441784" y="431750"/>
            <a:ext cx="33084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5 MIN · YOU DO · PAIRS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14473" y="809476"/>
            <a:ext cx="7162904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自创对话 · Write Your Own Cumulative Dialogue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914692" y="1453902"/>
            <a:ext cx="83626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pairs, write a short original dialogue — different from the model — using your own real information.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177183" y="1860203"/>
            <a:ext cx="1195834" cy="412552"/>
          </a:xfrm>
          <a:prstGeom prst="roundRect">
            <a:avLst>
              <a:gd name="adj" fmla="val 492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98396" y="1961704"/>
            <a:ext cx="75340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4–6 lines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5417" y="1860203"/>
            <a:ext cx="1213545" cy="412552"/>
          </a:xfrm>
          <a:prstGeom prst="roundRect">
            <a:avLst>
              <a:gd name="adj" fmla="val 492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46453" y="1961704"/>
            <a:ext cx="77147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greeting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91361" y="1860203"/>
            <a:ext cx="1832670" cy="412552"/>
          </a:xfrm>
          <a:prstGeom prst="roundRect">
            <a:avLst>
              <a:gd name="adj" fmla="val 492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106207" y="1961704"/>
            <a:ext cx="14029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routine question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76431" y="1860203"/>
            <a:ext cx="1138386" cy="412552"/>
          </a:xfrm>
          <a:prstGeom prst="roundRect">
            <a:avLst>
              <a:gd name="adj" fmla="val 4925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098219" y="1961704"/>
            <a:ext cx="6948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</a:t>
            </a:r>
            <a:r>
              <a:rPr lang="en-US" sz="12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33500" y="2450455"/>
            <a:ext cx="9525000" cy="1216968"/>
          </a:xfrm>
          <a:prstGeom prst="roundRect">
            <a:avLst>
              <a:gd name="adj" fmla="val 8349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682651" y="2672655"/>
            <a:ext cx="28628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82651" y="2885331"/>
            <a:ext cx="286288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00"/>
              </a:spcBef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Reuse the Ex11 worksheet's sentence frames as a backbone.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692551" y="2672655"/>
            <a:ext cx="28628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92551" y="2885331"/>
            <a:ext cx="2862885" cy="559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00"/>
              </a:spcBef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a question about lunch or dinner (午饭/晚饭) — not included in the model dialogue.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02451" y="2672655"/>
            <a:ext cx="28630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02451" y="2885331"/>
            <a:ext cx="2863036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spcBef>
                <a:spcPts val="400"/>
              </a:spcBef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pair reads their finished dialogue aloud to a neighbouring pair.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39719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GAME · WORD CATEGORY CHAIN · 20–43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692567" y="406301"/>
            <a:ext cx="28067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MIN · WHOLE CLASS · EX12, P.85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703711" y="688777"/>
            <a:ext cx="478442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同类词接龙 · Word Category Chain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751046" y="1218902"/>
            <a:ext cx="86899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 in a circle or rows. Teacher names a category — go student to student, each adds a new word within 5 seconds.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32945" y="1520428"/>
            <a:ext cx="743992" cy="307777"/>
          </a:xfrm>
          <a:prstGeom prst="roundRect">
            <a:avLst>
              <a:gd name="adj" fmla="val 49516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206759" y="1583829"/>
            <a:ext cx="3963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时间词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78437" y="1520428"/>
            <a:ext cx="873472" cy="307777"/>
          </a:xfrm>
          <a:prstGeom prst="roundRect">
            <a:avLst>
              <a:gd name="adj" fmla="val 49516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050957" y="1583829"/>
            <a:ext cx="5284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日常活动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53410" y="1520428"/>
            <a:ext cx="614511" cy="307777"/>
          </a:xfrm>
          <a:prstGeom prst="roundRect">
            <a:avLst>
              <a:gd name="adj" fmla="val 49516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028520" y="1583829"/>
            <a:ext cx="2642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运动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69422" y="1520428"/>
            <a:ext cx="873472" cy="307777"/>
          </a:xfrm>
          <a:prstGeom prst="roundRect">
            <a:avLst>
              <a:gd name="adj" fmla="val 49516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741942" y="1583829"/>
            <a:ext cx="5284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家庭成员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44395" y="1520428"/>
            <a:ext cx="614511" cy="307777"/>
          </a:xfrm>
          <a:prstGeom prst="roundRect">
            <a:avLst>
              <a:gd name="adj" fmla="val 49516"/>
            </a:avLst>
          </a:prstGeom>
          <a:solidFill>
            <a:srgbClr val="EBF3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719505" y="1583829"/>
            <a:ext cx="2642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颜色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8950" y="1929705"/>
            <a:ext cx="10413950" cy="2259806"/>
          </a:xfrm>
          <a:prstGeom prst="roundRect">
            <a:avLst>
              <a:gd name="adj" fmla="val 5620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89179" y="2126456"/>
            <a:ext cx="1001349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WHOLE CLASS · 3–4 ROUNDS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11587" y="2389882"/>
            <a:ext cx="11113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555922" y="2466082"/>
            <a:ext cx="82263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🧑 Student 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22864" y="2466082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78288" y="2389882"/>
            <a:ext cx="1134368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22393" y="2466082"/>
            <a:ext cx="84615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🧑 Student 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112633" y="2466082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68058" y="2389882"/>
            <a:ext cx="1134963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12156" y="2466082"/>
            <a:ext cx="8467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🧑 Student 3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602998" y="2466082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858423" y="2389882"/>
            <a:ext cx="921841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004652" y="2466082"/>
            <a:ext cx="62938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🧑 Next...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87351" y="2904232"/>
            <a:ext cx="4857750" cy="526852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365052" y="3005733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666577" y="3005733"/>
            <a:ext cx="428483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repeating words.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Each student must add a word not already used in this round.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46602" y="2904232"/>
            <a:ext cx="4857899" cy="526852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324302" y="3005733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⏰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5828" y="3005733"/>
            <a:ext cx="428499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seconds per person.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 student who repeats a word or freezes is out for that round.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187351" y="3532584"/>
            <a:ext cx="4857750" cy="460177"/>
          </a:xfrm>
          <a:prstGeom prst="roundRect">
            <a:avLst>
              <a:gd name="adj" fmla="val 1655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365052" y="3634085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🔄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666577" y="3634085"/>
            <a:ext cx="42171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category each round.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Play 3–4 rounds with different categories.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46602" y="3532584"/>
            <a:ext cx="4857899" cy="460177"/>
          </a:xfrm>
          <a:prstGeom prst="roundRect">
            <a:avLst>
              <a:gd name="adj" fmla="val 1655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24302" y="3634085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🎤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5828" y="3634085"/>
            <a:ext cx="38764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Verbal game only.</a:t>
            </a: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No setup needed — just listen and think fast!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302472" y="4291013"/>
            <a:ext cx="3586907" cy="412552"/>
          </a:xfrm>
          <a:prstGeom prst="roundRect">
            <a:avLst>
              <a:gd name="adj" fmla="val 24627"/>
            </a:avLst>
          </a:prstGeom>
          <a:solidFill>
            <a:srgbClr val="F6EB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4544547" y="4430613"/>
            <a:ext cx="12062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EXAMPLE · 时间词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774411" y="4392513"/>
            <a:ext cx="18794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早上 → 下午 → 晚上 → ...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1750" y="0"/>
            <a:ext cx="11328499" cy="126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1750" y="0"/>
            <a:ext cx="2539901" cy="25301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1750" y="101501"/>
            <a:ext cx="233141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复习 · PLENARY · 43–50 MIN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31750" y="406301"/>
            <a:ext cx="115550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1750" y="739676"/>
            <a:ext cx="1155506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回顾与反思 · Review &amp; Reflect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31750" y="1320701"/>
            <a:ext cx="115550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1750" y="16223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0202" y="1558826"/>
            <a:ext cx="49480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full dialogue covering time, routine, and activities.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31750" y="19271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60202" y="1863626"/>
            <a:ext cx="5434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translate daily-routine sentences between English and Chinese.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31750" y="223197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60202" y="2168426"/>
            <a:ext cx="46682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recall vocabulary within a category without hesitation.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1750" y="2549426"/>
            <a:ext cx="5543550" cy="1094929"/>
          </a:xfrm>
          <a:prstGeom prst="roundRect">
            <a:avLst>
              <a:gd name="adj" fmla="val 927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0350" y="2727127"/>
            <a:ext cx="51880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0350" y="3012877"/>
            <a:ext cx="5188077" cy="437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5"/>
              </a:lnSpc>
              <a:spcBef>
                <a:spcPts val="600"/>
              </a:spcBef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paper, write: </a:t>
            </a:r>
            <a:r>
              <a:rPr lang="en-US" sz="11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your strongest area</a:t>
            </a: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from this unit, and </a:t>
            </a:r>
            <a:r>
              <a:rPr lang="en-US" sz="11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thing you'll review</a:t>
            </a: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before Test 4.2.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78451" y="2549426"/>
            <a:ext cx="5581799" cy="1094929"/>
          </a:xfrm>
          <a:prstGeom prst="roundRect">
            <a:avLst>
              <a:gd name="adj" fmla="val 9279"/>
            </a:avLst>
          </a:prstGeom>
          <a:solidFill>
            <a:srgbClr val="F6EBD3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26101" y="2746177"/>
            <a:ext cx="51882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🎭 EXIT TICKET — #1 DIAGNOSTIC BEFORE TEST 4.2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26101" y="3000077"/>
            <a:ext cx="5188229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spcBef>
                <a:spcPts val="500"/>
              </a:spcBef>
              <a:buNone/>
            </a:pPr>
            <a:r>
              <a:rPr lang="en-US" sz="12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Translate: "I get up at 7am and go to school by school bus."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26101" y="3285679"/>
            <a:ext cx="51882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Collect on the way out — not reviewed today.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31750" y="3796754"/>
            <a:ext cx="16322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Confident and ready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36750" y="3796754"/>
            <a:ext cx="11371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756422" y="3796754"/>
            <a:ext cx="1590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more practice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1750" y="6562725"/>
            <a:ext cx="1460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5320" y="762000"/>
            <a:ext cx="1088136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55320" y="1593800"/>
            <a:ext cx="1088136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3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562051" y="2228701"/>
            <a:ext cx="9067749" cy="49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50"/>
              </a:lnSpc>
              <a:spcBef>
                <a:spcPts val="800"/>
              </a:spcBef>
              <a:buNone/>
            </a:pPr>
            <a:r>
              <a:rPr lang="en-US" sz="13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built one full cumulative dialogue and practised translating the whole unit's routine language — </a:t>
            </a: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comes before the verb in Chinese, always.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456384" y="2952304"/>
            <a:ext cx="5279231" cy="1285726"/>
          </a:xfrm>
          <a:prstGeom prst="roundRect">
            <a:avLst>
              <a:gd name="adj" fmla="val 7902"/>
            </a:avLst>
          </a:prstGeom>
          <a:solidFill>
            <a:srgbClr val="EBF3F4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759726" y="3174504"/>
            <a:ext cx="46725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759726" y="3387179"/>
            <a:ext cx="46725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Test 4.2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759726" y="3815804"/>
            <a:ext cx="46725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Vocabulary + English→Chinese translation practice — you're ready!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55320" y="4441180"/>
            <a:ext cx="108813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cumulative dialogue + Test 4.2 translation practice</a:t>
            </a: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across the whole unit.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5320" y="4650730"/>
            <a:ext cx="108813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the test: Lesson 12 — Transport 交通, building on how you get to school.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2026-07-21T08:50:49Z</dcterms:created>
  <dcterms:modified xsi:type="dcterms:W3CDTF">2026-07-21T08:50:49Z</dcterms:modified>
</cp:coreProperties>
</file>