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30751" y="1530846"/>
            <a:ext cx="1130300" cy="11303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94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2613" y="5238254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2685" y="5238254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13900" y="5041900"/>
            <a:ext cx="2197100" cy="2197100"/>
          </a:xfrm>
          <a:prstGeom prst="round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E5DF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530751" y="1530846"/>
            <a:ext cx="1157732" cy="114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复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3459262" y="2915146"/>
            <a:ext cx="5300809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spc="20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8 · Y7 UNIT 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459262" y="3601244"/>
            <a:ext cx="5300809" cy="8424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5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总复习</a:t>
            </a:r>
            <a:endParaRPr lang="en-US" sz="5900" dirty="0"/>
          </a:p>
        </p:txBody>
      </p:sp>
      <p:sp>
        <p:nvSpPr>
          <p:cNvPr id="9" name="Text 7"/>
          <p:cNvSpPr/>
          <p:nvPr/>
        </p:nvSpPr>
        <p:spPr>
          <a:xfrm>
            <a:off x="3459262" y="4476254"/>
            <a:ext cx="5300809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spc="64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Cumulative Review + Test 4.2 Prep · 综合对话与备考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46526" y="5174754"/>
            <a:ext cx="79111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840413" y="5174754"/>
            <a:ext cx="43730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580485" y="5174754"/>
            <a:ext cx="892223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Writing-Focused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3251200"/>
            <a:ext cx="3479800" cy="4953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7100" y="3378200"/>
            <a:ext cx="241300" cy="2413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56100" y="3251200"/>
            <a:ext cx="3479800" cy="4953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1200" y="3378200"/>
            <a:ext cx="241300" cy="2413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0200" y="3251200"/>
            <a:ext cx="3479800" cy="4953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5300" y="3378200"/>
            <a:ext cx="241300" cy="2413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3860800"/>
            <a:ext cx="3479800" cy="4953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27100" y="3987800"/>
            <a:ext cx="241300" cy="2413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56100" y="3860800"/>
            <a:ext cx="3479800" cy="4953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1200" y="3987800"/>
            <a:ext cx="241300" cy="2413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50200" y="3860800"/>
            <a:ext cx="3479800" cy="4953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5300" y="3987800"/>
            <a:ext cx="241300" cy="2413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2000" y="4521200"/>
            <a:ext cx="2030710" cy="2730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9710" y="4521200"/>
            <a:ext cx="2613025" cy="2730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253927" y="187325"/>
            <a:ext cx="1829046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Lessons 1–7 Recap · 0–8 min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762000" y="224155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— 8 MIN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2000" y="2470150"/>
            <a:ext cx="10695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全单元快速回顾 · Rapid Recap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762000" y="2927350"/>
            <a:ext cx="10695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Chinese for each prompt on paper. Hold it up after each one.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27100" y="3378200"/>
            <a:ext cx="26873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282700" y="3405485"/>
            <a:ext cx="1607391" cy="2049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"morning (before noon)"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521200" y="3378200"/>
            <a:ext cx="26873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876800" y="3405485"/>
            <a:ext cx="563312" cy="2049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"get up"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115300" y="3378200"/>
            <a:ext cx="26873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470900" y="3405485"/>
            <a:ext cx="1966266" cy="2049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"What time do you go to bed?"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27100" y="3987800"/>
            <a:ext cx="26873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282700" y="4015085"/>
            <a:ext cx="1127570" cy="2049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"play basketball"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21200" y="3987800"/>
            <a:ext cx="26873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876800" y="4015085"/>
            <a:ext cx="1165273" cy="2049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"classes are over"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115300" y="3987800"/>
            <a:ext cx="26873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470900" y="4015085"/>
            <a:ext cx="1633585" cy="2049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do homework at 8pm."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62000" y="4521200"/>
            <a:ext cx="2058142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→ hold up after each item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2919710" y="4521200"/>
            <a:ext cx="2640457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Cold call 2 students per item to say it aloud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613025"/>
            <a:ext cx="9328150" cy="908050"/>
          </a:xfrm>
          <a:prstGeom prst="rect">
            <a:avLst/>
          </a:prstGeom>
          <a:solidFill>
            <a:srgbClr val="C8943E">
              <a:alpha val="12000"/>
            </a:srgbClr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749675"/>
            <a:ext cx="228600" cy="2286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4314825"/>
            <a:ext cx="228600" cy="2286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4879975"/>
            <a:ext cx="228600" cy="2286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253927" y="187325"/>
            <a:ext cx="224407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889000" y="1679575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89000" y="1908175"/>
            <a:ext cx="10441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123950" y="2765425"/>
            <a:ext cx="8917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23950" y="2924175"/>
            <a:ext cx="8917432" cy="462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combine everything from this unit — time, time-of-day, routine, and activities — into one cumulative dialogue, and prepare for Test 4.2.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89000" y="3749675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219200" y="3756025"/>
            <a:ext cx="4396827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a full dialogue covering time, routine, and activities.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93800" y="4067175"/>
            <a:ext cx="86126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写一段综合对话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89000" y="4314825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219200" y="4321175"/>
            <a:ext cx="4708573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translate daily-routine sentences between English and Chinese.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93800" y="4632325"/>
            <a:ext cx="86126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中英日常起居句子互译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89000" y="4879975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219200" y="4886325"/>
            <a:ext cx="4178645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recall vocabulary within a category without hesitation.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93800" y="5197475"/>
            <a:ext cx="86126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快速说出同类词语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2206625"/>
            <a:ext cx="2094111" cy="1587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2441575"/>
            <a:ext cx="177800" cy="1778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6300" y="2428875"/>
            <a:ext cx="2948781" cy="412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2911475"/>
            <a:ext cx="177800" cy="1778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6300" y="2898775"/>
            <a:ext cx="2195016" cy="412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000" y="3381375"/>
            <a:ext cx="177800" cy="1778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6300" y="3368675"/>
            <a:ext cx="2307828" cy="412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000" y="3851275"/>
            <a:ext cx="177800" cy="1778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3838575"/>
            <a:ext cx="3306366" cy="412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97600" y="2206625"/>
            <a:ext cx="2701528" cy="1587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7600" y="2441575"/>
            <a:ext cx="177800" cy="1778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38900" y="2428875"/>
            <a:ext cx="2282825" cy="412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97600" y="2911475"/>
            <a:ext cx="177800" cy="1778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38900" y="2898775"/>
            <a:ext cx="2735362" cy="412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97600" y="3381375"/>
            <a:ext cx="177800" cy="1778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38900" y="3368675"/>
            <a:ext cx="2383929" cy="412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97600" y="3851275"/>
            <a:ext cx="177800" cy="1778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38900" y="3838575"/>
            <a:ext cx="3565029" cy="412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97600" y="4321175"/>
            <a:ext cx="177800" cy="1778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38900" y="4308475"/>
            <a:ext cx="2394942" cy="412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97600" y="4791075"/>
            <a:ext cx="177800" cy="1778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38900" y="4778375"/>
            <a:ext cx="2371229" cy="412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5000" y="5292725"/>
            <a:ext cx="10922000" cy="393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450207" y="5368925"/>
            <a:ext cx="911423" cy="2413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02930" y="5368925"/>
            <a:ext cx="873919" cy="2413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18149" y="5368925"/>
            <a:ext cx="861417" cy="2413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820866" y="5368925"/>
            <a:ext cx="904577" cy="2413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253927" y="187325"/>
            <a:ext cx="189056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Cumulative Dialogue · 10–20 min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35000" y="1349375"/>
            <a:ext cx="10949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10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EX11, P.85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635000" y="1533525"/>
            <a:ext cx="10949432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综合对话示范 · Cumulative Dialogue Model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635000" y="1933575"/>
            <a:ext cx="10949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full dialogue combining greetings, routine, activities, and bedtime — nearly every pattern from the unit.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35000" y="2206625"/>
            <a:ext cx="2121543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4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1 · GREETING &amp; MORNING · 问候与起床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635000" y="2441575"/>
            <a:ext cx="205232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1003300" y="2492375"/>
            <a:ext cx="2722213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早上好！你叫什么名字？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003300" y="2670175"/>
            <a:ext cx="2722213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Zǎoshang hǎo! Nǐ jiào shénme míngzi? · Good morning! What's your name?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35000" y="2911475"/>
            <a:ext cx="205232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1003300" y="2962275"/>
            <a:ext cx="1968448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我叫王小明。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003300" y="3140075"/>
            <a:ext cx="196844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Wǒ jiào Wáng Xiǎomíng. · My name is Wang Xiaoming.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635000" y="3381375"/>
            <a:ext cx="205232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1003300" y="3432175"/>
            <a:ext cx="2081260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你早上几点起床？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1003300" y="3609975"/>
            <a:ext cx="2081260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Nǐ zǎoshang jǐ diǎn qǐchuáng? · What time do you get up?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35000" y="3851275"/>
            <a:ext cx="205232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1003300" y="3902075"/>
            <a:ext cx="3079798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我早上六点半起床，六点三刻吃早饭。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003300" y="4079875"/>
            <a:ext cx="30797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... liù diǎn bàn qǐchuáng, liù diǎn sān kè chī zǎofàn. · I get up at 6:30, breakfast at 6:45.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6197600" y="2206625"/>
            <a:ext cx="2728960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4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2 · SCHOOL, AFTERNOON &amp; NIGHT · 上学、放学与睡觉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197600" y="2441575"/>
            <a:ext cx="205232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6565900" y="2492375"/>
            <a:ext cx="2056257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你几点去上学？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565900" y="2670175"/>
            <a:ext cx="2056257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Nǐ jǐ diǎn qù shàngxué? · What time do you go to school?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6197600" y="2911475"/>
            <a:ext cx="205232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6565900" y="2962275"/>
            <a:ext cx="2508794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我七点一刻去上学，坐校车。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6565900" y="3140075"/>
            <a:ext cx="2508794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... qī diǎn yī kè qù shàngxué, zuò xiàochē. · I go at 7:15, by school bus.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197600" y="3381375"/>
            <a:ext cx="205232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6565900" y="3432175"/>
            <a:ext cx="2157361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你们下午几点放学？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6565900" y="3609975"/>
            <a:ext cx="2157361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Nǐmen xiàwǔ jǐ diǎn fàngxué? · What time do classes finish?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6197600" y="3851275"/>
            <a:ext cx="205232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6565900" y="3902075"/>
            <a:ext cx="3338461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我们下午三点半放学。放学以后，我打篮球。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565900" y="4079875"/>
            <a:ext cx="3338461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... sān diǎn bàn fàngxué. Fàngxué yǐhòu, wǒ dǎ lánqiú. · Finish at 3:30. After, I play basketball.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6197600" y="4321175"/>
            <a:ext cx="205232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6565900" y="4371975"/>
            <a:ext cx="2168374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你晚上几点睡觉？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6565900" y="4549775"/>
            <a:ext cx="2168374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Nǐ wǎnshang jǐ diǎn shuìjiào? · What time do you go to bed?</a:t>
            </a:r>
            <a:endParaRPr lang="en-US" sz="600" dirty="0"/>
          </a:p>
        </p:txBody>
      </p:sp>
      <p:sp>
        <p:nvSpPr>
          <p:cNvPr id="67" name="Text 65"/>
          <p:cNvSpPr/>
          <p:nvPr/>
        </p:nvSpPr>
        <p:spPr>
          <a:xfrm>
            <a:off x="6197600" y="4791075"/>
            <a:ext cx="205232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6565900" y="4841875"/>
            <a:ext cx="2144661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我晚上九点半睡觉。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6565900" y="5019675"/>
            <a:ext cx="2144661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Wǒ wǎnshang jiǔ diǎn bàn shuìjiào. · I go to bed at 9:30pm.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2450207" y="5368925"/>
            <a:ext cx="938855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问候 Greeting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3425130" y="5407025"/>
            <a:ext cx="1417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3602930" y="5368925"/>
            <a:ext cx="901351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起居 Routine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4540349" y="5407025"/>
            <a:ext cx="1417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4718149" y="5368925"/>
            <a:ext cx="888849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活动 Activity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643066" y="5407025"/>
            <a:ext cx="1417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5820866" y="5368925"/>
            <a:ext cx="932009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睡觉 Bedtime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6877844" y="5426075"/>
            <a:ext cx="2891282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This one dialogue strings together almost every pattern from the unit.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447800"/>
            <a:ext cx="1262261" cy="2222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24261" y="1447800"/>
            <a:ext cx="1336377" cy="2222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60638" y="1447800"/>
            <a:ext cx="2244030" cy="2222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04669" y="1447800"/>
            <a:ext cx="1014809" cy="2222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2000" y="1670050"/>
            <a:ext cx="1262261" cy="3397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24261" y="1670050"/>
            <a:ext cx="1336377" cy="3397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60638" y="1670050"/>
            <a:ext cx="2244030" cy="3397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04669" y="1670050"/>
            <a:ext cx="1014809" cy="3397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06269" y="1790700"/>
            <a:ext cx="342900" cy="1270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2000" y="2009775"/>
            <a:ext cx="1262261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24261" y="2009775"/>
            <a:ext cx="1336377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60638" y="2009775"/>
            <a:ext cx="2244030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04669" y="2009775"/>
            <a:ext cx="1014809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06269" y="2127250"/>
            <a:ext cx="342900" cy="1270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2000" y="2346325"/>
            <a:ext cx="1262261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24261" y="2346325"/>
            <a:ext cx="1336377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60638" y="2346325"/>
            <a:ext cx="224403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04669" y="2346325"/>
            <a:ext cx="1014809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06269" y="2463800"/>
            <a:ext cx="342900" cy="1270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2000" y="2682875"/>
            <a:ext cx="1262261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24261" y="2682875"/>
            <a:ext cx="1336377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60638" y="2682875"/>
            <a:ext cx="2244030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04669" y="2682875"/>
            <a:ext cx="1014809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06269" y="2800350"/>
            <a:ext cx="342900" cy="1270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2000" y="3019425"/>
            <a:ext cx="1262261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24261" y="3019425"/>
            <a:ext cx="1336377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60638" y="3019425"/>
            <a:ext cx="224403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04669" y="3019425"/>
            <a:ext cx="1014809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06269" y="3136900"/>
            <a:ext cx="342900" cy="1270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2000" y="3355975"/>
            <a:ext cx="1262261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24261" y="3355975"/>
            <a:ext cx="1336377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60638" y="3355975"/>
            <a:ext cx="2244030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04669" y="3355975"/>
            <a:ext cx="1014809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706269" y="3473450"/>
            <a:ext cx="342900" cy="1270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2000" y="3692525"/>
            <a:ext cx="1262261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4261" y="3692525"/>
            <a:ext cx="1336377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60638" y="3692525"/>
            <a:ext cx="224403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04669" y="3692525"/>
            <a:ext cx="1014809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706269" y="3810000"/>
            <a:ext cx="342900" cy="1270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2000" y="4029075"/>
            <a:ext cx="1262261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024261" y="4029075"/>
            <a:ext cx="1336377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60638" y="4029075"/>
            <a:ext cx="2244030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604669" y="4029075"/>
            <a:ext cx="1014809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706269" y="4146550"/>
            <a:ext cx="342900" cy="1270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2000" y="4365625"/>
            <a:ext cx="1262261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024261" y="4365625"/>
            <a:ext cx="1336377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60638" y="4365625"/>
            <a:ext cx="224403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604669" y="4365625"/>
            <a:ext cx="1014809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706269" y="4483100"/>
            <a:ext cx="342900" cy="1270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62000" y="4702175"/>
            <a:ext cx="1262261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024261" y="4702175"/>
            <a:ext cx="1336377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360638" y="4702175"/>
            <a:ext cx="2244030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604669" y="4702175"/>
            <a:ext cx="1014809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706269" y="4819650"/>
            <a:ext cx="342900" cy="1270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62000" y="5038725"/>
            <a:ext cx="1262261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024261" y="5038725"/>
            <a:ext cx="1336377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60638" y="5038725"/>
            <a:ext cx="224403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604669" y="5038725"/>
            <a:ext cx="1014809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06269" y="5156200"/>
            <a:ext cx="342900" cy="1270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62000" y="5375275"/>
            <a:ext cx="1262261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024261" y="5375275"/>
            <a:ext cx="1336377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360638" y="5375275"/>
            <a:ext cx="2244030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604669" y="5375275"/>
            <a:ext cx="1014809" cy="3365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706269" y="5492750"/>
            <a:ext cx="342900" cy="1270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924278" y="800100"/>
            <a:ext cx="4505722" cy="695325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924278" y="1609725"/>
            <a:ext cx="4505722" cy="6731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1253927" y="187325"/>
            <a:ext cx="182180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Test 4.2 Vocabulary · 10–20 min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762000" y="800100"/>
            <a:ext cx="5884910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10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TEST 4.2 FOCUS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762000" y="984250"/>
            <a:ext cx="5884910" cy="367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测试重点词汇 · Translation Focus Vocab</a:t>
            </a:r>
            <a:endParaRPr lang="en-US" sz="1900" dirty="0"/>
          </a:p>
        </p:txBody>
      </p:sp>
      <p:sp>
        <p:nvSpPr>
          <p:cNvPr id="76" name="Text 74"/>
          <p:cNvSpPr/>
          <p:nvPr/>
        </p:nvSpPr>
        <p:spPr>
          <a:xfrm>
            <a:off x="762000" y="1447800"/>
            <a:ext cx="1289693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2024261" y="1447800"/>
            <a:ext cx="1363809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3360638" y="1447800"/>
            <a:ext cx="227146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762000" y="1670050"/>
            <a:ext cx="1289693" cy="3580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</a:t>
            </a:r>
            <a:endParaRPr lang="en-US" sz="1250" dirty="0"/>
          </a:p>
        </p:txBody>
      </p:sp>
      <p:sp>
        <p:nvSpPr>
          <p:cNvPr id="80" name="Text 78"/>
          <p:cNvSpPr/>
          <p:nvPr/>
        </p:nvSpPr>
        <p:spPr>
          <a:xfrm>
            <a:off x="2024261" y="1670050"/>
            <a:ext cx="1363809" cy="3580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zǎo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3360638" y="1670050"/>
            <a:ext cx="2271462" cy="3580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early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5604669" y="1670050"/>
            <a:ext cx="1042241" cy="3580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762000" y="2009775"/>
            <a:ext cx="1289693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</a:t>
            </a:r>
            <a:endParaRPr lang="en-US" sz="1250" dirty="0"/>
          </a:p>
        </p:txBody>
      </p:sp>
      <p:sp>
        <p:nvSpPr>
          <p:cNvPr id="84" name="Text 82"/>
          <p:cNvSpPr/>
          <p:nvPr/>
        </p:nvSpPr>
        <p:spPr>
          <a:xfrm>
            <a:off x="2024261" y="2009775"/>
            <a:ext cx="1363809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wǎn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3360638" y="2009775"/>
            <a:ext cx="2271462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late; evening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5604669" y="2009775"/>
            <a:ext cx="1042241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762000" y="2346325"/>
            <a:ext cx="1289693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</a:t>
            </a:r>
            <a:endParaRPr lang="en-US" sz="1250" dirty="0"/>
          </a:p>
        </p:txBody>
      </p:sp>
      <p:sp>
        <p:nvSpPr>
          <p:cNvPr id="88" name="Text 86"/>
          <p:cNvSpPr/>
          <p:nvPr/>
        </p:nvSpPr>
        <p:spPr>
          <a:xfrm>
            <a:off x="2024261" y="2346325"/>
            <a:ext cx="1363809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zǎoshàng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3360638" y="2346325"/>
            <a:ext cx="2271462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early morning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5604669" y="2346325"/>
            <a:ext cx="1042241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762000" y="2682875"/>
            <a:ext cx="1289693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晚上</a:t>
            </a:r>
            <a:endParaRPr lang="en-US" sz="1250" dirty="0"/>
          </a:p>
        </p:txBody>
      </p:sp>
      <p:sp>
        <p:nvSpPr>
          <p:cNvPr id="92" name="Text 90"/>
          <p:cNvSpPr/>
          <p:nvPr/>
        </p:nvSpPr>
        <p:spPr>
          <a:xfrm>
            <a:off x="2024261" y="2682875"/>
            <a:ext cx="1363809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wǎnshàng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3360638" y="2682875"/>
            <a:ext cx="2271462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evening</a:t>
            </a:r>
            <a:endParaRPr lang="en-US" sz="750" dirty="0"/>
          </a:p>
        </p:txBody>
      </p:sp>
      <p:sp>
        <p:nvSpPr>
          <p:cNvPr id="94" name="Text 92"/>
          <p:cNvSpPr/>
          <p:nvPr/>
        </p:nvSpPr>
        <p:spPr>
          <a:xfrm>
            <a:off x="5604669" y="2682875"/>
            <a:ext cx="1042241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762000" y="3019425"/>
            <a:ext cx="1289693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上午</a:t>
            </a:r>
            <a:endParaRPr lang="en-US" sz="1250" dirty="0"/>
          </a:p>
        </p:txBody>
      </p:sp>
      <p:sp>
        <p:nvSpPr>
          <p:cNvPr id="96" name="Text 94"/>
          <p:cNvSpPr/>
          <p:nvPr/>
        </p:nvSpPr>
        <p:spPr>
          <a:xfrm>
            <a:off x="2024261" y="3019425"/>
            <a:ext cx="1363809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shàngwǔ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3360638" y="3019425"/>
            <a:ext cx="2271462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morning (before noon)</a:t>
            </a:r>
            <a:endParaRPr lang="en-US" sz="750" dirty="0"/>
          </a:p>
        </p:txBody>
      </p:sp>
      <p:sp>
        <p:nvSpPr>
          <p:cNvPr id="98" name="Text 96"/>
          <p:cNvSpPr/>
          <p:nvPr/>
        </p:nvSpPr>
        <p:spPr>
          <a:xfrm>
            <a:off x="5604669" y="3019425"/>
            <a:ext cx="1042241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762000" y="3355975"/>
            <a:ext cx="1289693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中午</a:t>
            </a:r>
            <a:endParaRPr lang="en-US" sz="1250" dirty="0"/>
          </a:p>
        </p:txBody>
      </p:sp>
      <p:sp>
        <p:nvSpPr>
          <p:cNvPr id="100" name="Text 98"/>
          <p:cNvSpPr/>
          <p:nvPr/>
        </p:nvSpPr>
        <p:spPr>
          <a:xfrm>
            <a:off x="2024261" y="3355975"/>
            <a:ext cx="1363809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zhōngwǔ</a:t>
            </a:r>
            <a:endParaRPr lang="en-US" sz="750" dirty="0"/>
          </a:p>
        </p:txBody>
      </p:sp>
      <p:sp>
        <p:nvSpPr>
          <p:cNvPr id="101" name="Text 99"/>
          <p:cNvSpPr/>
          <p:nvPr/>
        </p:nvSpPr>
        <p:spPr>
          <a:xfrm>
            <a:off x="3360638" y="3355975"/>
            <a:ext cx="2271462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midday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5604669" y="3355975"/>
            <a:ext cx="1042241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762000" y="3692525"/>
            <a:ext cx="1289693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</a:t>
            </a:r>
            <a:endParaRPr lang="en-US" sz="1250" dirty="0"/>
          </a:p>
        </p:txBody>
      </p:sp>
      <p:sp>
        <p:nvSpPr>
          <p:cNvPr id="104" name="Text 102"/>
          <p:cNvSpPr/>
          <p:nvPr/>
        </p:nvSpPr>
        <p:spPr>
          <a:xfrm>
            <a:off x="2024261" y="3692525"/>
            <a:ext cx="1363809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xiàwǔ</a:t>
            </a:r>
            <a:endParaRPr lang="en-US" sz="750" dirty="0"/>
          </a:p>
        </p:txBody>
      </p:sp>
      <p:sp>
        <p:nvSpPr>
          <p:cNvPr id="105" name="Text 103"/>
          <p:cNvSpPr/>
          <p:nvPr/>
        </p:nvSpPr>
        <p:spPr>
          <a:xfrm>
            <a:off x="3360638" y="3692525"/>
            <a:ext cx="2271462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afternoon</a:t>
            </a:r>
            <a:endParaRPr lang="en-US" sz="750" dirty="0"/>
          </a:p>
        </p:txBody>
      </p:sp>
      <p:sp>
        <p:nvSpPr>
          <p:cNvPr id="106" name="Text 104"/>
          <p:cNvSpPr/>
          <p:nvPr/>
        </p:nvSpPr>
        <p:spPr>
          <a:xfrm>
            <a:off x="5604669" y="3692525"/>
            <a:ext cx="1042241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</a:t>
            </a:r>
            <a:endParaRPr lang="en-US" sz="800" dirty="0"/>
          </a:p>
        </p:txBody>
      </p:sp>
      <p:sp>
        <p:nvSpPr>
          <p:cNvPr id="107" name="Text 105"/>
          <p:cNvSpPr/>
          <p:nvPr/>
        </p:nvSpPr>
        <p:spPr>
          <a:xfrm>
            <a:off x="762000" y="4029075"/>
            <a:ext cx="1289693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看书</a:t>
            </a:r>
            <a:endParaRPr lang="en-US" sz="1250" dirty="0"/>
          </a:p>
        </p:txBody>
      </p:sp>
      <p:sp>
        <p:nvSpPr>
          <p:cNvPr id="108" name="Text 106"/>
          <p:cNvSpPr/>
          <p:nvPr/>
        </p:nvSpPr>
        <p:spPr>
          <a:xfrm>
            <a:off x="2024261" y="4029075"/>
            <a:ext cx="1363809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kànshū</a:t>
            </a:r>
            <a:endParaRPr lang="en-US" sz="750" dirty="0"/>
          </a:p>
        </p:txBody>
      </p:sp>
      <p:sp>
        <p:nvSpPr>
          <p:cNvPr id="109" name="Text 107"/>
          <p:cNvSpPr/>
          <p:nvPr/>
        </p:nvSpPr>
        <p:spPr>
          <a:xfrm>
            <a:off x="3360638" y="4029075"/>
            <a:ext cx="2271462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books</a:t>
            </a:r>
            <a:endParaRPr lang="en-US" sz="750" dirty="0"/>
          </a:p>
        </p:txBody>
      </p:sp>
      <p:sp>
        <p:nvSpPr>
          <p:cNvPr id="110" name="Text 108"/>
          <p:cNvSpPr/>
          <p:nvPr/>
        </p:nvSpPr>
        <p:spPr>
          <a:xfrm>
            <a:off x="5604669" y="4029075"/>
            <a:ext cx="1042241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动作词</a:t>
            </a:r>
            <a:endParaRPr lang="en-US" sz="800" dirty="0"/>
          </a:p>
        </p:txBody>
      </p:sp>
      <p:sp>
        <p:nvSpPr>
          <p:cNvPr id="111" name="Text 109"/>
          <p:cNvSpPr/>
          <p:nvPr/>
        </p:nvSpPr>
        <p:spPr>
          <a:xfrm>
            <a:off x="762000" y="4365625"/>
            <a:ext cx="1289693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睡觉</a:t>
            </a:r>
            <a:endParaRPr lang="en-US" sz="1250" dirty="0"/>
          </a:p>
        </p:txBody>
      </p:sp>
      <p:sp>
        <p:nvSpPr>
          <p:cNvPr id="112" name="Text 110"/>
          <p:cNvSpPr/>
          <p:nvPr/>
        </p:nvSpPr>
        <p:spPr>
          <a:xfrm>
            <a:off x="2024261" y="4365625"/>
            <a:ext cx="1363809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shuìjiào</a:t>
            </a:r>
            <a:endParaRPr lang="en-US" sz="750" dirty="0"/>
          </a:p>
        </p:txBody>
      </p:sp>
      <p:sp>
        <p:nvSpPr>
          <p:cNvPr id="113" name="Text 111"/>
          <p:cNvSpPr/>
          <p:nvPr/>
        </p:nvSpPr>
        <p:spPr>
          <a:xfrm>
            <a:off x="3360638" y="4365625"/>
            <a:ext cx="2271462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sleep</a:t>
            </a:r>
            <a:endParaRPr lang="en-US" sz="750" dirty="0"/>
          </a:p>
        </p:txBody>
      </p:sp>
      <p:sp>
        <p:nvSpPr>
          <p:cNvPr id="114" name="Text 112"/>
          <p:cNvSpPr/>
          <p:nvPr/>
        </p:nvSpPr>
        <p:spPr>
          <a:xfrm>
            <a:off x="5604669" y="4365625"/>
            <a:ext cx="1042241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动作词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762000" y="4702175"/>
            <a:ext cx="1289693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endParaRPr lang="en-US" sz="1250" dirty="0"/>
          </a:p>
        </p:txBody>
      </p:sp>
      <p:sp>
        <p:nvSpPr>
          <p:cNvPr id="116" name="Text 114"/>
          <p:cNvSpPr/>
          <p:nvPr/>
        </p:nvSpPr>
        <p:spPr>
          <a:xfrm>
            <a:off x="2024261" y="4702175"/>
            <a:ext cx="1363809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yóuyǒng</a:t>
            </a:r>
            <a:endParaRPr lang="en-US" sz="750" dirty="0"/>
          </a:p>
        </p:txBody>
      </p:sp>
      <p:sp>
        <p:nvSpPr>
          <p:cNvPr id="117" name="Text 115"/>
          <p:cNvSpPr/>
          <p:nvPr/>
        </p:nvSpPr>
        <p:spPr>
          <a:xfrm>
            <a:off x="3360638" y="4702175"/>
            <a:ext cx="2271462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</a:t>
            </a:r>
            <a:endParaRPr lang="en-US" sz="750" dirty="0"/>
          </a:p>
        </p:txBody>
      </p:sp>
      <p:sp>
        <p:nvSpPr>
          <p:cNvPr id="118" name="Text 116"/>
          <p:cNvSpPr/>
          <p:nvPr/>
        </p:nvSpPr>
        <p:spPr>
          <a:xfrm>
            <a:off x="5604669" y="4702175"/>
            <a:ext cx="1042241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动作词</a:t>
            </a:r>
            <a:endParaRPr lang="en-US" sz="800" dirty="0"/>
          </a:p>
        </p:txBody>
      </p:sp>
      <p:sp>
        <p:nvSpPr>
          <p:cNvPr id="119" name="Text 117"/>
          <p:cNvSpPr/>
          <p:nvPr/>
        </p:nvSpPr>
        <p:spPr>
          <a:xfrm>
            <a:off x="762000" y="5038725"/>
            <a:ext cx="1289693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1250" dirty="0"/>
          </a:p>
        </p:txBody>
      </p:sp>
      <p:sp>
        <p:nvSpPr>
          <p:cNvPr id="120" name="Text 118"/>
          <p:cNvSpPr/>
          <p:nvPr/>
        </p:nvSpPr>
        <p:spPr>
          <a:xfrm>
            <a:off x="2024261" y="5038725"/>
            <a:ext cx="1363809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dǎ lánqiú</a:t>
            </a:r>
            <a:endParaRPr lang="en-US" sz="750" dirty="0"/>
          </a:p>
        </p:txBody>
      </p:sp>
      <p:sp>
        <p:nvSpPr>
          <p:cNvPr id="121" name="Text 119"/>
          <p:cNvSpPr/>
          <p:nvPr/>
        </p:nvSpPr>
        <p:spPr>
          <a:xfrm>
            <a:off x="3360638" y="5038725"/>
            <a:ext cx="2271462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basketball</a:t>
            </a:r>
            <a:endParaRPr lang="en-US" sz="750" dirty="0"/>
          </a:p>
        </p:txBody>
      </p:sp>
      <p:sp>
        <p:nvSpPr>
          <p:cNvPr id="122" name="Text 120"/>
          <p:cNvSpPr/>
          <p:nvPr/>
        </p:nvSpPr>
        <p:spPr>
          <a:xfrm>
            <a:off x="5604669" y="5038725"/>
            <a:ext cx="1042241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动作词</a:t>
            </a:r>
            <a:endParaRPr lang="en-US" sz="800" dirty="0"/>
          </a:p>
        </p:txBody>
      </p:sp>
      <p:sp>
        <p:nvSpPr>
          <p:cNvPr id="123" name="Text 121"/>
          <p:cNvSpPr/>
          <p:nvPr/>
        </p:nvSpPr>
        <p:spPr>
          <a:xfrm>
            <a:off x="762000" y="5375275"/>
            <a:ext cx="1289693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做作业</a:t>
            </a:r>
            <a:endParaRPr lang="en-US" sz="1250" dirty="0"/>
          </a:p>
        </p:txBody>
      </p:sp>
      <p:sp>
        <p:nvSpPr>
          <p:cNvPr id="124" name="Text 122"/>
          <p:cNvSpPr/>
          <p:nvPr/>
        </p:nvSpPr>
        <p:spPr>
          <a:xfrm>
            <a:off x="2024261" y="5375275"/>
            <a:ext cx="1363809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zuò zuòyè</a:t>
            </a:r>
            <a:endParaRPr lang="en-US" sz="750" dirty="0"/>
          </a:p>
        </p:txBody>
      </p:sp>
      <p:sp>
        <p:nvSpPr>
          <p:cNvPr id="125" name="Text 123"/>
          <p:cNvSpPr/>
          <p:nvPr/>
        </p:nvSpPr>
        <p:spPr>
          <a:xfrm>
            <a:off x="3360638" y="5375275"/>
            <a:ext cx="2271462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 homework</a:t>
            </a:r>
            <a:endParaRPr lang="en-US" sz="750" dirty="0"/>
          </a:p>
        </p:txBody>
      </p:sp>
      <p:sp>
        <p:nvSpPr>
          <p:cNvPr id="126" name="Text 124"/>
          <p:cNvSpPr/>
          <p:nvPr/>
        </p:nvSpPr>
        <p:spPr>
          <a:xfrm>
            <a:off x="5604669" y="5375275"/>
            <a:ext cx="1042241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动作词</a:t>
            </a:r>
            <a:endParaRPr lang="en-US" sz="800" dirty="0"/>
          </a:p>
        </p:txBody>
      </p:sp>
      <p:sp>
        <p:nvSpPr>
          <p:cNvPr id="127" name="Text 125"/>
          <p:cNvSpPr/>
          <p:nvPr/>
        </p:nvSpPr>
        <p:spPr>
          <a:xfrm>
            <a:off x="7063978" y="914400"/>
            <a:ext cx="4253754" cy="1421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650" b="1" spc="5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TEST 4.2 FOCUS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7076678" y="1736725"/>
            <a:ext cx="4228354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⚠️ 早上 (5:00–8:00) ≠ 上午 (before noon)</a:t>
            </a:r>
            <a:endParaRPr lang="en-US" sz="800" dirty="0"/>
          </a:p>
        </p:txBody>
      </p:sp>
      <p:sp>
        <p:nvSpPr>
          <p:cNvPr id="129" name="Text 127"/>
          <p:cNvSpPr/>
          <p:nvPr/>
        </p:nvSpPr>
        <p:spPr>
          <a:xfrm>
            <a:off x="7076678" y="1914525"/>
            <a:ext cx="4228354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 mean "morning" in English but cover different ranges — this exact distinction comes back in today's exit ticket.</a:t>
            </a:r>
            <a:endParaRPr lang="en-US" sz="650" dirty="0"/>
          </a:p>
        </p:txBody>
      </p:sp>
      <p:sp>
        <p:nvSpPr>
          <p:cNvPr id="130" name="Text 128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495550"/>
            <a:ext cx="10414000" cy="5778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251200"/>
            <a:ext cx="215900" cy="2159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568700"/>
            <a:ext cx="215900" cy="2159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3886200"/>
            <a:ext cx="215900" cy="2159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4267200"/>
            <a:ext cx="2670572" cy="4699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9000" y="4876800"/>
            <a:ext cx="10414000" cy="6858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253927" y="187325"/>
            <a:ext cx="182944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Worked Translation · 10–20 min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89000" y="147320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THINK-ALOUD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89000" y="1689100"/>
            <a:ext cx="10441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示范翻译 · Worked Translation Example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889000" y="2159000"/>
            <a:ext cx="10441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Watch how the teacher thinks through word order before writing the Chinese.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079500" y="2584450"/>
            <a:ext cx="10060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889000" y="325120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219200" y="3238500"/>
            <a:ext cx="5142853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"Time first or last? In English, the time comes after the verb — 'I sleep at 9:30pm.'"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89000" y="356870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219200" y="3556000"/>
            <a:ext cx="5451324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"In Chinese, time comes before the verb — time-of-day, then clock time, then the verb."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89000" y="388620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219200" y="3873500"/>
            <a:ext cx="3486892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"So: 我 (I) + 晚上 (evening) + 九点半 (9:30) + 睡觉 (sleep)."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341636" y="4391025"/>
            <a:ext cx="125460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6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963936" y="4391025"/>
            <a:ext cx="125460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6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797572" y="4391025"/>
            <a:ext cx="125460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6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04900" y="5003800"/>
            <a:ext cx="19705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ANSWER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04900" y="5124450"/>
            <a:ext cx="1970532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我晚上九点半睡觉。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520950"/>
            <a:ext cx="9525000" cy="7239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2602" y="2790825"/>
            <a:ext cx="978198" cy="1841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371850"/>
            <a:ext cx="9525000" cy="7239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29763" y="3641725"/>
            <a:ext cx="681038" cy="1841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4222750"/>
            <a:ext cx="9525000" cy="7239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32602" y="4492625"/>
            <a:ext cx="978198" cy="1841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9000" y="5099050"/>
            <a:ext cx="10414000" cy="3048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253927" y="187325"/>
            <a:ext cx="207223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 · 10–20 min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889000" y="163195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89000" y="1860550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1092200" y="2673350"/>
            <a:ext cx="408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1600200" y="2768600"/>
            <a:ext cx="753283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 "I read books in the evening."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232602" y="2790825"/>
            <a:ext cx="1005630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2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&amp; hold up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92200" y="3524250"/>
            <a:ext cx="408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1600200" y="3619500"/>
            <a:ext cx="78299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wrong with 我打篮球下午?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529763" y="3641725"/>
            <a:ext cx="708470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2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Cold call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92200" y="4375150"/>
            <a:ext cx="408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1600200" y="4470400"/>
            <a:ext cx="753283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 "I do homework every day."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232602" y="4492625"/>
            <a:ext cx="1005630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2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&amp; hold up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89000" y="5099050"/>
            <a:ext cx="1044143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749550"/>
            <a:ext cx="10160000" cy="7239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600450"/>
            <a:ext cx="10160000" cy="7239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4451350"/>
            <a:ext cx="10160000" cy="7239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253927" y="187325"/>
            <a:ext cx="1649659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· Answers · 10–20 min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89000" y="186055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89000" y="2089150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1092200" y="2901950"/>
            <a:ext cx="408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1600200" y="3000375"/>
            <a:ext cx="5346648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 "I read books in the evening."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046416" y="3000375"/>
            <a:ext cx="3826816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我晚上看书。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2200" y="3752850"/>
            <a:ext cx="408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600200" y="3851275"/>
            <a:ext cx="5346648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wrong with 我打篮球下午?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046416" y="3870325"/>
            <a:ext cx="3826816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Time must come before the verb — 我下午打篮球。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92200" y="4603750"/>
            <a:ext cx="408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1600200" y="4702175"/>
            <a:ext cx="5346648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 "I do homework every day."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46416" y="4702175"/>
            <a:ext cx="3826816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我每天做作业。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2193925"/>
            <a:ext cx="10668000" cy="3365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279650"/>
            <a:ext cx="165100" cy="1651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16100" y="2270125"/>
            <a:ext cx="304800" cy="1968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2000" y="2593975"/>
            <a:ext cx="10668000" cy="3365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679700"/>
            <a:ext cx="165100" cy="1651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62100" y="2670175"/>
            <a:ext cx="266898" cy="1968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09998" y="2670175"/>
            <a:ext cx="266898" cy="1968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2000" y="2994025"/>
            <a:ext cx="10668000" cy="3365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079750"/>
            <a:ext cx="165100" cy="1651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3070225"/>
            <a:ext cx="304800" cy="1968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2000" y="3394075"/>
            <a:ext cx="10668000" cy="3365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3479800"/>
            <a:ext cx="165100" cy="1651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89100" y="3470275"/>
            <a:ext cx="266898" cy="1968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98998" y="3470275"/>
            <a:ext cx="266898" cy="1968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2000" y="3794125"/>
            <a:ext cx="10668000" cy="3365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3879850"/>
            <a:ext cx="165100" cy="1651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16100" y="3870325"/>
            <a:ext cx="304800" cy="1968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2000" y="4194175"/>
            <a:ext cx="10668000" cy="3365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279900"/>
            <a:ext cx="165100" cy="1651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62100" y="4270375"/>
            <a:ext cx="266898" cy="1968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23095" y="4645025"/>
            <a:ext cx="406400" cy="2159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695" y="4645025"/>
            <a:ext cx="508000" cy="2159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489895" y="4645025"/>
            <a:ext cx="406400" cy="2159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2495" y="4645025"/>
            <a:ext cx="406400" cy="2159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55095" y="4645025"/>
            <a:ext cx="508000" cy="2159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39295" y="4645025"/>
            <a:ext cx="406400" cy="2159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21895" y="4645025"/>
            <a:ext cx="508000" cy="2159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06095" y="4645025"/>
            <a:ext cx="406400" cy="2159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588695" y="4645025"/>
            <a:ext cx="406400" cy="2159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71295" y="4645025"/>
            <a:ext cx="508000" cy="2159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2000" y="4987925"/>
            <a:ext cx="10668000" cy="7683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52500" y="4911725"/>
            <a:ext cx="941784" cy="1778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1253927" y="187325"/>
            <a:ext cx="2210046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Guided Dialogue Building · 20–43 min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762000" y="1279525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8 MIN · WE DO · EX11 WORKSHEET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62000" y="1482725"/>
            <a:ext cx="10695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对话搭建 · Guided Dialogue Building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762000" y="1901825"/>
            <a:ext cx="106954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Complete your own dialogue using the sentence frames — fill in your real times and one activity of your choice. Check each line with a partner before continuing.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914400" y="2279650"/>
            <a:ext cx="1925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1181100" y="2270125"/>
            <a:ext cx="10942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你早上几点起床？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14400" y="2679700"/>
            <a:ext cx="1925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1181100" y="2670175"/>
            <a:ext cx="1831229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我早上___起床，___吃早饭。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914400" y="3079750"/>
            <a:ext cx="1925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1181100" y="3070225"/>
            <a:ext cx="23642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你们下午几点放学？放学以后你做什么？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14400" y="3479800"/>
            <a:ext cx="1925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1181100" y="3470275"/>
            <a:ext cx="2339229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我们下午___放学。放学以后，我___。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14400" y="3879850"/>
            <a:ext cx="1925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1181100" y="3870325"/>
            <a:ext cx="10942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你晚上几点睡觉？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914400" y="4279900"/>
            <a:ext cx="1925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1181100" y="4270375"/>
            <a:ext cx="1056330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我晚上___睡觉。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62000" y="4692650"/>
            <a:ext cx="586927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1423095" y="4645025"/>
            <a:ext cx="4338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1905695" y="4645025"/>
            <a:ext cx="5354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吃早饭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2489895" y="4645025"/>
            <a:ext cx="4338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上学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2972495" y="4645025"/>
            <a:ext cx="4338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放学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3455095" y="4645025"/>
            <a:ext cx="5354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做作业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4039295" y="4645025"/>
            <a:ext cx="4338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睡觉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4521895" y="4645025"/>
            <a:ext cx="5354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打篮球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106095" y="4645025"/>
            <a:ext cx="4338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游泳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5588695" y="4645025"/>
            <a:ext cx="4338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看书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6071295" y="4645025"/>
            <a:ext cx="5354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踢足球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952500" y="4911725"/>
            <a:ext cx="969216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8 min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977900" y="5140325"/>
            <a:ext cx="33548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977900" y="5299075"/>
            <a:ext cx="335483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Full sentence frames provided for each line; word bank of routine verbs and sports/activities visible throughout.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4432300" y="5140325"/>
            <a:ext cx="33548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4432300" y="5299075"/>
            <a:ext cx="335483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Fluent students add 2 extra lines of their own — e.g. asking about lunch, or a second activity.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7886700" y="5140325"/>
            <a:ext cx="33548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50" dirty="0"/>
          </a:p>
        </p:txBody>
      </p:sp>
      <p:sp>
        <p:nvSpPr>
          <p:cNvPr id="72" name="Text 70"/>
          <p:cNvSpPr/>
          <p:nvPr/>
        </p:nvSpPr>
        <p:spPr>
          <a:xfrm>
            <a:off x="7886700" y="5299075"/>
            <a:ext cx="33548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Turn-and-talk after each line before moving on to the next.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2825750"/>
            <a:ext cx="2052241" cy="1028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80170" y="2978150"/>
            <a:ext cx="215900" cy="2159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15841" y="2825750"/>
            <a:ext cx="2052340" cy="1028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34011" y="2978150"/>
            <a:ext cx="215900" cy="2159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69780" y="2825750"/>
            <a:ext cx="2052340" cy="1028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87951" y="2978150"/>
            <a:ext cx="215900" cy="2159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3720" y="2825750"/>
            <a:ext cx="2052340" cy="1028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41891" y="2978150"/>
            <a:ext cx="215900" cy="2159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377660" y="2825750"/>
            <a:ext cx="2052340" cy="1028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95830" y="2978150"/>
            <a:ext cx="215900" cy="2159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2000" y="3994150"/>
            <a:ext cx="10668000" cy="7239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2500" y="3917950"/>
            <a:ext cx="1030188" cy="1778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2000" y="4832350"/>
            <a:ext cx="10668000" cy="3048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253927" y="187325"/>
            <a:ext cx="234696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Test 4.2 Translation Practice · 20–43 min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2000" y="189865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10 MIN · YOU DO · TEST 4.2-STYLE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62000" y="2101850"/>
            <a:ext cx="10695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测试 4.2 翻译练习 · Translation Practice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762000" y="2520950"/>
            <a:ext cx="106954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 each sentence into Chinese, independently. You'll self-mark against a projected answer key.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680170" y="297815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876300" y="3282950"/>
            <a:ext cx="1851073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read books in the evening."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834011" y="297815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030141" y="3282950"/>
            <a:ext cx="185117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play basketball in the afternoon."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987951" y="297815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184080" y="3282950"/>
            <a:ext cx="185117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do homework every day."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141891" y="297815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7338020" y="3282950"/>
            <a:ext cx="185117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sleep at 9:30 pm."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95830" y="297815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491960" y="3282950"/>
            <a:ext cx="185117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swim in the morning."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52500" y="3917950"/>
            <a:ext cx="1057620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10 min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977900" y="4133850"/>
            <a:ext cx="33548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977900" y="4292600"/>
            <a:ext cx="3354832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who need support get the Chinese word order laid out as slots (time-of-day / time / verb) to fill, instead of a blank line.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432300" y="4133850"/>
            <a:ext cx="33548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4432300" y="4292600"/>
            <a:ext cx="3354832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Fluent students write one additional sentence of their own in the same style and translate it.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7886700" y="4133850"/>
            <a:ext cx="33548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7886700" y="4292600"/>
            <a:ext cx="3354832" cy="1611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5 students, one sentence each, before revealing the answer key.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762000" y="4832350"/>
            <a:ext cx="1069543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2911475"/>
            <a:ext cx="2052241" cy="12001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80170" y="3063875"/>
            <a:ext cx="215900" cy="2159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15841" y="2911475"/>
            <a:ext cx="2052340" cy="12001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34011" y="3063875"/>
            <a:ext cx="215900" cy="2159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69780" y="2911475"/>
            <a:ext cx="2052340" cy="12001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87951" y="3063875"/>
            <a:ext cx="215900" cy="2159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3720" y="2911475"/>
            <a:ext cx="2052340" cy="12001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41891" y="3063875"/>
            <a:ext cx="215900" cy="2159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377660" y="2911475"/>
            <a:ext cx="2052340" cy="12001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95830" y="3063875"/>
            <a:ext cx="215900" cy="2159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2000" y="4276725"/>
            <a:ext cx="10668000" cy="5715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253927" y="187325"/>
            <a:ext cx="1895126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Translation Practice · Answers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762000" y="2187575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YOU DO · TEST 4.2-STYLE · ANSWER KEY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62000" y="2390775"/>
            <a:ext cx="10695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翻译练习答案 · Translation Answers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680170" y="306387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876300" y="3355975"/>
            <a:ext cx="1851073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read books in the evening."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876300" y="3736975"/>
            <a:ext cx="1851073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我晚上看书。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834011" y="306387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3030141" y="3355975"/>
            <a:ext cx="1851172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play basketball in the afternoon."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030141" y="3736975"/>
            <a:ext cx="185117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我下午打篮球。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987951" y="306387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184080" y="3355975"/>
            <a:ext cx="1851172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do homework every day."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184080" y="3736975"/>
            <a:ext cx="185117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我每天做作业。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141891" y="306387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7338020" y="3355975"/>
            <a:ext cx="1851172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sleep at 9:30 pm."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7338020" y="3736975"/>
            <a:ext cx="185117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我晚上九点半睡觉。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295830" y="306387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9491960" y="3355975"/>
            <a:ext cx="1851172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swim in the morning."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9491960" y="3736975"/>
            <a:ext cx="185117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我早上游泳。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65200" y="4403725"/>
            <a:ext cx="102890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ORDER CHECK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2950369" y="4562475"/>
            <a:ext cx="2167977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subject + time-of-day + clock time + verb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019054" y="3387725"/>
            <a:ext cx="794742" cy="292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28096" y="3387725"/>
            <a:ext cx="867172" cy="292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09568" y="3387725"/>
            <a:ext cx="1330325" cy="292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54193" y="3387725"/>
            <a:ext cx="818753" cy="292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01800" y="3844925"/>
            <a:ext cx="8788400" cy="838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17700" y="3762375"/>
            <a:ext cx="997744" cy="1778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253927" y="187325"/>
            <a:ext cx="220518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Write Your Own Dialogue · 20–43 min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886127" y="2352675"/>
            <a:ext cx="2447080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5 MIN · YOU DO · PAIRS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562523" y="2568575"/>
            <a:ext cx="7094287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自创对话 · Write Your Own Cumulative Dialogue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3095030" y="3025775"/>
            <a:ext cx="6029373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pairs, write a short original dialogue — different from the model — using your own real information.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71454" y="3451225"/>
            <a:ext cx="517374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4–6 lines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28096" y="3387725"/>
            <a:ext cx="894604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greeting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09568" y="3387725"/>
            <a:ext cx="1357757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routine question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54193" y="3387725"/>
            <a:ext cx="846185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activity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917700" y="3762375"/>
            <a:ext cx="1025176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5 min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968500" y="4022725"/>
            <a:ext cx="2694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968500" y="4181475"/>
            <a:ext cx="26944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Reuse the Ex11 worksheet's sentence frames as a backbone.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762500" y="4022725"/>
            <a:ext cx="2694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4762500" y="4181475"/>
            <a:ext cx="26944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a question about lunch or dinner (午饭/晚饭) — not included in the model dialogue.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56500" y="4022725"/>
            <a:ext cx="2694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7556500" y="4181475"/>
            <a:ext cx="26944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pair reads their finished dialogue aloud to a neighbouring pair.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410075" y="2613025"/>
            <a:ext cx="603250" cy="2603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102225" y="2613025"/>
            <a:ext cx="711200" cy="2603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02325" y="2613025"/>
            <a:ext cx="495300" cy="2603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86525" y="2613025"/>
            <a:ext cx="711200" cy="2603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86625" y="2613025"/>
            <a:ext cx="495300" cy="2603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6800" y="3013075"/>
            <a:ext cx="7518400" cy="18923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2930525"/>
            <a:ext cx="1534716" cy="1778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64967" y="3203575"/>
            <a:ext cx="930672" cy="33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00439" y="3203575"/>
            <a:ext cx="930672" cy="33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35911" y="3203575"/>
            <a:ext cx="930672" cy="33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71383" y="3203575"/>
            <a:ext cx="755551" cy="33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03500" y="3660775"/>
            <a:ext cx="3448050" cy="482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40450" y="3660775"/>
            <a:ext cx="3448050" cy="482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03500" y="4232275"/>
            <a:ext cx="3448050" cy="482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40450" y="4232275"/>
            <a:ext cx="3448050" cy="482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96705" y="5045075"/>
            <a:ext cx="2998490" cy="3619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253927" y="187325"/>
            <a:ext cx="1988689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Word Category Chain · 20–43 min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974134" y="1628775"/>
            <a:ext cx="2271066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MIN · WHOLE CLASS · EX12, P.85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631902" y="1844675"/>
            <a:ext cx="4955528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同类词接龙 · Word Category Chain</a:t>
            </a:r>
            <a:endParaRPr lang="en-US" sz="2300" dirty="0"/>
          </a:p>
        </p:txBody>
      </p:sp>
      <p:sp>
        <p:nvSpPr>
          <p:cNvPr id="26" name="Text 24"/>
          <p:cNvSpPr/>
          <p:nvPr/>
        </p:nvSpPr>
        <p:spPr>
          <a:xfrm>
            <a:off x="2669480" y="2301875"/>
            <a:ext cx="688037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 class in a circle or rows. Teacher names a category — go student to student, each adds a new word within 5 seconds.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410075" y="2613025"/>
            <a:ext cx="63068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102225" y="2613025"/>
            <a:ext cx="7386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日常活动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902325" y="2613025"/>
            <a:ext cx="5227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运动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486525" y="2613025"/>
            <a:ext cx="7386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家庭成员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286625" y="2613025"/>
            <a:ext cx="5227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颜色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552700" y="2930525"/>
            <a:ext cx="1562148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 Class · 3–4 Rounds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864967" y="3203575"/>
            <a:ext cx="958104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🧑 Student 1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71839" y="3257550"/>
            <a:ext cx="1798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00439" y="3203575"/>
            <a:ext cx="958104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🧑 Student 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107311" y="3257550"/>
            <a:ext cx="1798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335911" y="3203575"/>
            <a:ext cx="958104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🧑 Student 3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342783" y="3257550"/>
            <a:ext cx="1798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571383" y="3203575"/>
            <a:ext cx="782983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🧑 Next...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743200" y="3749675"/>
            <a:ext cx="1798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🔁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971800" y="3749675"/>
            <a:ext cx="296748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repeating words. Each student must add a word not already used in this round.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280150" y="3749675"/>
            <a:ext cx="1798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⏰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508750" y="3749675"/>
            <a:ext cx="296748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seconds per person. A student who repeats a word or freezes is out for that round.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743200" y="4321175"/>
            <a:ext cx="1798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🔄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2971800" y="4321175"/>
            <a:ext cx="296748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category each round. Play 3–4 rounds with different categories.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280150" y="4321175"/>
            <a:ext cx="1798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🎤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08750" y="4321175"/>
            <a:ext cx="296748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Verbal game only. No setup needed — just listen and think fast!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774505" y="5165725"/>
            <a:ext cx="859679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 · 时间词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5695652" y="5133975"/>
            <a:ext cx="281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038552" y="5133975"/>
            <a:ext cx="154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254452" y="5133975"/>
            <a:ext cx="281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597352" y="5133975"/>
            <a:ext cx="154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813252" y="5133975"/>
            <a:ext cx="281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晚上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56152" y="5133975"/>
            <a:ext cx="288675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...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3064272"/>
            <a:ext cx="63500" cy="635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318272"/>
            <a:ext cx="63500" cy="635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572272"/>
            <a:ext cx="63500" cy="635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3838972"/>
            <a:ext cx="5105400" cy="881856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3838972"/>
            <a:ext cx="5130800" cy="881856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253927" y="187325"/>
            <a:ext cx="98300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89000" y="2029222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89000" y="2245122"/>
            <a:ext cx="10441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回顾与反思 · Review &amp; Reflect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89000" y="2803922"/>
            <a:ext cx="8917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66800" y="3978672"/>
            <a:ext cx="47772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64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66800" y="4207272"/>
            <a:ext cx="4777232" cy="39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paper, write: your strongest area from this unit, and one thing you'll review before Test 4.2.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362700" y="4001095"/>
            <a:ext cx="47772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🎫 EXIT TICKET — #1 DIAGNOSTIC BEFORE TEST 4.2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6362700" y="4185245"/>
            <a:ext cx="4777232" cy="2138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 "I get up at 7am and go to school by school bus."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62700" y="4431605"/>
            <a:ext cx="4777232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Collect on the way out — not reviewed today.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889000" y="4835128"/>
            <a:ext cx="1206945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Confident and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271713" y="4835128"/>
            <a:ext cx="843109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Getting there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290590" y="4835128"/>
            <a:ext cx="1165471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more practice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02261" y="3702645"/>
            <a:ext cx="4587379" cy="11938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797054" y="1509514"/>
            <a:ext cx="625225" cy="907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4563666" y="2474714"/>
            <a:ext cx="3092101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968500" y="3001764"/>
            <a:ext cx="8282432" cy="4651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built one full cumulative dialogue and practised translating the whole unit's routine language — time comes before the verb in Chinese, always.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9761" y="3918545"/>
            <a:ext cx="397981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119761" y="4096345"/>
            <a:ext cx="3979811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Test 4.2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119761" y="4496395"/>
            <a:ext cx="3979811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Vocabulary + English→Chinese translation practice — you're ready!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536553" y="5099645"/>
            <a:ext cx="5146326" cy="4449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cumulative dialogue + Test 4.2 translation practice across the whole unit.</a:t>
            </a:r>
            <a:endParaRPr lang="en-US" sz="105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the test: Lesson 12 — Transport 交通, building on how you get to school.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deck.liyu.dev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Editable classroom lesson slides</dc:subject>
  <dc:creator>deck.liyu.dev</dc:creator>
  <cp:lastModifiedBy>deck.liyu.dev</cp:lastModifiedBy>
  <cp:revision>1</cp:revision>
  <dcterms:created xsi:type="dcterms:W3CDTF">2026-07-20T00:31:20Z</dcterms:created>
  <dcterms:modified xsi:type="dcterms:W3CDTF">2026-07-20T00:31:20Z</dcterms:modified>
</cp:coreProperties>
</file>