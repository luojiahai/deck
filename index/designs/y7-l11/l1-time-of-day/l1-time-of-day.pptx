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7401" y="1721346"/>
            <a:ext cx="1397000" cy="723900"/>
          </a:xfrm>
          <a:prstGeom prst="roundRect">
            <a:avLst/>
          </a:prstGeom>
          <a:solidFill>
            <a:srgbClr val="000000">
              <a:alpha val="0"/>
            </a:srgbClr>
          </a:solidFill>
          <a:ln w="25400">
            <a:solidFill>
              <a:srgbClr val="C894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26051" y="1772146"/>
            <a:ext cx="139700" cy="1397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295801" y="2432546"/>
            <a:ext cx="1600200" cy="12700"/>
          </a:xfrm>
          <a:prstGeom prst="rect">
            <a:avLst/>
          </a:prstGeom>
          <a:solidFill>
            <a:srgbClr val="D5CEBB"/>
          </a:solidFill>
          <a:ln w="12700">
            <a:solidFill>
              <a:srgbClr val="D5CEB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99013" y="5022354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39086" y="5022354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32900" y="5060950"/>
            <a:ext cx="3086100" cy="1543050"/>
          </a:xfrm>
          <a:prstGeom prst="round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E5DF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68179" y="2699246"/>
            <a:ext cx="5482975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spc="20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1 · Y7 UNIT 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68179" y="3385344"/>
            <a:ext cx="5482975" cy="8424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5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早上？上午？</a:t>
            </a:r>
            <a:endParaRPr lang="en-US" sz="5900" dirty="0"/>
          </a:p>
        </p:txBody>
      </p:sp>
      <p:sp>
        <p:nvSpPr>
          <p:cNvPr id="10" name="Text 8"/>
          <p:cNvSpPr/>
          <p:nvPr/>
        </p:nvSpPr>
        <p:spPr>
          <a:xfrm>
            <a:off x="3368179" y="4260354"/>
            <a:ext cx="5482975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spc="64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Time-of-Day Vocabulary + Greetings · 时间词与问候语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82927" y="4958854"/>
            <a:ext cx="791119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776813" y="4958854"/>
            <a:ext cx="437305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516886" y="4958854"/>
            <a:ext cx="1019421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Writing + Speaking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20192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3079750"/>
            <a:ext cx="3302000" cy="6794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7100" y="3298825"/>
            <a:ext cx="241300" cy="2413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91000" y="3079750"/>
            <a:ext cx="3302000" cy="6794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56100" y="3298825"/>
            <a:ext cx="241300" cy="2413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20000" y="3079750"/>
            <a:ext cx="3302000" cy="6794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5100" y="3298825"/>
            <a:ext cx="241300" cy="2413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2000" y="3886200"/>
            <a:ext cx="3302000" cy="6794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27100" y="4105275"/>
            <a:ext cx="241300" cy="2413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91000" y="3886200"/>
            <a:ext cx="3302000" cy="6794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6100" y="4105275"/>
            <a:ext cx="241300" cy="2413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20000" y="3886200"/>
            <a:ext cx="3302000" cy="6794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5100" y="4105275"/>
            <a:ext cx="241300" cy="2413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2000" y="4743450"/>
            <a:ext cx="2127349" cy="2794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41749" y="4743450"/>
            <a:ext cx="2743895" cy="2794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8000" y="190500"/>
            <a:ext cx="61262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时间词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353542" y="187325"/>
            <a:ext cx="1732010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Lesson 10 Recap · 0–8 min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762000" y="2012950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— 8 MIN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2000" y="2241550"/>
            <a:ext cx="10695432" cy="456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几点？· Clock-Telling Recap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62000" y="2717800"/>
            <a:ext cx="10695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Chinese for each time on paper. Hold it up when ready.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27100" y="3298825"/>
            <a:ext cx="268732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282700" y="3219450"/>
            <a:ext cx="74111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spc="-34" kern="0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3:00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282700" y="3486150"/>
            <a:ext cx="74111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in Chinese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356100" y="3298825"/>
            <a:ext cx="268732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711700" y="3219450"/>
            <a:ext cx="74111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spc="-34" kern="0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7:30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4711700" y="3486150"/>
            <a:ext cx="74111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in Chinese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7785100" y="3298825"/>
            <a:ext cx="268732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140700" y="3219450"/>
            <a:ext cx="74111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spc="-34" kern="0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9:15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8140700" y="3486150"/>
            <a:ext cx="74111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in Chinese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927100" y="4105275"/>
            <a:ext cx="268732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282700" y="4025900"/>
            <a:ext cx="74111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spc="-34" kern="0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2:45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1282700" y="4292600"/>
            <a:ext cx="74111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in Chinese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4356100" y="4105275"/>
            <a:ext cx="268732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711700" y="4025900"/>
            <a:ext cx="980726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spc="-34" kern="0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6:50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4711700" y="4292600"/>
            <a:ext cx="980726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差 in your answer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7785100" y="4105275"/>
            <a:ext cx="268732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8140700" y="4025900"/>
            <a:ext cx="74111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spc="-34" kern="0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12:00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8140700" y="4292600"/>
            <a:ext cx="74111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in Chinese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762000" y="4743450"/>
            <a:ext cx="2154781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Write → hold up after each item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041749" y="4743450"/>
            <a:ext cx="2771327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Cold call 2 students per item to say it aloud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20192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667000"/>
            <a:ext cx="8693150" cy="717550"/>
          </a:xfrm>
          <a:prstGeom prst="rect">
            <a:avLst/>
          </a:prstGeom>
          <a:solidFill>
            <a:srgbClr val="C8943E">
              <a:alpha val="12000"/>
            </a:srgbClr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3638550"/>
            <a:ext cx="228600" cy="2286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4235450"/>
            <a:ext cx="228600" cy="2286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4832350"/>
            <a:ext cx="228600" cy="2286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8000" y="190500"/>
            <a:ext cx="61262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时间词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353542" y="187325"/>
            <a:ext cx="224407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 · 8–10 min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889000" y="170815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89000" y="1936750"/>
            <a:ext cx="10441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123950" y="2819400"/>
            <a:ext cx="8282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23950" y="2978150"/>
            <a:ext cx="82824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write and use the five parts-of-day words in Chinese.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9000" y="3638550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219200" y="3641725"/>
            <a:ext cx="2870446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早上 / 上午 / 中午 / 下午 / 晚上.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93800" y="3968750"/>
            <a:ext cx="79776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写出五个时间词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000" y="4235450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219200" y="4238625"/>
            <a:ext cx="4375396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match each time-of-day word to the correct time range.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93800" y="4565650"/>
            <a:ext cx="79776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匹配时间词和时间范围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89000" y="4832350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219200" y="4835525"/>
            <a:ext cx="4473424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complete a greeting that matches the correct time of day.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93800" y="5162550"/>
            <a:ext cx="79776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根据时间写问候语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20192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1612900"/>
            <a:ext cx="1734542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23542" y="1612900"/>
            <a:ext cx="2384227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07769" y="1612900"/>
            <a:ext cx="3714055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21824" y="1612900"/>
            <a:ext cx="1692176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9000" y="1854200"/>
            <a:ext cx="1734542" cy="41592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23542" y="1854200"/>
            <a:ext cx="2384227" cy="41592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7769" y="1854200"/>
            <a:ext cx="3714055" cy="41592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21824" y="1854200"/>
            <a:ext cx="1692176" cy="41592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48824" y="2006600"/>
            <a:ext cx="390227" cy="1333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9000" y="2270125"/>
            <a:ext cx="1734542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23542" y="2270125"/>
            <a:ext cx="2384227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07769" y="2270125"/>
            <a:ext cx="3714055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21824" y="2270125"/>
            <a:ext cx="1692176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48824" y="2419350"/>
            <a:ext cx="390227" cy="1333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9000" y="2682875"/>
            <a:ext cx="1734542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3542" y="2682875"/>
            <a:ext cx="2384227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07769" y="2682875"/>
            <a:ext cx="3714055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721824" y="2682875"/>
            <a:ext cx="1692176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848824" y="2832100"/>
            <a:ext cx="390227" cy="1333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9000" y="3095625"/>
            <a:ext cx="1734542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3542" y="3095625"/>
            <a:ext cx="2384227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07769" y="3095625"/>
            <a:ext cx="3714055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721824" y="3095625"/>
            <a:ext cx="1692176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48824" y="3244850"/>
            <a:ext cx="390227" cy="1333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89000" y="3508375"/>
            <a:ext cx="1734542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23542" y="3508375"/>
            <a:ext cx="2384227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07769" y="3508375"/>
            <a:ext cx="3714055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21824" y="3508375"/>
            <a:ext cx="1692176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848824" y="3657600"/>
            <a:ext cx="390227" cy="1333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89000" y="3921125"/>
            <a:ext cx="1734542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23542" y="3921125"/>
            <a:ext cx="2384227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07769" y="3921125"/>
            <a:ext cx="3714055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721824" y="3921125"/>
            <a:ext cx="1692176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848824" y="4070350"/>
            <a:ext cx="390227" cy="1333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89000" y="4333875"/>
            <a:ext cx="1734542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23542" y="4333875"/>
            <a:ext cx="2384227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07769" y="4333875"/>
            <a:ext cx="3714055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721824" y="4333875"/>
            <a:ext cx="1692176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48824" y="4483100"/>
            <a:ext cx="390227" cy="1333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89000" y="4746625"/>
            <a:ext cx="1734542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623542" y="4746625"/>
            <a:ext cx="2384227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007769" y="4746625"/>
            <a:ext cx="3714055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21824" y="4746625"/>
            <a:ext cx="1692176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848824" y="4895850"/>
            <a:ext cx="390227" cy="1333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89000" y="5159375"/>
            <a:ext cx="1734542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623542" y="5159375"/>
            <a:ext cx="2384227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007769" y="5159375"/>
            <a:ext cx="3714055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721824" y="5159375"/>
            <a:ext cx="1692176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848824" y="5308600"/>
            <a:ext cx="390227" cy="1333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89000" y="5702300"/>
            <a:ext cx="4699000" cy="5080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715000" y="5702300"/>
            <a:ext cx="4699000" cy="5080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8000" y="190500"/>
            <a:ext cx="61262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时间词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1353542" y="187325"/>
            <a:ext cx="168071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 · 10–20 min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889000" y="82550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P.79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889000" y="1041400"/>
            <a:ext cx="104414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新词汇</a:t>
            </a:r>
            <a:endParaRPr lang="en-US" sz="2300" dirty="0"/>
          </a:p>
        </p:txBody>
      </p:sp>
      <p:sp>
        <p:nvSpPr>
          <p:cNvPr id="61" name="Text 59"/>
          <p:cNvSpPr/>
          <p:nvPr/>
        </p:nvSpPr>
        <p:spPr>
          <a:xfrm>
            <a:off x="889000" y="1612900"/>
            <a:ext cx="1761974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汉字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2623542" y="1612900"/>
            <a:ext cx="2411659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5007769" y="1612900"/>
            <a:ext cx="3741487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889000" y="1854200"/>
            <a:ext cx="1761974" cy="4342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</a:t>
            </a:r>
            <a:endParaRPr lang="en-US" sz="1600" dirty="0"/>
          </a:p>
        </p:txBody>
      </p:sp>
      <p:sp>
        <p:nvSpPr>
          <p:cNvPr id="65" name="Text 63"/>
          <p:cNvSpPr/>
          <p:nvPr/>
        </p:nvSpPr>
        <p:spPr>
          <a:xfrm>
            <a:off x="2623542" y="1854200"/>
            <a:ext cx="2411659" cy="4342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zǎo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5007769" y="1854200"/>
            <a:ext cx="3741487" cy="4342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early; morning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8721824" y="1854200"/>
            <a:ext cx="1719608" cy="4342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部件字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889000" y="2270125"/>
            <a:ext cx="1761974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2623542" y="2270125"/>
            <a:ext cx="2411659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zǎo shàng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5007769" y="2270125"/>
            <a:ext cx="3741487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(early) morning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8721824" y="2270125"/>
            <a:ext cx="1719608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时间词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889000" y="2682875"/>
            <a:ext cx="1761974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午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2623542" y="2682875"/>
            <a:ext cx="2411659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wǔ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5007769" y="2682875"/>
            <a:ext cx="3741487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noon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8721824" y="2682875"/>
            <a:ext cx="1719608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部件字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889000" y="3095625"/>
            <a:ext cx="1761974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上午</a:t>
            </a:r>
            <a:endParaRPr lang="en-US" sz="1600" dirty="0"/>
          </a:p>
        </p:txBody>
      </p:sp>
      <p:sp>
        <p:nvSpPr>
          <p:cNvPr id="77" name="Text 75"/>
          <p:cNvSpPr/>
          <p:nvPr/>
        </p:nvSpPr>
        <p:spPr>
          <a:xfrm>
            <a:off x="2623542" y="3095625"/>
            <a:ext cx="2411659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shàng wǔ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5007769" y="3095625"/>
            <a:ext cx="3741487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before noon; morning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8721824" y="3095625"/>
            <a:ext cx="1719608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时间词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889000" y="3508375"/>
            <a:ext cx="1761974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中午</a:t>
            </a:r>
            <a:endParaRPr lang="en-US" sz="1600" dirty="0"/>
          </a:p>
        </p:txBody>
      </p:sp>
      <p:sp>
        <p:nvSpPr>
          <p:cNvPr id="81" name="Text 79"/>
          <p:cNvSpPr/>
          <p:nvPr/>
        </p:nvSpPr>
        <p:spPr>
          <a:xfrm>
            <a:off x="2623542" y="3508375"/>
            <a:ext cx="2411659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zhōng wǔ</a:t>
            </a:r>
            <a:endParaRPr lang="en-US" sz="950" dirty="0"/>
          </a:p>
        </p:txBody>
      </p:sp>
      <p:sp>
        <p:nvSpPr>
          <p:cNvPr id="82" name="Text 80"/>
          <p:cNvSpPr/>
          <p:nvPr/>
        </p:nvSpPr>
        <p:spPr>
          <a:xfrm>
            <a:off x="5007769" y="3508375"/>
            <a:ext cx="3741487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noon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8721824" y="3508375"/>
            <a:ext cx="1719608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时间词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889000" y="3921125"/>
            <a:ext cx="1761974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下午</a:t>
            </a:r>
            <a:endParaRPr lang="en-US" sz="1600" dirty="0"/>
          </a:p>
        </p:txBody>
      </p:sp>
      <p:sp>
        <p:nvSpPr>
          <p:cNvPr id="85" name="Text 83"/>
          <p:cNvSpPr/>
          <p:nvPr/>
        </p:nvSpPr>
        <p:spPr>
          <a:xfrm>
            <a:off x="2623542" y="3921125"/>
            <a:ext cx="2411659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xià wǔ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5007769" y="3921125"/>
            <a:ext cx="3741487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afternoon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8721824" y="3921125"/>
            <a:ext cx="1719608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时间词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889000" y="4333875"/>
            <a:ext cx="1761974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晚上</a:t>
            </a:r>
            <a:endParaRPr lang="en-US" sz="1600" dirty="0"/>
          </a:p>
        </p:txBody>
      </p:sp>
      <p:sp>
        <p:nvSpPr>
          <p:cNvPr id="89" name="Text 87"/>
          <p:cNvSpPr/>
          <p:nvPr/>
        </p:nvSpPr>
        <p:spPr>
          <a:xfrm>
            <a:off x="2623542" y="4333875"/>
            <a:ext cx="2411659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wǎn shàng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5007769" y="4333875"/>
            <a:ext cx="3741487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(in the) evening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8721824" y="4333875"/>
            <a:ext cx="1719608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时间词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889000" y="4746625"/>
            <a:ext cx="1761974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</a:t>
            </a:r>
            <a:endParaRPr lang="en-US" sz="1600" dirty="0"/>
          </a:p>
        </p:txBody>
      </p:sp>
      <p:sp>
        <p:nvSpPr>
          <p:cNvPr id="93" name="Text 91"/>
          <p:cNvSpPr/>
          <p:nvPr/>
        </p:nvSpPr>
        <p:spPr>
          <a:xfrm>
            <a:off x="2623542" y="4746625"/>
            <a:ext cx="2411659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xià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5007769" y="4746625"/>
            <a:ext cx="3741487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down; get off</a:t>
            </a:r>
            <a:endParaRPr lang="en-US" sz="900" dirty="0"/>
          </a:p>
        </p:txBody>
      </p:sp>
      <p:sp>
        <p:nvSpPr>
          <p:cNvPr id="95" name="Text 93"/>
          <p:cNvSpPr/>
          <p:nvPr/>
        </p:nvSpPr>
        <p:spPr>
          <a:xfrm>
            <a:off x="8721824" y="4746625"/>
            <a:ext cx="1719608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部件字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889000" y="5159375"/>
            <a:ext cx="1761974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</a:t>
            </a:r>
            <a:endParaRPr lang="en-US" sz="1600" dirty="0"/>
          </a:p>
        </p:txBody>
      </p:sp>
      <p:sp>
        <p:nvSpPr>
          <p:cNvPr id="97" name="Text 95"/>
          <p:cNvSpPr/>
          <p:nvPr/>
        </p:nvSpPr>
        <p:spPr>
          <a:xfrm>
            <a:off x="2623542" y="5159375"/>
            <a:ext cx="2411659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wǎn</a:t>
            </a:r>
            <a:endParaRPr lang="en-US" sz="950" dirty="0"/>
          </a:p>
        </p:txBody>
      </p:sp>
      <p:sp>
        <p:nvSpPr>
          <p:cNvPr id="98" name="Text 96"/>
          <p:cNvSpPr/>
          <p:nvPr/>
        </p:nvSpPr>
        <p:spPr>
          <a:xfrm>
            <a:off x="5007769" y="5159375"/>
            <a:ext cx="3741487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evening; late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8721824" y="5159375"/>
            <a:ext cx="1719608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部件字</a:t>
            </a:r>
            <a:endParaRPr lang="en-US" sz="800" dirty="0"/>
          </a:p>
        </p:txBody>
      </p:sp>
      <p:sp>
        <p:nvSpPr>
          <p:cNvPr id="100" name="Text 98"/>
          <p:cNvSpPr/>
          <p:nvPr/>
        </p:nvSpPr>
        <p:spPr>
          <a:xfrm>
            <a:off x="1041400" y="5803900"/>
            <a:ext cx="44216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&amp; REPEAT</a:t>
            </a:r>
            <a:endParaRPr lang="en-US" sz="650" dirty="0"/>
          </a:p>
        </p:txBody>
      </p:sp>
      <p:sp>
        <p:nvSpPr>
          <p:cNvPr id="101" name="Text 99"/>
          <p:cNvSpPr/>
          <p:nvPr/>
        </p:nvSpPr>
        <p:spPr>
          <a:xfrm>
            <a:off x="5867400" y="5803900"/>
            <a:ext cx="44216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BUILDING BLOCKS</a:t>
            </a:r>
            <a:endParaRPr lang="en-US" sz="650" dirty="0"/>
          </a:p>
        </p:txBody>
      </p:sp>
      <p:sp>
        <p:nvSpPr>
          <p:cNvPr id="102" name="Text 100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20192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2163465"/>
            <a:ext cx="2133600" cy="825500"/>
          </a:xfrm>
          <a:prstGeom prst="rect">
            <a:avLst/>
          </a:prstGeom>
          <a:solidFill>
            <a:srgbClr val="E8CD8A"/>
          </a:solidFill>
          <a:ln w="12700">
            <a:solidFill>
              <a:srgbClr val="E8CD8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95600" y="2163465"/>
            <a:ext cx="2133600" cy="8255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0" y="2163465"/>
            <a:ext cx="2133600" cy="825500"/>
          </a:xfrm>
          <a:prstGeom prst="rect">
            <a:avLst/>
          </a:prstGeom>
          <a:solidFill>
            <a:srgbClr val="B5822F"/>
          </a:solidFill>
          <a:ln w="12700">
            <a:solidFill>
              <a:srgbClr val="B5822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62800" y="2163465"/>
            <a:ext cx="2133600" cy="825500"/>
          </a:xfrm>
          <a:prstGeom prst="rect">
            <a:avLst/>
          </a:prstGeom>
          <a:solidFill>
            <a:srgbClr val="6BAFB9"/>
          </a:solidFill>
          <a:ln w="12700">
            <a:solidFill>
              <a:srgbClr val="6BAFB9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296400" y="2163465"/>
            <a:ext cx="2133600" cy="825500"/>
          </a:xfrm>
          <a:prstGeom prst="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2000" y="3115965"/>
            <a:ext cx="1640979" cy="2349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02979" y="3115965"/>
            <a:ext cx="3227288" cy="2349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30267" y="3115965"/>
            <a:ext cx="5799733" cy="2349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2000" y="3350915"/>
            <a:ext cx="1640979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02979" y="3350915"/>
            <a:ext cx="3227288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30267" y="3350915"/>
            <a:ext cx="5799733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2000" y="3684290"/>
            <a:ext cx="1640979" cy="3302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402979" y="3684290"/>
            <a:ext cx="3227288" cy="330200"/>
          </a:xfrm>
          <a:prstGeom prst="rect">
            <a:avLst/>
          </a:prstGeom>
          <a:solidFill>
            <a:srgbClr val="F6F2E8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30267" y="3684290"/>
            <a:ext cx="5799733" cy="330200"/>
          </a:xfrm>
          <a:prstGeom prst="rect">
            <a:avLst/>
          </a:prstGeom>
          <a:solidFill>
            <a:srgbClr val="F6F2E8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2000" y="4014490"/>
            <a:ext cx="1640979" cy="3302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402979" y="4014490"/>
            <a:ext cx="3227288" cy="3302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30267" y="4014490"/>
            <a:ext cx="5799733" cy="3302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2000" y="4344690"/>
            <a:ext cx="1640979" cy="3302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402979" y="4344690"/>
            <a:ext cx="3227288" cy="330200"/>
          </a:xfrm>
          <a:prstGeom prst="rect">
            <a:avLst/>
          </a:prstGeom>
          <a:solidFill>
            <a:srgbClr val="F6F2E8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30267" y="4344690"/>
            <a:ext cx="5799733" cy="330200"/>
          </a:xfrm>
          <a:prstGeom prst="rect">
            <a:avLst/>
          </a:prstGeom>
          <a:solidFill>
            <a:srgbClr val="F6F2E8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2000" y="4674890"/>
            <a:ext cx="1640979" cy="3302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402979" y="4674890"/>
            <a:ext cx="3227288" cy="3302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630267" y="4674890"/>
            <a:ext cx="5799733" cy="3302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2000" y="5109865"/>
            <a:ext cx="10668000" cy="51177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8000" y="190500"/>
            <a:ext cx="61262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时间词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353542" y="187325"/>
            <a:ext cx="199335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Text 1 Sun-Arc Diagram · 10–20 min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2000" y="1414165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TEXT 1, P.78 · CD T45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62000" y="1630065"/>
            <a:ext cx="10695432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一天的时间 · The Sun-Arc Diagram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1625600" y="2366665"/>
            <a:ext cx="433832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587897" y="2684165"/>
            <a:ext cx="509139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>
                    <a:alpha val="88000"/>
                  </a:srgbClr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5:00–8:00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759200" y="2366665"/>
            <a:ext cx="433832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上午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3668018" y="2684165"/>
            <a:ext cx="61619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>
                    <a:alpha val="88000"/>
                  </a:srgbClr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before noon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5892800" y="2366665"/>
            <a:ext cx="433832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中午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988943" y="2684165"/>
            <a:ext cx="24154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>
                    <a:alpha val="88000"/>
                  </a:srgbClr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noon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8026400" y="2366665"/>
            <a:ext cx="433832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下午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988697" y="2684165"/>
            <a:ext cx="509139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>
                    <a:alpha val="88000"/>
                  </a:srgbClr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afternoon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10160000" y="2366665"/>
            <a:ext cx="433832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晚上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0068818" y="2684165"/>
            <a:ext cx="61619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>
                    <a:alpha val="88000"/>
                  </a:srgbClr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18:00–24:00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762000" y="3115965"/>
            <a:ext cx="1668411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42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时间词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2402979" y="3115965"/>
            <a:ext cx="3254720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42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时间范围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5630267" y="3115965"/>
            <a:ext cx="5827165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42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场景 Scene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762000" y="3350915"/>
            <a:ext cx="1668411" cy="35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2402979" y="3350915"/>
            <a:ext cx="3254720" cy="35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5:00 – 8:00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5630267" y="3350915"/>
            <a:ext cx="5827165" cy="35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早上七点 — going to school 去上学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762000" y="3684290"/>
            <a:ext cx="1668411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上午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2402979" y="3684290"/>
            <a:ext cx="3254720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before noon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5630267" y="3684290"/>
            <a:ext cx="5827165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上午十点 — studying 学习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762000" y="4014490"/>
            <a:ext cx="1668411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中午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2402979" y="4014490"/>
            <a:ext cx="3254720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noon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5630267" y="4014490"/>
            <a:ext cx="5827165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中午十二点 — eating 吃饭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762000" y="4344690"/>
            <a:ext cx="1668411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下午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2402979" y="4344690"/>
            <a:ext cx="3254720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afternoon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5630267" y="4344690"/>
            <a:ext cx="5827165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下午四点 — playing football 踢足球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762000" y="4674890"/>
            <a:ext cx="1668411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晚上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2402979" y="4674890"/>
            <a:ext cx="3254720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18:00 – 24:00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5630267" y="4674890"/>
            <a:ext cx="5827165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晚上八点 — watching TV 看电视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939800" y="5216525"/>
            <a:ext cx="230632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⚠️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1244600" y="5211465"/>
            <a:ext cx="5938984" cy="1871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早上 (5:00–8:00) ≠ 上午 (before noon) — both mean "morning" in English, but cover different ranges!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1244600" y="5393035"/>
            <a:ext cx="593898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早上 is only the early part of the day · 上午 covers everything up to 12:00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20192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038350"/>
            <a:ext cx="9525000" cy="660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2813050"/>
            <a:ext cx="9525000" cy="660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3587750"/>
            <a:ext cx="9525000" cy="660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4362450"/>
            <a:ext cx="9525000" cy="660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9000" y="5600700"/>
            <a:ext cx="10414000" cy="3048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8000" y="190500"/>
            <a:ext cx="61262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时间词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353542" y="187325"/>
            <a:ext cx="207223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 · 10–20 min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889000" y="113030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89000" y="1358900"/>
            <a:ext cx="10441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092200" y="2178050"/>
            <a:ext cx="3830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574800" y="2257425"/>
            <a:ext cx="86634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「早上七点」— is this 早上 or 上午? 1 finger = 早上, 2 fingers = 上午.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92200" y="2952750"/>
            <a:ext cx="3830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574800" y="3032125"/>
            <a:ext cx="86634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「十点半」— 早上 or 上午? Fingers.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2200" y="3727450"/>
            <a:ext cx="3830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74800" y="3806825"/>
            <a:ext cx="86634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「下午四点」. Write which time-of-day word this is. Hold it up.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2200" y="4502150"/>
            <a:ext cx="3830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574800" y="4581525"/>
            <a:ext cx="86634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the difference between 早上 and 上午? (cold call — explain in English)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89000" y="5175250"/>
            <a:ext cx="230632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☝️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44600" y="5241925"/>
            <a:ext cx="345130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 早上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917898" y="5175250"/>
            <a:ext cx="230632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✌️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273498" y="5241925"/>
            <a:ext cx="345130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 上午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89000" y="5600700"/>
            <a:ext cx="10441432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20192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505075"/>
            <a:ext cx="9525000" cy="660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3279775"/>
            <a:ext cx="9525000" cy="660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4054475"/>
            <a:ext cx="9525000" cy="660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4841875"/>
            <a:ext cx="9906000" cy="5969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8000" y="190500"/>
            <a:ext cx="61262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时间词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353542" y="187325"/>
            <a:ext cx="1649659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· Answers · 10–20 min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889000" y="1597025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89000" y="1825625"/>
            <a:ext cx="10441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092200" y="2644775"/>
            <a:ext cx="3830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574800" y="2724150"/>
            <a:ext cx="4991048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「早上七点」— is this 早上 or 上午?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665416" y="2740025"/>
            <a:ext cx="3572816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1 finger — 早上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92200" y="3419475"/>
            <a:ext cx="3830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574800" y="3498850"/>
            <a:ext cx="4991048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「十点半」— 早上 or 上午?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65416" y="3514725"/>
            <a:ext cx="3572816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2 fingers — 上午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92200" y="4194175"/>
            <a:ext cx="3830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574800" y="4273550"/>
            <a:ext cx="4991048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「下午四点」. Which time-of-day word?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65416" y="4292600"/>
            <a:ext cx="3572816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下午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89000" y="4841875"/>
            <a:ext cx="9933432" cy="615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Q4 — What's the difference between 早上 and 上午?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早上 = only the early morning, roughly 5:00–8:00. 上午 = anything before noon (up to 12:00) — a much broader range that includes 早上's time span.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20192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2974975"/>
            <a:ext cx="10668000" cy="7620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000" y="2974975"/>
            <a:ext cx="2136080" cy="762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1E2A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01391" y="3260725"/>
            <a:ext cx="444500" cy="19050"/>
          </a:xfrm>
          <a:prstGeom prst="roundRect">
            <a:avLst/>
          </a:prstGeom>
          <a:solidFill>
            <a:srgbClr val="D5CEBB"/>
          </a:solidFill>
          <a:ln w="12700">
            <a:solidFill>
              <a:srgbClr val="D5CEB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98080" y="2974975"/>
            <a:ext cx="2136180" cy="762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1E2A3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37570" y="3260725"/>
            <a:ext cx="444500" cy="19050"/>
          </a:xfrm>
          <a:prstGeom prst="roundRect">
            <a:avLst/>
          </a:prstGeom>
          <a:solidFill>
            <a:srgbClr val="D5CEBB"/>
          </a:solidFill>
          <a:ln w="12700">
            <a:solidFill>
              <a:srgbClr val="D5CEB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34260" y="2974975"/>
            <a:ext cx="2136080" cy="762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1E2A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73651" y="3260725"/>
            <a:ext cx="444500" cy="19050"/>
          </a:xfrm>
          <a:prstGeom prst="roundRect">
            <a:avLst/>
          </a:prstGeom>
          <a:solidFill>
            <a:srgbClr val="D5CEBB"/>
          </a:solidFill>
          <a:ln w="12700">
            <a:solidFill>
              <a:srgbClr val="D5CEB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70341" y="2974975"/>
            <a:ext cx="2136180" cy="762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1E2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09830" y="3260725"/>
            <a:ext cx="444500" cy="19050"/>
          </a:xfrm>
          <a:prstGeom prst="roundRect">
            <a:avLst/>
          </a:prstGeom>
          <a:solidFill>
            <a:srgbClr val="D5CEBB"/>
          </a:solidFill>
          <a:ln w="12700">
            <a:solidFill>
              <a:srgbClr val="D5CEB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46010" y="3260725"/>
            <a:ext cx="444500" cy="19050"/>
          </a:xfrm>
          <a:prstGeom prst="roundRect">
            <a:avLst/>
          </a:prstGeom>
          <a:solidFill>
            <a:srgbClr val="D5CEBB"/>
          </a:solidFill>
          <a:ln w="12700">
            <a:solidFill>
              <a:srgbClr val="D5CEB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2000" y="4016375"/>
            <a:ext cx="10668000" cy="1041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2500" y="3940175"/>
            <a:ext cx="941784" cy="1778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8000" y="190500"/>
            <a:ext cx="61262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时间词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353542" y="187325"/>
            <a:ext cx="147285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Activity 1 · 20–43 min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762000" y="1978025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8 MIN · WE DO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62000" y="2193925"/>
            <a:ext cx="10695432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Sun-Arc Diagram Labelling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62000" y="2651125"/>
            <a:ext cx="10695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Copy the correct Chinese word into each blank, then copy one scene sentence under each.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798241" y="3330575"/>
            <a:ext cx="782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spc="39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3934420" y="3330575"/>
            <a:ext cx="782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spc="39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6070501" y="3330575"/>
            <a:ext cx="782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spc="39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206680" y="3330575"/>
            <a:ext cx="782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spc="39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342860" y="3330575"/>
            <a:ext cx="782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spc="39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952500" y="3940175"/>
            <a:ext cx="969216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42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8 min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977900" y="4219575"/>
            <a:ext cx="33548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977900" y="4378325"/>
            <a:ext cx="33548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of all 5 terms + pinyin printed at the bottom of the worksheet.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977900" y="4727575"/>
            <a:ext cx="33548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 · 上午 · 中午 · 下午 · 晚上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432300" y="4219575"/>
            <a:ext cx="33548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4432300" y="4378325"/>
            <a:ext cx="33548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Fluent students also write the time range in Chinese numerals next to each label — e.g. 早上五点到八点。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7886700" y="4219575"/>
            <a:ext cx="33548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7886700" y="4378325"/>
            <a:ext cx="33548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Turn-and-talk — check answers with a partner before teacher reveals. Every student compares every label.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20192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2578100"/>
            <a:ext cx="10668000" cy="3873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000" y="3105150"/>
            <a:ext cx="2571750" cy="1054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60750" y="3105150"/>
            <a:ext cx="2571750" cy="1054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159500" y="3105150"/>
            <a:ext cx="2571750" cy="1054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58250" y="3105150"/>
            <a:ext cx="2571750" cy="1054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2000" y="4298950"/>
            <a:ext cx="10668000" cy="7683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2500" y="4222750"/>
            <a:ext cx="972344" cy="17780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2000" y="5168900"/>
            <a:ext cx="10668000" cy="26035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8000" y="190500"/>
            <a:ext cx="61262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时间词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353542" y="187325"/>
            <a:ext cx="1498747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Activity 2 · 20–43 min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762000" y="1606550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8 MIN · YOU DO · EX1, P.79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62000" y="1822450"/>
            <a:ext cx="10695432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Greeting Completion · 问候语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62000" y="2266950"/>
            <a:ext cx="10695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For each scene below, write the matching greeting on paper.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284288" y="2654300"/>
            <a:ext cx="3576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好！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741488" y="2705100"/>
            <a:ext cx="1392583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fill with 早上 / 中午 / 下午 / 晚上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876300" y="3257550"/>
            <a:ext cx="237058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1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876300" y="3429000"/>
            <a:ext cx="2370582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7:30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76300" y="3784600"/>
            <a:ext cx="237058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5CEB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___好！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575050" y="3257550"/>
            <a:ext cx="237058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2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3575050" y="3429000"/>
            <a:ext cx="2370582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12:00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575050" y="3784600"/>
            <a:ext cx="237058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5CEB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___好！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73800" y="3257550"/>
            <a:ext cx="237058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3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6273800" y="3429000"/>
            <a:ext cx="2370582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16:00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273800" y="3784600"/>
            <a:ext cx="237058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5CEB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___好！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972550" y="3257550"/>
            <a:ext cx="237058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4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8972550" y="3429000"/>
            <a:ext cx="2370582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20:00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972550" y="3784600"/>
            <a:ext cx="237058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5CEB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___好！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52500" y="4222750"/>
            <a:ext cx="999776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42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8 min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977900" y="4451350"/>
            <a:ext cx="33548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977900" y="4610100"/>
            <a:ext cx="33548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 on projector: ___好！ Word bank visible.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432300" y="4451350"/>
            <a:ext cx="33548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4432300" y="4610100"/>
            <a:ext cx="3354832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a second line responding appropriately, e.g. A: 早上好！ B: 早上好！你要去哪儿？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886700" y="4451350"/>
            <a:ext cx="33548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7886700" y="4610100"/>
            <a:ext cx="3354832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pairs: one reads their written greeting aloud, partner identifies the time of day. Cold call 4 pairs to perform.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62000" y="5168900"/>
            <a:ext cx="1069543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Model answers on next slide →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20192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3075285"/>
            <a:ext cx="2571750" cy="7810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60750" y="3075285"/>
            <a:ext cx="2571750" cy="7810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59500" y="3075285"/>
            <a:ext cx="2571750" cy="7810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58250" y="3075285"/>
            <a:ext cx="2571750" cy="7810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2000" y="4034135"/>
            <a:ext cx="10668000" cy="68828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8000" y="190500"/>
            <a:ext cx="61262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时间词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353542" y="187325"/>
            <a:ext cx="1411930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Activity 2 · Answers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762000" y="2313285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YOU DO · EX1, P.79 · MODEL ANSWERS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62000" y="2529185"/>
            <a:ext cx="10695432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Greeting Completion · 问候语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89000" y="3240385"/>
            <a:ext cx="234518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1 · 7:30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889000" y="3411835"/>
            <a:ext cx="234518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早上好！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587750" y="3240385"/>
            <a:ext cx="234518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2 · 12:00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3587750" y="3411835"/>
            <a:ext cx="234518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中午好！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286500" y="3240385"/>
            <a:ext cx="234518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3 · 16:00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6286500" y="3411835"/>
            <a:ext cx="234518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下午好！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985250" y="3240385"/>
            <a:ext cx="234518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4 · 20:00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8985250" y="3411835"/>
            <a:ext cx="234518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晚上好！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65200" y="4173835"/>
            <a:ext cx="102890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 — ADD A SECOND LINE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965200" y="4345285"/>
            <a:ext cx="10289032" cy="25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A: 早上好！    B: 早上好！你要去哪儿？（English answer accepted if needed — preview of next topic）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20192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2949575"/>
            <a:ext cx="2042120" cy="8382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16124" y="3629025"/>
            <a:ext cx="1133773" cy="19050"/>
          </a:xfrm>
          <a:prstGeom prst="roundRect">
            <a:avLst/>
          </a:prstGeom>
          <a:solidFill>
            <a:srgbClr val="D5CEBB"/>
          </a:solidFill>
          <a:ln w="12700">
            <a:solidFill>
              <a:srgbClr val="D5CEB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18420" y="2949575"/>
            <a:ext cx="2042120" cy="8382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72545" y="3629025"/>
            <a:ext cx="1133773" cy="19050"/>
          </a:xfrm>
          <a:prstGeom prst="roundRect">
            <a:avLst/>
          </a:prstGeom>
          <a:solidFill>
            <a:srgbClr val="D5CEBB"/>
          </a:solidFill>
          <a:ln w="12700">
            <a:solidFill>
              <a:srgbClr val="D5CEB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74841" y="2949575"/>
            <a:ext cx="2042220" cy="8382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528965" y="3629025"/>
            <a:ext cx="1133872" cy="19050"/>
          </a:xfrm>
          <a:prstGeom prst="roundRect">
            <a:avLst/>
          </a:prstGeom>
          <a:solidFill>
            <a:srgbClr val="D5CEBB"/>
          </a:solidFill>
          <a:ln w="12700">
            <a:solidFill>
              <a:srgbClr val="D5CEB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31360" y="2949575"/>
            <a:ext cx="2042120" cy="8382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85484" y="3629025"/>
            <a:ext cx="1133773" cy="19050"/>
          </a:xfrm>
          <a:prstGeom prst="roundRect">
            <a:avLst/>
          </a:prstGeom>
          <a:solidFill>
            <a:srgbClr val="D5CEBB"/>
          </a:solidFill>
          <a:ln w="12700">
            <a:solidFill>
              <a:srgbClr val="D5CEB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387780" y="2949575"/>
            <a:ext cx="2042220" cy="8382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2000" y="3940175"/>
            <a:ext cx="10668000" cy="7683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2500" y="3863975"/>
            <a:ext cx="972344" cy="17780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2000" y="4810125"/>
            <a:ext cx="10668000" cy="26035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8000" y="190500"/>
            <a:ext cx="61262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时间词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353542" y="187325"/>
            <a:ext cx="1498747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Activity 3 · 20–43 min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762000" y="1965325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5 MIN · YOU DO · EX2, P.79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62000" y="2181225"/>
            <a:ext cx="10695432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Dictionary Race · 查字典比赛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62000" y="2625725"/>
            <a:ext cx="10695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Groups of 3–4: look up each phrase and write the meaning. Fastest group with all correct meanings wins.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38200" y="3089275"/>
            <a:ext cx="1917152" cy="3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校车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8200" y="3438525"/>
            <a:ext cx="191715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xiào chē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994620" y="3089275"/>
            <a:ext cx="1917152" cy="3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火车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2994620" y="3438525"/>
            <a:ext cx="191715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huǒ chē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5151041" y="3089275"/>
            <a:ext cx="1917252" cy="3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出租车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151041" y="3438525"/>
            <a:ext cx="191725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chū zū chē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7307560" y="3089275"/>
            <a:ext cx="1917152" cy="3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地铁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307560" y="3438525"/>
            <a:ext cx="191715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dì tiě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9387780" y="2949575"/>
            <a:ext cx="2069652" cy="856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 more cards per set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952500" y="3863975"/>
            <a:ext cx="999776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42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5 min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977900" y="4092575"/>
            <a:ext cx="33548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977900" y="4251325"/>
            <a:ext cx="3354832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Weaker groups get fewer cards (4 instead of 6) and may work in a threesome with a stronger reader.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432300" y="4092575"/>
            <a:ext cx="33548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4432300" y="4251325"/>
            <a:ext cx="3354832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Fast-finishing groups write one full sentence using a found phrase — e.g. 我坐地铁上学。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886700" y="4092575"/>
            <a:ext cx="33548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7886700" y="4251325"/>
            <a:ext cx="3354832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in the group must write at least one meaning in their own hand before the group can submit.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62000" y="4810125"/>
            <a:ext cx="1069543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Meanings on next slide →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20192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3076575"/>
            <a:ext cx="2286000" cy="10604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75000" y="3076575"/>
            <a:ext cx="2286000" cy="10604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88000" y="3076575"/>
            <a:ext cx="2286000" cy="10604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01000" y="3076575"/>
            <a:ext cx="2286000" cy="10604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2000" y="4314825"/>
            <a:ext cx="9931400" cy="419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8000" y="190500"/>
            <a:ext cx="61262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时间词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353542" y="187325"/>
            <a:ext cx="1411930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Activity 3 · Answers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762000" y="2301875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YOU DO · EX2, P.79 · MEANINGS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62000" y="2517775"/>
            <a:ext cx="10695432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Dictionary Race · 查字典比赛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76300" y="3241675"/>
            <a:ext cx="2084832" cy="3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校车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76300" y="3578225"/>
            <a:ext cx="208483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xiào chē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876300" y="3768725"/>
            <a:ext cx="20848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school bus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89300" y="3241675"/>
            <a:ext cx="2084832" cy="3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火车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289300" y="3578225"/>
            <a:ext cx="208483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huǒ chē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289300" y="3768725"/>
            <a:ext cx="20848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train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702300" y="3241675"/>
            <a:ext cx="2084832" cy="3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出租车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702300" y="3578225"/>
            <a:ext cx="208483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chū zū chē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5702300" y="3768725"/>
            <a:ext cx="20848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taxi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115300" y="3241675"/>
            <a:ext cx="2084832" cy="3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地铁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115300" y="3578225"/>
            <a:ext cx="208483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dì tiě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115300" y="3768725"/>
            <a:ext cx="20848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subway / metro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2000" y="4314825"/>
            <a:ext cx="99588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These transport words are pulled forward from Lesson 12 — you'll meet them again soon when we learn how to say "I go to school by ___".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20192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94050" y="2603500"/>
            <a:ext cx="1155700" cy="7239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450" y="2603500"/>
            <a:ext cx="1155700" cy="7239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92850" y="2603500"/>
            <a:ext cx="1155700" cy="7239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42250" y="2603500"/>
            <a:ext cx="1155700" cy="7239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8600" y="3517900"/>
            <a:ext cx="1574800" cy="15938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22900" y="3632200"/>
            <a:ext cx="406400" cy="412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92800" y="3632200"/>
            <a:ext cx="406400" cy="412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2700" y="3632200"/>
            <a:ext cx="406400" cy="412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22900" y="4108450"/>
            <a:ext cx="406400" cy="412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92800" y="4108450"/>
            <a:ext cx="406400" cy="412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62700" y="4108450"/>
            <a:ext cx="406400" cy="412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22900" y="4584700"/>
            <a:ext cx="406400" cy="412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92800" y="4584700"/>
            <a:ext cx="406400" cy="412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62700" y="4584700"/>
            <a:ext cx="406400" cy="412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8000" y="190500"/>
            <a:ext cx="61262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时间词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353542" y="187325"/>
            <a:ext cx="1761677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Character Bingo · 20–43 min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654179" y="1549400"/>
            <a:ext cx="910975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5 MIN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073624" y="1778000"/>
            <a:ext cx="4072184" cy="456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Character Bingo · 汉字宾果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3990380" y="2254250"/>
            <a:ext cx="4238573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Cross off the character when the teacher calls its pinyin or English meaning.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59150" y="2717800"/>
            <a:ext cx="852932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📢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359150" y="3079750"/>
            <a:ext cx="8529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Call word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464050" y="2847975"/>
            <a:ext cx="1925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08550" y="2717800"/>
            <a:ext cx="852932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08550" y="3079750"/>
            <a:ext cx="8529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Cross off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013450" y="2847975"/>
            <a:ext cx="1925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57950" y="2717800"/>
            <a:ext cx="852932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📣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457950" y="3079750"/>
            <a:ext cx="8529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"Bingo!"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7562850" y="2847975"/>
            <a:ext cx="1925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007350" y="2717800"/>
            <a:ext cx="852932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📖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8007350" y="3079750"/>
            <a:ext cx="8529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line aloud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5422900" y="3632200"/>
            <a:ext cx="433832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892800" y="3632200"/>
            <a:ext cx="433832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362700" y="3632200"/>
            <a:ext cx="433832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午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422900" y="4108450"/>
            <a:ext cx="433832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中午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892800" y="4108450"/>
            <a:ext cx="433832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362700" y="4108450"/>
            <a:ext cx="433832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422900" y="4584700"/>
            <a:ext cx="433832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晚上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892800" y="4584700"/>
            <a:ext cx="433832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上午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362700" y="4584700"/>
            <a:ext cx="433832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下午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559745" y="5314950"/>
            <a:ext cx="238705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🎴 9-square cards · varied layouts per student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097165" y="5314950"/>
            <a:ext cx="328121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🏆 First complete line calls "Bingo!" and reads it aloud to confirm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8528745" y="5314950"/>
            <a:ext cx="1130943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🚫 No devices needed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20192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613720"/>
            <a:ext cx="63500" cy="635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2880420"/>
            <a:ext cx="63500" cy="635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3147120"/>
            <a:ext cx="63500" cy="635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3470970"/>
            <a:ext cx="6756400" cy="7429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9000" y="4366320"/>
            <a:ext cx="6832600" cy="925711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8000" y="190500"/>
            <a:ext cx="61262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时间词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353542" y="187325"/>
            <a:ext cx="98300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889000" y="145802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89000" y="1686620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889000" y="2334320"/>
            <a:ext cx="8282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92200" y="3623370"/>
            <a:ext cx="6377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Self-Assessment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092200" y="3858320"/>
            <a:ext cx="63774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paper, write the time-of-day word you find easiest, and one you still mix up.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30300" y="4531420"/>
            <a:ext cx="63774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🚪 EXIT TICKET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30300" y="4664770"/>
            <a:ext cx="6377432" cy="4804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Chinese for "morning" (5:00–8:00) and "morning" (before noon) — label which is which.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89000" y="5406330"/>
            <a:ext cx="642985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Achieved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707753" y="5406330"/>
            <a:ext cx="843109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 Getting there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726630" y="5406330"/>
            <a:ext cx="696464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 Need help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32237" y="3712766"/>
            <a:ext cx="5927527" cy="11938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797054" y="1519634"/>
            <a:ext cx="625225" cy="907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</a:t>
            </a:r>
            <a:endParaRPr lang="en-US" sz="7000" dirty="0"/>
          </a:p>
        </p:txBody>
      </p:sp>
      <p:sp>
        <p:nvSpPr>
          <p:cNvPr id="4" name="Text 2"/>
          <p:cNvSpPr/>
          <p:nvPr/>
        </p:nvSpPr>
        <p:spPr>
          <a:xfrm>
            <a:off x="4563666" y="2484834"/>
            <a:ext cx="3092101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Great work today!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870226" y="3011884"/>
            <a:ext cx="4478881" cy="4651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can now say the five parts of the day in Chinese.</a:t>
            </a:r>
            <a:endParaRPr lang="en-US" sz="1100" dirty="0"/>
          </a:p>
          <a:p>
            <a:pPr algn="ctr"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Remember: 早上 (5:00–8:00) is not the same as 上午 (before noon)!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449737" y="3928666"/>
            <a:ext cx="531995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449737" y="4106466"/>
            <a:ext cx="5319959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时间词 + 点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449737" y="4506516"/>
            <a:ext cx="5319959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Take a digital clock time and add the correct time-of-day word in front — like 下午四点三刻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99818" y="5109766"/>
            <a:ext cx="4019796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Today: 早上 / 上午 / 中午 / 下午 / 晚上 = the five parts of the day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Next: combine them with clock times you already know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deck.liyu.dev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Editable classroom lesson slides</dc:subject>
  <dc:creator>deck.liyu.dev</dc:creator>
  <cp:lastModifiedBy>deck.liyu.dev</cp:lastModifiedBy>
  <cp:revision>1</cp:revision>
  <dcterms:created xsi:type="dcterms:W3CDTF">2026-07-20T00:30:49Z</dcterms:created>
  <dcterms:modified xsi:type="dcterms:W3CDTF">2026-07-20T00:30:49Z</dcterms:modified>
</cp:coreProperties>
</file>