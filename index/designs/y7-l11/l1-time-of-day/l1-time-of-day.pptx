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-121920" y="1905000"/>
            <a:ext cx="1243584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LESSON 1 · Y7 UNIT 4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-121920" y="2241500"/>
            <a:ext cx="1243584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000"/>
              </a:spcBef>
              <a:buNone/>
            </a:pPr>
            <a:r>
              <a:rPr lang="en-US" sz="48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早上？上午？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-121920" y="3200251"/>
            <a:ext cx="1243584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800"/>
              </a:spcBef>
              <a:buNone/>
            </a:pPr>
            <a:r>
              <a:rPr lang="en-US" sz="16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Time-of-Day Vocabulary + Greetings · 时间词与问候语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-121920" y="3714601"/>
            <a:ext cx="1243584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800"/>
              </a:spcBef>
              <a:buNone/>
            </a:pPr>
            <a:r>
              <a:rPr lang="en-US" sz="11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Year 7 Chinese  ·  50 mins  ·  Writing + Speaking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1750" y="0"/>
            <a:ext cx="11328499" cy="126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31750" y="0"/>
            <a:ext cx="2539901" cy="25301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31750" y="101501"/>
            <a:ext cx="359002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L1 · 时间词 · REVIEW · LESSON 10 RECAP · 0–8 MIN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31750" y="330101"/>
            <a:ext cx="1155506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9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REVIEW — 8 MIN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31750" y="530126"/>
            <a:ext cx="11555069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23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几点？· Clock-Telling Recap</a:t>
            </a:r>
            <a:endParaRPr lang="en-US" sz="2300" dirty="0"/>
          </a:p>
        </p:txBody>
      </p:sp>
      <p:sp>
        <p:nvSpPr>
          <p:cNvPr id="7" name="Text 5"/>
          <p:cNvSpPr/>
          <p:nvPr/>
        </p:nvSpPr>
        <p:spPr>
          <a:xfrm>
            <a:off x="431750" y="980926"/>
            <a:ext cx="11555069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Write the Chinese for each time on paper. Hold it up when ready.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31750" y="1282452"/>
            <a:ext cx="3708499" cy="631627"/>
          </a:xfrm>
          <a:prstGeom prst="roundRect">
            <a:avLst>
              <a:gd name="adj" fmla="val 12064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558701" y="1483965"/>
            <a:ext cx="228600" cy="228600"/>
          </a:xfrm>
          <a:prstGeom prst="roundRect">
            <a:avLst>
              <a:gd name="adj" fmla="val 400000"/>
            </a:avLst>
          </a:prstGeom>
          <a:solidFill>
            <a:srgbClr val="3A7D8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647105" y="1517303"/>
            <a:ext cx="52828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888802" y="1383953"/>
            <a:ext cx="830827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3:00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888802" y="1669703"/>
            <a:ext cx="83082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Write in Chinese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4241750" y="1282452"/>
            <a:ext cx="3708499" cy="631627"/>
          </a:xfrm>
          <a:prstGeom prst="roundRect">
            <a:avLst>
              <a:gd name="adj" fmla="val 12064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4368701" y="1483965"/>
            <a:ext cx="228600" cy="228600"/>
          </a:xfrm>
          <a:prstGeom prst="roundRect">
            <a:avLst>
              <a:gd name="adj" fmla="val 400000"/>
            </a:avLst>
          </a:prstGeom>
          <a:solidFill>
            <a:srgbClr val="3A7D8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4446687" y="1517303"/>
            <a:ext cx="7392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698802" y="1383953"/>
            <a:ext cx="830827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7:30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4698802" y="1669703"/>
            <a:ext cx="83082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Write in Chinese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8051750" y="1282452"/>
            <a:ext cx="3708499" cy="631627"/>
          </a:xfrm>
          <a:prstGeom prst="roundRect">
            <a:avLst>
              <a:gd name="adj" fmla="val 12064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8178701" y="1483965"/>
            <a:ext cx="228600" cy="228600"/>
          </a:xfrm>
          <a:prstGeom prst="roundRect">
            <a:avLst>
              <a:gd name="adj" fmla="val 400000"/>
            </a:avLst>
          </a:prstGeom>
          <a:solidFill>
            <a:srgbClr val="3A7D8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8256389" y="1517303"/>
            <a:ext cx="74536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8508802" y="1383953"/>
            <a:ext cx="830827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9:15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8508802" y="1669703"/>
            <a:ext cx="83082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Write in Chinese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431750" y="2015579"/>
            <a:ext cx="3708499" cy="631627"/>
          </a:xfrm>
          <a:prstGeom prst="roundRect">
            <a:avLst>
              <a:gd name="adj" fmla="val 12064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558701" y="2217093"/>
            <a:ext cx="228600" cy="228600"/>
          </a:xfrm>
          <a:prstGeom prst="roundRect">
            <a:avLst>
              <a:gd name="adj" fmla="val 400000"/>
            </a:avLst>
          </a:prstGeom>
          <a:solidFill>
            <a:srgbClr val="3A7D8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635943" y="2250430"/>
            <a:ext cx="75447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4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888802" y="2117080"/>
            <a:ext cx="830827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2:45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888802" y="2402830"/>
            <a:ext cx="83082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Write in Chinese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4241750" y="2015579"/>
            <a:ext cx="3708499" cy="631627"/>
          </a:xfrm>
          <a:prstGeom prst="roundRect">
            <a:avLst>
              <a:gd name="adj" fmla="val 12064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Text 27"/>
          <p:cNvSpPr/>
          <p:nvPr/>
        </p:nvSpPr>
        <p:spPr>
          <a:xfrm>
            <a:off x="4368701" y="2217093"/>
            <a:ext cx="228600" cy="228600"/>
          </a:xfrm>
          <a:prstGeom prst="roundRect">
            <a:avLst>
              <a:gd name="adj" fmla="val 400000"/>
            </a:avLst>
          </a:prstGeom>
          <a:solidFill>
            <a:srgbClr val="3A7D8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4446538" y="2250430"/>
            <a:ext cx="74384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5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4698802" y="2117080"/>
            <a:ext cx="1106201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6:50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4698802" y="2402830"/>
            <a:ext cx="110620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Use 差 in your answer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8051750" y="2015579"/>
            <a:ext cx="3708499" cy="631627"/>
          </a:xfrm>
          <a:prstGeom prst="roundRect">
            <a:avLst>
              <a:gd name="adj" fmla="val 12064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8178701" y="2217093"/>
            <a:ext cx="228600" cy="228600"/>
          </a:xfrm>
          <a:prstGeom prst="roundRect">
            <a:avLst>
              <a:gd name="adj" fmla="val 400000"/>
            </a:avLst>
          </a:prstGeom>
          <a:solidFill>
            <a:srgbClr val="3A7D8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Text 33"/>
          <p:cNvSpPr/>
          <p:nvPr/>
        </p:nvSpPr>
        <p:spPr>
          <a:xfrm>
            <a:off x="8255943" y="2250430"/>
            <a:ext cx="7559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6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8508802" y="2117080"/>
            <a:ext cx="830827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12:00</a:t>
            </a:r>
            <a:endParaRPr lang="en-US" sz="1600" dirty="0"/>
          </a:p>
        </p:txBody>
      </p:sp>
      <p:sp>
        <p:nvSpPr>
          <p:cNvPr id="37" name="Text 35"/>
          <p:cNvSpPr/>
          <p:nvPr/>
        </p:nvSpPr>
        <p:spPr>
          <a:xfrm>
            <a:off x="8508802" y="2402830"/>
            <a:ext cx="83082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Write in Chinese</a:t>
            </a:r>
            <a:endParaRPr lang="en-US" sz="800" dirty="0"/>
          </a:p>
        </p:txBody>
      </p:sp>
      <p:sp>
        <p:nvSpPr>
          <p:cNvPr id="38" name="Text 36"/>
          <p:cNvSpPr/>
          <p:nvPr/>
        </p:nvSpPr>
        <p:spPr>
          <a:xfrm>
            <a:off x="431750" y="2774156"/>
            <a:ext cx="1849892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✍️ Write → hold up after each item</a:t>
            </a:r>
            <a:endParaRPr lang="en-US" sz="800" dirty="0"/>
          </a:p>
        </p:txBody>
      </p:sp>
      <p:sp>
        <p:nvSpPr>
          <p:cNvPr id="39" name="Text 37"/>
          <p:cNvSpPr/>
          <p:nvPr/>
        </p:nvSpPr>
        <p:spPr>
          <a:xfrm>
            <a:off x="2372320" y="2774156"/>
            <a:ext cx="2482917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🗣️ Cold call 2 students per item to say it aloud</a:t>
            </a:r>
            <a:endParaRPr lang="en-US" sz="800" dirty="0"/>
          </a:p>
        </p:txBody>
      </p:sp>
      <p:sp>
        <p:nvSpPr>
          <p:cNvPr id="40" name="Text 38"/>
          <p:cNvSpPr/>
          <p:nvPr/>
        </p:nvSpPr>
        <p:spPr>
          <a:xfrm>
            <a:off x="431750" y="6562725"/>
            <a:ext cx="146096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 日常起居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1750" y="0"/>
            <a:ext cx="11328499" cy="126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31750" y="0"/>
            <a:ext cx="2539901" cy="25301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31750" y="101501"/>
            <a:ext cx="4727805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L1 · 时间词 · LEARNING INTENTION &amp; SUCCESS CRITERIA · 8–10 MIN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31750" y="330101"/>
            <a:ext cx="1155506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9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8–10 MIN · DISPLAY ON PROJECTOR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31750" y="530126"/>
            <a:ext cx="11555069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23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今日目标 · Today's Goal</a:t>
            </a:r>
            <a:endParaRPr lang="en-US" sz="2300" dirty="0"/>
          </a:p>
        </p:txBody>
      </p:sp>
      <p:sp>
        <p:nvSpPr>
          <p:cNvPr id="7" name="Text 5"/>
          <p:cNvSpPr/>
          <p:nvPr/>
        </p:nvSpPr>
        <p:spPr>
          <a:xfrm>
            <a:off x="431750" y="980926"/>
            <a:ext cx="11328499" cy="752475"/>
          </a:xfrm>
          <a:prstGeom prst="rect">
            <a:avLst/>
          </a:prstGeom>
          <a:solidFill>
            <a:srgbClr val="F5E9D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Shape 6"/>
          <p:cNvSpPr/>
          <p:nvPr/>
        </p:nvSpPr>
        <p:spPr>
          <a:xfrm>
            <a:off x="455563" y="980926"/>
            <a:ext cx="0" cy="752475"/>
          </a:xfrm>
          <a:prstGeom prst="line">
            <a:avLst/>
          </a:prstGeom>
          <a:noFill/>
          <a:ln w="47625">
            <a:solidFill>
              <a:srgbClr val="C8943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2526" y="1133326"/>
            <a:ext cx="11092065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9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LEARNING INTENTION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682526" y="1333351"/>
            <a:ext cx="11092065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We are learning to write and use the </a:t>
            </a:r>
            <a:pPr algn="l" indent="0" marL="0">
              <a:buNone/>
            </a:pPr>
            <a:r>
              <a:rPr lang="en-US" sz="14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five parts-of-day words</a:t>
            </a:r>
            <a:pPr algn="l" indent="0" marL="0">
              <a:buNone/>
            </a:pPr>
            <a:r>
              <a:rPr lang="en-US" sz="14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in Chinese.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31750" y="1914227"/>
            <a:ext cx="203150" cy="203150"/>
          </a:xfrm>
          <a:prstGeom prst="roundRect">
            <a:avLst>
              <a:gd name="adj" fmla="val 450111"/>
            </a:avLst>
          </a:prstGeom>
          <a:noFill/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510183" y="1944291"/>
            <a:ext cx="4705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736402" y="1911102"/>
            <a:ext cx="3242093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can write </a:t>
            </a:r>
            <a:pPr algn="l" indent="0" marL="0">
              <a:buNone/>
            </a:pPr>
            <a:r>
              <a:rPr lang="en-US" sz="12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早上 / 上午 / 中午 / 下午 / 晚上</a:t>
            </a:r>
            <a:pPr algn="l" indent="0" marL="0">
              <a:buNone/>
            </a:pPr>
            <a:r>
              <a:rPr lang="en-US" sz="12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.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736550" y="2133302"/>
            <a:ext cx="11244173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00"/>
              </a:spcBef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写出五个时间词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431750" y="2399854"/>
            <a:ext cx="203150" cy="203150"/>
          </a:xfrm>
          <a:prstGeom prst="roundRect">
            <a:avLst>
              <a:gd name="adj" fmla="val 450111"/>
            </a:avLst>
          </a:prstGeom>
          <a:noFill/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500955" y="2429917"/>
            <a:ext cx="6588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736402" y="2396728"/>
            <a:ext cx="4772436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can match each time-of-day word to the </a:t>
            </a:r>
            <a:pPr algn="l" indent="0" marL="0">
              <a:buNone/>
            </a:pPr>
            <a:r>
              <a:rPr lang="en-US" sz="1200" b="1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correct time range</a:t>
            </a:r>
            <a:pPr algn="l" indent="0" marL="0">
              <a:buNone/>
            </a:pPr>
            <a:r>
              <a:rPr lang="en-US" sz="12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.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736550" y="2618929"/>
            <a:ext cx="11244173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00"/>
              </a:spcBef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匹配时间词和时间范围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31750" y="2885480"/>
            <a:ext cx="203150" cy="203150"/>
          </a:xfrm>
          <a:prstGeom prst="roundRect">
            <a:avLst>
              <a:gd name="adj" fmla="val 450111"/>
            </a:avLst>
          </a:prstGeom>
          <a:noFill/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500807" y="2915543"/>
            <a:ext cx="6633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736402" y="2882354"/>
            <a:ext cx="4839989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can complete a </a:t>
            </a:r>
            <a:pPr algn="l" indent="0" marL="0">
              <a:buNone/>
            </a:pPr>
            <a:r>
              <a:rPr lang="en-US" sz="12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greeting</a:t>
            </a:r>
            <a:pPr algn="l" indent="0" marL="0">
              <a:buNone/>
            </a:pPr>
            <a:r>
              <a:rPr lang="en-US" sz="12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that matches the correct time of day.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736550" y="3104555"/>
            <a:ext cx="11244173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00"/>
              </a:spcBef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根据时间写问候语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431750" y="6562725"/>
            <a:ext cx="146096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 日常起居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1750" y="0"/>
            <a:ext cx="11328499" cy="126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31750" y="0"/>
            <a:ext cx="2539901" cy="25301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31750" y="101501"/>
            <a:ext cx="3542362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L1 · 时间词 · I DO · NEW VOCABULARY · 10–20 MIN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31750" y="330101"/>
            <a:ext cx="1155506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9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10–20 MIN · I DO · P.79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31750" y="530126"/>
            <a:ext cx="11555069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23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New Vocabulary · 新词汇</a:t>
            </a:r>
            <a:endParaRPr lang="en-US" sz="2300" dirty="0"/>
          </a:p>
        </p:txBody>
      </p:sp>
      <p:sp>
        <p:nvSpPr>
          <p:cNvPr id="7" name="Text 5"/>
          <p:cNvSpPr/>
          <p:nvPr/>
        </p:nvSpPr>
        <p:spPr>
          <a:xfrm>
            <a:off x="431750" y="980926"/>
            <a:ext cx="11328499" cy="2504182"/>
          </a:xfrm>
          <a:prstGeom prst="roundRect">
            <a:avLst>
              <a:gd name="adj" fmla="val 3043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431750" y="980926"/>
            <a:ext cx="11328499" cy="2504182"/>
          </a:xfrm>
          <a:prstGeom prst="rect">
            <a:avLst/>
          </a:prstGeom>
          <a:noFill/>
          <a:ln/>
        </p:spPr>
        <p:txBody>
          <a:bodyPr wrap="square" lIns="177800" tIns="101600" rIns="177800" bIns="101600" rtlCol="0" anchor="t"/>
          <a:lstStyle/>
          <a:p>
            <a:pPr algn="l" indent="0" marL="0">
              <a:lnSpc>
                <a:spcPts val="1705"/>
              </a:lnSpc>
              <a:buNone/>
            </a:pPr>
            <a:r>
              <a:rPr lang="en-US" sz="13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早</a:t>
            </a:r>
            <a:pPr algn="l" indent="0" marL="0">
              <a:lnSpc>
                <a:spcPts val="1705"/>
              </a:lnSpc>
              <a:buNone/>
            </a:pPr>
            <a:r>
              <a:rPr lang="en-US" sz="11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</a:t>
            </a:r>
            <a:pPr algn="l" indent="0" marL="0">
              <a:lnSpc>
                <a:spcPts val="1705"/>
              </a:lnSpc>
              <a:buNone/>
            </a:pPr>
            <a:r>
              <a:rPr lang="en-US" sz="110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zǎo</a:t>
            </a:r>
            <a:pPr algn="l" indent="0" marL="0">
              <a:lnSpc>
                <a:spcPts val="1705"/>
              </a:lnSpc>
              <a:buNone/>
            </a:pPr>
            <a:r>
              <a:rPr lang="en-US" sz="11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</a:t>
            </a:r>
            <a:pPr algn="l" indent="0" marL="0">
              <a:lnSpc>
                <a:spcPts val="1705"/>
              </a:lnSpc>
              <a:buNone/>
            </a:pPr>
            <a:r>
              <a:rPr lang="en-US" sz="11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— early; morning</a:t>
            </a:r>
            <a:pPr algn="l" indent="0" marL="0">
              <a:lnSpc>
                <a:spcPts val="1705"/>
              </a:lnSpc>
              <a:buNone/>
            </a:pPr>
            <a:r>
              <a:rPr lang="en-US" sz="11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</a:t>
            </a:r>
            <a:pPr algn="l" indent="0" marL="0">
              <a:lnSpc>
                <a:spcPts val="1705"/>
              </a:lnSpc>
              <a:buNone/>
            </a:pPr>
            <a:r>
              <a:rPr lang="en-US" sz="80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[部件字]</a:t>
            </a:r>
            <a:endParaRPr lang="en-US" sz="1100" dirty="0"/>
          </a:p>
          <a:p>
            <a:pPr algn="l" indent="0" marL="0">
              <a:lnSpc>
                <a:spcPts val="1705"/>
              </a:lnSpc>
              <a:buNone/>
            </a:pPr>
            <a:r>
              <a:rPr lang="en-US" sz="13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早上</a:t>
            </a:r>
            <a:pPr algn="l" indent="0" marL="0">
              <a:lnSpc>
                <a:spcPts val="1705"/>
              </a:lnSpc>
              <a:buNone/>
            </a:pPr>
            <a:r>
              <a:rPr lang="en-US" sz="11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</a:t>
            </a:r>
            <a:pPr algn="l" indent="0" marL="0">
              <a:lnSpc>
                <a:spcPts val="1705"/>
              </a:lnSpc>
              <a:buNone/>
            </a:pPr>
            <a:r>
              <a:rPr lang="en-US" sz="110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zǎo shàng</a:t>
            </a:r>
            <a:pPr algn="l" indent="0" marL="0">
              <a:lnSpc>
                <a:spcPts val="1705"/>
              </a:lnSpc>
              <a:buNone/>
            </a:pPr>
            <a:r>
              <a:rPr lang="en-US" sz="11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</a:t>
            </a:r>
            <a:pPr algn="l" indent="0" marL="0">
              <a:lnSpc>
                <a:spcPts val="1705"/>
              </a:lnSpc>
              <a:buNone/>
            </a:pPr>
            <a:r>
              <a:rPr lang="en-US" sz="11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— (early) morning</a:t>
            </a:r>
            <a:pPr algn="l" indent="0" marL="0">
              <a:lnSpc>
                <a:spcPts val="1705"/>
              </a:lnSpc>
              <a:buNone/>
            </a:pPr>
            <a:r>
              <a:rPr lang="en-US" sz="11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</a:t>
            </a:r>
            <a:pPr algn="l" indent="0" marL="0">
              <a:lnSpc>
                <a:spcPts val="1705"/>
              </a:lnSpc>
              <a:buNone/>
            </a:pPr>
            <a:r>
              <a:rPr lang="en-US" sz="80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[时间词]</a:t>
            </a:r>
            <a:endParaRPr lang="en-US" sz="1100" dirty="0"/>
          </a:p>
          <a:p>
            <a:pPr algn="l" indent="0" marL="0">
              <a:lnSpc>
                <a:spcPts val="1705"/>
              </a:lnSpc>
              <a:buNone/>
            </a:pPr>
            <a:r>
              <a:rPr lang="en-US" sz="13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午</a:t>
            </a:r>
            <a:pPr algn="l" indent="0" marL="0">
              <a:lnSpc>
                <a:spcPts val="1705"/>
              </a:lnSpc>
              <a:buNone/>
            </a:pPr>
            <a:r>
              <a:rPr lang="en-US" sz="11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</a:t>
            </a:r>
            <a:pPr algn="l" indent="0" marL="0">
              <a:lnSpc>
                <a:spcPts val="1705"/>
              </a:lnSpc>
              <a:buNone/>
            </a:pPr>
            <a:r>
              <a:rPr lang="en-US" sz="110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wǔ</a:t>
            </a:r>
            <a:pPr algn="l" indent="0" marL="0">
              <a:lnSpc>
                <a:spcPts val="1705"/>
              </a:lnSpc>
              <a:buNone/>
            </a:pPr>
            <a:r>
              <a:rPr lang="en-US" sz="11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</a:t>
            </a:r>
            <a:pPr algn="l" indent="0" marL="0">
              <a:lnSpc>
                <a:spcPts val="1705"/>
              </a:lnSpc>
              <a:buNone/>
            </a:pPr>
            <a:r>
              <a:rPr lang="en-US" sz="11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— noon</a:t>
            </a:r>
            <a:pPr algn="l" indent="0" marL="0">
              <a:lnSpc>
                <a:spcPts val="1705"/>
              </a:lnSpc>
              <a:buNone/>
            </a:pPr>
            <a:r>
              <a:rPr lang="en-US" sz="11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</a:t>
            </a:r>
            <a:pPr algn="l" indent="0" marL="0">
              <a:lnSpc>
                <a:spcPts val="1705"/>
              </a:lnSpc>
              <a:buNone/>
            </a:pPr>
            <a:r>
              <a:rPr lang="en-US" sz="80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[部件字]</a:t>
            </a:r>
            <a:endParaRPr lang="en-US" sz="1100" dirty="0"/>
          </a:p>
          <a:p>
            <a:pPr algn="l" indent="0" marL="0">
              <a:lnSpc>
                <a:spcPts val="1705"/>
              </a:lnSpc>
              <a:buNone/>
            </a:pPr>
            <a:r>
              <a:rPr lang="en-US" sz="13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上午</a:t>
            </a:r>
            <a:pPr algn="l" indent="0" marL="0">
              <a:lnSpc>
                <a:spcPts val="1705"/>
              </a:lnSpc>
              <a:buNone/>
            </a:pPr>
            <a:r>
              <a:rPr lang="en-US" sz="11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</a:t>
            </a:r>
            <a:pPr algn="l" indent="0" marL="0">
              <a:lnSpc>
                <a:spcPts val="1705"/>
              </a:lnSpc>
              <a:buNone/>
            </a:pPr>
            <a:r>
              <a:rPr lang="en-US" sz="110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shàng wǔ</a:t>
            </a:r>
            <a:pPr algn="l" indent="0" marL="0">
              <a:lnSpc>
                <a:spcPts val="1705"/>
              </a:lnSpc>
              <a:buNone/>
            </a:pPr>
            <a:r>
              <a:rPr lang="en-US" sz="11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</a:t>
            </a:r>
            <a:pPr algn="l" indent="0" marL="0">
              <a:lnSpc>
                <a:spcPts val="1705"/>
              </a:lnSpc>
              <a:buNone/>
            </a:pPr>
            <a:r>
              <a:rPr lang="en-US" sz="11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— before noon; morning</a:t>
            </a:r>
            <a:pPr algn="l" indent="0" marL="0">
              <a:lnSpc>
                <a:spcPts val="1705"/>
              </a:lnSpc>
              <a:buNone/>
            </a:pPr>
            <a:r>
              <a:rPr lang="en-US" sz="11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</a:t>
            </a:r>
            <a:pPr algn="l" indent="0" marL="0">
              <a:lnSpc>
                <a:spcPts val="1705"/>
              </a:lnSpc>
              <a:buNone/>
            </a:pPr>
            <a:r>
              <a:rPr lang="en-US" sz="80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[时间词]</a:t>
            </a:r>
            <a:endParaRPr lang="en-US" sz="1100" dirty="0"/>
          </a:p>
          <a:p>
            <a:pPr algn="l" indent="0" marL="0">
              <a:lnSpc>
                <a:spcPts val="1705"/>
              </a:lnSpc>
              <a:buNone/>
            </a:pPr>
            <a:r>
              <a:rPr lang="en-US" sz="13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中午</a:t>
            </a:r>
            <a:pPr algn="l" indent="0" marL="0">
              <a:lnSpc>
                <a:spcPts val="1705"/>
              </a:lnSpc>
              <a:buNone/>
            </a:pPr>
            <a:r>
              <a:rPr lang="en-US" sz="11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</a:t>
            </a:r>
            <a:pPr algn="l" indent="0" marL="0">
              <a:lnSpc>
                <a:spcPts val="1705"/>
              </a:lnSpc>
              <a:buNone/>
            </a:pPr>
            <a:r>
              <a:rPr lang="en-US" sz="110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zhōng wǔ</a:t>
            </a:r>
            <a:pPr algn="l" indent="0" marL="0">
              <a:lnSpc>
                <a:spcPts val="1705"/>
              </a:lnSpc>
              <a:buNone/>
            </a:pPr>
            <a:r>
              <a:rPr lang="en-US" sz="11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</a:t>
            </a:r>
            <a:pPr algn="l" indent="0" marL="0">
              <a:lnSpc>
                <a:spcPts val="1705"/>
              </a:lnSpc>
              <a:buNone/>
            </a:pPr>
            <a:r>
              <a:rPr lang="en-US" sz="11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— noon</a:t>
            </a:r>
            <a:pPr algn="l" indent="0" marL="0">
              <a:lnSpc>
                <a:spcPts val="1705"/>
              </a:lnSpc>
              <a:buNone/>
            </a:pPr>
            <a:r>
              <a:rPr lang="en-US" sz="11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</a:t>
            </a:r>
            <a:pPr algn="l" indent="0" marL="0">
              <a:lnSpc>
                <a:spcPts val="1705"/>
              </a:lnSpc>
              <a:buNone/>
            </a:pPr>
            <a:r>
              <a:rPr lang="en-US" sz="80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[时间词]</a:t>
            </a:r>
            <a:endParaRPr lang="en-US" sz="1100" dirty="0"/>
          </a:p>
          <a:p>
            <a:pPr algn="l" indent="0" marL="0">
              <a:lnSpc>
                <a:spcPts val="1705"/>
              </a:lnSpc>
              <a:buNone/>
            </a:pPr>
            <a:r>
              <a:rPr lang="en-US" sz="13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下午</a:t>
            </a:r>
            <a:pPr algn="l" indent="0" marL="0">
              <a:lnSpc>
                <a:spcPts val="1705"/>
              </a:lnSpc>
              <a:buNone/>
            </a:pPr>
            <a:r>
              <a:rPr lang="en-US" sz="11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</a:t>
            </a:r>
            <a:pPr algn="l" indent="0" marL="0">
              <a:lnSpc>
                <a:spcPts val="1705"/>
              </a:lnSpc>
              <a:buNone/>
            </a:pPr>
            <a:r>
              <a:rPr lang="en-US" sz="110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xià wǔ</a:t>
            </a:r>
            <a:pPr algn="l" indent="0" marL="0">
              <a:lnSpc>
                <a:spcPts val="1705"/>
              </a:lnSpc>
              <a:buNone/>
            </a:pPr>
            <a:r>
              <a:rPr lang="en-US" sz="11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</a:t>
            </a:r>
            <a:pPr algn="l" indent="0" marL="0">
              <a:lnSpc>
                <a:spcPts val="1705"/>
              </a:lnSpc>
              <a:buNone/>
            </a:pPr>
            <a:r>
              <a:rPr lang="en-US" sz="11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— afternoon</a:t>
            </a:r>
            <a:pPr algn="l" indent="0" marL="0">
              <a:lnSpc>
                <a:spcPts val="1705"/>
              </a:lnSpc>
              <a:buNone/>
            </a:pPr>
            <a:r>
              <a:rPr lang="en-US" sz="11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</a:t>
            </a:r>
            <a:pPr algn="l" indent="0" marL="0">
              <a:lnSpc>
                <a:spcPts val="1705"/>
              </a:lnSpc>
              <a:buNone/>
            </a:pPr>
            <a:r>
              <a:rPr lang="en-US" sz="80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[时间词]</a:t>
            </a:r>
            <a:endParaRPr lang="en-US" sz="1100" dirty="0"/>
          </a:p>
          <a:p>
            <a:pPr algn="l" indent="0" marL="0">
              <a:lnSpc>
                <a:spcPts val="1705"/>
              </a:lnSpc>
              <a:buNone/>
            </a:pPr>
            <a:r>
              <a:rPr lang="en-US" sz="13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晚上</a:t>
            </a:r>
            <a:pPr algn="l" indent="0" marL="0">
              <a:lnSpc>
                <a:spcPts val="1705"/>
              </a:lnSpc>
              <a:buNone/>
            </a:pPr>
            <a:r>
              <a:rPr lang="en-US" sz="11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</a:t>
            </a:r>
            <a:pPr algn="l" indent="0" marL="0">
              <a:lnSpc>
                <a:spcPts val="1705"/>
              </a:lnSpc>
              <a:buNone/>
            </a:pPr>
            <a:r>
              <a:rPr lang="en-US" sz="110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wǎn shàng</a:t>
            </a:r>
            <a:pPr algn="l" indent="0" marL="0">
              <a:lnSpc>
                <a:spcPts val="1705"/>
              </a:lnSpc>
              <a:buNone/>
            </a:pPr>
            <a:r>
              <a:rPr lang="en-US" sz="11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</a:t>
            </a:r>
            <a:pPr algn="l" indent="0" marL="0">
              <a:lnSpc>
                <a:spcPts val="1705"/>
              </a:lnSpc>
              <a:buNone/>
            </a:pPr>
            <a:r>
              <a:rPr lang="en-US" sz="11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— (in the) evening</a:t>
            </a:r>
            <a:pPr algn="l" indent="0" marL="0">
              <a:lnSpc>
                <a:spcPts val="1705"/>
              </a:lnSpc>
              <a:buNone/>
            </a:pPr>
            <a:r>
              <a:rPr lang="en-US" sz="11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</a:t>
            </a:r>
            <a:pPr algn="l" indent="0" marL="0">
              <a:lnSpc>
                <a:spcPts val="1705"/>
              </a:lnSpc>
              <a:buNone/>
            </a:pPr>
            <a:r>
              <a:rPr lang="en-US" sz="80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[时间词]</a:t>
            </a:r>
            <a:endParaRPr lang="en-US" sz="1100" dirty="0"/>
          </a:p>
          <a:p>
            <a:pPr algn="l" indent="0" marL="0">
              <a:lnSpc>
                <a:spcPts val="1705"/>
              </a:lnSpc>
              <a:buNone/>
            </a:pPr>
            <a:r>
              <a:rPr lang="en-US" sz="13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下</a:t>
            </a:r>
            <a:pPr algn="l" indent="0" marL="0">
              <a:lnSpc>
                <a:spcPts val="1705"/>
              </a:lnSpc>
              <a:buNone/>
            </a:pPr>
            <a:r>
              <a:rPr lang="en-US" sz="11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</a:t>
            </a:r>
            <a:pPr algn="l" indent="0" marL="0">
              <a:lnSpc>
                <a:spcPts val="1705"/>
              </a:lnSpc>
              <a:buNone/>
            </a:pPr>
            <a:r>
              <a:rPr lang="en-US" sz="110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xià</a:t>
            </a:r>
            <a:pPr algn="l" indent="0" marL="0">
              <a:lnSpc>
                <a:spcPts val="1705"/>
              </a:lnSpc>
              <a:buNone/>
            </a:pPr>
            <a:r>
              <a:rPr lang="en-US" sz="11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</a:t>
            </a:r>
            <a:pPr algn="l" indent="0" marL="0">
              <a:lnSpc>
                <a:spcPts val="1705"/>
              </a:lnSpc>
              <a:buNone/>
            </a:pPr>
            <a:r>
              <a:rPr lang="en-US" sz="11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— down; get off</a:t>
            </a:r>
            <a:pPr algn="l" indent="0" marL="0">
              <a:lnSpc>
                <a:spcPts val="1705"/>
              </a:lnSpc>
              <a:buNone/>
            </a:pPr>
            <a:r>
              <a:rPr lang="en-US" sz="11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</a:t>
            </a:r>
            <a:pPr algn="l" indent="0" marL="0">
              <a:lnSpc>
                <a:spcPts val="1705"/>
              </a:lnSpc>
              <a:buNone/>
            </a:pPr>
            <a:r>
              <a:rPr lang="en-US" sz="80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[部件字]</a:t>
            </a:r>
            <a:endParaRPr lang="en-US" sz="1100" dirty="0"/>
          </a:p>
          <a:p>
            <a:pPr algn="l" indent="0" marL="0">
              <a:lnSpc>
                <a:spcPts val="1705"/>
              </a:lnSpc>
              <a:buNone/>
            </a:pPr>
            <a:r>
              <a:rPr lang="en-US" sz="13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晚</a:t>
            </a:r>
            <a:pPr algn="l" indent="0" marL="0">
              <a:lnSpc>
                <a:spcPts val="1705"/>
              </a:lnSpc>
              <a:buNone/>
            </a:pPr>
            <a:r>
              <a:rPr lang="en-US" sz="11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</a:t>
            </a:r>
            <a:pPr algn="l" indent="0" marL="0">
              <a:lnSpc>
                <a:spcPts val="1705"/>
              </a:lnSpc>
              <a:buNone/>
            </a:pPr>
            <a:r>
              <a:rPr lang="en-US" sz="110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wǎn</a:t>
            </a:r>
            <a:pPr algn="l" indent="0" marL="0">
              <a:lnSpc>
                <a:spcPts val="1705"/>
              </a:lnSpc>
              <a:buNone/>
            </a:pPr>
            <a:r>
              <a:rPr lang="en-US" sz="11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</a:t>
            </a:r>
            <a:pPr algn="l" indent="0" marL="0">
              <a:lnSpc>
                <a:spcPts val="1705"/>
              </a:lnSpc>
              <a:buNone/>
            </a:pPr>
            <a:r>
              <a:rPr lang="en-US" sz="11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— evening; late</a:t>
            </a:r>
            <a:pPr algn="l" indent="0" marL="0">
              <a:lnSpc>
                <a:spcPts val="1705"/>
              </a:lnSpc>
              <a:buNone/>
            </a:pPr>
            <a:r>
              <a:rPr lang="en-US" sz="11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</a:t>
            </a:r>
            <a:pPr algn="l" indent="0" marL="0">
              <a:lnSpc>
                <a:spcPts val="1705"/>
              </a:lnSpc>
              <a:buNone/>
            </a:pPr>
            <a:r>
              <a:rPr lang="en-US" sz="80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[部件字]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31750" y="3612059"/>
            <a:ext cx="5600700" cy="552152"/>
          </a:xfrm>
          <a:prstGeom prst="roundRect">
            <a:avLst>
              <a:gd name="adj" fmla="val 13801"/>
            </a:avLst>
          </a:prstGeom>
          <a:solidFill>
            <a:srgbClr val="EDE7D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584150" y="3713559"/>
            <a:ext cx="540181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8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MODEL &amp; REPEAT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584150" y="3881735"/>
            <a:ext cx="5401818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Model pronunciation twice per word — class repeats twice (choral).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159401" y="3612059"/>
            <a:ext cx="5600849" cy="552152"/>
          </a:xfrm>
          <a:prstGeom prst="roundRect">
            <a:avLst>
              <a:gd name="adj" fmla="val 13801"/>
            </a:avLst>
          </a:prstGeom>
          <a:solidFill>
            <a:srgbClr val="EDE7D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6311801" y="3713559"/>
            <a:ext cx="540197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8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BUILDING BLOCKS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6311801" y="3881735"/>
            <a:ext cx="540197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早 + 上 = 早上  ·  上 + 午 = 上午  ·  下 + 午 = 下午  ·  晚 + 上 = 晚上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31750" y="6562725"/>
            <a:ext cx="146096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 日常起居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1750" y="0"/>
            <a:ext cx="11328499" cy="126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31750" y="0"/>
            <a:ext cx="2539901" cy="25301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31750" y="101501"/>
            <a:ext cx="4099486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L1 · 时间词 · I DO · TEXT 1 SUN-ARC DIAGRAM · 10–20 MIN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31750" y="330101"/>
            <a:ext cx="1155506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9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10–20 MIN · I DO · TEXT 1, P.78 · CD T45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31750" y="530126"/>
            <a:ext cx="11555069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23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一天的时间 · The Sun-Arc Diagram</a:t>
            </a:r>
            <a:endParaRPr lang="en-US" sz="2300" dirty="0"/>
          </a:p>
        </p:txBody>
      </p:sp>
      <p:sp>
        <p:nvSpPr>
          <p:cNvPr id="7" name="Text 5"/>
          <p:cNvSpPr/>
          <p:nvPr/>
        </p:nvSpPr>
        <p:spPr>
          <a:xfrm>
            <a:off x="431750" y="980926"/>
            <a:ext cx="2245370" cy="558701"/>
          </a:xfrm>
          <a:prstGeom prst="rect">
            <a:avLst/>
          </a:prstGeom>
          <a:solidFill>
            <a:srgbClr val="E8CD8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1382820" y="1074539"/>
            <a:ext cx="34323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早上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290978" y="1303139"/>
            <a:ext cx="52691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5:00–8:00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2702421" y="980926"/>
            <a:ext cx="2245519" cy="558701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3653491" y="1074539"/>
            <a:ext cx="34323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上午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3520053" y="1303139"/>
            <a:ext cx="61025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before noon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4973241" y="980926"/>
            <a:ext cx="2245370" cy="558701"/>
          </a:xfrm>
          <a:prstGeom prst="rect">
            <a:avLst/>
          </a:prstGeom>
          <a:solidFill>
            <a:srgbClr val="B5822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5924310" y="1074539"/>
            <a:ext cx="34323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中午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972434" y="1303139"/>
            <a:ext cx="24683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noon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7243911" y="980926"/>
            <a:ext cx="2245519" cy="558701"/>
          </a:xfrm>
          <a:prstGeom prst="rect">
            <a:avLst/>
          </a:prstGeom>
          <a:solidFill>
            <a:srgbClr val="6BAFB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8194981" y="1074539"/>
            <a:ext cx="34323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下午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8123176" y="1303139"/>
            <a:ext cx="48698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afternoon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9514731" y="980926"/>
            <a:ext cx="2245519" cy="558701"/>
          </a:xfrm>
          <a:prstGeom prst="rect">
            <a:avLst/>
          </a:prstGeom>
          <a:solidFill>
            <a:srgbClr val="3A7D8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10465801" y="1074539"/>
            <a:ext cx="34323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晚上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10320522" y="1303139"/>
            <a:ext cx="63393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18:00–24:00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431750" y="1641128"/>
            <a:ext cx="11328499" cy="1203127"/>
          </a:xfrm>
          <a:prstGeom prst="roundRect">
            <a:avLst>
              <a:gd name="adj" fmla="val 6333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431750" y="1641128"/>
            <a:ext cx="11328499" cy="1203127"/>
          </a:xfrm>
          <a:prstGeom prst="rect">
            <a:avLst/>
          </a:prstGeom>
          <a:noFill/>
          <a:ln/>
        </p:spPr>
        <p:txBody>
          <a:bodyPr wrap="square" lIns="177800" tIns="101600" rIns="177800" bIns="101600" rtlCol="0" anchor="t"/>
          <a:lstStyle/>
          <a:p>
            <a:pPr algn="l" indent="0" marL="0">
              <a:lnSpc>
                <a:spcPts val="1575"/>
              </a:lnSpc>
              <a:buNone/>
            </a:pPr>
            <a:r>
              <a:rPr lang="en-US" sz="105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早上</a:t>
            </a:r>
            <a:pPr algn="l" indent="0" marL="0">
              <a:lnSpc>
                <a:spcPts val="1575"/>
              </a:lnSpc>
              <a:buNone/>
            </a:pPr>
            <a:r>
              <a:rPr lang="en-US" sz="10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</a:t>
            </a:r>
            <a:pPr algn="l" indent="0" marL="0">
              <a:lnSpc>
                <a:spcPts val="1575"/>
              </a:lnSpc>
              <a:buNone/>
            </a:pPr>
            <a:r>
              <a:rPr lang="en-US" sz="10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5:00–8:00</a:t>
            </a:r>
            <a:pPr algn="l" indent="0" marL="0">
              <a:lnSpc>
                <a:spcPts val="1575"/>
              </a:lnSpc>
              <a:buNone/>
            </a:pPr>
            <a:r>
              <a:rPr lang="en-US" sz="10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— </a:t>
            </a:r>
            <a:pPr algn="l" indent="0" marL="0">
              <a:lnSpc>
                <a:spcPts val="1575"/>
              </a:lnSpc>
              <a:buNone/>
            </a:pPr>
            <a:r>
              <a:rPr lang="en-US" sz="105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早上七点</a:t>
            </a:r>
            <a:pPr algn="l" indent="0" marL="0">
              <a:lnSpc>
                <a:spcPts val="1575"/>
              </a:lnSpc>
              <a:buNone/>
            </a:pPr>
            <a:r>
              <a:rPr lang="en-US" sz="10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— going to school 去上学</a:t>
            </a:r>
            <a:endParaRPr lang="en-US" sz="1050" dirty="0"/>
          </a:p>
          <a:p>
            <a:pPr algn="l" indent="0" marL="0">
              <a:lnSpc>
                <a:spcPts val="1575"/>
              </a:lnSpc>
              <a:buNone/>
            </a:pPr>
            <a:r>
              <a:rPr lang="en-US" sz="105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上午</a:t>
            </a:r>
            <a:pPr algn="l" indent="0" marL="0">
              <a:lnSpc>
                <a:spcPts val="1575"/>
              </a:lnSpc>
              <a:buNone/>
            </a:pPr>
            <a:r>
              <a:rPr lang="en-US" sz="10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</a:t>
            </a:r>
            <a:pPr algn="l" indent="0" marL="0">
              <a:lnSpc>
                <a:spcPts val="1575"/>
              </a:lnSpc>
              <a:buNone/>
            </a:pPr>
            <a:r>
              <a:rPr lang="en-US" sz="10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before noon</a:t>
            </a:r>
            <a:pPr algn="l" indent="0" marL="0">
              <a:lnSpc>
                <a:spcPts val="1575"/>
              </a:lnSpc>
              <a:buNone/>
            </a:pPr>
            <a:r>
              <a:rPr lang="en-US" sz="10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— </a:t>
            </a:r>
            <a:pPr algn="l" indent="0" marL="0">
              <a:lnSpc>
                <a:spcPts val="1575"/>
              </a:lnSpc>
              <a:buNone/>
            </a:pPr>
            <a:r>
              <a:rPr lang="en-US" sz="105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上午十点</a:t>
            </a:r>
            <a:pPr algn="l" indent="0" marL="0">
              <a:lnSpc>
                <a:spcPts val="1575"/>
              </a:lnSpc>
              <a:buNone/>
            </a:pPr>
            <a:r>
              <a:rPr lang="en-US" sz="10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— studying 学习</a:t>
            </a:r>
            <a:endParaRPr lang="en-US" sz="1050" dirty="0"/>
          </a:p>
          <a:p>
            <a:pPr algn="l" indent="0" marL="0">
              <a:lnSpc>
                <a:spcPts val="1575"/>
              </a:lnSpc>
              <a:buNone/>
            </a:pPr>
            <a:r>
              <a:rPr lang="en-US" sz="105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中午</a:t>
            </a:r>
            <a:pPr algn="l" indent="0" marL="0">
              <a:lnSpc>
                <a:spcPts val="1575"/>
              </a:lnSpc>
              <a:buNone/>
            </a:pPr>
            <a:r>
              <a:rPr lang="en-US" sz="10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</a:t>
            </a:r>
            <a:pPr algn="l" indent="0" marL="0">
              <a:lnSpc>
                <a:spcPts val="1575"/>
              </a:lnSpc>
              <a:buNone/>
            </a:pPr>
            <a:r>
              <a:rPr lang="en-US" sz="10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noon</a:t>
            </a:r>
            <a:pPr algn="l" indent="0" marL="0">
              <a:lnSpc>
                <a:spcPts val="1575"/>
              </a:lnSpc>
              <a:buNone/>
            </a:pPr>
            <a:r>
              <a:rPr lang="en-US" sz="10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— </a:t>
            </a:r>
            <a:pPr algn="l" indent="0" marL="0">
              <a:lnSpc>
                <a:spcPts val="1575"/>
              </a:lnSpc>
              <a:buNone/>
            </a:pPr>
            <a:r>
              <a:rPr lang="en-US" sz="105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中午十二点</a:t>
            </a:r>
            <a:pPr algn="l" indent="0" marL="0">
              <a:lnSpc>
                <a:spcPts val="1575"/>
              </a:lnSpc>
              <a:buNone/>
            </a:pPr>
            <a:r>
              <a:rPr lang="en-US" sz="10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— eating 吃饭</a:t>
            </a:r>
            <a:endParaRPr lang="en-US" sz="1050" dirty="0"/>
          </a:p>
          <a:p>
            <a:pPr algn="l" indent="0" marL="0">
              <a:lnSpc>
                <a:spcPts val="1575"/>
              </a:lnSpc>
              <a:buNone/>
            </a:pPr>
            <a:r>
              <a:rPr lang="en-US" sz="105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下午</a:t>
            </a:r>
            <a:pPr algn="l" indent="0" marL="0">
              <a:lnSpc>
                <a:spcPts val="1575"/>
              </a:lnSpc>
              <a:buNone/>
            </a:pPr>
            <a:r>
              <a:rPr lang="en-US" sz="10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</a:t>
            </a:r>
            <a:pPr algn="l" indent="0" marL="0">
              <a:lnSpc>
                <a:spcPts val="1575"/>
              </a:lnSpc>
              <a:buNone/>
            </a:pPr>
            <a:r>
              <a:rPr lang="en-US" sz="10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afternoon</a:t>
            </a:r>
            <a:pPr algn="l" indent="0" marL="0">
              <a:lnSpc>
                <a:spcPts val="1575"/>
              </a:lnSpc>
              <a:buNone/>
            </a:pPr>
            <a:r>
              <a:rPr lang="en-US" sz="10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— </a:t>
            </a:r>
            <a:pPr algn="l" indent="0" marL="0">
              <a:lnSpc>
                <a:spcPts val="1575"/>
              </a:lnSpc>
              <a:buNone/>
            </a:pPr>
            <a:r>
              <a:rPr lang="en-US" sz="105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下午四点</a:t>
            </a:r>
            <a:pPr algn="l" indent="0" marL="0">
              <a:lnSpc>
                <a:spcPts val="1575"/>
              </a:lnSpc>
              <a:buNone/>
            </a:pPr>
            <a:r>
              <a:rPr lang="en-US" sz="10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— playing football 踢足球</a:t>
            </a:r>
            <a:endParaRPr lang="en-US" sz="1050" dirty="0"/>
          </a:p>
          <a:p>
            <a:pPr algn="l" indent="0" marL="0">
              <a:lnSpc>
                <a:spcPts val="1575"/>
              </a:lnSpc>
              <a:buNone/>
            </a:pPr>
            <a:r>
              <a:rPr lang="en-US" sz="105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晚上</a:t>
            </a:r>
            <a:pPr algn="l" indent="0" marL="0">
              <a:lnSpc>
                <a:spcPts val="1575"/>
              </a:lnSpc>
              <a:buNone/>
            </a:pPr>
            <a:r>
              <a:rPr lang="en-US" sz="10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</a:t>
            </a:r>
            <a:pPr algn="l" indent="0" marL="0">
              <a:lnSpc>
                <a:spcPts val="1575"/>
              </a:lnSpc>
              <a:buNone/>
            </a:pPr>
            <a:r>
              <a:rPr lang="en-US" sz="10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18:00–24:00</a:t>
            </a:r>
            <a:pPr algn="l" indent="0" marL="0">
              <a:lnSpc>
                <a:spcPts val="1575"/>
              </a:lnSpc>
              <a:buNone/>
            </a:pPr>
            <a:r>
              <a:rPr lang="en-US" sz="10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— </a:t>
            </a:r>
            <a:pPr algn="l" indent="0" marL="0">
              <a:lnSpc>
                <a:spcPts val="1575"/>
              </a:lnSpc>
              <a:buNone/>
            </a:pPr>
            <a:r>
              <a:rPr lang="en-US" sz="105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晚上八点</a:t>
            </a:r>
            <a:pPr algn="l" indent="0" marL="0">
              <a:lnSpc>
                <a:spcPts val="1575"/>
              </a:lnSpc>
              <a:buNone/>
            </a:pPr>
            <a:r>
              <a:rPr lang="en-US" sz="10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— watching TV 看电视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431750" y="2945755"/>
            <a:ext cx="11328499" cy="576560"/>
          </a:xfrm>
          <a:prstGeom prst="roundRect">
            <a:avLst>
              <a:gd name="adj" fmla="val 13216"/>
            </a:avLst>
          </a:prstGeom>
          <a:solidFill>
            <a:srgbClr val="FAEAE8"/>
          </a:solidFill>
          <a:ln w="19050">
            <a:solidFill>
              <a:srgbClr val="D4756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628501" y="3091160"/>
            <a:ext cx="223457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⚠️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974527" y="3066306"/>
            <a:ext cx="6942636" cy="1799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18"/>
              </a:lnSpc>
              <a:buNone/>
            </a:pPr>
            <a:r>
              <a:rPr lang="en-US" sz="105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早上 (5:00–8:00) ≠ 上午 (before noon) — both mean "morning" in English, but cover different ranges!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974527" y="3258889"/>
            <a:ext cx="694263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00"/>
              </a:spcBef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早上 is only the early part of the day · 上午 covers everything up to 12:00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431750" y="6562725"/>
            <a:ext cx="146096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 日常起居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1750" y="0"/>
            <a:ext cx="11328499" cy="126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31750" y="0"/>
            <a:ext cx="2539901" cy="25301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31750" y="101501"/>
            <a:ext cx="4282410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L1 · 时间词 · I DO · CHECK FOR UNDERSTANDING · 10–20 MIN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31750" y="330101"/>
            <a:ext cx="1155506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9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10–20 MIN · CFU CHECKPOINTS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31750" y="530126"/>
            <a:ext cx="11555069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23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Check for Understanding</a:t>
            </a:r>
            <a:endParaRPr lang="en-US" sz="2300" dirty="0"/>
          </a:p>
        </p:txBody>
      </p:sp>
      <p:sp>
        <p:nvSpPr>
          <p:cNvPr id="7" name="Text 5"/>
          <p:cNvSpPr/>
          <p:nvPr/>
        </p:nvSpPr>
        <p:spPr>
          <a:xfrm>
            <a:off x="431750" y="980926"/>
            <a:ext cx="11328499" cy="514350"/>
          </a:xfrm>
          <a:prstGeom prst="roundRect">
            <a:avLst>
              <a:gd name="adj" fmla="val 14815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06403" y="1095226"/>
            <a:ext cx="310896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8CD8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041202" y="1138089"/>
            <a:ext cx="4767578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「早上七点」— is this 早上 or 上午? </a:t>
            </a:r>
            <a:pPr algn="l" indent="0" marL="0">
              <a:buNone/>
            </a:pPr>
            <a:r>
              <a:rPr lang="en-US" sz="11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 finger = 早上, 2 fingers = 上午.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31750" y="1596777"/>
            <a:ext cx="11328499" cy="514350"/>
          </a:xfrm>
          <a:prstGeom prst="roundRect">
            <a:avLst>
              <a:gd name="adj" fmla="val 14815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606403" y="1711077"/>
            <a:ext cx="310896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8CD8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041202" y="1753939"/>
            <a:ext cx="2422499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「十点半」— 早上 or 上午? Fingers.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31750" y="2212628"/>
            <a:ext cx="11328499" cy="514350"/>
          </a:xfrm>
          <a:prstGeom prst="roundRect">
            <a:avLst>
              <a:gd name="adj" fmla="val 14815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606403" y="2326928"/>
            <a:ext cx="310896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8CD8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041202" y="2369790"/>
            <a:ext cx="5310128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Teacher says 「下午四点」. Write which time-of-day word this is. Hold it up.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31750" y="2828479"/>
            <a:ext cx="11328499" cy="514350"/>
          </a:xfrm>
          <a:prstGeom prst="roundRect">
            <a:avLst>
              <a:gd name="adj" fmla="val 14815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606403" y="2942779"/>
            <a:ext cx="310896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8CD8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4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041202" y="2985641"/>
            <a:ext cx="5356732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What's the difference between 早上 and 上午? (cold call — explain in English)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31750" y="3469779"/>
            <a:ext cx="601754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☝️ = 早上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1326356" y="3469779"/>
            <a:ext cx="601754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✌️ = 上午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431750" y="3755529"/>
            <a:ext cx="11328499" cy="317302"/>
          </a:xfrm>
          <a:prstGeom prst="roundRect">
            <a:avLst>
              <a:gd name="adj" fmla="val 24015"/>
            </a:avLst>
          </a:prstGeom>
          <a:noFill/>
          <a:ln w="19050">
            <a:solidFill>
              <a:srgbClr val="D5CE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603200" y="3837980"/>
            <a:ext cx="1120531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答案见下一张 · Answers on next slide →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431750" y="6562725"/>
            <a:ext cx="146096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 日常起居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1750" y="0"/>
            <a:ext cx="11328499" cy="126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31750" y="0"/>
            <a:ext cx="2539901" cy="25301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31750" y="101501"/>
            <a:ext cx="3365662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L1 · 时间词 · I DO · CFU · ANSWERS · 10–20 MIN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31750" y="330101"/>
            <a:ext cx="1155506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9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10–20 MIN · CFU CHECKPOINTS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31750" y="530126"/>
            <a:ext cx="11555069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23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Check for Understanding</a:t>
            </a:r>
            <a:endParaRPr lang="en-US" sz="2300" dirty="0"/>
          </a:p>
        </p:txBody>
      </p:sp>
      <p:sp>
        <p:nvSpPr>
          <p:cNvPr id="7" name="Text 5"/>
          <p:cNvSpPr/>
          <p:nvPr/>
        </p:nvSpPr>
        <p:spPr>
          <a:xfrm>
            <a:off x="431750" y="980926"/>
            <a:ext cx="11328499" cy="514350"/>
          </a:xfrm>
          <a:prstGeom prst="roundRect">
            <a:avLst>
              <a:gd name="adj" fmla="val 14815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06403" y="1095226"/>
            <a:ext cx="310896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8CD8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041202" y="1138089"/>
            <a:ext cx="619651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「早上七点」— is this 早上 or 上午?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156380" y="1133326"/>
            <a:ext cx="4426169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✅ 1 finger — 早上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31750" y="1596777"/>
            <a:ext cx="11328499" cy="514350"/>
          </a:xfrm>
          <a:prstGeom prst="roundRect">
            <a:avLst>
              <a:gd name="adj" fmla="val 14815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606403" y="1711077"/>
            <a:ext cx="310896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8CD8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041202" y="1753939"/>
            <a:ext cx="619651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「十点半」— 早上 or 上午?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7156380" y="1749177"/>
            <a:ext cx="4426169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✅ 2 fingers — 上午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31750" y="2212628"/>
            <a:ext cx="11328499" cy="514350"/>
          </a:xfrm>
          <a:prstGeom prst="roundRect">
            <a:avLst>
              <a:gd name="adj" fmla="val 14815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606403" y="2326928"/>
            <a:ext cx="310896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8CD8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041202" y="2369790"/>
            <a:ext cx="619651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Teacher says 「下午四点」. Which time-of-day word?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7156380" y="2379315"/>
            <a:ext cx="4426169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→ 下午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431750" y="2853928"/>
            <a:ext cx="11328499" cy="665262"/>
          </a:xfrm>
          <a:prstGeom prst="roundRect">
            <a:avLst>
              <a:gd name="adj" fmla="val 11454"/>
            </a:avLst>
          </a:prstGeom>
          <a:solidFill>
            <a:srgbClr val="F5E9D2"/>
          </a:solidFill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653951" y="2999929"/>
            <a:ext cx="11101780" cy="186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70"/>
              </a:lnSpc>
              <a:buNone/>
            </a:pPr>
            <a:r>
              <a:rPr lang="en-US" sz="105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Q4 — What's the difference between 早上 and 上午?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653951" y="3186559"/>
            <a:ext cx="11101780" cy="186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70"/>
              </a:lnSpc>
              <a:buNone/>
            </a:pPr>
            <a:r>
              <a:rPr lang="en-US" sz="105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早上 = only the early morning, roughly </a:t>
            </a:r>
            <a:pPr algn="l" indent="0" marL="0">
              <a:lnSpc>
                <a:spcPts val="1470"/>
              </a:lnSpc>
              <a:buNone/>
            </a:pPr>
            <a:r>
              <a:rPr lang="en-US" sz="105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5:00–8:00</a:t>
            </a:r>
            <a:pPr algn="l" indent="0" marL="0">
              <a:lnSpc>
                <a:spcPts val="1470"/>
              </a:lnSpc>
              <a:buNone/>
            </a:pPr>
            <a:r>
              <a:rPr lang="en-US" sz="105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. 上午 = anything </a:t>
            </a:r>
            <a:pPr algn="l" indent="0" marL="0">
              <a:lnSpc>
                <a:spcPts val="1470"/>
              </a:lnSpc>
              <a:buNone/>
            </a:pPr>
            <a:r>
              <a:rPr lang="en-US" sz="105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before noon</a:t>
            </a:r>
            <a:pPr algn="l" indent="0" marL="0">
              <a:lnSpc>
                <a:spcPts val="1470"/>
              </a:lnSpc>
              <a:buNone/>
            </a:pPr>
            <a:r>
              <a:rPr lang="en-US" sz="105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(up to 12:00) — a much broader range that includes 早上's time span.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431750" y="6562725"/>
            <a:ext cx="146096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 日常起居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1750" y="0"/>
            <a:ext cx="11328499" cy="126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31750" y="0"/>
            <a:ext cx="2539901" cy="25301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31750" y="101501"/>
            <a:ext cx="317787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L1 · 时间词 · WE DO · ACTIVITY 1 · 20–43 MIN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31750" y="330101"/>
            <a:ext cx="1155506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9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ACTIVITY 1 · 8 MIN · WE DO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31750" y="530126"/>
            <a:ext cx="11555069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23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Sun-Arc Diagram Labelling</a:t>
            </a:r>
            <a:endParaRPr lang="en-US" sz="2300" dirty="0"/>
          </a:p>
        </p:txBody>
      </p:sp>
      <p:sp>
        <p:nvSpPr>
          <p:cNvPr id="7" name="Text 5"/>
          <p:cNvSpPr/>
          <p:nvPr/>
        </p:nvSpPr>
        <p:spPr>
          <a:xfrm>
            <a:off x="431750" y="980926"/>
            <a:ext cx="11555069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Copy the correct Chinese word into each blank, then copy one scene sentence under each.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31750" y="1282452"/>
            <a:ext cx="11328499" cy="507950"/>
          </a:xfrm>
          <a:prstGeom prst="roundRect">
            <a:avLst>
              <a:gd name="adj" fmla="val 15001"/>
            </a:avLst>
          </a:prstGeom>
          <a:solidFill>
            <a:srgbClr val="EDE7D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Shape 7"/>
          <p:cNvSpPr/>
          <p:nvPr/>
        </p:nvSpPr>
        <p:spPr>
          <a:xfrm>
            <a:off x="2694533" y="1282452"/>
            <a:ext cx="0" cy="507950"/>
          </a:xfrm>
          <a:prstGeom prst="line">
            <a:avLst/>
          </a:prstGeom>
          <a:noFill/>
          <a:ln w="9525">
            <a:solidFill>
              <a:srgbClr val="D5CEB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408361" y="1433215"/>
            <a:ext cx="304800" cy="25301"/>
          </a:xfrm>
          <a:prstGeom prst="roundRect">
            <a:avLst>
              <a:gd name="adj" fmla="val 50196"/>
            </a:avLst>
          </a:prstGeom>
          <a:solidFill>
            <a:srgbClr val="D5CEB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1539478" y="1496616"/>
            <a:ext cx="4326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4962227" y="1282452"/>
            <a:ext cx="0" cy="507950"/>
          </a:xfrm>
          <a:prstGeom prst="line">
            <a:avLst/>
          </a:prstGeom>
          <a:noFill/>
          <a:ln w="9525">
            <a:solidFill>
              <a:srgbClr val="D5CEB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75906" y="1433215"/>
            <a:ext cx="304800" cy="25301"/>
          </a:xfrm>
          <a:prstGeom prst="roundRect">
            <a:avLst>
              <a:gd name="adj" fmla="val 50196"/>
            </a:avLst>
          </a:prstGeom>
          <a:solidFill>
            <a:srgbClr val="D5CEB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3797052" y="1496616"/>
            <a:ext cx="6375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7229773" y="1282452"/>
            <a:ext cx="0" cy="507950"/>
          </a:xfrm>
          <a:prstGeom prst="line">
            <a:avLst/>
          </a:prstGeom>
          <a:noFill/>
          <a:ln w="9525">
            <a:solidFill>
              <a:srgbClr val="D5CEB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433215"/>
            <a:ext cx="304800" cy="25301"/>
          </a:xfrm>
          <a:prstGeom prst="roundRect">
            <a:avLst>
              <a:gd name="adj" fmla="val 50196"/>
            </a:avLst>
          </a:prstGeom>
          <a:solidFill>
            <a:srgbClr val="D5CEB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6064895" y="1496616"/>
            <a:ext cx="6345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9497467" y="1282452"/>
            <a:ext cx="0" cy="507950"/>
          </a:xfrm>
          <a:prstGeom prst="line">
            <a:avLst/>
          </a:prstGeom>
          <a:noFill/>
          <a:ln w="9525">
            <a:solidFill>
              <a:srgbClr val="D5CEB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211145" y="1433215"/>
            <a:ext cx="304800" cy="25301"/>
          </a:xfrm>
          <a:prstGeom prst="roundRect">
            <a:avLst>
              <a:gd name="adj" fmla="val 50196"/>
            </a:avLst>
          </a:prstGeom>
          <a:solidFill>
            <a:srgbClr val="D5CEB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8332291" y="1496616"/>
            <a:ext cx="6391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4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478839" y="1433215"/>
            <a:ext cx="304800" cy="25301"/>
          </a:xfrm>
          <a:prstGeom prst="roundRect">
            <a:avLst>
              <a:gd name="adj" fmla="val 50196"/>
            </a:avLst>
          </a:prstGeom>
          <a:solidFill>
            <a:srgbClr val="D5CEB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10599986" y="1496616"/>
            <a:ext cx="6375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5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431750" y="1917353"/>
            <a:ext cx="11328499" cy="1331416"/>
          </a:xfrm>
          <a:prstGeom prst="roundRect">
            <a:avLst>
              <a:gd name="adj" fmla="val 7631"/>
            </a:avLst>
          </a:prstGeom>
          <a:solidFill>
            <a:srgbClr val="F6F2E8"/>
          </a:solidFill>
          <a:ln w="19050">
            <a:solidFill>
              <a:srgbClr val="D5CE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653951" y="2082403"/>
            <a:ext cx="1056382" cy="219075"/>
          </a:xfrm>
          <a:prstGeom prst="roundRect">
            <a:avLst>
              <a:gd name="adj" fmla="val 69565"/>
            </a:avLst>
          </a:prstGeom>
          <a:solidFill>
            <a:srgbClr val="3A7D8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780901" y="2120503"/>
            <a:ext cx="81853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We Do · 8 min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653951" y="2377678"/>
            <a:ext cx="357970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8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SCAFFOLD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653951" y="2558653"/>
            <a:ext cx="3579706" cy="337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30"/>
              </a:lnSpc>
              <a:buNone/>
            </a:pPr>
            <a:r>
              <a:rPr lang="en-US" sz="9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Word bank of all 5 terms + pinyin printed at the bottom of the worksheet.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653951" y="2921794"/>
            <a:ext cx="3579706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10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早上 · 上午 · 中午 · 下午 · 晚上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4341168" y="2377678"/>
            <a:ext cx="357985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8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EXTENSION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4341168" y="2558653"/>
            <a:ext cx="3579858" cy="337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30"/>
              </a:lnSpc>
              <a:buNone/>
            </a:pPr>
            <a:r>
              <a:rPr lang="en-US" sz="9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Fluent students also write the time range in Chinese numerals next to each label — e.g. 早上五点到八点。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8028533" y="2377678"/>
            <a:ext cx="357970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8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OTR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8028533" y="2558653"/>
            <a:ext cx="3579706" cy="337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30"/>
              </a:lnSpc>
              <a:buNone/>
            </a:pPr>
            <a:r>
              <a:rPr lang="en-US" sz="9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Turn-and-talk — check answers with a partner before teacher reveals. Every student compares every label.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431750" y="6562725"/>
            <a:ext cx="146096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 日常起居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1750" y="0"/>
            <a:ext cx="11328499" cy="126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31750" y="0"/>
            <a:ext cx="2539901" cy="25301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31750" y="101501"/>
            <a:ext cx="3283080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L1 · 时间词 · YOU DO · ACTIVITY 2 · 20–43 MIN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31750" y="330101"/>
            <a:ext cx="1155506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9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ACTIVITY 2 · 8 MIN · YOU DO · EX1, P.79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31750" y="530126"/>
            <a:ext cx="11555069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23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Greeting Completion · 问候语</a:t>
            </a:r>
            <a:endParaRPr lang="en-US" sz="2300" dirty="0"/>
          </a:p>
        </p:txBody>
      </p:sp>
      <p:sp>
        <p:nvSpPr>
          <p:cNvPr id="7" name="Text 5"/>
          <p:cNvSpPr/>
          <p:nvPr/>
        </p:nvSpPr>
        <p:spPr>
          <a:xfrm>
            <a:off x="431750" y="980926"/>
            <a:ext cx="11555069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For each scene below, write the matching greeting on paper.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31750" y="1282452"/>
            <a:ext cx="11328499" cy="581025"/>
          </a:xfrm>
          <a:prstGeom prst="roundRect">
            <a:avLst>
              <a:gd name="adj" fmla="val 13115"/>
            </a:avLst>
          </a:prstGeom>
          <a:solidFill>
            <a:srgbClr val="EDE7D7"/>
          </a:solidFill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628501" y="1377702"/>
            <a:ext cx="11153698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___</a:t>
            </a:r>
            <a:pPr algn="l" indent="0" marL="0">
              <a:buNone/>
            </a:pPr>
            <a:r>
              <a:rPr lang="en-US" sz="14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好！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28501" y="1625352"/>
            <a:ext cx="1115369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fill with 早上 / 中午 / 下午 / 晚上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431750" y="1990427"/>
            <a:ext cx="2736800" cy="1050727"/>
          </a:xfrm>
          <a:prstGeom prst="roundRect">
            <a:avLst>
              <a:gd name="adj" fmla="val 9670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507913" y="2117378"/>
            <a:ext cx="258447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8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SCENE 1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507913" y="2311003"/>
            <a:ext cx="2584475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9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7:30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507913" y="2704654"/>
            <a:ext cx="2584475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5CEB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___好！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3295501" y="1990427"/>
            <a:ext cx="2736949" cy="1050727"/>
          </a:xfrm>
          <a:prstGeom prst="roundRect">
            <a:avLst>
              <a:gd name="adj" fmla="val 9670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3371662" y="2117378"/>
            <a:ext cx="258462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8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SCENE 2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3371662" y="2311003"/>
            <a:ext cx="2584627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9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12:00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3371662" y="2704654"/>
            <a:ext cx="2584627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5CEB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___好！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159401" y="1990427"/>
            <a:ext cx="2736949" cy="1050727"/>
          </a:xfrm>
          <a:prstGeom prst="roundRect">
            <a:avLst>
              <a:gd name="adj" fmla="val 9670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6235562" y="2117378"/>
            <a:ext cx="258462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8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SCENE 3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6235562" y="2311003"/>
            <a:ext cx="2584627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9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16:00</a:t>
            </a:r>
            <a:endParaRPr lang="en-US" sz="1900" dirty="0"/>
          </a:p>
        </p:txBody>
      </p:sp>
      <p:sp>
        <p:nvSpPr>
          <p:cNvPr id="22" name="Text 20"/>
          <p:cNvSpPr/>
          <p:nvPr/>
        </p:nvSpPr>
        <p:spPr>
          <a:xfrm>
            <a:off x="6235562" y="2704654"/>
            <a:ext cx="2584627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5CEB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___好！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9023300" y="1990427"/>
            <a:ext cx="2736949" cy="1050727"/>
          </a:xfrm>
          <a:prstGeom prst="roundRect">
            <a:avLst>
              <a:gd name="adj" fmla="val 9670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9099462" y="2117378"/>
            <a:ext cx="258462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8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SCENE 4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9099462" y="2311003"/>
            <a:ext cx="2584627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9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20:00</a:t>
            </a:r>
            <a:endParaRPr lang="en-US" sz="1900" dirty="0"/>
          </a:p>
        </p:txBody>
      </p:sp>
      <p:sp>
        <p:nvSpPr>
          <p:cNvPr id="26" name="Text 24"/>
          <p:cNvSpPr/>
          <p:nvPr/>
        </p:nvSpPr>
        <p:spPr>
          <a:xfrm>
            <a:off x="9099462" y="2704654"/>
            <a:ext cx="2584627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5CEB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___好！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431750" y="3168104"/>
            <a:ext cx="11328499" cy="1095673"/>
          </a:xfrm>
          <a:prstGeom prst="roundRect">
            <a:avLst>
              <a:gd name="adj" fmla="val 9273"/>
            </a:avLst>
          </a:prstGeom>
          <a:solidFill>
            <a:srgbClr val="F6F2E8"/>
          </a:solidFill>
          <a:ln w="19050">
            <a:solidFill>
              <a:srgbClr val="D5CE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653951" y="3333155"/>
            <a:ext cx="1100435" cy="219075"/>
          </a:xfrm>
          <a:prstGeom prst="roundRect">
            <a:avLst>
              <a:gd name="adj" fmla="val 69565"/>
            </a:avLst>
          </a:prstGeom>
          <a:solidFill>
            <a:srgbClr val="D475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Text 27"/>
          <p:cNvSpPr/>
          <p:nvPr/>
        </p:nvSpPr>
        <p:spPr>
          <a:xfrm>
            <a:off x="780901" y="3371255"/>
            <a:ext cx="86346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You Do · 8 min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653951" y="3628430"/>
            <a:ext cx="357970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8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SCAFFOLD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53951" y="3809405"/>
            <a:ext cx="3579706" cy="1541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Sentence frame on projector: ___好！ Word bank visible.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4341168" y="3628430"/>
            <a:ext cx="357985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8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EXTENSION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4341168" y="3809405"/>
            <a:ext cx="3579858" cy="3083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Add a second line responding appropriately, e.g. A: 早上好！ B: 早上好！你要去哪儿？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8028533" y="3628430"/>
            <a:ext cx="357970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8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OTR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8028533" y="3809405"/>
            <a:ext cx="3579706" cy="3083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In pairs: one reads their written greeting aloud, partner identifies the time of day. Cold call 4 pairs to perform.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431750" y="4365278"/>
            <a:ext cx="11328499" cy="317302"/>
          </a:xfrm>
          <a:prstGeom prst="roundRect">
            <a:avLst>
              <a:gd name="adj" fmla="val 24015"/>
            </a:avLst>
          </a:prstGeom>
          <a:noFill/>
          <a:ln w="19050">
            <a:solidFill>
              <a:srgbClr val="D5CE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Text 35"/>
          <p:cNvSpPr/>
          <p:nvPr/>
        </p:nvSpPr>
        <p:spPr>
          <a:xfrm>
            <a:off x="603200" y="4447729"/>
            <a:ext cx="1120531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答案见下一张 · Model answers on next slide →</a:t>
            </a:r>
            <a:endParaRPr lang="en-US" sz="850" dirty="0"/>
          </a:p>
        </p:txBody>
      </p:sp>
      <p:sp>
        <p:nvSpPr>
          <p:cNvPr id="38" name="Text 36"/>
          <p:cNvSpPr/>
          <p:nvPr/>
        </p:nvSpPr>
        <p:spPr>
          <a:xfrm>
            <a:off x="431750" y="6562725"/>
            <a:ext cx="146096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 日常起居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1750" y="0"/>
            <a:ext cx="11328499" cy="126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31750" y="0"/>
            <a:ext cx="2539901" cy="25301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31750" y="101501"/>
            <a:ext cx="3202320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L1 · 时间词 · YOU DO · ACTIVITY 2 · ANSWERS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31750" y="330101"/>
            <a:ext cx="1155506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9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ACTIVITY 2 · YOU DO · EX1, P.79 · MODEL ANSWERS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31750" y="530126"/>
            <a:ext cx="11555069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23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Greeting Completion · 问候语</a:t>
            </a:r>
            <a:endParaRPr lang="en-US" sz="2300" dirty="0"/>
          </a:p>
        </p:txBody>
      </p:sp>
      <p:sp>
        <p:nvSpPr>
          <p:cNvPr id="7" name="Text 5"/>
          <p:cNvSpPr/>
          <p:nvPr/>
        </p:nvSpPr>
        <p:spPr>
          <a:xfrm>
            <a:off x="431750" y="980926"/>
            <a:ext cx="2736800" cy="771376"/>
          </a:xfrm>
          <a:prstGeom prst="roundRect">
            <a:avLst>
              <a:gd name="adj" fmla="val 13171"/>
            </a:avLst>
          </a:prstGeom>
          <a:solidFill>
            <a:srgbClr val="F5E9D2"/>
          </a:solidFill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527344" y="1126927"/>
            <a:ext cx="254561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8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SCENE 1 · 7:30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527344" y="1320552"/>
            <a:ext cx="2545613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早上好！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3295501" y="980926"/>
            <a:ext cx="2736949" cy="771376"/>
          </a:xfrm>
          <a:prstGeom prst="roundRect">
            <a:avLst>
              <a:gd name="adj" fmla="val 13171"/>
            </a:avLst>
          </a:prstGeom>
          <a:solidFill>
            <a:srgbClr val="F5E9D2"/>
          </a:solidFill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3391093" y="1126927"/>
            <a:ext cx="254576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8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SCENE 2 · 12:00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3391093" y="1320552"/>
            <a:ext cx="2545765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中午好！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159401" y="980926"/>
            <a:ext cx="2736949" cy="771376"/>
          </a:xfrm>
          <a:prstGeom prst="roundRect">
            <a:avLst>
              <a:gd name="adj" fmla="val 13171"/>
            </a:avLst>
          </a:prstGeom>
          <a:solidFill>
            <a:srgbClr val="F5E9D2"/>
          </a:solidFill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6254993" y="1126927"/>
            <a:ext cx="254576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8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SCENE 3 · 16:00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6254993" y="1320552"/>
            <a:ext cx="2545765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下午好！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9023300" y="980926"/>
            <a:ext cx="2736949" cy="771376"/>
          </a:xfrm>
          <a:prstGeom prst="roundRect">
            <a:avLst>
              <a:gd name="adj" fmla="val 13171"/>
            </a:avLst>
          </a:prstGeom>
          <a:solidFill>
            <a:srgbClr val="F5E9D2"/>
          </a:solidFill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9118893" y="1126927"/>
            <a:ext cx="254576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8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SCENE 4 · 20:00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9118893" y="1320552"/>
            <a:ext cx="2545765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晚上好！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431750" y="1930003"/>
            <a:ext cx="11328499" cy="703957"/>
          </a:xfrm>
          <a:prstGeom prst="roundRect">
            <a:avLst>
              <a:gd name="adj" fmla="val 14433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634901" y="2056954"/>
            <a:ext cx="1114064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8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EXTENSION — ADD A SECOND LINE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634901" y="2263229"/>
            <a:ext cx="11140642" cy="2437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2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A:</a:t>
            </a:r>
            <a:pPr algn="l" indent="0" marL="0">
              <a:lnSpc>
                <a:spcPts val="1920"/>
              </a:lnSpc>
              <a:buNone/>
            </a:pPr>
            <a:r>
              <a:rPr lang="en-US" sz="12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早上好！ </a:t>
            </a:r>
            <a:pPr algn="l" indent="0" marL="0">
              <a:lnSpc>
                <a:spcPts val="1920"/>
              </a:lnSpc>
              <a:buNone/>
            </a:pPr>
            <a:r>
              <a:rPr lang="en-US" sz="12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B:</a:t>
            </a:r>
            <a:pPr algn="l" indent="0" marL="0">
              <a:lnSpc>
                <a:spcPts val="1920"/>
              </a:lnSpc>
              <a:buNone/>
            </a:pPr>
            <a:r>
              <a:rPr lang="en-US" sz="12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早上好！你要去哪儿？</a:t>
            </a:r>
            <a:pPr algn="l" indent="0" marL="0">
              <a:lnSpc>
                <a:spcPts val="1920"/>
              </a:lnSpc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（English answer accepted if needed — preview of next topic）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431750" y="6562725"/>
            <a:ext cx="146096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 日常起居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1750" y="0"/>
            <a:ext cx="11328499" cy="126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31750" y="0"/>
            <a:ext cx="2539901" cy="25301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31750" y="101501"/>
            <a:ext cx="3283535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L1 · 时间词 · YOU DO · ACTIVITY 3 · 20–43 MIN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31750" y="330101"/>
            <a:ext cx="1155506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9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ACTIVITY 3 · 5 MIN · YOU DO · EX2, P.79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31750" y="530126"/>
            <a:ext cx="11555069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23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Dictionary Race · 查字典比赛</a:t>
            </a:r>
            <a:endParaRPr lang="en-US" sz="2300" dirty="0"/>
          </a:p>
        </p:txBody>
      </p:sp>
      <p:sp>
        <p:nvSpPr>
          <p:cNvPr id="7" name="Text 5"/>
          <p:cNvSpPr/>
          <p:nvPr/>
        </p:nvSpPr>
        <p:spPr>
          <a:xfrm>
            <a:off x="431750" y="980926"/>
            <a:ext cx="11555069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Groups of 3–4: look up each phrase and write the meaning. Fastest group with all correct meanings wins.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31750" y="1282452"/>
            <a:ext cx="2176760" cy="790277"/>
          </a:xfrm>
          <a:prstGeom prst="roundRect">
            <a:avLst>
              <a:gd name="adj" fmla="val 12856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487707" y="1409402"/>
            <a:ext cx="2064847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校车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487707" y="1701403"/>
            <a:ext cx="206484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8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xiào chē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912763" y="1920478"/>
            <a:ext cx="1214586" cy="25301"/>
          </a:xfrm>
          <a:prstGeom prst="roundRect">
            <a:avLst>
              <a:gd name="adj" fmla="val 50196"/>
            </a:avLst>
          </a:prstGeom>
          <a:solidFill>
            <a:srgbClr val="D5CEB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2710011" y="1282452"/>
            <a:ext cx="2176909" cy="790277"/>
          </a:xfrm>
          <a:prstGeom prst="roundRect">
            <a:avLst>
              <a:gd name="adj" fmla="val 12856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2765966" y="1409402"/>
            <a:ext cx="2064999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火车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2765966" y="1701403"/>
            <a:ext cx="206499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8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huǒ chē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3191173" y="1920478"/>
            <a:ext cx="1214586" cy="25301"/>
          </a:xfrm>
          <a:prstGeom prst="roundRect">
            <a:avLst>
              <a:gd name="adj" fmla="val 50196"/>
            </a:avLst>
          </a:prstGeom>
          <a:solidFill>
            <a:srgbClr val="D5CEB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4988421" y="1282452"/>
            <a:ext cx="2176909" cy="790277"/>
          </a:xfrm>
          <a:prstGeom prst="roundRect">
            <a:avLst>
              <a:gd name="adj" fmla="val 12856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5044376" y="1409402"/>
            <a:ext cx="2064999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出租车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5044376" y="1701403"/>
            <a:ext cx="206499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8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chū zū chē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5469582" y="1920478"/>
            <a:ext cx="1214586" cy="25301"/>
          </a:xfrm>
          <a:prstGeom prst="roundRect">
            <a:avLst>
              <a:gd name="adj" fmla="val 50196"/>
            </a:avLst>
          </a:prstGeom>
          <a:solidFill>
            <a:srgbClr val="D5CEB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7266831" y="1282452"/>
            <a:ext cx="2176909" cy="790277"/>
          </a:xfrm>
          <a:prstGeom prst="roundRect">
            <a:avLst>
              <a:gd name="adj" fmla="val 12856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7322786" y="1409402"/>
            <a:ext cx="2064999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地铁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7322786" y="1701403"/>
            <a:ext cx="206499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8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dì tiě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7747992" y="1920478"/>
            <a:ext cx="1214586" cy="25301"/>
          </a:xfrm>
          <a:prstGeom prst="roundRect">
            <a:avLst>
              <a:gd name="adj" fmla="val 50196"/>
            </a:avLst>
          </a:prstGeom>
          <a:solidFill>
            <a:srgbClr val="D5CEB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9545241" y="1282452"/>
            <a:ext cx="2215009" cy="790277"/>
          </a:xfrm>
          <a:prstGeom prst="roundRect">
            <a:avLst>
              <a:gd name="adj" fmla="val 12856"/>
            </a:avLst>
          </a:prstGeom>
          <a:noFill/>
          <a:ln w="19050">
            <a:solidFill>
              <a:srgbClr val="D5CE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10123478" y="1606153"/>
            <a:ext cx="105853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+ more cards per set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431750" y="2199680"/>
            <a:ext cx="11328499" cy="1095673"/>
          </a:xfrm>
          <a:prstGeom prst="roundRect">
            <a:avLst>
              <a:gd name="adj" fmla="val 9273"/>
            </a:avLst>
          </a:prstGeom>
          <a:solidFill>
            <a:srgbClr val="F6F2E8"/>
          </a:solidFill>
          <a:ln w="19050">
            <a:solidFill>
              <a:srgbClr val="D5CE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Text 25"/>
          <p:cNvSpPr/>
          <p:nvPr/>
        </p:nvSpPr>
        <p:spPr>
          <a:xfrm>
            <a:off x="653951" y="2364730"/>
            <a:ext cx="1099542" cy="219075"/>
          </a:xfrm>
          <a:prstGeom prst="roundRect">
            <a:avLst>
              <a:gd name="adj" fmla="val 69565"/>
            </a:avLst>
          </a:prstGeom>
          <a:solidFill>
            <a:srgbClr val="D475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780901" y="2402830"/>
            <a:ext cx="86255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You Do · 5 min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653951" y="2660005"/>
            <a:ext cx="357970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8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SCAFFOLD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653951" y="2840980"/>
            <a:ext cx="3579706" cy="3083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Weaker groups get fewer cards (4 instead of 6) and may work in a threesome with a stronger reader.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4341168" y="2660005"/>
            <a:ext cx="357985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8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EXTENSION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4341168" y="2840980"/>
            <a:ext cx="3579858" cy="3083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Fast-finishing groups write one full sentence using a found phrase — e.g. 我坐地铁上学。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8028533" y="2660005"/>
            <a:ext cx="357970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8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OTR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8028533" y="2840980"/>
            <a:ext cx="3579706" cy="3083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Every student in the group must write at least one meaning in their own hand before the group can submit.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431750" y="3396853"/>
            <a:ext cx="11328499" cy="317302"/>
          </a:xfrm>
          <a:prstGeom prst="roundRect">
            <a:avLst>
              <a:gd name="adj" fmla="val 24015"/>
            </a:avLst>
          </a:prstGeom>
          <a:noFill/>
          <a:ln w="19050">
            <a:solidFill>
              <a:srgbClr val="D5CE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Text 34"/>
          <p:cNvSpPr/>
          <p:nvPr/>
        </p:nvSpPr>
        <p:spPr>
          <a:xfrm>
            <a:off x="603200" y="3479304"/>
            <a:ext cx="1120531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答案见下一张 · Meanings on next slide →</a:t>
            </a:r>
            <a:endParaRPr lang="en-US" sz="850" dirty="0"/>
          </a:p>
        </p:txBody>
      </p:sp>
      <p:sp>
        <p:nvSpPr>
          <p:cNvPr id="37" name="Text 35"/>
          <p:cNvSpPr/>
          <p:nvPr/>
        </p:nvSpPr>
        <p:spPr>
          <a:xfrm>
            <a:off x="431750" y="6562725"/>
            <a:ext cx="146096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 日常起居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1750" y="0"/>
            <a:ext cx="11328499" cy="126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31750" y="0"/>
            <a:ext cx="2539901" cy="25301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31750" y="101501"/>
            <a:ext cx="3202927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L1 · 时间词 · YOU DO · ACTIVITY 3 · ANSWERS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31750" y="330101"/>
            <a:ext cx="1155506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9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ACTIVITY 3 · YOU DO · EX2, P.79 · MEANINGS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31750" y="530126"/>
            <a:ext cx="11555069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23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Dictionary Race · 查字典比赛</a:t>
            </a:r>
            <a:endParaRPr lang="en-US" sz="2300" dirty="0"/>
          </a:p>
        </p:txBody>
      </p:sp>
      <p:sp>
        <p:nvSpPr>
          <p:cNvPr id="7" name="Text 5"/>
          <p:cNvSpPr/>
          <p:nvPr/>
        </p:nvSpPr>
        <p:spPr>
          <a:xfrm>
            <a:off x="431750" y="980926"/>
            <a:ext cx="2736800" cy="990302"/>
          </a:xfrm>
          <a:prstGeom prst="roundRect">
            <a:avLst>
              <a:gd name="adj" fmla="val 10260"/>
            </a:avLst>
          </a:prstGeom>
          <a:solidFill>
            <a:srgbClr val="F5E9D2"/>
          </a:solidFill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527344" y="1126927"/>
            <a:ext cx="2545613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校车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527344" y="1418927"/>
            <a:ext cx="254561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8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xiào chē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527344" y="1625203"/>
            <a:ext cx="2545613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500"/>
              </a:spcBef>
              <a:buNone/>
            </a:pPr>
            <a:r>
              <a:rPr lang="en-US" sz="11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school bus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295501" y="980926"/>
            <a:ext cx="2736949" cy="990302"/>
          </a:xfrm>
          <a:prstGeom prst="roundRect">
            <a:avLst>
              <a:gd name="adj" fmla="val 10260"/>
            </a:avLst>
          </a:prstGeom>
          <a:solidFill>
            <a:srgbClr val="F5E9D2"/>
          </a:solidFill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3391093" y="1126927"/>
            <a:ext cx="254576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火车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3391093" y="1418927"/>
            <a:ext cx="254576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8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huǒ chē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3391093" y="1625203"/>
            <a:ext cx="2545765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500"/>
              </a:spcBef>
              <a:buNone/>
            </a:pPr>
            <a:r>
              <a:rPr lang="en-US" sz="11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train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159401" y="980926"/>
            <a:ext cx="2736949" cy="990302"/>
          </a:xfrm>
          <a:prstGeom prst="roundRect">
            <a:avLst>
              <a:gd name="adj" fmla="val 10260"/>
            </a:avLst>
          </a:prstGeom>
          <a:solidFill>
            <a:srgbClr val="F5E9D2"/>
          </a:solidFill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6254993" y="1126927"/>
            <a:ext cx="254576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出租车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6254993" y="1418927"/>
            <a:ext cx="254576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8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chū zū chē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6254993" y="1625203"/>
            <a:ext cx="2545765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500"/>
              </a:spcBef>
              <a:buNone/>
            </a:pPr>
            <a:r>
              <a:rPr lang="en-US" sz="11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taxi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9023300" y="980926"/>
            <a:ext cx="2736949" cy="990302"/>
          </a:xfrm>
          <a:prstGeom prst="roundRect">
            <a:avLst>
              <a:gd name="adj" fmla="val 10260"/>
            </a:avLst>
          </a:prstGeom>
          <a:solidFill>
            <a:srgbClr val="F5E9D2"/>
          </a:solidFill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9118893" y="1126927"/>
            <a:ext cx="254576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地铁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9118893" y="1418927"/>
            <a:ext cx="254576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8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dì tiě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9118893" y="1625203"/>
            <a:ext cx="2545765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500"/>
              </a:spcBef>
              <a:buNone/>
            </a:pPr>
            <a:r>
              <a:rPr lang="en-US" sz="11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subway / metro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31750" y="2148929"/>
            <a:ext cx="11328499" cy="431602"/>
          </a:xfrm>
          <a:prstGeom prst="roundRect">
            <a:avLst>
              <a:gd name="adj" fmla="val 23540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634901" y="2275880"/>
            <a:ext cx="11140642" cy="1777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These transport words are pulled forward from Lesson 12 — you'll meet them again soon when we learn how to say "I go to school by ___".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31750" y="6562725"/>
            <a:ext cx="146096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 日常起居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1750" y="0"/>
            <a:ext cx="11328499" cy="126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31750" y="0"/>
            <a:ext cx="2539901" cy="25301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31750" y="101501"/>
            <a:ext cx="3703427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L1 · 时间词 · GAME · CHARACTER BINGO · 20–43 MIN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598993" y="330101"/>
            <a:ext cx="993865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300"/>
              </a:spcAft>
              <a:buNone/>
            </a:pPr>
            <a:r>
              <a:rPr lang="en-US" sz="9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GAME · 5 MIN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282846" y="530126"/>
            <a:ext cx="3626159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23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Character Bingo · 汉字宾果</a:t>
            </a:r>
            <a:endParaRPr lang="en-US" sz="2300" dirty="0"/>
          </a:p>
        </p:txBody>
      </p:sp>
      <p:sp>
        <p:nvSpPr>
          <p:cNvPr id="7" name="Text 5"/>
          <p:cNvSpPr/>
          <p:nvPr/>
        </p:nvSpPr>
        <p:spPr>
          <a:xfrm>
            <a:off x="3442454" y="980926"/>
            <a:ext cx="5307092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Cross off the character when the teacher calls its pinyin or English meaning.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764756" y="1282452"/>
            <a:ext cx="822722" cy="641152"/>
          </a:xfrm>
          <a:prstGeom prst="roundRect">
            <a:avLst>
              <a:gd name="adj" fmla="val 15847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3911977" y="1383953"/>
            <a:ext cx="52828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📢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3911977" y="1669703"/>
            <a:ext cx="52828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Call word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4687327" y="1488728"/>
            <a:ext cx="16850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→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955679" y="1282452"/>
            <a:ext cx="816025" cy="641152"/>
          </a:xfrm>
          <a:prstGeom prst="roundRect">
            <a:avLst>
              <a:gd name="adj" fmla="val 15847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5102967" y="1383953"/>
            <a:ext cx="521449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✍️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102967" y="1669703"/>
            <a:ext cx="52144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Cross off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5871552" y="1488728"/>
            <a:ext cx="16850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→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139904" y="1282452"/>
            <a:ext cx="765572" cy="641152"/>
          </a:xfrm>
          <a:prstGeom prst="roundRect">
            <a:avLst>
              <a:gd name="adj" fmla="val 15847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6287697" y="1383953"/>
            <a:ext cx="469987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📣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6287697" y="1669703"/>
            <a:ext cx="469987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"Bingo!"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7005325" y="1488728"/>
            <a:ext cx="16850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→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7273677" y="1282452"/>
            <a:ext cx="1153418" cy="641152"/>
          </a:xfrm>
          <a:prstGeom prst="roundRect">
            <a:avLst>
              <a:gd name="adj" fmla="val 15847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7417591" y="1383953"/>
            <a:ext cx="86559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📖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7417591" y="1669703"/>
            <a:ext cx="86559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Read line aloud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5016550" y="2076004"/>
            <a:ext cx="2158901" cy="1586805"/>
          </a:xfrm>
          <a:prstGeom prst="roundRect">
            <a:avLst>
              <a:gd name="adj" fmla="val 6403"/>
            </a:avLst>
          </a:prstGeom>
          <a:solidFill>
            <a:srgbClr val="EDE7D7"/>
          </a:solidFill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5137100" y="2196554"/>
            <a:ext cx="596950" cy="406301"/>
          </a:xfrm>
          <a:prstGeom prst="roundRect">
            <a:avLst>
              <a:gd name="adj" fmla="val 12503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5169993" y="2285405"/>
            <a:ext cx="53116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晚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5797451" y="2196554"/>
            <a:ext cx="596950" cy="406301"/>
          </a:xfrm>
          <a:prstGeom prst="roundRect">
            <a:avLst>
              <a:gd name="adj" fmla="val 12503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Text 25"/>
          <p:cNvSpPr/>
          <p:nvPr/>
        </p:nvSpPr>
        <p:spPr>
          <a:xfrm>
            <a:off x="5830343" y="2285405"/>
            <a:ext cx="53116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早上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6457801" y="2196554"/>
            <a:ext cx="596950" cy="406301"/>
          </a:xfrm>
          <a:prstGeom prst="roundRect">
            <a:avLst>
              <a:gd name="adj" fmla="val 12503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Text 27"/>
          <p:cNvSpPr/>
          <p:nvPr/>
        </p:nvSpPr>
        <p:spPr>
          <a:xfrm>
            <a:off x="6490694" y="2285405"/>
            <a:ext cx="53116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午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5137100" y="2666256"/>
            <a:ext cx="596950" cy="406301"/>
          </a:xfrm>
          <a:prstGeom prst="roundRect">
            <a:avLst>
              <a:gd name="adj" fmla="val 12503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5169993" y="2755106"/>
            <a:ext cx="53116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中午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5797451" y="2666256"/>
            <a:ext cx="596950" cy="406301"/>
          </a:xfrm>
          <a:prstGeom prst="roundRect">
            <a:avLst>
              <a:gd name="adj" fmla="val 12503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Text 31"/>
          <p:cNvSpPr/>
          <p:nvPr/>
        </p:nvSpPr>
        <p:spPr>
          <a:xfrm>
            <a:off x="5830343" y="2755106"/>
            <a:ext cx="53116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早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6457801" y="2666256"/>
            <a:ext cx="596950" cy="406301"/>
          </a:xfrm>
          <a:prstGeom prst="roundRect">
            <a:avLst>
              <a:gd name="adj" fmla="val 12503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Text 33"/>
          <p:cNvSpPr/>
          <p:nvPr/>
        </p:nvSpPr>
        <p:spPr>
          <a:xfrm>
            <a:off x="6490694" y="2755106"/>
            <a:ext cx="53116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下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5137100" y="3135957"/>
            <a:ext cx="596950" cy="406301"/>
          </a:xfrm>
          <a:prstGeom prst="roundRect">
            <a:avLst>
              <a:gd name="adj" fmla="val 12503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Text 35"/>
          <p:cNvSpPr/>
          <p:nvPr/>
        </p:nvSpPr>
        <p:spPr>
          <a:xfrm>
            <a:off x="5169993" y="3224808"/>
            <a:ext cx="53116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晚上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5797451" y="3135957"/>
            <a:ext cx="596950" cy="406301"/>
          </a:xfrm>
          <a:prstGeom prst="roundRect">
            <a:avLst>
              <a:gd name="adj" fmla="val 12503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Text 37"/>
          <p:cNvSpPr/>
          <p:nvPr/>
        </p:nvSpPr>
        <p:spPr>
          <a:xfrm>
            <a:off x="5830343" y="3224808"/>
            <a:ext cx="53116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上午</a:t>
            </a:r>
            <a:endParaRPr lang="en-US" sz="1300" dirty="0"/>
          </a:p>
        </p:txBody>
      </p:sp>
      <p:sp>
        <p:nvSpPr>
          <p:cNvPr id="40" name="Text 38"/>
          <p:cNvSpPr/>
          <p:nvPr/>
        </p:nvSpPr>
        <p:spPr>
          <a:xfrm>
            <a:off x="6457801" y="3135957"/>
            <a:ext cx="596950" cy="406301"/>
          </a:xfrm>
          <a:prstGeom prst="roundRect">
            <a:avLst>
              <a:gd name="adj" fmla="val 12503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Text 39"/>
          <p:cNvSpPr/>
          <p:nvPr/>
        </p:nvSpPr>
        <p:spPr>
          <a:xfrm>
            <a:off x="6490694" y="3224808"/>
            <a:ext cx="53116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下午</a:t>
            </a:r>
            <a:endParaRPr lang="en-US" sz="1300" dirty="0"/>
          </a:p>
        </p:txBody>
      </p:sp>
      <p:sp>
        <p:nvSpPr>
          <p:cNvPr id="42" name="Text 40"/>
          <p:cNvSpPr/>
          <p:nvPr/>
        </p:nvSpPr>
        <p:spPr>
          <a:xfrm>
            <a:off x="2124721" y="3815209"/>
            <a:ext cx="2681782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🎴 9-square cards · varied layouts per student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4921228" y="3815209"/>
            <a:ext cx="3741682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🏆 First complete line calls "Bingo!" and reads it aloud to confirm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8791557" y="3815209"/>
            <a:ext cx="1261801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🚫 No devices needed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431750" y="6562725"/>
            <a:ext cx="146096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 日常起居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1750" y="0"/>
            <a:ext cx="11328499" cy="126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31750" y="0"/>
            <a:ext cx="2539901" cy="25301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31750" y="101501"/>
            <a:ext cx="2437376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L1 · 时间词 · PLENARY · 43–50 MIN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31750" y="330101"/>
            <a:ext cx="1155506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9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43–50 MIN · PLENARY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31750" y="530126"/>
            <a:ext cx="11555069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23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Review &amp; Reflect</a:t>
            </a:r>
            <a:endParaRPr lang="en-US" sz="2300" dirty="0"/>
          </a:p>
        </p:txBody>
      </p:sp>
      <p:sp>
        <p:nvSpPr>
          <p:cNvPr id="7" name="Text 5"/>
          <p:cNvSpPr/>
          <p:nvPr/>
        </p:nvSpPr>
        <p:spPr>
          <a:xfrm>
            <a:off x="431750" y="980926"/>
            <a:ext cx="1155506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9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REVISIT SUCCESS CRITERIA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31750" y="1193602"/>
            <a:ext cx="11328499" cy="714375"/>
          </a:xfrm>
          <a:prstGeom prst="rect">
            <a:avLst/>
          </a:prstGeom>
          <a:noFill/>
          <a:ln/>
        </p:spPr>
        <p:txBody>
          <a:bodyPr wrap="square" lIns="101600" tIns="0" rIns="0" bIns="0" rtlCol="0" anchor="t"/>
          <a:lstStyle/>
          <a:p>
            <a:pPr algn="l" marL="101600" indent="-1016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can write 早上 / 上午 / 中午 / 下午 / 晚上</a:t>
            </a:r>
            <a:endParaRPr lang="en-US" sz="1100" dirty="0"/>
          </a:p>
          <a:p>
            <a:pPr algn="l" marL="101600" indent="-1016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can match each time-of-day word to the correct time range</a:t>
            </a:r>
            <a:endParaRPr lang="en-US" sz="1100" dirty="0"/>
          </a:p>
          <a:p>
            <a:pPr algn="l" marL="101600" indent="-1016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can complete a greeting that matches the correct time of day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31750" y="2034927"/>
            <a:ext cx="11328499" cy="691307"/>
          </a:xfrm>
          <a:prstGeom prst="roundRect">
            <a:avLst>
              <a:gd name="adj" fmla="val 14697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634901" y="2161877"/>
            <a:ext cx="11140642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95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📝 Self-Assessment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34901" y="2412653"/>
            <a:ext cx="11140642" cy="186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70"/>
              </a:lnSpc>
              <a:buNone/>
            </a:pPr>
            <a:r>
              <a:rPr lang="en-US" sz="10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On paper, write the time-of-day word you find </a:t>
            </a:r>
            <a:pPr algn="l" indent="0" marL="0">
              <a:lnSpc>
                <a:spcPts val="1470"/>
              </a:lnSpc>
              <a:buNone/>
            </a:pPr>
            <a:r>
              <a:rPr lang="en-US" sz="1050" b="1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easiest</a:t>
            </a:r>
            <a:pPr algn="l" indent="0" marL="0">
              <a:lnSpc>
                <a:spcPts val="1470"/>
              </a:lnSpc>
              <a:buNone/>
            </a:pPr>
            <a:r>
              <a:rPr lang="en-US" sz="10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, and one you still </a:t>
            </a:r>
            <a:pPr algn="l" indent="0" marL="0">
              <a:lnSpc>
                <a:spcPts val="1470"/>
              </a:lnSpc>
              <a:buNone/>
            </a:pPr>
            <a:r>
              <a:rPr lang="en-US" sz="1050" b="1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mix up</a:t>
            </a:r>
            <a:pPr algn="l" indent="0" marL="0">
              <a:lnSpc>
                <a:spcPts val="1470"/>
              </a:lnSpc>
              <a:buNone/>
            </a:pPr>
            <a:r>
              <a:rPr lang="en-US" sz="10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.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431750" y="2853184"/>
            <a:ext cx="11328499" cy="717947"/>
          </a:xfrm>
          <a:prstGeom prst="roundRect">
            <a:avLst>
              <a:gd name="adj" fmla="val 14152"/>
            </a:avLst>
          </a:prstGeom>
          <a:solidFill>
            <a:srgbClr val="F5E9D2"/>
          </a:solidFill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653951" y="2999184"/>
            <a:ext cx="11101780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🚪 EXIT TICKET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653951" y="3211860"/>
            <a:ext cx="11101780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Write the Chinese for </a:t>
            </a:r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"morning" (5:00–8:00)</a:t>
            </a:r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and </a:t>
            </a:r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"morning" (before noon)</a:t>
            </a:r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— label which is which.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31750" y="3672632"/>
            <a:ext cx="73564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👍 Achieved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1356122" y="3672632"/>
            <a:ext cx="987034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😐 Getting there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2526953" y="3672632"/>
            <a:ext cx="79743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👎 Need help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431750" y="6562725"/>
            <a:ext cx="146096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 日常起居</a:t>
            </a:r>
            <a:endParaRPr lang="en-US" sz="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5320" y="634901"/>
            <a:ext cx="10881360" cy="711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5600"/>
              </a:lnSpc>
              <a:spcAft>
                <a:spcPts val="600"/>
              </a:spcAft>
              <a:buNone/>
            </a:pPr>
            <a:r>
              <a:rPr lang="en-US" sz="560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✓</a:t>
            </a:r>
            <a:endParaRPr lang="en-US" sz="5600" dirty="0"/>
          </a:p>
        </p:txBody>
      </p:sp>
      <p:sp>
        <p:nvSpPr>
          <p:cNvPr id="3" name="Text 1"/>
          <p:cNvSpPr/>
          <p:nvPr/>
        </p:nvSpPr>
        <p:spPr>
          <a:xfrm>
            <a:off x="655320" y="1422350"/>
            <a:ext cx="10881360" cy="466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600"/>
              </a:spcAft>
              <a:buNone/>
            </a:pPr>
            <a:r>
              <a:rPr lang="en-US" sz="26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Great work today!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55320" y="1965275"/>
            <a:ext cx="10881360" cy="4950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950"/>
              </a:lnSpc>
              <a:spcAft>
                <a:spcPts val="1600"/>
              </a:spcAft>
              <a:buNone/>
            </a:pPr>
            <a:r>
              <a:rPr lang="en-US" sz="13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You can now say the five parts of the day in Chinese.</a:t>
            </a:r>
            <a:endParaRPr lang="en-US" sz="1300" dirty="0"/>
          </a:p>
          <a:p>
            <a:pPr algn="ctr" indent="0" marL="0">
              <a:lnSpc>
                <a:spcPts val="1950"/>
              </a:lnSpc>
              <a:spcAft>
                <a:spcPts val="1600"/>
              </a:spcAft>
              <a:buNone/>
            </a:pPr>
            <a:r>
              <a:rPr lang="en-US" sz="13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Remember: </a:t>
            </a:r>
            <a:endParaRPr lang="en-US" sz="1300" dirty="0"/>
          </a:p>
          <a:p>
            <a:pPr algn="ctr" indent="0" marL="0">
              <a:lnSpc>
                <a:spcPts val="1950"/>
              </a:lnSpc>
              <a:spcAft>
                <a:spcPts val="1600"/>
              </a:spcAft>
              <a:buNone/>
            </a:pPr>
            <a:r>
              <a:rPr lang="en-US" sz="13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早上 (5:00–8:00) is not the same as 上午 (before noon)!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3302050" y="2663428"/>
            <a:ext cx="5587901" cy="1387227"/>
          </a:xfrm>
          <a:prstGeom prst="roundRect">
            <a:avLst>
              <a:gd name="adj" fmla="val 7324"/>
            </a:avLst>
          </a:prstGeom>
          <a:solidFill>
            <a:srgbClr val="E4EEF0"/>
          </a:solidFill>
          <a:ln w="19050">
            <a:solidFill>
              <a:srgbClr val="3A7D8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3576498" y="2860179"/>
            <a:ext cx="5039005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9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NEXT LESSON →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576498" y="3072854"/>
            <a:ext cx="5039005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时间词 + 点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3576498" y="3453854"/>
            <a:ext cx="5039005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300"/>
              </a:spcBef>
              <a:buNone/>
            </a:pPr>
            <a:r>
              <a:rPr lang="en-US" sz="11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Take a digital clock time and add the correct time-of-day word in front — like 下午四点三刻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55320" y="4253805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800"/>
              </a:lnSpc>
              <a:spcBef>
                <a:spcPts val="1600"/>
              </a:spcBef>
              <a:buNone/>
            </a:pPr>
            <a:r>
              <a:rPr lang="en-US" sz="12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Today: </a:t>
            </a:r>
            <a:pPr algn="ctr" indent="0" marL="0">
              <a:lnSpc>
                <a:spcPts val="1800"/>
              </a:lnSpc>
              <a:spcBef>
                <a:spcPts val="1600"/>
              </a:spcBef>
              <a:buNone/>
            </a:pPr>
            <a:r>
              <a:rPr lang="en-US" sz="12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早上 / 上午 / 中午 / 下午 / 晚上</a:t>
            </a:r>
            <a:pPr algn="ctr" indent="0" marL="0">
              <a:lnSpc>
                <a:spcPts val="1800"/>
              </a:lnSpc>
              <a:spcBef>
                <a:spcPts val="1600"/>
              </a:spcBef>
              <a:buNone/>
            </a:pPr>
            <a:r>
              <a:rPr lang="en-US" sz="12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= the five parts of the day</a:t>
            </a:r>
            <a:endParaRPr lang="en-US" sz="1200" dirty="0"/>
          </a:p>
          <a:p>
            <a:pPr algn="ctr" indent="0" marL="0">
              <a:lnSpc>
                <a:spcPts val="1800"/>
              </a:lnSpc>
              <a:spcBef>
                <a:spcPts val="1600"/>
              </a:spcBef>
              <a:buNone/>
            </a:pPr>
            <a:r>
              <a:rPr lang="en-US" sz="12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Next: combine them with clock times you already know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2026-07-21T08:45:51Z</dcterms:created>
  <dcterms:modified xsi:type="dcterms:W3CDTF">2026-07-21T08:45:51Z</dcterms:modified>
</cp:coreProperties>
</file>