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· Y7 UNIT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-121920" y="2241500"/>
            <a:ext cx="12435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早上？上午？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-121920" y="3200251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Time-of-Day Vocabulary + Greetings · 时间词与问候语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-121920" y="3714601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Writing + Speaking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5900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REVIEW · LESSON 10 RECAP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几点？· Clock-Telling Recap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 for each time on paper. Hold it up when ready.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282452"/>
            <a:ext cx="3708499" cy="631627"/>
          </a:xfrm>
          <a:prstGeom prst="roundRect">
            <a:avLst>
              <a:gd name="adj" fmla="val 12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8701" y="14839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105" y="151730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8802" y="1383953"/>
            <a:ext cx="8308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8802" y="1669703"/>
            <a:ext cx="83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in Chinese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41750" y="1282452"/>
            <a:ext cx="3708499" cy="631627"/>
          </a:xfrm>
          <a:prstGeom prst="roundRect">
            <a:avLst>
              <a:gd name="adj" fmla="val 12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68701" y="14839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6687" y="151730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98802" y="1383953"/>
            <a:ext cx="8308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7:30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8802" y="1669703"/>
            <a:ext cx="83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in Chinese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51750" y="1282452"/>
            <a:ext cx="3708499" cy="631627"/>
          </a:xfrm>
          <a:prstGeom prst="roundRect">
            <a:avLst>
              <a:gd name="adj" fmla="val 12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78701" y="148396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56389" y="151730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8802" y="1383953"/>
            <a:ext cx="8308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8802" y="1669703"/>
            <a:ext cx="83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in Chinese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1750" y="2015579"/>
            <a:ext cx="3708499" cy="631627"/>
          </a:xfrm>
          <a:prstGeom prst="roundRect">
            <a:avLst>
              <a:gd name="adj" fmla="val 12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8701" y="221709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943" y="2250430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8802" y="2117080"/>
            <a:ext cx="8308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2:45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8802" y="2402830"/>
            <a:ext cx="83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in Chinese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41750" y="2015579"/>
            <a:ext cx="3708499" cy="631627"/>
          </a:xfrm>
          <a:prstGeom prst="roundRect">
            <a:avLst>
              <a:gd name="adj" fmla="val 12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68701" y="221709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46538" y="2250430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98802" y="2117080"/>
            <a:ext cx="11062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98802" y="2402830"/>
            <a:ext cx="1106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差 in your answer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51750" y="2015579"/>
            <a:ext cx="3708499" cy="631627"/>
          </a:xfrm>
          <a:prstGeom prst="roundRect">
            <a:avLst>
              <a:gd name="adj" fmla="val 1206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178701" y="221709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55943" y="2250430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8802" y="2117080"/>
            <a:ext cx="8308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08802" y="2402830"/>
            <a:ext cx="83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in Chinese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1750" y="2774156"/>
            <a:ext cx="18498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→ hold up after each item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72320" y="2774156"/>
            <a:ext cx="24829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 2 students per item to say it aloud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7278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LEARNING INTENTION &amp; SUCCESS CRITERIA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328499" cy="752475"/>
          </a:xfrm>
          <a:prstGeom prst="rect">
            <a:avLst/>
          </a:prstGeom>
          <a:solidFill>
            <a:srgbClr val="F5E9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980926"/>
            <a:ext cx="0" cy="752475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526" y="1133326"/>
            <a:ext cx="110920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2526" y="1333351"/>
            <a:ext cx="110920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write and use the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five parts-of-day words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1914227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0183" y="1944291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6402" y="1911102"/>
            <a:ext cx="32420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 / 上午 / 中午 / 下午 / 晚上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6550" y="2133302"/>
            <a:ext cx="11244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写出五个时间词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1750" y="2399854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0955" y="2429917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6402" y="2396728"/>
            <a:ext cx="47724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match each time-of-day word to the </a:t>
            </a:r>
            <a:r>
              <a:rPr lang="en-US" sz="12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time range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550" y="2618929"/>
            <a:ext cx="11244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匹配时间词和时间范围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1750" y="2885480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0807" y="2915543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6402" y="2882354"/>
            <a:ext cx="48399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complete a </a:t>
            </a: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greeting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that matches the correct time of day.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6550" y="3104555"/>
            <a:ext cx="11244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根据时间写问候语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5423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I DO · NEW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P.79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328499" cy="2504182"/>
          </a:xfrm>
          <a:prstGeom prst="roundRect">
            <a:avLst>
              <a:gd name="adj" fmla="val 304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980926"/>
            <a:ext cx="11328499" cy="2504182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zǎo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early; morning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[部件字]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zǎo shàng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(early) morning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[时间词]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noon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[部件字]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wǔ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before noon; morning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[时间词]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中午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zhōng wǔ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noon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[时间词]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wǔ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afternoon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[时间词]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 shàng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(in the) evening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[时间词]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down; get off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[部件字]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evening; late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[部件字]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750" y="3612059"/>
            <a:ext cx="5600700" cy="552152"/>
          </a:xfrm>
          <a:prstGeom prst="roundRect">
            <a:avLst>
              <a:gd name="adj" fmla="val 1380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150" y="3713559"/>
            <a:ext cx="54018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&amp; REPEAT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4150" y="3881735"/>
            <a:ext cx="54018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pronunciation twice per word — class repeats twice (choral).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59401" y="3612059"/>
            <a:ext cx="5600849" cy="552152"/>
          </a:xfrm>
          <a:prstGeom prst="roundRect">
            <a:avLst>
              <a:gd name="adj" fmla="val 1380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11801" y="3713559"/>
            <a:ext cx="5401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 BLOCKS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1801" y="3881735"/>
            <a:ext cx="54019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 + 上 = 早上  ·  上 + 午 = 上午  ·  下 + 午 = 下午  ·  晚 + 上 = 晚上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0994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I DO · TEXT 1 SUN-ARC DIAGRAM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TEXT 1, P.78 · CD T45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一天的时间 · The Sun-Arc Diagram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2245370" cy="558701"/>
          </a:xfrm>
          <a:prstGeom prst="rect">
            <a:avLst/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82820" y="1074539"/>
            <a:ext cx="343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0978" y="1303139"/>
            <a:ext cx="5269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5:00–8:00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02421" y="980926"/>
            <a:ext cx="2245519" cy="5587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53491" y="1074539"/>
            <a:ext cx="343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053" y="1303139"/>
            <a:ext cx="610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 noon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73241" y="980926"/>
            <a:ext cx="2245370" cy="558701"/>
          </a:xfrm>
          <a:prstGeom prst="rect">
            <a:avLst/>
          </a:prstGeom>
          <a:solidFill>
            <a:srgbClr val="B582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24310" y="1074539"/>
            <a:ext cx="343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72434" y="1303139"/>
            <a:ext cx="246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43911" y="980926"/>
            <a:ext cx="2245519" cy="558701"/>
          </a:xfrm>
          <a:prstGeom prst="rect">
            <a:avLst/>
          </a:prstGeom>
          <a:solidFill>
            <a:srgbClr val="6BAF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94981" y="1074539"/>
            <a:ext cx="343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3176" y="1303139"/>
            <a:ext cx="486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afternoon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14731" y="980926"/>
            <a:ext cx="2245519" cy="558701"/>
          </a:xfrm>
          <a:prstGeom prst="rect">
            <a:avLst/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65801" y="1074539"/>
            <a:ext cx="343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20522" y="1303139"/>
            <a:ext cx="633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18:00–24:00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1750" y="1641128"/>
            <a:ext cx="11328499" cy="1203127"/>
          </a:xfrm>
          <a:prstGeom prst="roundRect">
            <a:avLst>
              <a:gd name="adj" fmla="val 633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1750" y="1641128"/>
            <a:ext cx="11328499" cy="1203127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5:00–8:00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早上七点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going to school 去上学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 noon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上午十点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studying 学习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中午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noon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中午十二点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eating 吃饭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afternoon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下午四点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playing football 踢足球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18:00–24:00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晚上八点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watching TV 看电视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1750" y="2945755"/>
            <a:ext cx="11328499" cy="576560"/>
          </a:xfrm>
          <a:prstGeom prst="roundRect">
            <a:avLst>
              <a:gd name="adj" fmla="val 13216"/>
            </a:avLst>
          </a:prstGeom>
          <a:solidFill>
            <a:srgbClr val="FAEA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8501" y="3091160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4527" y="3066306"/>
            <a:ext cx="694263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 (5:00–8:00) ≠ 上午 (before noon) — both mean "morning" in English, but cover different ranges!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74527" y="3258889"/>
            <a:ext cx="6942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 is only the early part of the day · 上午 covers everything up to 12:00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2824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I DO · CHECK FOR UNDERSTANDING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328499" cy="514350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6403" y="1095226"/>
            <a:ext cx="310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202" y="1138089"/>
            <a:ext cx="4767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「早上七点」— is this 早上 or 上午?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早上, 2 fingers = 上午.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1750" y="1596777"/>
            <a:ext cx="11328499" cy="514350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6403" y="1711077"/>
            <a:ext cx="310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1202" y="1753939"/>
            <a:ext cx="2422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「十点半」— 早上 or 上午? Fingers.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2212628"/>
            <a:ext cx="11328499" cy="514350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6403" y="2326928"/>
            <a:ext cx="310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1202" y="2369790"/>
            <a:ext cx="53101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「下午四点」. Write which time-of-day word this is. Hold it up.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1750" y="2828479"/>
            <a:ext cx="11328499" cy="514350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6403" y="2942779"/>
            <a:ext cx="310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202" y="2985641"/>
            <a:ext cx="53567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difference between 早上 and 上午? (cold call — explain in English)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1750" y="3469779"/>
            <a:ext cx="6017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☝️ = 早上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26356" y="3469779"/>
            <a:ext cx="6017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✌️ = 上午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750" y="3755529"/>
            <a:ext cx="11328499" cy="317302"/>
          </a:xfrm>
          <a:prstGeom prst="roundRect">
            <a:avLst>
              <a:gd name="adj" fmla="val 2401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3200" y="3837980"/>
            <a:ext cx="11205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3656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I DO · CFU · ANSWERS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328499" cy="514350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6403" y="1095226"/>
            <a:ext cx="310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202" y="1138089"/>
            <a:ext cx="6196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「早上七点」— is this 早上 or 上午?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56380" y="1133326"/>
            <a:ext cx="44261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1 finger — 早上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1750" y="1596777"/>
            <a:ext cx="11328499" cy="514350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6403" y="1711077"/>
            <a:ext cx="310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1202" y="1753939"/>
            <a:ext cx="6196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「十点半」— 早上 or 上午?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56380" y="1749177"/>
            <a:ext cx="44261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2 fingers — 上午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2212628"/>
            <a:ext cx="11328499" cy="514350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403" y="2326928"/>
            <a:ext cx="3108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1202" y="2369790"/>
            <a:ext cx="6196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「下午四点」. Which time-of-day word?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6380" y="2379315"/>
            <a:ext cx="44261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下午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2853928"/>
            <a:ext cx="11328499" cy="665262"/>
          </a:xfrm>
          <a:prstGeom prst="roundRect">
            <a:avLst>
              <a:gd name="adj" fmla="val 11454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3951" y="2999929"/>
            <a:ext cx="111017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Q4 — What's the difference between 早上 and 上午?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951" y="3186559"/>
            <a:ext cx="111017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 = only the early morning, roughly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5:00–8:00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上午 = anything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 noon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(up to 12:00) — a much broader range that includes 早上's time span.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1778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WE DO · ACTIVITY 1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WE 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Sun-Arc Diagram Labelling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Copy the correct Chinese word into each blank, then copy one scene sentence under each.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282452"/>
            <a:ext cx="11328499" cy="507950"/>
          </a:xfrm>
          <a:prstGeom prst="roundRect">
            <a:avLst>
              <a:gd name="adj" fmla="val 1500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694533" y="1282452"/>
            <a:ext cx="0" cy="50795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361" y="1433215"/>
            <a:ext cx="304800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39478" y="1496616"/>
            <a:ext cx="432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62227" y="1282452"/>
            <a:ext cx="0" cy="50795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906" y="1433215"/>
            <a:ext cx="304800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97052" y="1496616"/>
            <a:ext cx="63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229773" y="1282452"/>
            <a:ext cx="0" cy="50795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433215"/>
            <a:ext cx="304800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64895" y="1496616"/>
            <a:ext cx="634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497467" y="1282452"/>
            <a:ext cx="0" cy="50795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145" y="1433215"/>
            <a:ext cx="304800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32291" y="1496616"/>
            <a:ext cx="63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478839" y="1433215"/>
            <a:ext cx="304800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599986" y="1496616"/>
            <a:ext cx="63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1750" y="1917353"/>
            <a:ext cx="11328499" cy="1331416"/>
          </a:xfrm>
          <a:prstGeom prst="roundRect">
            <a:avLst>
              <a:gd name="adj" fmla="val 7631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3951" y="2082403"/>
            <a:ext cx="1056382" cy="219075"/>
          </a:xfrm>
          <a:prstGeom prst="roundRect">
            <a:avLst>
              <a:gd name="adj" fmla="val 6956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0901" y="2120503"/>
            <a:ext cx="818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8 min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951" y="2377678"/>
            <a:ext cx="3579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3951" y="2558653"/>
            <a:ext cx="357970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all 5 terms + pinyin printed at the bottom of the worksheet.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3951" y="2921794"/>
            <a:ext cx="35797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 · 上午 · 中午 · 下午 · 晚上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1168" y="2377678"/>
            <a:ext cx="3579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341168" y="2558653"/>
            <a:ext cx="357985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students also write the time range in Chinese numerals next to each label — e.g. 早上五点到八点。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28533" y="2377678"/>
            <a:ext cx="3579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28533" y="2558653"/>
            <a:ext cx="357970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— check answers with a partner before teacher reveals. Every student compares every label.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830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YOU DO · ACTIVITY 2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 · YOU DO · EX1, P.79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Greeting Completion · 问候语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scene below, write the matching greeting on paper.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282452"/>
            <a:ext cx="11328499" cy="581025"/>
          </a:xfrm>
          <a:prstGeom prst="roundRect">
            <a:avLst>
              <a:gd name="adj" fmla="val 13115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501" y="1377702"/>
            <a:ext cx="111536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好！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8501" y="1625352"/>
            <a:ext cx="11153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with 早上 / 中午 / 下午 / 晚上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1750" y="1990427"/>
            <a:ext cx="2736800" cy="1050727"/>
          </a:xfrm>
          <a:prstGeom prst="roundRect">
            <a:avLst>
              <a:gd name="adj" fmla="val 96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13" y="2117378"/>
            <a:ext cx="2584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913" y="2311003"/>
            <a:ext cx="2584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7:30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7913" y="2704654"/>
            <a:ext cx="2584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___好！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5501" y="1990427"/>
            <a:ext cx="2736949" cy="1050727"/>
          </a:xfrm>
          <a:prstGeom prst="roundRect">
            <a:avLst>
              <a:gd name="adj" fmla="val 96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71662" y="2117378"/>
            <a:ext cx="25846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71662" y="2311003"/>
            <a:ext cx="2584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371662" y="2704654"/>
            <a:ext cx="2584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___好！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9401" y="1990427"/>
            <a:ext cx="2736949" cy="1050727"/>
          </a:xfrm>
          <a:prstGeom prst="roundRect">
            <a:avLst>
              <a:gd name="adj" fmla="val 96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35562" y="2117378"/>
            <a:ext cx="25846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35562" y="2311003"/>
            <a:ext cx="2584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16:00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35562" y="2704654"/>
            <a:ext cx="2584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___好！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23300" y="1990427"/>
            <a:ext cx="2736949" cy="1050727"/>
          </a:xfrm>
          <a:prstGeom prst="roundRect">
            <a:avLst>
              <a:gd name="adj" fmla="val 96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099462" y="2117378"/>
            <a:ext cx="25846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99462" y="2311003"/>
            <a:ext cx="2584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20:00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099462" y="2704654"/>
            <a:ext cx="2584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___好！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1750" y="3168104"/>
            <a:ext cx="11328499" cy="1095673"/>
          </a:xfrm>
          <a:prstGeom prst="roundRect">
            <a:avLst>
              <a:gd name="adj" fmla="val 927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3951" y="3333155"/>
            <a:ext cx="1100435" cy="219075"/>
          </a:xfrm>
          <a:prstGeom prst="roundRect">
            <a:avLst>
              <a:gd name="adj" fmla="val 6956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0901" y="3371255"/>
            <a:ext cx="863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8 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3951" y="3628430"/>
            <a:ext cx="3579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3951" y="3809405"/>
            <a:ext cx="357970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on projector: ___好！ Word bank visible.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41168" y="3628430"/>
            <a:ext cx="3579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41168" y="3809405"/>
            <a:ext cx="3579858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second line responding appropriately, e.g. A: 早上好！ B: 早上好！你要去哪儿？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28533" y="3628430"/>
            <a:ext cx="3579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28533" y="3809405"/>
            <a:ext cx="357970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pairs: one reads their written greeting aloud, partner identifies the time of day. Cold call 4 pairs to perform.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1750" y="4365278"/>
            <a:ext cx="11328499" cy="317302"/>
          </a:xfrm>
          <a:prstGeom prst="roundRect">
            <a:avLst>
              <a:gd name="adj" fmla="val 2401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3200" y="4447729"/>
            <a:ext cx="11205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Model answers on next slide →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02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YOU DO · ACTIVITY 2 ·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 · EX1, P.79 · MODEL ANSWERS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Greeting Completion · 问候语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2736800" cy="771376"/>
          </a:xfrm>
          <a:prstGeom prst="roundRect">
            <a:avLst>
              <a:gd name="adj" fmla="val 13171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7344" y="1126927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1 · 7:30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7344" y="1320552"/>
            <a:ext cx="25456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早上好！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5501" y="980926"/>
            <a:ext cx="2736949" cy="771376"/>
          </a:xfrm>
          <a:prstGeom prst="roundRect">
            <a:avLst>
              <a:gd name="adj" fmla="val 13171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91093" y="1126927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2 · 12:00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91093" y="1320552"/>
            <a:ext cx="25457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中午好！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401" y="980926"/>
            <a:ext cx="2736949" cy="771376"/>
          </a:xfrm>
          <a:prstGeom prst="roundRect">
            <a:avLst>
              <a:gd name="adj" fmla="val 13171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54993" y="1126927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3 · 16:00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54993" y="1320552"/>
            <a:ext cx="25457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下午好！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3300" y="980926"/>
            <a:ext cx="2736949" cy="771376"/>
          </a:xfrm>
          <a:prstGeom prst="roundRect">
            <a:avLst>
              <a:gd name="adj" fmla="val 13171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18893" y="1126927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4 · 20:00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18893" y="1320552"/>
            <a:ext cx="25457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晚上好！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1750" y="1930003"/>
            <a:ext cx="11328499" cy="703957"/>
          </a:xfrm>
          <a:prstGeom prst="roundRect">
            <a:avLst>
              <a:gd name="adj" fmla="val 1443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4901" y="2056954"/>
            <a:ext cx="11140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— ADD A SECOND LINE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4901" y="2263229"/>
            <a:ext cx="1114064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早上好！ </a:t>
            </a: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早上好！你要去哪儿？</a:t>
            </a: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（English answer accepted if needed — preview of next topic）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835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YOU DO · ACTIVITY 3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5 MIN · YOU DO · EX2, P.79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Dictionary Race · 查字典比赛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Groups of 3–4: look up each phrase and write the meaning. Fastest group with all correct meanings wins.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282452"/>
            <a:ext cx="2176760" cy="790277"/>
          </a:xfrm>
          <a:prstGeom prst="roundRect">
            <a:avLst>
              <a:gd name="adj" fmla="val 1285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707" y="1409402"/>
            <a:ext cx="20648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707" y="1701403"/>
            <a:ext cx="2064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 chē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2763" y="1920478"/>
            <a:ext cx="1214586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10011" y="1282452"/>
            <a:ext cx="2176909" cy="790277"/>
          </a:xfrm>
          <a:prstGeom prst="roundRect">
            <a:avLst>
              <a:gd name="adj" fmla="val 1285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65966" y="1409402"/>
            <a:ext cx="2064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火车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65966" y="1701403"/>
            <a:ext cx="2064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 chē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91173" y="1920478"/>
            <a:ext cx="1214586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88421" y="1282452"/>
            <a:ext cx="2176909" cy="790277"/>
          </a:xfrm>
          <a:prstGeom prst="roundRect">
            <a:avLst>
              <a:gd name="adj" fmla="val 1285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44376" y="1409402"/>
            <a:ext cx="2064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出租车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44376" y="1701403"/>
            <a:ext cx="2064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 zū chē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69582" y="1920478"/>
            <a:ext cx="1214586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66831" y="1282452"/>
            <a:ext cx="2176909" cy="790277"/>
          </a:xfrm>
          <a:prstGeom prst="roundRect">
            <a:avLst>
              <a:gd name="adj" fmla="val 1285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22786" y="1409402"/>
            <a:ext cx="2064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22786" y="1701403"/>
            <a:ext cx="2064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dì tiě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47992" y="1920478"/>
            <a:ext cx="1214586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545241" y="1282452"/>
            <a:ext cx="2215009" cy="790277"/>
          </a:xfrm>
          <a:prstGeom prst="roundRect">
            <a:avLst>
              <a:gd name="adj" fmla="val 12856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123478" y="1606153"/>
            <a:ext cx="1058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more cards per set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1750" y="2199680"/>
            <a:ext cx="11328499" cy="1095673"/>
          </a:xfrm>
          <a:prstGeom prst="roundRect">
            <a:avLst>
              <a:gd name="adj" fmla="val 927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3951" y="2364730"/>
            <a:ext cx="1099542" cy="219075"/>
          </a:xfrm>
          <a:prstGeom prst="roundRect">
            <a:avLst>
              <a:gd name="adj" fmla="val 6956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0901" y="2402830"/>
            <a:ext cx="862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5 min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3951" y="2660005"/>
            <a:ext cx="3579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3951" y="2840980"/>
            <a:ext cx="357970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Weaker groups get fewer cards (4 instead of 6) and may work in a threesome with a stronger reader.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41168" y="2660005"/>
            <a:ext cx="3579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41168" y="2840980"/>
            <a:ext cx="3579858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Fast-finishing groups write one full sentence using a found phrase — e.g. 我坐地铁上学。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28533" y="2660005"/>
            <a:ext cx="35797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28533" y="2840980"/>
            <a:ext cx="357970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in the group must write at least one meaning in their own hand before the group can submit.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1750" y="3396853"/>
            <a:ext cx="11328499" cy="317302"/>
          </a:xfrm>
          <a:prstGeom prst="roundRect">
            <a:avLst>
              <a:gd name="adj" fmla="val 2401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3200" y="3479304"/>
            <a:ext cx="11205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Meanings on next slide →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029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YOU DO · ACTIVITY 3 ·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YOU DO · EX2, P.79 · MEANINGS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Dictionary Race · 查字典比赛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2736800" cy="990302"/>
          </a:xfrm>
          <a:prstGeom prst="roundRect">
            <a:avLst>
              <a:gd name="adj" fmla="val 10260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7344" y="1126927"/>
            <a:ext cx="25456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7344" y="1418927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 chē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7344" y="1625203"/>
            <a:ext cx="25456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bus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5501" y="980926"/>
            <a:ext cx="2736949" cy="990302"/>
          </a:xfrm>
          <a:prstGeom prst="roundRect">
            <a:avLst>
              <a:gd name="adj" fmla="val 10260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91093" y="1126927"/>
            <a:ext cx="2545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火车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91093" y="1418927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 chē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91093" y="1625203"/>
            <a:ext cx="25457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59401" y="980926"/>
            <a:ext cx="2736949" cy="990302"/>
          </a:xfrm>
          <a:prstGeom prst="roundRect">
            <a:avLst>
              <a:gd name="adj" fmla="val 10260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4993" y="1126927"/>
            <a:ext cx="2545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出租车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54993" y="1418927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 zū chē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54993" y="1625203"/>
            <a:ext cx="25457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taxi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23300" y="980926"/>
            <a:ext cx="2736949" cy="990302"/>
          </a:xfrm>
          <a:prstGeom prst="roundRect">
            <a:avLst>
              <a:gd name="adj" fmla="val 10260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118893" y="1126927"/>
            <a:ext cx="2545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18893" y="1418927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dì tiě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18893" y="1625203"/>
            <a:ext cx="25457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subway / metro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1750" y="2148929"/>
            <a:ext cx="11328499" cy="431602"/>
          </a:xfrm>
          <a:prstGeom prst="roundRect">
            <a:avLst>
              <a:gd name="adj" fmla="val 2354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4901" y="2275880"/>
            <a:ext cx="1114064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transport words are pulled forward from Lesson 12 — you'll meet them again soon when we learn how to say "I go to school by ___".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034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GAME · CHARACTER BINGO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598993" y="330101"/>
            <a:ext cx="9938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82846" y="530126"/>
            <a:ext cx="36261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Character Bingo · 汉字宾果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442454" y="980926"/>
            <a:ext cx="5307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Cross off the character when the teacher calls its pinyin or English meaning.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64756" y="1282452"/>
            <a:ext cx="822722" cy="641152"/>
          </a:xfrm>
          <a:prstGeom prst="roundRect">
            <a:avLst>
              <a:gd name="adj" fmla="val 158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11977" y="1383953"/>
            <a:ext cx="5282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11977" y="1669703"/>
            <a:ext cx="528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 word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87327" y="1488728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5679" y="1282452"/>
            <a:ext cx="816025" cy="641152"/>
          </a:xfrm>
          <a:prstGeom prst="roundRect">
            <a:avLst>
              <a:gd name="adj" fmla="val 158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02967" y="1383953"/>
            <a:ext cx="5214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02967" y="1669703"/>
            <a:ext cx="521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Cross off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71552" y="1488728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39904" y="1282452"/>
            <a:ext cx="765572" cy="641152"/>
          </a:xfrm>
          <a:prstGeom prst="roundRect">
            <a:avLst>
              <a:gd name="adj" fmla="val 158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7697" y="1383953"/>
            <a:ext cx="4699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87697" y="1669703"/>
            <a:ext cx="4699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"Bingo!"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05325" y="1488728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73677" y="1282452"/>
            <a:ext cx="1153418" cy="641152"/>
          </a:xfrm>
          <a:prstGeom prst="roundRect">
            <a:avLst>
              <a:gd name="adj" fmla="val 158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17591" y="1383953"/>
            <a:ext cx="8655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17591" y="1669703"/>
            <a:ext cx="865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line aloud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16550" y="2076004"/>
            <a:ext cx="2158901" cy="1586805"/>
          </a:xfrm>
          <a:prstGeom prst="roundRect">
            <a:avLst>
              <a:gd name="adj" fmla="val 640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37100" y="2196554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69993" y="2285405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97451" y="2196554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30343" y="2285405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57801" y="2196554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90694" y="2285405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37100" y="2666256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69993" y="2755106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97451" y="2666256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30343" y="2755106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57801" y="2666256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90694" y="2755106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37100" y="3135957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69993" y="3224808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97451" y="3135957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30343" y="3224808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57801" y="3135957"/>
            <a:ext cx="596950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490694" y="3224808"/>
            <a:ext cx="531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124721" y="3815209"/>
            <a:ext cx="26817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🎴 9-square cards · varied layouts per student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21228" y="3815209"/>
            <a:ext cx="374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First complete line calls "Bingo!" and reads it aloud to confirm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91557" y="3815209"/>
            <a:ext cx="1261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🚫 No devices needed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4373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时间词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980926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750" y="1193602"/>
            <a:ext cx="11328499" cy="7143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早上 / 上午 / 中午 / 下午 / 晚上</a:t>
            </a:r>
            <a:endParaRPr lang="en-US" sz="11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match each time-of-day word to the correct time range</a:t>
            </a:r>
            <a:endParaRPr lang="en-US" sz="11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complete a greeting that matches the correct time of 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750" y="2034927"/>
            <a:ext cx="11328499" cy="691307"/>
          </a:xfrm>
          <a:prstGeom prst="roundRect">
            <a:avLst>
              <a:gd name="adj" fmla="val 146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2161877"/>
            <a:ext cx="11140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4901" y="2412653"/>
            <a:ext cx="111406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paper, write the time-of-day word you find </a:t>
            </a:r>
            <a:r>
              <a:rPr lang="en-US" sz="10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easiest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one you still </a:t>
            </a:r>
            <a:r>
              <a:rPr lang="en-US" sz="10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mix up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1750" y="2853184"/>
            <a:ext cx="11328499" cy="717947"/>
          </a:xfrm>
          <a:prstGeom prst="roundRect">
            <a:avLst>
              <a:gd name="adj" fmla="val 14152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3951" y="2999184"/>
            <a:ext cx="111017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3951" y="3211860"/>
            <a:ext cx="111017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 for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"morning" (5:00–8:00)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"morning" (before noon)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label which is which.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750" y="3672632"/>
            <a:ext cx="735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56122" y="3672632"/>
            <a:ext cx="987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26953" y="3672632"/>
            <a:ext cx="7974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634901"/>
            <a:ext cx="10881360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spcAft>
                <a:spcPts val="600"/>
              </a:spcAft>
              <a:buNone/>
            </a:pPr>
            <a:r>
              <a:rPr lang="en-US" sz="56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55320" y="1422350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Great work today!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5320" y="1965275"/>
            <a:ext cx="1088136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say the five parts of the day in Chinese.</a:t>
            </a:r>
            <a:endParaRPr lang="en-US" sz="1300" dirty="0"/>
          </a:p>
          <a:p>
            <a:pPr algn="ctr" indent="0" marL="0">
              <a:lnSpc>
                <a:spcPts val="195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Remember: </a:t>
            </a:r>
            <a:endParaRPr lang="en-US" sz="1300" dirty="0"/>
          </a:p>
          <a:p>
            <a:pPr algn="ctr" indent="0" marL="0">
              <a:lnSpc>
                <a:spcPts val="1950"/>
              </a:lnSpc>
              <a:spcAft>
                <a:spcPts val="1600"/>
              </a:spcAft>
              <a:buNone/>
            </a:pP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 (5:00–8:00) is not the same as 上午 (before noon)!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02050" y="2663428"/>
            <a:ext cx="5587901" cy="1387227"/>
          </a:xfrm>
          <a:prstGeom prst="roundRect">
            <a:avLst>
              <a:gd name="adj" fmla="val 7324"/>
            </a:avLst>
          </a:prstGeom>
          <a:solidFill>
            <a:srgbClr val="E4EEF0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76498" y="2860179"/>
            <a:ext cx="50390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76498" y="3072854"/>
            <a:ext cx="5039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时间词 + 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76498" y="3453854"/>
            <a:ext cx="50390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Take a digital clock time and add the correct time-of-day word in front — like 下午四点三刻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5320" y="4253805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16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 / 上午 / 中午 / 下午 / 晚上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the five parts of the day</a:t>
            </a:r>
            <a:endParaRPr lang="en-US" sz="1200" dirty="0"/>
          </a:p>
          <a:p>
            <a:pPr algn="ctr" indent="0" marL="0">
              <a:lnSpc>
                <a:spcPts val="1800"/>
              </a:lnSpc>
              <a:spcBef>
                <a:spcPts val="16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combine them with clock times you already know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2026-07-21T08:45:51Z</dcterms:created>
  <dcterms:modified xsi:type="dcterms:W3CDTF">2026-07-21T08:45:51Z</dcterms:modified>
</cp:coreProperties>
</file>