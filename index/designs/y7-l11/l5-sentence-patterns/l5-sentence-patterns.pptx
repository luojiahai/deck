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10835" y="1993850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67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我…。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66360" y="1941463"/>
            <a:ext cx="25913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98087" y="1993850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你…？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-121920" y="2527102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5 · Y7 UNIT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-121920" y="2828627"/>
            <a:ext cx="1243584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4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陈述 </a:t>
            </a:r>
            <a:pPr algn="ctr" indent="0" marL="0">
              <a:spcBef>
                <a:spcPts val="800"/>
              </a:spcBef>
              <a:buNone/>
            </a:pPr>
            <a:r>
              <a:rPr lang="en-US" sz="4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⇆</a:t>
            </a:r>
            <a:pPr algn="ctr" indent="0" marL="0">
              <a:spcBef>
                <a:spcPts val="800"/>
              </a:spcBef>
              <a:buNone/>
            </a:pPr>
            <a:r>
              <a:rPr lang="en-US" sz="4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疑问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-121920" y="3717578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Patterns · Statements &amp; Questions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-121920" y="4187428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Speaking + Writing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REVIEW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549176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Recall Lesson 4 · 回顾第四课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974527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English — write the Chinese verb, hold it up! 老师说英文，写出中文，举起来！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333202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102" y="1460153"/>
            <a:ext cx="4218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37434" y="1333202"/>
            <a:ext cx="3716982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40585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19786" y="1460153"/>
            <a:ext cx="87788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 breakfast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43267" y="1333202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46418" y="1464915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25619" y="1460153"/>
            <a:ext cx="82263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1750" y="1866454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34901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4102" y="1993404"/>
            <a:ext cx="8025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attend class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37434" y="1866454"/>
            <a:ext cx="3716982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40585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19786" y="1993404"/>
            <a:ext cx="10711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are over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3267" y="1866454"/>
            <a:ext cx="3716834" cy="444401"/>
          </a:xfrm>
          <a:prstGeom prst="roundRect">
            <a:avLst>
              <a:gd name="adj" fmla="val 228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46418" y="1998166"/>
            <a:ext cx="181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25619" y="1993404"/>
            <a:ext cx="6383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bed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31750" y="2513856"/>
            <a:ext cx="11328499" cy="679252"/>
          </a:xfrm>
          <a:prstGeom prst="roundRect">
            <a:avLst>
              <a:gd name="adj" fmla="val 18697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3951" y="2710607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99976" y="2659856"/>
            <a:ext cx="50790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Recite Text 2 — no peeking!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9976" y="2894707"/>
            <a:ext cx="50790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2 students to recite all six Text 2 sentences from memory · choral fallback if needed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31750" y="3396109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buNone/>
            </a:pPr>
            <a:r>
              <a:rPr lang="en-US" sz="10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「You can describe YOUR day. Today you learn to ask someone else about THEIRS — and describe a stranger's day just from a picture.」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117824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387650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2981325"/>
            <a:ext cx="11328499" cy="673001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2981325"/>
            <a:ext cx="0" cy="673001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2526" y="3108275"/>
            <a:ext cx="110920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82526" y="3279725"/>
            <a:ext cx="110920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turn a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daily-routine statement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a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answer it about ourselves or someone else.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383202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1851" y="3832027"/>
            <a:ext cx="63185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daily-routine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statement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我/我们 + time + verb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用我/我们说日常起居句子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1750" y="411777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1851" y="4117777"/>
            <a:ext cx="40966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 daily-routine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用几点提问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750" y="4403527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1851" y="4403527"/>
            <a:ext cx="61719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</a:t>
            </a:r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else's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routine from a picture using </a:t>
            </a:r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他/她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</a:t>
            </a:r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用他/她描述日常起居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STATEMENT PATTERNS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943249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213074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Statements · 陈述句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768650"/>
            <a:ext cx="2450009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2768650"/>
            <a:ext cx="0" cy="49530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7076" y="2882950"/>
            <a:ext cx="20879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/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动词。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31750" y="3390900"/>
            <a:ext cx="11328499" cy="1396901"/>
          </a:xfrm>
          <a:prstGeom prst="roundRect">
            <a:avLst>
              <a:gd name="adj" fmla="val 72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1750" y="3390900"/>
            <a:ext cx="11328499" cy="13969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点起床。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get up at X in the morning.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点一刻去上学。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to school at quarter past X.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点上课。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attend class at X.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点半放学。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finish at half past X in the afternoon.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</a:t>
            </a:r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点半睡觉。</a:t>
            </a:r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go to bed at half past X in the evening.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QUESTION PATTERNS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2056209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KEY SENTENCE PATTERNS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2300585"/>
            <a:ext cx="115550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Questions · 疑问句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31750" y="2833836"/>
            <a:ext cx="5950744" cy="1054001"/>
          </a:xfrm>
          <a:prstGeom prst="roundRect">
            <a:avLst>
              <a:gd name="adj" fmla="val 96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2833836"/>
            <a:ext cx="5950744" cy="10540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get up in the morning?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你几点吃早饭？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eat breakfast?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(pl.) finish school in the afternoon?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你几点睡觉？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 do you go to bed?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3989338"/>
            <a:ext cx="2504331" cy="238125"/>
          </a:xfrm>
          <a:prstGeom prst="roundRect">
            <a:avLst>
              <a:gd name="adj" fmla="val 74667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58701" y="4027438"/>
            <a:ext cx="22954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Model 2–3 Q&amp;A pairs live with the class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85645" y="2833836"/>
            <a:ext cx="5174456" cy="936427"/>
          </a:xfrm>
          <a:prstGeom prst="roundRect">
            <a:avLst>
              <a:gd name="adj" fmla="val 13562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07845" y="2979837"/>
            <a:ext cx="48246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THINK-ALOUD · 转换思路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807845" y="3176588"/>
            <a:ext cx="48246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Replace the exact time with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move </a:t>
            </a:r>
            <a:pPr algn="l"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</a:t>
            </a:r>
            <a:pPr algn="l"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into the 我 spot.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0544" y="3414713"/>
            <a:ext cx="48246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pPr algn="ct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你早上</a:t>
            </a:r>
            <a:pPr algn="ct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起床？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5645" y="3871764"/>
            <a:ext cx="5174456" cy="803077"/>
          </a:xfrm>
          <a:prstGeom prst="roundRect">
            <a:avLst>
              <a:gd name="adj" fmla="val 1581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07845" y="4017764"/>
            <a:ext cx="2040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09371" y="4017764"/>
            <a:ext cx="45171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他/她 — describing someone else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109371" y="4224040"/>
            <a:ext cx="451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他早上七点起床。 Only the </a:t>
            </a:r>
            <a:pPr algn="l" indent="0" marL="0">
              <a:spcBef>
                <a:spcPts val="200"/>
              </a:spcBef>
              <a:buNone/>
            </a:pPr>
            <a:r>
              <a:rPr lang="en-US" sz="8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pronoun</a:t>
            </a:r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changes — the rest of the sentence stays the same!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551236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808411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2351336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31853" y="2478286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6651" y="2535436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this into a question: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 on paper, hold it up!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1750" y="3008412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1853" y="3135362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66651" y="3192512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this question: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你几点起床几点？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cold call!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750" y="3665488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853" y="3792438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6651" y="3849588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picture —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make a sentence!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it and hold it up. </a:t>
            </a:r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(picture: 她, 7:00)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1750" y="4424214"/>
            <a:ext cx="2660749" cy="403027"/>
          </a:xfrm>
          <a:prstGeom prst="roundRect">
            <a:avLst>
              <a:gd name="adj" fmla="val 1890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501" y="4544764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31750" y="5017740"/>
            <a:ext cx="14570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 Write on paper, hold it up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63353" y="5017740"/>
            <a:ext cx="948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💬 Cold call for #2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I DO · CFU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578471"/>
            <a:ext cx="1302246" cy="219075"/>
          </a:xfrm>
          <a:prstGeom prst="roundRect">
            <a:avLst>
              <a:gd name="adj" fmla="val 81160"/>
            </a:avLst>
          </a:prstGeom>
          <a:solidFill>
            <a:srgbClr val="F5E8C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8701" y="1616571"/>
            <a:ext cx="10693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1750" y="1899047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1750" y="2143423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31750" y="2673548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1853" y="2800499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66651" y="2857649"/>
            <a:ext cx="93818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this into a question: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391477" y="2867174"/>
            <a:ext cx="11889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1750" y="3330625"/>
            <a:ext cx="11328499" cy="815727"/>
          </a:xfrm>
          <a:prstGeom prst="roundRect">
            <a:avLst>
              <a:gd name="adj" fmla="val 1245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853" y="3581251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66651" y="3457575"/>
            <a:ext cx="10700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wrong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with: </a:t>
            </a:r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你几点起床几点？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66651" y="3682901"/>
            <a:ext cx="107002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你几点起床几点？</a:t>
            </a:r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200"/>
              </a:spcBef>
              <a:buNone/>
            </a:pPr>
            <a:r>
              <a:rPr lang="en-US" sz="10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你几点起床？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66651" y="3876526"/>
            <a:ext cx="107002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used twice — should only appear once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1750" y="4235202"/>
            <a:ext cx="11328499" cy="568226"/>
          </a:xfrm>
          <a:prstGeom prst="roundRect">
            <a:avLst>
              <a:gd name="adj" fmla="val 1788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1853" y="4362152"/>
            <a:ext cx="3108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66651" y="4419302"/>
            <a:ext cx="95139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shows a picture (她, 7:00) — make a sentence!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20958" y="4428827"/>
            <a:ext cx="10568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她早上七点起床。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1750" y="4981129"/>
            <a:ext cx="11555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Compare with your written answer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WE DO · SENTENCE-FRAME PRACTICE · 20–28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380285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Guided Sentence-Frame Practice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599712" y="430262"/>
            <a:ext cx="1332458" cy="292001"/>
          </a:xfrm>
          <a:prstGeom prst="roundRect">
            <a:avLst>
              <a:gd name="adj" fmla="val 43493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771162" y="500063"/>
            <a:ext cx="10093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08370" y="430262"/>
            <a:ext cx="751880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0295" y="490538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85825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the sentence-frame handout, convert 4 given statements into questions and vice versa. Check each with a partner before the teacher reveals the answer.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18465" y="1190625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frame boxes show exactly where 几点 and the pronoun go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1823" y="1447800"/>
            <a:ext cx="1698427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135636" y="1447800"/>
            <a:ext cx="0" cy="495300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37149" y="1562100"/>
            <a:ext cx="132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pPr algn="l" indent="0" marL="0"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动词。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87951" y="1533525"/>
            <a:ext cx="22026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⇆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81601" y="1447800"/>
            <a:ext cx="1698427" cy="495300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405414" y="1447800"/>
            <a:ext cx="0" cy="495300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06927" y="1562100"/>
            <a:ext cx="13213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pPr algn="l" indent="0" marL="0"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</a:t>
            </a:r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动词？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1750" y="2133600"/>
            <a:ext cx="3716834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46050" y="2209800"/>
            <a:ext cx="3557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6050" y="2368451"/>
            <a:ext cx="3557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Frame boxes show exactly where 几点 and the pronoun go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237434" y="213360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51734" y="220980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351734" y="2368451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also answer their own converted question with a different time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043267" y="2133600"/>
            <a:ext cx="3716982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57567" y="2209800"/>
            <a:ext cx="35581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57567" y="2368451"/>
            <a:ext cx="3558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on every item before the reveal — every student commits an answer first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YOU DO · EX7 PICTURE DESCRIPTION · 28–36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415641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Ex7 Picture Description · 看图说话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76445" y="425500"/>
            <a:ext cx="1755725" cy="292001"/>
          </a:xfrm>
          <a:prstGeom prst="roundRect">
            <a:avLst>
              <a:gd name="adj" fmla="val 2609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47895" y="495300"/>
            <a:ext cx="14410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Oral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08370" y="425500"/>
            <a:ext cx="751880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0295" y="485775"/>
            <a:ext cx="436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635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7 daily-routine scenes (p.83, time shown in corner). In pairs, take turns describing each scene aloud. Partner listens and gives a thumbs up/down on correctness.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1750" y="1145977"/>
            <a:ext cx="1563886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1634" y="1218902"/>
            <a:ext cx="15241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1634" y="1399877"/>
            <a:ext cx="1524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059037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078919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78919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86473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06355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706355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3908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333790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333790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941344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61226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61226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568779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588661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88661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0196215" y="1145977"/>
            <a:ext cx="1564035" cy="450652"/>
          </a:xfrm>
          <a:prstGeom prst="roundRect">
            <a:avLst>
              <a:gd name="adj" fmla="val 2254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0216097" y="1218902"/>
            <a:ext cx="15242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216097" y="1399877"/>
            <a:ext cx="15242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31750" y="1723430"/>
            <a:ext cx="5575399" cy="1812578"/>
          </a:xfrm>
          <a:prstGeom prst="roundRect">
            <a:avLst>
              <a:gd name="adj" fmla="val 560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44426" y="1859905"/>
            <a:ext cx="52530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Frame · 句型框架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4426" y="2123331"/>
            <a:ext cx="5150048" cy="428625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238" y="2123331"/>
            <a:ext cx="0" cy="4286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9752" y="2237631"/>
            <a:ext cx="48419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/她</a:t>
            </a:r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[时间段] + [时间] + [动词]。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4426" y="2602706"/>
            <a:ext cx="5253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他早上七点起床。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44426" y="2821781"/>
            <a:ext cx="525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  Partner A describes the scene aloud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44426" y="3024932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  Partner B gives 👍/👎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44426" y="3247132"/>
            <a:ext cx="5253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  Switch roles for the next scene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84850" y="1723430"/>
            <a:ext cx="5575399" cy="1812578"/>
          </a:xfrm>
          <a:prstGeom prst="roundRect">
            <a:avLst>
              <a:gd name="adj" fmla="val 560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97526" y="1859905"/>
            <a:ext cx="52530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Materials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97526" y="2123331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📸  Ex7 picture set — 7 scenes, p.83, time shown in corner of each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397526" y="2345531"/>
            <a:ext cx="52530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  Work in pairs — take turns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31750" y="3662809"/>
            <a:ext cx="5619750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46050" y="3739009"/>
            <a:ext cx="549897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46050" y="3897660"/>
            <a:ext cx="54989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follow-up question based on the picture, e.g. 你呢？你几点起床？ — partner must answer about themselves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6140351" y="3662809"/>
            <a:ext cx="5619899" cy="615851"/>
          </a:xfrm>
          <a:prstGeom prst="roundRect">
            <a:avLst>
              <a:gd name="adj" fmla="val 1031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254651" y="3739009"/>
            <a:ext cx="54991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254651" y="3897660"/>
            <a:ext cx="54991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 pairs to perform one scene description each to the whole class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GAME · CORRECT THE TEACHER · 36–43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403785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Teacher! · 我来考老师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281642" y="425500"/>
            <a:ext cx="656481" cy="292001"/>
          </a:xfrm>
          <a:prstGeom prst="roundRect">
            <a:avLst>
              <a:gd name="adj" fmla="val 2609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453092" y="495300"/>
            <a:ext cx="3198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014323" y="425500"/>
            <a:ext cx="745927" cy="292001"/>
          </a:xfrm>
          <a:prstGeom prst="roundRect">
            <a:avLst>
              <a:gd name="adj" fmla="val 34795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176248" y="485775"/>
            <a:ext cx="4305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850850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sentence below has a mistake. Work with your partner to spot it and write the correction — a representative from each pair will read it out.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3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0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你们几点下午放学？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4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41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441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我早上六点半起了床。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1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51750" y="1101626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23200" y="1234976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8223200" y="1387376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他晚上上午睡觉。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223200" y="1684139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3200" y="1739652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3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0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你几点几点吃早饭？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0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4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41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5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41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我们下午三点半上学。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41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1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051750" y="2117378"/>
            <a:ext cx="3708499" cy="914251"/>
          </a:xfrm>
          <a:prstGeom prst="roundRect">
            <a:avLst>
              <a:gd name="adj" fmla="val 11113"/>
            </a:avLst>
          </a:prstGeom>
          <a:solidFill>
            <a:srgbClr val="D4756B">
              <a:alpha val="7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23200" y="2250728"/>
            <a:ext cx="3432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6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8223200" y="2403128"/>
            <a:ext cx="34329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她早上七点半上课上学。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223200" y="2699891"/>
            <a:ext cx="3365599" cy="0"/>
          </a:xfrm>
          <a:prstGeom prst="line">
            <a:avLst/>
          </a:prstGeom>
          <a:noFill/>
          <a:ln w="9525">
            <a:solidFill>
              <a:srgbClr val="D5CE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23200" y="2755404"/>
            <a:ext cx="34329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→ 你来写…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31750" y="3120479"/>
            <a:ext cx="2660749" cy="403027"/>
          </a:xfrm>
          <a:prstGeom prst="roundRect">
            <a:avLst>
              <a:gd name="adj" fmla="val 1890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8501" y="3241030"/>
            <a:ext cx="23125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31750" y="3612356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Setup: pairs just need paper and pen — no other materials needed.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GAME · CORRECT THE TEACHER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381000"/>
            <a:ext cx="337552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Correct the Teacher — Answers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458004" y="447675"/>
            <a:ext cx="1302246" cy="219075"/>
          </a:xfrm>
          <a:prstGeom prst="roundRect">
            <a:avLst>
              <a:gd name="adj" fmla="val 8116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584954" y="485775"/>
            <a:ext cx="10693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1750" y="822275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4901" y="949226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1 · WORD ORDER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34901" y="1111151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你们几点下午放学？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你们下午几点放学？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4901" y="1349276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 (time-of-day) comes before 几点 — not after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140351" y="822275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43501" y="949226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2 · WRONG VERB FORM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343501" y="1111151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我早上六点半起了床。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3501" y="1349276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 is the fixed verb — not 起了床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31750" y="1698427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901" y="1825377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3 · DUPLICATE TIME-OF-DAY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34901" y="1987302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他晚上上午睡觉。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他晚上睡觉。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4901" y="2225427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 time-of-day words — remove 上午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140351" y="1698427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3501" y="1825377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4 · 几点 DUPLICATED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343501" y="1987302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你几点几点吃早饭？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你几点吃早饭？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43501" y="2225427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should only appear once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31750" y="2574578"/>
            <a:ext cx="5619750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4901" y="2701528"/>
            <a:ext cx="53177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5 · WRONG VERB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34901" y="2863453"/>
            <a:ext cx="53177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我们下午三点半上学。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4901" y="3101578"/>
            <a:ext cx="53177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Classes ENDING — should be 放学, not 上学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40351" y="2574578"/>
            <a:ext cx="5619899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43501" y="2701528"/>
            <a:ext cx="53178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6 · TWO VERBS COMBINED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43501" y="2863453"/>
            <a:ext cx="53178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她早上七点半上课上学。</a:t>
            </a:r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00000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→ </a:t>
            </a:r>
            <a:pPr algn="l" indent="0" marL="0"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她早上七点半上课。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43501" y="3101578"/>
            <a:ext cx="53178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Only ONE verb — 上课 or 上学, not both together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L5 · 句型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1613297"/>
            <a:ext cx="115550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1750" y="1857673"/>
            <a:ext cx="1155506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 · 回顾与反思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431750" y="2359223"/>
            <a:ext cx="11555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31750" y="2517874"/>
            <a:ext cx="11328499" cy="5715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 daily-routine statement using 我/我们 + time + verb.</a:t>
            </a:r>
            <a:endParaRPr lang="en-US" sz="1050" dirty="0"/>
          </a:p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 daily-routine question using 几点.</a:t>
            </a:r>
            <a:endParaRPr lang="en-US" sz="1050" dirty="0"/>
          </a:p>
          <a:p>
            <a:pPr algn="l" marL="101600" indent="-101600">
              <a:buSzPct val="100000"/>
              <a:buChar char="•"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someone else's routine from a picture using 他/她.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31750" y="3190875"/>
            <a:ext cx="11328499" cy="634901"/>
          </a:xfrm>
          <a:prstGeom prst="roundRect">
            <a:avLst>
              <a:gd name="adj" fmla="val 1600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34901" y="3317825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📋 Self-Assessment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4901" y="3517850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paper: Write ONE question you can now ask a classmate about their routine.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1750" y="3927277"/>
            <a:ext cx="11328499" cy="926902"/>
          </a:xfrm>
          <a:prstGeom prst="roundRect">
            <a:avLst>
              <a:gd name="adj" fmla="val 13702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3951" y="4073277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653951" y="4273302"/>
            <a:ext cx="111017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question asking what time someone goes to bed, and answer it for yourself.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951" y="4546253"/>
            <a:ext cx="11101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Q: _____________   A: _____________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31750" y="4955679"/>
            <a:ext cx="4851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it!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85106" y="4955679"/>
            <a:ext cx="8290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075557" y="4955679"/>
            <a:ext cx="11591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more practice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21920" y="888950"/>
            <a:ext cx="124358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-121920" y="1727150"/>
            <a:ext cx="1243584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-121920" y="2244626"/>
            <a:ext cx="124358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turn a routine statement into a question — and describe </a:t>
            </a:r>
            <a:pPr algn="ctr" indent="0" marL="0">
              <a:lnSpc>
                <a:spcPts val="1650"/>
              </a:lnSpc>
              <a:spcBef>
                <a:spcPts val="400"/>
              </a:spcBef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else's</a:t>
            </a:r>
            <a:pPr algn="ctr" indent="0" marL="0">
              <a:lnSpc>
                <a:spcPts val="165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day too.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38500" y="2708077"/>
            <a:ext cx="5715000" cy="1371451"/>
          </a:xfrm>
          <a:prstGeom prst="roundRect">
            <a:avLst>
              <a:gd name="adj" fmla="val 9260"/>
            </a:avLst>
          </a:prstGeom>
          <a:solidFill>
            <a:srgbClr val="F6F2E8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511677" y="2930277"/>
            <a:ext cx="51686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511677" y="3104852"/>
            <a:ext cx="516864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听力：上午/下午 + 运动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511677" y="3495377"/>
            <a:ext cx="516864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for a.m. vs p.m., and combine your routine sentences with sports you already know how to say.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-121920" y="4282678"/>
            <a:ext cx="124358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陈述句 (statements)</a:t>
            </a:r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⇆ </a:t>
            </a:r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疑问句 (questions)</a:t>
            </a:r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via 几点</a:t>
            </a:r>
            <a:endParaRPr lang="en-US" sz="1100" dirty="0"/>
          </a:p>
          <a:p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a.m./p.m. listening + 运动 sports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2026-07-21T08:46:46Z</dcterms:created>
  <dcterms:modified xsi:type="dcterms:W3CDTF">2026-07-21T08:46:46Z</dcterms:modified>
</cp:coreProperties>
</file>