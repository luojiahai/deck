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8851" y="1779984"/>
            <a:ext cx="1054001" cy="1054001"/>
          </a:xfrm>
          <a:prstGeom prst="roundRect">
            <a:avLst>
              <a:gd name="adj" fmla="val 86755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93967" y="2986385"/>
            <a:ext cx="3403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3 · Y7 Unit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93967" y="3268861"/>
            <a:ext cx="3403917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920"/>
              </a:lnSpc>
              <a:buNone/>
            </a:pPr>
            <a:r>
              <a:rPr lang="en-US" sz="7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393967" y="4325392"/>
            <a:ext cx="34039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 Past · Telling Time with 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93967" y="4915942"/>
            <a:ext cx="34039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· 50 mins · Speaking + Listening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059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Speed Correct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7950" y="711101"/>
            <a:ext cx="11399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A — 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7950" y="904726"/>
            <a:ext cx="1139962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Speed Correct · 快速判断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7950" y="1320552"/>
            <a:ext cx="11399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"T" or "F" on your paper. Hold it up!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1628477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17173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6132" y="1760190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5002" y="1717328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「两点」means 3 o'clock.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5002" y="1917353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两 = two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34100" y="1628477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61050" y="17173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43055" y="1760190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91151" y="1717328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「七点」means 7 o'clock.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91151" y="1917353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点 = o'clock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07950" y="2206228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01" y="22950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6607" y="2337941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5002" y="2295079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「三点十五分」means 3:15.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5002" y="2495104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分 = minutes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34100" y="2206228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61050" y="22950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42459" y="2337941"/>
            <a:ext cx="67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91151" y="2295079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「十二点」means 10 o'clock.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91151" y="2495104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十二 = 12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07950" y="2783979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901" y="28728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6756" y="2915692"/>
            <a:ext cx="661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5002" y="2872829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「分」means "o'clock".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5002" y="3072854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What does 分 really mean?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34100" y="2783979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61050" y="287282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42311" y="2915692"/>
            <a:ext cx="67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91151" y="2872829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「二点」is correct Chinese.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91151" y="3072854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Remember the L1 trap!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7950" y="3361730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4901" y="34505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9138" y="3493443"/>
            <a:ext cx="613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965002" y="3450580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「九点零五分」means 9:05.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5002" y="3650605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零 = zero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34100" y="3361730"/>
            <a:ext cx="5549950" cy="501551"/>
          </a:xfrm>
          <a:prstGeom prst="roundRect">
            <a:avLst>
              <a:gd name="adj" fmla="val 1519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61050" y="345058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42459" y="3493443"/>
            <a:ext cx="66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591151" y="3450580"/>
            <a:ext cx="50652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「一点二十分」means 1:20.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91151" y="3650605"/>
            <a:ext cx="5065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Hint: Check the numbers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0394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Word Building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9103" y="1940123"/>
            <a:ext cx="15136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Part B — 5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43876" y="2133749"/>
            <a:ext cx="27042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Building · 组词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87247" y="2549575"/>
            <a:ext cx="36175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each two-character word. Work with a partner!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97771" y="2908250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15722" y="3060650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 _ _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15722" y="3308300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名字 (míngzi)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15722" y="3470225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78586" y="2908250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96537" y="3060650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 _ _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96537" y="3308300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 (shíjiān)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96537" y="3470225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59401" y="2908250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77352" y="3060650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 _ 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7352" y="3308300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 (Zhōngguó)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77352" y="3470225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40216" y="2908250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8166" y="3060650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 _ _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58166" y="3308300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生日 (shēngrì)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58166" y="3470225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birthday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97771" y="3873401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15722" y="4025801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 _ _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15722" y="4273451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(jǐ diǎn)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15722" y="4435376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time?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78586" y="3873401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96537" y="4025801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 _ _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96537" y="4273451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现在 (xiànzài)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96537" y="4435376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159401" y="3873401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77352" y="4025801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 _ _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77352" y="4273451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 (shàngwǔ)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77352" y="4435376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morning / AM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440216" y="3873401"/>
            <a:ext cx="1153864" cy="838200"/>
          </a:xfrm>
          <a:prstGeom prst="roundRect">
            <a:avLst>
              <a:gd name="adj" fmla="val 121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558166" y="4025801"/>
            <a:ext cx="9179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 _ 上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558166" y="4273451"/>
            <a:ext cx="9179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 (wǎnshang)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8166" y="4435376"/>
            <a:ext cx="9179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evening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089144" y="4889302"/>
            <a:ext cx="40135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words unlock telling time. Let's add one more today — 半.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797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711101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10–12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904726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1472952"/>
            <a:ext cx="10769798" cy="612577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0151" y="1472952"/>
            <a:ext cx="0" cy="612577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6902" y="1599902"/>
            <a:ext cx="105838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26902" y="1749028"/>
            <a:ext cx="105838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half-past times using 半, and to choose between 点, 分, and 半 when telling time.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1101" y="2263229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8583" y="2312343"/>
            <a:ext cx="47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53852" y="2293293"/>
            <a:ext cx="21695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half-past times using 半.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901" y="2517130"/>
            <a:ext cx="106742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用「半」说半点时间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1101" y="2736205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9356" y="2785318"/>
            <a:ext cx="65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3852" y="2766268"/>
            <a:ext cx="34030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tell the difference between X点半 and X点三十分.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15901" y="2990106"/>
            <a:ext cx="106742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区分「X点半」和「X点三十分」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1101" y="3209181"/>
            <a:ext cx="241250" cy="241250"/>
          </a:xfrm>
          <a:prstGeom prst="roundRect">
            <a:avLst>
              <a:gd name="adj" fmla="val 379026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9207" y="3258294"/>
            <a:ext cx="663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3852" y="3239244"/>
            <a:ext cx="37113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see a clock and pick the right pattern — 点, 分, or 半.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15901" y="3463082"/>
            <a:ext cx="106742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看到钟表，选择正确的表达方式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997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935212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2128838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新词汇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671763"/>
            <a:ext cx="10769798" cy="1104751"/>
          </a:xfrm>
          <a:prstGeom prst="roundRect">
            <a:avLst>
              <a:gd name="adj" fmla="val 11496"/>
            </a:avLst>
          </a:prstGeom>
          <a:solidFill>
            <a:srgbClr val="FFFFFF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34951" y="2893963"/>
            <a:ext cx="673709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1949351" y="2928789"/>
            <a:ext cx="13586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49351" y="3176439"/>
            <a:ext cx="1358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49351" y="3376464"/>
            <a:ext cx="1358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strokes · radical: 十 (shí)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1101" y="3928914"/>
            <a:ext cx="10985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半 means "half". When telling time, it goes after the hour — just like "half past" in English.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1101" y="4262289"/>
            <a:ext cx="812750" cy="812750"/>
          </a:xfrm>
          <a:prstGeom prst="roundRect">
            <a:avLst>
              <a:gd name="adj" fmla="val 112507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1101" y="4262289"/>
            <a:ext cx="812750" cy="406301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01552" y="4587627"/>
            <a:ext cx="3373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= half of something → half of an hour = 30 minutes past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8063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683097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851273"/>
            <a:ext cx="115031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Pattern · 关键句型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228999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 + 点 + 半 = Half past (X:30)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22602" y="2613124"/>
            <a:ext cx="425351" cy="457200"/>
          </a:xfrm>
          <a:prstGeom prst="roundRect">
            <a:avLst>
              <a:gd name="adj" fmla="val 23886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8602" y="2708374"/>
            <a:ext cx="1360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4152" y="2708374"/>
            <a:ext cx="125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23136" y="2613124"/>
            <a:ext cx="486221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69136" y="2708374"/>
            <a:ext cx="198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85557" y="2708374"/>
            <a:ext cx="125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84540" y="2613124"/>
            <a:ext cx="486221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30541" y="2708374"/>
            <a:ext cx="198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46962" y="2708374"/>
            <a:ext cx="1212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42075" y="2613124"/>
            <a:ext cx="727174" cy="457200"/>
          </a:xfrm>
          <a:prstGeom prst="roundRect">
            <a:avLst>
              <a:gd name="adj" fmla="val 22222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88076" y="2708374"/>
            <a:ext cx="4438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X:30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317974"/>
            <a:ext cx="2743200" cy="739676"/>
          </a:xfrm>
          <a:prstGeom prst="roundRect">
            <a:avLst>
              <a:gd name="adj" fmla="val 137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7492" y="3444925"/>
            <a:ext cx="2642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7492" y="3749725"/>
            <a:ext cx="26426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01901" y="3317974"/>
            <a:ext cx="2743349" cy="739676"/>
          </a:xfrm>
          <a:prstGeom prst="roundRect">
            <a:avLst>
              <a:gd name="adj" fmla="val 137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52191" y="3444925"/>
            <a:ext cx="2642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352191" y="3749725"/>
            <a:ext cx="2642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6750" y="3317974"/>
            <a:ext cx="2743200" cy="739676"/>
          </a:xfrm>
          <a:prstGeom prst="roundRect">
            <a:avLst>
              <a:gd name="adj" fmla="val 137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7042" y="3444925"/>
            <a:ext cx="26426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197042" y="3749725"/>
            <a:ext cx="26426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91451" y="3317974"/>
            <a:ext cx="2743349" cy="739676"/>
          </a:xfrm>
          <a:prstGeom prst="roundRect">
            <a:avLst>
              <a:gd name="adj" fmla="val 1373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9041742" y="3444925"/>
            <a:ext cx="26427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十二点半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041742" y="3749725"/>
            <a:ext cx="26427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84600"/>
            <a:ext cx="11277600" cy="520601"/>
          </a:xfrm>
          <a:prstGeom prst="roundRect">
            <a:avLst>
              <a:gd name="adj" fmla="val 14637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8650" y="4302026"/>
            <a:ext cx="566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5664" y="4292501"/>
            <a:ext cx="37205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X点半 = X点三十分 — both correct!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5664" y="4473476"/>
            <a:ext cx="37205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is shorter and more common in everyday speech. 三十分 is more formal / written.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806702"/>
            <a:ext cx="11277600" cy="520601"/>
          </a:xfrm>
          <a:prstGeom prst="roundRect">
            <a:avLst>
              <a:gd name="adj" fmla="val 14637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8650" y="4924127"/>
            <a:ext cx="695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8314" y="4914602"/>
            <a:ext cx="28053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 = 两点半 NOT 二点半!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8314" y="5095577"/>
            <a:ext cx="28053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Same rule as o'clock: before 点, use 两 (liǎng) instead of 二 (èr)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359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Cumulative Chart + CFU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584150"/>
            <a:ext cx="6559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52326"/>
            <a:ext cx="6559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Comparison · 综合对比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091952"/>
            <a:ext cx="6559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pattern? 点 · 分 · 半 — look at the clock and decide!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3400" y="1593503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07989" y="1603177"/>
            <a:ext cx="2347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71390" y="1615827"/>
            <a:ext cx="110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75820" y="1593503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3400" y="1891903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07989" y="1901577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71390" y="1914227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75820" y="1891903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七点半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3400" y="21903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07989" y="2199977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3A7D8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71390" y="2212628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75820" y="21903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两点十五分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3400" y="24887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8:30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07989" y="2498378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71390" y="2511028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75820" y="24887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八点半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3400" y="27871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07989" y="2796778"/>
            <a:ext cx="450354" cy="168176"/>
          </a:xfrm>
          <a:prstGeom prst="roundRect">
            <a:avLst>
              <a:gd name="adj" fmla="val 7544061"/>
            </a:avLst>
          </a:prstGeom>
          <a:solidFill>
            <a:srgbClr val="D475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71390" y="2809429"/>
            <a:ext cx="3300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点零分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75820" y="27871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十点零五分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3400" y="30855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007989" y="3095179"/>
            <a:ext cx="2347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071390" y="3107829"/>
            <a:ext cx="110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75820" y="30855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3400" y="33839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5:30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007989" y="3393579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071390" y="3406229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75820" y="33839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五点半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3400" y="36823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007989" y="3691979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3A7D8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071390" y="3704630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点分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75820" y="36823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一点四十五分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41518" y="584150"/>
            <a:ext cx="46851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141518" y="809476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240732" y="872877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547818" y="925264"/>
            <a:ext cx="4167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 — 1 finger = 两点半, 2 fingers = 二点半.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41518" y="1260128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240732" y="1323529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547818" y="1375916"/>
            <a:ext cx="4167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四点半 = 四点三十分?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41518" y="1710779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240732" y="1774180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47818" y="1826568"/>
            <a:ext cx="4167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8:30 in Chinese on your paper.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41518" y="2161431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240732" y="2224832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547818" y="2277219"/>
            <a:ext cx="41671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 is more common in speech for :30 — 半 or 三十分?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41518" y="2662833"/>
            <a:ext cx="9776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26921" y="2662833"/>
            <a:ext cx="1134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9575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·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584150"/>
            <a:ext cx="6559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12–18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93700"/>
            <a:ext cx="730300" cy="174427"/>
          </a:xfrm>
          <a:prstGeom prst="roundRect">
            <a:avLst>
              <a:gd name="adj" fmla="val 2184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8701" y="819001"/>
            <a:ext cx="5378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044327"/>
            <a:ext cx="65590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Comparison · 综合对比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383953"/>
            <a:ext cx="65590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pattern? 点 · 分 · 半 — look at the clock and decide!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3400" y="18855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07989" y="1895177"/>
            <a:ext cx="2347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71390" y="1907828"/>
            <a:ext cx="110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75820" y="18855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3400" y="21839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07989" y="2193578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71390" y="2206228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75820" y="21839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七点半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3400" y="2482304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007989" y="2491978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3A7D8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71390" y="2504629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点分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75820" y="2482304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两点十五分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3400" y="27807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8:30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07989" y="2790379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71390" y="2803029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75820" y="27807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八点半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400" y="30791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07989" y="3088779"/>
            <a:ext cx="450354" cy="168176"/>
          </a:xfrm>
          <a:prstGeom prst="roundRect">
            <a:avLst>
              <a:gd name="adj" fmla="val 7544061"/>
            </a:avLst>
          </a:prstGeom>
          <a:solidFill>
            <a:srgbClr val="D4756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071390" y="3101429"/>
            <a:ext cx="3300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点零分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75820" y="30791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十点零五分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3400" y="3377505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07989" y="3387179"/>
            <a:ext cx="2347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71390" y="3399830"/>
            <a:ext cx="1100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75820" y="3377505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十二点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3400" y="3675906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5:30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07989" y="3685580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C8943E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071390" y="3698230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点半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75820" y="3675906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五点半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3400" y="3974306"/>
            <a:ext cx="13486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07989" y="3983980"/>
            <a:ext cx="342602" cy="168176"/>
          </a:xfrm>
          <a:prstGeom prst="roundRect">
            <a:avLst>
              <a:gd name="adj" fmla="val 7544061"/>
            </a:avLst>
          </a:prstGeom>
          <a:solidFill>
            <a:srgbClr val="3A7D8C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071390" y="3996630"/>
            <a:ext cx="220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点分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75820" y="3974306"/>
            <a:ext cx="26883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一点四十五分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41518" y="584150"/>
            <a:ext cx="46851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for Understanding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141518" y="809476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240732" y="872877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547818" y="925264"/>
            <a:ext cx="3724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 — 1 finger = 两点半, 2 fingers = 二点半.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267905" y="934789"/>
            <a:ext cx="3653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finger!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141518" y="1260128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240732" y="1323529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547818" y="1375916"/>
            <a:ext cx="3890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四点半 = 四点三十分?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434739" y="1385441"/>
            <a:ext cx="1985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Yes!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41518" y="1710779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240732" y="1774180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547818" y="1826568"/>
            <a:ext cx="38115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8:30 in Chinese on your paper.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1355345" y="1836093"/>
            <a:ext cx="2779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八点半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7141518" y="2161431"/>
            <a:ext cx="4593282" cy="374452"/>
          </a:xfrm>
          <a:prstGeom prst="roundRect">
            <a:avLst>
              <a:gd name="adj" fmla="val 2035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240732" y="2224832"/>
            <a:ext cx="2331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43E">
                    <a:alpha val="30000"/>
                  </a:srgbClr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547818" y="2277219"/>
            <a:ext cx="35030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word is more common in speech for :30 — 半 or 三十分?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046878" y="2286744"/>
            <a:ext cx="5864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半 (everyday)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141518" y="2662833"/>
            <a:ext cx="9776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Yes / Agree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26921" y="2662833"/>
            <a:ext cx="11341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No / Disagree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434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Cumulative Clock Flash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373832"/>
            <a:ext cx="1181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Cumulative Clock Flash — 12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1542008"/>
            <a:ext cx="118140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Clock Flash · 综合钟表闪卡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4800" y="1840409"/>
            <a:ext cx="118140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Twenty clock faces — rapid choral response. Mix of 点, 分, and today's 半!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4800" y="2040434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90030" y="21038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65956" y="2236780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31354" y="217378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811" y="263723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33960" y="2040434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19190" y="21038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62077" y="2279760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60515" y="235148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75971" y="263723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963120" y="2040434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8350" y="21038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0" y="2341959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89675" y="217378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05132" y="263723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92280" y="2040434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177510" y="21038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20398" y="2343235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18835" y="235148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334292" y="263723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四点半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621441" y="2040434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506670" y="210383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746072" y="2346722"/>
            <a:ext cx="79972" cy="119467"/>
          </a:xfrm>
          <a:prstGeom prst="roundRect">
            <a:avLst>
              <a:gd name="adj" fmla="val 1588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752366" y="2290556"/>
            <a:ext cx="172913" cy="66944"/>
          </a:xfrm>
          <a:prstGeom prst="roundRect">
            <a:avLst>
              <a:gd name="adj" fmla="val 1897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663452" y="263723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五点十二分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04800" y="2887861"/>
            <a:ext cx="226575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90030" y="295126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428155" y="3198912"/>
            <a:ext cx="19050" cy="1269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431354" y="3198912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6811" y="3484662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33960" y="2887861"/>
            <a:ext cx="226575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519190" y="295126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695116" y="3194149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760515" y="3021211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675971" y="3484662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963120" y="2887861"/>
            <a:ext cx="226575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848350" y="295126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81295" y="3190663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89675" y="3198912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005132" y="3484662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八点半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92280" y="2887861"/>
            <a:ext cx="226575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177510" y="297031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420398" y="3146238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8418835" y="3217962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353723" y="3503712"/>
            <a:ext cx="21428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9621441" y="2887861"/>
            <a:ext cx="226575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0506670" y="2951262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639616" y="3127188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748030" y="3021523"/>
            <a:ext cx="31156" cy="178050"/>
          </a:xfrm>
          <a:prstGeom prst="roundRect">
            <a:avLst>
              <a:gd name="adj" fmla="val 4076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663452" y="3484662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十点零一分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04800" y="3773388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9003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1395622" y="3959349"/>
            <a:ext cx="51258" cy="127555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431354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346811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633960" y="3773388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51919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757315" y="3957489"/>
            <a:ext cx="19050" cy="1269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760515" y="3906738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675971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963120" y="3773388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84835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086475" y="3995589"/>
            <a:ext cx="19050" cy="888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089675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00513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十二点半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292280" y="3773388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17751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8298210" y="4074914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425160" y="4078114"/>
            <a:ext cx="177701" cy="12650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33429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九点十五分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9621441" y="3773388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050667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10746072" y="4079677"/>
            <a:ext cx="79972" cy="119467"/>
          </a:xfrm>
          <a:prstGeom prst="roundRect">
            <a:avLst>
              <a:gd name="adj" fmla="val 1588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0747995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966345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五点半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04800" y="4620816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1190030" y="4684216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437680" y="4922341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1431354" y="4931866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346811" y="5217616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三点半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633960" y="4620816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3519190" y="4684216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3695116" y="4927104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3760515" y="4931866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2675971" y="5217616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963120" y="4620816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5848350" y="4684216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5969050" y="4922341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089675" y="4754166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5005132" y="5217616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292280" y="4620816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8177510" y="4684216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8298210" y="4922341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8418835" y="4931866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7334292" y="5217616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九点半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9621441" y="4620816"/>
            <a:ext cx="2265759" cy="784027"/>
          </a:xfrm>
          <a:prstGeom prst="roundRect">
            <a:avLst>
              <a:gd name="adj" fmla="val 971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10506670" y="4684216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10751855" y="4889809"/>
            <a:ext cx="127555" cy="51258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10576620" y="4925541"/>
            <a:ext cx="177701" cy="12650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9663452" y="5217616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两点四十五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304800" y="5481042"/>
            <a:ext cx="1963489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Text 109"/>
          <p:cNvSpPr/>
          <p:nvPr/>
        </p:nvSpPr>
        <p:spPr>
          <a:xfrm>
            <a:off x="406301" y="5506343"/>
            <a:ext cx="17956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response — everyone speaks every time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2395240" y="5481042"/>
            <a:ext cx="1930450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2496741" y="5506343"/>
            <a:ext cx="17619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 slow (5s per clock), then speed up to 2s!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4452640" y="5481042"/>
            <a:ext cx="1013520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4554141" y="5506343"/>
            <a:ext cx="8267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on next slide</a:t>
            </a:r>
            <a:endParaRPr lang="en-US" sz="600" dirty="0"/>
          </a:p>
        </p:txBody>
      </p:sp>
      <p:sp>
        <p:nvSpPr>
          <p:cNvPr id="116" name="Shape 11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9594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Cumulative Clock Flash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04800" y="1164282"/>
            <a:ext cx="118140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Cumulative Clock Flash — Answers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4800" y="1332458"/>
            <a:ext cx="118140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Clock Flash · 综合钟表闪卡</a:t>
            </a:r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ANSWERS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4800" y="1630859"/>
            <a:ext cx="118140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Twenty clock faces with Chinese labels and digital answers — use for correction and choral repeat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4800" y="1830884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90030" y="18942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65956" y="2027230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31354" y="196423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811" y="242768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6811" y="2551509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1:00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633960" y="1830884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19190" y="18942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62077" y="2070210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0515" y="214193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75971" y="242768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675971" y="2551509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963120" y="1830884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48350" y="18942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6000" y="2132409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89675" y="196423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05132" y="242768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05132" y="2551509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7292280" y="1830884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77510" y="18942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420398" y="2133685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18835" y="2141934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34292" y="242768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四点半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334292" y="2551509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4:30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9621441" y="1830884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506670" y="1894284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746072" y="2137172"/>
            <a:ext cx="79972" cy="119467"/>
          </a:xfrm>
          <a:prstGeom prst="roundRect">
            <a:avLst>
              <a:gd name="adj" fmla="val 1588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752366" y="2081006"/>
            <a:ext cx="172913" cy="66944"/>
          </a:xfrm>
          <a:prstGeom prst="roundRect">
            <a:avLst>
              <a:gd name="adj" fmla="val 1897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663452" y="2427684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五点十二分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663452" y="2551509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5:12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04800" y="2783086"/>
            <a:ext cx="2265759" cy="926902"/>
          </a:xfrm>
          <a:prstGeom prst="roundRect">
            <a:avLst>
              <a:gd name="adj" fmla="val 82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90030" y="2846487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428155" y="3094137"/>
            <a:ext cx="19050" cy="1269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431354" y="3094137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46811" y="3379887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6811" y="3503712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2633960" y="2783086"/>
            <a:ext cx="2265759" cy="926902"/>
          </a:xfrm>
          <a:prstGeom prst="roundRect">
            <a:avLst>
              <a:gd name="adj" fmla="val 82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519190" y="2846487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695116" y="3089374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760515" y="2916436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675971" y="3379887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2675971" y="3503712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63120" y="2783086"/>
            <a:ext cx="2265759" cy="926902"/>
          </a:xfrm>
          <a:prstGeom prst="roundRect">
            <a:avLst>
              <a:gd name="adj" fmla="val 82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48350" y="2846487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981295" y="3085888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89675" y="3094137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05132" y="3379887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八点半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005132" y="3503712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8:30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7292280" y="2783086"/>
            <a:ext cx="2265759" cy="926902"/>
          </a:xfrm>
          <a:prstGeom prst="roundRect">
            <a:avLst>
              <a:gd name="adj" fmla="val 822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8177510" y="2865537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420398" y="3041463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418835" y="3113187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353723" y="3398937"/>
            <a:ext cx="21428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353723" y="3522762"/>
            <a:ext cx="21428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2:30 - trap!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9621441" y="2783086"/>
            <a:ext cx="2265759" cy="926902"/>
          </a:xfrm>
          <a:prstGeom prst="roundRect">
            <a:avLst>
              <a:gd name="adj" fmla="val 822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0506670" y="2846487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0639616" y="3022413"/>
            <a:ext cx="119467" cy="79973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748030" y="2916748"/>
            <a:ext cx="31156" cy="178050"/>
          </a:xfrm>
          <a:prstGeom prst="roundRect">
            <a:avLst>
              <a:gd name="adj" fmla="val 40763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663452" y="3379887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十点零一分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9663452" y="3503712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10:01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304800" y="3773388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9003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1395622" y="3959349"/>
            <a:ext cx="51258" cy="127555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431354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46811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46811" y="4494014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11:30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633960" y="3773388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51919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3757315" y="3957489"/>
            <a:ext cx="19050" cy="1269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3760515" y="3906738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675971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675971" y="4494014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963120" y="3773388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84835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6086475" y="3995589"/>
            <a:ext cx="19050" cy="888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089675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00513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十二点半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5005132" y="4494014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12:30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7292280" y="3773388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17751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8298210" y="4074914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8425160" y="4078114"/>
            <a:ext cx="177701" cy="12650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733429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九点十五分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7334292" y="4494014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9:15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9621441" y="3773388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10506670" y="3836789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4"/>
          <p:cNvSpPr/>
          <p:nvPr/>
        </p:nvSpPr>
        <p:spPr>
          <a:xfrm>
            <a:off x="10746072" y="4079677"/>
            <a:ext cx="79972" cy="119467"/>
          </a:xfrm>
          <a:prstGeom prst="roundRect">
            <a:avLst>
              <a:gd name="adj" fmla="val 1588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10747995" y="4084439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9663452" y="4370189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五点半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663452" y="4494014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5:30</a:t>
            </a:r>
            <a:endParaRPr lang="en-US" sz="600" dirty="0"/>
          </a:p>
        </p:txBody>
      </p:sp>
      <p:sp>
        <p:nvSpPr>
          <p:cNvPr id="100" name="Text 98"/>
          <p:cNvSpPr/>
          <p:nvPr/>
        </p:nvSpPr>
        <p:spPr>
          <a:xfrm>
            <a:off x="304800" y="4725591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1190030" y="478899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1437680" y="5027116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1431354" y="5036641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346811" y="5322391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三点半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346811" y="5446216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3:30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2633960" y="4725591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Text 105"/>
          <p:cNvSpPr/>
          <p:nvPr/>
        </p:nvSpPr>
        <p:spPr>
          <a:xfrm>
            <a:off x="3519190" y="478899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3695116" y="5031879"/>
            <a:ext cx="79973" cy="119467"/>
          </a:xfrm>
          <a:prstGeom prst="roundRect">
            <a:avLst>
              <a:gd name="adj" fmla="val 1588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3760515" y="5036641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2675971" y="5322391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2675971" y="5446216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4963120" y="4725591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5848350" y="478899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Text 112"/>
          <p:cNvSpPr/>
          <p:nvPr/>
        </p:nvSpPr>
        <p:spPr>
          <a:xfrm>
            <a:off x="5969050" y="5027116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6089675" y="4858941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Text 114"/>
          <p:cNvSpPr/>
          <p:nvPr/>
        </p:nvSpPr>
        <p:spPr>
          <a:xfrm>
            <a:off x="5005132" y="5322391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5005132" y="5446216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9:00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7292280" y="4725591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7"/>
          <p:cNvSpPr/>
          <p:nvPr/>
        </p:nvSpPr>
        <p:spPr>
          <a:xfrm>
            <a:off x="8177510" y="478899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8298210" y="5027116"/>
            <a:ext cx="126950" cy="19050"/>
          </a:xfrm>
          <a:prstGeom prst="roundRect">
            <a:avLst>
              <a:gd name="adj" fmla="val 6666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9"/>
          <p:cNvSpPr/>
          <p:nvPr/>
        </p:nvSpPr>
        <p:spPr>
          <a:xfrm>
            <a:off x="8418835" y="5036641"/>
            <a:ext cx="12650" cy="177701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Text 120"/>
          <p:cNvSpPr/>
          <p:nvPr/>
        </p:nvSpPr>
        <p:spPr>
          <a:xfrm>
            <a:off x="7334292" y="5322391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九点半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7334292" y="5446216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9:30</a:t>
            </a:r>
            <a:endParaRPr lang="en-US" sz="600" dirty="0"/>
          </a:p>
        </p:txBody>
      </p:sp>
      <p:sp>
        <p:nvSpPr>
          <p:cNvPr id="124" name="Text 122"/>
          <p:cNvSpPr/>
          <p:nvPr/>
        </p:nvSpPr>
        <p:spPr>
          <a:xfrm>
            <a:off x="9621441" y="4725591"/>
            <a:ext cx="2265759" cy="888802"/>
          </a:xfrm>
          <a:prstGeom prst="roundRect">
            <a:avLst>
              <a:gd name="adj" fmla="val 85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23"/>
          <p:cNvSpPr/>
          <p:nvPr/>
        </p:nvSpPr>
        <p:spPr>
          <a:xfrm>
            <a:off x="10506670" y="4788991"/>
            <a:ext cx="495300" cy="495300"/>
          </a:xfrm>
          <a:prstGeom prst="roundRect">
            <a:avLst>
              <a:gd name="adj" fmla="val 184615"/>
            </a:avLst>
          </a:prstGeom>
          <a:solidFill>
            <a:srgbClr val="FFFFFF"/>
          </a:solidFill>
          <a:ln w="19050">
            <a:solidFill>
              <a:srgbClr val="1E2A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Text 124"/>
          <p:cNvSpPr/>
          <p:nvPr/>
        </p:nvSpPr>
        <p:spPr>
          <a:xfrm>
            <a:off x="10751855" y="4994584"/>
            <a:ext cx="127555" cy="51258"/>
          </a:xfrm>
          <a:prstGeom prst="roundRect">
            <a:avLst>
              <a:gd name="adj" fmla="val 24777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5"/>
          <p:cNvSpPr/>
          <p:nvPr/>
        </p:nvSpPr>
        <p:spPr>
          <a:xfrm>
            <a:off x="10576620" y="5030316"/>
            <a:ext cx="177701" cy="12650"/>
          </a:xfrm>
          <a:prstGeom prst="roundRect">
            <a:avLst>
              <a:gd name="adj" fmla="val 10039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 126"/>
          <p:cNvSpPr/>
          <p:nvPr/>
        </p:nvSpPr>
        <p:spPr>
          <a:xfrm>
            <a:off x="9663452" y="5322391"/>
            <a:ext cx="21817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两点四十五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9663452" y="5446216"/>
            <a:ext cx="218173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2:45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304800" y="5690592"/>
            <a:ext cx="1558230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9"/>
          <p:cNvSpPr/>
          <p:nvPr/>
        </p:nvSpPr>
        <p:spPr>
          <a:xfrm>
            <a:off x="406301" y="5715893"/>
            <a:ext cx="13823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 answers — who got them all?</a:t>
            </a:r>
            <a:endParaRPr lang="en-US" sz="600" dirty="0"/>
          </a:p>
        </p:txBody>
      </p:sp>
      <p:sp>
        <p:nvSpPr>
          <p:cNvPr id="132" name="Text 130"/>
          <p:cNvSpPr/>
          <p:nvPr/>
        </p:nvSpPr>
        <p:spPr>
          <a:xfrm>
            <a:off x="1989981" y="5690592"/>
            <a:ext cx="1862138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Text 131"/>
          <p:cNvSpPr/>
          <p:nvPr/>
        </p:nvSpPr>
        <p:spPr>
          <a:xfrm>
            <a:off x="2091482" y="5715893"/>
            <a:ext cx="16923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repeat each clock 2x with both labels</a:t>
            </a:r>
            <a:endParaRPr lang="en-US" sz="600" dirty="0"/>
          </a:p>
        </p:txBody>
      </p:sp>
      <p:sp>
        <p:nvSpPr>
          <p:cNvPr id="134" name="Text 132"/>
          <p:cNvSpPr/>
          <p:nvPr/>
        </p:nvSpPr>
        <p:spPr>
          <a:xfrm>
            <a:off x="3979069" y="5690592"/>
            <a:ext cx="1255961" cy="155377"/>
          </a:xfrm>
          <a:prstGeom prst="roundRect">
            <a:avLst>
              <a:gd name="adj" fmla="val 816549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Text 133"/>
          <p:cNvSpPr/>
          <p:nvPr/>
        </p:nvSpPr>
        <p:spPr>
          <a:xfrm>
            <a:off x="4080570" y="5715893"/>
            <a:ext cx="10740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Highlight 两 (not 二) at 2:30!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6893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· Bingo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09600"/>
            <a:ext cx="115031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Cumulative Bingo —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77776"/>
            <a:ext cx="115031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Cumulative Bingo · 宾果游戏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117402"/>
            <a:ext cx="115031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your 3x3 card with 8 different times. The centre is FREE!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406277"/>
            <a:ext cx="5486400" cy="2380804"/>
          </a:xfrm>
          <a:prstGeom prst="roundRect">
            <a:avLst>
              <a:gd name="adj" fmla="val 4267"/>
            </a:avLst>
          </a:prstGeom>
          <a:solidFill>
            <a:srgbClr val="F6F2E8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1577727"/>
            <a:ext cx="1663601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7907" y="1791891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68451" y="1577727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86660" y="1791891"/>
            <a:ext cx="427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08400" y="1577727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26610" y="1791891"/>
            <a:ext cx="427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650" y="2282428"/>
            <a:ext cx="1663601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4317" y="2496592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两点十五分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8451" y="2282428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76945" y="2515642"/>
            <a:ext cx="4467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 FREE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08400" y="2282428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26610" y="2496592"/>
            <a:ext cx="427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五点半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8650" y="2987129"/>
            <a:ext cx="1663601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04317" y="3201293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九点零五分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68451" y="2987129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86660" y="3201293"/>
            <a:ext cx="4273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08400" y="2987129"/>
            <a:ext cx="1663750" cy="628501"/>
          </a:xfrm>
          <a:prstGeom prst="roundRect">
            <a:avLst>
              <a:gd name="adj" fmla="val 8083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84067" y="3201293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一点四十五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48400" y="1406277"/>
            <a:ext cx="55961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— Pick any 8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48400" y="1580852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49901" y="1631603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三点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703320" y="1650653"/>
            <a:ext cx="1645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3:00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9016901" y="1580852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118402" y="1631603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七点半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474946" y="1650653"/>
            <a:ext cx="1615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7:30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248400" y="1875979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49901" y="1926729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十二点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671322" y="1945779"/>
            <a:ext cx="1971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12:00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9016901" y="1875979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118402" y="1926729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两点十五分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485959" y="1945779"/>
            <a:ext cx="1502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2:15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248400" y="2171105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49901" y="2221855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五点半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702873" y="2240905"/>
            <a:ext cx="165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5:30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9016901" y="2171105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118402" y="2221855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九点零五分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470779" y="2240905"/>
            <a:ext cx="165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9:05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248400" y="2466231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349901" y="2516981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八点半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702725" y="2536031"/>
            <a:ext cx="1651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8:30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9016901" y="2466231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118402" y="2516981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一点四十五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1485811" y="2536031"/>
            <a:ext cx="1504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1:45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248400" y="2761357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49901" y="2812107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686205" y="2831157"/>
            <a:ext cx="1820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11:30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9016901" y="2761357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9118402" y="2812107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四点二十分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1471077" y="2831157"/>
            <a:ext cx="165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4:20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6248400" y="3056483"/>
            <a:ext cx="2717750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349901" y="3107234"/>
            <a:ext cx="310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六点半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702427" y="3126284"/>
            <a:ext cx="165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6:30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9016901" y="3056483"/>
            <a:ext cx="2717899" cy="244376"/>
          </a:xfrm>
          <a:prstGeom prst="roundRect">
            <a:avLst>
              <a:gd name="adj" fmla="val 2078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9118402" y="3107234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十点零一分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455003" y="3126284"/>
            <a:ext cx="18186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10:01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6248400" y="342780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294537" y="3453110"/>
            <a:ext cx="3521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6426101" y="3427809"/>
            <a:ext cx="1540210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 a 3x3 grid. Centre = 半 FREE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248400" y="356994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6287542" y="3595241"/>
            <a:ext cx="4948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6426101" y="3569940"/>
            <a:ext cx="227494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Pick 8 times from the word bank, arrange randomly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248400" y="371207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287393" y="3737372"/>
            <a:ext cx="497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6426101" y="3712071"/>
            <a:ext cx="2186595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times in Chinese — cross them off!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6248400" y="385420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287095" y="3879503"/>
            <a:ext cx="503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6426101" y="3854202"/>
            <a:ext cx="2439957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Shout BINGO! when you get a row, column, or diagonal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9521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Writing Relay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48510" y="2121396"/>
            <a:ext cx="2294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Writing Relay — 8 min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86229" y="2289572"/>
            <a:ext cx="261954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Writing Relay · 写字接力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34110" y="2629198"/>
            <a:ext cx="45237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 teams. Teacher says a time. First runner writes it in Chinese on the board!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1686" y="2892623"/>
            <a:ext cx="489793" cy="530126"/>
          </a:xfrm>
          <a:prstGeom prst="roundRect">
            <a:avLst>
              <a:gd name="adj" fmla="val 155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6278" y="2981474"/>
            <a:ext cx="2406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6278" y="3229124"/>
            <a:ext cx="2406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72007" y="30576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71815" y="2892623"/>
            <a:ext cx="429816" cy="530126"/>
          </a:xfrm>
          <a:prstGeom prst="roundRect">
            <a:avLst>
              <a:gd name="adj" fmla="val 177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97006" y="2981474"/>
            <a:ext cx="1794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97006" y="3229124"/>
            <a:ext cx="1794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Run!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02158" y="30576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1966" y="2892623"/>
            <a:ext cx="486221" cy="530126"/>
          </a:xfrm>
          <a:prstGeom prst="roundRect">
            <a:avLst>
              <a:gd name="adj" fmla="val 156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6593" y="2981474"/>
            <a:ext cx="2369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6593" y="3229124"/>
            <a:ext cx="2369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Write!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788715" y="30576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8522" y="2892623"/>
            <a:ext cx="521791" cy="530126"/>
          </a:xfrm>
          <a:prstGeom prst="roundRect">
            <a:avLst>
              <a:gd name="adj" fmla="val 1460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2794" y="2981474"/>
            <a:ext cx="2732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2794" y="3229124"/>
            <a:ext cx="2732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Check!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580334" y="3549700"/>
            <a:ext cx="959644" cy="345877"/>
          </a:xfrm>
          <a:prstGeom prst="roundRect">
            <a:avLst>
              <a:gd name="adj" fmla="val 220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48462" y="3651200"/>
            <a:ext cx="823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616178" y="3549700"/>
            <a:ext cx="959644" cy="345877"/>
          </a:xfrm>
          <a:prstGeom prst="roundRect">
            <a:avLst>
              <a:gd name="adj" fmla="val 2203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84306" y="3651200"/>
            <a:ext cx="823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652022" y="3549700"/>
            <a:ext cx="959644" cy="345877"/>
          </a:xfrm>
          <a:prstGeom prst="roundRect">
            <a:avLst>
              <a:gd name="adj" fmla="val 2203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39580" y="3670250"/>
            <a:ext cx="7845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TRAP!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80334" y="3971776"/>
            <a:ext cx="959644" cy="307777"/>
          </a:xfrm>
          <a:prstGeom prst="roundRect">
            <a:avLst>
              <a:gd name="adj" fmla="val 247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48462" y="4073277"/>
            <a:ext cx="823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616178" y="3971776"/>
            <a:ext cx="959644" cy="307777"/>
          </a:xfrm>
          <a:prstGeom prst="roundRect">
            <a:avLst>
              <a:gd name="adj" fmla="val 247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84306" y="4073277"/>
            <a:ext cx="823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652022" y="3971776"/>
            <a:ext cx="959644" cy="307777"/>
          </a:xfrm>
          <a:prstGeom prst="roundRect">
            <a:avLst>
              <a:gd name="adj" fmla="val 247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20149" y="4073277"/>
            <a:ext cx="8233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5307806" y="4381054"/>
            <a:ext cx="1576239" cy="307777"/>
          </a:xfrm>
          <a:prstGeom prst="roundRect">
            <a:avLst>
              <a:gd name="adj" fmla="val 24758"/>
            </a:avLst>
          </a:prstGeom>
          <a:solidFill>
            <a:srgbClr val="3A7D8C">
              <a:alpha val="10000"/>
            </a:srgbClr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18688" y="4463504"/>
            <a:ext cx="1154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on next slide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78757" y="4765030"/>
            <a:ext cx="13018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correct answer = 1 point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028456" y="4765030"/>
            <a:ext cx="17457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each round: choral repeat 3 times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18140" y="4765030"/>
            <a:ext cx="1698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Rotate runners — everyone runs once!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14772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Writing Relay — Answers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0006" y="1702296"/>
            <a:ext cx="2471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Writing Relay — Answers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14195" y="1870472"/>
            <a:ext cx="316361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Writing Relay · 写字接力</a:t>
            </a:r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ANSWERS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05526" y="2210098"/>
            <a:ext cx="55809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key — check student writing against these targets. Teacher reads aloud, choral repeat 3x!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81686" y="2473523"/>
            <a:ext cx="489793" cy="530126"/>
          </a:xfrm>
          <a:prstGeom prst="roundRect">
            <a:avLst>
              <a:gd name="adj" fmla="val 15558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6278" y="2562374"/>
            <a:ext cx="2406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6278" y="2810024"/>
            <a:ext cx="2406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272007" y="26385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71815" y="2473523"/>
            <a:ext cx="429816" cy="530126"/>
          </a:xfrm>
          <a:prstGeom prst="roundRect">
            <a:avLst>
              <a:gd name="adj" fmla="val 177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97006" y="2562374"/>
            <a:ext cx="1794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97006" y="2810024"/>
            <a:ext cx="1794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Run!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02158" y="26385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1966" y="2473523"/>
            <a:ext cx="486221" cy="530126"/>
          </a:xfrm>
          <a:prstGeom prst="roundRect">
            <a:avLst>
              <a:gd name="adj" fmla="val 1567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6593" y="2562374"/>
            <a:ext cx="2369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26593" y="2810024"/>
            <a:ext cx="2369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Write!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6788715" y="2638574"/>
            <a:ext cx="99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88522" y="2473523"/>
            <a:ext cx="521791" cy="530126"/>
          </a:xfrm>
          <a:prstGeom prst="roundRect">
            <a:avLst>
              <a:gd name="adj" fmla="val 1460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2794" y="2562374"/>
            <a:ext cx="27324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12794" y="2810024"/>
            <a:ext cx="2732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Check!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486275" y="3130600"/>
            <a:ext cx="1022300" cy="764977"/>
          </a:xfrm>
          <a:prstGeom prst="roundRect">
            <a:avLst>
              <a:gd name="adj" fmla="val 99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53776" y="3232100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53776" y="3336875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点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53776" y="3441650"/>
            <a:ext cx="887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53776" y="3651200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7:00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584775" y="3130600"/>
            <a:ext cx="1022300" cy="764977"/>
          </a:xfrm>
          <a:prstGeom prst="roundRect">
            <a:avLst>
              <a:gd name="adj" fmla="val 996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52276" y="3232100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652276" y="3336875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分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652276" y="3441650"/>
            <a:ext cx="887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四点十五分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52276" y="3651200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4:15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6683276" y="3130600"/>
            <a:ext cx="1022300" cy="764977"/>
          </a:xfrm>
          <a:prstGeom prst="roundRect">
            <a:avLst>
              <a:gd name="adj" fmla="val 9961"/>
            </a:avLst>
          </a:prstGeom>
          <a:solidFill>
            <a:srgbClr val="F6F2E8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70208" y="3251150"/>
            <a:ext cx="848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TRAP!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70208" y="3355925"/>
            <a:ext cx="848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半 (两 not 二!)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770208" y="3460700"/>
            <a:ext cx="8484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两点半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70208" y="3670250"/>
            <a:ext cx="84843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2:30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486275" y="3971776"/>
            <a:ext cx="1022300" cy="726877"/>
          </a:xfrm>
          <a:prstGeom prst="roundRect">
            <a:avLst>
              <a:gd name="adj" fmla="val 1048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553776" y="40732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4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53776" y="4178052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半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4553776" y="4282827"/>
            <a:ext cx="887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十一点半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53776" y="44923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11:30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584775" y="3971776"/>
            <a:ext cx="1022300" cy="726877"/>
          </a:xfrm>
          <a:prstGeom prst="roundRect">
            <a:avLst>
              <a:gd name="adj" fmla="val 1048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52276" y="40732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5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652276" y="4178052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半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652276" y="4282827"/>
            <a:ext cx="887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五点半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52276" y="44923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5:30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683276" y="3971776"/>
            <a:ext cx="1022300" cy="726877"/>
          </a:xfrm>
          <a:prstGeom prst="roundRect">
            <a:avLst>
              <a:gd name="adj" fmla="val 1048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50777" y="40732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6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750777" y="4178052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Pattern: 点零分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6750777" y="4282827"/>
            <a:ext cx="887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十点零五分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50777" y="4492377"/>
            <a:ext cx="8872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10:05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412010" y="4800154"/>
            <a:ext cx="3367832" cy="307777"/>
          </a:xfrm>
          <a:prstGeom prst="roundRect">
            <a:avLst>
              <a:gd name="adj" fmla="val 24758"/>
            </a:avLst>
          </a:prstGeom>
          <a:solidFill>
            <a:srgbClr val="D4756B">
              <a:alpha val="10000"/>
            </a:srgbClr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604976" y="4882604"/>
            <a:ext cx="29818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trap: 2:30 = 两点半 (两 + 半 — two traps in one!)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578757" y="5184130"/>
            <a:ext cx="13018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correct answer = 1 point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028456" y="5184130"/>
            <a:ext cx="17457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each round: choral repeat 3 times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18140" y="5184130"/>
            <a:ext cx="16988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Rotate runners — everyone runs once!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9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6688"/>
            <a:ext cx="9067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 · HALF PAST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447651" y="165050"/>
            <a:ext cx="12650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61802" y="166688"/>
            <a:ext cx="323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11277600" cy="38100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1101" y="1724323"/>
            <a:ext cx="109851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11101" y="1917948"/>
            <a:ext cx="1098519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Review &amp; Reflect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1101" y="2435423"/>
            <a:ext cx="109851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1101" y="265613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0702" y="2597348"/>
            <a:ext cx="21328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half-past times using 半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283711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0702" y="2778323"/>
            <a:ext cx="33662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tell the difference between X点半 and X点三十分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301808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0702" y="2959298"/>
            <a:ext cx="367458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see a clock and pick the right pattern — 点, 分, or 半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3292673"/>
            <a:ext cx="10769798" cy="828526"/>
          </a:xfrm>
          <a:prstGeom prst="roundRect">
            <a:avLst>
              <a:gd name="adj" fmla="val 1226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8802" y="3419624"/>
            <a:ext cx="106226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8802" y="3632299"/>
            <a:ext cx="1062268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your paper, draw a clock showing an easy time (one you feel confident with) and a clock showing a hard time (one you still find tricky). Write the Chinese next to each.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1101" y="4248150"/>
            <a:ext cx="10769798" cy="793552"/>
          </a:xfrm>
          <a:prstGeom prst="roundRect">
            <a:avLst>
              <a:gd name="adj" fmla="val 12803"/>
            </a:avLst>
          </a:prstGeom>
          <a:solidFill>
            <a:srgbClr val="C8943E">
              <a:alpha val="12000"/>
            </a:srgbClr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8751" y="4394150"/>
            <a:ext cx="18835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8751" y="4517975"/>
            <a:ext cx="18835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2:30 in Chinese.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8751" y="4771876"/>
            <a:ext cx="18835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Double trap: don't forget 两 (not 二) + 半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1101" y="5143202"/>
            <a:ext cx="9653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finger = Achieved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60649" y="5143202"/>
            <a:ext cx="1253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fingers = Getting there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92376" y="5143202"/>
            <a:ext cx="828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Fist = Need help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54843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653213"/>
            <a:ext cx="12950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4.1 Telling Time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2026-06-29T00:22:26Z</dcterms:created>
  <dcterms:modified xsi:type="dcterms:W3CDTF">2026-06-29T00:22:26Z</dcterms:modified>
</cp:coreProperties>
</file>