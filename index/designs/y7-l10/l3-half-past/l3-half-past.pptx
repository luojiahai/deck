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799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93967" y="2986385"/>
            <a:ext cx="3403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93967" y="3268861"/>
            <a:ext cx="3403917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393967" y="4325392"/>
            <a:ext cx="34039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 · Telling Time with 半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93967" y="4915942"/>
            <a:ext cx="34039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59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Speed Correct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111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9047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Speed Correct · 快速判断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20552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"T" or "F" on your paper. Hold it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4901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6132" y="17601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65002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「两点」means 3 o'clock.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5002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两 = two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3410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61050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3055" y="1760190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91151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「七点」means 7 o'clock.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91151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点 = o'clock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795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37941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5002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「三点十五分」means 3:15.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5002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分 = minutes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3410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61050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2459" y="233794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591151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「十二点」means 10 o'clock.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1151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十二 = 12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01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6756" y="2915692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65002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「分」means "o'clock".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5002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What does 分 really mean?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3410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61050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2311" y="2915692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91151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Chinese.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91151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Remember the L1 trap!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795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9138" y="3493443"/>
            <a:ext cx="61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65002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「九点零五分」means 9:05.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5002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零 = zero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3410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61050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2459" y="3493443"/>
            <a:ext cx="6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591151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「一点二十分」means 1:20.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91151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Check the numbers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394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Word Building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9103" y="1940123"/>
            <a:ext cx="1513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43876" y="2133749"/>
            <a:ext cx="27042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Building · 组词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87247" y="2549575"/>
            <a:ext cx="3617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each two-character word. Work with a partner!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9777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1572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 _ 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1572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名字 (míngzi)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1572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87858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6537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 _ _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6537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(shíjiān)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96537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5940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7735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735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中国 (Zhōngguó)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7735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44021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558166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 _ _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558166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生日 (shēngrì)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8166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birthday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9777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71572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_ _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1572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(jǐ diǎn)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1572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7858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996537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_ _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96537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 (xiànzài)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96537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5940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7735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 _ _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7735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(shàngwǔ)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7735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 / AM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44021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558166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558166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 (wǎnshang)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8166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089144" y="4889302"/>
            <a:ext cx="4013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words unlock telling time. Let's add one more today — 半.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472952"/>
            <a:ext cx="10769798" cy="6125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472952"/>
            <a:ext cx="0" cy="6125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902" y="1599902"/>
            <a:ext cx="105838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26902" y="1749028"/>
            <a:ext cx="105838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half-past times using 半, and to choose between 点, 分, and 半 when telling time.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263229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312343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293293"/>
            <a:ext cx="21695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15901" y="2517130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用「半」说半点时间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1101" y="2736205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2785318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2766268"/>
            <a:ext cx="34030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15901" y="2990106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区分「X点半」和「X点三十分」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1101" y="3209181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25829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239244"/>
            <a:ext cx="37113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15901" y="3463082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看到钟表，选择正确的表达方式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935212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2883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671763"/>
            <a:ext cx="10769798" cy="1104751"/>
          </a:xfrm>
          <a:prstGeom prst="roundRect">
            <a:avLst>
              <a:gd name="adj" fmla="val 1149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893963"/>
            <a:ext cx="673709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949351" y="2928789"/>
            <a:ext cx="13586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49351" y="3176439"/>
            <a:ext cx="1358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49351" y="3376464"/>
            <a:ext cx="13586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· radical: 十 (shí)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3928914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半 means "half". When telling time, it goes after the hour — just like "half past" in English.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4262289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1101" y="4262289"/>
            <a:ext cx="812750" cy="4063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01552" y="4587627"/>
            <a:ext cx="3373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= half of something → half of an hour = 30 minutes past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8309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51273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22899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+ 半 = Half past (X:30)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2602" y="2613124"/>
            <a:ext cx="425351" cy="457200"/>
          </a:xfrm>
          <a:prstGeom prst="roundRect">
            <a:avLst>
              <a:gd name="adj" fmla="val 2388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8602" y="2708374"/>
            <a:ext cx="1360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24152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23136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69136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85557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84540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30541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46962" y="2708374"/>
            <a:ext cx="1212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42075" y="2613124"/>
            <a:ext cx="727174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88076" y="2708374"/>
            <a:ext cx="4438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49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749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0190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52191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52191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675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704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19704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9145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41742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041742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184600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8650" y="4302026"/>
            <a:ext cx="566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85664" y="4292501"/>
            <a:ext cx="37205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X点半 = X点三十分 — both correct!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5664" y="4473476"/>
            <a:ext cx="37205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is shorter and more common in everyday speech. 三十分 is more formal / written.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806702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8650" y="4924127"/>
            <a:ext cx="695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8314" y="4914602"/>
            <a:ext cx="28053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= 两点半 NOT 二点半!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8314" y="5095577"/>
            <a:ext cx="28053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rule as o'clock: before 点, use 两 (liǎng) instead of 二 (èr)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3598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Cumulative Chart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6559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Comparison · 综合对比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091952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pattern? 点 · 分 · 半 — look at the clock and decide!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33400" y="15935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007989" y="1603177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071390" y="1615827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175820" y="15935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3400" y="18919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07989" y="19015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71390" y="1914227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75820" y="18919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3400" y="21903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07989" y="21999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071390" y="22126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75820" y="21903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33400" y="24887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007989" y="2498378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071390" y="25110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75820" y="24887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33400" y="27871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007989" y="2796778"/>
            <a:ext cx="450354" cy="168176"/>
          </a:xfrm>
          <a:prstGeom prst="roundRect">
            <a:avLst>
              <a:gd name="adj" fmla="val 7544061"/>
            </a:avLst>
          </a:prstGeom>
          <a:solidFill>
            <a:srgbClr val="D4756B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071390" y="2809429"/>
            <a:ext cx="330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点零分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75820" y="27871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十点零五分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33400" y="30855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007989" y="3095179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71390" y="3107829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75820" y="30855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33400" y="33839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007989" y="33935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71390" y="3406229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75820" y="33839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3400" y="36823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007989" y="36919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071390" y="3704630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175820" y="36823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一点四十五分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141518" y="584150"/>
            <a:ext cx="46851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1518" y="809476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240732" y="872877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547818" y="925264"/>
            <a:ext cx="37240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— 1 finger = 两点半, 2 fingers = 二点半.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67905" y="934789"/>
            <a:ext cx="3653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finger!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141518" y="1260128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40732" y="1323529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547818" y="1375916"/>
            <a:ext cx="3890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四点半 = 四点三十分?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434739" y="1385441"/>
            <a:ext cx="1985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Yes!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141518" y="1710779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240732" y="1774180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547818" y="1826568"/>
            <a:ext cx="3811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8:30 in Chinese on your paper.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355345" y="1836093"/>
            <a:ext cx="2779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7141518" y="2161431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240732" y="2224832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547818" y="2277219"/>
            <a:ext cx="3503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is more common in speech for :30 — 半 or 三十分?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1046878" y="2286744"/>
            <a:ext cx="5864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(everyday)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7141518" y="2662833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226921" y="2662833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344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37383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12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54200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84040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— rapid choral response. Mix of 点, 分, and today's 半!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23678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63396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1919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62077" y="227976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051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67597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96312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84835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0" y="234195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89675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513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29228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7751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20398" y="234323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1883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3429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621441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50667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746072" y="234672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752366" y="229055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66345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0480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9003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428155" y="3198912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31354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4681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3396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51919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695116" y="319414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760515" y="302121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67597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96312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84835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981295" y="31906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89675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00513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29228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77510" y="297031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420398" y="314623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18835" y="321796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353723" y="3503712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621441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50667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0639616" y="31271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0748030" y="3021523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66345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0480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63396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96312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29228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9621441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0480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19003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43768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431354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34681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63396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51919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695116" y="492710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376051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267597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496312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584835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596905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089675" y="47541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500513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729228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17751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829821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841883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733429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9621441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1050667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10751855" y="4889809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0576620" y="4925541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966345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304800" y="5481042"/>
            <a:ext cx="1963489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06301" y="5506343"/>
            <a:ext cx="17956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2395240" y="5481042"/>
            <a:ext cx="193045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2496741" y="5506343"/>
            <a:ext cx="1761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slow (5s per clock), then speed up to 2s!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4452640" y="5481042"/>
            <a:ext cx="101352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4554141" y="5506343"/>
            <a:ext cx="8267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9594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16428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Answers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33245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ANSWERS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63085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with Chinese labels and digital answers — use for correction and choral repeat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02723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681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63396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1919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2077" y="207021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51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7597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67597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496312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4835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96000" y="213240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89675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0513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00513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29228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7751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420398" y="213368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1883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33429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33429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9621441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50667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746072" y="213717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752366" y="208100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66345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966345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5:12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0480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9003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28155" y="3094137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431354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681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4681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63396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51919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695116" y="308937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760515" y="291643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67597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67597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96312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4835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981295" y="30858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89675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500513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00513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729228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177510" y="286553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420398" y="30414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418835" y="311318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353723" y="3398937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353723" y="3522762"/>
            <a:ext cx="214287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2:30 - trap!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9621441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50667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0639616" y="302241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748030" y="2916748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66345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966345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30480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34681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63396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67597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96312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500513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729228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33429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9621441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66345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100" name="Text 98"/>
          <p:cNvSpPr/>
          <p:nvPr/>
        </p:nvSpPr>
        <p:spPr>
          <a:xfrm>
            <a:off x="30480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119003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143768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1431354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34681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34681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3:30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263396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351919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3695116" y="503187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376051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267597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267597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496312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584835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596905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6089675" y="48589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500513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500513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9:00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729228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817751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Text 118"/>
          <p:cNvSpPr/>
          <p:nvPr/>
        </p:nvSpPr>
        <p:spPr>
          <a:xfrm>
            <a:off x="829821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Text 119"/>
          <p:cNvSpPr/>
          <p:nvPr/>
        </p:nvSpPr>
        <p:spPr>
          <a:xfrm>
            <a:off x="841883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733429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733429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9:30</a:t>
            </a:r>
            <a:endParaRPr lang="en-US" sz="600" dirty="0"/>
          </a:p>
        </p:txBody>
      </p:sp>
      <p:sp>
        <p:nvSpPr>
          <p:cNvPr id="124" name="Text 122"/>
          <p:cNvSpPr/>
          <p:nvPr/>
        </p:nvSpPr>
        <p:spPr>
          <a:xfrm>
            <a:off x="9621441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Text 123"/>
          <p:cNvSpPr/>
          <p:nvPr/>
        </p:nvSpPr>
        <p:spPr>
          <a:xfrm>
            <a:off x="1050667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Text 124"/>
          <p:cNvSpPr/>
          <p:nvPr/>
        </p:nvSpPr>
        <p:spPr>
          <a:xfrm>
            <a:off x="10751855" y="4994584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Text 125"/>
          <p:cNvSpPr/>
          <p:nvPr/>
        </p:nvSpPr>
        <p:spPr>
          <a:xfrm>
            <a:off x="10576620" y="5030316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966345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966345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600" dirty="0"/>
          </a:p>
        </p:txBody>
      </p:sp>
      <p:sp>
        <p:nvSpPr>
          <p:cNvPr id="130" name="Text 128"/>
          <p:cNvSpPr/>
          <p:nvPr/>
        </p:nvSpPr>
        <p:spPr>
          <a:xfrm>
            <a:off x="304800" y="5690592"/>
            <a:ext cx="155823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406301" y="5715893"/>
            <a:ext cx="13823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answers — who got them all?</a:t>
            </a:r>
            <a:endParaRPr lang="en-US" sz="600" dirty="0"/>
          </a:p>
        </p:txBody>
      </p:sp>
      <p:sp>
        <p:nvSpPr>
          <p:cNvPr id="132" name="Text 130"/>
          <p:cNvSpPr/>
          <p:nvPr/>
        </p:nvSpPr>
        <p:spPr>
          <a:xfrm>
            <a:off x="1989981" y="5690592"/>
            <a:ext cx="1862138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Text 131"/>
          <p:cNvSpPr/>
          <p:nvPr/>
        </p:nvSpPr>
        <p:spPr>
          <a:xfrm>
            <a:off x="2091482" y="5715893"/>
            <a:ext cx="16923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repeat each clock 2x with both labels</a:t>
            </a:r>
            <a:endParaRPr lang="en-US" sz="600" dirty="0"/>
          </a:p>
        </p:txBody>
      </p:sp>
      <p:sp>
        <p:nvSpPr>
          <p:cNvPr id="134" name="Text 132"/>
          <p:cNvSpPr/>
          <p:nvPr/>
        </p:nvSpPr>
        <p:spPr>
          <a:xfrm>
            <a:off x="3979069" y="5690592"/>
            <a:ext cx="1255961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Text 133"/>
          <p:cNvSpPr/>
          <p:nvPr/>
        </p:nvSpPr>
        <p:spPr>
          <a:xfrm>
            <a:off x="4080570" y="5715893"/>
            <a:ext cx="10740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Highlight 两 (not 二) at 2:30!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6893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· Bingo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0960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Cumulative Bingo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777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Bingo · 宾果游戏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174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your 3x3 card with 8 different times. The centre is FREE!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06277"/>
            <a:ext cx="5486400" cy="2380804"/>
          </a:xfrm>
          <a:prstGeom prst="roundRect">
            <a:avLst>
              <a:gd name="adj" fmla="val 4267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8650" y="1577727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17907" y="1791891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68451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8666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8400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2661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8650" y="2282428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04317" y="249659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68451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76945" y="2515642"/>
            <a:ext cx="4467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 FREE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08400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6610" y="249659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8650" y="2987129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0431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68451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86660" y="3201293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8400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58406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48400" y="1406277"/>
            <a:ext cx="5596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Pick any 8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8400" y="1580852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1631603"/>
            <a:ext cx="2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703320" y="1650653"/>
            <a:ext cx="164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9016901" y="1580852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118402" y="1631603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474946" y="1650653"/>
            <a:ext cx="1615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248400" y="1875979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9901" y="1926729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671322" y="1945779"/>
            <a:ext cx="1971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9016901" y="1875979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118402" y="1926729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485959" y="1945779"/>
            <a:ext cx="1502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248400" y="2171105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49901" y="2221855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702873" y="2240905"/>
            <a:ext cx="165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9016901" y="2171105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118402" y="2221855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470779" y="2240905"/>
            <a:ext cx="1657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9:05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248400" y="2466231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349901" y="2516981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702725" y="2536031"/>
            <a:ext cx="1651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9016901" y="2466231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118402" y="2516981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485811" y="2536031"/>
            <a:ext cx="1504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6248400" y="2761357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49901" y="2812107"/>
            <a:ext cx="414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686205" y="2831157"/>
            <a:ext cx="18201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016901" y="2761357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9118402" y="2812107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四点二十分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1471077" y="2831157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4:20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248400" y="3056483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49901" y="3107234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702427" y="3126284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9016901" y="3056483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118402" y="3107234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455003" y="3126284"/>
            <a:ext cx="18186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248400" y="342780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294537" y="3453110"/>
            <a:ext cx="3521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6426101" y="3427809"/>
            <a:ext cx="1540210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3x3 grid. Centre = 半 FREE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8400" y="356994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287542" y="3595241"/>
            <a:ext cx="4948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426101" y="3569940"/>
            <a:ext cx="227494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Pick 8 times from the word bank, arrange randomly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248400" y="371207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287393" y="3737372"/>
            <a:ext cx="497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6426101" y="3712071"/>
            <a:ext cx="218659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times in Chinese — cross them off!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248400" y="3854202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6287095" y="3879503"/>
            <a:ext cx="5039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426101" y="3854202"/>
            <a:ext cx="2439957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Shout BINGO! when you get a row, column, or diagonal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52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948510" y="2121396"/>
            <a:ext cx="2294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86229" y="2289572"/>
            <a:ext cx="261954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34110" y="2629198"/>
            <a:ext cx="4523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teams. Teacher says a time. First runner writes it in Chinese on the board!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8926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9814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32291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8926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9814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32291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8926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9814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32291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8926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9814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32291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80334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8462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5616178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84306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6652022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39580" y="3670250"/>
            <a:ext cx="78452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580334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648462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16178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84306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52022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20149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5307806" y="4381054"/>
            <a:ext cx="1576239" cy="307777"/>
          </a:xfrm>
          <a:prstGeom prst="roundRect">
            <a:avLst>
              <a:gd name="adj" fmla="val 24758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18688" y="4463504"/>
            <a:ext cx="1154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78757" y="47650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28456" y="47650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18140" y="47650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772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60006" y="1702296"/>
            <a:ext cx="24719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Answers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14195" y="1870472"/>
            <a:ext cx="31636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05526" y="2210098"/>
            <a:ext cx="55809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key — check student writing against these targets. Teacher reads aloud, choral repeat 3x!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4735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5623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28100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4735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5623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28100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4735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5623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28100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4735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5623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28100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4862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537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537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537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537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5847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522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6522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分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522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四点十五分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522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83276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70208" y="32511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770208" y="3355925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 (两 not 二!)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770208" y="3460700"/>
            <a:ext cx="8484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70208" y="36702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4862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5537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537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5537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537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5847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6522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56522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6522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522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683276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50777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750777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点零分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750777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十点零五分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750777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12010" y="4800154"/>
            <a:ext cx="3367832" cy="307777"/>
          </a:xfrm>
          <a:prstGeom prst="roundRect">
            <a:avLst>
              <a:gd name="adj" fmla="val 24758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604976" y="4882604"/>
            <a:ext cx="2981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trap: 2:30 = 两点半 (两 + 半 — two traps in one!)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578757" y="51841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028456" y="51841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918140" y="51841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243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1794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354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561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97348"/>
            <a:ext cx="21328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83711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78323"/>
            <a:ext cx="33662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180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59298"/>
            <a:ext cx="367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3292673"/>
            <a:ext cx="10769798" cy="828526"/>
          </a:xfrm>
          <a:prstGeom prst="roundRect">
            <a:avLst>
              <a:gd name="adj" fmla="val 122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88802" y="3419624"/>
            <a:ext cx="10622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8802" y="3632299"/>
            <a:ext cx="1062268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draw a clock showing an easy time (one you feel confident with) and a clock showing a hard time (one you still find tricky). Write the Chinese next to each.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248150"/>
            <a:ext cx="10769798" cy="793552"/>
          </a:xfrm>
          <a:prstGeom prst="roundRect">
            <a:avLst>
              <a:gd name="adj" fmla="val 12803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394150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4517975"/>
            <a:ext cx="188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2:30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58751" y="4771876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Double trap: don't forget 两 (not 二) + 半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1101" y="5143202"/>
            <a:ext cx="9653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60649" y="5143202"/>
            <a:ext cx="12531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2376" y="5143202"/>
            <a:ext cx="828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2026-06-28T09:04:18Z</dcterms:created>
  <dcterms:modified xsi:type="dcterms:W3CDTF">2026-06-28T09:04:18Z</dcterms:modified>
</cp:coreProperties>
</file>