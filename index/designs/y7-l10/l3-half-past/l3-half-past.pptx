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68851" y="1779984"/>
            <a:ext cx="1054001" cy="1054001"/>
          </a:xfrm>
          <a:prstGeom prst="roundRect">
            <a:avLst>
              <a:gd name="adj" fmla="val 86755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393967" y="2986385"/>
            <a:ext cx="340391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3 · Y7 Unit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93967" y="3268861"/>
            <a:ext cx="3403917" cy="1005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4393967" y="4325392"/>
            <a:ext cx="340391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Half Past · Telling Time with 半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393967" y="4915942"/>
            <a:ext cx="340391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7 Chinese · 50 mins · Speaking + Listening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10595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Speed Correct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71110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Part A — 5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904726"/>
            <a:ext cx="1139962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Speed Correct · 快速判断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7950" y="1320552"/>
            <a:ext cx="11399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"T" or "F" on your paper. Hold it up!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7950" y="1628477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34901" y="1717328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26132" y="1760190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65002" y="1717328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「两点」means 3 o'clock.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5002" y="1917353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两 = two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34100" y="1628477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261050" y="1717328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343055" y="1760190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591151" y="1717328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「七点」means 7 o'clock.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91151" y="1917353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点 = o'clock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07950" y="2206228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34901" y="229507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16607" y="2337941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965002" y="2295079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「三点十五分」means 3:15.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5002" y="2495104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分 = minutes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134100" y="2206228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261050" y="229507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342459" y="2337941"/>
            <a:ext cx="670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591151" y="2295079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「十二点」means 10 o'clock.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91151" y="2495104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十二 = 12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07950" y="2783979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34901" y="287282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16756" y="2915692"/>
            <a:ext cx="661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965002" y="2872829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「分」means "o'clock".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65002" y="3072854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What does 分 really mean?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134100" y="2783979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261050" y="2872829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342311" y="2915692"/>
            <a:ext cx="672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591151" y="2872829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「二点」is correct Chinese.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91151" y="3072854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Remember the L1 trap!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07950" y="3361730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4901" y="345058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19138" y="3493443"/>
            <a:ext cx="6132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965002" y="3450580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「九点零五分」means 9:05.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65002" y="3650605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零 = zero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134100" y="3361730"/>
            <a:ext cx="5549950" cy="501551"/>
          </a:xfrm>
          <a:prstGeom prst="roundRect">
            <a:avLst>
              <a:gd name="adj" fmla="val 1519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61050" y="345058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342459" y="3493443"/>
            <a:ext cx="669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591151" y="3450580"/>
            <a:ext cx="50652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「一点二十分」means 1:20.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591151" y="3650605"/>
            <a:ext cx="50652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Hint: Check the numbers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10394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700"/>
              </a:spcBef>
              <a:spcAft>
                <a:spcPts val="700"/>
              </a:spcAft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Word Building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339103" y="1940123"/>
            <a:ext cx="15136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Part B — 5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743876" y="2133749"/>
            <a:ext cx="270424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Word Building · 组词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287247" y="2549575"/>
            <a:ext cx="36175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Complete each two-character word. Work with a partner!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597771" y="2908250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715722" y="3060650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明 _ _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715722" y="3308300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名字 (míngzi)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715722" y="3470225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name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878586" y="2908250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996537" y="3060650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 _ _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96537" y="3308300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时间 (shíjiān)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996537" y="3470225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159401" y="2908250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277352" y="3060650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 _ 国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277352" y="3308300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中国 (Zhōngguó)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77352" y="3470225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China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440216" y="2908250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558166" y="3060650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 _ _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558166" y="3308300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生日 (shēngrì)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58166" y="3470225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birthday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597771" y="3873401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715722" y="4025801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 _ _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715722" y="4273451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几点 (jǐ diǎn)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715722" y="4435376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time?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878586" y="3873401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996537" y="4025801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 _ _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996537" y="4273451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现在 (xiànzài)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996537" y="4435376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now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6159401" y="3873401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277352" y="4025801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 _ _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77352" y="4273451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上午 (shàngwǔ)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277352" y="4435376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morning / AM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7440216" y="3873401"/>
            <a:ext cx="1153864" cy="838200"/>
          </a:xfrm>
          <a:prstGeom prst="roundRect">
            <a:avLst>
              <a:gd name="adj" fmla="val 121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7558166" y="4025801"/>
            <a:ext cx="9179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_ _ 上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558166" y="4273451"/>
            <a:ext cx="9179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晚上 (wǎnshang)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558166" y="4435376"/>
            <a:ext cx="9179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evening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4089144" y="4889302"/>
            <a:ext cx="401356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Time words unlock telling time. Let's add one more today — 半.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79727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711101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10–12 min · Display on projector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904726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1472952"/>
            <a:ext cx="10769798" cy="612577"/>
          </a:xfrm>
          <a:prstGeom prst="rect">
            <a:avLst/>
          </a:prstGeom>
          <a:solidFill>
            <a:srgbClr val="C8943E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730151" y="1472952"/>
            <a:ext cx="0" cy="612577"/>
          </a:xfrm>
          <a:prstGeom prst="line">
            <a:avLst/>
          </a:prstGeom>
          <a:noFill/>
          <a:ln w="38100">
            <a:solidFill>
              <a:srgbClr val="C894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6902" y="1599902"/>
            <a:ext cx="105838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926902" y="1749028"/>
            <a:ext cx="105838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say half-past times using 半, and to choose between 点, 分, and 半 when telling time.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1101" y="2263229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08583" y="2312343"/>
            <a:ext cx="470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53852" y="2293293"/>
            <a:ext cx="21695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half-past times using 半.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15901" y="2517130"/>
            <a:ext cx="106742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用「半」说半点时间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11101" y="2736205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9356" y="2785318"/>
            <a:ext cx="658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3852" y="2766268"/>
            <a:ext cx="34030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tell the difference between X点半 and X点三十分.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15901" y="2990106"/>
            <a:ext cx="106742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区分「X点半」和「X点三十分」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11101" y="3209181"/>
            <a:ext cx="241250" cy="241250"/>
          </a:xfrm>
          <a:prstGeom prst="roundRect">
            <a:avLst>
              <a:gd name="adj" fmla="val 379026"/>
            </a:avLst>
          </a:prstGeom>
          <a:noFill/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9207" y="3258294"/>
            <a:ext cx="663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53852" y="3239244"/>
            <a:ext cx="37113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see a clock and pick the right pattern — 点, 分, or 半.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15901" y="3463082"/>
            <a:ext cx="1067429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看到钟表，选择正确的表达方式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997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New Vocabulary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935212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12–18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2128838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New Vocabulary · 新词汇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2671763"/>
            <a:ext cx="10769798" cy="1104751"/>
          </a:xfrm>
          <a:prstGeom prst="roundRect">
            <a:avLst>
              <a:gd name="adj" fmla="val 11496"/>
            </a:avLst>
          </a:prstGeom>
          <a:solidFill>
            <a:srgbClr val="FFFFFF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34951" y="2893963"/>
            <a:ext cx="673709" cy="660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00"/>
              </a:lnSpc>
              <a:buNone/>
            </a:pPr>
            <a:r>
              <a:rPr lang="en-US" sz="52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1949351" y="2928789"/>
            <a:ext cx="135865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bàn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49351" y="3176439"/>
            <a:ext cx="135865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half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49351" y="3376464"/>
            <a:ext cx="13586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strokes · radical: 十 (shí)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11101" y="3928914"/>
            <a:ext cx="1098519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The character 半 means "half". When telling time, it goes after the hour — just like "half past" in English.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11101" y="4262289"/>
            <a:ext cx="812750" cy="812750"/>
          </a:xfrm>
          <a:prstGeom prst="roundRect">
            <a:avLst>
              <a:gd name="adj" fmla="val 112507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11101" y="4262289"/>
            <a:ext cx="812750" cy="406301"/>
          </a:xfrm>
          <a:prstGeom prst="rect">
            <a:avLst/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701552" y="4587627"/>
            <a:ext cx="337385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= half of something → half of an hour = 30 minutes past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80638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Key Pattern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1683097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12–18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851273"/>
            <a:ext cx="1150315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Key Pattern · 关键句型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2228999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Number + 点 + 半 = Half past (X:30)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22602" y="2613124"/>
            <a:ext cx="425351" cy="457200"/>
          </a:xfrm>
          <a:prstGeom prst="roundRect">
            <a:avLst>
              <a:gd name="adj" fmla="val 23886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768602" y="2708374"/>
            <a:ext cx="13601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124152" y="2708374"/>
            <a:ext cx="12523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323136" y="2613124"/>
            <a:ext cx="486221" cy="457200"/>
          </a:xfrm>
          <a:prstGeom prst="roundRect">
            <a:avLst>
              <a:gd name="adj" fmla="val 2222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469136" y="2708374"/>
            <a:ext cx="1981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885557" y="2708374"/>
            <a:ext cx="12523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sz="15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+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084540" y="2613124"/>
            <a:ext cx="486221" cy="457200"/>
          </a:xfrm>
          <a:prstGeom prst="roundRect">
            <a:avLst>
              <a:gd name="adj" fmla="val 2222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30541" y="2708374"/>
            <a:ext cx="19810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46962" y="2708374"/>
            <a:ext cx="1212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500"/>
              </a:spcBef>
              <a:spcAft>
                <a:spcPts val="1500"/>
              </a:spcAft>
              <a:buNone/>
            </a:pPr>
            <a:r>
              <a:rPr lang="en-US" sz="15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=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842075" y="2613124"/>
            <a:ext cx="727174" cy="457200"/>
          </a:xfrm>
          <a:prstGeom prst="roundRect">
            <a:avLst>
              <a:gd name="adj" fmla="val 22222"/>
            </a:avLst>
          </a:prstGeom>
          <a:solidFill>
            <a:srgbClr val="EDE7D7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988076" y="2708374"/>
            <a:ext cx="443877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X:30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3317974"/>
            <a:ext cx="2743200" cy="739676"/>
          </a:xfrm>
          <a:prstGeom prst="roundRect">
            <a:avLst>
              <a:gd name="adj" fmla="val 137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07492" y="3444925"/>
            <a:ext cx="264261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07492" y="3749725"/>
            <a:ext cx="26426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01901" y="3317974"/>
            <a:ext cx="2743349" cy="739676"/>
          </a:xfrm>
          <a:prstGeom prst="roundRect">
            <a:avLst>
              <a:gd name="adj" fmla="val 137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352191" y="3444925"/>
            <a:ext cx="264276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六点半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3352191" y="3749725"/>
            <a:ext cx="26427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46750" y="3317974"/>
            <a:ext cx="2743200" cy="739676"/>
          </a:xfrm>
          <a:prstGeom prst="roundRect">
            <a:avLst>
              <a:gd name="adj" fmla="val 137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197042" y="3444925"/>
            <a:ext cx="264261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十一点半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197042" y="3749725"/>
            <a:ext cx="264261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11:30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991451" y="3317974"/>
            <a:ext cx="2743349" cy="739676"/>
          </a:xfrm>
          <a:prstGeom prst="roundRect">
            <a:avLst>
              <a:gd name="adj" fmla="val 13736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9041742" y="3444925"/>
            <a:ext cx="264276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十二点半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041742" y="3749725"/>
            <a:ext cx="26427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12:30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184600"/>
            <a:ext cx="11277600" cy="520601"/>
          </a:xfrm>
          <a:prstGeom prst="roundRect">
            <a:avLst>
              <a:gd name="adj" fmla="val 14637"/>
            </a:avLst>
          </a:prstGeom>
          <a:solidFill>
            <a:srgbClr val="3A7D8C">
              <a:alpha val="10000"/>
            </a:srgbClr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28650" y="4302026"/>
            <a:ext cx="5662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85664" y="4292501"/>
            <a:ext cx="37205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X点半 = X点三十分 — both correct!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85664" y="4473476"/>
            <a:ext cx="372058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is shorter and more common in everyday speech. 三十分 is more formal / written.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57200" y="4806702"/>
            <a:ext cx="11277600" cy="520601"/>
          </a:xfrm>
          <a:prstGeom prst="roundRect">
            <a:avLst>
              <a:gd name="adj" fmla="val 14637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28650" y="4924127"/>
            <a:ext cx="6952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!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98314" y="4914602"/>
            <a:ext cx="280535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 = 两点半 NOT 二点半!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98314" y="5095577"/>
            <a:ext cx="280535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Same rule as o'clock: before 点, use 两 (liǎng) instead of 二 (èr)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135986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Cumulative Chart + CFU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584150"/>
            <a:ext cx="65590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12–18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752326"/>
            <a:ext cx="6559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Cumulative Comparison · 综合对比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091952"/>
            <a:ext cx="65590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pattern? 点 · 分 · 半 — look at the clock and decide!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33400" y="1593503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007989" y="1603177"/>
            <a:ext cx="234702" cy="168176"/>
          </a:xfrm>
          <a:prstGeom prst="roundRect">
            <a:avLst>
              <a:gd name="adj" fmla="val 7544061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071390" y="1615827"/>
            <a:ext cx="1100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175820" y="1593503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三点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33400" y="1891903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7:30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007989" y="1901577"/>
            <a:ext cx="342602" cy="168176"/>
          </a:xfrm>
          <a:prstGeom prst="roundRect">
            <a:avLst>
              <a:gd name="adj" fmla="val 7544061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2071390" y="1914227"/>
            <a:ext cx="220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点半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75820" y="1891903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七点半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33400" y="2190304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2:15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007989" y="2199977"/>
            <a:ext cx="342602" cy="168176"/>
          </a:xfrm>
          <a:prstGeom prst="roundRect">
            <a:avLst>
              <a:gd name="adj" fmla="val 7544061"/>
            </a:avLst>
          </a:prstGeom>
          <a:solidFill>
            <a:srgbClr val="3A7D8C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071390" y="2212628"/>
            <a:ext cx="220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点分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175820" y="2190304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两点十五分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33400" y="2488704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8:30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007989" y="2498378"/>
            <a:ext cx="342602" cy="168176"/>
          </a:xfrm>
          <a:prstGeom prst="roundRect">
            <a:avLst>
              <a:gd name="adj" fmla="val 7544061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2071390" y="2511028"/>
            <a:ext cx="220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175820" y="2488704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八点半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33400" y="2787104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10:05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007989" y="2796778"/>
            <a:ext cx="450354" cy="168176"/>
          </a:xfrm>
          <a:prstGeom prst="roundRect">
            <a:avLst>
              <a:gd name="adj" fmla="val 7544061"/>
            </a:avLst>
          </a:prstGeom>
          <a:solidFill>
            <a:srgbClr val="D4756B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2071390" y="2809429"/>
            <a:ext cx="3300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点零分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175820" y="2787104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十点零五分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33400" y="3085505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007989" y="3095179"/>
            <a:ext cx="234702" cy="168176"/>
          </a:xfrm>
          <a:prstGeom prst="roundRect">
            <a:avLst>
              <a:gd name="adj" fmla="val 7544061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2071390" y="3107829"/>
            <a:ext cx="1100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175820" y="3085505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十二点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33400" y="3383905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5:30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007989" y="3393579"/>
            <a:ext cx="342602" cy="168176"/>
          </a:xfrm>
          <a:prstGeom prst="roundRect">
            <a:avLst>
              <a:gd name="adj" fmla="val 7544061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2071390" y="3406229"/>
            <a:ext cx="220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点半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175820" y="3383905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五点半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33400" y="3682305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1:45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007989" y="3691979"/>
            <a:ext cx="342602" cy="168176"/>
          </a:xfrm>
          <a:prstGeom prst="roundRect">
            <a:avLst>
              <a:gd name="adj" fmla="val 7544061"/>
            </a:avLst>
          </a:prstGeom>
          <a:solidFill>
            <a:srgbClr val="3A7D8C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071390" y="3704630"/>
            <a:ext cx="220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点分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175820" y="3682305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一点四十五分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141518" y="584150"/>
            <a:ext cx="46851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for Understanding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141518" y="809476"/>
            <a:ext cx="4593282" cy="374452"/>
          </a:xfrm>
          <a:prstGeom prst="roundRect">
            <a:avLst>
              <a:gd name="adj" fmla="val 203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240732" y="872877"/>
            <a:ext cx="2331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547818" y="925264"/>
            <a:ext cx="41671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 — 1 finger = 两点半, 2 fingers = 二点半.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141518" y="1260128"/>
            <a:ext cx="4593282" cy="374452"/>
          </a:xfrm>
          <a:prstGeom prst="roundRect">
            <a:avLst>
              <a:gd name="adj" fmla="val 203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7240732" y="1323529"/>
            <a:ext cx="2331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7547818" y="1375916"/>
            <a:ext cx="41671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Is 四点半 = 四点三十分?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141518" y="1710779"/>
            <a:ext cx="4593282" cy="374452"/>
          </a:xfrm>
          <a:prstGeom prst="roundRect">
            <a:avLst>
              <a:gd name="adj" fmla="val 203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7240732" y="1774180"/>
            <a:ext cx="2331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547818" y="1826568"/>
            <a:ext cx="41671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8:30 in Chinese on your paper.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141518" y="2161431"/>
            <a:ext cx="4593282" cy="374452"/>
          </a:xfrm>
          <a:prstGeom prst="roundRect">
            <a:avLst>
              <a:gd name="adj" fmla="val 203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240732" y="2224832"/>
            <a:ext cx="2331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7547818" y="2277219"/>
            <a:ext cx="41671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word is more common in speech for :30 — 半 or 三十分?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7141518" y="2662833"/>
            <a:ext cx="97762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Yes / Agree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8226921" y="2662833"/>
            <a:ext cx="11341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No / Disagree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9575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· Answers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584150"/>
            <a:ext cx="65590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12–18 min · I Do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793700"/>
            <a:ext cx="730300" cy="174427"/>
          </a:xfrm>
          <a:prstGeom prst="roundRect">
            <a:avLst>
              <a:gd name="adj" fmla="val 2184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58701" y="819001"/>
            <a:ext cx="5378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57200" y="1044327"/>
            <a:ext cx="655902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Cumulative Comparison · 综合对比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1383953"/>
            <a:ext cx="655902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pattern? 点 · 分 · 半 — look at the clock and decide!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33400" y="1885504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007989" y="1895177"/>
            <a:ext cx="234702" cy="168176"/>
          </a:xfrm>
          <a:prstGeom prst="roundRect">
            <a:avLst>
              <a:gd name="adj" fmla="val 7544061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071390" y="1907828"/>
            <a:ext cx="1100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175820" y="1885504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三点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33400" y="2183904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7:30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007989" y="2193578"/>
            <a:ext cx="342602" cy="168176"/>
          </a:xfrm>
          <a:prstGeom prst="roundRect">
            <a:avLst>
              <a:gd name="adj" fmla="val 7544061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071390" y="2206228"/>
            <a:ext cx="220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点半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75820" y="2183904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七点半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33400" y="2482304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2:15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007989" y="2491978"/>
            <a:ext cx="342602" cy="168176"/>
          </a:xfrm>
          <a:prstGeom prst="roundRect">
            <a:avLst>
              <a:gd name="adj" fmla="val 7544061"/>
            </a:avLst>
          </a:prstGeom>
          <a:solidFill>
            <a:srgbClr val="3A7D8C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071390" y="2504629"/>
            <a:ext cx="220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点分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175820" y="2482304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两点十五分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33400" y="2780705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8:30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007989" y="2790379"/>
            <a:ext cx="342602" cy="168176"/>
          </a:xfrm>
          <a:prstGeom prst="roundRect">
            <a:avLst>
              <a:gd name="adj" fmla="val 7544061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071390" y="2803029"/>
            <a:ext cx="220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点半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175820" y="2780705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八点半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33400" y="3079105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10:05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007989" y="3088779"/>
            <a:ext cx="450354" cy="168176"/>
          </a:xfrm>
          <a:prstGeom prst="roundRect">
            <a:avLst>
              <a:gd name="adj" fmla="val 7544061"/>
            </a:avLst>
          </a:prstGeom>
          <a:solidFill>
            <a:srgbClr val="D4756B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071390" y="3101429"/>
            <a:ext cx="3300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点零分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175820" y="3079105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十点零五分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33400" y="3377505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007989" y="3387179"/>
            <a:ext cx="234702" cy="168176"/>
          </a:xfrm>
          <a:prstGeom prst="roundRect">
            <a:avLst>
              <a:gd name="adj" fmla="val 7544061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071390" y="3399830"/>
            <a:ext cx="1100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175820" y="3377505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十二点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33400" y="3675906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5:30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007989" y="3685580"/>
            <a:ext cx="342602" cy="168176"/>
          </a:xfrm>
          <a:prstGeom prst="roundRect">
            <a:avLst>
              <a:gd name="adj" fmla="val 7544061"/>
            </a:avLst>
          </a:prstGeom>
          <a:solidFill>
            <a:srgbClr val="C8943E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2071390" y="3698230"/>
            <a:ext cx="220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点半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175820" y="3675906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五点半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33400" y="3974306"/>
            <a:ext cx="13486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1:45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007989" y="3983980"/>
            <a:ext cx="342602" cy="168176"/>
          </a:xfrm>
          <a:prstGeom prst="roundRect">
            <a:avLst>
              <a:gd name="adj" fmla="val 7544061"/>
            </a:avLst>
          </a:prstGeom>
          <a:solidFill>
            <a:srgbClr val="3A7D8C">
              <a:alpha val="1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2071390" y="3996630"/>
            <a:ext cx="22011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点分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175820" y="3974306"/>
            <a:ext cx="26883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一点四十五分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141518" y="584150"/>
            <a:ext cx="46851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for Understanding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141518" y="809476"/>
            <a:ext cx="4593282" cy="374452"/>
          </a:xfrm>
          <a:prstGeom prst="roundRect">
            <a:avLst>
              <a:gd name="adj" fmla="val 203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240732" y="872877"/>
            <a:ext cx="2331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7547818" y="925264"/>
            <a:ext cx="37240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 — 1 finger = 两点半, 2 fingers = 二点半.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1267905" y="934789"/>
            <a:ext cx="3653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finger!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7141518" y="1260128"/>
            <a:ext cx="4593282" cy="374452"/>
          </a:xfrm>
          <a:prstGeom prst="roundRect">
            <a:avLst>
              <a:gd name="adj" fmla="val 203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7240732" y="1323529"/>
            <a:ext cx="2331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547818" y="1375916"/>
            <a:ext cx="38909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Is 四点半 = 四点三十分?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11434739" y="1385441"/>
            <a:ext cx="19856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Yes!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7141518" y="1710779"/>
            <a:ext cx="4593282" cy="374452"/>
          </a:xfrm>
          <a:prstGeom prst="roundRect">
            <a:avLst>
              <a:gd name="adj" fmla="val 203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7240732" y="1774180"/>
            <a:ext cx="2331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7547818" y="1826568"/>
            <a:ext cx="38115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8:30 in Chinese on your paper.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11355345" y="1836093"/>
            <a:ext cx="2779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八点半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7141518" y="2161431"/>
            <a:ext cx="4593282" cy="374452"/>
          </a:xfrm>
          <a:prstGeom prst="roundRect">
            <a:avLst>
              <a:gd name="adj" fmla="val 20350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7240732" y="2224832"/>
            <a:ext cx="2331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943E">
                    <a:alpha val="30000"/>
                  </a:srgbClr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7547818" y="2277219"/>
            <a:ext cx="35030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Which word is more common in speech for :30 — 半 or 三十分?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11046878" y="2286744"/>
            <a:ext cx="58642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半 (everyday)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7141518" y="2662833"/>
            <a:ext cx="97762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Yes / Agree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8226921" y="2662833"/>
            <a:ext cx="11341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No / Disagree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14344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Cumulative Clock Flash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04800" y="1373832"/>
            <a:ext cx="118140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Cumulative Clock Flash — 12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04800" y="1542008"/>
            <a:ext cx="1181404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Cumulative Clock Flash · 综合钟表闪卡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04800" y="1840409"/>
            <a:ext cx="118140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Twenty clock faces — rapid choral response. Mix of 点, 分, and today's 半!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304800" y="2040434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90030" y="210383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65956" y="2236780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431354" y="217378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6811" y="263723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633960" y="2040434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519190" y="210383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762077" y="2279760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760515" y="235148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675971" y="263723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963120" y="2040434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848350" y="210383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96000" y="2341959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89675" y="217378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05132" y="263723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292280" y="2040434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177510" y="210383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420398" y="2343235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418835" y="235148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334292" y="263723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四点半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9621441" y="2040434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0506670" y="210383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0746072" y="2346722"/>
            <a:ext cx="79972" cy="119467"/>
          </a:xfrm>
          <a:prstGeom prst="roundRect">
            <a:avLst>
              <a:gd name="adj" fmla="val 1588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0752366" y="2290556"/>
            <a:ext cx="172913" cy="66944"/>
          </a:xfrm>
          <a:prstGeom prst="roundRect">
            <a:avLst>
              <a:gd name="adj" fmla="val 1897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663452" y="263723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五点十二分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04800" y="2887861"/>
            <a:ext cx="226575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190030" y="2951262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428155" y="3198912"/>
            <a:ext cx="19050" cy="1269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431354" y="3198912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46811" y="3484662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六点半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33960" y="2887861"/>
            <a:ext cx="226575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3519190" y="2951262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3695116" y="3194149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760515" y="3021211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2675971" y="3484662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963120" y="2887861"/>
            <a:ext cx="226575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848350" y="2951262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981295" y="3190663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089675" y="3198912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005132" y="3484662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八点半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292280" y="2887861"/>
            <a:ext cx="226575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8177510" y="2970312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8420398" y="3146238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8418835" y="3217962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7353723" y="3503712"/>
            <a:ext cx="214287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9621441" y="2887861"/>
            <a:ext cx="2265759" cy="822127"/>
          </a:xfrm>
          <a:prstGeom prst="roundRect">
            <a:avLst>
              <a:gd name="adj" fmla="val 926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10506670" y="2951262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0639616" y="3127188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10748030" y="3021523"/>
            <a:ext cx="31156" cy="178050"/>
          </a:xfrm>
          <a:prstGeom prst="roundRect">
            <a:avLst>
              <a:gd name="adj" fmla="val 4076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9663452" y="3484662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十点零一分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304800" y="3773388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119003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395622" y="3959349"/>
            <a:ext cx="51258" cy="127555"/>
          </a:xfrm>
          <a:prstGeom prst="roundRect">
            <a:avLst>
              <a:gd name="adj" fmla="val 2477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1431354" y="4084439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346811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十一点半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2633960" y="3773388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351919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3757315" y="3957489"/>
            <a:ext cx="19050" cy="1269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3760515" y="3906738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2675971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963120" y="3773388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584835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6086475" y="3995589"/>
            <a:ext cx="19050" cy="888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6089675" y="4084439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5005132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十二点半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7292280" y="3773388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817751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8298210" y="4074914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8425160" y="4078114"/>
            <a:ext cx="177701" cy="12650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7334292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九点十五分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9621441" y="3773388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050667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10746072" y="4079677"/>
            <a:ext cx="79972" cy="119467"/>
          </a:xfrm>
          <a:prstGeom prst="roundRect">
            <a:avLst>
              <a:gd name="adj" fmla="val 1588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10747995" y="4084439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Text 82"/>
          <p:cNvSpPr/>
          <p:nvPr/>
        </p:nvSpPr>
        <p:spPr>
          <a:xfrm>
            <a:off x="9663452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五点半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304800" y="4620816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84"/>
          <p:cNvSpPr/>
          <p:nvPr/>
        </p:nvSpPr>
        <p:spPr>
          <a:xfrm>
            <a:off x="1190030" y="4684216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Text 85"/>
          <p:cNvSpPr/>
          <p:nvPr/>
        </p:nvSpPr>
        <p:spPr>
          <a:xfrm>
            <a:off x="1437680" y="4922341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Text 86"/>
          <p:cNvSpPr/>
          <p:nvPr/>
        </p:nvSpPr>
        <p:spPr>
          <a:xfrm>
            <a:off x="1431354" y="4931866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Text 87"/>
          <p:cNvSpPr/>
          <p:nvPr/>
        </p:nvSpPr>
        <p:spPr>
          <a:xfrm>
            <a:off x="346811" y="5217616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三点半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2633960" y="4620816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3519190" y="4684216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Text 90"/>
          <p:cNvSpPr/>
          <p:nvPr/>
        </p:nvSpPr>
        <p:spPr>
          <a:xfrm>
            <a:off x="3695116" y="4927104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Text 91"/>
          <p:cNvSpPr/>
          <p:nvPr/>
        </p:nvSpPr>
        <p:spPr>
          <a:xfrm>
            <a:off x="3760515" y="4931866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Text 92"/>
          <p:cNvSpPr/>
          <p:nvPr/>
        </p:nvSpPr>
        <p:spPr>
          <a:xfrm>
            <a:off x="2675971" y="5217616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七点半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4963120" y="4620816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Text 94"/>
          <p:cNvSpPr/>
          <p:nvPr/>
        </p:nvSpPr>
        <p:spPr>
          <a:xfrm>
            <a:off x="5848350" y="4684216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Text 95"/>
          <p:cNvSpPr/>
          <p:nvPr/>
        </p:nvSpPr>
        <p:spPr>
          <a:xfrm>
            <a:off x="5969050" y="4922341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Text 96"/>
          <p:cNvSpPr/>
          <p:nvPr/>
        </p:nvSpPr>
        <p:spPr>
          <a:xfrm>
            <a:off x="6089675" y="4754166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Text 97"/>
          <p:cNvSpPr/>
          <p:nvPr/>
        </p:nvSpPr>
        <p:spPr>
          <a:xfrm>
            <a:off x="5005132" y="5217616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</a:t>
            </a:r>
            <a:endParaRPr lang="en-US" sz="700" dirty="0"/>
          </a:p>
        </p:txBody>
      </p:sp>
      <p:sp>
        <p:nvSpPr>
          <p:cNvPr id="100" name="Text 98"/>
          <p:cNvSpPr/>
          <p:nvPr/>
        </p:nvSpPr>
        <p:spPr>
          <a:xfrm>
            <a:off x="7292280" y="4620816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Text 99"/>
          <p:cNvSpPr/>
          <p:nvPr/>
        </p:nvSpPr>
        <p:spPr>
          <a:xfrm>
            <a:off x="8177510" y="4684216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Text 100"/>
          <p:cNvSpPr/>
          <p:nvPr/>
        </p:nvSpPr>
        <p:spPr>
          <a:xfrm>
            <a:off x="8298210" y="4922341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Text 101"/>
          <p:cNvSpPr/>
          <p:nvPr/>
        </p:nvSpPr>
        <p:spPr>
          <a:xfrm>
            <a:off x="8418835" y="4931866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Text 102"/>
          <p:cNvSpPr/>
          <p:nvPr/>
        </p:nvSpPr>
        <p:spPr>
          <a:xfrm>
            <a:off x="7334292" y="5217616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九点半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9621441" y="4620816"/>
            <a:ext cx="2265759" cy="784027"/>
          </a:xfrm>
          <a:prstGeom prst="roundRect">
            <a:avLst>
              <a:gd name="adj" fmla="val 971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Text 104"/>
          <p:cNvSpPr/>
          <p:nvPr/>
        </p:nvSpPr>
        <p:spPr>
          <a:xfrm>
            <a:off x="10506670" y="4684216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Text 105"/>
          <p:cNvSpPr/>
          <p:nvPr/>
        </p:nvSpPr>
        <p:spPr>
          <a:xfrm>
            <a:off x="10751855" y="4889809"/>
            <a:ext cx="127555" cy="51258"/>
          </a:xfrm>
          <a:prstGeom prst="roundRect">
            <a:avLst>
              <a:gd name="adj" fmla="val 2477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Text 106"/>
          <p:cNvSpPr/>
          <p:nvPr/>
        </p:nvSpPr>
        <p:spPr>
          <a:xfrm>
            <a:off x="10576620" y="4925541"/>
            <a:ext cx="177701" cy="12650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Text 107"/>
          <p:cNvSpPr/>
          <p:nvPr/>
        </p:nvSpPr>
        <p:spPr>
          <a:xfrm>
            <a:off x="9663452" y="5217616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两点四十五</a:t>
            </a:r>
            <a:endParaRPr lang="en-US" sz="700" dirty="0"/>
          </a:p>
        </p:txBody>
      </p:sp>
      <p:sp>
        <p:nvSpPr>
          <p:cNvPr id="110" name="Text 108"/>
          <p:cNvSpPr/>
          <p:nvPr/>
        </p:nvSpPr>
        <p:spPr>
          <a:xfrm>
            <a:off x="304800" y="5481042"/>
            <a:ext cx="1963489" cy="155377"/>
          </a:xfrm>
          <a:prstGeom prst="roundRect">
            <a:avLst>
              <a:gd name="adj" fmla="val 816549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Text 109"/>
          <p:cNvSpPr/>
          <p:nvPr/>
        </p:nvSpPr>
        <p:spPr>
          <a:xfrm>
            <a:off x="406301" y="5506343"/>
            <a:ext cx="17956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response — everyone speaks every time</a:t>
            </a:r>
            <a:endParaRPr lang="en-US" sz="600" dirty="0"/>
          </a:p>
        </p:txBody>
      </p:sp>
      <p:sp>
        <p:nvSpPr>
          <p:cNvPr id="112" name="Text 110"/>
          <p:cNvSpPr/>
          <p:nvPr/>
        </p:nvSpPr>
        <p:spPr>
          <a:xfrm>
            <a:off x="2395240" y="5481042"/>
            <a:ext cx="1930450" cy="155377"/>
          </a:xfrm>
          <a:prstGeom prst="roundRect">
            <a:avLst>
              <a:gd name="adj" fmla="val 816549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Text 111"/>
          <p:cNvSpPr/>
          <p:nvPr/>
        </p:nvSpPr>
        <p:spPr>
          <a:xfrm>
            <a:off x="2496741" y="5506343"/>
            <a:ext cx="17619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Start slow (5s per clock), then speed up to 2s!</a:t>
            </a:r>
            <a:endParaRPr lang="en-US" sz="600" dirty="0"/>
          </a:p>
        </p:txBody>
      </p:sp>
      <p:sp>
        <p:nvSpPr>
          <p:cNvPr id="114" name="Text 112"/>
          <p:cNvSpPr/>
          <p:nvPr/>
        </p:nvSpPr>
        <p:spPr>
          <a:xfrm>
            <a:off x="4452640" y="5481042"/>
            <a:ext cx="1013520" cy="155377"/>
          </a:xfrm>
          <a:prstGeom prst="roundRect">
            <a:avLst>
              <a:gd name="adj" fmla="val 816549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Text 113"/>
          <p:cNvSpPr/>
          <p:nvPr/>
        </p:nvSpPr>
        <p:spPr>
          <a:xfrm>
            <a:off x="4554141" y="5506343"/>
            <a:ext cx="8267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on next slide</a:t>
            </a:r>
            <a:endParaRPr lang="en-US" sz="600" dirty="0"/>
          </a:p>
        </p:txBody>
      </p:sp>
      <p:sp>
        <p:nvSpPr>
          <p:cNvPr id="116" name="Shape 11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195949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Cumulative Clock Flash — Answers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04800" y="1164282"/>
            <a:ext cx="118140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1 · Cumulative Clock Flash — Answers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04800" y="1332458"/>
            <a:ext cx="1181404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Cumulative Clock Flash · 综合钟表闪卡</a:t>
            </a:r>
            <a:r>
              <a:rPr lang="en-US" sz="6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ANSWERS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04800" y="1630859"/>
            <a:ext cx="118140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Twenty clock faces with Chinese labels and digital answers — use for correction and choral repeat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304800" y="1830884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90030" y="18942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65956" y="2027230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431354" y="196423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6811" y="242768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46811" y="2551509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1:00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633960" y="1830884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519190" y="18942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762077" y="2070210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760515" y="214193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675971" y="242768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675971" y="2551509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4963120" y="1830884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848350" y="18942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096000" y="2132409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089675" y="196423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005132" y="242768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005132" y="2551509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7292280" y="1830884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8177510" y="18942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420398" y="2133685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418835" y="2141934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334292" y="242768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四点半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334292" y="2551509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4:30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9621441" y="1830884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0506670" y="1894284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0746072" y="2137172"/>
            <a:ext cx="79972" cy="119467"/>
          </a:xfrm>
          <a:prstGeom prst="roundRect">
            <a:avLst>
              <a:gd name="adj" fmla="val 1588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0752366" y="2081006"/>
            <a:ext cx="172913" cy="66944"/>
          </a:xfrm>
          <a:prstGeom prst="roundRect">
            <a:avLst>
              <a:gd name="adj" fmla="val 18971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663452" y="2427684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五点十二分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9663452" y="2551509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5:12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304800" y="2783086"/>
            <a:ext cx="2265759" cy="926902"/>
          </a:xfrm>
          <a:prstGeom prst="roundRect">
            <a:avLst>
              <a:gd name="adj" fmla="val 82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190030" y="2846487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428155" y="3094137"/>
            <a:ext cx="19050" cy="1269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1431354" y="3094137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46811" y="3379887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六点半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46811" y="3503712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2633960" y="2783086"/>
            <a:ext cx="2265759" cy="926902"/>
          </a:xfrm>
          <a:prstGeom prst="roundRect">
            <a:avLst>
              <a:gd name="adj" fmla="val 82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3519190" y="2846487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695116" y="3089374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3760515" y="2916436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2675971" y="3379887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2675971" y="3503712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7:00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4963120" y="2783086"/>
            <a:ext cx="2265759" cy="926902"/>
          </a:xfrm>
          <a:prstGeom prst="roundRect">
            <a:avLst>
              <a:gd name="adj" fmla="val 82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5848350" y="2846487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5981295" y="3085888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089675" y="3094137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5005132" y="3379887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八点半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005132" y="3503712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8:30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7292280" y="2783086"/>
            <a:ext cx="2265759" cy="926902"/>
          </a:xfrm>
          <a:prstGeom prst="roundRect">
            <a:avLst>
              <a:gd name="adj" fmla="val 8221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177510" y="2865537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420398" y="3041463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418835" y="3113187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353723" y="3398937"/>
            <a:ext cx="214287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7353723" y="3522762"/>
            <a:ext cx="214287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2:30 - trap!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9621441" y="2783086"/>
            <a:ext cx="2265759" cy="926902"/>
          </a:xfrm>
          <a:prstGeom prst="roundRect">
            <a:avLst>
              <a:gd name="adj" fmla="val 822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0506670" y="2846487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10639616" y="3022413"/>
            <a:ext cx="119467" cy="79973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0748030" y="2916748"/>
            <a:ext cx="31156" cy="178050"/>
          </a:xfrm>
          <a:prstGeom prst="roundRect">
            <a:avLst>
              <a:gd name="adj" fmla="val 40763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9663452" y="3379887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十点零一分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9663452" y="3503712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10:01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304800" y="3773388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119003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1395622" y="3959349"/>
            <a:ext cx="51258" cy="127555"/>
          </a:xfrm>
          <a:prstGeom prst="roundRect">
            <a:avLst>
              <a:gd name="adj" fmla="val 2477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1431354" y="4084439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346811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十一点半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346811" y="4494014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11:30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2633960" y="3773388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351919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3757315" y="3957489"/>
            <a:ext cx="19050" cy="1269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Text 77"/>
          <p:cNvSpPr/>
          <p:nvPr/>
        </p:nvSpPr>
        <p:spPr>
          <a:xfrm>
            <a:off x="3760515" y="3906738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2675971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675971" y="4494014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4963120" y="3773388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81"/>
          <p:cNvSpPr/>
          <p:nvPr/>
        </p:nvSpPr>
        <p:spPr>
          <a:xfrm>
            <a:off x="584835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Text 82"/>
          <p:cNvSpPr/>
          <p:nvPr/>
        </p:nvSpPr>
        <p:spPr>
          <a:xfrm>
            <a:off x="6086475" y="3995589"/>
            <a:ext cx="19050" cy="888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Text 83"/>
          <p:cNvSpPr/>
          <p:nvPr/>
        </p:nvSpPr>
        <p:spPr>
          <a:xfrm>
            <a:off x="6089675" y="4084439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84"/>
          <p:cNvSpPr/>
          <p:nvPr/>
        </p:nvSpPr>
        <p:spPr>
          <a:xfrm>
            <a:off x="5005132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十二点半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5005132" y="4494014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12:30</a:t>
            </a:r>
            <a:endParaRPr lang="en-US" sz="600" dirty="0"/>
          </a:p>
        </p:txBody>
      </p:sp>
      <p:sp>
        <p:nvSpPr>
          <p:cNvPr id="88" name="Text 86"/>
          <p:cNvSpPr/>
          <p:nvPr/>
        </p:nvSpPr>
        <p:spPr>
          <a:xfrm>
            <a:off x="7292280" y="3773388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Text 87"/>
          <p:cNvSpPr/>
          <p:nvPr/>
        </p:nvSpPr>
        <p:spPr>
          <a:xfrm>
            <a:off x="817751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Text 88"/>
          <p:cNvSpPr/>
          <p:nvPr/>
        </p:nvSpPr>
        <p:spPr>
          <a:xfrm>
            <a:off x="8298210" y="4074914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8425160" y="4078114"/>
            <a:ext cx="177701" cy="12650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Text 90"/>
          <p:cNvSpPr/>
          <p:nvPr/>
        </p:nvSpPr>
        <p:spPr>
          <a:xfrm>
            <a:off x="7334292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九点十五分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7334292" y="4494014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9:15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9621441" y="3773388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Text 93"/>
          <p:cNvSpPr/>
          <p:nvPr/>
        </p:nvSpPr>
        <p:spPr>
          <a:xfrm>
            <a:off x="10506670" y="3836789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Text 94"/>
          <p:cNvSpPr/>
          <p:nvPr/>
        </p:nvSpPr>
        <p:spPr>
          <a:xfrm>
            <a:off x="10746072" y="4079677"/>
            <a:ext cx="79972" cy="119467"/>
          </a:xfrm>
          <a:prstGeom prst="roundRect">
            <a:avLst>
              <a:gd name="adj" fmla="val 15881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Text 95"/>
          <p:cNvSpPr/>
          <p:nvPr/>
        </p:nvSpPr>
        <p:spPr>
          <a:xfrm>
            <a:off x="10747995" y="4084439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Text 96"/>
          <p:cNvSpPr/>
          <p:nvPr/>
        </p:nvSpPr>
        <p:spPr>
          <a:xfrm>
            <a:off x="9663452" y="4370189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五点半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9663452" y="4494014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5:30</a:t>
            </a:r>
            <a:endParaRPr lang="en-US" sz="600" dirty="0"/>
          </a:p>
        </p:txBody>
      </p:sp>
      <p:sp>
        <p:nvSpPr>
          <p:cNvPr id="100" name="Text 98"/>
          <p:cNvSpPr/>
          <p:nvPr/>
        </p:nvSpPr>
        <p:spPr>
          <a:xfrm>
            <a:off x="304800" y="4725591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Text 99"/>
          <p:cNvSpPr/>
          <p:nvPr/>
        </p:nvSpPr>
        <p:spPr>
          <a:xfrm>
            <a:off x="1190030" y="478899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Text 100"/>
          <p:cNvSpPr/>
          <p:nvPr/>
        </p:nvSpPr>
        <p:spPr>
          <a:xfrm>
            <a:off x="1437680" y="5027116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Text 101"/>
          <p:cNvSpPr/>
          <p:nvPr/>
        </p:nvSpPr>
        <p:spPr>
          <a:xfrm>
            <a:off x="1431354" y="5036641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Text 102"/>
          <p:cNvSpPr/>
          <p:nvPr/>
        </p:nvSpPr>
        <p:spPr>
          <a:xfrm>
            <a:off x="346811" y="5322391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三点半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346811" y="5446216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3:30</a:t>
            </a:r>
            <a:endParaRPr lang="en-US" sz="600" dirty="0"/>
          </a:p>
        </p:txBody>
      </p:sp>
      <p:sp>
        <p:nvSpPr>
          <p:cNvPr id="106" name="Text 104"/>
          <p:cNvSpPr/>
          <p:nvPr/>
        </p:nvSpPr>
        <p:spPr>
          <a:xfrm>
            <a:off x="2633960" y="4725591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Text 105"/>
          <p:cNvSpPr/>
          <p:nvPr/>
        </p:nvSpPr>
        <p:spPr>
          <a:xfrm>
            <a:off x="3519190" y="478899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Text 106"/>
          <p:cNvSpPr/>
          <p:nvPr/>
        </p:nvSpPr>
        <p:spPr>
          <a:xfrm>
            <a:off x="3695116" y="5031879"/>
            <a:ext cx="79973" cy="119467"/>
          </a:xfrm>
          <a:prstGeom prst="roundRect">
            <a:avLst>
              <a:gd name="adj" fmla="val 15880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Text 107"/>
          <p:cNvSpPr/>
          <p:nvPr/>
        </p:nvSpPr>
        <p:spPr>
          <a:xfrm>
            <a:off x="3760515" y="5036641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Text 108"/>
          <p:cNvSpPr/>
          <p:nvPr/>
        </p:nvSpPr>
        <p:spPr>
          <a:xfrm>
            <a:off x="2675971" y="5322391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七点半</a:t>
            </a:r>
            <a:endParaRPr lang="en-US" sz="700" dirty="0"/>
          </a:p>
        </p:txBody>
      </p:sp>
      <p:sp>
        <p:nvSpPr>
          <p:cNvPr id="111" name="Text 109"/>
          <p:cNvSpPr/>
          <p:nvPr/>
        </p:nvSpPr>
        <p:spPr>
          <a:xfrm>
            <a:off x="2675971" y="5446216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7:30</a:t>
            </a:r>
            <a:endParaRPr lang="en-US" sz="600" dirty="0"/>
          </a:p>
        </p:txBody>
      </p:sp>
      <p:sp>
        <p:nvSpPr>
          <p:cNvPr id="112" name="Text 110"/>
          <p:cNvSpPr/>
          <p:nvPr/>
        </p:nvSpPr>
        <p:spPr>
          <a:xfrm>
            <a:off x="4963120" y="4725591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Text 111"/>
          <p:cNvSpPr/>
          <p:nvPr/>
        </p:nvSpPr>
        <p:spPr>
          <a:xfrm>
            <a:off x="5848350" y="478899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Text 112"/>
          <p:cNvSpPr/>
          <p:nvPr/>
        </p:nvSpPr>
        <p:spPr>
          <a:xfrm>
            <a:off x="5969050" y="5027116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Text 113"/>
          <p:cNvSpPr/>
          <p:nvPr/>
        </p:nvSpPr>
        <p:spPr>
          <a:xfrm>
            <a:off x="6089675" y="4858941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Text 114"/>
          <p:cNvSpPr/>
          <p:nvPr/>
        </p:nvSpPr>
        <p:spPr>
          <a:xfrm>
            <a:off x="5005132" y="5322391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</a:t>
            </a:r>
            <a:endParaRPr lang="en-US" sz="700" dirty="0"/>
          </a:p>
        </p:txBody>
      </p:sp>
      <p:sp>
        <p:nvSpPr>
          <p:cNvPr id="117" name="Text 115"/>
          <p:cNvSpPr/>
          <p:nvPr/>
        </p:nvSpPr>
        <p:spPr>
          <a:xfrm>
            <a:off x="5005132" y="5446216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9:00</a:t>
            </a:r>
            <a:endParaRPr lang="en-US" sz="600" dirty="0"/>
          </a:p>
        </p:txBody>
      </p:sp>
      <p:sp>
        <p:nvSpPr>
          <p:cNvPr id="118" name="Text 116"/>
          <p:cNvSpPr/>
          <p:nvPr/>
        </p:nvSpPr>
        <p:spPr>
          <a:xfrm>
            <a:off x="7292280" y="4725591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Text 117"/>
          <p:cNvSpPr/>
          <p:nvPr/>
        </p:nvSpPr>
        <p:spPr>
          <a:xfrm>
            <a:off x="8177510" y="478899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Text 118"/>
          <p:cNvSpPr/>
          <p:nvPr/>
        </p:nvSpPr>
        <p:spPr>
          <a:xfrm>
            <a:off x="8298210" y="5027116"/>
            <a:ext cx="126950" cy="19050"/>
          </a:xfrm>
          <a:prstGeom prst="roundRect">
            <a:avLst>
              <a:gd name="adj" fmla="val 6666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Text 119"/>
          <p:cNvSpPr/>
          <p:nvPr/>
        </p:nvSpPr>
        <p:spPr>
          <a:xfrm>
            <a:off x="8418835" y="5036641"/>
            <a:ext cx="12650" cy="177701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Text 120"/>
          <p:cNvSpPr/>
          <p:nvPr/>
        </p:nvSpPr>
        <p:spPr>
          <a:xfrm>
            <a:off x="7334292" y="5322391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九点半</a:t>
            </a:r>
            <a:endParaRPr lang="en-US" sz="700" dirty="0"/>
          </a:p>
        </p:txBody>
      </p:sp>
      <p:sp>
        <p:nvSpPr>
          <p:cNvPr id="123" name="Text 121"/>
          <p:cNvSpPr/>
          <p:nvPr/>
        </p:nvSpPr>
        <p:spPr>
          <a:xfrm>
            <a:off x="7334292" y="5446216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9:30</a:t>
            </a:r>
            <a:endParaRPr lang="en-US" sz="600" dirty="0"/>
          </a:p>
        </p:txBody>
      </p:sp>
      <p:sp>
        <p:nvSpPr>
          <p:cNvPr id="124" name="Text 122"/>
          <p:cNvSpPr/>
          <p:nvPr/>
        </p:nvSpPr>
        <p:spPr>
          <a:xfrm>
            <a:off x="9621441" y="4725591"/>
            <a:ext cx="2265759" cy="888802"/>
          </a:xfrm>
          <a:prstGeom prst="roundRect">
            <a:avLst>
              <a:gd name="adj" fmla="val 857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Text 123"/>
          <p:cNvSpPr/>
          <p:nvPr/>
        </p:nvSpPr>
        <p:spPr>
          <a:xfrm>
            <a:off x="10506670" y="4788991"/>
            <a:ext cx="495300" cy="495300"/>
          </a:xfrm>
          <a:prstGeom prst="roundRect">
            <a:avLst>
              <a:gd name="adj" fmla="val 184615"/>
            </a:avLst>
          </a:prstGeom>
          <a:solidFill>
            <a:srgbClr val="FFFFFF"/>
          </a:solidFill>
          <a:ln w="19050">
            <a:solidFill>
              <a:srgbClr val="1E2A3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Text 124"/>
          <p:cNvSpPr/>
          <p:nvPr/>
        </p:nvSpPr>
        <p:spPr>
          <a:xfrm>
            <a:off x="10751855" y="4994584"/>
            <a:ext cx="127555" cy="51258"/>
          </a:xfrm>
          <a:prstGeom prst="roundRect">
            <a:avLst>
              <a:gd name="adj" fmla="val 24777"/>
            </a:avLst>
          </a:prstGeom>
          <a:solidFill>
            <a:srgbClr val="1E2A3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Text 125"/>
          <p:cNvSpPr/>
          <p:nvPr/>
        </p:nvSpPr>
        <p:spPr>
          <a:xfrm>
            <a:off x="10576620" y="5030316"/>
            <a:ext cx="177701" cy="12650"/>
          </a:xfrm>
          <a:prstGeom prst="roundRect">
            <a:avLst>
              <a:gd name="adj" fmla="val 100395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Text 126"/>
          <p:cNvSpPr/>
          <p:nvPr/>
        </p:nvSpPr>
        <p:spPr>
          <a:xfrm>
            <a:off x="9663452" y="5322391"/>
            <a:ext cx="21817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两点四十五</a:t>
            </a:r>
            <a:endParaRPr lang="en-US" sz="700" dirty="0"/>
          </a:p>
        </p:txBody>
      </p:sp>
      <p:sp>
        <p:nvSpPr>
          <p:cNvPr id="129" name="Text 127"/>
          <p:cNvSpPr/>
          <p:nvPr/>
        </p:nvSpPr>
        <p:spPr>
          <a:xfrm>
            <a:off x="9663452" y="5446216"/>
            <a:ext cx="218173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2:45</a:t>
            </a:r>
            <a:endParaRPr lang="en-US" sz="600" dirty="0"/>
          </a:p>
        </p:txBody>
      </p:sp>
      <p:sp>
        <p:nvSpPr>
          <p:cNvPr id="130" name="Text 128"/>
          <p:cNvSpPr/>
          <p:nvPr/>
        </p:nvSpPr>
        <p:spPr>
          <a:xfrm>
            <a:off x="304800" y="5690592"/>
            <a:ext cx="1558230" cy="155377"/>
          </a:xfrm>
          <a:prstGeom prst="roundRect">
            <a:avLst>
              <a:gd name="adj" fmla="val 816549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Text 129"/>
          <p:cNvSpPr/>
          <p:nvPr/>
        </p:nvSpPr>
        <p:spPr>
          <a:xfrm>
            <a:off x="406301" y="5715893"/>
            <a:ext cx="138233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answers — who got them all?</a:t>
            </a:r>
            <a:endParaRPr lang="en-US" sz="600" dirty="0"/>
          </a:p>
        </p:txBody>
      </p:sp>
      <p:sp>
        <p:nvSpPr>
          <p:cNvPr id="132" name="Text 130"/>
          <p:cNvSpPr/>
          <p:nvPr/>
        </p:nvSpPr>
        <p:spPr>
          <a:xfrm>
            <a:off x="1989981" y="5690592"/>
            <a:ext cx="1862138" cy="155377"/>
          </a:xfrm>
          <a:prstGeom prst="roundRect">
            <a:avLst>
              <a:gd name="adj" fmla="val 816549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Text 131"/>
          <p:cNvSpPr/>
          <p:nvPr/>
        </p:nvSpPr>
        <p:spPr>
          <a:xfrm>
            <a:off x="2091482" y="5715893"/>
            <a:ext cx="16923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repeat each clock 2x with both labels</a:t>
            </a:r>
            <a:endParaRPr lang="en-US" sz="600" dirty="0"/>
          </a:p>
        </p:txBody>
      </p:sp>
      <p:sp>
        <p:nvSpPr>
          <p:cNvPr id="134" name="Text 132"/>
          <p:cNvSpPr/>
          <p:nvPr/>
        </p:nvSpPr>
        <p:spPr>
          <a:xfrm>
            <a:off x="3979069" y="5690592"/>
            <a:ext cx="1255961" cy="155377"/>
          </a:xfrm>
          <a:prstGeom prst="roundRect">
            <a:avLst>
              <a:gd name="adj" fmla="val 8165494"/>
            </a:avLst>
          </a:prstGeom>
          <a:solidFill>
            <a:srgbClr val="EDE7D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Text 133"/>
          <p:cNvSpPr/>
          <p:nvPr/>
        </p:nvSpPr>
        <p:spPr>
          <a:xfrm>
            <a:off x="4080570" y="5715893"/>
            <a:ext cx="107401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Highlight 两 (not 二) at 2:30!</a:t>
            </a:r>
            <a:endParaRPr lang="en-US" sz="600" dirty="0"/>
          </a:p>
        </p:txBody>
      </p:sp>
      <p:sp>
        <p:nvSpPr>
          <p:cNvPr id="136" name="Shape 13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68934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· Bingo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609600"/>
            <a:ext cx="115031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2 · Cumulative Bingo — 8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777776"/>
            <a:ext cx="1150315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Cumulative Bingo · 宾果游戏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1117402"/>
            <a:ext cx="11503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Fill your 3x3 card with 8 different times. The centre is FREE!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06277"/>
            <a:ext cx="5486400" cy="2380804"/>
          </a:xfrm>
          <a:prstGeom prst="roundRect">
            <a:avLst>
              <a:gd name="adj" fmla="val 4267"/>
            </a:avLst>
          </a:prstGeom>
          <a:solidFill>
            <a:srgbClr val="F6F2E8"/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28650" y="1577727"/>
            <a:ext cx="1663601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17907" y="1791891"/>
            <a:ext cx="28493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368451" y="1577727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986660" y="1791891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七点半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08400" y="1577727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726610" y="1791891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8650" y="2282428"/>
            <a:ext cx="1663601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104317" y="2496592"/>
            <a:ext cx="7122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两点十五分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368451" y="2282428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C8943E">
              <a:alpha val="12000"/>
            </a:srgbClr>
          </a:solidFill>
          <a:ln w="9525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76945" y="2515642"/>
            <a:ext cx="4467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8943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半 FREE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108400" y="2282428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726610" y="2496592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五点半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8650" y="2987129"/>
            <a:ext cx="1663601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104317" y="3201293"/>
            <a:ext cx="7122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九点零五分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368451" y="2987129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986660" y="3201293"/>
            <a:ext cx="42733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八点半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08400" y="2987129"/>
            <a:ext cx="1663750" cy="628501"/>
          </a:xfrm>
          <a:prstGeom prst="roundRect">
            <a:avLst>
              <a:gd name="adj" fmla="val 8083"/>
            </a:avLst>
          </a:prstGeom>
          <a:solidFill>
            <a:srgbClr val="FFFFFF"/>
          </a:solidFill>
          <a:ln w="9525">
            <a:solidFill>
              <a:srgbClr val="E5DF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584067" y="3201293"/>
            <a:ext cx="7122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一点四十五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48400" y="1406277"/>
            <a:ext cx="55961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Word Bank — Pick any 8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248400" y="1580852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349901" y="1631603"/>
            <a:ext cx="2072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三点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703320" y="1650653"/>
            <a:ext cx="16455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3:00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9016901" y="1580852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9118402" y="1631603"/>
            <a:ext cx="310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七点半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1474946" y="1650653"/>
            <a:ext cx="16152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7:30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6248400" y="1875979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349901" y="1926729"/>
            <a:ext cx="310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十二点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671322" y="1945779"/>
            <a:ext cx="19719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12:00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9016901" y="1875979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9118402" y="1926729"/>
            <a:ext cx="517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两点十五分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485959" y="1945779"/>
            <a:ext cx="15028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2:15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248400" y="2171105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349901" y="2221855"/>
            <a:ext cx="310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五点半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8702873" y="2240905"/>
            <a:ext cx="16501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5:30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9016901" y="2171105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9118402" y="2221855"/>
            <a:ext cx="517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九点零五分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1470779" y="2240905"/>
            <a:ext cx="16577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9:05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248400" y="2466231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349901" y="2516981"/>
            <a:ext cx="310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八点半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702725" y="2536031"/>
            <a:ext cx="16516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8:30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9016901" y="2466231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9118402" y="2516981"/>
            <a:ext cx="517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一点四十五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1485811" y="2536031"/>
            <a:ext cx="15043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1:45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6248400" y="2761357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349901" y="2812107"/>
            <a:ext cx="4142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十一点半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8686205" y="2831157"/>
            <a:ext cx="18201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11:30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9016901" y="2761357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9118402" y="2812107"/>
            <a:ext cx="517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四点二十分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11471077" y="2831157"/>
            <a:ext cx="1654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4:20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6248400" y="3056483"/>
            <a:ext cx="2717750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6349901" y="3107234"/>
            <a:ext cx="310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六点半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8702427" y="3126284"/>
            <a:ext cx="1654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6:30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9016901" y="3056483"/>
            <a:ext cx="2717899" cy="244376"/>
          </a:xfrm>
          <a:prstGeom prst="roundRect">
            <a:avLst>
              <a:gd name="adj" fmla="val 2078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9118402" y="3107234"/>
            <a:ext cx="5179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十点零一分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455003" y="3126284"/>
            <a:ext cx="18186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10:01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6248400" y="3427809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6294537" y="3453110"/>
            <a:ext cx="3521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6426101" y="3427809"/>
            <a:ext cx="1540210" cy="142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 a 3x3 grid. Centre = 半 FREE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6248400" y="356994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6287542" y="3595241"/>
            <a:ext cx="49488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6426101" y="3569940"/>
            <a:ext cx="2274945" cy="142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Pick 8 times from the word bank, arrange randomly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6248400" y="3712071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6287393" y="3737372"/>
            <a:ext cx="49792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6426101" y="3712071"/>
            <a:ext cx="2186595" cy="142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times in Chinese — cross them off!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6248400" y="3854202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A7D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6287095" y="3879503"/>
            <a:ext cx="5039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"/>
              </a:lnSpc>
              <a:buNone/>
            </a:pPr>
            <a:r>
              <a:rPr lang="en-US" sz="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600" dirty="0"/>
          </a:p>
        </p:txBody>
      </p:sp>
      <p:sp>
        <p:nvSpPr>
          <p:cNvPr id="77" name="Text 75"/>
          <p:cNvSpPr/>
          <p:nvPr/>
        </p:nvSpPr>
        <p:spPr>
          <a:xfrm>
            <a:off x="6426101" y="3854202"/>
            <a:ext cx="2439957" cy="1421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Shout BINGO! when you get a row, column, or diagonal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95211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Writing Relay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948510" y="2121396"/>
            <a:ext cx="22948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Writing Relay — 8 min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786229" y="2289572"/>
            <a:ext cx="261954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Writing Relay · 写字接力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834110" y="2629198"/>
            <a:ext cx="45237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Four teams. Teacher says a time. First runner writes it in Chinese on the board!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81686" y="2892623"/>
            <a:ext cx="489793" cy="530126"/>
          </a:xfrm>
          <a:prstGeom prst="roundRect">
            <a:avLst>
              <a:gd name="adj" fmla="val 155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06278" y="2981474"/>
            <a:ext cx="2406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6278" y="3229124"/>
            <a:ext cx="24061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5272007" y="3057674"/>
            <a:ext cx="992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71815" y="2892623"/>
            <a:ext cx="429816" cy="530126"/>
          </a:xfrm>
          <a:prstGeom prst="roundRect">
            <a:avLst>
              <a:gd name="adj" fmla="val 1772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97006" y="2981474"/>
            <a:ext cx="17943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597006" y="3229124"/>
            <a:ext cx="17943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Run!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6002158" y="3057674"/>
            <a:ext cx="992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01966" y="2892623"/>
            <a:ext cx="486221" cy="530126"/>
          </a:xfrm>
          <a:prstGeom prst="roundRect">
            <a:avLst>
              <a:gd name="adj" fmla="val 1567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26593" y="2981474"/>
            <a:ext cx="23696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26593" y="3229124"/>
            <a:ext cx="2369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Write!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6788715" y="3057674"/>
            <a:ext cx="992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88522" y="2892623"/>
            <a:ext cx="521791" cy="530126"/>
          </a:xfrm>
          <a:prstGeom prst="roundRect">
            <a:avLst>
              <a:gd name="adj" fmla="val 1460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112794" y="2981474"/>
            <a:ext cx="27324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112794" y="3229124"/>
            <a:ext cx="2732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Check!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4580334" y="3549700"/>
            <a:ext cx="959644" cy="345877"/>
          </a:xfrm>
          <a:prstGeom prst="roundRect">
            <a:avLst>
              <a:gd name="adj" fmla="val 2203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648462" y="3651200"/>
            <a:ext cx="8233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5616178" y="3549700"/>
            <a:ext cx="959644" cy="345877"/>
          </a:xfrm>
          <a:prstGeom prst="roundRect">
            <a:avLst>
              <a:gd name="adj" fmla="val 2203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684306" y="3651200"/>
            <a:ext cx="8233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6652022" y="3549700"/>
            <a:ext cx="959644" cy="345877"/>
          </a:xfrm>
          <a:prstGeom prst="roundRect">
            <a:avLst>
              <a:gd name="adj" fmla="val 22031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739580" y="3670250"/>
            <a:ext cx="78452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TRAP!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4580334" y="3971776"/>
            <a:ext cx="959644" cy="307777"/>
          </a:xfrm>
          <a:prstGeom prst="roundRect">
            <a:avLst>
              <a:gd name="adj" fmla="val 247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648462" y="4073277"/>
            <a:ext cx="8233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5616178" y="3971776"/>
            <a:ext cx="959644" cy="307777"/>
          </a:xfrm>
          <a:prstGeom prst="roundRect">
            <a:avLst>
              <a:gd name="adj" fmla="val 247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684306" y="4073277"/>
            <a:ext cx="8233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5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6652022" y="3971776"/>
            <a:ext cx="959644" cy="307777"/>
          </a:xfrm>
          <a:prstGeom prst="roundRect">
            <a:avLst>
              <a:gd name="adj" fmla="val 247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720149" y="4073277"/>
            <a:ext cx="8233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6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5307806" y="4381054"/>
            <a:ext cx="1576239" cy="307777"/>
          </a:xfrm>
          <a:prstGeom prst="roundRect">
            <a:avLst>
              <a:gd name="adj" fmla="val 24758"/>
            </a:avLst>
          </a:prstGeom>
          <a:solidFill>
            <a:srgbClr val="3A7D8C">
              <a:alpha val="10000"/>
            </a:srgbClr>
          </a:solidFill>
          <a:ln w="19050">
            <a:solidFill>
              <a:srgbClr val="3A7D8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518688" y="4463504"/>
            <a:ext cx="11544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on next slide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578757" y="4765030"/>
            <a:ext cx="13018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correct answer = 1 point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028456" y="4765030"/>
            <a:ext cx="17457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each round: choral repeat 3 times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918140" y="4765030"/>
            <a:ext cx="16988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Rotate runners — everyone runs once!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147721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Writing Relay — Answers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60006" y="1702296"/>
            <a:ext cx="24719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Activity 3 · Writing Relay — Answers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14195" y="1870472"/>
            <a:ext cx="316361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Writing Relay · 写字接力</a:t>
            </a:r>
            <a:r>
              <a:rPr lang="en-US" sz="6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ANSWERS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305526" y="2210098"/>
            <a:ext cx="558094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key — check student writing against these targets. Teacher reads aloud, choral repeat 3x!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81686" y="2473523"/>
            <a:ext cx="489793" cy="530126"/>
          </a:xfrm>
          <a:prstGeom prst="roundRect">
            <a:avLst>
              <a:gd name="adj" fmla="val 15558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06278" y="2562374"/>
            <a:ext cx="2406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06278" y="2810024"/>
            <a:ext cx="24061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5272007" y="2638574"/>
            <a:ext cx="992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71815" y="2473523"/>
            <a:ext cx="429816" cy="530126"/>
          </a:xfrm>
          <a:prstGeom prst="roundRect">
            <a:avLst>
              <a:gd name="adj" fmla="val 17729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97006" y="2562374"/>
            <a:ext cx="17943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597006" y="2810024"/>
            <a:ext cx="17943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Run!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6002158" y="2638574"/>
            <a:ext cx="992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01966" y="2473523"/>
            <a:ext cx="486221" cy="530126"/>
          </a:xfrm>
          <a:prstGeom prst="roundRect">
            <a:avLst>
              <a:gd name="adj" fmla="val 15672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326593" y="2562374"/>
            <a:ext cx="23696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26593" y="2810024"/>
            <a:ext cx="2369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Write!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6788715" y="2638574"/>
            <a:ext cx="992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88522" y="2473523"/>
            <a:ext cx="521791" cy="530126"/>
          </a:xfrm>
          <a:prstGeom prst="roundRect">
            <a:avLst>
              <a:gd name="adj" fmla="val 14604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112794" y="2562374"/>
            <a:ext cx="27324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112794" y="2810024"/>
            <a:ext cx="2732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Check!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4486275" y="3130600"/>
            <a:ext cx="1022300" cy="764977"/>
          </a:xfrm>
          <a:prstGeom prst="roundRect">
            <a:avLst>
              <a:gd name="adj" fmla="val 99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553776" y="3232100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1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553776" y="3336875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点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4553776" y="3441650"/>
            <a:ext cx="8872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七点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53776" y="3651200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7:00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5584775" y="3130600"/>
            <a:ext cx="1022300" cy="764977"/>
          </a:xfrm>
          <a:prstGeom prst="roundRect">
            <a:avLst>
              <a:gd name="adj" fmla="val 9961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652276" y="3232100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2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5652276" y="3336875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分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5652276" y="3441650"/>
            <a:ext cx="8872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四点十五分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52276" y="3651200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4:15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6683276" y="3130600"/>
            <a:ext cx="1022300" cy="764977"/>
          </a:xfrm>
          <a:prstGeom prst="roundRect">
            <a:avLst>
              <a:gd name="adj" fmla="val 9961"/>
            </a:avLst>
          </a:prstGeom>
          <a:solidFill>
            <a:srgbClr val="F6F2E8"/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770208" y="3251150"/>
            <a:ext cx="84843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· TRAP!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6770208" y="3355925"/>
            <a:ext cx="84843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半 (两 not 二!)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6770208" y="3460700"/>
            <a:ext cx="84843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4756B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两点半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770208" y="3670250"/>
            <a:ext cx="84843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2:30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486275" y="3971776"/>
            <a:ext cx="1022300" cy="726877"/>
          </a:xfrm>
          <a:prstGeom prst="roundRect">
            <a:avLst>
              <a:gd name="adj" fmla="val 1048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553776" y="4073277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4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553776" y="4178052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半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4553776" y="4282827"/>
            <a:ext cx="8872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十一点半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553776" y="4492377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11:30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5584775" y="3971776"/>
            <a:ext cx="1022300" cy="726877"/>
          </a:xfrm>
          <a:prstGeom prst="roundRect">
            <a:avLst>
              <a:gd name="adj" fmla="val 1048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5652276" y="4073277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5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5652276" y="4178052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半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5652276" y="4282827"/>
            <a:ext cx="8872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五点半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652276" y="4492377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5:30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6683276" y="3971776"/>
            <a:ext cx="1022300" cy="726877"/>
          </a:xfrm>
          <a:prstGeom prst="roundRect">
            <a:avLst>
              <a:gd name="adj" fmla="val 1048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750777" y="4073277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6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750777" y="4178052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Pattern: 点零分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6750777" y="4282827"/>
            <a:ext cx="88729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十点零五分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750777" y="4492377"/>
            <a:ext cx="88729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10:05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4412010" y="4800154"/>
            <a:ext cx="3367832" cy="307777"/>
          </a:xfrm>
          <a:prstGeom prst="roundRect">
            <a:avLst>
              <a:gd name="adj" fmla="val 24758"/>
            </a:avLst>
          </a:prstGeom>
          <a:solidFill>
            <a:srgbClr val="D4756B">
              <a:alpha val="10000"/>
            </a:srgbClr>
          </a:solidFill>
          <a:ln w="19050">
            <a:solidFill>
              <a:srgbClr val="D4756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4604976" y="4882604"/>
            <a:ext cx="29818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Round 3 trap: 2:30 = 两点半 (两 + 半 — two traps in one!)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3578757" y="5184130"/>
            <a:ext cx="130187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First correct answer = 1 point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028456" y="5184130"/>
            <a:ext cx="17457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each round: choral repeat 3 times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918140" y="5184130"/>
            <a:ext cx="169884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Rotate runners — everyone runs once!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1962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6688"/>
            <a:ext cx="90672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L3 · HALF PAST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447651" y="165050"/>
            <a:ext cx="12650" cy="126950"/>
          </a:xfrm>
          <a:prstGeom prst="rect">
            <a:avLst/>
          </a:prstGeom>
          <a:solidFill>
            <a:srgbClr val="E5DF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61802" y="166688"/>
            <a:ext cx="32364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0"/>
            <a:ext cx="11277600" cy="38100"/>
          </a:xfrm>
          <a:prstGeom prst="rect">
            <a:avLst/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1724323"/>
            <a:ext cx="109851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43–50 min · Plenary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1101" y="1917948"/>
            <a:ext cx="10985194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Review &amp; Reflect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11101" y="2435423"/>
            <a:ext cx="109851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1101" y="2656136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50702" y="2597348"/>
            <a:ext cx="213285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say half-past times using 半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11101" y="2837111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0702" y="2778323"/>
            <a:ext cx="33662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tell the difference between X点半 and X点三十分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11101" y="3018086"/>
            <a:ext cx="63401" cy="63401"/>
          </a:xfrm>
          <a:prstGeom prst="roundRect">
            <a:avLst>
              <a:gd name="adj" fmla="val 1442249"/>
            </a:avLst>
          </a:prstGeom>
          <a:solidFill>
            <a:srgbClr val="C8943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50702" y="2959298"/>
            <a:ext cx="367458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see a clock and pick the right pattern — 点, 分, or 半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11101" y="3292673"/>
            <a:ext cx="10769798" cy="828526"/>
          </a:xfrm>
          <a:prstGeom prst="roundRect">
            <a:avLst>
              <a:gd name="adj" fmla="val 12263"/>
            </a:avLst>
          </a:prstGeom>
          <a:solidFill>
            <a:srgbClr val="F6F2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88802" y="3419624"/>
            <a:ext cx="106226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7D8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Self-Assessment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88802" y="3632299"/>
            <a:ext cx="10622685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67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 your paper, draw a clock showing an easy time (one you feel confident with) and a clock showing a hard time (one you still find tricky). Write the Chinese next to each.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1101" y="4248150"/>
            <a:ext cx="10769798" cy="793552"/>
          </a:xfrm>
          <a:prstGeom prst="roundRect">
            <a:avLst>
              <a:gd name="adj" fmla="val 12803"/>
            </a:avLst>
          </a:prstGeom>
          <a:solidFill>
            <a:srgbClr val="C8943E">
              <a:alpha val="12000"/>
            </a:srgbClr>
          </a:solidFill>
          <a:ln w="19050">
            <a:solidFill>
              <a:srgbClr val="C8943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58751" y="4394150"/>
            <a:ext cx="18835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894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958751" y="4517975"/>
            <a:ext cx="18835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A3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2:30 in Chinese.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58751" y="4771876"/>
            <a:ext cx="18835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D4756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Double trap: don't forget 两 (not 二) + 半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11101" y="5143202"/>
            <a:ext cx="9653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 finger = Achieved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860649" y="5143202"/>
            <a:ext cx="125314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fingers = Getting there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292376" y="5143202"/>
            <a:ext cx="8288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Fist = Need help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0" y="6548438"/>
            <a:ext cx="12192000" cy="0"/>
          </a:xfrm>
          <a:prstGeom prst="line">
            <a:avLst/>
          </a:prstGeom>
          <a:noFill/>
          <a:ln w="9525">
            <a:solidFill>
              <a:srgbClr val="E5DFD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653213"/>
            <a:ext cx="129504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A3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Y7 Chinese · Unit 4.1 Telling Time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2026-06-29T00:22:26Z</dcterms:created>
  <dcterms:modified xsi:type="dcterms:W3CDTF">2026-06-29T00:22:26Z</dcterms:modified>
</cp:coreProperties>
</file>