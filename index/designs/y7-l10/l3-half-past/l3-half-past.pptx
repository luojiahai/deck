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68851" y="1779984"/>
            <a:ext cx="1054001" cy="1054001"/>
          </a:xfrm>
          <a:prstGeom prst="roundRect">
            <a:avLst>
              <a:gd name="adj" fmla="val 8675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93967" y="2986385"/>
            <a:ext cx="34039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· Y7 Unit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93967" y="3268861"/>
            <a:ext cx="3403917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393967" y="4325392"/>
            <a:ext cx="340391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 Past · Telling Time with 半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393967" y="4915942"/>
            <a:ext cx="34039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Speaking + Listening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059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Speed Correct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71110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A — 5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904726"/>
            <a:ext cx="1139962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Speed Correct · 快速判断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1320552"/>
            <a:ext cx="11399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"T" or "F" on your paper. Hold it up!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7950" y="1628477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4901" y="171732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26132" y="1760190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65002" y="1717328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「两点」means 3 o'clock.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5002" y="1917353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两 = two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34100" y="1628477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61050" y="171732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43055" y="1760190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591151" y="1717328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「七点」means 7 o'clock.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91151" y="1917353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点 = o'clock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7950" y="2206228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4901" y="229507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6607" y="2337941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65002" y="229507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「三点十五分」means 3:15.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5002" y="249510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分 = minutes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34100" y="2206228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61050" y="229507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42459" y="2337941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591151" y="229507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「十二点」means 10 o'clock.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91151" y="249510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十二 = 12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07950" y="2783979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34901" y="287282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16756" y="2915692"/>
            <a:ext cx="661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965002" y="287282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「分」means "o'clock".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65002" y="307285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What does 分 really mean?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134100" y="2783979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261050" y="287282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342311" y="2915692"/>
            <a:ext cx="672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591151" y="287282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「二点」is correct Chinese.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91151" y="307285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Remember the L1 trap!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07950" y="3361730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4901" y="34505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19138" y="3493443"/>
            <a:ext cx="613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965002" y="3450580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「九点零五分」means 9:05.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65002" y="3650605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零 = zero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134100" y="3361730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61050" y="34505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42459" y="3493443"/>
            <a:ext cx="669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591151" y="3450580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「一点二十分」means 1:20.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591151" y="3650605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Check the numbers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0394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Word Building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39103" y="1940123"/>
            <a:ext cx="1513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B — 5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743876" y="2133749"/>
            <a:ext cx="270424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Word Building · 组词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87247" y="2549575"/>
            <a:ext cx="36175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each two-character word. Work with a partner!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97771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15722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 _ _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15722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名字 (míngzi)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15722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878586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96537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 _ _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96537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 (shíjiān)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96537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59401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77352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 _ 国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77352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中国 (Zhōngguó)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77352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China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440216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558166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 _ _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558166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生日 (shēngrì)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58166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birthday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97771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715722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 _ _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715722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 (jǐ diǎn)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715722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time?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878586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996537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 _ _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996537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 (xiànzài)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96537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now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159401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277352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 _ _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77352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 (shàngwǔ)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77352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morning / AM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7440216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558166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 _ 上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558166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 (wǎnshang)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58166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evening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089144" y="4889302"/>
            <a:ext cx="40135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words unlock telling time. Let's add one more today — 半.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7972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71110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10–12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04726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1472952"/>
            <a:ext cx="10769798" cy="612577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0151" y="1472952"/>
            <a:ext cx="0" cy="612577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6902" y="1599902"/>
            <a:ext cx="105838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26902" y="1749028"/>
            <a:ext cx="105838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say half-past times using 半, and to choose between 点, 分, and 半 when telling time.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1101" y="2263229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583" y="2312343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3852" y="2293293"/>
            <a:ext cx="21695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half-past times using 半.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15901" y="2517130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用「半」说半点时间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11101" y="2736205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9356" y="2785318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3852" y="2766268"/>
            <a:ext cx="34030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tell the difference between X点半 and X点三十分.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15901" y="2990106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区分「X点半」和「X点三十分」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1101" y="3209181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9207" y="3258294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3852" y="3239244"/>
            <a:ext cx="37113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see a clock and pick the right pattern — 点, 分, or 半.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15901" y="3463082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看到钟表，选择正确的表达方式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997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935212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2128838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671763"/>
            <a:ext cx="10769798" cy="1104751"/>
          </a:xfrm>
          <a:prstGeom prst="roundRect">
            <a:avLst>
              <a:gd name="adj" fmla="val 1149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34951" y="2893963"/>
            <a:ext cx="673709" cy="6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1949351" y="2928789"/>
            <a:ext cx="135865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bàn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49351" y="3176439"/>
            <a:ext cx="135865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49351" y="3376464"/>
            <a:ext cx="13586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 · radical: 十 (shí)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11101" y="3928914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character 半 means "half". When telling time, it goes after the hour — just like "half past" in English.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11101" y="4262289"/>
            <a:ext cx="812750" cy="812750"/>
          </a:xfrm>
          <a:prstGeom prst="roundRect">
            <a:avLst>
              <a:gd name="adj" fmla="val 11250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11101" y="4262289"/>
            <a:ext cx="812750" cy="406301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01552" y="4587627"/>
            <a:ext cx="33738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= half of something → half of an hour = 30 minutes past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8063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683097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851273"/>
            <a:ext cx="115031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Pattern · 关键句型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2228999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Number + 点 + 半 = Half past (X:30)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22602" y="2613124"/>
            <a:ext cx="425351" cy="457200"/>
          </a:xfrm>
          <a:prstGeom prst="roundRect">
            <a:avLst>
              <a:gd name="adj" fmla="val 23886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68602" y="2708374"/>
            <a:ext cx="1360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24152" y="2708374"/>
            <a:ext cx="1252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23136" y="2613124"/>
            <a:ext cx="486221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469136" y="2708374"/>
            <a:ext cx="1981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885557" y="2708374"/>
            <a:ext cx="1252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84540" y="2613124"/>
            <a:ext cx="486221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30541" y="2708374"/>
            <a:ext cx="1981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46962" y="2708374"/>
            <a:ext cx="1212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42075" y="2613124"/>
            <a:ext cx="727174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988076" y="2708374"/>
            <a:ext cx="44387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X:30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3317974"/>
            <a:ext cx="2743200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7492" y="3444925"/>
            <a:ext cx="26426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07492" y="3749725"/>
            <a:ext cx="26426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01901" y="3317974"/>
            <a:ext cx="2743349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352191" y="3444925"/>
            <a:ext cx="26427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3352191" y="3749725"/>
            <a:ext cx="26427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46750" y="3317974"/>
            <a:ext cx="2743200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197042" y="3444925"/>
            <a:ext cx="26426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197042" y="3749725"/>
            <a:ext cx="26426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91451" y="3317974"/>
            <a:ext cx="2743349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041742" y="3444925"/>
            <a:ext cx="26427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十二点半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041742" y="3749725"/>
            <a:ext cx="26427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12:30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184600"/>
            <a:ext cx="11277600" cy="520601"/>
          </a:xfrm>
          <a:prstGeom prst="roundRect">
            <a:avLst>
              <a:gd name="adj" fmla="val 14637"/>
            </a:avLst>
          </a:prstGeom>
          <a:solidFill>
            <a:srgbClr val="3A7D8C">
              <a:alpha val="10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8650" y="4302026"/>
            <a:ext cx="5662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85664" y="4292501"/>
            <a:ext cx="37205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X点半 = X点三十分 — both correct!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85664" y="4473476"/>
            <a:ext cx="37205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is shorter and more common in everyday speech. 三十分 is more formal / written.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806702"/>
            <a:ext cx="11277600" cy="520601"/>
          </a:xfrm>
          <a:prstGeom prst="roundRect">
            <a:avLst>
              <a:gd name="adj" fmla="val 14637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28650" y="4924127"/>
            <a:ext cx="6952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!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98314" y="4914602"/>
            <a:ext cx="280535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 = 两点半 NOT 二点半!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98314" y="5095577"/>
            <a:ext cx="280535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Same rule as o'clock: before 点, use 两 (liǎng) instead of 二 (èr)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35986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Cumulative Chart + CFU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584150"/>
            <a:ext cx="6559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52326"/>
            <a:ext cx="6559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Comparison · 综合对比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091952"/>
            <a:ext cx="6559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pattern? 点 · 分 · 半 — look at the clock and decide!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33400" y="1593503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007989" y="1603177"/>
            <a:ext cx="2347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071390" y="1615827"/>
            <a:ext cx="110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175820" y="1593503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三点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33400" y="1891903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007989" y="1901577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071390" y="1914227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75820" y="1891903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七点半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33400" y="2190304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2:15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007989" y="2199977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3A7D8C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071390" y="2212628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点分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175820" y="2190304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两点十五分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33400" y="2488704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8:30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007989" y="2498378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071390" y="2511028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175820" y="2488704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八点半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33400" y="2787104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10:05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007989" y="2796778"/>
            <a:ext cx="450354" cy="168176"/>
          </a:xfrm>
          <a:prstGeom prst="roundRect">
            <a:avLst>
              <a:gd name="adj" fmla="val 7544061"/>
            </a:avLst>
          </a:prstGeom>
          <a:solidFill>
            <a:srgbClr val="D4756B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071390" y="2809429"/>
            <a:ext cx="3300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点零分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175820" y="2787104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十点零五分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33400" y="3085505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007989" y="3095179"/>
            <a:ext cx="2347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071390" y="3107829"/>
            <a:ext cx="110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175820" y="3085505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十二点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33400" y="3383905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007989" y="3393579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071390" y="3406229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175820" y="3383905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五点半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33400" y="3682305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1:45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007989" y="3691979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3A7D8C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071390" y="3704630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点分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175820" y="3682305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一点四十五分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141518" y="584150"/>
            <a:ext cx="46851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1518" y="809476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240732" y="872877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547818" y="925264"/>
            <a:ext cx="37240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 — 1 finger = 两点半, 2 fingers = 二点半.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267905" y="934789"/>
            <a:ext cx="3653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finger!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7141518" y="1260128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240732" y="1323529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547818" y="1375916"/>
            <a:ext cx="38909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Is 四点半 = 四点三十分?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434739" y="1385441"/>
            <a:ext cx="1985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Yes!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141518" y="1710779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240732" y="1774180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547818" y="1826568"/>
            <a:ext cx="38115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8:30 in Chinese on your paper.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11355345" y="1836093"/>
            <a:ext cx="2779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八点半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7141518" y="2161431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240732" y="2224832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7547818" y="2277219"/>
            <a:ext cx="35030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 is more common in speech for :30 — 半 or 三十分?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1046878" y="2286744"/>
            <a:ext cx="5864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(everyday)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7141518" y="2662833"/>
            <a:ext cx="9776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 / Agree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226921" y="2662833"/>
            <a:ext cx="11341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 / Disagree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4344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Cumulative Clock Flash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04800" y="1373832"/>
            <a:ext cx="118140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Cumulative Clock Flash — 12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04800" y="1542008"/>
            <a:ext cx="118140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Clock Flash · 综合钟表闪卡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04800" y="1840409"/>
            <a:ext cx="118140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Twenty clock faces — rapid choral response. Mix of 点, 分, and today's 半!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304800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9003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65956" y="2236780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431354" y="217378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811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633960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51919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762077" y="2279760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760515" y="235148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675971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963120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84835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96000" y="2341959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89675" y="217378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05132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292280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7751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420398" y="2343235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418835" y="235148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334292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四点半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9621441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050667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0746072" y="2346722"/>
            <a:ext cx="79972" cy="119467"/>
          </a:xfrm>
          <a:prstGeom prst="roundRect">
            <a:avLst>
              <a:gd name="adj" fmla="val 1588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752366" y="2290556"/>
            <a:ext cx="172913" cy="66944"/>
          </a:xfrm>
          <a:prstGeom prst="roundRect">
            <a:avLst>
              <a:gd name="adj" fmla="val 1897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663452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五点十二分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04800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190030" y="295126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428155" y="3198912"/>
            <a:ext cx="19050" cy="1269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431354" y="3198912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46811" y="3484662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33960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519190" y="295126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695116" y="3194149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760515" y="302121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2675971" y="3484662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963120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848350" y="295126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981295" y="3190663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089675" y="3198912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005132" y="3484662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292280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177510" y="297031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8420398" y="3146238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418835" y="3217962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353723" y="3503712"/>
            <a:ext cx="214287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9621441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10506670" y="295126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0639616" y="3127188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10748030" y="3021523"/>
            <a:ext cx="31156" cy="178050"/>
          </a:xfrm>
          <a:prstGeom prst="roundRect">
            <a:avLst>
              <a:gd name="adj" fmla="val 4076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9663452" y="3484662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十点零一分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304800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19003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395622" y="3959349"/>
            <a:ext cx="51258" cy="127555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431354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346811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633960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351919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3757315" y="3957489"/>
            <a:ext cx="19050" cy="1269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3760515" y="3906738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2675971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963120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584835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6086475" y="3995589"/>
            <a:ext cx="19050" cy="888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6089675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500513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十二点半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292280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17751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8298210" y="4074914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8425160" y="4078114"/>
            <a:ext cx="177701" cy="12650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733429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九点十五分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9621441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050667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0746072" y="4079677"/>
            <a:ext cx="79972" cy="119467"/>
          </a:xfrm>
          <a:prstGeom prst="roundRect">
            <a:avLst>
              <a:gd name="adj" fmla="val 1588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10747995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966345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304800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119003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1437680" y="4922341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1431354" y="493186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Text 87"/>
          <p:cNvSpPr/>
          <p:nvPr/>
        </p:nvSpPr>
        <p:spPr>
          <a:xfrm>
            <a:off x="346811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三点半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633960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351919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90"/>
          <p:cNvSpPr/>
          <p:nvPr/>
        </p:nvSpPr>
        <p:spPr>
          <a:xfrm>
            <a:off x="3695116" y="4927104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3760515" y="493186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Text 92"/>
          <p:cNvSpPr/>
          <p:nvPr/>
        </p:nvSpPr>
        <p:spPr>
          <a:xfrm>
            <a:off x="2675971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4963120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Text 94"/>
          <p:cNvSpPr/>
          <p:nvPr/>
        </p:nvSpPr>
        <p:spPr>
          <a:xfrm>
            <a:off x="584835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5969050" y="4922341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6089675" y="475416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Text 97"/>
          <p:cNvSpPr/>
          <p:nvPr/>
        </p:nvSpPr>
        <p:spPr>
          <a:xfrm>
            <a:off x="5005132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</a:t>
            </a:r>
            <a:endParaRPr lang="en-US" sz="700" dirty="0"/>
          </a:p>
        </p:txBody>
      </p:sp>
      <p:sp>
        <p:nvSpPr>
          <p:cNvPr id="100" name="Text 98"/>
          <p:cNvSpPr/>
          <p:nvPr/>
        </p:nvSpPr>
        <p:spPr>
          <a:xfrm>
            <a:off x="7292280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817751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Text 100"/>
          <p:cNvSpPr/>
          <p:nvPr/>
        </p:nvSpPr>
        <p:spPr>
          <a:xfrm>
            <a:off x="8298210" y="4922341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Text 101"/>
          <p:cNvSpPr/>
          <p:nvPr/>
        </p:nvSpPr>
        <p:spPr>
          <a:xfrm>
            <a:off x="8418835" y="493186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7334292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九点半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9621441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Text 104"/>
          <p:cNvSpPr/>
          <p:nvPr/>
        </p:nvSpPr>
        <p:spPr>
          <a:xfrm>
            <a:off x="1050667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10751855" y="4889809"/>
            <a:ext cx="127555" cy="51258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Text 106"/>
          <p:cNvSpPr/>
          <p:nvPr/>
        </p:nvSpPr>
        <p:spPr>
          <a:xfrm>
            <a:off x="10576620" y="4925541"/>
            <a:ext cx="177701" cy="12650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Text 107"/>
          <p:cNvSpPr/>
          <p:nvPr/>
        </p:nvSpPr>
        <p:spPr>
          <a:xfrm>
            <a:off x="9663452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两点四十五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304800" y="5481042"/>
            <a:ext cx="1963489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Text 109"/>
          <p:cNvSpPr/>
          <p:nvPr/>
        </p:nvSpPr>
        <p:spPr>
          <a:xfrm>
            <a:off x="406301" y="5506343"/>
            <a:ext cx="17956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response — everyone speaks every time</a:t>
            </a:r>
            <a:endParaRPr lang="en-US" sz="600" dirty="0"/>
          </a:p>
        </p:txBody>
      </p:sp>
      <p:sp>
        <p:nvSpPr>
          <p:cNvPr id="112" name="Text 110"/>
          <p:cNvSpPr/>
          <p:nvPr/>
        </p:nvSpPr>
        <p:spPr>
          <a:xfrm>
            <a:off x="2395240" y="5481042"/>
            <a:ext cx="1930450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2496741" y="5506343"/>
            <a:ext cx="17619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Start slow (5s per clock), then speed up to 2s!</a:t>
            </a:r>
            <a:endParaRPr lang="en-US" sz="600" dirty="0"/>
          </a:p>
        </p:txBody>
      </p:sp>
      <p:sp>
        <p:nvSpPr>
          <p:cNvPr id="114" name="Text 112"/>
          <p:cNvSpPr/>
          <p:nvPr/>
        </p:nvSpPr>
        <p:spPr>
          <a:xfrm>
            <a:off x="4452640" y="5481042"/>
            <a:ext cx="1013520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Text 113"/>
          <p:cNvSpPr/>
          <p:nvPr/>
        </p:nvSpPr>
        <p:spPr>
          <a:xfrm>
            <a:off x="4554141" y="5506343"/>
            <a:ext cx="8267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on next slide</a:t>
            </a:r>
            <a:endParaRPr lang="en-US" sz="600" dirty="0"/>
          </a:p>
        </p:txBody>
      </p:sp>
      <p:sp>
        <p:nvSpPr>
          <p:cNvPr id="116" name="Shape 11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6893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· Bingo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609600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Cumulative Bingo — 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77776"/>
            <a:ext cx="1150315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Bingo · 宾果游戏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117402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your 3x3 card with 8 different times. The centre is FREE!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06277"/>
            <a:ext cx="5486400" cy="2380804"/>
          </a:xfrm>
          <a:prstGeom prst="roundRect">
            <a:avLst>
              <a:gd name="adj" fmla="val 4267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8650" y="1577727"/>
            <a:ext cx="1663601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17907" y="1791891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68451" y="1577727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986660" y="1791891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08400" y="1577727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26610" y="1791891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8650" y="2282428"/>
            <a:ext cx="1663601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04317" y="2496592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两点十五分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368451" y="2282428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76945" y="2515642"/>
            <a:ext cx="4467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 FREE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108400" y="2282428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26610" y="2496592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8650" y="2987129"/>
            <a:ext cx="1663601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04317" y="3201293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九点零五分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368451" y="2987129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986660" y="3201293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08400" y="2987129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584067" y="3201293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一点四十五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48400" y="1406277"/>
            <a:ext cx="55961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— Pick any 8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248400" y="1580852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349901" y="1631603"/>
            <a:ext cx="2072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703320" y="1650653"/>
            <a:ext cx="16455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9016901" y="1580852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118402" y="1631603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1474946" y="1650653"/>
            <a:ext cx="1615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248400" y="1875979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349901" y="1926729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671322" y="1945779"/>
            <a:ext cx="19719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9016901" y="1875979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118402" y="1926729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两点十五分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485959" y="1945779"/>
            <a:ext cx="15028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2:15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248400" y="2171105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349901" y="2221855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702873" y="2240905"/>
            <a:ext cx="1650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9016901" y="2171105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118402" y="2221855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九点零五分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1470779" y="2240905"/>
            <a:ext cx="16577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9:05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248400" y="2466231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349901" y="2516981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702725" y="2536031"/>
            <a:ext cx="16516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8:30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9016901" y="2466231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118402" y="2516981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一点四十五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1485811" y="2536031"/>
            <a:ext cx="15043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1:45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6248400" y="2761357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349901" y="2812107"/>
            <a:ext cx="4142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8686205" y="2831157"/>
            <a:ext cx="18201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9016901" y="2761357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9118402" y="2812107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四点二十分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11471077" y="2831157"/>
            <a:ext cx="165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4:20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6248400" y="3056483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349901" y="3107234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8702427" y="3126284"/>
            <a:ext cx="165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9016901" y="3056483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9118402" y="3107234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十点零一分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455003" y="3126284"/>
            <a:ext cx="18186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10:01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6248400" y="3427809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6294537" y="3453110"/>
            <a:ext cx="3521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6426101" y="3427809"/>
            <a:ext cx="1540210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a 3x3 grid. Centre = 半 FREE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248400" y="356994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6287542" y="3595241"/>
            <a:ext cx="49488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6426101" y="3569940"/>
            <a:ext cx="2274945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Pick 8 times from the word bank, arrange randomly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248400" y="3712071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6287393" y="3737372"/>
            <a:ext cx="497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6426101" y="3712071"/>
            <a:ext cx="2186595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times in Chinese — cross them off!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248400" y="3854202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6287095" y="3879503"/>
            <a:ext cx="5039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600" dirty="0"/>
          </a:p>
        </p:txBody>
      </p:sp>
      <p:sp>
        <p:nvSpPr>
          <p:cNvPr id="77" name="Text 75"/>
          <p:cNvSpPr/>
          <p:nvPr/>
        </p:nvSpPr>
        <p:spPr>
          <a:xfrm>
            <a:off x="6426101" y="3854202"/>
            <a:ext cx="2439957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Shout BINGO! when you get a row, column, or diagonal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9521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Writing Relay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948510" y="2121396"/>
            <a:ext cx="2294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Writing Relay — 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786229" y="2289572"/>
            <a:ext cx="261954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Writing Relay · 写字接力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34110" y="2629198"/>
            <a:ext cx="45237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Four teams. Teacher says a time. First runner writes it in Chinese on the board!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81686" y="2892623"/>
            <a:ext cx="489793" cy="530126"/>
          </a:xfrm>
          <a:prstGeom prst="roundRect">
            <a:avLst>
              <a:gd name="adj" fmla="val 155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06278" y="2981474"/>
            <a:ext cx="2406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6278" y="3229124"/>
            <a:ext cx="24061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5272007" y="30576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71815" y="2892623"/>
            <a:ext cx="429816" cy="530126"/>
          </a:xfrm>
          <a:prstGeom prst="roundRect">
            <a:avLst>
              <a:gd name="adj" fmla="val 1772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97006" y="2981474"/>
            <a:ext cx="1794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97006" y="3229124"/>
            <a:ext cx="17943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Run!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6002158" y="30576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01966" y="2892623"/>
            <a:ext cx="486221" cy="530126"/>
          </a:xfrm>
          <a:prstGeom prst="roundRect">
            <a:avLst>
              <a:gd name="adj" fmla="val 1567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26593" y="2981474"/>
            <a:ext cx="23696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26593" y="3229124"/>
            <a:ext cx="2369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Write!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6788715" y="30576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88522" y="2892623"/>
            <a:ext cx="521791" cy="530126"/>
          </a:xfrm>
          <a:prstGeom prst="roundRect">
            <a:avLst>
              <a:gd name="adj" fmla="val 1460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12794" y="2981474"/>
            <a:ext cx="27324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12794" y="3229124"/>
            <a:ext cx="2732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Check!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4580334" y="3549700"/>
            <a:ext cx="959644" cy="345877"/>
          </a:xfrm>
          <a:prstGeom prst="roundRect">
            <a:avLst>
              <a:gd name="adj" fmla="val 2203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648462" y="3651200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5616178" y="3549700"/>
            <a:ext cx="959644" cy="345877"/>
          </a:xfrm>
          <a:prstGeom prst="roundRect">
            <a:avLst>
              <a:gd name="adj" fmla="val 2203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684306" y="3651200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6652022" y="3549700"/>
            <a:ext cx="959644" cy="345877"/>
          </a:xfrm>
          <a:prstGeom prst="roundRect">
            <a:avLst>
              <a:gd name="adj" fmla="val 2203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739580" y="3670250"/>
            <a:ext cx="78452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TRAP!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580334" y="3971776"/>
            <a:ext cx="959644" cy="307777"/>
          </a:xfrm>
          <a:prstGeom prst="roundRect">
            <a:avLst>
              <a:gd name="adj" fmla="val 247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648462" y="4073277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5616178" y="3971776"/>
            <a:ext cx="959644" cy="307777"/>
          </a:xfrm>
          <a:prstGeom prst="roundRect">
            <a:avLst>
              <a:gd name="adj" fmla="val 247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684306" y="4073277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652022" y="3971776"/>
            <a:ext cx="959644" cy="307777"/>
          </a:xfrm>
          <a:prstGeom prst="roundRect">
            <a:avLst>
              <a:gd name="adj" fmla="val 247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720149" y="4073277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5307806" y="4381054"/>
            <a:ext cx="1576239" cy="307777"/>
          </a:xfrm>
          <a:prstGeom prst="roundRect">
            <a:avLst>
              <a:gd name="adj" fmla="val 24758"/>
            </a:avLst>
          </a:prstGeom>
          <a:solidFill>
            <a:srgbClr val="3A7D8C">
              <a:alpha val="10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518688" y="4463504"/>
            <a:ext cx="11544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on next slide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578757" y="4765030"/>
            <a:ext cx="13018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correct answer = 1 point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028456" y="4765030"/>
            <a:ext cx="17457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each round: choral repeat 3 times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18140" y="4765030"/>
            <a:ext cx="16988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Rotate runners — everyone runs once!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724323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917948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435423"/>
            <a:ext cx="10985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265613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0702" y="2597348"/>
            <a:ext cx="21328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half-past times using 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11101" y="2837111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0702" y="2778323"/>
            <a:ext cx="33662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tell the difference between X点半 and X点三十分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1101" y="301808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0702" y="2959298"/>
            <a:ext cx="36745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see a clock and pick the right pattern — 点, 分, or 半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1101" y="3292673"/>
            <a:ext cx="10769798" cy="828526"/>
          </a:xfrm>
          <a:prstGeom prst="roundRect">
            <a:avLst>
              <a:gd name="adj" fmla="val 122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88802" y="3419624"/>
            <a:ext cx="106226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88802" y="3632299"/>
            <a:ext cx="1062268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draw a clock showing an easy time (one you feel confident with) and a clock showing a hard time (one you still find tricky). Write the Chinese next to each.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1101" y="4248150"/>
            <a:ext cx="10769798" cy="793552"/>
          </a:xfrm>
          <a:prstGeom prst="roundRect">
            <a:avLst>
              <a:gd name="adj" fmla="val 12803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58751" y="4394150"/>
            <a:ext cx="18835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58751" y="4517975"/>
            <a:ext cx="18835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2:30 in Chinese.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58751" y="4771876"/>
            <a:ext cx="18835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Double trap: don't forget 两 (not 二) + 半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1101" y="5143202"/>
            <a:ext cx="9653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Achieved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860649" y="5143202"/>
            <a:ext cx="12531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Getting there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292376" y="5143202"/>
            <a:ext cx="828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Fist = Need help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2026-06-28T09:03:36Z</dcterms:created>
  <dcterms:modified xsi:type="dcterms:W3CDTF">2026-06-28T09:03:36Z</dcterms:modified>
</cp:coreProperties>
</file>