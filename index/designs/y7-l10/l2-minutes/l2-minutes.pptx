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81049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40914" y="3067645"/>
            <a:ext cx="31100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40914" y="3350121"/>
            <a:ext cx="3110023" cy="894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040"/>
              </a:lnSpc>
              <a:buNone/>
            </a:pPr>
            <a:r>
              <a:rPr lang="en-US" sz="6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几分？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40914" y="4294882"/>
            <a:ext cx="31100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 · 分 · X点Y分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40914" y="4885432"/>
            <a:ext cx="31100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10463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O'clock Times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711101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930176"/>
            <a:ext cx="1119225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Review: O'clock Times · 复习整点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600" y="13714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Finger voting + choral response — show you remember!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1730127"/>
            <a:ext cx="3572917" cy="926902"/>
          </a:xfrm>
          <a:prstGeom prst="roundRect">
            <a:avLst>
              <a:gd name="adj" fmla="val 10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3360" y="1907828"/>
            <a:ext cx="33853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3360" y="2260253"/>
            <a:ext cx="3385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09467" y="1730127"/>
            <a:ext cx="3572917" cy="926902"/>
          </a:xfrm>
          <a:prstGeom prst="roundRect">
            <a:avLst>
              <a:gd name="adj" fmla="val 1096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422658" y="1926878"/>
            <a:ext cx="334653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22658" y="2279303"/>
            <a:ext cx="33465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2:00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09334" y="1730127"/>
            <a:ext cx="3573066" cy="926902"/>
          </a:xfrm>
          <a:prstGeom prst="roundRect">
            <a:avLst>
              <a:gd name="adj" fmla="val 10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03093" y="1907828"/>
            <a:ext cx="338554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103093" y="2260253"/>
            <a:ext cx="33855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9600" y="2783979"/>
            <a:ext cx="3572917" cy="888802"/>
          </a:xfrm>
          <a:prstGeom prst="roundRect">
            <a:avLst>
              <a:gd name="adj" fmla="val 114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3360" y="2961680"/>
            <a:ext cx="33853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03360" y="3314105"/>
            <a:ext cx="3385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09467" y="2783979"/>
            <a:ext cx="3572917" cy="888802"/>
          </a:xfrm>
          <a:prstGeom prst="roundRect">
            <a:avLst>
              <a:gd name="adj" fmla="val 114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403227" y="2961680"/>
            <a:ext cx="33853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403227" y="3314105"/>
            <a:ext cx="3385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09334" y="2783979"/>
            <a:ext cx="3573066" cy="888802"/>
          </a:xfrm>
          <a:prstGeom prst="roundRect">
            <a:avLst>
              <a:gd name="adj" fmla="val 114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03093" y="2961680"/>
            <a:ext cx="338554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103093" y="3314105"/>
            <a:ext cx="33855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058841" y="3825180"/>
            <a:ext cx="1293019" cy="352425"/>
          </a:xfrm>
          <a:prstGeom prst="roundRect">
            <a:avLst>
              <a:gd name="adj" fmla="val 3600000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246066" y="3910905"/>
            <a:ext cx="9369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 is correct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04259" y="3825180"/>
            <a:ext cx="1713458" cy="352425"/>
          </a:xfrm>
          <a:prstGeom prst="roundRect">
            <a:avLst>
              <a:gd name="adj" fmla="val 3600000"/>
            </a:avLst>
          </a:prstGeom>
          <a:solidFill>
            <a:srgbClr val="D4756B">
              <a:alpha val="10000"/>
            </a:srgbClr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91485" y="3910905"/>
            <a:ext cx="136578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二点 → must be 两点!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70118" y="3825180"/>
            <a:ext cx="763042" cy="352425"/>
          </a:xfrm>
          <a:prstGeom prst="roundRect">
            <a:avLst>
              <a:gd name="adj" fmla="val 3600000"/>
            </a:avLst>
          </a:prstGeom>
          <a:solidFill>
            <a:srgbClr val="3A7D8C">
              <a:alpha val="10000"/>
            </a:srgbClr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557343" y="3910905"/>
            <a:ext cx="3963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09600" y="4330005"/>
            <a:ext cx="6975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598265" y="4330005"/>
            <a:ext cx="7271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615952" y="4330005"/>
            <a:ext cx="15818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whole class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4535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6200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81075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663601"/>
            <a:ext cx="10769798" cy="714375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663601"/>
            <a:ext cx="0" cy="714375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351" y="1816001"/>
            <a:ext cx="10531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52351" y="1977926"/>
            <a:ext cx="105319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tell time with hours AND minutes in Chinese.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631877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6809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647652"/>
            <a:ext cx="31232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minutes after the hour using 分.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15901" y="2898428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用「分」说分钟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161854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3210967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3177629"/>
            <a:ext cx="45820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read a clock and say the time in Chinese using X点Y分.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15901" y="3428405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看钟表用 X点Y分 说时间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1101" y="3691830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74094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707606"/>
            <a:ext cx="30814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零 correctly for times like 3:05.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15901" y="3958382"/>
            <a:ext cx="10674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正确使用「零」说 3:05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214878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367855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3025080"/>
            <a:ext cx="5232499" cy="110490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3272730"/>
            <a:ext cx="6217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898452" y="3282255"/>
            <a:ext cx="131174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898452" y="3529905"/>
            <a:ext cx="13117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minute(s)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98452" y="3729930"/>
            <a:ext cx="1311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strokes · 部首：刀 (dāo)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48400" y="3025080"/>
            <a:ext cx="5232499" cy="1104900"/>
          </a:xfrm>
          <a:prstGeom prst="roundRect">
            <a:avLst>
              <a:gd name="adj" fmla="val 11494"/>
            </a:avLst>
          </a:prstGeom>
          <a:solidFill>
            <a:srgbClr val="FFFFFF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72250" y="3272730"/>
            <a:ext cx="6217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零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7435751" y="3282255"/>
            <a:ext cx="12821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líng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35751" y="3529905"/>
            <a:ext cx="12821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zero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35751" y="3729930"/>
            <a:ext cx="12821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 strokes · 部首：雨 (yǔ)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11101" y="4358580"/>
            <a:ext cx="10985194" cy="503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 (fēn) = minute. Just like o'clock uses 点, minutes use 分 after the number. 零 (líng) = zero. Used as a placeholder when minutes are 1–9, like saying "oh-five" in English for 3:05.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806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811685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2005310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关键句型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238303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 + 点 + Number + 分 = Hour:Minute in Chinese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36294" y="2805261"/>
            <a:ext cx="484436" cy="476250"/>
          </a:xfrm>
          <a:prstGeom prst="roundRect">
            <a:avLst>
              <a:gd name="adj" fmla="val 2133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7744" y="2900511"/>
            <a:ext cx="1443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96929" y="2900511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03205" y="2805261"/>
            <a:ext cx="549176" cy="476250"/>
          </a:xfrm>
          <a:prstGeom prst="roundRect">
            <a:avLst>
              <a:gd name="adj" fmla="val 2133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574655" y="2900511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28581" y="2900511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34857" y="2805261"/>
            <a:ext cx="489049" cy="476250"/>
          </a:xfrm>
          <a:prstGeom prst="roundRect">
            <a:avLst>
              <a:gd name="adj" fmla="val 2133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06307" y="2900511"/>
            <a:ext cx="1490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00106" y="2900511"/>
            <a:ext cx="1326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06382" y="2805261"/>
            <a:ext cx="549176" cy="476250"/>
          </a:xfrm>
          <a:prstGeom prst="roundRect">
            <a:avLst>
              <a:gd name="adj" fmla="val 21333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177832" y="2900511"/>
            <a:ext cx="2104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7950" y="3567113"/>
            <a:ext cx="2717899" cy="863501"/>
          </a:xfrm>
          <a:prstGeom prst="roundRect">
            <a:avLst>
              <a:gd name="adj" fmla="val 11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58495" y="3694063"/>
            <a:ext cx="26168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三点十分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8495" y="3979813"/>
            <a:ext cx="26168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8495" y="4141738"/>
            <a:ext cx="26168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diǎn shí fēn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327350" y="3567113"/>
            <a:ext cx="2717899" cy="863501"/>
          </a:xfrm>
          <a:prstGeom prst="roundRect">
            <a:avLst>
              <a:gd name="adj" fmla="val 11766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397326" y="3713113"/>
            <a:ext cx="25779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五点零五分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397326" y="3998863"/>
            <a:ext cx="25779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97326" y="4160788"/>
            <a:ext cx="25779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diǎn líng wǔ fēn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146750" y="3567113"/>
            <a:ext cx="2717899" cy="863501"/>
          </a:xfrm>
          <a:prstGeom prst="roundRect">
            <a:avLst>
              <a:gd name="adj" fmla="val 117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97295" y="3694063"/>
            <a:ext cx="261680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七点二十分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197295" y="3979813"/>
            <a:ext cx="26168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97295" y="4141738"/>
            <a:ext cx="26168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qī diǎn èrshí fēn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966150" y="3567113"/>
            <a:ext cx="2717899" cy="863501"/>
          </a:xfrm>
          <a:prstGeom prst="roundRect">
            <a:avLst>
              <a:gd name="adj" fmla="val 11766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036126" y="3713113"/>
            <a:ext cx="25779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十二点零一分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036126" y="3998863"/>
            <a:ext cx="25779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036126" y="4160788"/>
            <a:ext cx="25779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shí'èr diǎn líng yī fēn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7950" y="4583013"/>
            <a:ext cx="11176099" cy="615702"/>
          </a:xfrm>
          <a:prstGeom prst="roundRect">
            <a:avLst>
              <a:gd name="adj" fmla="val 1237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04701" y="4703564"/>
            <a:ext cx="1099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零 RULE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04701" y="4897189"/>
            <a:ext cx="23851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minutes = 1–9 → insert 零 after 点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70039" y="4911477"/>
            <a:ext cx="12650" cy="152400"/>
          </a:xfrm>
          <a:prstGeom prst="rect">
            <a:avLst/>
          </a:prstGeom>
          <a:solidFill>
            <a:srgbClr val="D4756B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309640" y="4897189"/>
            <a:ext cx="21756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 minutes = 10+ → NO 零 needed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10403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Radical Spotlight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335435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Textbook p85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529060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Spotlight · 部首聚焦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148185"/>
            <a:ext cx="5232499" cy="1644253"/>
          </a:xfrm>
          <a:prstGeom prst="roundRect">
            <a:avLst>
              <a:gd name="adj" fmla="val 7724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40868" y="2421136"/>
            <a:ext cx="4572964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土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1040868" y="3132237"/>
            <a:ext cx="4572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tǔ · "earth" radical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0868" y="3357563"/>
            <a:ext cx="45729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Found in: 地, 场, 坐, 在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248400" y="2148185"/>
            <a:ext cx="5232499" cy="1644253"/>
          </a:xfrm>
          <a:prstGeom prst="roundRect">
            <a:avLst>
              <a:gd name="adj" fmla="val 7724"/>
            </a:avLst>
          </a:prstGeom>
          <a:solidFill>
            <a:srgbClr val="FFFFFF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78167" y="2421136"/>
            <a:ext cx="4572964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寸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578167" y="3132237"/>
            <a:ext cx="45729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cùn · "inch" radical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78167" y="3357563"/>
            <a:ext cx="45729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Found in: 对, 时, 封, 寺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4021038"/>
            <a:ext cx="10769798" cy="1383953"/>
          </a:xfrm>
          <a:prstGeom prst="roundRect">
            <a:avLst>
              <a:gd name="adj" fmla="val 73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15901" y="4224189"/>
            <a:ext cx="50262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Characters with 土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015901" y="4449514"/>
            <a:ext cx="50262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 — dì, ground / earth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15901" y="4700290"/>
            <a:ext cx="50262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 — zuò, to sit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5901" y="4951065"/>
            <a:ext cx="50262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— zài, at / in / 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8400" y="4224189"/>
            <a:ext cx="50262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Characters with 寸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248400" y="4449514"/>
            <a:ext cx="50262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 — shí, time (as in 时间)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48400" y="4700290"/>
            <a:ext cx="50262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 — duì, correct / towards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48400" y="4951065"/>
            <a:ext cx="50262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封 — fēng, to seal (envelope)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1101" y="553194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Textbook p85 — Radicals in this lesson: 土 and 寸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13923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15148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10–18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345109"/>
            <a:ext cx="1098519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11101" y="1849934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85754" y="1976884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0552" y="2072134"/>
            <a:ext cx="85156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4:07 — Do we need 零? 1 finger = Yes, 2 fingers = No.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66024" y="2091184"/>
            <a:ext cx="1537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— YES, 四点零七分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1101" y="2595860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5754" y="2722811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20552" y="2818061"/>
            <a:ext cx="84874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8:15 — Do we need 零? 1 finger = Yes, 2 fingers = No.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737789" y="2837111"/>
            <a:ext cx="156541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— NO, 八点十五分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1101" y="3341787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5754" y="3468737"/>
            <a:ext cx="31089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320552" y="3563987"/>
            <a:ext cx="92997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paper: Write 3:05 in Chinese characters. Hold it up!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50095" y="3583037"/>
            <a:ext cx="7531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三点零五分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7191" y="4148137"/>
            <a:ext cx="1370341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57665" y="4148137"/>
            <a:ext cx="2599200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24950" y="4148137"/>
            <a:ext cx="2599200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175181" y="4148137"/>
            <a:ext cx="4338730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Why?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20626" y="4430613"/>
            <a:ext cx="1370341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083147" y="4430613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三点五分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50432" y="4430613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三点零五分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217718" y="4430613"/>
            <a:ext cx="433873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 1–9 → need 零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20626" y="4722614"/>
            <a:ext cx="1370341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083147" y="4722614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七点零二十分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50432" y="4722614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七点二十分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17718" y="4722614"/>
            <a:ext cx="433873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 10+ → NO 零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0626" y="5014615"/>
            <a:ext cx="1370341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083147" y="5014615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十二点一分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50432" y="5014615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十二点零一分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17718" y="5014615"/>
            <a:ext cx="433873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 1–9 → need 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20626" y="5306616"/>
            <a:ext cx="1370341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6:15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83147" y="5306616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六点零十五分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50432" y="5306616"/>
            <a:ext cx="259920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六点十五分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217718" y="5306616"/>
            <a:ext cx="4338730" cy="26342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Minutes 10+ → NO 零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11101" y="5716042"/>
            <a:ext cx="11169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110978" y="5716042"/>
            <a:ext cx="12958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115310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Sprint 1 · Lightning Listen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694259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18–23 min · Sprint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887885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Sprint 1: Lightning Listen · 闪电听力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2265611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8 times in Chinese. You write the DIGITS. Speed + accuracy!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605236"/>
            <a:ext cx="11176099" cy="2558504"/>
          </a:xfrm>
          <a:prstGeom prst="roundRect">
            <a:avLst>
              <a:gd name="adj" fmla="val 4964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1800" y="2497336"/>
            <a:ext cx="1098649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09501" y="2535436"/>
            <a:ext cx="7581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882551" y="292893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60983" y="2959001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87202" y="2928938"/>
            <a:ext cx="39622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 time in Chinese (e.g. "三点十分"). No repeating!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551" y="320828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51756" y="3238351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87202" y="3208288"/>
            <a:ext cx="28774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digits only on your paper (e.g. 3:10).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551" y="348763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1607" y="3517702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87202" y="3487638"/>
            <a:ext cx="32310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all 8, swap papers with a partner for marking.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551" y="376698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51161" y="3797052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87202" y="3766989"/>
            <a:ext cx="33052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reveals answers. Count your score out of 8!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2551" y="4147840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12503" y="4224040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三点十分 → 3:10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08325" y="4147840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638278" y="4224040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五点零五分 → 5:05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34100" y="4147840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64052" y="4224040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七点二十分 → 7:20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9875" y="4147840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889827" y="4224040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十二点零一分 → 12:01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2551" y="4557415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012503" y="4633615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九点三十分 → 9:30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08325" y="4557415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638278" y="4633615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两点四十五分 → 2:45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4100" y="4557415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64052" y="4633615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六点零八分 → 6:08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759875" y="4557415"/>
            <a:ext cx="2549575" cy="333375"/>
          </a:xfrm>
          <a:prstGeom prst="roundRect">
            <a:avLst>
              <a:gd name="adj" fmla="val 380571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889827" y="4633615"/>
            <a:ext cx="2289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四点十五分 → 4:15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1241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Sprint 2 · Find Your Partner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2114848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23–28 min · Sprint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2308473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Sprint 2: Find Your Partner · 找伙伴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68619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the class gets clock face cards, half gets Chinese text cards. Find your match!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3016448"/>
            <a:ext cx="934641" cy="225326"/>
          </a:xfrm>
          <a:prstGeom prst="roundRect">
            <a:avLst>
              <a:gd name="adj" fmla="val 5630642"/>
            </a:avLst>
          </a:prstGeom>
          <a:solidFill>
            <a:srgbClr val="3A7D8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3067199"/>
            <a:ext cx="6424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Clock Faces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57200" y="3343275"/>
            <a:ext cx="2736800" cy="453926"/>
          </a:xfrm>
          <a:prstGeom prst="roundRect">
            <a:avLst>
              <a:gd name="adj" fmla="val 16787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8752" y="3489275"/>
            <a:ext cx="24936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70200" y="3343275"/>
            <a:ext cx="2736949" cy="453926"/>
          </a:xfrm>
          <a:prstGeom prst="roundRect">
            <a:avLst>
              <a:gd name="adj" fmla="val 16787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91751" y="3489275"/>
            <a:ext cx="24938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873401"/>
            <a:ext cx="2736800" cy="453926"/>
          </a:xfrm>
          <a:prstGeom prst="roundRect">
            <a:avLst>
              <a:gd name="adj" fmla="val 16787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78752" y="4019401"/>
            <a:ext cx="24936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7:20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70200" y="3873401"/>
            <a:ext cx="2736949" cy="453926"/>
          </a:xfrm>
          <a:prstGeom prst="roundRect">
            <a:avLst>
              <a:gd name="adj" fmla="val 16787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91751" y="4019401"/>
            <a:ext cx="24938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84850" y="3016448"/>
            <a:ext cx="979289" cy="225326"/>
          </a:xfrm>
          <a:prstGeom prst="roundRect">
            <a:avLst>
              <a:gd name="adj" fmla="val 5630642"/>
            </a:avLst>
          </a:prstGeom>
          <a:solidFill>
            <a:srgbClr val="C8943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37250" y="3067199"/>
            <a:ext cx="6879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Text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184850" y="3343275"/>
            <a:ext cx="2736800" cy="539651"/>
          </a:xfrm>
          <a:prstGeom prst="roundRect">
            <a:avLst>
              <a:gd name="adj" fmla="val 14120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06403" y="3489275"/>
            <a:ext cx="24936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三点十分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997851" y="3343275"/>
            <a:ext cx="2736949" cy="539651"/>
          </a:xfrm>
          <a:prstGeom prst="roundRect">
            <a:avLst>
              <a:gd name="adj" fmla="val 14120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119402" y="3489275"/>
            <a:ext cx="249384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五点零五分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84850" y="3959126"/>
            <a:ext cx="2736800" cy="539651"/>
          </a:xfrm>
          <a:prstGeom prst="roundRect">
            <a:avLst>
              <a:gd name="adj" fmla="val 14120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06403" y="4105126"/>
            <a:ext cx="24936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七点二十分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997851" y="3959126"/>
            <a:ext cx="2736949" cy="539651"/>
          </a:xfrm>
          <a:prstGeom prst="roundRect">
            <a:avLst>
              <a:gd name="adj" fmla="val 14120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119402" y="4105126"/>
            <a:ext cx="249384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十二点零一分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4651177"/>
            <a:ext cx="1662857" cy="244376"/>
          </a:xfrm>
          <a:prstGeom prst="roundRect">
            <a:avLst>
              <a:gd name="adj" fmla="val 51917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4150" y="4701927"/>
            <a:ext cx="1437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student gets ONE card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323207" y="4651177"/>
            <a:ext cx="3152031" cy="244376"/>
          </a:xfrm>
          <a:prstGeom prst="roundRect">
            <a:avLst>
              <a:gd name="adj" fmla="val 51917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450157" y="4701927"/>
            <a:ext cx="29560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 around — find the person whose card matches yours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78388" y="4651177"/>
            <a:ext cx="1607344" cy="244376"/>
          </a:xfrm>
          <a:prstGeom prst="roundRect">
            <a:avLst>
              <a:gd name="adj" fmla="val 51917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805339" y="4701927"/>
            <a:ext cx="1380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minutes to find ALL pairs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9211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Sprint 3 · Error Hunt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499146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28–33 min · Sprint 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692771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Sprint 3: Error Hunt · 找错别字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2070497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 each one ✓ (correct) or ✗ (wrong). If wrong, write the correction!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384822"/>
            <a:ext cx="3640634" cy="1314004"/>
          </a:xfrm>
          <a:prstGeom prst="roundRect">
            <a:avLst>
              <a:gd name="adj" fmla="val 7732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0151" y="2581573"/>
            <a:ext cx="32601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3:10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0151" y="2791123"/>
            <a:ext cx="32601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三点十分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0151" y="3114973"/>
            <a:ext cx="32601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75534" y="2384822"/>
            <a:ext cx="3640782" cy="1314004"/>
          </a:xfrm>
          <a:prstGeom prst="roundRect">
            <a:avLst>
              <a:gd name="adj" fmla="val 7732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97735" y="2581573"/>
            <a:ext cx="32603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97735" y="2791123"/>
            <a:ext cx="32603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五点五分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97735" y="3114973"/>
            <a:ext cx="32603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97735" y="3327648"/>
            <a:ext cx="1412677" cy="174427"/>
          </a:xfrm>
          <a:prstGeom prst="roundRect">
            <a:avLst>
              <a:gd name="adj" fmla="val 7273702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99236" y="3352949"/>
            <a:ext cx="12338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Fix: 五点零五分 (missing 零!)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043267" y="2384822"/>
            <a:ext cx="3640634" cy="1314004"/>
          </a:xfrm>
          <a:prstGeom prst="roundRect">
            <a:avLst>
              <a:gd name="adj" fmla="val 7732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65468" y="2581573"/>
            <a:ext cx="32601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7:20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65468" y="2791123"/>
            <a:ext cx="32601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七点零二十分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65468" y="3114973"/>
            <a:ext cx="32601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65468" y="3327648"/>
            <a:ext cx="1493044" cy="174427"/>
          </a:xfrm>
          <a:prstGeom prst="roundRect">
            <a:avLst>
              <a:gd name="adj" fmla="val 7273702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366968" y="3352949"/>
            <a:ext cx="131584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Fix: 七点二十分 (no 零 for 10+)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07950" y="3825776"/>
            <a:ext cx="3640634" cy="1314004"/>
          </a:xfrm>
          <a:prstGeom prst="roundRect">
            <a:avLst>
              <a:gd name="adj" fmla="val 7732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30151" y="4022527"/>
            <a:ext cx="32601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0151" y="4232077"/>
            <a:ext cx="32601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十二点一分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0151" y="4555927"/>
            <a:ext cx="32601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0151" y="4768602"/>
            <a:ext cx="1503462" cy="174427"/>
          </a:xfrm>
          <a:prstGeom prst="roundRect">
            <a:avLst>
              <a:gd name="adj" fmla="val 7273702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31652" y="4793903"/>
            <a:ext cx="13264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Fix: 十二点零一分 (missing 零!)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275534" y="3825776"/>
            <a:ext cx="3640782" cy="1314004"/>
          </a:xfrm>
          <a:prstGeom prst="roundRect">
            <a:avLst>
              <a:gd name="adj" fmla="val 7732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497735" y="4022527"/>
            <a:ext cx="32603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9:30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97735" y="4232077"/>
            <a:ext cx="32603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九点三十分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497735" y="4555927"/>
            <a:ext cx="32603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43267" y="3825776"/>
            <a:ext cx="3640634" cy="1314004"/>
          </a:xfrm>
          <a:prstGeom prst="roundRect">
            <a:avLst>
              <a:gd name="adj" fmla="val 7732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265468" y="4022527"/>
            <a:ext cx="32601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2:45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65468" y="4232077"/>
            <a:ext cx="32601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两点四十五分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65468" y="4555927"/>
            <a:ext cx="32601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07950" y="5266730"/>
            <a:ext cx="1321594" cy="244376"/>
          </a:xfrm>
          <a:prstGeom prst="roundRect">
            <a:avLst>
              <a:gd name="adj" fmla="val 51917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01" y="5317480"/>
            <a:ext cx="10890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Spot the 零 mistakes!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032695" y="5266730"/>
            <a:ext cx="1581299" cy="244376"/>
          </a:xfrm>
          <a:prstGeom prst="roundRect">
            <a:avLst>
              <a:gd name="adj" fmla="val 51917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159645" y="5317480"/>
            <a:ext cx="1353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corrections on paper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17144" y="5266730"/>
            <a:ext cx="2510730" cy="244376"/>
          </a:xfrm>
          <a:prstGeom prst="roundRect">
            <a:avLst>
              <a:gd name="adj" fmla="val 519171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944094" y="5317480"/>
            <a:ext cx="23019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Discuss with partner before answers revealed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14023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Sprint 4 · Partner Speed Round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360884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33–38 min · Sprint 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554510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Sprint 4: Partner Speed Round · 搭档竞速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932236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says the time in Chinese. B writes the digits. How many can you do in 3 minutes?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2271861"/>
            <a:ext cx="11176099" cy="3377505"/>
          </a:xfrm>
          <a:prstGeom prst="roundRect">
            <a:avLst>
              <a:gd name="adj" fmla="val 3760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1800" y="2163961"/>
            <a:ext cx="700088" cy="200025"/>
          </a:xfrm>
          <a:prstGeom prst="roundRect">
            <a:avLst>
              <a:gd name="adj" fmla="val 634285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09501" y="2202061"/>
            <a:ext cx="3515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RULES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882551" y="2570262"/>
            <a:ext cx="4883200" cy="955477"/>
          </a:xfrm>
          <a:prstGeom prst="roundRect">
            <a:avLst>
              <a:gd name="adj" fmla="val 1063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92698" y="2747963"/>
            <a:ext cx="446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A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092698" y="2871788"/>
            <a:ext cx="446290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说中文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2698" y="3186113"/>
            <a:ext cx="44629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the time in Chinese (e.g. "三点十分")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68901" y="2871788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26101" y="2570262"/>
            <a:ext cx="4883348" cy="955477"/>
          </a:xfrm>
          <a:prstGeom prst="roundRect">
            <a:avLst>
              <a:gd name="adj" fmla="val 1063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636246" y="2747963"/>
            <a:ext cx="446305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B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636246" y="2871788"/>
            <a:ext cx="44630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写数字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36246" y="3186113"/>
            <a:ext cx="44630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digits (e.g. 3:10)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82551" y="3678138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80017" y="3798689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1:10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80017" y="3979664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一点十分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08325" y="3678138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605791" y="3798689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05791" y="3979664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五点零五分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34100" y="3678138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231566" y="3798689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8:20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1566" y="3979664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八点二十分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9875" y="3678138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857341" y="3798689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10:30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57341" y="3979664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十点三十分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2551" y="4357390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80017" y="4477941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80017" y="4658916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三点四十五分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508325" y="4357390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605791" y="4477941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6:08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05791" y="4658916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六点零八分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100" y="4357390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231566" y="4477941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231566" y="4658916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十二点零一分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759875" y="4357390"/>
            <a:ext cx="2549575" cy="603052"/>
          </a:xfrm>
          <a:prstGeom prst="roundRect">
            <a:avLst>
              <a:gd name="adj" fmla="val 12636"/>
            </a:avLst>
          </a:prstGeom>
          <a:solidFill>
            <a:srgbClr val="FFFFFF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8857341" y="4477941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857341" y="4658916"/>
            <a:ext cx="23546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82551" y="5087392"/>
            <a:ext cx="2730103" cy="314325"/>
          </a:xfrm>
          <a:prstGeom prst="roundRect">
            <a:avLst>
              <a:gd name="adj" fmla="val 4036364"/>
            </a:avLst>
          </a:prstGeom>
          <a:solidFill>
            <a:srgbClr val="D4756B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85701" y="5163592"/>
            <a:ext cx="23702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after 3 minutes! B says, A writes.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101329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Sprint 5 · Pinyin Circle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619994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38–43 min · Textbook p89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1813620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Sprint 5: Pinyin Circle · 拼音圈一圈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2191345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Choose A or B for the correct pinyin. Circle your answer!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17475" y="2489746"/>
            <a:ext cx="664753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88244" y="2489746"/>
            <a:ext cx="2301055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463230" y="2489746"/>
            <a:ext cx="3343043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Option 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759773" y="2489746"/>
            <a:ext cx="3702516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Option B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408741" y="2489746"/>
            <a:ext cx="1291099" cy="244376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7475" y="2772221"/>
            <a:ext cx="66475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88244" y="2772221"/>
            <a:ext cx="2301055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三点十分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63230" y="2772221"/>
            <a:ext cx="334304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diǎn shí fēn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59773" y="2772221"/>
            <a:ext cx="3702516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diǎn sì fēn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8741" y="2772221"/>
            <a:ext cx="1291099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7475" y="3127623"/>
            <a:ext cx="66475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88244" y="3127623"/>
            <a:ext cx="2301055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五点零五分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63230" y="3127623"/>
            <a:ext cx="334304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diǎn wǔ fēn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59773" y="3127623"/>
            <a:ext cx="3702516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wǔ diǎn líng wǔ fēn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408741" y="3127623"/>
            <a:ext cx="1291099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7475" y="3483025"/>
            <a:ext cx="66475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244" y="3483025"/>
            <a:ext cx="2301055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七点二十分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63230" y="3483025"/>
            <a:ext cx="334304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qī diǎn èrshí fēn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59773" y="3483025"/>
            <a:ext cx="3702516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qī diǎn èr fēn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408741" y="3483025"/>
            <a:ext cx="1291099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7475" y="3838426"/>
            <a:ext cx="66475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88244" y="3838426"/>
            <a:ext cx="2301055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十二点零一分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463230" y="3838426"/>
            <a:ext cx="334304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shí'èr diǎn yī fēn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59773" y="3838426"/>
            <a:ext cx="3702516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shí'èr diǎn líng yī fēn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408741" y="3838426"/>
            <a:ext cx="1291099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7475" y="4193828"/>
            <a:ext cx="66475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88244" y="4193828"/>
            <a:ext cx="2301055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63230" y="4193828"/>
            <a:ext cx="334304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jiǔ diǎn shí wǔ fēn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59773" y="4193828"/>
            <a:ext cx="3702516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jiǔ diǎn shíwǔ fēn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408741" y="4193828"/>
            <a:ext cx="1291099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7475" y="4549229"/>
            <a:ext cx="66475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188244" y="4549229"/>
            <a:ext cx="2301055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463230" y="4549229"/>
            <a:ext cx="3343043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liǎng diǎn sìshí fēn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59773" y="4549229"/>
            <a:ext cx="3702516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èr diǎn sìshí fēn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408741" y="4549229"/>
            <a:ext cx="1291099" cy="326827"/>
          </a:xfrm>
          <a:prstGeom prst="rect">
            <a:avLst/>
          </a:prstGeom>
          <a:noFill/>
          <a:ln/>
        </p:spPr>
        <p:txBody>
          <a:bodyPr wrap="square" lIns="101600" tIns="63500" rIns="101600" bIns="635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07950" y="4996607"/>
            <a:ext cx="1151037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34901" y="5034707"/>
            <a:ext cx="9150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Textbook page 89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862138" y="4996607"/>
            <a:ext cx="1588294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989088" y="5034707"/>
            <a:ext cx="1361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Circle A or B for each item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653582" y="4996607"/>
            <a:ext cx="2542282" cy="219075"/>
          </a:xfrm>
          <a:prstGeom prst="roundRect">
            <a:avLst>
              <a:gd name="adj" fmla="val 57913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3780532" y="5034707"/>
            <a:ext cx="23341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Compare with partner then whole-class check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7950" y="5266432"/>
            <a:ext cx="1139962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Textbook p89 — Pinyin Circle activity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7892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MINUTES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332458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46609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35336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28961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471886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705249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646462"/>
            <a:ext cx="25651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minutes after the hour using 分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2886224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827437"/>
            <a:ext cx="37806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read a clock and say the time in Chinese using X点Y分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3067199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3008412"/>
            <a:ext cx="2530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零 correctly for times like 3:05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3341787"/>
            <a:ext cx="10769798" cy="647551"/>
          </a:xfrm>
          <a:prstGeom prst="roundRect">
            <a:avLst>
              <a:gd name="adj" fmla="val 1569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3468737"/>
            <a:ext cx="10570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251" y="3681413"/>
            <a:ext cx="10570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sprint was hardest for you? Write the number (1–5). What is one thing you will practise more at home?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4141738"/>
            <a:ext cx="10769798" cy="644426"/>
          </a:xfrm>
          <a:prstGeom prst="roundRect">
            <a:avLst>
              <a:gd name="adj" fmla="val 15766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4287738"/>
            <a:ext cx="18772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58751" y="4411563"/>
            <a:ext cx="18772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8:07 in Chinese.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101" y="4887664"/>
            <a:ext cx="9653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Achieved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911400" y="4887664"/>
            <a:ext cx="12531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Getting there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93877" y="4887664"/>
            <a:ext cx="828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Need help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11101" y="513204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 刻 (quarter past) &amp; 半 (half past)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2026-06-28T06:36:38Z</dcterms:created>
  <dcterms:modified xsi:type="dcterms:W3CDTF">2026-06-28T06:36:38Z</dcterms:modified>
</cp:coreProperties>
</file>