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1" y="1754684"/>
            <a:ext cx="1054001" cy="1054001"/>
          </a:xfrm>
          <a:prstGeom prst="roundRect">
            <a:avLst>
              <a:gd name="adj" fmla="val 8675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40914" y="3011835"/>
            <a:ext cx="31100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40914" y="3294311"/>
            <a:ext cx="3110023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几分？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40914" y="4350841"/>
            <a:ext cx="31100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· 分 · X点Y分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40914" y="4941391"/>
            <a:ext cx="31100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0463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O'clock Times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711101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930176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Review: O'clock Times · 复习整点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37145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Finger voting + choral response — show you remember!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730127"/>
            <a:ext cx="3572917" cy="926902"/>
          </a:xfrm>
          <a:prstGeom prst="roundRect">
            <a:avLst>
              <a:gd name="adj" fmla="val 109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3360" y="1907828"/>
            <a:ext cx="33853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3360" y="2260253"/>
            <a:ext cx="3385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09467" y="1730127"/>
            <a:ext cx="3572917" cy="926902"/>
          </a:xfrm>
          <a:prstGeom prst="roundRect">
            <a:avLst>
              <a:gd name="adj" fmla="val 1096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22658" y="1926878"/>
            <a:ext cx="33465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22658" y="2279303"/>
            <a:ext cx="3346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9334" y="1730127"/>
            <a:ext cx="3573066" cy="926902"/>
          </a:xfrm>
          <a:prstGeom prst="roundRect">
            <a:avLst>
              <a:gd name="adj" fmla="val 109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03093" y="1907828"/>
            <a:ext cx="33855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03093" y="2260253"/>
            <a:ext cx="33855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9600" y="2783979"/>
            <a:ext cx="3572917" cy="888802"/>
          </a:xfrm>
          <a:prstGeom prst="roundRect">
            <a:avLst>
              <a:gd name="adj" fmla="val 114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3360" y="2961680"/>
            <a:ext cx="33853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3360" y="3314105"/>
            <a:ext cx="3385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09467" y="2783979"/>
            <a:ext cx="3572917" cy="888802"/>
          </a:xfrm>
          <a:prstGeom prst="roundRect">
            <a:avLst>
              <a:gd name="adj" fmla="val 114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03227" y="2961680"/>
            <a:ext cx="33853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03227" y="3314105"/>
            <a:ext cx="3385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9334" y="2783979"/>
            <a:ext cx="3573066" cy="888802"/>
          </a:xfrm>
          <a:prstGeom prst="roundRect">
            <a:avLst>
              <a:gd name="adj" fmla="val 114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3093" y="2961680"/>
            <a:ext cx="33855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03093" y="3314105"/>
            <a:ext cx="33855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58841" y="3825180"/>
            <a:ext cx="1293019" cy="352425"/>
          </a:xfrm>
          <a:prstGeom prst="roundRect">
            <a:avLst>
              <a:gd name="adj" fmla="val 3600000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46066" y="3910905"/>
            <a:ext cx="9369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 is correct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259" y="3825180"/>
            <a:ext cx="1713458" cy="352425"/>
          </a:xfrm>
          <a:prstGeom prst="roundRect">
            <a:avLst>
              <a:gd name="adj" fmla="val 3600000"/>
            </a:avLst>
          </a:prstGeom>
          <a:solidFill>
            <a:srgbClr val="D4756B">
              <a:alpha val="10000"/>
            </a:srgbClr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91485" y="3910905"/>
            <a:ext cx="13657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二点 → must be 两点!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70118" y="3825180"/>
            <a:ext cx="763042" cy="352425"/>
          </a:xfrm>
          <a:prstGeom prst="roundRect">
            <a:avLst>
              <a:gd name="adj" fmla="val 3600000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57343" y="3910905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9600" y="4330005"/>
            <a:ext cx="697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98265" y="4330005"/>
            <a:ext cx="727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15952" y="4330005"/>
            <a:ext cx="15818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whole class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53213"/>
            <a:ext cx="1453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6200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8107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663601"/>
            <a:ext cx="10769798" cy="714375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0151" y="1663601"/>
            <a:ext cx="0" cy="7143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351" y="1816001"/>
            <a:ext cx="10531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52351" y="1977926"/>
            <a:ext cx="105319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tell time with hours AND minutes in Chinese.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2631877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6809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647652"/>
            <a:ext cx="3123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minutes after the hour using 分.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5901" y="2898428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用「分」说分钟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3161854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3210967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3177629"/>
            <a:ext cx="4582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 clock and say the time in Chinese using X点Y分.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5901" y="3428405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看钟表用 X点Y分 说时间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1101" y="3691830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374094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3707606"/>
            <a:ext cx="3081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零 correctly for times like 3:05.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5901" y="3958382"/>
            <a:ext cx="10674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正确使用「零」说 3:05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214878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36785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3025080"/>
            <a:ext cx="5232499" cy="11049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4951" y="327273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98452" y="3282255"/>
            <a:ext cx="13117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8452" y="3529905"/>
            <a:ext cx="1311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minute(s)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98452" y="3729930"/>
            <a:ext cx="1311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 · 部首：刀 (dāo)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48400" y="3025080"/>
            <a:ext cx="5232499" cy="11049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250" y="327273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435751" y="3282255"/>
            <a:ext cx="12821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líng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35751" y="3529905"/>
            <a:ext cx="1282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zero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35751" y="3729930"/>
            <a:ext cx="12821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strokes · 部首：雨 (yǔ)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1101" y="4358580"/>
            <a:ext cx="10985194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 (fēn) = minute. Just like o'clock uses 点, minutes use 分 after the number. 零 (líng) = zero. Used as a placeholder when minutes are 1–9, like saying "oh-five" in English for 3:05.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8063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811685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005310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 · 关键句型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383036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 + 点 + Number + 分 = Hour:Minute in Chinese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36294" y="2805261"/>
            <a:ext cx="484436" cy="476250"/>
          </a:xfrm>
          <a:prstGeom prst="roundRect">
            <a:avLst>
              <a:gd name="adj" fmla="val 2133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7744" y="2900511"/>
            <a:ext cx="1443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6929" y="2900511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3205" y="2805261"/>
            <a:ext cx="549176" cy="476250"/>
          </a:xfrm>
          <a:prstGeom prst="roundRect">
            <a:avLst>
              <a:gd name="adj" fmla="val 2133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74655" y="2900511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28581" y="2900511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4857" y="2805261"/>
            <a:ext cx="489049" cy="476250"/>
          </a:xfrm>
          <a:prstGeom prst="roundRect">
            <a:avLst>
              <a:gd name="adj" fmla="val 2133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6307" y="2900511"/>
            <a:ext cx="1490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0106" y="2900511"/>
            <a:ext cx="1326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06382" y="2805261"/>
            <a:ext cx="549176" cy="476250"/>
          </a:xfrm>
          <a:prstGeom prst="roundRect">
            <a:avLst>
              <a:gd name="adj" fmla="val 21333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77832" y="2900511"/>
            <a:ext cx="2104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950" y="3567113"/>
            <a:ext cx="2717899" cy="863501"/>
          </a:xfrm>
          <a:prstGeom prst="roundRect">
            <a:avLst>
              <a:gd name="adj" fmla="val 11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495" y="3694063"/>
            <a:ext cx="26168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8495" y="3979813"/>
            <a:ext cx="26168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8495" y="4141738"/>
            <a:ext cx="2616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diǎn shí fēn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27350" y="3567113"/>
            <a:ext cx="2717899" cy="863501"/>
          </a:xfrm>
          <a:prstGeom prst="roundRect">
            <a:avLst>
              <a:gd name="adj" fmla="val 11766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97326" y="3713113"/>
            <a:ext cx="25779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五点零五分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97326" y="3998863"/>
            <a:ext cx="2577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7326" y="4160788"/>
            <a:ext cx="25779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diǎn líng wǔ fēn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46750" y="3567113"/>
            <a:ext cx="2717899" cy="863501"/>
          </a:xfrm>
          <a:prstGeom prst="roundRect">
            <a:avLst>
              <a:gd name="adj" fmla="val 1176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7295" y="3694063"/>
            <a:ext cx="26168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七点二十分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7295" y="3979813"/>
            <a:ext cx="26168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7295" y="4141738"/>
            <a:ext cx="2616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qī diǎn èrshí fēn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966150" y="3567113"/>
            <a:ext cx="2717899" cy="863501"/>
          </a:xfrm>
          <a:prstGeom prst="roundRect">
            <a:avLst>
              <a:gd name="adj" fmla="val 11766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36126" y="3713113"/>
            <a:ext cx="25779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十二点零一分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36126" y="3998863"/>
            <a:ext cx="25779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36126" y="4160788"/>
            <a:ext cx="25779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shí'èr diǎn líng yī fēn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7950" y="4583013"/>
            <a:ext cx="11176099" cy="615702"/>
          </a:xfrm>
          <a:prstGeom prst="roundRect">
            <a:avLst>
              <a:gd name="adj" fmla="val 12376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4701" y="4703564"/>
            <a:ext cx="10998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 RULE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4701" y="4897189"/>
            <a:ext cx="2385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minutes = 1–9 → insert 零 after 点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70039" y="4911477"/>
            <a:ext cx="12650" cy="152400"/>
          </a:xfrm>
          <a:prstGeom prst="rect">
            <a:avLst/>
          </a:prstGeom>
          <a:solidFill>
            <a:srgbClr val="D4756B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09640" y="4897189"/>
            <a:ext cx="2175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If minutes = 10+ → NO 零 needed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0403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Radical Spotlight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335435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Textbook p85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529060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Spotlight · 部首聚焦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148185"/>
            <a:ext cx="5232499" cy="1644253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0868" y="2421136"/>
            <a:ext cx="4572964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040868" y="3132237"/>
            <a:ext cx="4572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tǔ · "earth" radical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0868" y="3357563"/>
            <a:ext cx="4572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Found in: 地, 场, 坐, 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48400" y="2148185"/>
            <a:ext cx="5232499" cy="1644253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8167" y="2421136"/>
            <a:ext cx="4572964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寸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578167" y="3132237"/>
            <a:ext cx="4572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cùn · "inch" radical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78167" y="3357563"/>
            <a:ext cx="4572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Found in: 对, 时, 封, 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1101" y="4021038"/>
            <a:ext cx="10769798" cy="1383953"/>
          </a:xfrm>
          <a:prstGeom prst="roundRect">
            <a:avLst>
              <a:gd name="adj" fmla="val 73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15901" y="4224189"/>
            <a:ext cx="50262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Characters with 土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15901" y="4449514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 — dì, ground / earth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5901" y="4700290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坐 — zuò, to sit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5901" y="4951065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— zài, at / in / 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8400" y="4224189"/>
            <a:ext cx="50262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Characters with 寸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48400" y="4449514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 — shí, time (as in 时间)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48400" y="4700290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 — duì, correct / towards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8400" y="4951065"/>
            <a:ext cx="50262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封 — fēng, to seal (envelope)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101" y="553194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p85 — Radicals in this lesson: 土 and 寸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3923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15148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345109"/>
            <a:ext cx="109851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01" y="1849934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5754" y="1976884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0552" y="2072134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4:07 — Do we need 零? 1 finger = Yes, 2 fingers = No.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101" y="2595860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754" y="2722811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0552" y="2818061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8:15 — Do we need 零? 1 finger = Yes, 2 fingers = No.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101" y="3341787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5754" y="3468737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0552" y="3563987"/>
            <a:ext cx="10182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paper: Write 3:05 in Chinese characters. Hold it up!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7191" y="4148137"/>
            <a:ext cx="1370341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665" y="4148137"/>
            <a:ext cx="259920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Wrong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4950" y="4148137"/>
            <a:ext cx="259920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75181" y="4148137"/>
            <a:ext cx="433873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Why?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0626" y="4430613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3147" y="4430613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三点五分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50432" y="4430613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三点零五分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7718" y="4430613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1–9 → need 零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0626" y="4722614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83147" y="4722614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七点零二十分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50432" y="4722614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七点二十分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17718" y="4722614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10+ → NO 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0626" y="5014615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83147" y="5014615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十二点一分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50432" y="5014615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十二点零一分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17718" y="5014615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1–9 → need 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0626" y="5306616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6:15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83147" y="5306616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六点零十五分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50432" y="5306616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六点十五分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17718" y="5306616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10+ → NO 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101" y="5716042"/>
            <a:ext cx="111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10978" y="5716042"/>
            <a:ext cx="12958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9575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00072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10–18 min · CFU Checkpoints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194346"/>
            <a:ext cx="10769798" cy="174427"/>
          </a:xfrm>
          <a:prstGeom prst="roundRect">
            <a:avLst>
              <a:gd name="adj" fmla="val 2184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602" y="1219646"/>
            <a:ext cx="10778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1495723"/>
            <a:ext cx="109851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1101" y="2000548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754" y="2127498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0552" y="2222748"/>
            <a:ext cx="85156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4:07 — Do we need 零? 1 finger = Yes, 2 fingers = No.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66024" y="2241798"/>
            <a:ext cx="15371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— YES, 四点零七分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1101" y="2746474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5754" y="2873425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0552" y="2968675"/>
            <a:ext cx="8487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8:15 — Do we need 零? 1 finger = Yes, 2 fingers = No.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37789" y="2987725"/>
            <a:ext cx="15654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— NO, 八点十五分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1101" y="3492401"/>
            <a:ext cx="10769798" cy="644426"/>
          </a:xfrm>
          <a:prstGeom prst="roundRect">
            <a:avLst>
              <a:gd name="adj" fmla="val 1182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5754" y="3619351"/>
            <a:ext cx="3108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0552" y="3714601"/>
            <a:ext cx="92997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paper: Write 3:05 in Chinese characters. Hold it up!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50095" y="3733651"/>
            <a:ext cx="7531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三点零五分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7191" y="4298752"/>
            <a:ext cx="1370341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665" y="4298752"/>
            <a:ext cx="259920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Wrong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4950" y="4298752"/>
            <a:ext cx="259920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75181" y="4298752"/>
            <a:ext cx="4338730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Why?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626" y="4581227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83147" y="4581227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三点五分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50432" y="4581227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三点零五分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17718" y="4581227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1–9 → need 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0626" y="4873228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83147" y="4873228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七点零二十分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50432" y="4873228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七点二十分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17718" y="4873228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10+ → NO 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0626" y="5165229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83147" y="5165229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十二点一分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0432" y="5165229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十二点零一分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17718" y="5165229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1–9 → need 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0626" y="5457230"/>
            <a:ext cx="1370341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83147" y="5457230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六点零十五分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50432" y="5457230"/>
            <a:ext cx="259920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六点十五分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17718" y="5457230"/>
            <a:ext cx="4338730" cy="26342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Minutes 10+ → NO 零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1101" y="5866656"/>
            <a:ext cx="11169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10978" y="5866656"/>
            <a:ext cx="12958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1531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1 · Lightning Listen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54510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18–23 min · Sprint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48135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1: Lightning Listen · 闪电听力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12586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8 times in Chinese. You write the DIGITS. Speed + accuracy!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465487"/>
            <a:ext cx="11176099" cy="2837855"/>
          </a:xfrm>
          <a:prstGeom prst="roundRect">
            <a:avLst>
              <a:gd name="adj" fmla="val 4475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1800" y="2357586"/>
            <a:ext cx="1098649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9501" y="2395686"/>
            <a:ext cx="75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2551" y="278918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983" y="2819251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7202" y="2789188"/>
            <a:ext cx="3962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 time in Chinese (e.g. "三点十分"). No repeating!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551" y="306853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51756" y="3098602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7202" y="3068538"/>
            <a:ext cx="28774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digits only on your paper (e.g. 3:10).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551" y="334788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1607" y="3377952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7202" y="3347889"/>
            <a:ext cx="32310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all 8, swap papers with a partner for marking.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551" y="362723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51161" y="3657302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87202" y="3627239"/>
            <a:ext cx="32310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all 8, swap papers with a partner for marking.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551" y="390658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51607" y="3936653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87202" y="3906589"/>
            <a:ext cx="39432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on the next slide. Count your score out of 8!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2551" y="4287441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12503" y="4363641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三点十分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08325" y="4287441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638278" y="4363641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五点零五分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34100" y="4287441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64052" y="4363641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七点二十分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59875" y="4287441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889827" y="4363641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十二点零一分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2551" y="4697016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12503" y="4773216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九点三十分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08325" y="4697016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638278" y="4773216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两点四十五分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34100" y="4697016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64052" y="4773216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六点零八分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59875" y="4697016"/>
            <a:ext cx="2549575" cy="333375"/>
          </a:xfrm>
          <a:prstGeom prst="roundRect">
            <a:avLst>
              <a:gd name="adj" fmla="val 380571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889827" y="4773216"/>
            <a:ext cx="2289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四点十五分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1339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1 · Answers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968698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162324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Lightning Listen: Answers · 答案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54005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papers and mark! How many did you get out of 8?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879675"/>
            <a:ext cx="11176099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293042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KEY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3276451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9503" y="342245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503" y="362247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9503" y="376535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0951" y="3276451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42502" y="342245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五点零五分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2502" y="362247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42502" y="376535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4100" y="3276451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55652" y="342245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七点二十分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652" y="362247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55652" y="376535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7100" y="3276451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68651" y="342245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十二点零一分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68651" y="362247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68651" y="376535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950" y="4197102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9503" y="434310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九点三十分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503" y="454312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503" y="468600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0951" y="4197102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42502" y="434310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两点四十五分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42502" y="454312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42502" y="468600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34100" y="4197102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55652" y="434310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六点零八分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5652" y="454312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55652" y="468600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47100" y="4197102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068651" y="434310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四点十五分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68651" y="454312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068651" y="468600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241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2 · Find Your Partner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114848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23–28 min · Sprint 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308473"/>
            <a:ext cx="11503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2: Find Your Partner · 找伙伴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86199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 the class gets clock face cards, half gets Chinese text cards. Find your match!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6448"/>
            <a:ext cx="934641" cy="225326"/>
          </a:xfrm>
          <a:prstGeom prst="roundRect">
            <a:avLst>
              <a:gd name="adj" fmla="val 5630642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3067199"/>
            <a:ext cx="6424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Clock Faces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3343275"/>
            <a:ext cx="2736800" cy="292001"/>
          </a:xfrm>
          <a:prstGeom prst="roundRect">
            <a:avLst>
              <a:gd name="adj" fmla="val 26096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70200" y="3343275"/>
            <a:ext cx="2736949" cy="292001"/>
          </a:xfrm>
          <a:prstGeom prst="roundRect">
            <a:avLst>
              <a:gd name="adj" fmla="val 26096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711476"/>
            <a:ext cx="2736800" cy="292001"/>
          </a:xfrm>
          <a:prstGeom prst="roundRect">
            <a:avLst>
              <a:gd name="adj" fmla="val 26096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0200" y="3711476"/>
            <a:ext cx="2736949" cy="292001"/>
          </a:xfrm>
          <a:prstGeom prst="roundRect">
            <a:avLst>
              <a:gd name="adj" fmla="val 26096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4850" y="3016448"/>
            <a:ext cx="979289" cy="225326"/>
          </a:xfrm>
          <a:prstGeom prst="roundRect">
            <a:avLst>
              <a:gd name="adj" fmla="val 5630642"/>
            </a:avLst>
          </a:prstGeom>
          <a:solidFill>
            <a:srgbClr val="C8943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7250" y="3067199"/>
            <a:ext cx="687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Text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84850" y="3343275"/>
            <a:ext cx="2736800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06403" y="3489275"/>
            <a:ext cx="24936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97851" y="3343275"/>
            <a:ext cx="2736949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19402" y="3489275"/>
            <a:ext cx="24938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五点零五分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84850" y="3959126"/>
            <a:ext cx="2736800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6403" y="4105126"/>
            <a:ext cx="24936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七点二十分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97851" y="3959126"/>
            <a:ext cx="2736949" cy="539651"/>
          </a:xfrm>
          <a:prstGeom prst="roundRect">
            <a:avLst>
              <a:gd name="adj" fmla="val 14120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19402" y="4105126"/>
            <a:ext cx="24938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十二点零一分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651177"/>
            <a:ext cx="1662857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4150" y="4701927"/>
            <a:ext cx="1437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gets ONE card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23207" y="4651177"/>
            <a:ext cx="3152031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50157" y="4701927"/>
            <a:ext cx="2956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Walk around — find the person whose card matches yours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78388" y="4651177"/>
            <a:ext cx="1607344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05339" y="4701927"/>
            <a:ext cx="1380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minutes to find ALL pairs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9211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3 · Error Hunt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962448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28–33 min · Sprint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156073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3: Error Hunt · 找错别字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533799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 each one ✓ (correct) or ✗ (wrong). If wrong, write the correction!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848124"/>
            <a:ext cx="3640634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0151" y="3044875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0151" y="3254425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5534" y="2848124"/>
            <a:ext cx="3640782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7735" y="3044875"/>
            <a:ext cx="3260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7735" y="3254425"/>
            <a:ext cx="3260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五点五分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3267" y="2848124"/>
            <a:ext cx="3640634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65468" y="3044875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65468" y="3254425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七点零二十分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950" y="3825776"/>
            <a:ext cx="3640634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0151" y="4022527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0151" y="4232077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十二点一分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75534" y="3825776"/>
            <a:ext cx="3640782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97735" y="4022527"/>
            <a:ext cx="3260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97735" y="4232077"/>
            <a:ext cx="3260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九点三十分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3267" y="3825776"/>
            <a:ext cx="3640634" cy="850702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65468" y="4022527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65468" y="4232077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两点四十五分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950" y="4803428"/>
            <a:ext cx="1321594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4901" y="4854178"/>
            <a:ext cx="1089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Spot the 零 mistakes!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32695" y="4803428"/>
            <a:ext cx="1318915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59645" y="4854178"/>
            <a:ext cx="10863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 ✓ or ✗ on paper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54760" y="4803428"/>
            <a:ext cx="2512368" cy="244376"/>
          </a:xfrm>
          <a:prstGeom prst="roundRect">
            <a:avLst>
              <a:gd name="adj" fmla="val 519171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81710" y="4854178"/>
            <a:ext cx="2303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Discuss with partner — answers on next slide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1515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3 · Answers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62546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56172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Error Hunt: Answers · 答案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133898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your answers! The key mistake to remember: use 零 for minutes under 10!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448223"/>
            <a:ext cx="11176099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249897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KEY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844998"/>
            <a:ext cx="3640634" cy="1237952"/>
          </a:xfrm>
          <a:prstGeom prst="roundRect">
            <a:avLst>
              <a:gd name="adj" fmla="val 8207"/>
            </a:avLst>
          </a:prstGeom>
          <a:solidFill>
            <a:srgbClr val="3A7D8C">
              <a:alpha val="8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151" y="3041749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0151" y="3251299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0151" y="3575149"/>
            <a:ext cx="32601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 — No mistake (10 ≥ 10, no 零)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75534" y="2844998"/>
            <a:ext cx="3640782" cy="1237952"/>
          </a:xfrm>
          <a:prstGeom prst="roundRect">
            <a:avLst>
              <a:gd name="adj" fmla="val 8207"/>
            </a:avLst>
          </a:prstGeom>
          <a:solidFill>
            <a:srgbClr val="D4756B">
              <a:alpha val="8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97735" y="3041749"/>
            <a:ext cx="3260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7735" y="3251299"/>
            <a:ext cx="3260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五点五分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97735" y="3575149"/>
            <a:ext cx="3260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Wrong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97735" y="3762375"/>
            <a:ext cx="32603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五点零五分 (missing 零!)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043267" y="2844998"/>
            <a:ext cx="3640634" cy="1237952"/>
          </a:xfrm>
          <a:prstGeom prst="roundRect">
            <a:avLst>
              <a:gd name="adj" fmla="val 8207"/>
            </a:avLst>
          </a:prstGeom>
          <a:solidFill>
            <a:srgbClr val="D4756B">
              <a:alpha val="8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65468" y="3041749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5468" y="3251299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七点零二十分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5468" y="3575149"/>
            <a:ext cx="32601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Wrong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65468" y="3762375"/>
            <a:ext cx="3260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七点二十分 (no 零 for 10+)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7950" y="4209901"/>
            <a:ext cx="3640634" cy="1237952"/>
          </a:xfrm>
          <a:prstGeom prst="roundRect">
            <a:avLst>
              <a:gd name="adj" fmla="val 8207"/>
            </a:avLst>
          </a:prstGeom>
          <a:solidFill>
            <a:srgbClr val="D4756B">
              <a:alpha val="8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0151" y="4406652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151" y="4616202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十二点一分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0151" y="4940052"/>
            <a:ext cx="32601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✗ Wrong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0151" y="5127278"/>
            <a:ext cx="3260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十二点零一分 (missing 零!)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275534" y="4209901"/>
            <a:ext cx="3640782" cy="1237952"/>
          </a:xfrm>
          <a:prstGeom prst="roundRect">
            <a:avLst>
              <a:gd name="adj" fmla="val 8207"/>
            </a:avLst>
          </a:prstGeom>
          <a:solidFill>
            <a:srgbClr val="3A7D8C">
              <a:alpha val="8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97735" y="4406652"/>
            <a:ext cx="32603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97735" y="4616202"/>
            <a:ext cx="32603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九点三十分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97735" y="4940052"/>
            <a:ext cx="3260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 — No mistake (30 ≥ 10, no 零)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3267" y="4209901"/>
            <a:ext cx="3640634" cy="1237952"/>
          </a:xfrm>
          <a:prstGeom prst="roundRect">
            <a:avLst>
              <a:gd name="adj" fmla="val 8207"/>
            </a:avLst>
          </a:prstGeom>
          <a:solidFill>
            <a:srgbClr val="3A7D8C">
              <a:alpha val="8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265468" y="4406652"/>
            <a:ext cx="3260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65468" y="4616202"/>
            <a:ext cx="326015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两点四十五分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65468" y="4940052"/>
            <a:ext cx="32601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Correct — No mistake (45 ≥ 10, no 零)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4023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4 · Partner Speed Round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541859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33–38 min · Sprint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735485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4: Partner Speed Round · 搭档竞速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11321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says the time in Chinese. B writes the digits. How many can you do in 3 minutes?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452836"/>
            <a:ext cx="11176099" cy="3015555"/>
          </a:xfrm>
          <a:prstGeom prst="roundRect">
            <a:avLst>
              <a:gd name="adj" fmla="val 4211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1800" y="2344936"/>
            <a:ext cx="700088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9501" y="2383036"/>
            <a:ext cx="3515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2551" y="2751237"/>
            <a:ext cx="4883200" cy="955477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2698" y="2928938"/>
            <a:ext cx="44629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92698" y="3052763"/>
            <a:ext cx="44629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说中文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2698" y="3367088"/>
            <a:ext cx="4462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the time in Chinese (e.g. "三点十分")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68901" y="3052763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6101" y="2751237"/>
            <a:ext cx="4883348" cy="955477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36246" y="2928938"/>
            <a:ext cx="44630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36246" y="3052763"/>
            <a:ext cx="4463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写数字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36246" y="3367088"/>
            <a:ext cx="4463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digits (e.g. 3:10)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2551" y="3859113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80017" y="3979664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08325" y="3859113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5791" y="3979664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34100" y="3859113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31566" y="3979664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59875" y="3859113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857341" y="3979664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2551" y="4357390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80017" y="4477941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08325" y="4357390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605791" y="4477941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4100" y="4357390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1566" y="4477941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59875" y="4357390"/>
            <a:ext cx="2549575" cy="422077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857341" y="4477941"/>
            <a:ext cx="2354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551" y="4906417"/>
            <a:ext cx="2730103" cy="314325"/>
          </a:xfrm>
          <a:prstGeom prst="roundRect">
            <a:avLst>
              <a:gd name="adj" fmla="val 4036364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85701" y="4982617"/>
            <a:ext cx="23702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after 3 minutes! B says, A writes.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152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4 · Answers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968698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2162324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4: Answers · 答案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540050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your answers! How many did you get right?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879675"/>
            <a:ext cx="11176099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293042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KEY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3276451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9503" y="342245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503" y="362247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9503" y="376535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一点十分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0951" y="3276451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42502" y="342245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42502" y="362247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42502" y="376535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五点零五分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4100" y="3276451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55652" y="342245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652" y="362247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55652" y="376535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八点二十分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7100" y="3276451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68651" y="342245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68651" y="362247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68651" y="376535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十点三十分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950" y="4197102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9503" y="434310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9503" y="454312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9503" y="468600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三点四十五分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20951" y="4197102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42502" y="434310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42502" y="454312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42502" y="468600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六点零八分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34100" y="4197102"/>
            <a:ext cx="2736800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55652" y="4343102"/>
            <a:ext cx="2493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5652" y="4543127"/>
            <a:ext cx="24936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55652" y="4686002"/>
            <a:ext cx="24936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十二点零一分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47100" y="4197102"/>
            <a:ext cx="2736949" cy="844451"/>
          </a:xfrm>
          <a:prstGeom prst="roundRect">
            <a:avLst>
              <a:gd name="adj" fmla="val 9024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068651" y="4343102"/>
            <a:ext cx="24938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68651" y="4543127"/>
            <a:ext cx="2493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068651" y="4686002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九点十五分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0132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Sprint 5 · Pinyin Circle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619994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Textbook p89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1813620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Sprint 5: Pinyin Circle · 拼音圈一圈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2191345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Choose A or B for the correct pinyin. Circle your answer!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7475" y="2489746"/>
            <a:ext cx="753558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75308" y="2489746"/>
            <a:ext cx="2602388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5719" y="2489746"/>
            <a:ext cx="3779785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Option 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70440" y="2489746"/>
            <a:ext cx="4186166" cy="2443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Option 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7475" y="2772221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75308" y="2772221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三点十分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5719" y="2772221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diǎn shí fēn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70440" y="2772221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diǎn sì fēn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475" y="3127623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75308" y="3127623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五点零五分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5719" y="3127623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diǎn wǔ fēn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70440" y="3127623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 diǎn líng wǔ fēn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475" y="3483025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75308" y="3483025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七点二十分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5719" y="3483025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qī diǎn èrshí fēn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70440" y="3483025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qī diǎn èr fēn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7475" y="3838426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75308" y="3838426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十二点零一分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5719" y="3838426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shí'èr diǎn yī fēn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70440" y="3838426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shí'èr diǎn líng yī fēn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475" y="4193828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75308" y="4193828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九点十五分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5719" y="4193828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jiǔ diǎn shí wǔ fēn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70440" y="4193828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jiǔ diǎn shíwǔ fēn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7475" y="4549229"/>
            <a:ext cx="75355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75308" y="4549229"/>
            <a:ext cx="2602388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5719" y="4549229"/>
            <a:ext cx="377978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 diǎn sìshí fēn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70440" y="4549229"/>
            <a:ext cx="4186166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èr diǎn sìshí fēn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950" y="4996607"/>
            <a:ext cx="1151037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4901" y="5034707"/>
            <a:ext cx="915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page 89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62138" y="4996607"/>
            <a:ext cx="1588294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989088" y="5034707"/>
            <a:ext cx="13610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Circle A or B for each item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3582" y="4996607"/>
            <a:ext cx="2542282" cy="219075"/>
          </a:xfrm>
          <a:prstGeom prst="roundRect">
            <a:avLst>
              <a:gd name="adj" fmla="val 579130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780532" y="5034707"/>
            <a:ext cx="2334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with partner then whole-class check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950" y="5266432"/>
            <a:ext cx="113996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p89 — Pinyin Circle activity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35336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28961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回顾与反思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471886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270524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2646462"/>
            <a:ext cx="25651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minutes after the hour using 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288622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827437"/>
            <a:ext cx="37806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a clock and say the time in Chinese using X点Y分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306719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3008412"/>
            <a:ext cx="25305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零 correctly for times like 3:05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3341787"/>
            <a:ext cx="10769798" cy="647551"/>
          </a:xfrm>
          <a:prstGeom prst="roundRect">
            <a:avLst>
              <a:gd name="adj" fmla="val 1569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251" y="3468737"/>
            <a:ext cx="105707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251" y="3681413"/>
            <a:ext cx="10570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sprint was hardest for you? Write the number (1–5). What is one thing you will practise more at home?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101" y="4141738"/>
            <a:ext cx="10769798" cy="644426"/>
          </a:xfrm>
          <a:prstGeom prst="roundRect">
            <a:avLst>
              <a:gd name="adj" fmla="val 15766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4287738"/>
            <a:ext cx="18772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8751" y="4411563"/>
            <a:ext cx="1877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8:07 in Chinese.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101" y="4887664"/>
            <a:ext cx="9653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Achieved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11400" y="4887664"/>
            <a:ext cx="1253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Getting there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93877" y="4887664"/>
            <a:ext cx="828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Need help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1101" y="513204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 刻 (quarter past) &amp; 半 (half past)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7892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MINUTES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332458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46609" y="166688"/>
            <a:ext cx="12253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Answer Reveal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0049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794123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Exit Ticket Answer · 答案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337048"/>
            <a:ext cx="10769798" cy="269677"/>
          </a:xfrm>
          <a:prstGeom prst="roundRect">
            <a:avLst>
              <a:gd name="adj" fmla="val 470462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9701" y="2400449"/>
            <a:ext cx="10518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REVEAL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1101" y="2784425"/>
            <a:ext cx="10769798" cy="2330053"/>
          </a:xfrm>
          <a:prstGeom prst="roundRect">
            <a:avLst>
              <a:gd name="adj" fmla="val 5451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7261" y="3082826"/>
            <a:ext cx="101174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37261" y="3276451"/>
            <a:ext cx="101174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8:07 in Chinese.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7261" y="3638401"/>
            <a:ext cx="101174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37261" y="3812977"/>
            <a:ext cx="1011747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八点零七分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37261" y="4343102"/>
            <a:ext cx="101174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 diǎn líng qī fēn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7261" y="4654153"/>
            <a:ext cx="101174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 (8) + 点 (o'clock) + 零 (zero) + 七 (7) + 分 (minutes) — Remember: use 零 when minutes &lt; 10!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1101" y="5266879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 刻 (quarter past) &amp; 半 (half past)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2026-06-29T00:22:26Z</dcterms:created>
  <dcterms:modified xsi:type="dcterms:W3CDTF">2026-06-29T00:22:26Z</dcterms:modified>
</cp:coreProperties>
</file>