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78500" y="1678484"/>
            <a:ext cx="1435001" cy="1054001"/>
          </a:xfrm>
          <a:prstGeom prst="roundRect">
            <a:avLst>
              <a:gd name="adj" fmla="val 28918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96484" y="1886396"/>
            <a:ext cx="139903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72175" y="2808684"/>
            <a:ext cx="247650" cy="0"/>
          </a:xfrm>
          <a:prstGeom prst="line">
            <a:avLst/>
          </a:prstGeom>
          <a:noFill/>
          <a:ln w="152400">
            <a:solidFill>
              <a:srgbClr val="C894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57913" y="2732484"/>
            <a:ext cx="0" cy="152400"/>
          </a:xfrm>
          <a:prstGeom prst="line">
            <a:avLst/>
          </a:prstGeom>
          <a:noFill/>
          <a:ln w="12382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4088" y="2732484"/>
            <a:ext cx="0" cy="152400"/>
          </a:xfrm>
          <a:prstGeom prst="line">
            <a:avLst/>
          </a:prstGeom>
          <a:noFill/>
          <a:ln w="1238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40329" y="3088035"/>
            <a:ext cx="53113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· Y7 Unit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40329" y="3370511"/>
            <a:ext cx="5311342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现在几点？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440329" y="4427041"/>
            <a:ext cx="5311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Asking the Time · Natural Chinese Conversations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40329" y="5017591"/>
            <a:ext cx="53113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858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10 Clock Faces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301" y="660350"/>
            <a:ext cx="116069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6301" y="828526"/>
            <a:ext cx="116069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the Most Natural Chinese Time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06301" y="1206252"/>
            <a:ext cx="116069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patterns mixed. Write the NATURAL way a Chinese speaker would say it.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630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2097" y="154587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5431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03462" y="1977628"/>
            <a:ext cx="203150" cy="3810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93937" y="1717328"/>
            <a:ext cx="19050" cy="2793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78087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3612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9881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0242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778056" y="1545878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5043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1737" y="1991748"/>
            <a:ext cx="76246" cy="157068"/>
          </a:xfrm>
          <a:prstGeom prst="roundRect">
            <a:avLst>
              <a:gd name="adj" fmla="val 3331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90057" y="1996678"/>
            <a:ext cx="19050" cy="2793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774207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73224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9493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98541" y="1495127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74171" y="1545878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746700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29726" y="1956248"/>
            <a:ext cx="168611" cy="59317"/>
          </a:xfrm>
          <a:prstGeom prst="roundRect">
            <a:avLst>
              <a:gd name="adj" fmla="val 4282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5851" y="1987153"/>
            <a:ext cx="279350" cy="190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70476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028359" y="2422029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9105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94811" y="1495127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370435" y="1545878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042821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49431" y="1981565"/>
            <a:ext cx="154137" cy="130703"/>
          </a:xfrm>
          <a:prstGeom prst="roundRect">
            <a:avLst>
              <a:gd name="adj" fmla="val 1943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12621" y="1987153"/>
            <a:ext cx="279350" cy="1905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66596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24630" y="2422029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87320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90931" y="1495127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666564" y="1545878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0339090" y="1647379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0672636" y="1985751"/>
            <a:ext cx="147732" cy="188264"/>
          </a:xfrm>
          <a:prstGeom prst="roundRect">
            <a:avLst>
              <a:gd name="adj" fmla="val 1719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0441553" y="1848754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662865" y="197115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620749" y="2422029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4:50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383441" y="2844254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30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81923" y="3107531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15431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487395" y="3398225"/>
            <a:ext cx="127612" cy="170342"/>
          </a:xfrm>
          <a:prstGeom prst="roundRect">
            <a:avLst>
              <a:gd name="adj" fmla="val 1990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495213" y="3311645"/>
            <a:ext cx="156173" cy="251449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478087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3612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9881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0242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2778096" y="3107531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45043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3717910" y="3412159"/>
            <a:ext cx="98938" cy="154223"/>
          </a:xfrm>
          <a:prstGeom prst="roundRect">
            <a:avLst>
              <a:gd name="adj" fmla="val 256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3794820" y="3410408"/>
            <a:ext cx="251449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3774207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273224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11:10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49493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98541" y="3056781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074167" y="3107531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746700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089336" y="3483980"/>
            <a:ext cx="168128" cy="92253"/>
          </a:xfrm>
          <a:prstGeom prst="roundRect">
            <a:avLst>
              <a:gd name="adj" fmla="val 2753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091089" y="3550083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070476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5028359" y="3983682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2:20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79105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94811" y="3056781"/>
            <a:ext cx="2194620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370433" y="3107531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8042821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188600" y="3539571"/>
            <a:ext cx="206680" cy="72798"/>
          </a:xfrm>
          <a:prstGeom prst="roundRect">
            <a:avLst>
              <a:gd name="adj" fmla="val 348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145284" y="3550083"/>
            <a:ext cx="251450" cy="156173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366596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7324630" y="3983682"/>
            <a:ext cx="21349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8:40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8087320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590931" y="3056781"/>
            <a:ext cx="2194768" cy="1460153"/>
          </a:xfrm>
          <a:prstGeom prst="roundRect">
            <a:avLst>
              <a:gd name="adj" fmla="val 52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9666150" y="3107531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10339090" y="3209032"/>
            <a:ext cx="698450" cy="698450"/>
          </a:xfrm>
          <a:prstGeom prst="roundRect">
            <a:avLst>
              <a:gd name="adj" fmla="val 130918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10671343" y="3391913"/>
            <a:ext cx="115849" cy="175215"/>
          </a:xfrm>
          <a:prstGeom prst="roundRect">
            <a:avLst>
              <a:gd name="adj" fmla="val 2192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0540317" y="3311645"/>
            <a:ext cx="156172" cy="251449"/>
          </a:xfrm>
          <a:prstGeom prst="roundRect">
            <a:avLst>
              <a:gd name="adj" fmla="val 813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0662865" y="3532808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9620749" y="3983682"/>
            <a:ext cx="2135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12:55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10383441" y="4405908"/>
            <a:ext cx="6096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06301" y="4643884"/>
            <a:ext cx="11379398" cy="364927"/>
          </a:xfrm>
          <a:prstGeom prst="roundRect">
            <a:avLst>
              <a:gd name="adj" fmla="val 20881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584002" y="4745385"/>
            <a:ext cx="5052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Think: "How would a Chinese person actually say this?" Not word-by-word from English.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7200" y="6653213"/>
            <a:ext cx="1453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536502"/>
            <a:ext cx="107697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536502"/>
            <a:ext cx="0" cy="7143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351" y="1688902"/>
            <a:ext cx="10531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351" y="1850827"/>
            <a:ext cx="105319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ask and answer "What time is it?" in natural Chinese conversations.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4794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5285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495252"/>
            <a:ext cx="4219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the time using 现在几点 in a real conversation.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27460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用「现在几点」问时间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0094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0585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025229"/>
            <a:ext cx="45511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with the most natural Chinese time expression.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2760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用最自然的表达回答时间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5394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5885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555206"/>
            <a:ext cx="44258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have a real conversation about time with classmates.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38059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与同学真实对话谈论时间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11101" y="4196507"/>
            <a:ext cx="10769798" cy="492026"/>
          </a:xfrm>
          <a:prstGeom prst="roundRect">
            <a:avLst>
              <a:gd name="adj" fmla="val 20649"/>
            </a:avLst>
          </a:prstGeom>
          <a:solidFill>
            <a:srgbClr val="3A7D8C">
              <a:alpha val="8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81813" y="4342507"/>
            <a:ext cx="104283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Goal: Speak to at least 10 different classmates in Chinese about time today.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92635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986260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554486"/>
            <a:ext cx="3555950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2551" y="2776686"/>
            <a:ext cx="1191819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2254151" y="2792462"/>
            <a:ext cx="1010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54151" y="3021062"/>
            <a:ext cx="1010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54151" y="3202037"/>
            <a:ext cx="10105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(appear) + 在 (at)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17950" y="2554486"/>
            <a:ext cx="3555950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90901" y="2776686"/>
            <a:ext cx="595985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378351" y="2792462"/>
            <a:ext cx="1328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78351" y="3021062"/>
            <a:ext cx="13282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(number)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78351" y="3202037"/>
            <a:ext cx="13282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strokes · Question word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026301" y="2554486"/>
            <a:ext cx="3556099" cy="1028551"/>
          </a:xfrm>
          <a:prstGeom prst="roundRect">
            <a:avLst>
              <a:gd name="adj" fmla="val 12347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9252" y="2776686"/>
            <a:ext cx="595985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9086701" y="2792462"/>
            <a:ext cx="1388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86701" y="3021062"/>
            <a:ext cx="1388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/ clock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86701" y="3202037"/>
            <a:ext cx="13882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strokes · Surface/display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600" y="3786188"/>
            <a:ext cx="10972800" cy="1431429"/>
          </a:xfrm>
          <a:prstGeom prst="roundRect">
            <a:avLst>
              <a:gd name="adj" fmla="val 709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3450" y="3982938"/>
            <a:ext cx="105316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Breakdown · 问题拆解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33450" y="4227314"/>
            <a:ext cx="907554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155650" y="4347865"/>
            <a:ext cx="4724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942505" y="4362152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167979" y="4227314"/>
            <a:ext cx="675977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90180" y="4347865"/>
            <a:ext cx="23620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945457" y="4362152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170932" y="4227314"/>
            <a:ext cx="675977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393132" y="4347865"/>
            <a:ext cx="23620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948410" y="4362152"/>
            <a:ext cx="128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75968" y="4227314"/>
            <a:ext cx="1602284" cy="555427"/>
          </a:xfrm>
          <a:prstGeom prst="roundRect">
            <a:avLst>
              <a:gd name="adj" fmla="val 13719"/>
            </a:avLst>
          </a:prstGeom>
          <a:solidFill>
            <a:srgbClr val="EDE7D7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398169" y="4347865"/>
            <a:ext cx="11810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3450" y="4858941"/>
            <a:ext cx="10531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"Now" + "what number" + "o'clock" = What time is it?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204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Model Dialogues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20253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88429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Model Dialogues · 示范对话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786854"/>
            <a:ext cx="1694259" cy="219075"/>
          </a:xfrm>
          <a:prstGeom prst="roundRect">
            <a:avLst>
              <a:gd name="adj" fmla="val 5791304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824954"/>
            <a:ext cx="141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1 · Basic Q&amp;A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9600" y="108212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6607" y="1144042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41350" y="1082129"/>
            <a:ext cx="1785342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12800" y="1164580"/>
            <a:ext cx="14712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12800" y="1386780"/>
            <a:ext cx="14712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 jǐ diǎn? · What time is it?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09600" y="166925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6161" y="1731169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1350" y="1669256"/>
            <a:ext cx="1718221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12800" y="1751707"/>
            <a:ext cx="14028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两点半。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12800" y="1973907"/>
            <a:ext cx="14028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 bàn. · Half past two.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09600" y="225638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18296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41350" y="2256383"/>
            <a:ext cx="1077516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212800" y="2338834"/>
            <a:ext cx="7493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谢谢！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2800" y="2561034"/>
            <a:ext cx="7493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Xièxie! · Thanks!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9600" y="284351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16161" y="2905423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1350" y="2843510"/>
            <a:ext cx="1510754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212800" y="2925961"/>
            <a:ext cx="11912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不客气。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12800" y="3148161"/>
            <a:ext cx="11912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Bù kèqì. · You're welcome.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09600" y="3678287"/>
            <a:ext cx="2956471" cy="219075"/>
          </a:xfrm>
          <a:prstGeom prst="roundRect">
            <a:avLst>
              <a:gd name="adj" fmla="val 5791304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62000" y="3716387"/>
            <a:ext cx="2704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2 · Verification (repeat to confirm)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9600" y="3973562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6607" y="4035475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41350" y="3973562"/>
            <a:ext cx="1120229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212800" y="4056013"/>
            <a:ext cx="7928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212800" y="4278213"/>
            <a:ext cx="792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is it?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09600" y="456068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16161" y="4622602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41350" y="4560689"/>
            <a:ext cx="1431131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212800" y="4643140"/>
            <a:ext cx="11099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五点四十五分。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212800" y="4865340"/>
            <a:ext cx="11099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09600" y="514781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16607" y="520972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41350" y="5147816"/>
            <a:ext cx="1562546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212800" y="5230267"/>
            <a:ext cx="12440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五点四十五分？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12800" y="5452467"/>
            <a:ext cx="1244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5:45? (repeating to confirm)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09600" y="5734943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16161" y="5796855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41350" y="5734943"/>
            <a:ext cx="1742033" cy="510927"/>
          </a:xfrm>
          <a:prstGeom prst="roundRect">
            <a:avLst>
              <a:gd name="adj" fmla="val 1988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212800" y="5817394"/>
            <a:ext cx="1427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对，五点四十五分。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212800" y="6039594"/>
            <a:ext cx="14271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Yes, 5:45.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09600" y="6398270"/>
            <a:ext cx="5410200" cy="339626"/>
          </a:xfrm>
          <a:prstGeom prst="roundRect">
            <a:avLst>
              <a:gd name="adj" fmla="val 22436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87301" y="6487120"/>
            <a:ext cx="40612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Repeating the time back shows you understood and confirms accuracy.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172200" y="6398270"/>
            <a:ext cx="5410200" cy="339626"/>
          </a:xfrm>
          <a:prstGeom prst="roundRect">
            <a:avLst>
              <a:gd name="adj" fmla="val 22436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349901" y="6487120"/>
            <a:ext cx="3369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Notice: reply is just the time — no need to repeat 现在几点.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7993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Extended Dialogue + Guide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230809"/>
            <a:ext cx="235341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84150" y="1256109"/>
            <a:ext cx="21415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3 · Extended (Polite + Reason)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4686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7688" y="1524149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12602" y="1468636"/>
            <a:ext cx="2073771" cy="727025"/>
          </a:xfrm>
          <a:prstGeom prst="roundRect">
            <a:avLst>
              <a:gd name="adj" fmla="val 10481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4527" y="1554361"/>
            <a:ext cx="17849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请问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4527" y="1763911"/>
            <a:ext cx="17849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4527" y="1986111"/>
            <a:ext cx="17849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Qǐng wèn — Excuse me, what time is it?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225906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47390" y="2314575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12602" y="2259062"/>
            <a:ext cx="1256556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4527" y="2344787"/>
            <a:ext cx="9513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差十分四点。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4527" y="2566988"/>
            <a:ext cx="9513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 to four. (3:50)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57200" y="283993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7688" y="2895451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12602" y="2839938"/>
            <a:ext cx="1944439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C8943E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74527" y="2925663"/>
            <a:ext cx="1653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谢谢你！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4527" y="3147864"/>
            <a:ext cx="16530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Thank you! I need to go play football.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3420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7390" y="3476327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2602" y="3420814"/>
            <a:ext cx="1722983" cy="517475"/>
          </a:xfrm>
          <a:prstGeom prst="roundRect">
            <a:avLst>
              <a:gd name="adj" fmla="val 14725"/>
            </a:avLst>
          </a:prstGeom>
          <a:solidFill>
            <a:srgbClr val="FFFFFF"/>
          </a:solidFill>
          <a:ln w="9525">
            <a:solidFill>
              <a:srgbClr val="3A7D8C"/>
            </a:solidFill>
          </a:ln>
          <a:effectLst>
            <a:outerShdw sx="100000" sy="100000" kx="0" ky="0" algn="bl" rotWithShape="0" blurRad="50800" dist="127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74527" y="3506539"/>
            <a:ext cx="1427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不客气。玩得开心！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4527" y="3728740"/>
            <a:ext cx="14271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You're welcome. Have fun!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97501" y="1189434"/>
            <a:ext cx="5648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Answer Guide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197501" y="1338560"/>
            <a:ext cx="56480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Most Natural Way to Say It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299002" y="1776561"/>
            <a:ext cx="1119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599313" y="1776561"/>
            <a:ext cx="22773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Natural Chinese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0035034" y="1776561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299002" y="20178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99313" y="20082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035034" y="20368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99002" y="22845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99313" y="22749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七点零五分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035034" y="23035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零 Y 分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99002" y="25512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599313" y="25416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七点十分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035034" y="25702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Y 分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299002" y="28179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99313" y="28083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035034" y="28369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一刻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299002" y="30846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99313" y="30750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035034" y="31036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半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99002" y="33513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99313" y="33417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七点三刻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035034" y="33703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点 三刻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299002" y="36180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99313" y="36084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差十分八点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35034" y="36370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99002" y="3884712"/>
            <a:ext cx="1119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99313" y="3875187"/>
            <a:ext cx="2277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035034" y="3903762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Y 分 X 点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57200" y="4210050"/>
            <a:ext cx="112776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4316313"/>
            <a:ext cx="115031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Fingers up / Paper up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457200" y="4516338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84150" y="4652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85205" y="4698802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39552" y="4617839"/>
            <a:ext cx="24622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ask "What time is it?" in Chinese?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455045" y="4698802"/>
            <a:ext cx="5952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241750" y="4516338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4368701" y="4652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4459337" y="4698802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724102" y="4698802"/>
            <a:ext cx="25812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best answer for 7:45 — fingers?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356277" y="4698802"/>
            <a:ext cx="476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七点三刻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026301" y="4516338"/>
            <a:ext cx="3708499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153251" y="465281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243590" y="4698802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8508653" y="4617839"/>
            <a:ext cx="270804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"现在" means ___? (1 finger = "now", 2 = "time")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1265098" y="4698802"/>
            <a:ext cx="349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"now"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57200" y="5119390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584150" y="52558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674043" y="5301853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939552" y="5301853"/>
            <a:ext cx="2806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says「差十分四点」. Write the DIGITS.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3792141" y="5301853"/>
            <a:ext cx="251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3:50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241750" y="5119390"/>
            <a:ext cx="3708350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4368701" y="52558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4459188" y="5301853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4724102" y="5220891"/>
            <a:ext cx="21131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"几" in「现在几点」means ___? (1 = what, 2 = how many)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897291" y="5301853"/>
            <a:ext cx="9443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"what" (number)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026301" y="5119390"/>
            <a:ext cx="3708499" cy="526852"/>
          </a:xfrm>
          <a:prstGeom prst="roundRect">
            <a:avLst>
              <a:gd name="adj" fmla="val 144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8153251" y="525586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8243143" y="5301853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8508653" y="5301853"/>
            <a:ext cx="27781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be polite when asking a stranger, add ___?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1333857" y="5301853"/>
            <a:ext cx="2794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请问!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457200" y="5696992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1618804" y="5696992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2933849" y="5696992"/>
            <a:ext cx="660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Not sure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1421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Chain Dialogue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53221" y="1508671"/>
            <a:ext cx="14854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18–25 min · Activity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45922" y="1676846"/>
            <a:ext cx="310015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Chain Dialogue · 对话链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10194" y="2092672"/>
            <a:ext cx="57714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chain. Ask the person next to you, they answer, then they ask the next person!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09391" y="2451348"/>
            <a:ext cx="7173218" cy="999827"/>
          </a:xfrm>
          <a:prstGeom prst="roundRect">
            <a:avLst>
              <a:gd name="adj" fmla="val 1016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782342" y="2343448"/>
            <a:ext cx="949672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54100" y="2381548"/>
            <a:ext cx="6061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883991" y="2673548"/>
            <a:ext cx="629989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58946" y="2775049"/>
            <a:ext cx="2800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9209" y="2732187"/>
            <a:ext cx="6398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44293" y="2673548"/>
            <a:ext cx="1080343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14744" y="2775049"/>
            <a:ext cx="7394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Neighbour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15246" y="2732187"/>
            <a:ext cx="11109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6762" y="2673548"/>
            <a:ext cx="1080343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87213" y="2775049"/>
            <a:ext cx="7394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Neighbour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92333" y="2732187"/>
            <a:ext cx="6398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7418" y="2673548"/>
            <a:ext cx="680591" cy="403027"/>
          </a:xfrm>
          <a:prstGeom prst="roundRect">
            <a:avLst>
              <a:gd name="adj" fmla="val 189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01866" y="2775049"/>
            <a:ext cx="33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628876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463701" y="375582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38871" y="3755827"/>
            <a:ext cx="329325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repeating times.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Each person must give a different time from everyone before them.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46750" y="3628876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24451" y="375582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4745" y="3755827"/>
            <a:ext cx="32574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same pattern twice in a row.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If the last person said 半, you must use a different pattern (刻, 分, 差...).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86000" y="4308128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463701" y="4435078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73548" y="4435078"/>
            <a:ext cx="3257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carefully.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 need to know what patterns have already been used!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46750" y="4308128"/>
            <a:ext cx="3759250" cy="577751"/>
          </a:xfrm>
          <a:prstGeom prst="roundRect">
            <a:avLst>
              <a:gd name="adj" fmla="val 131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3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24451" y="4435078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535192" y="4435078"/>
            <a:ext cx="32569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it moving.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Max 10 seconds per person. If stuck, the class can help.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06688" y="5038279"/>
            <a:ext cx="5178475" cy="463451"/>
          </a:xfrm>
          <a:prstGeom prst="roundRect">
            <a:avLst>
              <a:gd name="adj" fmla="val 16442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756270" y="5208091"/>
            <a:ext cx="440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278320" y="5165229"/>
            <a:ext cx="41940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现在几点？ B: 三点一刻。 (turns to C) C: 差五分六点。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0969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Walk and Talk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25–33 min · Activity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Walk and Talk · 走一走，说一说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13005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gets a "watch card" with a time. Walk around the room and have real conversations!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18927"/>
            <a:ext cx="5549950" cy="2656433"/>
          </a:xfrm>
          <a:prstGeom prst="roundRect">
            <a:avLst>
              <a:gd name="adj" fmla="val 382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9400" y="1311027"/>
            <a:ext cx="738485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101" y="1349127"/>
            <a:ext cx="3907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04850" y="1640979"/>
            <a:ext cx="51557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Basic: Ask + Record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850" y="20091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6259" y="204876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09501" y="2020193"/>
            <a:ext cx="12719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to a classmate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850" y="22630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8073" y="2302669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09501" y="2274094"/>
            <a:ext cx="9701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Ask: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现在几点？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4850" y="251698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7925" y="2556570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009501" y="2527995"/>
            <a:ext cx="22379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They answer using their watch card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850" y="277088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77627" y="2810470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09501" y="2781895"/>
            <a:ext cx="18676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down their time + name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4850" y="302478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78073" y="3064371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009501" y="3035796"/>
            <a:ext cx="7681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roles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4850" y="327868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77478" y="3318272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09501" y="3289697"/>
            <a:ext cx="14222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Move to a new partner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4850" y="3583335"/>
            <a:ext cx="5054650" cy="295275"/>
          </a:xfrm>
          <a:prstGeom prst="roundRect">
            <a:avLst>
              <a:gd name="adj" fmla="val 25806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57250" y="3659535"/>
            <a:ext cx="2806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Record sheet: Name | Digital Time | Chinese Expression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84850" y="1418927"/>
            <a:ext cx="5549950" cy="2656433"/>
          </a:xfrm>
          <a:prstGeom prst="roundRect">
            <a:avLst>
              <a:gd name="adj" fmla="val 382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07051" y="1311027"/>
            <a:ext cx="754707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584752" y="1349127"/>
            <a:ext cx="407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432500" y="1640979"/>
            <a:ext cx="51557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Advanced: Write BOTH + Follow-up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2500" y="20091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3909" y="2048768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737152" y="2020193"/>
            <a:ext cx="19125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partner — ask 现在几点？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32500" y="22630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505724" y="2302669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737152" y="2274094"/>
            <a:ext cx="25686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their answer in digits AND Chinese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42025" y="2542431"/>
            <a:ext cx="0" cy="730002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78501" y="2542431"/>
            <a:ext cx="50068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ask one follow-up: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578501" y="2736056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你要做什么？ (What will you do?)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78501" y="2923282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你忙吗？ (Are you busy?)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78501" y="3110508"/>
            <a:ext cx="5006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你有表吗？ (Do you have a watch?)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20231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26733" y="429756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26733" y="452616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6733" y="472618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 bàn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3295650" y="420231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365183" y="429756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3365183" y="452616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65183" y="472618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diǎn yī kè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134100" y="420231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203633" y="429756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3:50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6203633" y="452616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差十分四点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03633" y="472618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 shí fēn sì diǎn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972550" y="420231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9042083" y="429756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042083" y="452616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042083" y="472618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jiǔ diǎn sān kè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457200" y="502146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26733" y="511671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26733" y="534531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一点零五分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26733" y="554533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diǎn líng wǔ fēn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3295650" y="502146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3365183" y="511671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6:40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3365183" y="534531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差二十分七点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365183" y="554533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 èrshí fēn qī diǎn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134100" y="502146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203633" y="511671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11:10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6203633" y="534531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十一点十分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6203633" y="554533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shíyī diǎn shí fēn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8972550" y="5021461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9042083" y="5116711"/>
            <a:ext cx="262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9042083" y="5345311"/>
            <a:ext cx="2623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9042083" y="5545336"/>
            <a:ext cx="26231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 diǎn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13279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 · Find Someone Who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446907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33–43 min · Activity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615083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Find Someone Who... · 找人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992809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around the room. Find a different person for each prompt. When you find someone, write their name!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2326184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200" y="2572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81521" y="2644973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46150" y="2478584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找一个人，他的时间用「半」。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46150" y="2703909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半 (half past).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46150" y="2846784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47651" y="2872085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054650" y="2833985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4650" y="2656284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46750" y="2326184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75350" y="2572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4831" y="2644973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83301" y="2478584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找一个人，他的时间用「差」。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83301" y="2703909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差 (minutes to).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83301" y="2846784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84802" y="2872085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差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591800" y="2833985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91800" y="2656284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09600" y="3275112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38200" y="352097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67234" y="3593902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46150" y="3427512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找一个人，他的时间用「刻」。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46150" y="3652838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刻 (quarter).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346150" y="3795713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447651" y="3821013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刻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054650" y="3782913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54650" y="3605213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46750" y="3275112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75350" y="352097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03938" y="3593902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83301" y="3427512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找一个人，他的时间里有「零」。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883301" y="3652838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uses 零 (e.g. X:05).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83301" y="3795713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984802" y="3821013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零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0591800" y="3782913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91800" y="3605213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9600" y="4224040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8200" y="446990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67383" y="4542830"/>
            <a:ext cx="989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346150" y="4376440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找一个人，他的时间超过 9 点。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346150" y="4601766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whose time is after 9:00.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346150" y="4744641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447651" y="4769941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after 9:00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054650" y="4731841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54650" y="4554141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146750" y="4224040"/>
            <a:ext cx="5435650" cy="847427"/>
          </a:xfrm>
          <a:prstGeom prst="roundRect">
            <a:avLst>
              <a:gd name="adj" fmla="val 119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375350" y="446990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03789" y="4542830"/>
            <a:ext cx="1006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883301" y="4376440"/>
            <a:ext cx="3627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找一个人，用「请问」问他/她时间。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83301" y="4601766"/>
            <a:ext cx="362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someone and ask them using 请问 politely.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883301" y="4744641"/>
            <a:ext cx="3556099" cy="174427"/>
          </a:xfrm>
          <a:prstGeom prst="roundRect">
            <a:avLst>
              <a:gd name="adj" fmla="val 7273702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984802" y="4769941"/>
            <a:ext cx="3420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Polite: 请问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0591800" y="4731841"/>
            <a:ext cx="762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91800" y="4554141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Name: ______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09600" y="5198418"/>
            <a:ext cx="10972800" cy="364927"/>
          </a:xfrm>
          <a:prstGeom prst="roundRect">
            <a:avLst>
              <a:gd name="adj" fmla="val 20881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87301" y="5299918"/>
            <a:ext cx="84734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Rules: Different person for each prompt (6 different classmates). Must ask「现在几点？」in Chinese. Listen to the pattern they use, not just the time.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027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ASKING TIME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6582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7997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8861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05429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5972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8305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1771799"/>
            <a:ext cx="35153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the time using 现在几点 in a real conversation.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01156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1952774"/>
            <a:ext cx="37916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with the most natural Chinese time expression.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21925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133749"/>
            <a:ext cx="36873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have a real conversation about time with classmates.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2492425"/>
            <a:ext cx="10769798" cy="1517452"/>
          </a:xfrm>
          <a:prstGeom prst="roundRect">
            <a:avLst>
              <a:gd name="adj" fmla="val 669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644825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 Conversation Skills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2882950"/>
            <a:ext cx="3386733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83915" y="3009900"/>
            <a:ext cx="32474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83915" y="3295650"/>
            <a:ext cx="32474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83915" y="3482876"/>
            <a:ext cx="32474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AND answer about time with a follow-up question, using 请问 naturally.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402485" y="2882950"/>
            <a:ext cx="3386882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72147" y="3009900"/>
            <a:ext cx="324755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72147" y="3295650"/>
            <a:ext cx="3247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72147" y="3482876"/>
            <a:ext cx="324755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现在几点？ and answer the time. I sometimes use natural patterns.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890867" y="2882950"/>
            <a:ext cx="3386733" cy="974527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960531" y="3009900"/>
            <a:ext cx="32474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960531" y="3295650"/>
            <a:ext cx="32474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Level 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60531" y="3482876"/>
            <a:ext cx="32474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现在几点？ but I'm not yet confident answering or asking.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1101" y="4162276"/>
            <a:ext cx="10769798" cy="1698575"/>
          </a:xfrm>
          <a:prstGeom prst="roundRect">
            <a:avLst>
              <a:gd name="adj" fmla="val 5982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84052" y="4333726"/>
            <a:ext cx="24332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84052" y="4457551"/>
            <a:ext cx="24332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short dialogue: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4052" y="4705201"/>
            <a:ext cx="24332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asks the time. B answers. A says thanks.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84052" y="4917877"/>
            <a:ext cx="2385566" cy="771525"/>
          </a:xfrm>
          <a:prstGeom prst="roundRect">
            <a:avLst>
              <a:gd name="adj" fmla="val 658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120527" y="5003602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_____________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0527" y="5203627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 _____________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20527" y="5403652"/>
            <a:ext cx="21548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_____________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1101" y="5962352"/>
            <a:ext cx="10659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fingers = Level 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984772" y="5962352"/>
            <a:ext cx="10665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Level 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59038" y="5962352"/>
            <a:ext cx="95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Level 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2026-06-28T06:39:08Z</dcterms:created>
  <dcterms:modified xsi:type="dcterms:W3CDTF">2026-06-28T06:39:08Z</dcterms:modified>
</cp:coreProperties>
</file>