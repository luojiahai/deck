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8500" y="1678484"/>
            <a:ext cx="1435001" cy="1054001"/>
          </a:xfrm>
          <a:prstGeom prst="roundRect">
            <a:avLst>
              <a:gd name="adj" fmla="val 28918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96484" y="1886396"/>
            <a:ext cx="1399032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几点？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72175" y="2808684"/>
            <a:ext cx="247650" cy="0"/>
          </a:xfrm>
          <a:prstGeom prst="line">
            <a:avLst/>
          </a:prstGeom>
          <a:noFill/>
          <a:ln w="152400">
            <a:solidFill>
              <a:srgbClr val="C894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57913" y="2732484"/>
            <a:ext cx="0" cy="152400"/>
          </a:xfrm>
          <a:prstGeom prst="line">
            <a:avLst/>
          </a:prstGeom>
          <a:noFill/>
          <a:ln w="12382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4088" y="2732484"/>
            <a:ext cx="0" cy="152400"/>
          </a:xfrm>
          <a:prstGeom prst="line">
            <a:avLst/>
          </a:prstGeom>
          <a:noFill/>
          <a:ln w="1238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40329" y="3088035"/>
            <a:ext cx="53113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6 · Y7 Unit 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40329" y="3370511"/>
            <a:ext cx="5311342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20"/>
              </a:lnSpc>
              <a:buNone/>
            </a:pPr>
            <a:r>
              <a:rPr lang="en-US" sz="7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现在几点？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3440329" y="4427041"/>
            <a:ext cx="53113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Asking the Time · Natural Chinese Conversations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40329" y="5017591"/>
            <a:ext cx="53113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· 50 mins · Speaking + Listening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ASKING TIME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6582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79972" y="166688"/>
            <a:ext cx="10858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10 Clock Faces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6301" y="660350"/>
            <a:ext cx="116069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6301" y="828526"/>
            <a:ext cx="116069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the Most Natural Chinese Time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06301" y="1206252"/>
            <a:ext cx="116069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patterns mixed. Write the NATURAL way a Chinese speaker would say it.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6301" y="1495127"/>
            <a:ext cx="2194620" cy="1460153"/>
          </a:xfrm>
          <a:prstGeom prst="roundRect">
            <a:avLst>
              <a:gd name="adj" fmla="val 52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097" y="1545878"/>
            <a:ext cx="411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54311" y="1647379"/>
            <a:ext cx="698450" cy="698450"/>
          </a:xfrm>
          <a:prstGeom prst="roundRect">
            <a:avLst>
              <a:gd name="adj" fmla="val 130918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03462" y="1977628"/>
            <a:ext cx="203150" cy="38100"/>
          </a:xfrm>
          <a:prstGeom prst="roundRect">
            <a:avLst>
              <a:gd name="adj" fmla="val 6666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93937" y="1717328"/>
            <a:ext cx="19050" cy="279350"/>
          </a:xfrm>
          <a:prstGeom prst="roundRect">
            <a:avLst>
              <a:gd name="adj" fmla="val 66667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78087" y="197115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6120" y="2422029"/>
            <a:ext cx="21349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98811" y="2844254"/>
            <a:ext cx="609600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02421" y="1495127"/>
            <a:ext cx="2194620" cy="1460153"/>
          </a:xfrm>
          <a:prstGeom prst="roundRect">
            <a:avLst>
              <a:gd name="adj" fmla="val 52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78056" y="1545878"/>
            <a:ext cx="57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450431" y="1647379"/>
            <a:ext cx="698450" cy="698450"/>
          </a:xfrm>
          <a:prstGeom prst="roundRect">
            <a:avLst>
              <a:gd name="adj" fmla="val 130918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41737" y="1991748"/>
            <a:ext cx="76246" cy="157068"/>
          </a:xfrm>
          <a:prstGeom prst="roundRect">
            <a:avLst>
              <a:gd name="adj" fmla="val 33313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90057" y="1996678"/>
            <a:ext cx="19050" cy="279350"/>
          </a:xfrm>
          <a:prstGeom prst="roundRect">
            <a:avLst>
              <a:gd name="adj" fmla="val 66667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774207" y="197115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732240" y="2422029"/>
            <a:ext cx="21349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6:30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94931" y="2844254"/>
            <a:ext cx="609600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8541" y="1495127"/>
            <a:ext cx="2194768" cy="1460153"/>
          </a:xfrm>
          <a:prstGeom prst="roundRect">
            <a:avLst>
              <a:gd name="adj" fmla="val 52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74171" y="1545878"/>
            <a:ext cx="581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746700" y="1647379"/>
            <a:ext cx="698450" cy="698450"/>
          </a:xfrm>
          <a:prstGeom prst="roundRect">
            <a:avLst>
              <a:gd name="adj" fmla="val 130918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29726" y="1956248"/>
            <a:ext cx="168611" cy="59317"/>
          </a:xfrm>
          <a:prstGeom prst="roundRect">
            <a:avLst>
              <a:gd name="adj" fmla="val 42821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95851" y="1987153"/>
            <a:ext cx="279350" cy="19050"/>
          </a:xfrm>
          <a:prstGeom prst="roundRect">
            <a:avLst>
              <a:gd name="adj" fmla="val 66667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70476" y="197115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28359" y="2422029"/>
            <a:ext cx="21351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9:15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91051" y="2844254"/>
            <a:ext cx="609600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94811" y="1495127"/>
            <a:ext cx="2194620" cy="1460153"/>
          </a:xfrm>
          <a:prstGeom prst="roundRect">
            <a:avLst>
              <a:gd name="adj" fmla="val 52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370435" y="1545878"/>
            <a:ext cx="587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042821" y="1647379"/>
            <a:ext cx="698450" cy="698450"/>
          </a:xfrm>
          <a:prstGeom prst="roundRect">
            <a:avLst>
              <a:gd name="adj" fmla="val 130918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249431" y="1981565"/>
            <a:ext cx="154137" cy="130703"/>
          </a:xfrm>
          <a:prstGeom prst="roundRect">
            <a:avLst>
              <a:gd name="adj" fmla="val 19433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112621" y="1987153"/>
            <a:ext cx="279350" cy="19050"/>
          </a:xfrm>
          <a:prstGeom prst="roundRect">
            <a:avLst>
              <a:gd name="adj" fmla="val 66667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366596" y="197115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324630" y="2422029"/>
            <a:ext cx="21349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7:45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87320" y="2844254"/>
            <a:ext cx="609600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90931" y="1495127"/>
            <a:ext cx="2194768" cy="1460153"/>
          </a:xfrm>
          <a:prstGeom prst="roundRect">
            <a:avLst>
              <a:gd name="adj" fmla="val 52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666564" y="1545878"/>
            <a:ext cx="5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0339090" y="1647379"/>
            <a:ext cx="698450" cy="698450"/>
          </a:xfrm>
          <a:prstGeom prst="roundRect">
            <a:avLst>
              <a:gd name="adj" fmla="val 130918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0672636" y="1985751"/>
            <a:ext cx="147732" cy="188264"/>
          </a:xfrm>
          <a:prstGeom prst="roundRect">
            <a:avLst>
              <a:gd name="adj" fmla="val 17193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0441553" y="1848754"/>
            <a:ext cx="251450" cy="156173"/>
          </a:xfrm>
          <a:prstGeom prst="roundRect">
            <a:avLst>
              <a:gd name="adj" fmla="val 813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0662865" y="197115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9620749" y="2422029"/>
            <a:ext cx="21351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4:50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0383441" y="2844254"/>
            <a:ext cx="609600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6301" y="3056781"/>
            <a:ext cx="2194620" cy="1460153"/>
          </a:xfrm>
          <a:prstGeom prst="roundRect">
            <a:avLst>
              <a:gd name="adj" fmla="val 52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81923" y="3107531"/>
            <a:ext cx="589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154311" y="3209032"/>
            <a:ext cx="698450" cy="698450"/>
          </a:xfrm>
          <a:prstGeom prst="roundRect">
            <a:avLst>
              <a:gd name="adj" fmla="val 130918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487395" y="3398225"/>
            <a:ext cx="127612" cy="170342"/>
          </a:xfrm>
          <a:prstGeom prst="roundRect">
            <a:avLst>
              <a:gd name="adj" fmla="val 19904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495213" y="3311645"/>
            <a:ext cx="156173" cy="251449"/>
          </a:xfrm>
          <a:prstGeom prst="roundRect">
            <a:avLst>
              <a:gd name="adj" fmla="val 813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478087" y="3532808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36120" y="3983682"/>
            <a:ext cx="21349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1:05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198811" y="4405908"/>
            <a:ext cx="609600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02421" y="3056781"/>
            <a:ext cx="2194620" cy="1460153"/>
          </a:xfrm>
          <a:prstGeom prst="roundRect">
            <a:avLst>
              <a:gd name="adj" fmla="val 52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2778096" y="3107531"/>
            <a:ext cx="535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450431" y="3209032"/>
            <a:ext cx="698450" cy="698450"/>
          </a:xfrm>
          <a:prstGeom prst="roundRect">
            <a:avLst>
              <a:gd name="adj" fmla="val 130918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3717910" y="3412159"/>
            <a:ext cx="98938" cy="154223"/>
          </a:xfrm>
          <a:prstGeom prst="roundRect">
            <a:avLst>
              <a:gd name="adj" fmla="val 25673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3794820" y="3410408"/>
            <a:ext cx="251449" cy="156173"/>
          </a:xfrm>
          <a:prstGeom prst="roundRect">
            <a:avLst>
              <a:gd name="adj" fmla="val 813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3774207" y="3532808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2732240" y="3983682"/>
            <a:ext cx="21349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11:10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494931" y="4405908"/>
            <a:ext cx="609600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98541" y="3056781"/>
            <a:ext cx="2194768" cy="1460153"/>
          </a:xfrm>
          <a:prstGeom prst="roundRect">
            <a:avLst>
              <a:gd name="adj" fmla="val 52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074167" y="3107531"/>
            <a:ext cx="585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746700" y="3209032"/>
            <a:ext cx="698450" cy="698450"/>
          </a:xfrm>
          <a:prstGeom prst="roundRect">
            <a:avLst>
              <a:gd name="adj" fmla="val 130918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6089336" y="3483980"/>
            <a:ext cx="168128" cy="92253"/>
          </a:xfrm>
          <a:prstGeom prst="roundRect">
            <a:avLst>
              <a:gd name="adj" fmla="val 27533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6091089" y="3550083"/>
            <a:ext cx="251450" cy="156173"/>
          </a:xfrm>
          <a:prstGeom prst="roundRect">
            <a:avLst>
              <a:gd name="adj" fmla="val 813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070476" y="3532808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5028359" y="3983682"/>
            <a:ext cx="21351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2:20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791051" y="4405908"/>
            <a:ext cx="609600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94811" y="3056781"/>
            <a:ext cx="2194620" cy="1460153"/>
          </a:xfrm>
          <a:prstGeom prst="roundRect">
            <a:avLst>
              <a:gd name="adj" fmla="val 52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7370433" y="3107531"/>
            <a:ext cx="589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8042821" y="3209032"/>
            <a:ext cx="698450" cy="698450"/>
          </a:xfrm>
          <a:prstGeom prst="roundRect">
            <a:avLst>
              <a:gd name="adj" fmla="val 130918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8188600" y="3539571"/>
            <a:ext cx="206680" cy="72798"/>
          </a:xfrm>
          <a:prstGeom prst="roundRect">
            <a:avLst>
              <a:gd name="adj" fmla="val 34891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8145284" y="3550083"/>
            <a:ext cx="251450" cy="156173"/>
          </a:xfrm>
          <a:prstGeom prst="roundRect">
            <a:avLst>
              <a:gd name="adj" fmla="val 813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8366596" y="3532808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7324630" y="3983682"/>
            <a:ext cx="21349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8:40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8087320" y="4405908"/>
            <a:ext cx="609600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590931" y="3056781"/>
            <a:ext cx="2194768" cy="1460153"/>
          </a:xfrm>
          <a:prstGeom prst="roundRect">
            <a:avLst>
              <a:gd name="adj" fmla="val 52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9666150" y="3107531"/>
            <a:ext cx="1000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10339090" y="3209032"/>
            <a:ext cx="698450" cy="698450"/>
          </a:xfrm>
          <a:prstGeom prst="roundRect">
            <a:avLst>
              <a:gd name="adj" fmla="val 130918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10671343" y="3391913"/>
            <a:ext cx="115849" cy="175215"/>
          </a:xfrm>
          <a:prstGeom prst="roundRect">
            <a:avLst>
              <a:gd name="adj" fmla="val 21925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10540317" y="3311645"/>
            <a:ext cx="156172" cy="251449"/>
          </a:xfrm>
          <a:prstGeom prst="roundRect">
            <a:avLst>
              <a:gd name="adj" fmla="val 813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10662865" y="3532808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9620749" y="3983682"/>
            <a:ext cx="21351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12:55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10383441" y="4405908"/>
            <a:ext cx="609600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06301" y="4643884"/>
            <a:ext cx="11379398" cy="364927"/>
          </a:xfrm>
          <a:prstGeom prst="roundRect">
            <a:avLst>
              <a:gd name="adj" fmla="val 20881"/>
            </a:avLst>
          </a:prstGeom>
          <a:solidFill>
            <a:srgbClr val="3A7D8C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584002" y="4745385"/>
            <a:ext cx="50529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Think: "How would a Chinese person actually say this?" Not word-by-word from English.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57200" y="6653213"/>
            <a:ext cx="14535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ASKING TIME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6582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79972" y="166688"/>
            <a:ext cx="79727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711101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904726"/>
            <a:ext cx="109851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1101" y="1536502"/>
            <a:ext cx="10769798" cy="714375"/>
          </a:xfrm>
          <a:prstGeom prst="rect">
            <a:avLst/>
          </a:prstGeom>
          <a:solidFill>
            <a:srgbClr val="C8943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0151" y="1536502"/>
            <a:ext cx="0" cy="714375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351" y="1688902"/>
            <a:ext cx="10531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952351" y="1850827"/>
            <a:ext cx="105319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ask and answer "What time is it?" in natural Chinese conversations.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1101" y="2479477"/>
            <a:ext cx="241250" cy="241250"/>
          </a:xfrm>
          <a:prstGeom prst="roundRect">
            <a:avLst>
              <a:gd name="adj" fmla="val 37902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8583" y="2528590"/>
            <a:ext cx="47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3852" y="2495252"/>
            <a:ext cx="42194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the time using 现在几点 in a real conversation.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15901" y="2746028"/>
            <a:ext cx="106742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用「现在几点」问时间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1101" y="3009454"/>
            <a:ext cx="241250" cy="241250"/>
          </a:xfrm>
          <a:prstGeom prst="roundRect">
            <a:avLst>
              <a:gd name="adj" fmla="val 37902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9356" y="3058567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3852" y="3025229"/>
            <a:ext cx="45511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answer with the most natural Chinese time expression.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15901" y="3276005"/>
            <a:ext cx="106742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用最自然的表达回答时间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1101" y="3539430"/>
            <a:ext cx="241250" cy="241250"/>
          </a:xfrm>
          <a:prstGeom prst="roundRect">
            <a:avLst>
              <a:gd name="adj" fmla="val 37902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9207" y="3588544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3852" y="3555206"/>
            <a:ext cx="44258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have a real conversation about time with classmates.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15901" y="3805982"/>
            <a:ext cx="106742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与同学真实对话谈论时间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1101" y="4196507"/>
            <a:ext cx="10769798" cy="492026"/>
          </a:xfrm>
          <a:prstGeom prst="roundRect">
            <a:avLst>
              <a:gd name="adj" fmla="val 20649"/>
            </a:avLst>
          </a:prstGeom>
          <a:solidFill>
            <a:srgbClr val="3A7D8C">
              <a:alpha val="8000"/>
            </a:srgbClr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81813" y="4342507"/>
            <a:ext cx="104283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Goal: Speak to at least 10 different classmates in Chinese about time today.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ASKING TIME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6582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79972" y="166688"/>
            <a:ext cx="997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1792635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10–18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1986260"/>
            <a:ext cx="111922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新词汇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9600" y="2554486"/>
            <a:ext cx="3555950" cy="1028551"/>
          </a:xfrm>
          <a:prstGeom prst="roundRect">
            <a:avLst>
              <a:gd name="adj" fmla="val 12347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82551" y="2776686"/>
            <a:ext cx="1191819" cy="5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现在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2254151" y="2792462"/>
            <a:ext cx="10105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xiànzài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54151" y="3021062"/>
            <a:ext cx="10105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54151" y="3202037"/>
            <a:ext cx="10105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 (appear) + 在 (at)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17950" y="2554486"/>
            <a:ext cx="3555950" cy="1028551"/>
          </a:xfrm>
          <a:prstGeom prst="roundRect">
            <a:avLst>
              <a:gd name="adj" fmla="val 12347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90901" y="2776686"/>
            <a:ext cx="595985" cy="5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5378351" y="2792462"/>
            <a:ext cx="1328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78351" y="3021062"/>
            <a:ext cx="13282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(number)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78351" y="3202037"/>
            <a:ext cx="1328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strokes · Question word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026301" y="2554486"/>
            <a:ext cx="3556099" cy="1028551"/>
          </a:xfrm>
          <a:prstGeom prst="roundRect">
            <a:avLst>
              <a:gd name="adj" fmla="val 12347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99252" y="2776686"/>
            <a:ext cx="595985" cy="5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表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9086701" y="2792462"/>
            <a:ext cx="1388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biǎo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86701" y="3021062"/>
            <a:ext cx="13882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watch / clock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86701" y="3202037"/>
            <a:ext cx="13882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strokes · Surface/display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9600" y="3786188"/>
            <a:ext cx="10972800" cy="1431429"/>
          </a:xfrm>
          <a:prstGeom prst="roundRect">
            <a:avLst>
              <a:gd name="adj" fmla="val 7098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33450" y="3982938"/>
            <a:ext cx="105316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 Breakdown · 问题拆解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33450" y="4227314"/>
            <a:ext cx="907554" cy="555427"/>
          </a:xfrm>
          <a:prstGeom prst="roundRect">
            <a:avLst>
              <a:gd name="adj" fmla="val 13719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55650" y="4347865"/>
            <a:ext cx="4724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现在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942505" y="4362152"/>
            <a:ext cx="1264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167979" y="4227314"/>
            <a:ext cx="675977" cy="555427"/>
          </a:xfrm>
          <a:prstGeom prst="roundRect">
            <a:avLst>
              <a:gd name="adj" fmla="val 13719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390180" y="4347865"/>
            <a:ext cx="23620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几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945457" y="4362152"/>
            <a:ext cx="1264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170932" y="4227314"/>
            <a:ext cx="675977" cy="555427"/>
          </a:xfrm>
          <a:prstGeom prst="roundRect">
            <a:avLst>
              <a:gd name="adj" fmla="val 13719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393132" y="4347865"/>
            <a:ext cx="23620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948410" y="4362152"/>
            <a:ext cx="1285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175968" y="4227314"/>
            <a:ext cx="1602284" cy="555427"/>
          </a:xfrm>
          <a:prstGeom prst="roundRect">
            <a:avLst>
              <a:gd name="adj" fmla="val 13719"/>
            </a:avLst>
          </a:prstGeom>
          <a:solidFill>
            <a:srgbClr val="EDE7D7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398169" y="4347865"/>
            <a:ext cx="11810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现在几点？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33450" y="4858941"/>
            <a:ext cx="105316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"Now" + "what number" + "o'clock" = What time is it?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ASKING TIME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6582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79972" y="166688"/>
            <a:ext cx="10204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Model Dialogues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120253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10–18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288429"/>
            <a:ext cx="1119225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Model Dialogues · 示范对话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600" y="786854"/>
            <a:ext cx="1694259" cy="219075"/>
          </a:xfrm>
          <a:prstGeom prst="roundRect">
            <a:avLst>
              <a:gd name="adj" fmla="val 5791304"/>
            </a:avLst>
          </a:prstGeom>
          <a:solidFill>
            <a:srgbClr val="3A7D8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2000" y="824954"/>
            <a:ext cx="1417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Dialogue 1 · Basic Q&amp;A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9600" y="108212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6607" y="1144042"/>
            <a:ext cx="926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41350" y="1082129"/>
            <a:ext cx="1785342" cy="510927"/>
          </a:xfrm>
          <a:prstGeom prst="roundRect">
            <a:avLst>
              <a:gd name="adj" fmla="val 19885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12800" y="1164580"/>
            <a:ext cx="14712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现在几点？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12800" y="1386780"/>
            <a:ext cx="14712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Xiànzài jǐ diǎn? · What time is it?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09600" y="166925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16161" y="1731169"/>
            <a:ext cx="935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41350" y="1669256"/>
            <a:ext cx="1718221" cy="510927"/>
          </a:xfrm>
          <a:prstGeom prst="roundRect">
            <a:avLst>
              <a:gd name="adj" fmla="val 19885"/>
            </a:avLst>
          </a:prstGeom>
          <a:solidFill>
            <a:srgbClr val="FFFFFF"/>
          </a:solidFill>
          <a:ln w="19050">
            <a:solidFill>
              <a:srgbClr val="3A7D8C"/>
            </a:solidFill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12800" y="1751707"/>
            <a:ext cx="14028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两点半。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12800" y="1973907"/>
            <a:ext cx="14028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Liǎng diǎn bàn. · Half past two.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09600" y="225638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6607" y="2318296"/>
            <a:ext cx="926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41350" y="2256383"/>
            <a:ext cx="1077516" cy="510927"/>
          </a:xfrm>
          <a:prstGeom prst="roundRect">
            <a:avLst>
              <a:gd name="adj" fmla="val 19885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212800" y="2338834"/>
            <a:ext cx="7493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谢谢！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12800" y="2561034"/>
            <a:ext cx="7493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Xièxie! · Thanks!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9600" y="284351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16161" y="2905423"/>
            <a:ext cx="935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41350" y="2843510"/>
            <a:ext cx="1510754" cy="510927"/>
          </a:xfrm>
          <a:prstGeom prst="roundRect">
            <a:avLst>
              <a:gd name="adj" fmla="val 19885"/>
            </a:avLst>
          </a:prstGeom>
          <a:solidFill>
            <a:srgbClr val="FFFFFF"/>
          </a:solidFill>
          <a:ln w="19050">
            <a:solidFill>
              <a:srgbClr val="3A7D8C"/>
            </a:solidFill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212800" y="2925961"/>
            <a:ext cx="11912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不客气。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12800" y="3148161"/>
            <a:ext cx="11912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Bù kèqì. · You're welcome.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09600" y="3678287"/>
            <a:ext cx="2956471" cy="219075"/>
          </a:xfrm>
          <a:prstGeom prst="roundRect">
            <a:avLst>
              <a:gd name="adj" fmla="val 5791304"/>
            </a:avLst>
          </a:prstGeom>
          <a:solidFill>
            <a:srgbClr val="3A7D8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62000" y="3716387"/>
            <a:ext cx="27047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Dialogue 2 · Verification (repeat to confirm)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9600" y="397356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16607" y="4035475"/>
            <a:ext cx="926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41350" y="3973562"/>
            <a:ext cx="1120229" cy="510927"/>
          </a:xfrm>
          <a:prstGeom prst="roundRect">
            <a:avLst>
              <a:gd name="adj" fmla="val 19885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212800" y="4056013"/>
            <a:ext cx="7928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现在几点？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212800" y="4278213"/>
            <a:ext cx="79287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time is it?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09600" y="456068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16161" y="4622602"/>
            <a:ext cx="935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41350" y="4560689"/>
            <a:ext cx="1431131" cy="510927"/>
          </a:xfrm>
          <a:prstGeom prst="roundRect">
            <a:avLst>
              <a:gd name="adj" fmla="val 19885"/>
            </a:avLst>
          </a:prstGeom>
          <a:solidFill>
            <a:srgbClr val="FFFFFF"/>
          </a:solidFill>
          <a:ln w="19050">
            <a:solidFill>
              <a:srgbClr val="3A7D8C"/>
            </a:solidFill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212800" y="4643140"/>
            <a:ext cx="11099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五点四十五分。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212800" y="4865340"/>
            <a:ext cx="11099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5:45.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09600" y="514781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16607" y="5209729"/>
            <a:ext cx="926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41350" y="5147816"/>
            <a:ext cx="1562546" cy="510927"/>
          </a:xfrm>
          <a:prstGeom prst="roundRect">
            <a:avLst>
              <a:gd name="adj" fmla="val 19885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212800" y="5230267"/>
            <a:ext cx="12440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五点四十五分？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212800" y="5452467"/>
            <a:ext cx="12440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5:45? (repeating to confirm)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09600" y="573494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16161" y="5796855"/>
            <a:ext cx="935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41350" y="5734943"/>
            <a:ext cx="1742033" cy="510927"/>
          </a:xfrm>
          <a:prstGeom prst="roundRect">
            <a:avLst>
              <a:gd name="adj" fmla="val 19885"/>
            </a:avLst>
          </a:prstGeom>
          <a:solidFill>
            <a:srgbClr val="FFFFFF"/>
          </a:solidFill>
          <a:ln w="19050">
            <a:solidFill>
              <a:srgbClr val="3A7D8C"/>
            </a:solidFill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212800" y="5817394"/>
            <a:ext cx="14271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对，五点四十五分。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212800" y="6039594"/>
            <a:ext cx="14271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Yes, 5:45.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09600" y="6398270"/>
            <a:ext cx="5410200" cy="339626"/>
          </a:xfrm>
          <a:prstGeom prst="roundRect">
            <a:avLst>
              <a:gd name="adj" fmla="val 22436"/>
            </a:avLst>
          </a:prstGeom>
          <a:solidFill>
            <a:srgbClr val="D4756B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87301" y="6487120"/>
            <a:ext cx="40612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Repeating the time back shows you understood and confirms accuracy.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172200" y="6398270"/>
            <a:ext cx="5410200" cy="339626"/>
          </a:xfrm>
          <a:prstGeom prst="roundRect">
            <a:avLst>
              <a:gd name="adj" fmla="val 22436"/>
            </a:avLst>
          </a:prstGeom>
          <a:solidFill>
            <a:srgbClr val="D4756B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349901" y="6487120"/>
            <a:ext cx="33690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Notice: reply is just the time — no need to repeat 现在几点.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ASKING TIME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6582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79972" y="166688"/>
            <a:ext cx="17993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Extended Dialogue + Guide + CFU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348532"/>
            <a:ext cx="2353419" cy="174427"/>
          </a:xfrm>
          <a:prstGeom prst="roundRect">
            <a:avLst>
              <a:gd name="adj" fmla="val 7273702"/>
            </a:avLst>
          </a:prstGeom>
          <a:solidFill>
            <a:srgbClr val="3A7D8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4150" y="1373832"/>
            <a:ext cx="21415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Dialogue 3 · Extended (Polite + Reason)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158635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7688" y="1641872"/>
            <a:ext cx="743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12602" y="1586359"/>
            <a:ext cx="2073771" cy="727025"/>
          </a:xfrm>
          <a:prstGeom prst="roundRect">
            <a:avLst>
              <a:gd name="adj" fmla="val 10481"/>
            </a:avLst>
          </a:prstGeom>
          <a:solidFill>
            <a:srgbClr val="FFFFFF"/>
          </a:solidFill>
          <a:ln w="9525">
            <a:solidFill>
              <a:srgbClr val="C8943E"/>
            </a:solidFill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4527" y="1672084"/>
            <a:ext cx="17849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4527" y="1881634"/>
            <a:ext cx="17849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现在几点？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4527" y="2103834"/>
            <a:ext cx="17849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Qǐng wèn — Excuse me, what time is it?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57200" y="237678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7390" y="2432298"/>
            <a:ext cx="7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12602" y="2376785"/>
            <a:ext cx="1256556" cy="517475"/>
          </a:xfrm>
          <a:prstGeom prst="roundRect">
            <a:avLst>
              <a:gd name="adj" fmla="val 14725"/>
            </a:avLst>
          </a:prstGeom>
          <a:solidFill>
            <a:srgbClr val="FFFFFF"/>
          </a:solidFill>
          <a:ln w="9525">
            <a:solidFill>
              <a:srgbClr val="3A7D8C"/>
            </a:solidFill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74527" y="2462510"/>
            <a:ext cx="9513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差十分四点。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4527" y="2684711"/>
            <a:ext cx="9513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Ten to four. (3:50)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57200" y="295766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7688" y="3013174"/>
            <a:ext cx="743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12602" y="2957661"/>
            <a:ext cx="1944439" cy="517475"/>
          </a:xfrm>
          <a:prstGeom prst="roundRect">
            <a:avLst>
              <a:gd name="adj" fmla="val 14725"/>
            </a:avLst>
          </a:prstGeom>
          <a:solidFill>
            <a:srgbClr val="FFFFFF"/>
          </a:solidFill>
          <a:ln w="9525">
            <a:solidFill>
              <a:srgbClr val="C8943E"/>
            </a:solidFill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74527" y="3043386"/>
            <a:ext cx="16530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谢谢你！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4527" y="3265587"/>
            <a:ext cx="16530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Thank you! I need to go play football.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353853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7390" y="3594050"/>
            <a:ext cx="7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2602" y="3538538"/>
            <a:ext cx="1722983" cy="517475"/>
          </a:xfrm>
          <a:prstGeom prst="roundRect">
            <a:avLst>
              <a:gd name="adj" fmla="val 14725"/>
            </a:avLst>
          </a:prstGeom>
          <a:solidFill>
            <a:srgbClr val="FFFFFF"/>
          </a:solidFill>
          <a:ln w="9525">
            <a:solidFill>
              <a:srgbClr val="3A7D8C"/>
            </a:solidFill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74527" y="3624263"/>
            <a:ext cx="14271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不客气。玩得开心！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4527" y="3846463"/>
            <a:ext cx="14271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You're welcome. Have fun!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197501" y="1307157"/>
            <a:ext cx="56480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Natural Answer Guide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197501" y="1456283"/>
            <a:ext cx="56480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Most Natural Way to Say It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97501" y="1919734"/>
            <a:ext cx="5537299" cy="822127"/>
          </a:xfrm>
          <a:prstGeom prst="roundRect">
            <a:avLst>
              <a:gd name="adj" fmla="val 9269"/>
            </a:avLst>
          </a:prstGeom>
          <a:solidFill>
            <a:srgbClr val="C8943E">
              <a:alpha val="10000"/>
            </a:srgbClr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94731" y="2116485"/>
            <a:ext cx="51428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Natural Answer Guide on next slide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94731" y="2402235"/>
            <a:ext cx="5142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reveals after students attempt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4162276"/>
            <a:ext cx="112776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268539"/>
            <a:ext cx="115031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for Understanding · Fingers up / Paper up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7200" y="4468564"/>
            <a:ext cx="3708350" cy="456902"/>
          </a:xfrm>
          <a:prstGeom prst="roundRect">
            <a:avLst>
              <a:gd name="adj" fmla="val 166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84150" y="457006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85205" y="4616053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39552" y="4616053"/>
            <a:ext cx="31610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do you ask "What time is it?" in Chinese?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241750" y="4468564"/>
            <a:ext cx="3708350" cy="456902"/>
          </a:xfrm>
          <a:prstGeom prst="roundRect">
            <a:avLst>
              <a:gd name="adj" fmla="val 166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368701" y="457006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459337" y="4616053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24102" y="4616053"/>
            <a:ext cx="31610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best answer for 7:45 — fingers?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26301" y="4468564"/>
            <a:ext cx="3708499" cy="456902"/>
          </a:xfrm>
          <a:prstGeom prst="roundRect">
            <a:avLst>
              <a:gd name="adj" fmla="val 166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153251" y="457006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243590" y="4616053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508653" y="4616053"/>
            <a:ext cx="31611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"现在" means ___? (1 finger = "now", 2 = "time")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5001667"/>
            <a:ext cx="3708350" cy="526852"/>
          </a:xfrm>
          <a:prstGeom prst="roundRect">
            <a:avLst>
              <a:gd name="adj" fmla="val 144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84150" y="513814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74043" y="5184130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39552" y="5184130"/>
            <a:ext cx="31610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says「差十分四点」. Write the DIGITS.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41750" y="5001667"/>
            <a:ext cx="3708350" cy="526852"/>
          </a:xfrm>
          <a:prstGeom prst="roundRect">
            <a:avLst>
              <a:gd name="adj" fmla="val 144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368701" y="513814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459188" y="5184130"/>
            <a:ext cx="743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24102" y="5103168"/>
            <a:ext cx="316102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"几" in「现在几点」means ___? (1 = what, 2 = how many)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026301" y="5001667"/>
            <a:ext cx="3708499" cy="526852"/>
          </a:xfrm>
          <a:prstGeom prst="roundRect">
            <a:avLst>
              <a:gd name="adj" fmla="val 144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8153251" y="513814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8243143" y="5184130"/>
            <a:ext cx="75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508653" y="5184130"/>
            <a:ext cx="31611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 be polite when asking a stranger, add ___?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57200" y="5579269"/>
            <a:ext cx="9776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 = Yes / Agree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618804" y="5579269"/>
            <a:ext cx="11341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fingers = No / Disagree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933849" y="5579269"/>
            <a:ext cx="6600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Fist = Not sure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ASKING TIME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6582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79972" y="166688"/>
            <a:ext cx="9575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· Answers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084808"/>
            <a:ext cx="2353419" cy="174427"/>
          </a:xfrm>
          <a:prstGeom prst="roundRect">
            <a:avLst>
              <a:gd name="adj" fmla="val 7273702"/>
            </a:avLst>
          </a:prstGeom>
          <a:solidFill>
            <a:srgbClr val="3A7D8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4150" y="1110109"/>
            <a:ext cx="21415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Dialogue 3 · Extended (Polite + Reason)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132263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7688" y="1378148"/>
            <a:ext cx="743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12602" y="1322636"/>
            <a:ext cx="2073771" cy="517475"/>
          </a:xfrm>
          <a:prstGeom prst="roundRect">
            <a:avLst>
              <a:gd name="adj" fmla="val 14725"/>
            </a:avLst>
          </a:prstGeom>
          <a:solidFill>
            <a:srgbClr val="FFFFFF"/>
          </a:solidFill>
          <a:ln w="9525">
            <a:solidFill>
              <a:srgbClr val="C8943E"/>
            </a:solidFill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4527" y="1408361"/>
            <a:ext cx="17849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请问，现在几点？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4527" y="1630561"/>
            <a:ext cx="17849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Qǐng wèn — Excuse me, what time is it?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190351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7390" y="1959025"/>
            <a:ext cx="7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12602" y="1903512"/>
            <a:ext cx="1256556" cy="517475"/>
          </a:xfrm>
          <a:prstGeom prst="roundRect">
            <a:avLst>
              <a:gd name="adj" fmla="val 14725"/>
            </a:avLst>
          </a:prstGeom>
          <a:solidFill>
            <a:srgbClr val="FFFFFF"/>
          </a:solidFill>
          <a:ln w="9525">
            <a:solidFill>
              <a:srgbClr val="3A7D8C"/>
            </a:solidFill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74527" y="1989237"/>
            <a:ext cx="9513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差十分四点。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4527" y="2211437"/>
            <a:ext cx="9513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Ten to four. (3:50)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248438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47688" y="2539901"/>
            <a:ext cx="743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12602" y="2484388"/>
            <a:ext cx="1944439" cy="517475"/>
          </a:xfrm>
          <a:prstGeom prst="roundRect">
            <a:avLst>
              <a:gd name="adj" fmla="val 14725"/>
            </a:avLst>
          </a:prstGeom>
          <a:solidFill>
            <a:srgbClr val="FFFFFF"/>
          </a:solidFill>
          <a:ln w="9525">
            <a:solidFill>
              <a:srgbClr val="C8943E"/>
            </a:solidFill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74527" y="2570113"/>
            <a:ext cx="16530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谢谢你！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4527" y="2792313"/>
            <a:ext cx="16530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Thank you! I need to go play football.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57200" y="306526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7390" y="3120777"/>
            <a:ext cx="7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12602" y="3065264"/>
            <a:ext cx="1722983" cy="517475"/>
          </a:xfrm>
          <a:prstGeom prst="roundRect">
            <a:avLst>
              <a:gd name="adj" fmla="val 14725"/>
            </a:avLst>
          </a:prstGeom>
          <a:solidFill>
            <a:srgbClr val="FFFFFF"/>
          </a:solidFill>
          <a:ln w="9525">
            <a:solidFill>
              <a:srgbClr val="3A7D8C"/>
            </a:solidFill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74527" y="3150989"/>
            <a:ext cx="14271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不客气。玩得开心！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4527" y="3373189"/>
            <a:ext cx="14271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You're welcome. Have fun!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197501" y="1043434"/>
            <a:ext cx="56480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Natural Answer Guide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197501" y="1233934"/>
            <a:ext cx="730300" cy="174427"/>
          </a:xfrm>
          <a:prstGeom prst="roundRect">
            <a:avLst>
              <a:gd name="adj" fmla="val 21843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99002" y="1259235"/>
            <a:ext cx="5378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197501" y="1484561"/>
            <a:ext cx="56480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Most Natural Way to Say It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99002" y="1922562"/>
            <a:ext cx="11192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Digital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599313" y="1922562"/>
            <a:ext cx="22773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Natural Chinese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0035034" y="1922562"/>
            <a:ext cx="16302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299002" y="2163812"/>
            <a:ext cx="1119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99313" y="2154287"/>
            <a:ext cx="22773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35034" y="2182862"/>
            <a:ext cx="16302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点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299002" y="2430512"/>
            <a:ext cx="1119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7:05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599313" y="2420987"/>
            <a:ext cx="22773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七点零五分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035034" y="2449562"/>
            <a:ext cx="16302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点 零 Y 分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299002" y="2697212"/>
            <a:ext cx="1119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7:10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99313" y="2687687"/>
            <a:ext cx="22773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七点十分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035034" y="2716262"/>
            <a:ext cx="16302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点 Y 分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299002" y="2963912"/>
            <a:ext cx="1119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7:15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599313" y="2954387"/>
            <a:ext cx="22773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七点一刻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035034" y="2982962"/>
            <a:ext cx="16302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点 一刻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299002" y="3230612"/>
            <a:ext cx="1119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7:30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599313" y="3221087"/>
            <a:ext cx="22773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七点半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035034" y="3249662"/>
            <a:ext cx="16302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点 半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299002" y="3497312"/>
            <a:ext cx="1119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7:45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599313" y="3487787"/>
            <a:ext cx="22773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七点三刻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035034" y="3516362"/>
            <a:ext cx="16302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点 三刻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299002" y="3764012"/>
            <a:ext cx="1119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7:50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599313" y="3754487"/>
            <a:ext cx="22773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差十分八点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035034" y="3783062"/>
            <a:ext cx="16302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Y 分 X 点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299002" y="4030712"/>
            <a:ext cx="1119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7:55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599313" y="4021187"/>
            <a:ext cx="22773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差五分八点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35034" y="4049762"/>
            <a:ext cx="16302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Y 分 X 点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457200" y="4356050"/>
            <a:ext cx="112776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462314"/>
            <a:ext cx="115031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for Understanding · Fingers up / Paper up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57200" y="4662339"/>
            <a:ext cx="3708350" cy="526852"/>
          </a:xfrm>
          <a:prstGeom prst="roundRect">
            <a:avLst>
              <a:gd name="adj" fmla="val 144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84150" y="479881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85205" y="4844802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39552" y="4763839"/>
            <a:ext cx="246227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do you ask "What time is it?" in Chinese?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455045" y="4844802"/>
            <a:ext cx="5952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现在几点？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241750" y="4662339"/>
            <a:ext cx="3708350" cy="526852"/>
          </a:xfrm>
          <a:prstGeom prst="roundRect">
            <a:avLst>
              <a:gd name="adj" fmla="val 144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4368701" y="479881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4459337" y="4844802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724102" y="4844802"/>
            <a:ext cx="258128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best answer for 7:45 — fingers?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356277" y="4844802"/>
            <a:ext cx="476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七点三刻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026301" y="4662339"/>
            <a:ext cx="3708499" cy="526852"/>
          </a:xfrm>
          <a:prstGeom prst="roundRect">
            <a:avLst>
              <a:gd name="adj" fmla="val 144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8153251" y="479881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8243590" y="4844802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8508653" y="4763839"/>
            <a:ext cx="270804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"现在" means ___? (1 finger = "now", 2 = "time")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1265098" y="4844802"/>
            <a:ext cx="3496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"now"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7200" y="5265390"/>
            <a:ext cx="3708350" cy="526852"/>
          </a:xfrm>
          <a:prstGeom prst="roundRect">
            <a:avLst>
              <a:gd name="adj" fmla="val 144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584150" y="540186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674043" y="5447854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939552" y="5447854"/>
            <a:ext cx="28061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says「差十分四点」. Write the DIGITS.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3792141" y="5447854"/>
            <a:ext cx="2513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3:50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241750" y="5265390"/>
            <a:ext cx="3708350" cy="526852"/>
          </a:xfrm>
          <a:prstGeom prst="roundRect">
            <a:avLst>
              <a:gd name="adj" fmla="val 144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4368701" y="540186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4459188" y="5447854"/>
            <a:ext cx="743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724102" y="5366891"/>
            <a:ext cx="211312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"几" in「现在几点」means ___? (1 = what, 2 = how many)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897291" y="5447854"/>
            <a:ext cx="9443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"what" (number)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8026301" y="5265390"/>
            <a:ext cx="3708499" cy="526852"/>
          </a:xfrm>
          <a:prstGeom prst="roundRect">
            <a:avLst>
              <a:gd name="adj" fmla="val 144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8153251" y="540186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8243143" y="5447854"/>
            <a:ext cx="75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8508653" y="5447854"/>
            <a:ext cx="27781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 be polite when asking a stranger, add ___?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11333857" y="5447854"/>
            <a:ext cx="2794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请问!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457200" y="5842992"/>
            <a:ext cx="9776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 = Yes / Agree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1618804" y="5842992"/>
            <a:ext cx="11341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fingers = No / Disagree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2933849" y="5842992"/>
            <a:ext cx="6600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Fist = Not sure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ASKING TIME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6582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79972" y="166688"/>
            <a:ext cx="15692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Natural Answer Guide Reveal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1344067"/>
            <a:ext cx="111922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REVEAL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09600" y="1569393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Natural Answer Guide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9600" y="1737568"/>
            <a:ext cx="111922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Most Natural Way to Say It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6550" y="2369195"/>
            <a:ext cx="23180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Digital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63057" y="2369195"/>
            <a:ext cx="4514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Natural Chinese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943255" y="2369195"/>
            <a:ext cx="35824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6550" y="2676971"/>
            <a:ext cx="2318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3057" y="2657921"/>
            <a:ext cx="4514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43255" y="2700784"/>
            <a:ext cx="35824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点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6550" y="3060948"/>
            <a:ext cx="2318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63057" y="3041898"/>
            <a:ext cx="4514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七点零五分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43255" y="3084761"/>
            <a:ext cx="35824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点 零 Y 分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6550" y="3444925"/>
            <a:ext cx="2318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7:10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63057" y="3425875"/>
            <a:ext cx="4514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七点十分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43255" y="3468737"/>
            <a:ext cx="35824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点 Y 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6550" y="3828901"/>
            <a:ext cx="2318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7:15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63057" y="3809851"/>
            <a:ext cx="4514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七点一刻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43255" y="3852714"/>
            <a:ext cx="35824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点 一刻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6550" y="4212878"/>
            <a:ext cx="2318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63057" y="4193828"/>
            <a:ext cx="4514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七点半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43255" y="4236690"/>
            <a:ext cx="35824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点 半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6550" y="4596854"/>
            <a:ext cx="2318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7:45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63057" y="4577804"/>
            <a:ext cx="4514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七点三刻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43255" y="4620667"/>
            <a:ext cx="35824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点 三刻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6550" y="4980831"/>
            <a:ext cx="2318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7:50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63057" y="4961781"/>
            <a:ext cx="4514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差十分八点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943255" y="5004643"/>
            <a:ext cx="35824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Y 分 X 点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6550" y="5364807"/>
            <a:ext cx="2318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7:55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63057" y="5345757"/>
            <a:ext cx="4514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差五分八点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943255" y="5388620"/>
            <a:ext cx="35824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Y 分 X 点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ASKING TIME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6582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79972" y="166688"/>
            <a:ext cx="114217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Practice · Chain Dialogue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53221" y="1508671"/>
            <a:ext cx="14854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18–25 min · Activity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45922" y="1676846"/>
            <a:ext cx="310015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Chain Dialogue · 对话链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10194" y="2092672"/>
            <a:ext cx="57714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Whole-class chain. Ask the person next to you, they answer, then they ask the next person!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09391" y="2451348"/>
            <a:ext cx="7173218" cy="999827"/>
          </a:xfrm>
          <a:prstGeom prst="roundRect">
            <a:avLst>
              <a:gd name="adj" fmla="val 10162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82342" y="2343448"/>
            <a:ext cx="949672" cy="200025"/>
          </a:xfrm>
          <a:prstGeom prst="roundRect">
            <a:avLst>
              <a:gd name="adj" fmla="val 6342857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54100" y="2381548"/>
            <a:ext cx="6061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 Class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883991" y="2673548"/>
            <a:ext cx="629989" cy="403027"/>
          </a:xfrm>
          <a:prstGeom prst="roundRect">
            <a:avLst>
              <a:gd name="adj" fmla="val 189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058946" y="2775049"/>
            <a:ext cx="2800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09209" y="2732187"/>
            <a:ext cx="6398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44293" y="2673548"/>
            <a:ext cx="1080343" cy="403027"/>
          </a:xfrm>
          <a:prstGeom prst="roundRect">
            <a:avLst>
              <a:gd name="adj" fmla="val 189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14744" y="2775049"/>
            <a:ext cx="7394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Neighbour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15246" y="2732187"/>
            <a:ext cx="11109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16762" y="2673548"/>
            <a:ext cx="1080343" cy="403027"/>
          </a:xfrm>
          <a:prstGeom prst="roundRect">
            <a:avLst>
              <a:gd name="adj" fmla="val 189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87213" y="2775049"/>
            <a:ext cx="7394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Neighbour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92333" y="2732187"/>
            <a:ext cx="6398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27418" y="2673548"/>
            <a:ext cx="680591" cy="403027"/>
          </a:xfrm>
          <a:prstGeom prst="roundRect">
            <a:avLst>
              <a:gd name="adj" fmla="val 189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801866" y="2775049"/>
            <a:ext cx="331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3628876"/>
            <a:ext cx="3759250" cy="577751"/>
          </a:xfrm>
          <a:prstGeom prst="roundRect">
            <a:avLst>
              <a:gd name="adj" fmla="val 131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463701" y="3755827"/>
            <a:ext cx="751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38871" y="3755827"/>
            <a:ext cx="329325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repeating times.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Each person must give a different time from everyone before them.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46750" y="3628876"/>
            <a:ext cx="3759250" cy="577751"/>
          </a:xfrm>
          <a:prstGeom prst="roundRect">
            <a:avLst>
              <a:gd name="adj" fmla="val 131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324451" y="3755827"/>
            <a:ext cx="1109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4745" y="3755827"/>
            <a:ext cx="32574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same pattern twice in a row.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If the last person said 半, you must use a different pattern (刻, 分, 差...).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86000" y="4308128"/>
            <a:ext cx="3759250" cy="577751"/>
          </a:xfrm>
          <a:prstGeom prst="roundRect">
            <a:avLst>
              <a:gd name="adj" fmla="val 131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463701" y="4435078"/>
            <a:ext cx="11051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673548" y="4435078"/>
            <a:ext cx="32578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carefully.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You need to know what patterns have already been used!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46750" y="4308128"/>
            <a:ext cx="3759250" cy="577751"/>
          </a:xfrm>
          <a:prstGeom prst="roundRect">
            <a:avLst>
              <a:gd name="adj" fmla="val 131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324451" y="4435078"/>
            <a:ext cx="1114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35192" y="4435078"/>
            <a:ext cx="32569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it moving.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Max 10 seconds per person. If stuck, the class can help.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06688" y="5038279"/>
            <a:ext cx="5178475" cy="463451"/>
          </a:xfrm>
          <a:prstGeom prst="roundRect">
            <a:avLst>
              <a:gd name="adj" fmla="val 16442"/>
            </a:avLst>
          </a:prstGeom>
          <a:solidFill>
            <a:srgbClr val="C8943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756270" y="5208091"/>
            <a:ext cx="4405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278320" y="5165229"/>
            <a:ext cx="41940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A: 现在几点？ B: 三点一刻。 (turns to C) C: 差五分六点。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ASKING TIME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6582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79972" y="166688"/>
            <a:ext cx="10969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Practice · Walk and Talk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584150"/>
            <a:ext cx="11503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25–33 min · Activity 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752326"/>
            <a:ext cx="1150315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Walk and Talk · 走一走，说一说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130052"/>
            <a:ext cx="115031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Each student gets a "watch card" with a time. Walk around the room and have real conversations!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418927"/>
            <a:ext cx="5549950" cy="2656433"/>
          </a:xfrm>
          <a:prstGeom prst="roundRect">
            <a:avLst>
              <a:gd name="adj" fmla="val 3825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9400" y="1311027"/>
            <a:ext cx="738485" cy="200025"/>
          </a:xfrm>
          <a:prstGeom prst="roundRect">
            <a:avLst>
              <a:gd name="adj" fmla="val 6342857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101" y="1349127"/>
            <a:ext cx="3907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04850" y="1640979"/>
            <a:ext cx="51557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Basic: Ask + Record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850" y="200918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6259" y="2048768"/>
            <a:ext cx="411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09501" y="2020193"/>
            <a:ext cx="12719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Walk to a classmate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850" y="226308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78073" y="2302669"/>
            <a:ext cx="57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09501" y="2274094"/>
            <a:ext cx="97018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Ask: </a:t>
            </a: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现在几点？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850" y="2516981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77925" y="2556570"/>
            <a:ext cx="581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009501" y="2527995"/>
            <a:ext cx="22379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They answer using their watch card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850" y="277088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77627" y="2810470"/>
            <a:ext cx="587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09501" y="2781895"/>
            <a:ext cx="18676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down their time + name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4850" y="3024783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78073" y="3064371"/>
            <a:ext cx="5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09501" y="3035796"/>
            <a:ext cx="7681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Switch roles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4850" y="327868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77478" y="3318272"/>
            <a:ext cx="589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009501" y="3289697"/>
            <a:ext cx="142225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Move to a new partner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850" y="3583335"/>
            <a:ext cx="5054650" cy="295275"/>
          </a:xfrm>
          <a:prstGeom prst="roundRect">
            <a:avLst>
              <a:gd name="adj" fmla="val 25806"/>
            </a:avLst>
          </a:prstGeom>
          <a:solidFill>
            <a:srgbClr val="C8943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57250" y="3659535"/>
            <a:ext cx="28062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Record sheet: Name | Digital Time | Chinese Expression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84850" y="1418927"/>
            <a:ext cx="5549950" cy="2656433"/>
          </a:xfrm>
          <a:prstGeom prst="roundRect">
            <a:avLst>
              <a:gd name="adj" fmla="val 3825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407051" y="1311027"/>
            <a:ext cx="754707" cy="200025"/>
          </a:xfrm>
          <a:prstGeom prst="roundRect">
            <a:avLst>
              <a:gd name="adj" fmla="val 6342857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584752" y="1349127"/>
            <a:ext cx="4072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432500" y="1640979"/>
            <a:ext cx="51557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Advanced: Write BOTH + Follow-up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32500" y="200918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513909" y="2048768"/>
            <a:ext cx="411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737152" y="2020193"/>
            <a:ext cx="19125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partner — ask 现在几点？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32500" y="226308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505724" y="2302669"/>
            <a:ext cx="57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737152" y="2274094"/>
            <a:ext cx="25686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their answer in digits AND Chinese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42025" y="2542431"/>
            <a:ext cx="0" cy="730002"/>
          </a:xfrm>
          <a:prstGeom prst="line">
            <a:avLst/>
          </a:prstGeom>
          <a:noFill/>
          <a:ln w="19050">
            <a:solidFill>
              <a:srgbClr val="D475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78501" y="2542431"/>
            <a:ext cx="50068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Then ask one follow-up: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578501" y="2736056"/>
            <a:ext cx="50068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你要做什么？ (What will you do?)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578501" y="2923282"/>
            <a:ext cx="50068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你忙吗？ (Are you busy?)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78501" y="3110508"/>
            <a:ext cx="50068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你有表吗？ (Do you have a watch?)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4075361"/>
            <a:ext cx="1733848" cy="301526"/>
          </a:xfrm>
          <a:prstGeom prst="roundRect">
            <a:avLst>
              <a:gd name="adj" fmla="val 16848"/>
            </a:avLst>
          </a:prstGeom>
          <a:solidFill>
            <a:srgbClr val="D4756B">
              <a:alpha val="10000"/>
            </a:srgbClr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9125" y="4135636"/>
            <a:ext cx="14381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on next slide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4554587"/>
            <a:ext cx="2762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26733" y="4649837"/>
            <a:ext cx="26231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2:30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295650" y="4554587"/>
            <a:ext cx="2762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365183" y="4649837"/>
            <a:ext cx="26231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7:15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134100" y="4554587"/>
            <a:ext cx="2762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203633" y="4649837"/>
            <a:ext cx="26231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3:50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972550" y="4554587"/>
            <a:ext cx="2762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9042083" y="4649837"/>
            <a:ext cx="26231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9:45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57200" y="5049887"/>
            <a:ext cx="2762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26733" y="5145137"/>
            <a:ext cx="26231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1:05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3295650" y="5049887"/>
            <a:ext cx="2762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3365183" y="5145137"/>
            <a:ext cx="26231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6:40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134100" y="5049887"/>
            <a:ext cx="2762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203633" y="5145137"/>
            <a:ext cx="26231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11:10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8972550" y="5049887"/>
            <a:ext cx="2762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9042083" y="5145137"/>
            <a:ext cx="26231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8:00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ASKING TIME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6582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79972" y="166688"/>
            <a:ext cx="17714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Practice · Walk and Talk Answer Reveal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1854547"/>
            <a:ext cx="111922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REVEAL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09600" y="2054572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Walk and Talk · 走一走，说一说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9600" y="2222748"/>
            <a:ext cx="1119225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Watch Card Answers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9600" y="2600474"/>
            <a:ext cx="11192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8 time expressions with natural Chinese and pinyin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600" y="2940100"/>
            <a:ext cx="2667000" cy="1057126"/>
          </a:xfrm>
          <a:prstGeom prst="roundRect">
            <a:avLst>
              <a:gd name="adj" fmla="val 9611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1850" y="3086100"/>
            <a:ext cx="24224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2:30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850" y="3422600"/>
            <a:ext cx="242249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两点半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850" y="3708350"/>
            <a:ext cx="24224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liǎng diǎn bàn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78101" y="2940100"/>
            <a:ext cx="2667149" cy="1057126"/>
          </a:xfrm>
          <a:prstGeom prst="roundRect">
            <a:avLst>
              <a:gd name="adj" fmla="val 9611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00350" y="3086100"/>
            <a:ext cx="242265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7:15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00350" y="3422600"/>
            <a:ext cx="24226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七点一刻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00350" y="3708350"/>
            <a:ext cx="24226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qī diǎn yī kè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46750" y="2940100"/>
            <a:ext cx="2667000" cy="1057126"/>
          </a:xfrm>
          <a:prstGeom prst="roundRect">
            <a:avLst>
              <a:gd name="adj" fmla="val 9611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69001" y="3086100"/>
            <a:ext cx="24224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3:50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9001" y="3422600"/>
            <a:ext cx="242249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差十分四点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9001" y="3708350"/>
            <a:ext cx="24224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chà shí fēn sì diǎn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915251" y="2940100"/>
            <a:ext cx="2667149" cy="1057126"/>
          </a:xfrm>
          <a:prstGeom prst="roundRect">
            <a:avLst>
              <a:gd name="adj" fmla="val 9611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037500" y="3086100"/>
            <a:ext cx="242265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9:45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37500" y="3422600"/>
            <a:ext cx="24226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九点三刻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37500" y="3708350"/>
            <a:ext cx="24226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jiǔ diǎn sān kè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9600" y="4098727"/>
            <a:ext cx="2667000" cy="1057126"/>
          </a:xfrm>
          <a:prstGeom prst="roundRect">
            <a:avLst>
              <a:gd name="adj" fmla="val 9611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31850" y="4244727"/>
            <a:ext cx="24224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1850" y="4581227"/>
            <a:ext cx="242249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一点零五分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850" y="4866977"/>
            <a:ext cx="24224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 diǎn líng wǔ fēn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78101" y="4098727"/>
            <a:ext cx="2667149" cy="1057126"/>
          </a:xfrm>
          <a:prstGeom prst="roundRect">
            <a:avLst>
              <a:gd name="adj" fmla="val 9611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500350" y="4244727"/>
            <a:ext cx="242265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6:40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500350" y="4581227"/>
            <a:ext cx="24226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差二十分七点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500350" y="4866977"/>
            <a:ext cx="24226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chà èrshí fēn qī diǎn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46750" y="4098727"/>
            <a:ext cx="2667000" cy="1057126"/>
          </a:xfrm>
          <a:prstGeom prst="roundRect">
            <a:avLst>
              <a:gd name="adj" fmla="val 9611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269001" y="4244727"/>
            <a:ext cx="24224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11:10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69001" y="4581227"/>
            <a:ext cx="242249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十一点十分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69001" y="4866977"/>
            <a:ext cx="24224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shíyī diǎn shí fēn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915251" y="4098727"/>
            <a:ext cx="2667149" cy="1057126"/>
          </a:xfrm>
          <a:prstGeom prst="roundRect">
            <a:avLst>
              <a:gd name="adj" fmla="val 9611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9037500" y="4244727"/>
            <a:ext cx="242265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8:00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37500" y="4581227"/>
            <a:ext cx="24226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八点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037500" y="4866977"/>
            <a:ext cx="24226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bā diǎn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ASKING TIME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6582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79972" y="166688"/>
            <a:ext cx="13279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Practice · Find Someone Who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1446907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33–43 min · Activity 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1615083"/>
            <a:ext cx="1119225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Find Someone Who... · 找人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600" y="1992809"/>
            <a:ext cx="111922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Walk around the room. Find a different person for each prompt. When you find someone, write their name!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9600" y="2326184"/>
            <a:ext cx="5435650" cy="847427"/>
          </a:xfrm>
          <a:prstGeom prst="roundRect">
            <a:avLst>
              <a:gd name="adj" fmla="val 1198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8200" y="257204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81521" y="2644973"/>
            <a:ext cx="701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46150" y="2478584"/>
            <a:ext cx="36272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找一个人，他的时间用「半」。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46150" y="2703909"/>
            <a:ext cx="3627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Find someone whose time uses 半 (half past).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46150" y="2846784"/>
            <a:ext cx="3556099" cy="174427"/>
          </a:xfrm>
          <a:prstGeom prst="roundRect">
            <a:avLst>
              <a:gd name="adj" fmla="val 7273702"/>
            </a:avLst>
          </a:prstGeom>
          <a:solidFill>
            <a:srgbClr val="C8943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447651" y="2872085"/>
            <a:ext cx="34201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Pattern: 半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054650" y="2833985"/>
            <a:ext cx="762000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4650" y="2656284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Name: ______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46750" y="2326184"/>
            <a:ext cx="5435650" cy="847427"/>
          </a:xfrm>
          <a:prstGeom prst="roundRect">
            <a:avLst>
              <a:gd name="adj" fmla="val 1198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75350" y="257204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504831" y="2644973"/>
            <a:ext cx="985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83301" y="2478584"/>
            <a:ext cx="36272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找一个人，他的时间用「差」。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83301" y="2703909"/>
            <a:ext cx="3627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Find someone whose time uses 差 (minutes to).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83301" y="2846784"/>
            <a:ext cx="3556099" cy="174427"/>
          </a:xfrm>
          <a:prstGeom prst="roundRect">
            <a:avLst>
              <a:gd name="adj" fmla="val 7273702"/>
            </a:avLst>
          </a:prstGeom>
          <a:solidFill>
            <a:srgbClr val="C8943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984802" y="2872085"/>
            <a:ext cx="34201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Pattern: 差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0591800" y="2833985"/>
            <a:ext cx="762000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91800" y="2656284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Name: ______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9600" y="3275112"/>
            <a:ext cx="5435650" cy="847427"/>
          </a:xfrm>
          <a:prstGeom prst="roundRect">
            <a:avLst>
              <a:gd name="adj" fmla="val 1198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38200" y="352097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67234" y="3593902"/>
            <a:ext cx="9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46150" y="3427512"/>
            <a:ext cx="36272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找一个人，他的时间用「刻」。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46150" y="3652838"/>
            <a:ext cx="3627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Find someone whose time uses 刻 (quarter).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346150" y="3795713"/>
            <a:ext cx="3556099" cy="174427"/>
          </a:xfrm>
          <a:prstGeom prst="roundRect">
            <a:avLst>
              <a:gd name="adj" fmla="val 7273702"/>
            </a:avLst>
          </a:prstGeom>
          <a:solidFill>
            <a:srgbClr val="C8943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447651" y="3821013"/>
            <a:ext cx="34201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Pattern: 刻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054650" y="3782913"/>
            <a:ext cx="762000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54650" y="3605213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Name: ______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46750" y="3275112"/>
            <a:ext cx="5435650" cy="847427"/>
          </a:xfrm>
          <a:prstGeom prst="roundRect">
            <a:avLst>
              <a:gd name="adj" fmla="val 1198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75350" y="352097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503938" y="3593902"/>
            <a:ext cx="1003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83301" y="3427512"/>
            <a:ext cx="36272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找一个人，他的时间里有「零」。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83301" y="3652838"/>
            <a:ext cx="3627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Find someone whose time uses 零 (e.g. X:05).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83301" y="3795713"/>
            <a:ext cx="3556099" cy="174427"/>
          </a:xfrm>
          <a:prstGeom prst="roundRect">
            <a:avLst>
              <a:gd name="adj" fmla="val 7273702"/>
            </a:avLst>
          </a:prstGeom>
          <a:solidFill>
            <a:srgbClr val="3A7D8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984802" y="3821013"/>
            <a:ext cx="34201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Pattern: 零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0591800" y="3782913"/>
            <a:ext cx="762000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91800" y="3605213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Name: ______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9600" y="4224040"/>
            <a:ext cx="5435650" cy="847427"/>
          </a:xfrm>
          <a:prstGeom prst="roundRect">
            <a:avLst>
              <a:gd name="adj" fmla="val 1198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38200" y="446990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967383" y="4542830"/>
            <a:ext cx="989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346150" y="4376440"/>
            <a:ext cx="36272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找一个人，他的时间超过 9 点。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346150" y="4601766"/>
            <a:ext cx="3627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Find someone whose time is after 9:00.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346150" y="4744641"/>
            <a:ext cx="3556099" cy="174427"/>
          </a:xfrm>
          <a:prstGeom prst="roundRect">
            <a:avLst>
              <a:gd name="adj" fmla="val 7273702"/>
            </a:avLst>
          </a:prstGeom>
          <a:solidFill>
            <a:srgbClr val="3A7D8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447651" y="4769941"/>
            <a:ext cx="34201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 after 9:00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054650" y="4731841"/>
            <a:ext cx="762000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54650" y="4554141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Name: ______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46750" y="4224040"/>
            <a:ext cx="5435650" cy="847427"/>
          </a:xfrm>
          <a:prstGeom prst="roundRect">
            <a:avLst>
              <a:gd name="adj" fmla="val 1198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375350" y="446990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503789" y="4542830"/>
            <a:ext cx="1006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883301" y="4376440"/>
            <a:ext cx="36272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找一个人，用「请问」问他/她时间。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883301" y="4601766"/>
            <a:ext cx="3627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Find someone and ask them using 请问 politely.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883301" y="4744641"/>
            <a:ext cx="3556099" cy="174427"/>
          </a:xfrm>
          <a:prstGeom prst="roundRect">
            <a:avLst>
              <a:gd name="adj" fmla="val 7273702"/>
            </a:avLst>
          </a:prstGeom>
          <a:solidFill>
            <a:srgbClr val="C8943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984802" y="4769941"/>
            <a:ext cx="34201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Polite: 请问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0591800" y="4731841"/>
            <a:ext cx="762000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591800" y="4554141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Name: ______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09600" y="5198418"/>
            <a:ext cx="10972800" cy="364927"/>
          </a:xfrm>
          <a:prstGeom prst="roundRect">
            <a:avLst>
              <a:gd name="adj" fmla="val 20881"/>
            </a:avLst>
          </a:prstGeom>
          <a:solidFill>
            <a:srgbClr val="D4756B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87301" y="5299918"/>
            <a:ext cx="84734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Rules: Different person for each prompt (6 different classmates). Must ask「现在几点？」in Chinese. Listen to the pattern they use, not just the time.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ASKING TIME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6582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79972" y="166688"/>
            <a:ext cx="3236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886123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054298"/>
            <a:ext cx="109851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&amp; Reflect · 回顾与反思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1101" y="1597223"/>
            <a:ext cx="109851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1101" y="1830586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0702" y="1771799"/>
            <a:ext cx="35153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the time using 现在几点 in a real conversation.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1101" y="2011561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0702" y="1952774"/>
            <a:ext cx="37916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answer with the most natural Chinese time expression.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1101" y="2192536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0702" y="2133749"/>
            <a:ext cx="36873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have a real conversation about time with classmates.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1101" y="2492425"/>
            <a:ext cx="10769798" cy="1517452"/>
          </a:xfrm>
          <a:prstGeom prst="roundRect">
            <a:avLst>
              <a:gd name="adj" fmla="val 669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4251" y="2644825"/>
            <a:ext cx="105707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Self-Assessment: Conversation Skills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251" y="2882950"/>
            <a:ext cx="3386733" cy="974527"/>
          </a:xfrm>
          <a:prstGeom prst="roundRect">
            <a:avLst>
              <a:gd name="adj" fmla="val 78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83915" y="3009900"/>
            <a:ext cx="32474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3915" y="3295650"/>
            <a:ext cx="32474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Level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83915" y="3482876"/>
            <a:ext cx="32474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AND answer about time with a follow-up question, using 请问 naturally.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402485" y="2882950"/>
            <a:ext cx="3386882" cy="974527"/>
          </a:xfrm>
          <a:prstGeom prst="roundRect">
            <a:avLst>
              <a:gd name="adj" fmla="val 78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72147" y="3009900"/>
            <a:ext cx="32475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72147" y="3295650"/>
            <a:ext cx="32475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Level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72147" y="3482876"/>
            <a:ext cx="32475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现在几点？ and answer the time. I sometimes use natural patterns.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890867" y="2882950"/>
            <a:ext cx="3386733" cy="974527"/>
          </a:xfrm>
          <a:prstGeom prst="roundRect">
            <a:avLst>
              <a:gd name="adj" fmla="val 78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960531" y="3009900"/>
            <a:ext cx="32474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60531" y="3295650"/>
            <a:ext cx="32474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Level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60531" y="3482876"/>
            <a:ext cx="32474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recognise 现在几点？ but I'm not yet confident answering or asking.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11101" y="4162276"/>
            <a:ext cx="10769798" cy="1698575"/>
          </a:xfrm>
          <a:prstGeom prst="roundRect">
            <a:avLst>
              <a:gd name="adj" fmla="val 5982"/>
            </a:avLst>
          </a:prstGeom>
          <a:solidFill>
            <a:srgbClr val="C8943E">
              <a:alpha val="12000"/>
            </a:srgbClr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84052" y="4333726"/>
            <a:ext cx="24332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984052" y="4457551"/>
            <a:ext cx="24332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short dialogue: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84052" y="4705201"/>
            <a:ext cx="24332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asks the time. B answers. A says thanks.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84052" y="4917877"/>
            <a:ext cx="2385566" cy="771525"/>
          </a:xfrm>
          <a:prstGeom prst="roundRect">
            <a:avLst>
              <a:gd name="adj" fmla="val 6584"/>
            </a:avLst>
          </a:prstGeom>
          <a:solidFill>
            <a:srgbClr val="FFFFFF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120527" y="5003602"/>
            <a:ext cx="21548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A: _____________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20527" y="5203627"/>
            <a:ext cx="21548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B: _____________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20527" y="5403652"/>
            <a:ext cx="21548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A: _____________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1101" y="5962352"/>
            <a:ext cx="10659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fingers = Level 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984772" y="5962352"/>
            <a:ext cx="10665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fingers = Level 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59038" y="5962352"/>
            <a:ext cx="958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 = Level 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2026-06-29T00:22:29Z</dcterms:created>
  <dcterms:modified xsi:type="dcterms:W3CDTF">2026-06-29T00:22:29Z</dcterms:modified>
</cp:coreProperties>
</file>