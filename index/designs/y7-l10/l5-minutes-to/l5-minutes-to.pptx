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851" y="1754684"/>
            <a:ext cx="1054001" cy="1054001"/>
          </a:xfrm>
          <a:prstGeom prst="roundRect">
            <a:avLst>
              <a:gd name="adj" fmla="val 8675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05596" y="3011835"/>
            <a:ext cx="6780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· Y7 Unit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05596" y="3294311"/>
            <a:ext cx="678066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 · Minutes To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05596" y="4350841"/>
            <a:ext cx="67806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"Falling Short" · Minutes to the Next Hour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05596" y="4941391"/>
            <a:ext cx="6780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Speaking + Listening + Reading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178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All Time Patterns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892647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086273"/>
            <a:ext cx="1150315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· 复习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502098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clock, write the most natural Chinese time expression on paper. Then hold it up!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16423"/>
            <a:ext cx="2743200" cy="853976"/>
          </a:xfrm>
          <a:prstGeom prst="roundRect">
            <a:avLst>
              <a:gd name="adj" fmla="val 118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299" y="2943374"/>
            <a:ext cx="25910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3299" y="3191024"/>
            <a:ext cx="2591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299" y="3352949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 · o'clock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01901" y="2816423"/>
            <a:ext cx="2743349" cy="853976"/>
          </a:xfrm>
          <a:prstGeom prst="roundRect">
            <a:avLst>
              <a:gd name="adj" fmla="val 11897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97429" y="2962424"/>
            <a:ext cx="2552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97429" y="3210074"/>
            <a:ext cx="2552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2:00 ⚠️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97429" y="3400574"/>
            <a:ext cx="25522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 NOT 二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46750" y="2816423"/>
            <a:ext cx="2743200" cy="853976"/>
          </a:xfrm>
          <a:prstGeom prst="roundRect">
            <a:avLst>
              <a:gd name="adj" fmla="val 118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2849" y="2943374"/>
            <a:ext cx="25910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三点一刻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22849" y="3191024"/>
            <a:ext cx="2591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2849" y="3352949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一刻 · quarter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991451" y="2816423"/>
            <a:ext cx="2743349" cy="853976"/>
          </a:xfrm>
          <a:prstGeom prst="roundRect">
            <a:avLst>
              <a:gd name="adj" fmla="val 1189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67548" y="2943374"/>
            <a:ext cx="25911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67548" y="3191024"/>
            <a:ext cx="2591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4:30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67548" y="3352949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· half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3771900"/>
            <a:ext cx="2743200" cy="825401"/>
          </a:xfrm>
          <a:prstGeom prst="roundRect">
            <a:avLst>
              <a:gd name="adj" fmla="val 12309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2730" y="3917900"/>
            <a:ext cx="25521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六点三刻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2730" y="4165550"/>
            <a:ext cx="25521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2730" y="4327475"/>
            <a:ext cx="25521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三刻 · 3 quarters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01901" y="3771900"/>
            <a:ext cx="2743349" cy="825401"/>
          </a:xfrm>
          <a:prstGeom prst="roundRect">
            <a:avLst>
              <a:gd name="adj" fmla="val 123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77998" y="3898850"/>
            <a:ext cx="25911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八点五分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77998" y="4146500"/>
            <a:ext cx="2591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77998" y="4308425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 · minutes past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146750" y="3771900"/>
            <a:ext cx="2743200" cy="825401"/>
          </a:xfrm>
          <a:prstGeom prst="roundRect">
            <a:avLst>
              <a:gd name="adj" fmla="val 1230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22849" y="3898850"/>
            <a:ext cx="25910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十点半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22849" y="4146500"/>
            <a:ext cx="2591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10:30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22849" y="4308425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· half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991451" y="3771900"/>
            <a:ext cx="2743349" cy="825401"/>
          </a:xfrm>
          <a:prstGeom prst="roundRect">
            <a:avLst>
              <a:gd name="adj" fmla="val 12309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086979" y="3917900"/>
            <a:ext cx="2552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十一点三刻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86979" y="4165550"/>
            <a:ext cx="25522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86979" y="4327475"/>
            <a:ext cx="25522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三刻 · 3 quarters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60350" y="4825752"/>
            <a:ext cx="1108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 Remember: 三刻 = 45 minutes past · Shortcut for 四十五分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797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76200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81075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0151" y="1663601"/>
            <a:ext cx="0" cy="101917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351" y="1816001"/>
            <a:ext cx="10325398" cy="714375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5502" y="1968401"/>
            <a:ext cx="101174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55502" y="2130326"/>
            <a:ext cx="101174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"minutes to" times using 差.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2936677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583" y="298579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3852" y="2952452"/>
            <a:ext cx="40258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calculate how many minutes until the next hour.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5901" y="3203228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计算距离下一个整点还有多少分钟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466654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356" y="3515767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3852" y="3482429"/>
            <a:ext cx="48065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the correct word order: 差 + minutes + 分 + hour + 点.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5901" y="3733205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使用正确的语序：差 + 分钟 + 分 + 小时 + 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101" y="3996630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207" y="4045744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3852" y="4012406"/>
            <a:ext cx="516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choose the most natural expression between past and 差 style.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5901" y="4263182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在「past」和「差」表达方式中，选择更自然的一种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997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476649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10–14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2670274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3213199"/>
            <a:ext cx="3555950" cy="977801"/>
          </a:xfrm>
          <a:prstGeom prst="roundRect">
            <a:avLst>
              <a:gd name="adj" fmla="val 10391"/>
            </a:avLst>
          </a:prstGeom>
          <a:solidFill>
            <a:srgbClr val="C8943E">
              <a:alpha val="8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2551" y="3435400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593652" y="3435400"/>
            <a:ext cx="1414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93652" y="3664000"/>
            <a:ext cx="14146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fall short of; to lack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93652" y="3844975"/>
            <a:ext cx="14146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strokes · radical: 工 (gōng)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17950" y="3213199"/>
            <a:ext cx="3556099" cy="977801"/>
          </a:xfrm>
          <a:prstGeom prst="roundRect">
            <a:avLst>
              <a:gd name="adj" fmla="val 1039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0901" y="3435400"/>
            <a:ext cx="10881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835402" y="3435400"/>
            <a:ext cx="1277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xiànzài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35402" y="3664000"/>
            <a:ext cx="12775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now; at present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35402" y="3844975"/>
            <a:ext cx="12775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strokes · radical: 王 (xiàn)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026450" y="3213199"/>
            <a:ext cx="3555950" cy="977801"/>
          </a:xfrm>
          <a:prstGeom prst="roundRect">
            <a:avLst>
              <a:gd name="adj" fmla="val 10391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99400" y="3435400"/>
            <a:ext cx="5440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010501" y="3435400"/>
            <a:ext cx="1362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biǎo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10501" y="3664000"/>
            <a:ext cx="13624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watch; clock; to show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10501" y="3844975"/>
            <a:ext cx="13624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strokes · radical: 衤 (yī)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09600" y="4343400"/>
            <a:ext cx="1119225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差 means "to fall short" or "not enough." In telling time, it means we are short of the next hour — exactly like "minutes to" in English.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7594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Radical Spotlight · Textbook p85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74501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14–17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938635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Spotlight · 部首聚焦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506861"/>
            <a:ext cx="5283250" cy="1399729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4951" y="2779812"/>
            <a:ext cx="82900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彡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050852" y="2779812"/>
            <a:ext cx="36920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shān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0852" y="3065562"/>
            <a:ext cx="36920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"hair" or "bristle" radical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0852" y="3278237"/>
            <a:ext cx="369204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Appears in characters related to decoration, pattern, or hair — e.g. 形 (form), 影 (shadow), 彩 (colour).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7501" y="2506861"/>
            <a:ext cx="5283398" cy="1399729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21351" y="2779812"/>
            <a:ext cx="829005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衤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7537252" y="2779812"/>
            <a:ext cx="36921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37252" y="3065562"/>
            <a:ext cx="3692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"clothing" radical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37252" y="3278237"/>
            <a:ext cx="369219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Left-side variant of 衣 (yī, clothing). Appears in 表 (watch), 衫 (shirt), 裤 (trousers), 裙 (skirt).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9701" y="4262140"/>
            <a:ext cx="6984355" cy="850850"/>
          </a:xfrm>
          <a:prstGeom prst="roundRect">
            <a:avLst>
              <a:gd name="adj" fmla="val 8956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87351" y="4433590"/>
            <a:ext cx="51826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873151" y="4489103"/>
            <a:ext cx="5919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 = 衤 (clothing radical)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73151" y="4723954"/>
            <a:ext cx="5919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for "watch" is built on the clothing radical — originally, a watch was something you wore!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0759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Layer 1: The Math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973634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17–21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1167259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Layer 1: The Math · 数学思维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1544985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"Minutes to" = how many minutes are LEFT until the next hour?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1960811"/>
            <a:ext cx="22728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Clock 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5055" y="1960811"/>
            <a:ext cx="2115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hour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74221" y="1960811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99549" y="1960811"/>
            <a:ext cx="3193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2000" y="2360712"/>
            <a:ext cx="2272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5055" y="2365474"/>
            <a:ext cx="2115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74221" y="2351187"/>
            <a:ext cx="23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60 − 50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9549" y="2351187"/>
            <a:ext cx="319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000" y="2852738"/>
            <a:ext cx="2272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5055" y="2857500"/>
            <a:ext cx="2115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74221" y="2843213"/>
            <a:ext cx="23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60 − 55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99549" y="2843213"/>
            <a:ext cx="319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分钟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2000" y="3344763"/>
            <a:ext cx="2272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5055" y="3349526"/>
            <a:ext cx="2115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74221" y="3335238"/>
            <a:ext cx="23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60 − 40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99549" y="3335238"/>
            <a:ext cx="319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分钟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2000" y="3836789"/>
            <a:ext cx="2272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5055" y="3841552"/>
            <a:ext cx="2115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74221" y="3827264"/>
            <a:ext cx="23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60 − 45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99549" y="3827264"/>
            <a:ext cx="319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分钟 </a:t>
            </a: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一刻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2000" y="4328815"/>
            <a:ext cx="2272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5:59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5055" y="4333577"/>
            <a:ext cx="2115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74221" y="4319290"/>
            <a:ext cx="23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60 − 59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99549" y="4319290"/>
            <a:ext cx="319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分钟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2000" y="4820841"/>
            <a:ext cx="2272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9:40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5055" y="4825603"/>
            <a:ext cx="2115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74221" y="4811316"/>
            <a:ext cx="23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60 − 40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99549" y="4811316"/>
            <a:ext cx="319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 分钟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8200" y="5455741"/>
            <a:ext cx="10515600" cy="453926"/>
          </a:xfrm>
          <a:prstGeom prst="rect">
            <a:avLst/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857250" y="5455741"/>
            <a:ext cx="0" cy="453926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4900" y="5582692"/>
            <a:ext cx="102207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idea: 60 − current minutes = minutes to next hour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280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Layer 2: The Structure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2906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21–25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697236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Layer 2: The Structure · 句型结构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80346" y="2176611"/>
            <a:ext cx="599777" cy="526852"/>
          </a:xfrm>
          <a:prstGeom prst="roundRect">
            <a:avLst>
              <a:gd name="adj" fmla="val 14463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77096" y="2297162"/>
            <a:ext cx="2104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56323" y="2316212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7121" y="2176611"/>
            <a:ext cx="1353145" cy="526852"/>
          </a:xfrm>
          <a:prstGeom prst="roundRect">
            <a:avLst>
              <a:gd name="adj" fmla="val 1446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43871" y="2297162"/>
            <a:ext cx="9788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76466" y="2316212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67264" y="2176611"/>
            <a:ext cx="599777" cy="526852"/>
          </a:xfrm>
          <a:prstGeom prst="roundRect">
            <a:avLst>
              <a:gd name="adj" fmla="val 1446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64014" y="2297162"/>
            <a:ext cx="2104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3241" y="2316212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4039" y="2176611"/>
            <a:ext cx="1010841" cy="526852"/>
          </a:xfrm>
          <a:prstGeom prst="roundRect">
            <a:avLst>
              <a:gd name="adj" fmla="val 1446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30789" y="2297162"/>
            <a:ext cx="6296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HOUR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21079" y="2316212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11877" y="2176611"/>
            <a:ext cx="599777" cy="526852"/>
          </a:xfrm>
          <a:prstGeom prst="roundRect">
            <a:avLst>
              <a:gd name="adj" fmla="val 1446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08628" y="2297162"/>
            <a:ext cx="2104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950" y="2881164"/>
            <a:ext cx="3657600" cy="876300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0864" y="3033564"/>
            <a:ext cx="34717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0864" y="3195489"/>
            <a:ext cx="3471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差十分七点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0864" y="3481239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+ 10 + 分 + 7 + 点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67051" y="2881164"/>
            <a:ext cx="3657749" cy="876300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59963" y="3033564"/>
            <a:ext cx="347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59963" y="3195489"/>
            <a:ext cx="3471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59963" y="3481239"/>
            <a:ext cx="34719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+ 5 + 分 + 8 + 点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026301" y="2881164"/>
            <a:ext cx="3657600" cy="876300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19214" y="3033564"/>
            <a:ext cx="34717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19214" y="3195489"/>
            <a:ext cx="3471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差一刻十二点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19214" y="3481239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一刻 + 12 + 点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7950" y="3858964"/>
            <a:ext cx="3657600" cy="876300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0864" y="4011364"/>
            <a:ext cx="34717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0864" y="4173289"/>
            <a:ext cx="3471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差二十分四点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0864" y="4459039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+ 20 + 分 + 4 + 点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267051" y="3858964"/>
            <a:ext cx="3657749" cy="876300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59963" y="4011364"/>
            <a:ext cx="347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5:59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59963" y="4173289"/>
            <a:ext cx="3471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差一分六点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59963" y="4459039"/>
            <a:ext cx="34719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+ 1 + 分 + 6 + 点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026301" y="3858964"/>
            <a:ext cx="3657600" cy="876300"/>
          </a:xfrm>
          <a:prstGeom prst="roundRect">
            <a:avLst>
              <a:gd name="adj" fmla="val 869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19214" y="4011364"/>
            <a:ext cx="34717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19214" y="4173289"/>
            <a:ext cx="3471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差十分十点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19214" y="4459039"/>
            <a:ext cx="347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+ 10 + 分 + 10 + 点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7950" y="4862215"/>
            <a:ext cx="6338441" cy="619125"/>
          </a:xfrm>
          <a:prstGeom prst="roundRect">
            <a:avLst>
              <a:gd name="adj" fmla="val 12308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4701" y="5014615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60252" y="4995565"/>
            <a:ext cx="57011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ALWAYS comes first! The hour is the NEXT hour, not the current one.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60252" y="5205115"/>
            <a:ext cx="57011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差十分七点 = "10 minutes short of 7 o'clock" = 6:50 (NOT 7:50!)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3867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Layer 3: Best Expression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461195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25–29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629370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Layer 3: Choosing the Best Expression · 选择最自然的表达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968996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are correct — but which sounds more natural?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346722"/>
            <a:ext cx="1309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72295" y="2346722"/>
            <a:ext cx="33330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 Style (过去式)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93866" y="2346722"/>
            <a:ext cx="3209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Style (差式)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094143" y="2346722"/>
            <a:ext cx="2512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More Natural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4901" y="2703761"/>
            <a:ext cx="1309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2295" y="2703761"/>
            <a:ext cx="33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六点三十五分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93866" y="2703761"/>
            <a:ext cx="32093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差二十五分七点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4143" y="2708672"/>
            <a:ext cx="61451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30618" y="2743498"/>
            <a:ext cx="348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 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4901" y="3125837"/>
            <a:ext cx="1309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2295" y="3125837"/>
            <a:ext cx="33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六点五十分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93866" y="3125837"/>
            <a:ext cx="32093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差十分七点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94143" y="3130748"/>
            <a:ext cx="490389" cy="212527"/>
          </a:xfrm>
          <a:prstGeom prst="roundRect">
            <a:avLst>
              <a:gd name="adj" fmla="val 5969736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30618" y="3165574"/>
            <a:ext cx="221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4901" y="3547914"/>
            <a:ext cx="1309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72295" y="3547914"/>
            <a:ext cx="33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七点四十分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93866" y="3547914"/>
            <a:ext cx="32093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差二十分八点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94143" y="3552825"/>
            <a:ext cx="490389" cy="212527"/>
          </a:xfrm>
          <a:prstGeom prst="roundRect">
            <a:avLst>
              <a:gd name="adj" fmla="val 5969736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230618" y="3587651"/>
            <a:ext cx="221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4901" y="3969990"/>
            <a:ext cx="1309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72295" y="3969990"/>
            <a:ext cx="33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八点三刻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93866" y="3969990"/>
            <a:ext cx="32093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差一刻九点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94143" y="3974902"/>
            <a:ext cx="490389" cy="212527"/>
          </a:xfrm>
          <a:prstGeom prst="roundRect">
            <a:avLst>
              <a:gd name="adj" fmla="val 5969736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230618" y="4009727"/>
            <a:ext cx="221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4901" y="4392067"/>
            <a:ext cx="1309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72295" y="4392067"/>
            <a:ext cx="33330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九点十分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93866" y="4392067"/>
            <a:ext cx="32093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差五十分十点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94143" y="4396978"/>
            <a:ext cx="614511" cy="212527"/>
          </a:xfrm>
          <a:prstGeom prst="roundRect">
            <a:avLst>
              <a:gd name="adj" fmla="val 5969736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230618" y="4431804"/>
            <a:ext cx="348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 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950" y="4834830"/>
            <a:ext cx="11176099" cy="714226"/>
          </a:xfrm>
          <a:prstGeom prst="roundRect">
            <a:avLst>
              <a:gd name="adj" fmla="val 10669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55600" y="4980831"/>
            <a:ext cx="108944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GOLDEN RULE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5600" y="5174456"/>
            <a:ext cx="108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minutes &gt; 30 -&gt; consider 差. If minutes &gt; 45 -&gt; definitely use 差.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3923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454497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29–34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648123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216348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5754" y="2343299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0552" y="2438549"/>
            <a:ext cx="1018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 — Which is more natural? 1 finger = 六点五十分, 2 fingers = 差十分七点.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987725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754" y="3114675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0552" y="3209925"/>
            <a:ext cx="1018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means "fall short of" — 1 finger = yes, 2 fingers = no.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101" y="3759101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5754" y="3886051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0552" y="3981301"/>
            <a:ext cx="1018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7:55 using 差 on paper. Hold it up!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101" y="4530477"/>
            <a:ext cx="10769798" cy="682526"/>
          </a:xfrm>
          <a:prstGeom prst="roundRect">
            <a:avLst>
              <a:gd name="adj" fmla="val 11164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4804" y="4676477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39602" y="4771727"/>
            <a:ext cx="10143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Trap! 2:50 using 差 — write it on paper.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101" y="5365403"/>
            <a:ext cx="1441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 1 finger = Yes / Agree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77070" y="5365403"/>
            <a:ext cx="1642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✌️ 2 fingers = No / Disagree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9575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33082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29–34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524446"/>
            <a:ext cx="10769798" cy="174427"/>
          </a:xfrm>
          <a:prstGeom prst="roundRect">
            <a:avLst>
              <a:gd name="adj" fmla="val 2184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602" y="1549747"/>
            <a:ext cx="10778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1800374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1101" y="2368600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5754" y="2495550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0552" y="2590800"/>
            <a:ext cx="81191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 — Which is more natural? 1 finger = 六点五十分, 2 fingers = 差十分七点.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69510" y="2600325"/>
            <a:ext cx="19336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— 差 is more natural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1101" y="3139976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5754" y="3266926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0552" y="3362176"/>
            <a:ext cx="95787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means "fall short of" — 1 finger = yes, 2 fingers = no.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29112" y="3371701"/>
            <a:ext cx="4740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1101" y="3911352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5754" y="4038302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0552" y="4133552"/>
            <a:ext cx="9216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7:55 using 差 on paper. Hold it up!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67362" y="4143077"/>
            <a:ext cx="8358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差五分八点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101" y="4682728"/>
            <a:ext cx="10769798" cy="682526"/>
          </a:xfrm>
          <a:prstGeom prst="roundRect">
            <a:avLst>
              <a:gd name="adj" fmla="val 11164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04804" y="4828729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39602" y="4923979"/>
            <a:ext cx="8007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Trap! 2:50 using 差 — write it on paper.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77290" y="4933504"/>
            <a:ext cx="20068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差十分三点 (NOT 差十分两点!)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101" y="5517654"/>
            <a:ext cx="12548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93714" y="5517654"/>
            <a:ext cx="1455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259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Sentence Jumble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892647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12 min — Pairs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060823"/>
            <a:ext cx="115031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· 句子拼图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400449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Arrange the word cards into the correct sentence. Write your answer on paper!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89324"/>
            <a:ext cx="2743200" cy="949226"/>
          </a:xfrm>
          <a:prstGeom prst="roundRect">
            <a:avLst>
              <a:gd name="adj" fmla="val 80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299" y="2816275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Easy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3299" y="2940100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6:50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3299" y="3082975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 分 十 点 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3299" y="3311575"/>
            <a:ext cx="25910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差十分七点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01901" y="2689324"/>
            <a:ext cx="2743349" cy="949226"/>
          </a:xfrm>
          <a:prstGeom prst="roundRect">
            <a:avLst>
              <a:gd name="adj" fmla="val 80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77998" y="2816275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Easy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77998" y="2940100"/>
            <a:ext cx="2591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7:55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77998" y="3082975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 点 差 八 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77998" y="3311575"/>
            <a:ext cx="2591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差五分八点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6750" y="2689324"/>
            <a:ext cx="2743200" cy="949226"/>
          </a:xfrm>
          <a:prstGeom prst="roundRect">
            <a:avLst>
              <a:gd name="adj" fmla="val 80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2849" y="2816275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Medium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22849" y="2940100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3:40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22849" y="3082975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 二十分 四 差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22849" y="3311575"/>
            <a:ext cx="25910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差二十分四点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91451" y="2689324"/>
            <a:ext cx="2743349" cy="949226"/>
          </a:xfrm>
          <a:prstGeom prst="roundRect">
            <a:avLst>
              <a:gd name="adj" fmla="val 802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067548" y="2816275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 · Medium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067548" y="2940100"/>
            <a:ext cx="2591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11:45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67548" y="3082975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 刻 二 十 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67548" y="3311575"/>
            <a:ext cx="2591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差一刻十二点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740051"/>
            <a:ext cx="2743200" cy="987326"/>
          </a:xfrm>
          <a:prstGeom prst="roundRect">
            <a:avLst>
              <a:gd name="adj" fmla="val 7718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730" y="3886051"/>
            <a:ext cx="25521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 · TRAP!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2730" y="4009876"/>
            <a:ext cx="25521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1:55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2730" y="4152751"/>
            <a:ext cx="2552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 点 五 分 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2730" y="4381351"/>
            <a:ext cx="25521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差五分两点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01901" y="3740051"/>
            <a:ext cx="2743349" cy="987326"/>
          </a:xfrm>
          <a:prstGeom prst="roundRect">
            <a:avLst>
              <a:gd name="adj" fmla="val 77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77998" y="3867001"/>
            <a:ext cx="25911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 · Hard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77998" y="3990826"/>
            <a:ext cx="2591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5:59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77998" y="4133701"/>
            <a:ext cx="2591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 分 点 六 一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77998" y="4362301"/>
            <a:ext cx="2591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差一分六点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46750" y="3740051"/>
            <a:ext cx="2743200" cy="987326"/>
          </a:xfrm>
          <a:prstGeom prst="roundRect">
            <a:avLst>
              <a:gd name="adj" fmla="val 771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22849" y="3867001"/>
            <a:ext cx="25910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7 · Hard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22849" y="3990826"/>
            <a:ext cx="2591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9:50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22849" y="4133701"/>
            <a:ext cx="2591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 点 分 十 差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22849" y="4362301"/>
            <a:ext cx="25910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差十分十点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91451" y="3740051"/>
            <a:ext cx="2743349" cy="987326"/>
          </a:xfrm>
          <a:prstGeom prst="roundRect">
            <a:avLst>
              <a:gd name="adj" fmla="val 7718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086979" y="3886051"/>
            <a:ext cx="25522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8 · TRAP!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086979" y="4009876"/>
            <a:ext cx="25522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4:40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086979" y="4152751"/>
            <a:ext cx="2552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 差 分 五 十 二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086979" y="4381351"/>
            <a:ext cx="25522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差二十分五点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4854327"/>
            <a:ext cx="2112615" cy="263426"/>
          </a:xfrm>
          <a:prstGeom prst="roundRect">
            <a:avLst>
              <a:gd name="adj" fmla="val 48162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84150" y="4905077"/>
            <a:ext cx="18958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 Pairs: arrange word cards on desk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22215" y="4854327"/>
            <a:ext cx="1736080" cy="263426"/>
          </a:xfrm>
          <a:prstGeom prst="roundRect">
            <a:avLst>
              <a:gd name="adj" fmla="val 48162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849166" y="4905077"/>
            <a:ext cx="15118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🖊️ Write the correct sentence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10695" y="4854327"/>
            <a:ext cx="2210693" cy="263426"/>
          </a:xfrm>
          <a:prstGeom prst="roundRect">
            <a:avLst>
              <a:gd name="adj" fmla="val 48162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37646" y="4905077"/>
            <a:ext cx="19959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 Race: first correct pair wins a point!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2713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Clock Worksheet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703761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10 min — Individual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871936"/>
            <a:ext cx="115031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Clock → 差 + Past · 时钟工作表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202037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clock: write BOTH the past expression AND the 差 expression. Circle the more natural one. — Answers on next slide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471863"/>
            <a:ext cx="2752725" cy="339626"/>
          </a:xfrm>
          <a:prstGeom prst="roundRect">
            <a:avLst>
              <a:gd name="adj" fmla="val 22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397" y="3560713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8775" y="3471863"/>
            <a:ext cx="2752725" cy="339626"/>
          </a:xfrm>
          <a:prstGeom prst="roundRect">
            <a:avLst>
              <a:gd name="adj" fmla="val 22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48972" y="3560713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40351" y="3471863"/>
            <a:ext cx="2752725" cy="339626"/>
          </a:xfrm>
          <a:prstGeom prst="roundRect">
            <a:avLst>
              <a:gd name="adj" fmla="val 22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0548" y="3560713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10:55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81926" y="3471863"/>
            <a:ext cx="2752874" cy="339626"/>
          </a:xfrm>
          <a:prstGeom prst="roundRect">
            <a:avLst>
              <a:gd name="adj" fmla="val 22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32121" y="3560713"/>
            <a:ext cx="26524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900339"/>
            <a:ext cx="2752725" cy="406301"/>
          </a:xfrm>
          <a:prstGeom prst="roundRect">
            <a:avLst>
              <a:gd name="adj" fmla="val 1875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397" y="3989189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8775" y="3900339"/>
            <a:ext cx="2752725" cy="406301"/>
          </a:xfrm>
          <a:prstGeom prst="roundRect">
            <a:avLst>
              <a:gd name="adj" fmla="val 1875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48972" y="3989189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0351" y="3900339"/>
            <a:ext cx="2752725" cy="406301"/>
          </a:xfrm>
          <a:prstGeom prst="roundRect">
            <a:avLst>
              <a:gd name="adj" fmla="val 1875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90548" y="3989189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4:50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81926" y="3900339"/>
            <a:ext cx="2752874" cy="406301"/>
          </a:xfrm>
          <a:prstGeom prst="roundRect">
            <a:avLst>
              <a:gd name="adj" fmla="val 18755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51552" y="4008239"/>
            <a:ext cx="26136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1:58 ⚠️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796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Clock Worksheet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294186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Answer Key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462361"/>
            <a:ext cx="115031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Clock → 差 + Past · 答案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92462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clock: BOTH the past expression AND the 差 expression. Circle hints show the more natural choice.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062288"/>
            <a:ext cx="2752725" cy="749201"/>
          </a:xfrm>
          <a:prstGeom prst="roundRect">
            <a:avLst>
              <a:gd name="adj" fmla="val 1017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397" y="3151138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397" y="3313063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六点五十分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397" y="3455938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差十分七点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397" y="3598813"/>
            <a:ext cx="2652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差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98775" y="3062288"/>
            <a:ext cx="2752725" cy="749201"/>
          </a:xfrm>
          <a:prstGeom prst="roundRect">
            <a:avLst>
              <a:gd name="adj" fmla="val 1017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48972" y="3151138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8:40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48972" y="3313063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八点四十分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48972" y="3455938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差二十分九点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48972" y="3598813"/>
            <a:ext cx="2652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差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40351" y="3062288"/>
            <a:ext cx="2752725" cy="749201"/>
          </a:xfrm>
          <a:prstGeom prst="roundRect">
            <a:avLst>
              <a:gd name="adj" fmla="val 1017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0548" y="3151138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10:55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0548" y="3313063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十点五十五分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90548" y="3455938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差五分十一点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0548" y="3598813"/>
            <a:ext cx="2652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差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981926" y="3062288"/>
            <a:ext cx="2752874" cy="749201"/>
          </a:xfrm>
          <a:prstGeom prst="roundRect">
            <a:avLst>
              <a:gd name="adj" fmla="val 1017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032121" y="3151138"/>
            <a:ext cx="26524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32121" y="3313063"/>
            <a:ext cx="2652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两点二十分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032121" y="3455938"/>
            <a:ext cx="2652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差四十分三点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032121" y="3598813"/>
            <a:ext cx="26524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Past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900339"/>
            <a:ext cx="2752725" cy="815876"/>
          </a:xfrm>
          <a:prstGeom prst="roundRect">
            <a:avLst>
              <a:gd name="adj" fmla="val 934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7397" y="3989189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7:45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397" y="4151114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七点三刻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397" y="4293989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差一刻八点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397" y="4436864"/>
            <a:ext cx="2652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差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98775" y="3900339"/>
            <a:ext cx="2752725" cy="815876"/>
          </a:xfrm>
          <a:prstGeom prst="roundRect">
            <a:avLst>
              <a:gd name="adj" fmla="val 934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48972" y="3989189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48972" y="4151114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十二点十分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48972" y="4293989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差五十分一点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48972" y="4436864"/>
            <a:ext cx="2652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Past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40351" y="3900339"/>
            <a:ext cx="2752725" cy="815876"/>
          </a:xfrm>
          <a:prstGeom prst="roundRect">
            <a:avLst>
              <a:gd name="adj" fmla="val 934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90548" y="3989189"/>
            <a:ext cx="2652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4:50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90548" y="4151114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四点五十分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90548" y="4293989"/>
            <a:ext cx="26523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差十分五点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90548" y="4436864"/>
            <a:ext cx="26523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差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981926" y="3900339"/>
            <a:ext cx="2752874" cy="815876"/>
          </a:xfrm>
          <a:prstGeom prst="roundRect">
            <a:avLst>
              <a:gd name="adj" fmla="val 9340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051552" y="4008239"/>
            <a:ext cx="26136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1:58 ⚠️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051552" y="4198739"/>
            <a:ext cx="2613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Past: 一点五十八分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051552" y="4341614"/>
            <a:ext cx="2613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差: 差二分两点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051552" y="4484489"/>
            <a:ext cx="26136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Circle: 差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9493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Jumble Relay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61379" y="2181374"/>
            <a:ext cx="1669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8 min — 4 Teams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26257" y="2374999"/>
            <a:ext cx="433933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Relay · 句子拼图接力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21130" y="2752725"/>
            <a:ext cx="49495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teams. Fastest correct arrangement wins the point! — Answers on next slide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56571" y="3111401"/>
            <a:ext cx="869752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03321" y="3238351"/>
            <a:ext cx="5762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03321" y="3590776"/>
            <a:ext cx="5762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Runner goes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1494" y="335265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58073" y="3111401"/>
            <a:ext cx="940743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04113" y="3238351"/>
            <a:ext cx="648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04113" y="3590776"/>
            <a:ext cx="648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Arrange cards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23987" y="335265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0566" y="3111401"/>
            <a:ext cx="761256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78401" y="3238351"/>
            <a:ext cx="4655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78401" y="3590776"/>
            <a:ext cx="4655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Hands up!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316993" y="3352651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3572" y="3111401"/>
            <a:ext cx="811709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70903" y="3238351"/>
            <a:ext cx="5170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0903" y="3590776"/>
            <a:ext cx="5170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aloud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33155" y="4019252"/>
            <a:ext cx="1286173" cy="466725"/>
          </a:xfrm>
          <a:prstGeom prst="roundRect">
            <a:avLst>
              <a:gd name="adj" fmla="val 1632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49782" y="4171652"/>
            <a:ext cx="1052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278" y="4019252"/>
            <a:ext cx="1286173" cy="466725"/>
          </a:xfrm>
          <a:prstGeom prst="roundRect">
            <a:avLst>
              <a:gd name="adj" fmla="val 16327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2336" y="4190702"/>
            <a:ext cx="10140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两 Trap!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59401" y="4019252"/>
            <a:ext cx="1286173" cy="466725"/>
          </a:xfrm>
          <a:prstGeom prst="roundRect">
            <a:avLst>
              <a:gd name="adj" fmla="val 1632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76028" y="4171652"/>
            <a:ext cx="10529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572524" y="4019252"/>
            <a:ext cx="1286173" cy="466725"/>
          </a:xfrm>
          <a:prstGeom prst="roundRect">
            <a:avLst>
              <a:gd name="adj" fmla="val 16327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708583" y="4190702"/>
            <a:ext cx="10140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 · 一刻!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001598" y="4638377"/>
            <a:ext cx="19980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Winning team: 1 point per round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3337" y="4638377"/>
            <a:ext cx="20273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 After each round: choral reading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14744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Jumble Relay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49616" y="1967061"/>
            <a:ext cx="1292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Answer Key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44365" y="2160687"/>
            <a:ext cx="33032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Relay · 答案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52142" y="2538413"/>
            <a:ext cx="38875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4 rounds with the correct 差 expressions and digital times.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56571" y="2897088"/>
            <a:ext cx="869752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03321" y="3024039"/>
            <a:ext cx="5762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03321" y="3376464"/>
            <a:ext cx="5762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Runner goes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1494" y="3138339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58073" y="2897088"/>
            <a:ext cx="940743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04113" y="3024039"/>
            <a:ext cx="648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04113" y="3376464"/>
            <a:ext cx="648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Arrange cards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23987" y="3138339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0566" y="2897088"/>
            <a:ext cx="761256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78401" y="3024039"/>
            <a:ext cx="4655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78401" y="3376464"/>
            <a:ext cx="4655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Hands up!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316993" y="3138339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3572" y="2897088"/>
            <a:ext cx="811709" cy="730151"/>
          </a:xfrm>
          <a:prstGeom prst="roundRect">
            <a:avLst>
              <a:gd name="adj" fmla="val 104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70903" y="3024039"/>
            <a:ext cx="5170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0903" y="3376464"/>
            <a:ext cx="5170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aloud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83396" y="3804940"/>
            <a:ext cx="1511052" cy="895350"/>
          </a:xfrm>
          <a:prstGeom prst="roundRect">
            <a:avLst>
              <a:gd name="adj" fmla="val 85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97775" y="3957340"/>
            <a:ext cx="12822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997775" y="4081165"/>
            <a:ext cx="12822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差十分七点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997775" y="4366915"/>
            <a:ext cx="1282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6:50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1398" y="3804940"/>
            <a:ext cx="1511052" cy="895350"/>
          </a:xfrm>
          <a:prstGeom prst="roundRect">
            <a:avLst>
              <a:gd name="adj" fmla="val 851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55208" y="3976390"/>
            <a:ext cx="124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两 Trap!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55208" y="4100215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差五分两点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55208" y="4385965"/>
            <a:ext cx="12434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1:55 — NOT 二点!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9401" y="3804940"/>
            <a:ext cx="1511052" cy="895350"/>
          </a:xfrm>
          <a:prstGeom prst="roundRect">
            <a:avLst>
              <a:gd name="adj" fmla="val 851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73780" y="3957340"/>
            <a:ext cx="12822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73780" y="4081165"/>
            <a:ext cx="12822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差二十分四点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73780" y="4366915"/>
            <a:ext cx="1282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97403" y="3804940"/>
            <a:ext cx="1511052" cy="895350"/>
          </a:xfrm>
          <a:prstGeom prst="roundRect">
            <a:avLst>
              <a:gd name="adj" fmla="val 851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931213" y="3976390"/>
            <a:ext cx="124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 · 一刻!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931213" y="4100215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差一刻十二点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31213" y="4385965"/>
            <a:ext cx="12434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01598" y="4852690"/>
            <a:ext cx="19980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Winning team: 1 point per round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63337" y="4852690"/>
            <a:ext cx="20273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 After each round: choral reading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86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MINUTES TO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526232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0384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652885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846511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389436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263232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2564011"/>
            <a:ext cx="36483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calculate how many minutes until the next hour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83234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2764036"/>
            <a:ext cx="43634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the correct word order: 差 + minutes + 分 + hour + 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101" y="303237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2964061"/>
            <a:ext cx="4693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choose the most natural expression between past and 差 style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1101" y="3341787"/>
            <a:ext cx="3505200" cy="857101"/>
          </a:xfrm>
          <a:prstGeom prst="roundRect">
            <a:avLst>
              <a:gd name="adj" fmla="val 88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304" y="3494187"/>
            <a:ext cx="32127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Layer 1 · Math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57304" y="3668762"/>
            <a:ext cx="32127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60 − 35 = 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7304" y="3903613"/>
            <a:ext cx="3212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minutes to for 5:35?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43251" y="3341787"/>
            <a:ext cx="3505349" cy="857101"/>
          </a:xfrm>
          <a:prstGeom prst="roundRect">
            <a:avLst>
              <a:gd name="adj" fmla="val 88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89452" y="3494187"/>
            <a:ext cx="32129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Layer 2 · Structure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89452" y="3668762"/>
            <a:ext cx="32129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 + ? + 分 + 六 + 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9452" y="3903613"/>
            <a:ext cx="3212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order: what goes in "?"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75550" y="3341787"/>
            <a:ext cx="3505200" cy="857101"/>
          </a:xfrm>
          <a:prstGeom prst="roundRect">
            <a:avLst>
              <a:gd name="adj" fmla="val 88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21753" y="3494187"/>
            <a:ext cx="32127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Layer 3 · Choice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121753" y="3668762"/>
            <a:ext cx="32127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7:50 → more natural?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1753" y="3903613"/>
            <a:ext cx="3212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 or 差 style?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1101" y="4376589"/>
            <a:ext cx="2270671" cy="663476"/>
          </a:xfrm>
          <a:prstGeom prst="roundRect">
            <a:avLst>
              <a:gd name="adj" fmla="val 11485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8751" y="4522589"/>
            <a:ext cx="18108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58751" y="4646414"/>
            <a:ext cx="18108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4:50 using 差.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1101" y="5167015"/>
            <a:ext cx="13364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☝️ 1 finger = I've got it!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49984" y="5167015"/>
            <a:ext cx="15947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✌️ 2 fingers = Getting there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42023" y="5167015"/>
            <a:ext cx="17222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✊ Fist = I need more practice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2026-06-29T00:22:28Z</dcterms:created>
  <dcterms:modified xsi:type="dcterms:W3CDTF">2026-06-29T00:22:28Z</dcterms:modified>
</cp:coreProperties>
</file>