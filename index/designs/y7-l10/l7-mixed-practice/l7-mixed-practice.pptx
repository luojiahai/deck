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4280" y="2084784"/>
            <a:ext cx="4663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★ ★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764280" y="2580084"/>
            <a:ext cx="46634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7 · Y7 Unit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764280" y="2888010"/>
            <a:ext cx="4663440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20"/>
              </a:lnSpc>
              <a:buNone/>
            </a:pPr>
            <a:r>
              <a:rPr lang="en-US" sz="7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时间奥运会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764280" y="3969990"/>
            <a:ext cx="4663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 Olympics · Mixed Practice · 混合练习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64280" y="4611291"/>
            <a:ext cx="46634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· 50 mins · Listening + Speaking + Reading + Writing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4300" y="-762000"/>
            <a:ext cx="1111151" cy="1111151"/>
          </a:xfrm>
          <a:prstGeom prst="roundRect">
            <a:avLst>
              <a:gd name="adj" fmla="val 82293"/>
            </a:avLst>
          </a:prstGeom>
          <a:noFill/>
          <a:ln w="476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731550" y="-762000"/>
            <a:ext cx="1111151" cy="1111151"/>
          </a:xfrm>
          <a:prstGeom prst="roundRect">
            <a:avLst>
              <a:gd name="adj" fmla="val 82293"/>
            </a:avLst>
          </a:prstGeom>
          <a:noFill/>
          <a:ln w="476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588800" y="-762000"/>
            <a:ext cx="1111151" cy="1111151"/>
          </a:xfrm>
          <a:prstGeom prst="roundRect">
            <a:avLst>
              <a:gd name="adj" fmla="val 82293"/>
            </a:avLst>
          </a:prstGeom>
          <a:noFill/>
          <a:ln w="476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828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TIME OLYMPICS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18370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32521" y="166688"/>
            <a:ext cx="10371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Pattern Sprint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634901"/>
            <a:ext cx="11503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Warm-up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15876"/>
            <a:ext cx="115031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Pattern Sprint · 模式冲刺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155502"/>
            <a:ext cx="115031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 clock faces at 5-second intervals. Write the digits on your answer sheet.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444377"/>
            <a:ext cx="2194471" cy="1447949"/>
          </a:xfrm>
          <a:prstGeom prst="roundRect">
            <a:avLst>
              <a:gd name="adj" fmla="val 43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36752" y="1520577"/>
            <a:ext cx="35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1319510" y="1676102"/>
            <a:ext cx="469850" cy="469850"/>
          </a:xfrm>
          <a:prstGeom prst="roundRect">
            <a:avLst>
              <a:gd name="adj" fmla="val 19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41711" y="1898303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46112" y="1796397"/>
            <a:ext cx="79973" cy="119467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48110" y="1733401"/>
            <a:ext cx="12650" cy="177701"/>
          </a:xfrm>
          <a:prstGeom prst="roundRect">
            <a:avLst>
              <a:gd name="adj" fmla="val 50198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40618" y="2196703"/>
            <a:ext cx="427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 : ___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27871" y="1444377"/>
            <a:ext cx="2194620" cy="1447949"/>
          </a:xfrm>
          <a:prstGeom prst="roundRect">
            <a:avLst>
              <a:gd name="adj" fmla="val 43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00436" y="1520577"/>
            <a:ext cx="494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590181" y="1676102"/>
            <a:ext cx="469850" cy="469850"/>
          </a:xfrm>
          <a:prstGeom prst="roundRect">
            <a:avLst>
              <a:gd name="adj" fmla="val 19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12381" y="1898303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822566" y="1901901"/>
            <a:ext cx="127555" cy="51258"/>
          </a:xfrm>
          <a:prstGeom prst="roundRect">
            <a:avLst>
              <a:gd name="adj" fmla="val 2477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818781" y="1911102"/>
            <a:ext cx="12650" cy="177701"/>
          </a:xfrm>
          <a:prstGeom prst="roundRect">
            <a:avLst>
              <a:gd name="adj" fmla="val 50198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11289" y="2196703"/>
            <a:ext cx="427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 : ___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98690" y="1444377"/>
            <a:ext cx="2194471" cy="1447949"/>
          </a:xfrm>
          <a:prstGeom prst="roundRect">
            <a:avLst>
              <a:gd name="adj" fmla="val 43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070955" y="1520577"/>
            <a:ext cx="497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861000" y="1676102"/>
            <a:ext cx="469850" cy="469850"/>
          </a:xfrm>
          <a:prstGeom prst="roundRect">
            <a:avLst>
              <a:gd name="adj" fmla="val 19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83201" y="1898303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087051" y="1907457"/>
            <a:ext cx="66182" cy="124577"/>
          </a:xfrm>
          <a:prstGeom prst="roundRect">
            <a:avLst>
              <a:gd name="adj" fmla="val 19189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95926" y="1904777"/>
            <a:ext cx="177701" cy="12650"/>
          </a:xfrm>
          <a:prstGeom prst="roundRect">
            <a:avLst>
              <a:gd name="adj" fmla="val 50198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882109" y="2196703"/>
            <a:ext cx="427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 : ___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269361" y="1444377"/>
            <a:ext cx="2194620" cy="1447949"/>
          </a:xfrm>
          <a:prstGeom prst="roundRect">
            <a:avLst>
              <a:gd name="adj" fmla="val 43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341471" y="1520577"/>
            <a:ext cx="503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8131671" y="1676102"/>
            <a:ext cx="469850" cy="469850"/>
          </a:xfrm>
          <a:prstGeom prst="roundRect">
            <a:avLst>
              <a:gd name="adj" fmla="val 19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353871" y="1898303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260007" y="1903545"/>
            <a:ext cx="112313" cy="92396"/>
          </a:xfrm>
          <a:prstGeom prst="roundRect">
            <a:avLst>
              <a:gd name="adj" fmla="val 13745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188896" y="1904777"/>
            <a:ext cx="177701" cy="12650"/>
          </a:xfrm>
          <a:prstGeom prst="roundRect">
            <a:avLst>
              <a:gd name="adj" fmla="val 50198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152779" y="2196703"/>
            <a:ext cx="427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 : ___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540180" y="1444377"/>
            <a:ext cx="2194471" cy="1447949"/>
          </a:xfrm>
          <a:prstGeom prst="roundRect">
            <a:avLst>
              <a:gd name="adj" fmla="val 43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0612596" y="1520577"/>
            <a:ext cx="496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10402491" y="1676102"/>
            <a:ext cx="469850" cy="469850"/>
          </a:xfrm>
          <a:prstGeom prst="roundRect">
            <a:avLst>
              <a:gd name="adj" fmla="val 19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0624691" y="1898303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0510097" y="1896049"/>
            <a:ext cx="127660" cy="24569"/>
          </a:xfrm>
          <a:prstGeom prst="roundRect">
            <a:avLst>
              <a:gd name="adj" fmla="val 51691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0631938" y="1754046"/>
            <a:ext cx="99806" cy="160219"/>
          </a:xfrm>
          <a:prstGeom prst="roundRect">
            <a:avLst>
              <a:gd name="adj" fmla="val 636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0423599" y="2196703"/>
            <a:ext cx="427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 : ___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2968526"/>
            <a:ext cx="2194471" cy="1447949"/>
          </a:xfrm>
          <a:prstGeom prst="roundRect">
            <a:avLst>
              <a:gd name="adj" fmla="val 43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529160" y="3044726"/>
            <a:ext cx="505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1319510" y="3200251"/>
            <a:ext cx="469850" cy="469850"/>
          </a:xfrm>
          <a:prstGeom prst="roundRect">
            <a:avLst>
              <a:gd name="adj" fmla="val 19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541711" y="3422452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501991" y="3312699"/>
            <a:ext cx="61321" cy="125810"/>
          </a:xfrm>
          <a:prstGeom prst="roundRect">
            <a:avLst>
              <a:gd name="adj" fmla="val 20711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551273" y="3429773"/>
            <a:ext cx="160219" cy="99806"/>
          </a:xfrm>
          <a:prstGeom prst="roundRect">
            <a:avLst>
              <a:gd name="adj" fmla="val 636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340618" y="3720852"/>
            <a:ext cx="427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 : ___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727871" y="2968526"/>
            <a:ext cx="2194620" cy="1447949"/>
          </a:xfrm>
          <a:prstGeom prst="roundRect">
            <a:avLst>
              <a:gd name="adj" fmla="val 43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802108" y="3044726"/>
            <a:ext cx="459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3590181" y="3200251"/>
            <a:ext cx="469850" cy="469850"/>
          </a:xfrm>
          <a:prstGeom prst="roundRect">
            <a:avLst>
              <a:gd name="adj" fmla="val 19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3812381" y="3422452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820269" y="3363527"/>
            <a:ext cx="119467" cy="79973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818781" y="3257550"/>
            <a:ext cx="12650" cy="177701"/>
          </a:xfrm>
          <a:prstGeom prst="roundRect">
            <a:avLst>
              <a:gd name="adj" fmla="val 50198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3611289" y="3720852"/>
            <a:ext cx="427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 : ___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998690" y="2968526"/>
            <a:ext cx="2194471" cy="1447949"/>
          </a:xfrm>
          <a:prstGeom prst="roundRect">
            <a:avLst>
              <a:gd name="adj" fmla="val 43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070802" y="3044726"/>
            <a:ext cx="502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5861000" y="3200251"/>
            <a:ext cx="469850" cy="469850"/>
          </a:xfrm>
          <a:prstGeom prst="roundRect">
            <a:avLst>
              <a:gd name="adj" fmla="val 19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083201" y="3422452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090388" y="3427448"/>
            <a:ext cx="114918" cy="88421"/>
          </a:xfrm>
          <a:prstGeom prst="roundRect">
            <a:avLst>
              <a:gd name="adj" fmla="val 14363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092763" y="3340923"/>
            <a:ext cx="160219" cy="99806"/>
          </a:xfrm>
          <a:prstGeom prst="roundRect">
            <a:avLst>
              <a:gd name="adj" fmla="val 636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882109" y="3720852"/>
            <a:ext cx="427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 : ___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269361" y="2968526"/>
            <a:ext cx="2194620" cy="1447949"/>
          </a:xfrm>
          <a:prstGeom prst="roundRect">
            <a:avLst>
              <a:gd name="adj" fmla="val 43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8341321" y="3044726"/>
            <a:ext cx="505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8131671" y="3200251"/>
            <a:ext cx="469850" cy="469850"/>
          </a:xfrm>
          <a:prstGeom prst="roundRect">
            <a:avLst>
              <a:gd name="adj" fmla="val 19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8353871" y="3422452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8314152" y="3431993"/>
            <a:ext cx="61321" cy="125810"/>
          </a:xfrm>
          <a:prstGeom prst="roundRect">
            <a:avLst>
              <a:gd name="adj" fmla="val 20711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8209540" y="3429773"/>
            <a:ext cx="160219" cy="99806"/>
          </a:xfrm>
          <a:prstGeom prst="roundRect">
            <a:avLst>
              <a:gd name="adj" fmla="val 636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8152779" y="3720852"/>
            <a:ext cx="427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 : ___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540180" y="2968526"/>
            <a:ext cx="2194471" cy="1447949"/>
          </a:xfrm>
          <a:prstGeom prst="roundRect">
            <a:avLst>
              <a:gd name="adj" fmla="val 43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0594531" y="3044726"/>
            <a:ext cx="857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10402491" y="3200251"/>
            <a:ext cx="469850" cy="469850"/>
          </a:xfrm>
          <a:prstGeom prst="roundRect">
            <a:avLst>
              <a:gd name="adj" fmla="val 19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0624691" y="3422452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10510045" y="3425762"/>
            <a:ext cx="128127" cy="30042"/>
          </a:xfrm>
          <a:prstGeom prst="roundRect">
            <a:avLst>
              <a:gd name="adj" fmla="val 42274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10480360" y="3340923"/>
            <a:ext cx="160218" cy="99806"/>
          </a:xfrm>
          <a:prstGeom prst="roundRect">
            <a:avLst>
              <a:gd name="adj" fmla="val 636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10423599" y="3720852"/>
            <a:ext cx="427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 : ___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57200" y="4492675"/>
            <a:ext cx="2194471" cy="1447949"/>
          </a:xfrm>
          <a:prstGeom prst="roundRect">
            <a:avLst>
              <a:gd name="adj" fmla="val 43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1519142" y="4568875"/>
            <a:ext cx="704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1319510" y="4724400"/>
            <a:ext cx="469850" cy="469850"/>
          </a:xfrm>
          <a:prstGeom prst="roundRect">
            <a:avLst>
              <a:gd name="adj" fmla="val 19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1541711" y="4946600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1439656" y="4887675"/>
            <a:ext cx="119467" cy="79973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1548110" y="4781699"/>
            <a:ext cx="12650" cy="177701"/>
          </a:xfrm>
          <a:prstGeom prst="roundRect">
            <a:avLst>
              <a:gd name="adj" fmla="val 50198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1340618" y="5245001"/>
            <a:ext cx="427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 : ___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2727871" y="4492675"/>
            <a:ext cx="2194620" cy="1447949"/>
          </a:xfrm>
          <a:prstGeom prst="roundRect">
            <a:avLst>
              <a:gd name="adj" fmla="val 43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3782827" y="4568875"/>
            <a:ext cx="847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600" dirty="0"/>
          </a:p>
        </p:txBody>
      </p:sp>
      <p:sp>
        <p:nvSpPr>
          <p:cNvPr id="89" name="Text 87"/>
          <p:cNvSpPr/>
          <p:nvPr/>
        </p:nvSpPr>
        <p:spPr>
          <a:xfrm>
            <a:off x="3590181" y="4724400"/>
            <a:ext cx="469850" cy="469850"/>
          </a:xfrm>
          <a:prstGeom prst="roundRect">
            <a:avLst>
              <a:gd name="adj" fmla="val 19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3812381" y="4946600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3815831" y="4858892"/>
            <a:ext cx="44671" cy="102972"/>
          </a:xfrm>
          <a:prstGeom prst="roundRect">
            <a:avLst>
              <a:gd name="adj" fmla="val 2843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3818781" y="4959400"/>
            <a:ext cx="12650" cy="177701"/>
          </a:xfrm>
          <a:prstGeom prst="roundRect">
            <a:avLst>
              <a:gd name="adj" fmla="val 50198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3611289" y="5245001"/>
            <a:ext cx="427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 : ___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4998690" y="4492675"/>
            <a:ext cx="2194471" cy="1447949"/>
          </a:xfrm>
          <a:prstGeom prst="roundRect">
            <a:avLst>
              <a:gd name="adj" fmla="val 43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6053346" y="4568875"/>
            <a:ext cx="850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600" dirty="0"/>
          </a:p>
        </p:txBody>
      </p:sp>
      <p:sp>
        <p:nvSpPr>
          <p:cNvPr id="96" name="Text 94"/>
          <p:cNvSpPr/>
          <p:nvPr/>
        </p:nvSpPr>
        <p:spPr>
          <a:xfrm>
            <a:off x="5861000" y="4724400"/>
            <a:ext cx="469850" cy="469850"/>
          </a:xfrm>
          <a:prstGeom prst="roundRect">
            <a:avLst>
              <a:gd name="adj" fmla="val 19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6083201" y="4946600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6090733" y="4883156"/>
            <a:ext cx="117304" cy="84277"/>
          </a:xfrm>
          <a:prstGeom prst="roundRect">
            <a:avLst>
              <a:gd name="adj" fmla="val 15069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7"/>
          <p:cNvSpPr/>
          <p:nvPr/>
        </p:nvSpPr>
        <p:spPr>
          <a:xfrm>
            <a:off x="6001598" y="4802343"/>
            <a:ext cx="99806" cy="160219"/>
          </a:xfrm>
          <a:prstGeom prst="roundRect">
            <a:avLst>
              <a:gd name="adj" fmla="val 636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Text 98"/>
          <p:cNvSpPr/>
          <p:nvPr/>
        </p:nvSpPr>
        <p:spPr>
          <a:xfrm>
            <a:off x="5882109" y="5245001"/>
            <a:ext cx="427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 : ___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7269361" y="4492675"/>
            <a:ext cx="2194620" cy="1447949"/>
          </a:xfrm>
          <a:prstGeom prst="roundRect">
            <a:avLst>
              <a:gd name="adj" fmla="val 43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100"/>
          <p:cNvSpPr/>
          <p:nvPr/>
        </p:nvSpPr>
        <p:spPr>
          <a:xfrm>
            <a:off x="8323862" y="4568875"/>
            <a:ext cx="856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</a:t>
            </a:r>
            <a:endParaRPr lang="en-US" sz="600" dirty="0"/>
          </a:p>
        </p:txBody>
      </p:sp>
      <p:sp>
        <p:nvSpPr>
          <p:cNvPr id="103" name="Text 101"/>
          <p:cNvSpPr/>
          <p:nvPr/>
        </p:nvSpPr>
        <p:spPr>
          <a:xfrm>
            <a:off x="8131671" y="4724400"/>
            <a:ext cx="469850" cy="469850"/>
          </a:xfrm>
          <a:prstGeom prst="roundRect">
            <a:avLst>
              <a:gd name="adj" fmla="val 19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102"/>
          <p:cNvSpPr/>
          <p:nvPr/>
        </p:nvSpPr>
        <p:spPr>
          <a:xfrm>
            <a:off x="8353871" y="4946600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103"/>
          <p:cNvSpPr/>
          <p:nvPr/>
        </p:nvSpPr>
        <p:spPr>
          <a:xfrm>
            <a:off x="8340508" y="4958156"/>
            <a:ext cx="35458" cy="128351"/>
          </a:xfrm>
          <a:prstGeom prst="roundRect">
            <a:avLst>
              <a:gd name="adj" fmla="val 3581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Text 104"/>
          <p:cNvSpPr/>
          <p:nvPr/>
        </p:nvSpPr>
        <p:spPr>
          <a:xfrm>
            <a:off x="8366596" y="4953074"/>
            <a:ext cx="177701" cy="12650"/>
          </a:xfrm>
          <a:prstGeom prst="roundRect">
            <a:avLst>
              <a:gd name="adj" fmla="val 50198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Text 105"/>
          <p:cNvSpPr/>
          <p:nvPr/>
        </p:nvSpPr>
        <p:spPr>
          <a:xfrm>
            <a:off x="8152779" y="5245001"/>
            <a:ext cx="427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 : ___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9540180" y="4492675"/>
            <a:ext cx="2194471" cy="1447949"/>
          </a:xfrm>
          <a:prstGeom prst="roundRect">
            <a:avLst>
              <a:gd name="adj" fmla="val 43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Text 107"/>
          <p:cNvSpPr/>
          <p:nvPr/>
        </p:nvSpPr>
        <p:spPr>
          <a:xfrm>
            <a:off x="10594986" y="4568875"/>
            <a:ext cx="848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600" dirty="0"/>
          </a:p>
        </p:txBody>
      </p:sp>
      <p:sp>
        <p:nvSpPr>
          <p:cNvPr id="110" name="Text 108"/>
          <p:cNvSpPr/>
          <p:nvPr/>
        </p:nvSpPr>
        <p:spPr>
          <a:xfrm>
            <a:off x="10402491" y="4724400"/>
            <a:ext cx="469850" cy="469850"/>
          </a:xfrm>
          <a:prstGeom prst="roundRect">
            <a:avLst>
              <a:gd name="adj" fmla="val 19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Text 109"/>
          <p:cNvSpPr/>
          <p:nvPr/>
        </p:nvSpPr>
        <p:spPr>
          <a:xfrm>
            <a:off x="10624691" y="4946600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Text 110"/>
          <p:cNvSpPr/>
          <p:nvPr/>
        </p:nvSpPr>
        <p:spPr>
          <a:xfrm>
            <a:off x="10516409" y="4902018"/>
            <a:ext cx="124577" cy="66182"/>
          </a:xfrm>
          <a:prstGeom prst="roundRect">
            <a:avLst>
              <a:gd name="adj" fmla="val 19189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Text 111"/>
          <p:cNvSpPr/>
          <p:nvPr/>
        </p:nvSpPr>
        <p:spPr>
          <a:xfrm>
            <a:off x="10459715" y="4953074"/>
            <a:ext cx="177701" cy="12650"/>
          </a:xfrm>
          <a:prstGeom prst="roundRect">
            <a:avLst>
              <a:gd name="adj" fmla="val 50198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Text 112"/>
          <p:cNvSpPr/>
          <p:nvPr/>
        </p:nvSpPr>
        <p:spPr>
          <a:xfrm>
            <a:off x="10423599" y="5245001"/>
            <a:ext cx="427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 : ___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457200" y="6042124"/>
            <a:ext cx="11277600" cy="333375"/>
          </a:xfrm>
          <a:prstGeom prst="roundRect">
            <a:avLst>
              <a:gd name="adj" fmla="val 19048"/>
            </a:avLst>
          </a:prstGeom>
          <a:solidFill>
            <a:srgbClr val="C8943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Text 114"/>
          <p:cNvSpPr/>
          <p:nvPr/>
        </p:nvSpPr>
        <p:spPr>
          <a:xfrm>
            <a:off x="660350" y="6118324"/>
            <a:ext cx="710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sec each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1509564" y="6146899"/>
            <a:ext cx="32639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controls pace. Students write digits only. Self-check after sprint.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57200" y="6653213"/>
            <a:ext cx="15714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Time Olympics · 时间奥运会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828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TIME OLYMPICS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18370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32521" y="166688"/>
            <a:ext cx="16032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Olympics Rules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609600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790575"/>
            <a:ext cx="1119225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&amp; Olympics Rules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600" y="1269950"/>
            <a:ext cx="10972800" cy="561677"/>
          </a:xfrm>
          <a:prstGeom prst="rect">
            <a:avLst/>
          </a:prstGeom>
          <a:solidFill>
            <a:srgbClr val="C8943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28650" y="1269950"/>
            <a:ext cx="0" cy="561677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401" y="1371451"/>
            <a:ext cx="107908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25401" y="1520577"/>
            <a:ext cx="107908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use all time expressions fluently and accurately under time pressure.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1933129"/>
            <a:ext cx="215801" cy="215801"/>
          </a:xfrm>
          <a:prstGeom prst="roundRect">
            <a:avLst>
              <a:gd name="adj" fmla="val 423724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7260" y="1979116"/>
            <a:ext cx="411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901601" y="1960066"/>
            <a:ext cx="23236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Hear Chinese time → write correct digits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9600" y="2199680"/>
            <a:ext cx="215801" cy="215801"/>
          </a:xfrm>
          <a:prstGeom prst="roundRect">
            <a:avLst>
              <a:gd name="adj" fmla="val 423724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9223" y="2245668"/>
            <a:ext cx="57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901601" y="2226618"/>
            <a:ext cx="26978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See clock → say most natural Chinese instantly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600" y="2466231"/>
            <a:ext cx="215801" cy="215801"/>
          </a:xfrm>
          <a:prstGeom prst="roundRect">
            <a:avLst>
              <a:gd name="adj" fmla="val 423724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8925" y="2512219"/>
            <a:ext cx="581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01601" y="2493169"/>
            <a:ext cx="28191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Switch between 点/分/半/刻/差 without hesitation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9600" y="2808982"/>
            <a:ext cx="2667000" cy="720328"/>
          </a:xfrm>
          <a:prstGeom prst="roundRect">
            <a:avLst>
              <a:gd name="adj" fmla="val 88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09600" y="2828032"/>
            <a:ext cx="2667000" cy="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550" y="2948583"/>
            <a:ext cx="24613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736550" y="3078659"/>
            <a:ext cx="24613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Listening Relay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6550" y="3303984"/>
            <a:ext cx="24613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 items · 5 pts · Max 100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378101" y="2808982"/>
            <a:ext cx="2667149" cy="720328"/>
          </a:xfrm>
          <a:prstGeom prst="roundRect">
            <a:avLst>
              <a:gd name="adj" fmla="val 88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378101" y="2828032"/>
            <a:ext cx="2667149" cy="0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05051" y="2948583"/>
            <a:ext cx="24615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505051" y="3078659"/>
            <a:ext cx="24615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Speaking Sprint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05051" y="3303984"/>
            <a:ext cx="24615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 clocks · choral · Max 110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146750" y="2808982"/>
            <a:ext cx="2667000" cy="720328"/>
          </a:xfrm>
          <a:prstGeom prst="roundRect">
            <a:avLst>
              <a:gd name="adj" fmla="val 88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146750" y="2828032"/>
            <a:ext cx="2667000" cy="0"/>
          </a:xfrm>
          <a:prstGeom prst="line">
            <a:avLst/>
          </a:prstGeom>
          <a:noFill/>
          <a:ln w="38100">
            <a:solidFill>
              <a:srgbClr val="D475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73701" y="2948583"/>
            <a:ext cx="24613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273701" y="3078659"/>
            <a:ext cx="24613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Error Hunter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73701" y="3303984"/>
            <a:ext cx="24613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items · Max 120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915251" y="2808982"/>
            <a:ext cx="2667149" cy="720328"/>
          </a:xfrm>
          <a:prstGeom prst="roundRect">
            <a:avLst>
              <a:gd name="adj" fmla="val 8815"/>
            </a:avLst>
          </a:prstGeom>
          <a:solidFill>
            <a:srgbClr val="C8943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8915251" y="2828032"/>
            <a:ext cx="2667149" cy="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42202" y="2948583"/>
            <a:ext cx="24615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4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9042202" y="3078659"/>
            <a:ext cx="24615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Champion's Choice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42202" y="3303984"/>
            <a:ext cx="24615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items · Max 100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09600" y="3630811"/>
            <a:ext cx="2667000" cy="863203"/>
          </a:xfrm>
          <a:prstGeom prst="roundRect">
            <a:avLst>
              <a:gd name="adj" fmla="val 735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70369" y="3741837"/>
            <a:ext cx="25454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GOLD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0369" y="4052888"/>
            <a:ext cx="25454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GOLD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70369" y="4202013"/>
            <a:ext cx="2545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380+ pts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78101" y="3630811"/>
            <a:ext cx="2667149" cy="863203"/>
          </a:xfrm>
          <a:prstGeom prst="roundRect">
            <a:avLst>
              <a:gd name="adj" fmla="val 735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438869" y="3741837"/>
            <a:ext cx="25456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SILVER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438869" y="4052888"/>
            <a:ext cx="25456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SILVER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438869" y="4202013"/>
            <a:ext cx="25456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300–379 pts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46750" y="3630811"/>
            <a:ext cx="2667000" cy="863203"/>
          </a:xfrm>
          <a:prstGeom prst="roundRect">
            <a:avLst>
              <a:gd name="adj" fmla="val 735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207520" y="3741837"/>
            <a:ext cx="25454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BRONZE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207520" y="4052888"/>
            <a:ext cx="25454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BRONZE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207520" y="4202013"/>
            <a:ext cx="2545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200–299 pts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915251" y="3630811"/>
            <a:ext cx="2667149" cy="863203"/>
          </a:xfrm>
          <a:prstGeom prst="roundRect">
            <a:avLst>
              <a:gd name="adj" fmla="val 735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8976019" y="3741837"/>
            <a:ext cx="25456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976019" y="4052888"/>
            <a:ext cx="25456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PARTICIPANT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976019" y="4202013"/>
            <a:ext cx="25456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&lt;200 pts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6653213"/>
            <a:ext cx="15714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Time Olympics · 时间奥运会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828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TIME OLYMPICS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18370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32521" y="166688"/>
            <a:ext cx="11335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 · Listening Relay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660350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 · 10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1311176"/>
            <a:ext cx="43750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600"/>
              </a:spcBef>
              <a:spcAft>
                <a:spcPts val="3600"/>
              </a:spcAft>
              <a:buNone/>
            </a:pPr>
            <a:r>
              <a:rPr lang="en-US" sz="3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40023" y="1473101"/>
            <a:ext cx="197680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Listening Relay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09600" y="24573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the time in Chinese once. You write the digits. No repeats!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600" y="2809726"/>
            <a:ext cx="5435650" cy="501551"/>
          </a:xfrm>
          <a:prstGeom prst="roundRect">
            <a:avLst>
              <a:gd name="adj" fmla="val 1266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8650" y="2809726"/>
            <a:ext cx="0" cy="501551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401" y="2936677"/>
            <a:ext cx="751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6021" y="2936677"/>
            <a:ext cx="30219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digits only — e.g. hear 三点二十分 → write 3:20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46750" y="2809726"/>
            <a:ext cx="5435650" cy="501551"/>
          </a:xfrm>
          <a:prstGeom prst="roundRect">
            <a:avLst>
              <a:gd name="adj" fmla="val 1266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165800" y="2809726"/>
            <a:ext cx="0" cy="501551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2551" y="2936677"/>
            <a:ext cx="1109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98295" y="2936677"/>
            <a:ext cx="36513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ONCE — Listen carefully first time. No calling out.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600" y="3412778"/>
            <a:ext cx="5435650" cy="501551"/>
          </a:xfrm>
          <a:prstGeom prst="roundRect">
            <a:avLst>
              <a:gd name="adj" fmla="val 1266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28650" y="3412778"/>
            <a:ext cx="0" cy="501551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401" y="3539728"/>
            <a:ext cx="11051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60698" y="3539728"/>
            <a:ext cx="35135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Building difficulty — Starts easy, gets harder. Double 零 alert!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46750" y="3412778"/>
            <a:ext cx="5435650" cy="501551"/>
          </a:xfrm>
          <a:prstGeom prst="roundRect">
            <a:avLst>
              <a:gd name="adj" fmla="val 1266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165800" y="3412778"/>
            <a:ext cx="0" cy="501551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2551" y="3539728"/>
            <a:ext cx="111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98741" y="3539728"/>
            <a:ext cx="40557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Self-mark in green pen — Swap papers or self-check after each block.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9600" y="4066729"/>
            <a:ext cx="10972800" cy="574477"/>
          </a:xfrm>
          <a:prstGeom prst="roundRect">
            <a:avLst>
              <a:gd name="adj" fmla="val 11054"/>
            </a:avLst>
          </a:prstGeom>
          <a:solidFill>
            <a:srgbClr val="C8943E">
              <a:alpha val="12000"/>
            </a:srgbClr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26516" y="4187279"/>
            <a:ext cx="107389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 items x 5 pts = Max 100 pts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6516" y="4396829"/>
            <a:ext cx="107389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Each correct time = 5 points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09600" y="4742706"/>
            <a:ext cx="17791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Easy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860227" y="4769644"/>
            <a:ext cx="2032843" cy="50750"/>
          </a:xfrm>
          <a:prstGeom prst="roundRect">
            <a:avLst>
              <a:gd name="adj" fmla="val 50049"/>
            </a:avLst>
          </a:prstGeom>
          <a:solidFill>
            <a:srgbClr val="3A7D8C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969270" y="4769644"/>
            <a:ext cx="2032843" cy="50750"/>
          </a:xfrm>
          <a:prstGeom prst="roundRect">
            <a:avLst>
              <a:gd name="adj" fmla="val 50049"/>
            </a:avLst>
          </a:prstGeom>
          <a:solidFill>
            <a:srgbClr val="3A7D8C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078313" y="4769644"/>
            <a:ext cx="2032843" cy="50750"/>
          </a:xfrm>
          <a:prstGeom prst="roundRect">
            <a:avLst>
              <a:gd name="adj" fmla="val 50049"/>
            </a:avLst>
          </a:prstGeom>
          <a:solidFill>
            <a:srgbClr val="C8943E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187357" y="4769644"/>
            <a:ext cx="2032843" cy="50750"/>
          </a:xfrm>
          <a:prstGeom prst="roundRect">
            <a:avLst>
              <a:gd name="adj" fmla="val 50049"/>
            </a:avLst>
          </a:prstGeom>
          <a:solidFill>
            <a:srgbClr val="C8943E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296400" y="4769644"/>
            <a:ext cx="2032843" cy="50750"/>
          </a:xfrm>
          <a:prstGeom prst="roundRect">
            <a:avLst>
              <a:gd name="adj" fmla="val 50049"/>
            </a:avLst>
          </a:prstGeom>
          <a:solidFill>
            <a:srgbClr val="D4756B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1405443" y="4742706"/>
            <a:ext cx="18049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Hard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653213"/>
            <a:ext cx="15714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Time Olympics · 时间奥运会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828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TIME OLYMPICS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18370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32521" y="166688"/>
            <a:ext cx="17223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 · Listening Relay · Items 1–10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609600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EXERCISE SLIDE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892076"/>
            <a:ext cx="11176099" cy="253901"/>
          </a:xfrm>
          <a:prstGeom prst="roundRect">
            <a:avLst>
              <a:gd name="adj" fmla="val 25010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942826"/>
            <a:ext cx="11593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🔒 Answers on next slide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07950" y="1145977"/>
            <a:ext cx="1139962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Round 1 · Listening Relay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7950" y="1485602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1–10: Building from o'clock → half/quarter → minutes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1749028"/>
            <a:ext cx="5556349" cy="802779"/>
          </a:xfrm>
          <a:prstGeom prst="roundRect">
            <a:avLst>
              <a:gd name="adj" fmla="val 791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7000" y="1749028"/>
            <a:ext cx="0" cy="802779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8450" y="202346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99505" y="2069455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9302" y="2017068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27700" y="1749028"/>
            <a:ext cx="5556349" cy="802779"/>
          </a:xfrm>
          <a:prstGeom prst="roundRect">
            <a:avLst>
              <a:gd name="adj" fmla="val 791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146750" y="1749028"/>
            <a:ext cx="0" cy="802779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200" y="202346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08837" y="2069455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99052" y="2017068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7950" y="2615208"/>
            <a:ext cx="5556349" cy="802928"/>
          </a:xfrm>
          <a:prstGeom prst="roundRect">
            <a:avLst>
              <a:gd name="adj" fmla="val 79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27000" y="2615208"/>
            <a:ext cx="0" cy="802928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8450" y="288964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88789" y="2935635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9302" y="2883247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27700" y="2615208"/>
            <a:ext cx="5556349" cy="802928"/>
          </a:xfrm>
          <a:prstGeom prst="roundRect">
            <a:avLst>
              <a:gd name="adj" fmla="val 79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146750" y="2615208"/>
            <a:ext cx="0" cy="802928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200" y="288964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08093" y="2935635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99052" y="2883247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两点半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7950" y="3481536"/>
            <a:ext cx="5556349" cy="802928"/>
          </a:xfrm>
          <a:prstGeom prst="roundRect">
            <a:avLst>
              <a:gd name="adj" fmla="val 79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27000" y="3481536"/>
            <a:ext cx="0" cy="802928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8450" y="375597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88938" y="3801963"/>
            <a:ext cx="743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9302" y="3749576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五点一刻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127700" y="3481536"/>
            <a:ext cx="5556349" cy="802928"/>
          </a:xfrm>
          <a:prstGeom prst="roundRect">
            <a:avLst>
              <a:gd name="adj" fmla="val 79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146750" y="3481536"/>
            <a:ext cx="0" cy="802928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8200" y="375597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408093" y="3801963"/>
            <a:ext cx="75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99052" y="3749576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八点十分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07950" y="4347865"/>
            <a:ext cx="5556349" cy="802928"/>
          </a:xfrm>
          <a:prstGeom prst="roundRect">
            <a:avLst>
              <a:gd name="adj" fmla="val 79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27000" y="4347865"/>
            <a:ext cx="0" cy="802928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8450" y="462230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91617" y="4668292"/>
            <a:ext cx="689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79302" y="4615904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十点二十分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127700" y="4347865"/>
            <a:ext cx="5556349" cy="802928"/>
          </a:xfrm>
          <a:prstGeom prst="roundRect">
            <a:avLst>
              <a:gd name="adj" fmla="val 79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6146750" y="4347865"/>
            <a:ext cx="0" cy="802928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18200" y="462230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408241" y="4668292"/>
            <a:ext cx="752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99052" y="4615904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四点四十五分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507950" y="5214193"/>
            <a:ext cx="5556349" cy="802928"/>
          </a:xfrm>
          <a:prstGeom prst="roundRect">
            <a:avLst>
              <a:gd name="adj" fmla="val 79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27000" y="5214193"/>
            <a:ext cx="0" cy="802928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8450" y="548863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88343" y="5534620"/>
            <a:ext cx="75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79302" y="5482233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差十分六点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6127700" y="5214193"/>
            <a:ext cx="5556349" cy="802928"/>
          </a:xfrm>
          <a:prstGeom prst="roundRect">
            <a:avLst>
              <a:gd name="adj" fmla="val 79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6146750" y="5214193"/>
            <a:ext cx="0" cy="802928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18200" y="548863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382196" y="5534620"/>
            <a:ext cx="1284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699052" y="5482233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一点零五分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507950" y="6118622"/>
            <a:ext cx="11176099" cy="282178"/>
          </a:xfrm>
          <a:prstGeom prst="roundRect">
            <a:avLst>
              <a:gd name="adj" fmla="val 2250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60350" y="6182023"/>
            <a:ext cx="614958" cy="155377"/>
          </a:xfrm>
          <a:prstGeom prst="roundRect">
            <a:avLst>
              <a:gd name="adj" fmla="val 816549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61851" y="6207323"/>
            <a:ext cx="4201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1376809" y="6197798"/>
            <a:ext cx="40489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each item once. Pause 5 seconds between items. Green pen self-check after item 10.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6653213"/>
            <a:ext cx="15714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Time Olympics · 时间奥运会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828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TIME OLYMPICS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18370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32521" y="166688"/>
            <a:ext cx="16921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 · Answer Reveal · Items 1–10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609600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🔒 ANSWER REVEAL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809625"/>
            <a:ext cx="1139962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Round 1 · Listening Relay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1149251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1–10: Building from o'clock → half/quarter → minutes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1412677"/>
            <a:ext cx="5556349" cy="870049"/>
          </a:xfrm>
          <a:prstGeom prst="roundRect">
            <a:avLst>
              <a:gd name="adj" fmla="val 729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7000" y="1412677"/>
            <a:ext cx="0" cy="870049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8450" y="172075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9505" y="1766739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9302" y="1714351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87252" y="1733401"/>
            <a:ext cx="3757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7700" y="1412677"/>
            <a:ext cx="5556349" cy="870049"/>
          </a:xfrm>
          <a:prstGeom prst="roundRect">
            <a:avLst>
              <a:gd name="adj" fmla="val 729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146750" y="1412677"/>
            <a:ext cx="0" cy="870049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200" y="172075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08837" y="1766739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99052" y="1714351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207002" y="1733401"/>
            <a:ext cx="3675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950" y="2346127"/>
            <a:ext cx="5556349" cy="870198"/>
          </a:xfrm>
          <a:prstGeom prst="roundRect">
            <a:avLst>
              <a:gd name="adj" fmla="val 729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27000" y="2346127"/>
            <a:ext cx="0" cy="870198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8450" y="265420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88789" y="2700189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9302" y="2647801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777752" y="2666851"/>
            <a:ext cx="4507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7700" y="2346127"/>
            <a:ext cx="5556349" cy="870198"/>
          </a:xfrm>
          <a:prstGeom prst="roundRect">
            <a:avLst>
              <a:gd name="adj" fmla="val 729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146750" y="2346127"/>
            <a:ext cx="0" cy="870198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200" y="265420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08093" y="2700189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99052" y="2647801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两点半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397502" y="2666851"/>
            <a:ext cx="373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2:30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7950" y="3279725"/>
            <a:ext cx="5556349" cy="870198"/>
          </a:xfrm>
          <a:prstGeom prst="roundRect">
            <a:avLst>
              <a:gd name="adj" fmla="val 729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527000" y="3279725"/>
            <a:ext cx="0" cy="870198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8450" y="35878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88938" y="3633788"/>
            <a:ext cx="743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9302" y="3581400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五点一刻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968252" y="3600450"/>
            <a:ext cx="3401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5:15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27700" y="3279725"/>
            <a:ext cx="5556349" cy="870198"/>
          </a:xfrm>
          <a:prstGeom prst="roundRect">
            <a:avLst>
              <a:gd name="adj" fmla="val 729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146750" y="3279725"/>
            <a:ext cx="0" cy="870198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18200" y="35878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408093" y="3633788"/>
            <a:ext cx="75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99052" y="3581400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八点十分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588002" y="3600450"/>
            <a:ext cx="3435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8:10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07950" y="4213324"/>
            <a:ext cx="5556349" cy="870198"/>
          </a:xfrm>
          <a:prstGeom prst="roundRect">
            <a:avLst>
              <a:gd name="adj" fmla="val 729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27000" y="4213324"/>
            <a:ext cx="0" cy="870198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8450" y="452139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91617" y="4567386"/>
            <a:ext cx="689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9302" y="4514999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十点二十分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2158752" y="4534049"/>
            <a:ext cx="4507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10:20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127700" y="4213324"/>
            <a:ext cx="5556349" cy="870198"/>
          </a:xfrm>
          <a:prstGeom prst="roundRect">
            <a:avLst>
              <a:gd name="adj" fmla="val 729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6146750" y="4213324"/>
            <a:ext cx="0" cy="870198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18200" y="452139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408241" y="4567386"/>
            <a:ext cx="752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699052" y="4514999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四点四十五分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7969002" y="4534049"/>
            <a:ext cx="37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4:45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07950" y="5146923"/>
            <a:ext cx="5556349" cy="870198"/>
          </a:xfrm>
          <a:prstGeom prst="roundRect">
            <a:avLst>
              <a:gd name="adj" fmla="val 729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527000" y="5146923"/>
            <a:ext cx="0" cy="870198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8450" y="545499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788343" y="5500985"/>
            <a:ext cx="75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79302" y="5448598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差十分六点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2158752" y="5467648"/>
            <a:ext cx="373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5:50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127700" y="5146923"/>
            <a:ext cx="5556349" cy="870198"/>
          </a:xfrm>
          <a:prstGeom prst="roundRect">
            <a:avLst>
              <a:gd name="adj" fmla="val 729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6146750" y="5146923"/>
            <a:ext cx="0" cy="870198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18200" y="545499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6382196" y="5500985"/>
            <a:ext cx="1284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699052" y="5448598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一点零五分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7778502" y="5467648"/>
            <a:ext cx="342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1:05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07950" y="6118622"/>
            <a:ext cx="11176099" cy="282178"/>
          </a:xfrm>
          <a:prstGeom prst="roundRect">
            <a:avLst>
              <a:gd name="adj" fmla="val 2250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60350" y="6182023"/>
            <a:ext cx="950119" cy="155377"/>
          </a:xfrm>
          <a:prstGeom prst="roundRect">
            <a:avLst>
              <a:gd name="adj" fmla="val 8165494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761851" y="6207323"/>
            <a:ext cx="7620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REVEAL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1711970" y="6197798"/>
            <a:ext cx="22172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Green pen self-check. One mark per correct item.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6653213"/>
            <a:ext cx="15714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Time Olympics · 时间奥运会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828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TIME OLYMPICS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18370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32521" y="166688"/>
            <a:ext cx="17780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 · Listening Relay · Items 11–20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609600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EXERCISE SLIDE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892076"/>
            <a:ext cx="11176099" cy="253901"/>
          </a:xfrm>
          <a:prstGeom prst="roundRect">
            <a:avLst>
              <a:gd name="adj" fmla="val 25010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942826"/>
            <a:ext cx="11593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🔒 Answers on next slide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07950" y="1145977"/>
            <a:ext cx="1139962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Round 1 · Listening Relay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7950" y="1485602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11–20: 差 patterns, larger minutes, double 零 trap!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1749028"/>
            <a:ext cx="5556349" cy="781943"/>
          </a:xfrm>
          <a:prstGeom prst="roundRect">
            <a:avLst>
              <a:gd name="adj" fmla="val 81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7000" y="1749028"/>
            <a:ext cx="0" cy="781943"/>
          </a:xfrm>
          <a:prstGeom prst="line">
            <a:avLst/>
          </a:prstGeom>
          <a:noFill/>
          <a:ln w="38100">
            <a:solidFill>
              <a:srgbClr val="D475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8450" y="201304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3609" y="2059037"/>
            <a:ext cx="1055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9302" y="2006650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九点二十五分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27700" y="1749028"/>
            <a:ext cx="5556349" cy="781943"/>
          </a:xfrm>
          <a:prstGeom prst="roundRect">
            <a:avLst>
              <a:gd name="adj" fmla="val 81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146750" y="1749028"/>
            <a:ext cx="0" cy="781943"/>
          </a:xfrm>
          <a:prstGeom prst="line">
            <a:avLst/>
          </a:prstGeom>
          <a:noFill/>
          <a:ln w="38100">
            <a:solidFill>
              <a:srgbClr val="D475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200" y="201304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82941" y="2059037"/>
            <a:ext cx="1267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99052" y="2006650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三点三刻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7950" y="2594372"/>
            <a:ext cx="5556349" cy="781943"/>
          </a:xfrm>
          <a:prstGeom prst="roundRect">
            <a:avLst>
              <a:gd name="adj" fmla="val 81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27000" y="2594372"/>
            <a:ext cx="0" cy="781943"/>
          </a:xfrm>
          <a:prstGeom prst="line">
            <a:avLst/>
          </a:prstGeom>
          <a:noFill/>
          <a:ln w="38100">
            <a:solidFill>
              <a:srgbClr val="D475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8450" y="285839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63042" y="2904381"/>
            <a:ext cx="1272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9302" y="2851993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差五分八点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27700" y="2594372"/>
            <a:ext cx="5556349" cy="781943"/>
          </a:xfrm>
          <a:prstGeom prst="roundRect">
            <a:avLst>
              <a:gd name="adj" fmla="val 81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146750" y="2594372"/>
            <a:ext cx="0" cy="781943"/>
          </a:xfrm>
          <a:prstGeom prst="line">
            <a:avLst/>
          </a:prstGeom>
          <a:noFill/>
          <a:ln w="38100">
            <a:solidFill>
              <a:srgbClr val="D475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200" y="285839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82345" y="2904381"/>
            <a:ext cx="1281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99052" y="2851993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六点零二分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7950" y="3439716"/>
            <a:ext cx="5556349" cy="781943"/>
          </a:xfrm>
          <a:prstGeom prst="roundRect">
            <a:avLst>
              <a:gd name="adj" fmla="val 81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27000" y="3439716"/>
            <a:ext cx="0" cy="781943"/>
          </a:xfrm>
          <a:prstGeom prst="line">
            <a:avLst/>
          </a:prstGeom>
          <a:noFill/>
          <a:ln w="38100">
            <a:solidFill>
              <a:srgbClr val="D475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8450" y="370373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63042" y="3749725"/>
            <a:ext cx="1270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9302" y="3697337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十一点五十分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127700" y="3439716"/>
            <a:ext cx="5556349" cy="781943"/>
          </a:xfrm>
          <a:prstGeom prst="roundRect">
            <a:avLst>
              <a:gd name="adj" fmla="val 81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146750" y="3439716"/>
            <a:ext cx="0" cy="781943"/>
          </a:xfrm>
          <a:prstGeom prst="line">
            <a:avLst/>
          </a:prstGeom>
          <a:noFill/>
          <a:ln w="38100">
            <a:solidFill>
              <a:srgbClr val="D475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8200" y="370373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82196" y="3749725"/>
            <a:ext cx="1282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99052" y="3697337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差一刻四点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07950" y="4285059"/>
            <a:ext cx="5556349" cy="781943"/>
          </a:xfrm>
          <a:prstGeom prst="roundRect">
            <a:avLst>
              <a:gd name="adj" fmla="val 81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27000" y="4285059"/>
            <a:ext cx="0" cy="781943"/>
          </a:xfrm>
          <a:prstGeom prst="line">
            <a:avLst/>
          </a:prstGeom>
          <a:noFill/>
          <a:ln w="38100">
            <a:solidFill>
              <a:srgbClr val="D475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8450" y="454908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65721" y="4595068"/>
            <a:ext cx="1215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79302" y="4542681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七点零九分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127700" y="4285059"/>
            <a:ext cx="5556349" cy="781943"/>
          </a:xfrm>
          <a:prstGeom prst="roundRect">
            <a:avLst>
              <a:gd name="adj" fmla="val 81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6146750" y="4285059"/>
            <a:ext cx="0" cy="781943"/>
          </a:xfrm>
          <a:prstGeom prst="line">
            <a:avLst/>
          </a:prstGeom>
          <a:noFill/>
          <a:ln w="38100">
            <a:solidFill>
              <a:srgbClr val="D475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18200" y="454908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382345" y="4595068"/>
            <a:ext cx="1279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99052" y="4542681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两点四十八分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507950" y="5130403"/>
            <a:ext cx="5556349" cy="886718"/>
          </a:xfrm>
          <a:prstGeom prst="roundRect">
            <a:avLst>
              <a:gd name="adj" fmla="val 7161"/>
            </a:avLst>
          </a:prstGeom>
          <a:solidFill>
            <a:srgbClr val="D4756B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27000" y="5130403"/>
            <a:ext cx="0" cy="886718"/>
          </a:xfrm>
          <a:prstGeom prst="line">
            <a:avLst/>
          </a:prstGeom>
          <a:noFill/>
          <a:ln w="38100">
            <a:solidFill>
              <a:srgbClr val="D475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8450" y="544681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62446" y="5492800"/>
            <a:ext cx="1282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79302" y="5388025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九点零九分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1079302" y="5654725"/>
            <a:ext cx="9715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DOUBLE 零!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127700" y="5130403"/>
            <a:ext cx="5556349" cy="886718"/>
          </a:xfrm>
          <a:prstGeom prst="roundRect">
            <a:avLst>
              <a:gd name="adj" fmla="val 716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6146750" y="5130403"/>
            <a:ext cx="0" cy="886718"/>
          </a:xfrm>
          <a:prstGeom prst="line">
            <a:avLst/>
          </a:prstGeom>
          <a:noFill/>
          <a:ln w="38100">
            <a:solidFill>
              <a:srgbClr val="D475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18200" y="544681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371779" y="5492800"/>
            <a:ext cx="1496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99052" y="5440412"/>
            <a:ext cx="136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差三分钟十二点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507950" y="6118622"/>
            <a:ext cx="11176099" cy="282178"/>
          </a:xfrm>
          <a:prstGeom prst="roundRect">
            <a:avLst>
              <a:gd name="adj" fmla="val 2250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60350" y="6182023"/>
            <a:ext cx="614958" cy="155377"/>
          </a:xfrm>
          <a:prstGeom prst="roundRect">
            <a:avLst>
              <a:gd name="adj" fmla="val 8165494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61851" y="6207323"/>
            <a:ext cx="4201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1376809" y="6197798"/>
            <a:ext cx="41111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each item once. Pause 5 seconds. Item 19 is the DOUBLE 零 trap — emphasise clearly!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6653213"/>
            <a:ext cx="15714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Time Olympics · 时间奥运会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828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TIME OLYMPICS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18370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32521" y="166688"/>
            <a:ext cx="17478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 · Answer Reveal · Items 11–20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609600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🔒 ANSWER REVEAL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809625"/>
            <a:ext cx="1139962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Round 1 · Listening Relay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1149251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11–20: 差 patterns, larger minutes, double 零 trap!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1412677"/>
            <a:ext cx="5556349" cy="849213"/>
          </a:xfrm>
          <a:prstGeom prst="roundRect">
            <a:avLst>
              <a:gd name="adj" fmla="val 74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7000" y="1412677"/>
            <a:ext cx="0" cy="849213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8450" y="171033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73609" y="1756321"/>
            <a:ext cx="1055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9302" y="1703933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九点二十五分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349252" y="1722983"/>
            <a:ext cx="3726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9:25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7700" y="1412677"/>
            <a:ext cx="5556349" cy="849213"/>
          </a:xfrm>
          <a:prstGeom prst="roundRect">
            <a:avLst>
              <a:gd name="adj" fmla="val 74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146750" y="1412677"/>
            <a:ext cx="0" cy="849213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200" y="171033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82941" y="1756321"/>
            <a:ext cx="1267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99052" y="1703933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三点三刻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88002" y="1722983"/>
            <a:ext cx="373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3:45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950" y="2325291"/>
            <a:ext cx="5556349" cy="849213"/>
          </a:xfrm>
          <a:prstGeom prst="roundRect">
            <a:avLst>
              <a:gd name="adj" fmla="val 74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27000" y="2325291"/>
            <a:ext cx="0" cy="849213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8450" y="262294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63042" y="2668935"/>
            <a:ext cx="1272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9302" y="2616547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差五分八点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158752" y="2635597"/>
            <a:ext cx="363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7:55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7700" y="2325291"/>
            <a:ext cx="5556349" cy="849213"/>
          </a:xfrm>
          <a:prstGeom prst="roundRect">
            <a:avLst>
              <a:gd name="adj" fmla="val 74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146750" y="2325291"/>
            <a:ext cx="0" cy="849213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200" y="262294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382345" y="2668935"/>
            <a:ext cx="1281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99052" y="2616547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六点零二分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78502" y="2635597"/>
            <a:ext cx="374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6:02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7950" y="3237905"/>
            <a:ext cx="5556349" cy="849213"/>
          </a:xfrm>
          <a:prstGeom prst="roundRect">
            <a:avLst>
              <a:gd name="adj" fmla="val 74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527000" y="3237905"/>
            <a:ext cx="0" cy="849213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8450" y="353556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63042" y="3581549"/>
            <a:ext cx="1270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9302" y="3529161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十一点五十分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349252" y="3548211"/>
            <a:ext cx="4179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11:50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27700" y="3237905"/>
            <a:ext cx="5556349" cy="849213"/>
          </a:xfrm>
          <a:prstGeom prst="roundRect">
            <a:avLst>
              <a:gd name="adj" fmla="val 74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146750" y="3237905"/>
            <a:ext cx="0" cy="849213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18200" y="353556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382196" y="3581549"/>
            <a:ext cx="1282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99052" y="3529161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差一刻四点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778502" y="3548211"/>
            <a:ext cx="373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3:45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07950" y="4150519"/>
            <a:ext cx="5556349" cy="849213"/>
          </a:xfrm>
          <a:prstGeom prst="roundRect">
            <a:avLst>
              <a:gd name="adj" fmla="val 74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27000" y="4150519"/>
            <a:ext cx="0" cy="849213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8450" y="444817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65721" y="4494163"/>
            <a:ext cx="1215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9302" y="4441775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七点零九分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2158752" y="4460825"/>
            <a:ext cx="36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7:09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127700" y="4150519"/>
            <a:ext cx="5556349" cy="849213"/>
          </a:xfrm>
          <a:prstGeom prst="roundRect">
            <a:avLst>
              <a:gd name="adj" fmla="val 74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6146750" y="4150519"/>
            <a:ext cx="0" cy="849213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18200" y="444817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382345" y="4494163"/>
            <a:ext cx="1279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699052" y="4441775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两点四十八分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7969002" y="4460825"/>
            <a:ext cx="3737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2:48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07950" y="5063133"/>
            <a:ext cx="5556349" cy="953988"/>
          </a:xfrm>
          <a:prstGeom prst="roundRect">
            <a:avLst>
              <a:gd name="adj" fmla="val 6656"/>
            </a:avLst>
          </a:prstGeom>
          <a:solidFill>
            <a:srgbClr val="C8943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527000" y="5063133"/>
            <a:ext cx="0" cy="953988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8450" y="541317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762446" y="5459164"/>
            <a:ext cx="1282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79302" y="5354389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九点零九分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1079302" y="5621089"/>
            <a:ext cx="9715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DOUBLE 零!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2158752" y="5425827"/>
            <a:ext cx="3770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9:09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127700" y="5063133"/>
            <a:ext cx="5556349" cy="953988"/>
          </a:xfrm>
          <a:prstGeom prst="roundRect">
            <a:avLst>
              <a:gd name="adj" fmla="val 665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6146750" y="5063133"/>
            <a:ext cx="0" cy="953988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18200" y="541317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371779" y="5459164"/>
            <a:ext cx="1496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699052" y="5406777"/>
            <a:ext cx="136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差三分钟十二点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8159502" y="5425827"/>
            <a:ext cx="408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11:57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07950" y="6118622"/>
            <a:ext cx="11176099" cy="282178"/>
          </a:xfrm>
          <a:prstGeom prst="roundRect">
            <a:avLst>
              <a:gd name="adj" fmla="val 2250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660350" y="6182023"/>
            <a:ext cx="950119" cy="155377"/>
          </a:xfrm>
          <a:prstGeom prst="roundRect">
            <a:avLst>
              <a:gd name="adj" fmla="val 8165494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761851" y="6207323"/>
            <a:ext cx="7620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REVEAL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1711970" y="6197798"/>
            <a:ext cx="36222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Green pen self-check. One mark per correct item. Item 19 is the DOUBLE 零 trap!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6653213"/>
            <a:ext cx="15714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Time Olympics · 时间奥运会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828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TIME OLYMPICS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18370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32521" y="166688"/>
            <a:ext cx="11764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 · Speaking Sprint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660350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 · 8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1311176"/>
            <a:ext cx="43750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600"/>
              </a:spcBef>
              <a:spcAft>
                <a:spcPts val="3600"/>
              </a:spcAft>
              <a:buNone/>
            </a:pPr>
            <a:r>
              <a:rPr lang="en-US" sz="3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40023" y="1473101"/>
            <a:ext cx="19869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Speaking Sprint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09600" y="24573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See the clock face → whole class says the time chorally → self-score on paper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600" y="2784277"/>
            <a:ext cx="5435650" cy="577751"/>
          </a:xfrm>
          <a:prstGeom prst="roundRect">
            <a:avLst>
              <a:gd name="adj" fmla="val 1099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8650" y="2784277"/>
            <a:ext cx="0" cy="577751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401" y="2911227"/>
            <a:ext cx="751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6021" y="2911227"/>
            <a:ext cx="493835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response — Everyone speaks every time. Say the most natural Chinese expression.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46750" y="2784277"/>
            <a:ext cx="5435650" cy="577751"/>
          </a:xfrm>
          <a:prstGeom prst="roundRect">
            <a:avLst>
              <a:gd name="adj" fmla="val 1099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165800" y="2784277"/>
            <a:ext cx="0" cy="577751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2551" y="2911227"/>
            <a:ext cx="1109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98295" y="2911227"/>
            <a:ext cx="34309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seconds per clock — Say it loud and clear. No whispering!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600" y="3463528"/>
            <a:ext cx="5435650" cy="501551"/>
          </a:xfrm>
          <a:prstGeom prst="roundRect">
            <a:avLst>
              <a:gd name="adj" fmla="val 1266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28650" y="3463528"/>
            <a:ext cx="0" cy="501551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401" y="3590479"/>
            <a:ext cx="11051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60698" y="3590479"/>
            <a:ext cx="45300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Self-score — Mark yourself: 1 if you said it correctly, 0 if you didn't. Be honest.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46750" y="3463528"/>
            <a:ext cx="5435650" cy="501551"/>
          </a:xfrm>
          <a:prstGeom prst="roundRect">
            <a:avLst>
              <a:gd name="adj" fmla="val 1266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165800" y="3463528"/>
            <a:ext cx="0" cy="501551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2551" y="3590479"/>
            <a:ext cx="111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98741" y="3590479"/>
            <a:ext cx="45931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Bonus +5 — For any clock where you chose 差 over past-style and were correct.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9600" y="4092029"/>
            <a:ext cx="10972800" cy="564952"/>
          </a:xfrm>
          <a:prstGeom prst="roundRect">
            <a:avLst>
              <a:gd name="adj" fmla="val 11240"/>
            </a:avLst>
          </a:prstGeom>
          <a:solidFill>
            <a:srgbClr val="C8943E">
              <a:alpha val="12000"/>
            </a:srgbClr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26516" y="4212580"/>
            <a:ext cx="107389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Bonus: +5 pts for choosing 差 over past-style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6516" y="4412605"/>
            <a:ext cx="107389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Applies when both 差 and past-style are valid (e.g. 差十分三点 instead of 两点五十分)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09600" y="4758482"/>
            <a:ext cx="10972800" cy="403027"/>
          </a:xfrm>
          <a:prstGeom prst="roundRect">
            <a:avLst>
              <a:gd name="adj" fmla="val 15756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07085" y="4859982"/>
            <a:ext cx="10777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 items x 6 + up to 5 items x 5 bonus = Max 110 pts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653213"/>
            <a:ext cx="15714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Time Olympics · 时间奥运会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828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TIME OLYMPICS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18370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32521" y="166688"/>
            <a:ext cx="18275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 · Speaking Sprint · Clock Faces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5550" y="609600"/>
            <a:ext cx="117105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 · 15 Clocks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55550" y="790575"/>
            <a:ext cx="1171051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Speaking Sprint · 口语冲刺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5550" y="1130201"/>
            <a:ext cx="117105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the most natural Chinese expression for each clock. Self-score on your sheet.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55550" y="1361926"/>
            <a:ext cx="2245370" cy="1545282"/>
          </a:xfrm>
          <a:prstGeom prst="roundRect">
            <a:avLst>
              <a:gd name="adj" fmla="val 41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60552" y="1438126"/>
            <a:ext cx="35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1230511" y="1581001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65511" y="1816001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69912" y="1713946"/>
            <a:ext cx="79973" cy="119467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71910" y="1650950"/>
            <a:ext cx="12650" cy="177701"/>
          </a:xfrm>
          <a:prstGeom prst="roundRect">
            <a:avLst>
              <a:gd name="adj" fmla="val 50198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64321" y="1361926"/>
            <a:ext cx="2245519" cy="1545282"/>
          </a:xfrm>
          <a:prstGeom prst="roundRect">
            <a:avLst>
              <a:gd name="adj" fmla="val 41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62336" y="1438126"/>
            <a:ext cx="494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539430" y="1581001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774430" y="1816001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784615" y="1786594"/>
            <a:ext cx="127555" cy="51258"/>
          </a:xfrm>
          <a:prstGeom prst="roundRect">
            <a:avLst>
              <a:gd name="adj" fmla="val 2477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80830" y="1828651"/>
            <a:ext cx="12650" cy="177701"/>
          </a:xfrm>
          <a:prstGeom prst="roundRect">
            <a:avLst>
              <a:gd name="adj" fmla="val 50198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73241" y="1361926"/>
            <a:ext cx="2245370" cy="1545282"/>
          </a:xfrm>
          <a:prstGeom prst="roundRect">
            <a:avLst>
              <a:gd name="adj" fmla="val 41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70955" y="1438126"/>
            <a:ext cx="497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5848201" y="1581001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083201" y="1816001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87051" y="1825006"/>
            <a:ext cx="66182" cy="124577"/>
          </a:xfrm>
          <a:prstGeom prst="roundRect">
            <a:avLst>
              <a:gd name="adj" fmla="val 19189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95926" y="1822326"/>
            <a:ext cx="177701" cy="12650"/>
          </a:xfrm>
          <a:prstGeom prst="roundRect">
            <a:avLst>
              <a:gd name="adj" fmla="val 50198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282011" y="1361926"/>
            <a:ext cx="2245519" cy="1545282"/>
          </a:xfrm>
          <a:prstGeom prst="roundRect">
            <a:avLst>
              <a:gd name="adj" fmla="val 4109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247385" y="1419076"/>
            <a:ext cx="314771" cy="130076"/>
          </a:xfrm>
          <a:prstGeom prst="roundRect">
            <a:avLst>
              <a:gd name="adj" fmla="val 9753759"/>
            </a:avLst>
          </a:prstGeom>
          <a:solidFill>
            <a:srgbClr val="FEFCF7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318622" y="1441252"/>
            <a:ext cx="1722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+5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8379571" y="1457176"/>
            <a:ext cx="503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8157121" y="1600051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392120" y="1835051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298256" y="1840145"/>
            <a:ext cx="112313" cy="92396"/>
          </a:xfrm>
          <a:prstGeom prst="roundRect">
            <a:avLst>
              <a:gd name="adj" fmla="val 13745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227144" y="1841376"/>
            <a:ext cx="177701" cy="12650"/>
          </a:xfrm>
          <a:prstGeom prst="roundRect">
            <a:avLst>
              <a:gd name="adj" fmla="val 50198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590931" y="1361926"/>
            <a:ext cx="2245370" cy="1545282"/>
          </a:xfrm>
          <a:prstGeom prst="roundRect">
            <a:avLst>
              <a:gd name="adj" fmla="val 41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0688796" y="1438126"/>
            <a:ext cx="496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10465891" y="1581001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0700891" y="1816001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0586297" y="1813598"/>
            <a:ext cx="127660" cy="24569"/>
          </a:xfrm>
          <a:prstGeom prst="roundRect">
            <a:avLst>
              <a:gd name="adj" fmla="val 51691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0708138" y="1671595"/>
            <a:ext cx="99806" cy="160219"/>
          </a:xfrm>
          <a:prstGeom prst="roundRect">
            <a:avLst>
              <a:gd name="adj" fmla="val 6362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55550" y="2970609"/>
            <a:ext cx="2245370" cy="1545282"/>
          </a:xfrm>
          <a:prstGeom prst="roundRect">
            <a:avLst>
              <a:gd name="adj" fmla="val 41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452960" y="3046809"/>
            <a:ext cx="505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1230511" y="3189684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465511" y="3424684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425791" y="3314782"/>
            <a:ext cx="61321" cy="125810"/>
          </a:xfrm>
          <a:prstGeom prst="roundRect">
            <a:avLst>
              <a:gd name="adj" fmla="val 20711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475073" y="3431857"/>
            <a:ext cx="160219" cy="99806"/>
          </a:xfrm>
          <a:prstGeom prst="roundRect">
            <a:avLst>
              <a:gd name="adj" fmla="val 6362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664321" y="2970609"/>
            <a:ext cx="2245519" cy="1545282"/>
          </a:xfrm>
          <a:prstGeom prst="roundRect">
            <a:avLst>
              <a:gd name="adj" fmla="val 41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764008" y="3046809"/>
            <a:ext cx="459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3539430" y="3189684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774430" y="3424684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787080" y="3427809"/>
            <a:ext cx="126950" cy="19050"/>
          </a:xfrm>
          <a:prstGeom prst="roundRect">
            <a:avLst>
              <a:gd name="adj" fmla="val 6666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780830" y="3259634"/>
            <a:ext cx="12650" cy="177701"/>
          </a:xfrm>
          <a:prstGeom prst="roundRect">
            <a:avLst>
              <a:gd name="adj" fmla="val 50198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973241" y="2970609"/>
            <a:ext cx="2245370" cy="1545282"/>
          </a:xfrm>
          <a:prstGeom prst="roundRect">
            <a:avLst>
              <a:gd name="adj" fmla="val 41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070802" y="3046809"/>
            <a:ext cx="502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848201" y="3189684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083201" y="3424684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090388" y="3429532"/>
            <a:ext cx="114918" cy="88421"/>
          </a:xfrm>
          <a:prstGeom prst="roundRect">
            <a:avLst>
              <a:gd name="adj" fmla="val 14363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092763" y="3343006"/>
            <a:ext cx="160219" cy="99806"/>
          </a:xfrm>
          <a:prstGeom prst="roundRect">
            <a:avLst>
              <a:gd name="adj" fmla="val 6362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282011" y="2970609"/>
            <a:ext cx="2245519" cy="1545282"/>
          </a:xfrm>
          <a:prstGeom prst="roundRect">
            <a:avLst>
              <a:gd name="adj" fmla="val 4109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8247385" y="3027759"/>
            <a:ext cx="314771" cy="130076"/>
          </a:xfrm>
          <a:prstGeom prst="roundRect">
            <a:avLst>
              <a:gd name="adj" fmla="val 9753759"/>
            </a:avLst>
          </a:prstGeom>
          <a:solidFill>
            <a:srgbClr val="FEFCF7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8318622" y="3049935"/>
            <a:ext cx="1722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+5</a:t>
            </a:r>
            <a:endParaRPr lang="en-US" sz="500" dirty="0"/>
          </a:p>
        </p:txBody>
      </p:sp>
      <p:sp>
        <p:nvSpPr>
          <p:cNvPr id="63" name="Text 61"/>
          <p:cNvSpPr/>
          <p:nvPr/>
        </p:nvSpPr>
        <p:spPr>
          <a:xfrm>
            <a:off x="8379421" y="3065859"/>
            <a:ext cx="505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8157121" y="3208734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8392120" y="3443734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8352401" y="3453127"/>
            <a:ext cx="61321" cy="125810"/>
          </a:xfrm>
          <a:prstGeom prst="roundRect">
            <a:avLst>
              <a:gd name="adj" fmla="val 20711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8247789" y="3450907"/>
            <a:ext cx="160219" cy="99806"/>
          </a:xfrm>
          <a:prstGeom prst="roundRect">
            <a:avLst>
              <a:gd name="adj" fmla="val 6362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9590931" y="2970609"/>
            <a:ext cx="2245370" cy="1545282"/>
          </a:xfrm>
          <a:prstGeom prst="roundRect">
            <a:avLst>
              <a:gd name="adj" fmla="val 4109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10556156" y="3027759"/>
            <a:ext cx="314771" cy="130076"/>
          </a:xfrm>
          <a:prstGeom prst="roundRect">
            <a:avLst>
              <a:gd name="adj" fmla="val 9753759"/>
            </a:avLst>
          </a:prstGeom>
          <a:solidFill>
            <a:srgbClr val="FEFCF7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10627392" y="3049935"/>
            <a:ext cx="1722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+5</a:t>
            </a:r>
            <a:endParaRPr lang="en-US" sz="500" dirty="0"/>
          </a:p>
        </p:txBody>
      </p:sp>
      <p:sp>
        <p:nvSpPr>
          <p:cNvPr id="71" name="Text 69"/>
          <p:cNvSpPr/>
          <p:nvPr/>
        </p:nvSpPr>
        <p:spPr>
          <a:xfrm>
            <a:off x="10670731" y="3065859"/>
            <a:ext cx="857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10465891" y="3208734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10700891" y="3443734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0586245" y="3446896"/>
            <a:ext cx="128127" cy="30042"/>
          </a:xfrm>
          <a:prstGeom prst="roundRect">
            <a:avLst>
              <a:gd name="adj" fmla="val 42274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10556560" y="3362056"/>
            <a:ext cx="160218" cy="99806"/>
          </a:xfrm>
          <a:prstGeom prst="roundRect">
            <a:avLst>
              <a:gd name="adj" fmla="val 6362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355550" y="4579293"/>
            <a:ext cx="2245370" cy="1545282"/>
          </a:xfrm>
          <a:prstGeom prst="roundRect">
            <a:avLst>
              <a:gd name="adj" fmla="val 41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1442942" y="4655493"/>
            <a:ext cx="704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1230511" y="4798368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1465511" y="5033367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1363456" y="4974293"/>
            <a:ext cx="119467" cy="79973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1471910" y="4868317"/>
            <a:ext cx="12650" cy="177701"/>
          </a:xfrm>
          <a:prstGeom prst="roundRect">
            <a:avLst>
              <a:gd name="adj" fmla="val 50198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2664321" y="4579293"/>
            <a:ext cx="2245519" cy="1545282"/>
          </a:xfrm>
          <a:prstGeom prst="roundRect">
            <a:avLst>
              <a:gd name="adj" fmla="val 41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3744727" y="4655493"/>
            <a:ext cx="847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3539430" y="4798368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3774430" y="5033367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3777880" y="4945510"/>
            <a:ext cx="44671" cy="102972"/>
          </a:xfrm>
          <a:prstGeom prst="roundRect">
            <a:avLst>
              <a:gd name="adj" fmla="val 2843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3780830" y="5046018"/>
            <a:ext cx="12650" cy="177701"/>
          </a:xfrm>
          <a:prstGeom prst="roundRect">
            <a:avLst>
              <a:gd name="adj" fmla="val 50198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4973241" y="4579293"/>
            <a:ext cx="2245370" cy="1545282"/>
          </a:xfrm>
          <a:prstGeom prst="roundRect">
            <a:avLst>
              <a:gd name="adj" fmla="val 4109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5938465" y="4636443"/>
            <a:ext cx="314771" cy="130076"/>
          </a:xfrm>
          <a:prstGeom prst="roundRect">
            <a:avLst>
              <a:gd name="adj" fmla="val 9753759"/>
            </a:avLst>
          </a:prstGeom>
          <a:solidFill>
            <a:srgbClr val="FEFCF7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6009702" y="4658618"/>
            <a:ext cx="1722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+5</a:t>
            </a:r>
            <a:endParaRPr lang="en-US" sz="500" dirty="0"/>
          </a:p>
        </p:txBody>
      </p:sp>
      <p:sp>
        <p:nvSpPr>
          <p:cNvPr id="91" name="Text 89"/>
          <p:cNvSpPr/>
          <p:nvPr/>
        </p:nvSpPr>
        <p:spPr>
          <a:xfrm>
            <a:off x="6053346" y="4674543"/>
            <a:ext cx="850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600" dirty="0"/>
          </a:p>
        </p:txBody>
      </p:sp>
      <p:sp>
        <p:nvSpPr>
          <p:cNvPr id="92" name="Text 90"/>
          <p:cNvSpPr/>
          <p:nvPr/>
        </p:nvSpPr>
        <p:spPr>
          <a:xfrm>
            <a:off x="5848201" y="4817418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6083201" y="5052417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92"/>
          <p:cNvSpPr/>
          <p:nvPr/>
        </p:nvSpPr>
        <p:spPr>
          <a:xfrm>
            <a:off x="6090733" y="4988824"/>
            <a:ext cx="117304" cy="84277"/>
          </a:xfrm>
          <a:prstGeom prst="roundRect">
            <a:avLst>
              <a:gd name="adj" fmla="val 15069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6001598" y="4908011"/>
            <a:ext cx="99806" cy="160219"/>
          </a:xfrm>
          <a:prstGeom prst="roundRect">
            <a:avLst>
              <a:gd name="adj" fmla="val 6362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94"/>
          <p:cNvSpPr/>
          <p:nvPr/>
        </p:nvSpPr>
        <p:spPr>
          <a:xfrm>
            <a:off x="7282011" y="4579293"/>
            <a:ext cx="2245519" cy="1545282"/>
          </a:xfrm>
          <a:prstGeom prst="roundRect">
            <a:avLst>
              <a:gd name="adj" fmla="val 41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8361962" y="4655493"/>
            <a:ext cx="856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</a:t>
            </a:r>
            <a:endParaRPr lang="en-US" sz="600" dirty="0"/>
          </a:p>
        </p:txBody>
      </p:sp>
      <p:sp>
        <p:nvSpPr>
          <p:cNvPr id="98" name="Text 96"/>
          <p:cNvSpPr/>
          <p:nvPr/>
        </p:nvSpPr>
        <p:spPr>
          <a:xfrm>
            <a:off x="8157121" y="4798368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7"/>
          <p:cNvSpPr/>
          <p:nvPr/>
        </p:nvSpPr>
        <p:spPr>
          <a:xfrm>
            <a:off x="8392120" y="5033367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Text 98"/>
          <p:cNvSpPr/>
          <p:nvPr/>
        </p:nvSpPr>
        <p:spPr>
          <a:xfrm>
            <a:off x="8378757" y="5044774"/>
            <a:ext cx="35458" cy="128351"/>
          </a:xfrm>
          <a:prstGeom prst="roundRect">
            <a:avLst>
              <a:gd name="adj" fmla="val 3581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8404845" y="5039692"/>
            <a:ext cx="177701" cy="12650"/>
          </a:xfrm>
          <a:prstGeom prst="roundRect">
            <a:avLst>
              <a:gd name="adj" fmla="val 50198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100"/>
          <p:cNvSpPr/>
          <p:nvPr/>
        </p:nvSpPr>
        <p:spPr>
          <a:xfrm>
            <a:off x="9590931" y="4579293"/>
            <a:ext cx="2245370" cy="1545282"/>
          </a:xfrm>
          <a:prstGeom prst="roundRect">
            <a:avLst>
              <a:gd name="adj" fmla="val 4109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Text 101"/>
          <p:cNvSpPr/>
          <p:nvPr/>
        </p:nvSpPr>
        <p:spPr>
          <a:xfrm>
            <a:off x="10556156" y="4636443"/>
            <a:ext cx="314771" cy="130076"/>
          </a:xfrm>
          <a:prstGeom prst="roundRect">
            <a:avLst>
              <a:gd name="adj" fmla="val 9753759"/>
            </a:avLst>
          </a:prstGeom>
          <a:solidFill>
            <a:srgbClr val="FEFCF7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102"/>
          <p:cNvSpPr/>
          <p:nvPr/>
        </p:nvSpPr>
        <p:spPr>
          <a:xfrm>
            <a:off x="10627392" y="4658618"/>
            <a:ext cx="1722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+5</a:t>
            </a:r>
            <a:endParaRPr lang="en-US" sz="500" dirty="0"/>
          </a:p>
        </p:txBody>
      </p:sp>
      <p:sp>
        <p:nvSpPr>
          <p:cNvPr id="105" name="Text 103"/>
          <p:cNvSpPr/>
          <p:nvPr/>
        </p:nvSpPr>
        <p:spPr>
          <a:xfrm>
            <a:off x="10671186" y="4674543"/>
            <a:ext cx="848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600" dirty="0"/>
          </a:p>
        </p:txBody>
      </p:sp>
      <p:sp>
        <p:nvSpPr>
          <p:cNvPr id="106" name="Text 104"/>
          <p:cNvSpPr/>
          <p:nvPr/>
        </p:nvSpPr>
        <p:spPr>
          <a:xfrm>
            <a:off x="10465891" y="4817418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Text 105"/>
          <p:cNvSpPr/>
          <p:nvPr/>
        </p:nvSpPr>
        <p:spPr>
          <a:xfrm>
            <a:off x="10700891" y="5052417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Text 106"/>
          <p:cNvSpPr/>
          <p:nvPr/>
        </p:nvSpPr>
        <p:spPr>
          <a:xfrm>
            <a:off x="10592609" y="5007686"/>
            <a:ext cx="124577" cy="66182"/>
          </a:xfrm>
          <a:prstGeom prst="roundRect">
            <a:avLst>
              <a:gd name="adj" fmla="val 19189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Text 107"/>
          <p:cNvSpPr/>
          <p:nvPr/>
        </p:nvSpPr>
        <p:spPr>
          <a:xfrm>
            <a:off x="10535915" y="5058742"/>
            <a:ext cx="177701" cy="12650"/>
          </a:xfrm>
          <a:prstGeom prst="roundRect">
            <a:avLst>
              <a:gd name="adj" fmla="val 50198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Text 108"/>
          <p:cNvSpPr/>
          <p:nvPr/>
        </p:nvSpPr>
        <p:spPr>
          <a:xfrm>
            <a:off x="355550" y="6200775"/>
            <a:ext cx="2256086" cy="200025"/>
          </a:xfrm>
          <a:prstGeom prst="roundRect">
            <a:avLst>
              <a:gd name="adj" fmla="val 6342857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Text 109"/>
          <p:cNvSpPr/>
          <p:nvPr/>
        </p:nvSpPr>
        <p:spPr>
          <a:xfrm>
            <a:off x="457051" y="6238875"/>
            <a:ext cx="20941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response — everyone speaks every time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2738586" y="6200775"/>
            <a:ext cx="1624013" cy="200025"/>
          </a:xfrm>
          <a:prstGeom prst="roundRect">
            <a:avLst>
              <a:gd name="adj" fmla="val 6342857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Text 111"/>
          <p:cNvSpPr/>
          <p:nvPr/>
        </p:nvSpPr>
        <p:spPr>
          <a:xfrm>
            <a:off x="2840087" y="6238875"/>
            <a:ext cx="14494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Gold border = 差 bonus available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489549" y="6200775"/>
            <a:ext cx="1801267" cy="200025"/>
          </a:xfrm>
          <a:prstGeom prst="roundRect">
            <a:avLst>
              <a:gd name="adj" fmla="val 6342857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4591050" y="6238875"/>
            <a:ext cx="16302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Self-score: 1 = correct, 0 = incorrect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57200" y="6653213"/>
            <a:ext cx="15714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Time Olympics · 时间奥运会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828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TIME OLYMPICS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18370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32521" y="166688"/>
            <a:ext cx="10258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 · Error Hunter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84150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 · 7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752326"/>
            <a:ext cx="1139962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Error Hunter · 错误猎人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1091952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Mark each expression (correct) or (wrong). If wrong, write the correction. 10 pts each.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7950" y="1387227"/>
            <a:ext cx="11176099" cy="253901"/>
          </a:xfrm>
          <a:prstGeom prst="roundRect">
            <a:avLst>
              <a:gd name="adj" fmla="val 25010"/>
            </a:avLst>
          </a:prstGeom>
          <a:solidFill>
            <a:srgbClr val="D4756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0350" y="1437977"/>
            <a:ext cx="11593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🔒 Answers on next slide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07950" y="5911900"/>
            <a:ext cx="11176099" cy="514350"/>
          </a:xfrm>
          <a:prstGeom prst="roundRect">
            <a:avLst>
              <a:gd name="adj" fmla="val 12346"/>
            </a:avLst>
          </a:prstGeom>
          <a:solidFill>
            <a:srgbClr val="D4756B">
              <a:alpha val="10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2834" y="6007150"/>
            <a:ext cx="109463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items x 10 pts = Max 120 pts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2834" y="6207175"/>
            <a:ext cx="109463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pt for correct V/X + 9 pts for correct correction = 10 per item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653213"/>
            <a:ext cx="15714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Time Olympics · 时间奥运会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828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TIME OLYMPICS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18370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32521" y="166688"/>
            <a:ext cx="177991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 · Error Hunter · Answer Reveal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84150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🔒 ANSWER REVEAL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771376"/>
            <a:ext cx="1139962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Error Hunter · 错误猎人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1111002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1–6. Check your verdicts and corrections. 10 pts each.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7950" y="5911900"/>
            <a:ext cx="11176099" cy="514350"/>
          </a:xfrm>
          <a:prstGeom prst="roundRect">
            <a:avLst>
              <a:gd name="adj" fmla="val 12346"/>
            </a:avLst>
          </a:prstGeom>
          <a:solidFill>
            <a:srgbClr val="C8943E">
              <a:alpha val="10000"/>
            </a:srgbClr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2834" y="6007150"/>
            <a:ext cx="109463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items x 10 pts = Max 120 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2834" y="6207175"/>
            <a:ext cx="109463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pt for correct V/X + 9 pts for correct correction = 10 per item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653213"/>
            <a:ext cx="15714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Time Olympics · 时间奥运会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828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TIME OLYMPICS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18370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32521" y="166688"/>
            <a:ext cx="1339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 · Error Hunter (cont.)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84150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 · 7 min (cont.)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752326"/>
            <a:ext cx="1139962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Error Hunter · 错误猎人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1091952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7–12. Mark (correct) or (wrong). If wrong, write the correction.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7950" y="1387227"/>
            <a:ext cx="11176099" cy="253901"/>
          </a:xfrm>
          <a:prstGeom prst="roundRect">
            <a:avLst>
              <a:gd name="adj" fmla="val 25010"/>
            </a:avLst>
          </a:prstGeom>
          <a:solidFill>
            <a:srgbClr val="D4756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0350" y="1437977"/>
            <a:ext cx="11593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🔒 Answers on next slide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07950" y="5911900"/>
            <a:ext cx="11176099" cy="514350"/>
          </a:xfrm>
          <a:prstGeom prst="roundRect">
            <a:avLst>
              <a:gd name="adj" fmla="val 12346"/>
            </a:avLst>
          </a:prstGeom>
          <a:solidFill>
            <a:srgbClr val="D4756B">
              <a:alpha val="10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2834" y="6007150"/>
            <a:ext cx="109463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items x 10 pts = Max 120 pts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2834" y="6207175"/>
            <a:ext cx="109463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pt for correct V/X + 9 pts for correct correction = 10 per item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653213"/>
            <a:ext cx="15714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Time Olympics · 时间奥运会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828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TIME OLYMPICS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18370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32521" y="166688"/>
            <a:ext cx="20939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 · Error Hunter · Answer Reveal (cont.)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84150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🔒 ANSWER REVEAL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771376"/>
            <a:ext cx="1139962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Error Hunter · 错误猎人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1111002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7–12. Check your verdicts and corrections.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7950" y="5911900"/>
            <a:ext cx="11176099" cy="514350"/>
          </a:xfrm>
          <a:prstGeom prst="roundRect">
            <a:avLst>
              <a:gd name="adj" fmla="val 12346"/>
            </a:avLst>
          </a:prstGeom>
          <a:solidFill>
            <a:srgbClr val="C8943E">
              <a:alpha val="10000"/>
            </a:srgbClr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2834" y="6007150"/>
            <a:ext cx="109463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items x 10 pts = Max 120 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2834" y="6207175"/>
            <a:ext cx="109463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pt for correct V/X + 9 pts for correct correction = 10 per item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653213"/>
            <a:ext cx="15714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Time Olympics · 时间奥运会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828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TIME OLYMPICS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18370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32521" y="166688"/>
            <a:ext cx="13316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4 · Champion's Choice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84150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4 · 7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752326"/>
            <a:ext cx="1139962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Champion's Choice · 冠军之选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1091952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each time, pick the more natural Chinese expression. Circle A or B. 10 pts each.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7950" y="1387227"/>
            <a:ext cx="11176099" cy="253901"/>
          </a:xfrm>
          <a:prstGeom prst="roundRect">
            <a:avLst>
              <a:gd name="adj" fmla="val 25010"/>
            </a:avLst>
          </a:prstGeom>
          <a:solidFill>
            <a:srgbClr val="C8943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0350" y="1437977"/>
            <a:ext cx="11593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🔒 Answers on next slide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07950" y="1641128"/>
            <a:ext cx="5562600" cy="823020"/>
          </a:xfrm>
          <a:prstGeom prst="roundRect">
            <a:avLst>
              <a:gd name="adj" fmla="val 77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7000" y="1641128"/>
            <a:ext cx="0" cy="82302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001" y="195098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54410" y="1990576"/>
            <a:ext cx="411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977652" y="1952625"/>
            <a:ext cx="3183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91245" y="1955899"/>
            <a:ext cx="472976" cy="193477"/>
          </a:xfrm>
          <a:prstGeom prst="roundRect">
            <a:avLst>
              <a:gd name="adj" fmla="val 19692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67445" y="1981200"/>
            <a:ext cx="3269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三点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965722" y="1990725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159050" y="1955899"/>
            <a:ext cx="670173" cy="193477"/>
          </a:xfrm>
          <a:prstGeom prst="roundRect">
            <a:avLst>
              <a:gd name="adj" fmla="val 19692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235250" y="1981200"/>
            <a:ext cx="5281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三点零分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21301" y="1641128"/>
            <a:ext cx="5562749" cy="823020"/>
          </a:xfrm>
          <a:prstGeom prst="roundRect">
            <a:avLst>
              <a:gd name="adj" fmla="val 77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140351" y="1641128"/>
            <a:ext cx="0" cy="82302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6351" y="195098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59575" y="1990576"/>
            <a:ext cx="57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591002" y="1952625"/>
            <a:ext cx="3160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2:50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02363" y="1955899"/>
            <a:ext cx="777478" cy="193477"/>
          </a:xfrm>
          <a:prstGeom prst="roundRect">
            <a:avLst>
              <a:gd name="adj" fmla="val 19692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078563" y="1981200"/>
            <a:ext cx="6375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两点五十分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881342" y="1990725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074670" y="1955899"/>
            <a:ext cx="771674" cy="193477"/>
          </a:xfrm>
          <a:prstGeom prst="roundRect">
            <a:avLst>
              <a:gd name="adj" fmla="val 19692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150870" y="1981200"/>
            <a:ext cx="631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差十分三点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7950" y="2514898"/>
            <a:ext cx="5562600" cy="823020"/>
          </a:xfrm>
          <a:prstGeom prst="roundRect">
            <a:avLst>
              <a:gd name="adj" fmla="val 77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27000" y="2514898"/>
            <a:ext cx="0" cy="82302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3001" y="282475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46075" y="2864346"/>
            <a:ext cx="581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977652" y="2826395"/>
            <a:ext cx="3526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11:55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24880" y="2829669"/>
            <a:ext cx="980629" cy="193477"/>
          </a:xfrm>
          <a:prstGeom prst="roundRect">
            <a:avLst>
              <a:gd name="adj" fmla="val 19692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501080" y="2854970"/>
            <a:ext cx="8447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十一点五十五分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507010" y="2864495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700338" y="2829669"/>
            <a:ext cx="873175" cy="193477"/>
          </a:xfrm>
          <a:prstGeom prst="roundRect">
            <a:avLst>
              <a:gd name="adj" fmla="val 19692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776538" y="2854970"/>
            <a:ext cx="735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差五分十二点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21301" y="2514898"/>
            <a:ext cx="5562749" cy="823020"/>
          </a:xfrm>
          <a:prstGeom prst="roundRect">
            <a:avLst>
              <a:gd name="adj" fmla="val 77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140351" y="2514898"/>
            <a:ext cx="0" cy="82302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86351" y="282475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359128" y="2864346"/>
            <a:ext cx="587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591002" y="2826395"/>
            <a:ext cx="3183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6:30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04596" y="2829669"/>
            <a:ext cx="574477" cy="193477"/>
          </a:xfrm>
          <a:prstGeom prst="roundRect">
            <a:avLst>
              <a:gd name="adj" fmla="val 19692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080796" y="2854970"/>
            <a:ext cx="4305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六点半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680573" y="2864495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873901" y="2829669"/>
            <a:ext cx="771674" cy="193477"/>
          </a:xfrm>
          <a:prstGeom prst="roundRect">
            <a:avLst>
              <a:gd name="adj" fmla="val 19692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950101" y="2854970"/>
            <a:ext cx="631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六点三十分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07950" y="3388668"/>
            <a:ext cx="5562600" cy="823020"/>
          </a:xfrm>
          <a:prstGeom prst="roundRect">
            <a:avLst>
              <a:gd name="adj" fmla="val 77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27000" y="3388668"/>
            <a:ext cx="0" cy="82302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3001" y="369852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46224" y="3738116"/>
            <a:ext cx="5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977652" y="3700165"/>
            <a:ext cx="2896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4:15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363117" y="3703439"/>
            <a:ext cx="675977" cy="193477"/>
          </a:xfrm>
          <a:prstGeom prst="roundRect">
            <a:avLst>
              <a:gd name="adj" fmla="val 19692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439317" y="3728740"/>
            <a:ext cx="5340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四点一刻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140595" y="3738265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333923" y="3703439"/>
            <a:ext cx="771674" cy="193477"/>
          </a:xfrm>
          <a:prstGeom prst="roundRect">
            <a:avLst>
              <a:gd name="adj" fmla="val 19692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2410123" y="3728740"/>
            <a:ext cx="631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四点十五分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121301" y="3388668"/>
            <a:ext cx="5562749" cy="823020"/>
          </a:xfrm>
          <a:prstGeom prst="roundRect">
            <a:avLst>
              <a:gd name="adj" fmla="val 77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6140351" y="3388668"/>
            <a:ext cx="0" cy="82302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86351" y="369852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358979" y="3738116"/>
            <a:ext cx="58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591002" y="3700165"/>
            <a:ext cx="2896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1:45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976467" y="3703439"/>
            <a:ext cx="879128" cy="193477"/>
          </a:xfrm>
          <a:prstGeom prst="roundRect">
            <a:avLst>
              <a:gd name="adj" fmla="val 19692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7052667" y="3728740"/>
            <a:ext cx="7412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一点四十五分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957096" y="3738265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8150423" y="3703439"/>
            <a:ext cx="771674" cy="193477"/>
          </a:xfrm>
          <a:prstGeom prst="roundRect">
            <a:avLst>
              <a:gd name="adj" fmla="val 19692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8226623" y="3728740"/>
            <a:ext cx="631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差一刻两点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07950" y="4262438"/>
            <a:ext cx="5562600" cy="823168"/>
          </a:xfrm>
          <a:prstGeom prst="roundRect">
            <a:avLst>
              <a:gd name="adj" fmla="val 771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527000" y="4262438"/>
            <a:ext cx="0" cy="823168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3001" y="4572446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748308" y="4612035"/>
            <a:ext cx="535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977652" y="4573935"/>
            <a:ext cx="3192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8:00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392138" y="4577209"/>
            <a:ext cx="472976" cy="193477"/>
          </a:xfrm>
          <a:prstGeom prst="roundRect">
            <a:avLst>
              <a:gd name="adj" fmla="val 19692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1468338" y="4602510"/>
            <a:ext cx="3269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八点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966615" y="4612035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2159943" y="4577209"/>
            <a:ext cx="670173" cy="193477"/>
          </a:xfrm>
          <a:prstGeom prst="roundRect">
            <a:avLst>
              <a:gd name="adj" fmla="val 19692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2236143" y="4602510"/>
            <a:ext cx="5281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八点零分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121301" y="4262438"/>
            <a:ext cx="5562749" cy="823168"/>
          </a:xfrm>
          <a:prstGeom prst="roundRect">
            <a:avLst>
              <a:gd name="adj" fmla="val 771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Shape 81"/>
          <p:cNvSpPr/>
          <p:nvPr/>
        </p:nvSpPr>
        <p:spPr>
          <a:xfrm>
            <a:off x="6140351" y="4262438"/>
            <a:ext cx="0" cy="823168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86351" y="4572446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6359128" y="4612035"/>
            <a:ext cx="585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6591002" y="4573935"/>
            <a:ext cx="3163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5:05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7002661" y="4577209"/>
            <a:ext cx="675977" cy="193477"/>
          </a:xfrm>
          <a:prstGeom prst="roundRect">
            <a:avLst>
              <a:gd name="adj" fmla="val 19692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7078861" y="4602510"/>
            <a:ext cx="5340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五点五分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7780139" y="4612035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973467" y="4577209"/>
            <a:ext cx="771674" cy="193477"/>
          </a:xfrm>
          <a:prstGeom prst="roundRect">
            <a:avLst>
              <a:gd name="adj" fmla="val 19692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8049667" y="4602510"/>
            <a:ext cx="631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五点零五分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507950" y="5136356"/>
            <a:ext cx="5562600" cy="823168"/>
          </a:xfrm>
          <a:prstGeom prst="roundRect">
            <a:avLst>
              <a:gd name="adj" fmla="val 771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Shape 91"/>
          <p:cNvSpPr/>
          <p:nvPr/>
        </p:nvSpPr>
        <p:spPr>
          <a:xfrm>
            <a:off x="527000" y="5136356"/>
            <a:ext cx="0" cy="823168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73001" y="544636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745629" y="5485954"/>
            <a:ext cx="58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977652" y="5447854"/>
            <a:ext cx="3165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9:35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1389459" y="5451128"/>
            <a:ext cx="879128" cy="193477"/>
          </a:xfrm>
          <a:prstGeom prst="roundRect">
            <a:avLst>
              <a:gd name="adj" fmla="val 19692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1465659" y="5476429"/>
            <a:ext cx="7412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九点三十五分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2370088" y="5485954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2563416" y="5451128"/>
            <a:ext cx="974675" cy="193477"/>
          </a:xfrm>
          <a:prstGeom prst="roundRect">
            <a:avLst>
              <a:gd name="adj" fmla="val 19692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2639616" y="5476429"/>
            <a:ext cx="8387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差二十五分十点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6121301" y="5136356"/>
            <a:ext cx="5562749" cy="823168"/>
          </a:xfrm>
          <a:prstGeom prst="roundRect">
            <a:avLst>
              <a:gd name="adj" fmla="val 771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Shape 101"/>
          <p:cNvSpPr/>
          <p:nvPr/>
        </p:nvSpPr>
        <p:spPr>
          <a:xfrm>
            <a:off x="6140351" y="5136356"/>
            <a:ext cx="0" cy="823168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286351" y="544636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103"/>
          <p:cNvSpPr/>
          <p:nvPr/>
        </p:nvSpPr>
        <p:spPr>
          <a:xfrm>
            <a:off x="6338888" y="5485954"/>
            <a:ext cx="1000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6591002" y="5447854"/>
            <a:ext cx="3538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12:10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7039421" y="5451128"/>
            <a:ext cx="777478" cy="193477"/>
          </a:xfrm>
          <a:prstGeom prst="roundRect">
            <a:avLst>
              <a:gd name="adj" fmla="val 19692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Text 106"/>
          <p:cNvSpPr/>
          <p:nvPr/>
        </p:nvSpPr>
        <p:spPr>
          <a:xfrm>
            <a:off x="7115621" y="5476429"/>
            <a:ext cx="6375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十二点十分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7918400" y="5485954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8111728" y="5451128"/>
            <a:ext cx="771674" cy="193477"/>
          </a:xfrm>
          <a:prstGeom prst="roundRect">
            <a:avLst>
              <a:gd name="adj" fmla="val 19692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Text 109"/>
          <p:cNvSpPr/>
          <p:nvPr/>
        </p:nvSpPr>
        <p:spPr>
          <a:xfrm>
            <a:off x="8187928" y="5476429"/>
            <a:ext cx="631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十二点十分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507950" y="6035725"/>
            <a:ext cx="11176099" cy="390525"/>
          </a:xfrm>
          <a:prstGeom prst="roundRect">
            <a:avLst>
              <a:gd name="adj" fmla="val 16260"/>
            </a:avLst>
          </a:prstGeom>
          <a:solidFill>
            <a:srgbClr val="C8943E">
              <a:alpha val="12000"/>
            </a:srgbClr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Text 111"/>
          <p:cNvSpPr/>
          <p:nvPr/>
        </p:nvSpPr>
        <p:spPr>
          <a:xfrm>
            <a:off x="622834" y="6130975"/>
            <a:ext cx="109463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items x 10 pts = Max 100 pts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57200" y="6653213"/>
            <a:ext cx="15714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Time Olympics · 时间奥运会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828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TIME OLYMPICS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18370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32521" y="166688"/>
            <a:ext cx="20854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4 · Champion's Choice · Answer Reveal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84150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🔒 ANSWER REVEAL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771376"/>
            <a:ext cx="1139962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Champion's Choice · 冠军之选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1111002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answers highlighted in gold. 10 pts each.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7950" y="1330077"/>
            <a:ext cx="5562600" cy="885230"/>
          </a:xfrm>
          <a:prstGeom prst="roundRect">
            <a:avLst>
              <a:gd name="adj" fmla="val 71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7000" y="1330077"/>
            <a:ext cx="0" cy="88523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3001" y="167104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4410" y="1710630"/>
            <a:ext cx="411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77652" y="1672679"/>
            <a:ext cx="3183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91245" y="1666429"/>
            <a:ext cx="492026" cy="212527"/>
          </a:xfrm>
          <a:prstGeom prst="roundRect">
            <a:avLst>
              <a:gd name="adj" fmla="val 17927"/>
            </a:avLst>
          </a:prstGeom>
          <a:solidFill>
            <a:srgbClr val="C8943E">
              <a:alpha val="18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476970" y="1701254"/>
            <a:ext cx="3269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三点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84772" y="1710779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178100" y="1675954"/>
            <a:ext cx="670173" cy="193477"/>
          </a:xfrm>
          <a:prstGeom prst="roundRect">
            <a:avLst>
              <a:gd name="adj" fmla="val 19692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254300" y="1701254"/>
            <a:ext cx="5281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三点零分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949773" y="1701254"/>
            <a:ext cx="190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✓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21301" y="1330077"/>
            <a:ext cx="5562749" cy="885230"/>
          </a:xfrm>
          <a:prstGeom prst="roundRect">
            <a:avLst>
              <a:gd name="adj" fmla="val 71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140351" y="1330077"/>
            <a:ext cx="0" cy="88523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6351" y="167104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59575" y="1710630"/>
            <a:ext cx="57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591002" y="1672679"/>
            <a:ext cx="3160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2:50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02363" y="1675954"/>
            <a:ext cx="777478" cy="193477"/>
          </a:xfrm>
          <a:prstGeom prst="roundRect">
            <a:avLst>
              <a:gd name="adj" fmla="val 19692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078563" y="1701254"/>
            <a:ext cx="6375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两点五十分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881342" y="1710779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074670" y="1666429"/>
            <a:ext cx="790724" cy="212527"/>
          </a:xfrm>
          <a:prstGeom prst="roundRect">
            <a:avLst>
              <a:gd name="adj" fmla="val 17927"/>
            </a:avLst>
          </a:prstGeom>
          <a:solidFill>
            <a:srgbClr val="C8943E">
              <a:alpha val="18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160395" y="1701254"/>
            <a:ext cx="631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差十分三点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966895" y="1701254"/>
            <a:ext cx="1909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 ✓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7950" y="2266057"/>
            <a:ext cx="5562600" cy="885230"/>
          </a:xfrm>
          <a:prstGeom prst="roundRect">
            <a:avLst>
              <a:gd name="adj" fmla="val 71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27000" y="2266057"/>
            <a:ext cx="0" cy="88523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3001" y="260702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46075" y="2646611"/>
            <a:ext cx="581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977652" y="2608659"/>
            <a:ext cx="3526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11:55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24880" y="2611934"/>
            <a:ext cx="980629" cy="193477"/>
          </a:xfrm>
          <a:prstGeom prst="roundRect">
            <a:avLst>
              <a:gd name="adj" fmla="val 19692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501080" y="2637234"/>
            <a:ext cx="8447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十一点五十五分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507010" y="2646759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700338" y="2602409"/>
            <a:ext cx="892225" cy="212527"/>
          </a:xfrm>
          <a:prstGeom prst="roundRect">
            <a:avLst>
              <a:gd name="adj" fmla="val 17927"/>
            </a:avLst>
          </a:prstGeom>
          <a:solidFill>
            <a:srgbClr val="C8943E">
              <a:alpha val="18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786063" y="2637234"/>
            <a:ext cx="735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差五分十二点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694063" y="2637234"/>
            <a:ext cx="1909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 ✓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21301" y="2266057"/>
            <a:ext cx="5562749" cy="885230"/>
          </a:xfrm>
          <a:prstGeom prst="roundRect">
            <a:avLst>
              <a:gd name="adj" fmla="val 71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6140351" y="2266057"/>
            <a:ext cx="0" cy="88523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6351" y="260702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359128" y="2646611"/>
            <a:ext cx="587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591002" y="2608659"/>
            <a:ext cx="3183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6:30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004596" y="2602409"/>
            <a:ext cx="593527" cy="212527"/>
          </a:xfrm>
          <a:prstGeom prst="roundRect">
            <a:avLst>
              <a:gd name="adj" fmla="val 17927"/>
            </a:avLst>
          </a:prstGeom>
          <a:solidFill>
            <a:srgbClr val="C8943E">
              <a:alpha val="18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090321" y="2637234"/>
            <a:ext cx="4305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六点半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699623" y="2646759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892951" y="2611934"/>
            <a:ext cx="771674" cy="193477"/>
          </a:xfrm>
          <a:prstGeom prst="roundRect">
            <a:avLst>
              <a:gd name="adj" fmla="val 19692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969151" y="2637234"/>
            <a:ext cx="631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六点三十分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766125" y="2637234"/>
            <a:ext cx="190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✓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07950" y="3202037"/>
            <a:ext cx="5562600" cy="885230"/>
          </a:xfrm>
          <a:prstGeom prst="roundRect">
            <a:avLst>
              <a:gd name="adj" fmla="val 71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527000" y="3202037"/>
            <a:ext cx="0" cy="88523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3001" y="354300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46224" y="3582591"/>
            <a:ext cx="5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977652" y="3544639"/>
            <a:ext cx="2896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4:15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363117" y="3538389"/>
            <a:ext cx="695027" cy="212527"/>
          </a:xfrm>
          <a:prstGeom prst="roundRect">
            <a:avLst>
              <a:gd name="adj" fmla="val 17927"/>
            </a:avLst>
          </a:prstGeom>
          <a:solidFill>
            <a:srgbClr val="C8943E">
              <a:alpha val="18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448842" y="3573214"/>
            <a:ext cx="5340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四点一刻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159645" y="3582739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2352973" y="3547914"/>
            <a:ext cx="771674" cy="193477"/>
          </a:xfrm>
          <a:prstGeom prst="roundRect">
            <a:avLst>
              <a:gd name="adj" fmla="val 19692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2429173" y="3573214"/>
            <a:ext cx="631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四点十五分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226147" y="3573214"/>
            <a:ext cx="190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✓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121301" y="3202037"/>
            <a:ext cx="5562749" cy="885230"/>
          </a:xfrm>
          <a:prstGeom prst="roundRect">
            <a:avLst>
              <a:gd name="adj" fmla="val 71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6140351" y="3202037"/>
            <a:ext cx="0" cy="88523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86351" y="354300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358979" y="3582591"/>
            <a:ext cx="58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591002" y="3544639"/>
            <a:ext cx="2896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1:45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976467" y="3547914"/>
            <a:ext cx="879128" cy="193477"/>
          </a:xfrm>
          <a:prstGeom prst="roundRect">
            <a:avLst>
              <a:gd name="adj" fmla="val 19692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052667" y="3573214"/>
            <a:ext cx="7412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一点四十五分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957096" y="3582739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8150423" y="3538389"/>
            <a:ext cx="790724" cy="212527"/>
          </a:xfrm>
          <a:prstGeom prst="roundRect">
            <a:avLst>
              <a:gd name="adj" fmla="val 17927"/>
            </a:avLst>
          </a:prstGeom>
          <a:solidFill>
            <a:srgbClr val="C8943E">
              <a:alpha val="18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8236148" y="3573214"/>
            <a:ext cx="631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差一刻两点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9042648" y="3573214"/>
            <a:ext cx="1909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 ✓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07950" y="4138017"/>
            <a:ext cx="5562600" cy="885379"/>
          </a:xfrm>
          <a:prstGeom prst="roundRect">
            <a:avLst>
              <a:gd name="adj" fmla="val 717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Shape 75"/>
          <p:cNvSpPr/>
          <p:nvPr/>
        </p:nvSpPr>
        <p:spPr>
          <a:xfrm>
            <a:off x="527000" y="4138017"/>
            <a:ext cx="0" cy="885379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73001" y="4479131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748308" y="4518720"/>
            <a:ext cx="535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977652" y="4480620"/>
            <a:ext cx="3192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8:00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1392138" y="4474369"/>
            <a:ext cx="492026" cy="212527"/>
          </a:xfrm>
          <a:prstGeom prst="roundRect">
            <a:avLst>
              <a:gd name="adj" fmla="val 17927"/>
            </a:avLst>
          </a:prstGeom>
          <a:solidFill>
            <a:srgbClr val="C8943E">
              <a:alpha val="18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1477863" y="4509195"/>
            <a:ext cx="3269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八点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1985665" y="4518720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2178993" y="4483894"/>
            <a:ext cx="670173" cy="193477"/>
          </a:xfrm>
          <a:prstGeom prst="roundRect">
            <a:avLst>
              <a:gd name="adj" fmla="val 19692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2255193" y="4509195"/>
            <a:ext cx="5281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八点零分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2950666" y="4509195"/>
            <a:ext cx="190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✓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121301" y="4138017"/>
            <a:ext cx="5562749" cy="885379"/>
          </a:xfrm>
          <a:prstGeom prst="roundRect">
            <a:avLst>
              <a:gd name="adj" fmla="val 717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Shape 86"/>
          <p:cNvSpPr/>
          <p:nvPr/>
        </p:nvSpPr>
        <p:spPr>
          <a:xfrm>
            <a:off x="6140351" y="4138017"/>
            <a:ext cx="0" cy="885379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86351" y="4479131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6359128" y="4518720"/>
            <a:ext cx="585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6591002" y="4480620"/>
            <a:ext cx="3163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5:05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7002661" y="4483894"/>
            <a:ext cx="675977" cy="193477"/>
          </a:xfrm>
          <a:prstGeom prst="roundRect">
            <a:avLst>
              <a:gd name="adj" fmla="val 19692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7078861" y="4509195"/>
            <a:ext cx="5340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五点五分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7780139" y="4518720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7973467" y="4474369"/>
            <a:ext cx="790724" cy="212527"/>
          </a:xfrm>
          <a:prstGeom prst="roundRect">
            <a:avLst>
              <a:gd name="adj" fmla="val 17927"/>
            </a:avLst>
          </a:prstGeom>
          <a:solidFill>
            <a:srgbClr val="C8943E">
              <a:alpha val="18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94"/>
          <p:cNvSpPr/>
          <p:nvPr/>
        </p:nvSpPr>
        <p:spPr>
          <a:xfrm>
            <a:off x="8059192" y="4509195"/>
            <a:ext cx="631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五点零五分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8865691" y="4509195"/>
            <a:ext cx="1909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 ✓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507950" y="5074146"/>
            <a:ext cx="5562600" cy="885379"/>
          </a:xfrm>
          <a:prstGeom prst="roundRect">
            <a:avLst>
              <a:gd name="adj" fmla="val 717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Shape 97"/>
          <p:cNvSpPr/>
          <p:nvPr/>
        </p:nvSpPr>
        <p:spPr>
          <a:xfrm>
            <a:off x="527000" y="5074146"/>
            <a:ext cx="0" cy="885379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73001" y="541526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745629" y="5454848"/>
            <a:ext cx="58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977652" y="5416748"/>
            <a:ext cx="3165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9:35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1389459" y="5410498"/>
            <a:ext cx="898178" cy="212527"/>
          </a:xfrm>
          <a:prstGeom prst="roundRect">
            <a:avLst>
              <a:gd name="adj" fmla="val 17927"/>
            </a:avLst>
          </a:prstGeom>
          <a:solidFill>
            <a:srgbClr val="C8943E">
              <a:alpha val="18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102"/>
          <p:cNvSpPr/>
          <p:nvPr/>
        </p:nvSpPr>
        <p:spPr>
          <a:xfrm>
            <a:off x="1475184" y="5445323"/>
            <a:ext cx="7412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九点三十五分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2389138" y="5454848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2582466" y="5420023"/>
            <a:ext cx="974675" cy="193477"/>
          </a:xfrm>
          <a:prstGeom prst="roundRect">
            <a:avLst>
              <a:gd name="adj" fmla="val 19692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Text 105"/>
          <p:cNvSpPr/>
          <p:nvPr/>
        </p:nvSpPr>
        <p:spPr>
          <a:xfrm>
            <a:off x="2658666" y="5445323"/>
            <a:ext cx="8387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差二十五分十点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3658642" y="5445323"/>
            <a:ext cx="190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✓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6121301" y="5074146"/>
            <a:ext cx="5562749" cy="885379"/>
          </a:xfrm>
          <a:prstGeom prst="roundRect">
            <a:avLst>
              <a:gd name="adj" fmla="val 717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Shape 108"/>
          <p:cNvSpPr/>
          <p:nvPr/>
        </p:nvSpPr>
        <p:spPr>
          <a:xfrm>
            <a:off x="6140351" y="5074146"/>
            <a:ext cx="0" cy="885379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286351" y="541526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Text 110"/>
          <p:cNvSpPr/>
          <p:nvPr/>
        </p:nvSpPr>
        <p:spPr>
          <a:xfrm>
            <a:off x="6338888" y="5454848"/>
            <a:ext cx="1000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6591002" y="5416748"/>
            <a:ext cx="3538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12:10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7039421" y="5420023"/>
            <a:ext cx="777478" cy="193477"/>
          </a:xfrm>
          <a:prstGeom prst="roundRect">
            <a:avLst>
              <a:gd name="adj" fmla="val 19692"/>
            </a:avLst>
          </a:prstGeom>
          <a:solidFill>
            <a:srgbClr val="3A7D8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7115621" y="5445323"/>
            <a:ext cx="6375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A. 十二点十分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7918400" y="5454848"/>
            <a:ext cx="936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8111728" y="5420023"/>
            <a:ext cx="771674" cy="193477"/>
          </a:xfrm>
          <a:prstGeom prst="roundRect">
            <a:avLst>
              <a:gd name="adj" fmla="val 19692"/>
            </a:avLst>
          </a:prstGeom>
          <a:solidFill>
            <a:srgbClr val="D475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Text 116"/>
          <p:cNvSpPr/>
          <p:nvPr/>
        </p:nvSpPr>
        <p:spPr>
          <a:xfrm>
            <a:off x="8187928" y="5445323"/>
            <a:ext cx="631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B. 十二点十分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8984903" y="5445323"/>
            <a:ext cx="168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TIE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507950" y="6035725"/>
            <a:ext cx="11176099" cy="390525"/>
          </a:xfrm>
          <a:prstGeom prst="roundRect">
            <a:avLst>
              <a:gd name="adj" fmla="val 16260"/>
            </a:avLst>
          </a:prstGeom>
          <a:solidFill>
            <a:srgbClr val="C8943E">
              <a:alpha val="12000"/>
            </a:srgbClr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Text 119"/>
          <p:cNvSpPr/>
          <p:nvPr/>
        </p:nvSpPr>
        <p:spPr>
          <a:xfrm>
            <a:off x="622834" y="6130975"/>
            <a:ext cx="109463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items x 10 pts = Max 100 pts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57200" y="6653213"/>
            <a:ext cx="15714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Time Olympics · 时间奥运会</a:t>
            </a:r>
            <a:endParaRPr lang="en-US" sz="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828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TIME OLYMPICS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18370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32521" y="166688"/>
            <a:ext cx="740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Medal Ceremony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0459" y="609600"/>
            <a:ext cx="1051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Olympics Finale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49865" y="803225"/>
            <a:ext cx="38921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Medal Ceremony · 颁奖仪式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409480" y="1384250"/>
            <a:ext cx="3373041" cy="787301"/>
          </a:xfrm>
          <a:prstGeom prst="roundRect">
            <a:avLst>
              <a:gd name="adj" fmla="val 12905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06076" y="1530251"/>
            <a:ext cx="27798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Max Total = 430 pts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6076" y="1816001"/>
            <a:ext cx="27798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R1: 100 + R2: 110 + R3: 120 + R4: 100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29843" y="2603302"/>
            <a:ext cx="125481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SILVER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21000" y="3158877"/>
            <a:ext cx="2247900" cy="1441252"/>
          </a:xfrm>
          <a:prstGeom prst="roundRect">
            <a:avLst>
              <a:gd name="adj" fmla="val 528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21000" y="3168402"/>
            <a:ext cx="2247900" cy="0"/>
          </a:xfrm>
          <a:prstGeom prst="line">
            <a:avLst/>
          </a:prstGeom>
          <a:noFill/>
          <a:ln w="19050">
            <a:solidFill>
              <a:srgbClr val="D1CB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9375" y="3158877"/>
            <a:ext cx="0" cy="1441252"/>
          </a:xfrm>
          <a:prstGeom prst="line">
            <a:avLst/>
          </a:prstGeom>
          <a:noFill/>
          <a:ln w="19050">
            <a:solidFill>
              <a:srgbClr val="D1CB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30525" y="3158877"/>
            <a:ext cx="0" cy="1441252"/>
          </a:xfrm>
          <a:prstGeom prst="line">
            <a:avLst/>
          </a:prstGeom>
          <a:noFill/>
          <a:ln w="19050">
            <a:solidFill>
              <a:srgbClr val="D1CB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6470" y="3600152"/>
            <a:ext cx="4455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SILVER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32100" y="3781127"/>
            <a:ext cx="84221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300–379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70213" y="4054078"/>
            <a:ext cx="5604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Almost there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590877" y="2349252"/>
            <a:ext cx="103029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GOLD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972050" y="2904827"/>
            <a:ext cx="2247900" cy="1695301"/>
          </a:xfrm>
          <a:prstGeom prst="roundRect">
            <a:avLst>
              <a:gd name="adj" fmla="val 4495"/>
            </a:avLst>
          </a:prstGeom>
          <a:solidFill>
            <a:srgbClr val="C8943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972050" y="2914352"/>
            <a:ext cx="2247900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10425" y="2904827"/>
            <a:ext cx="0" cy="1695301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1575" y="2904827"/>
            <a:ext cx="0" cy="1695301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24550" y="3473053"/>
            <a:ext cx="3496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GOLD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867400" y="3654028"/>
            <a:ext cx="4661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380+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08315" y="3926979"/>
            <a:ext cx="5868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时间奥运冠军!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809458" y="2857202"/>
            <a:ext cx="15046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BRONZE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423100" y="3412778"/>
            <a:ext cx="2247900" cy="1187351"/>
          </a:xfrm>
          <a:prstGeom prst="roundRect">
            <a:avLst>
              <a:gd name="adj" fmla="val 64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7423100" y="3422303"/>
            <a:ext cx="2247900" cy="0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61475" y="3412778"/>
            <a:ext cx="0" cy="1187351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32625" y="3412778"/>
            <a:ext cx="0" cy="1187351"/>
          </a:xfrm>
          <a:prstGeom prst="line">
            <a:avLst/>
          </a:prstGeom>
          <a:noFill/>
          <a:ln w="19050">
            <a:solidFill>
              <a:srgbClr val="E5DF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94787" y="3727103"/>
            <a:ext cx="5144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BRONZE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129885" y="3908078"/>
            <a:ext cx="8508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200–299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01335" y="4181029"/>
            <a:ext cx="5011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going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391083" y="4752529"/>
            <a:ext cx="34096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Calculate your total score across all 4 rounds!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653213"/>
            <a:ext cx="15714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Time Olympics · 时间奥运会</a:t>
            </a:r>
            <a:endParaRPr lang="en-US" sz="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11828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TIME OLYMPICS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18370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32521" y="166688"/>
            <a:ext cx="3236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09600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42–50 min · Plenary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803225"/>
            <a:ext cx="109851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1101" y="1320701"/>
            <a:ext cx="109851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1101" y="1554063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0702" y="1495276"/>
            <a:ext cx="25762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Hear Chinese time → write correct digits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1101" y="1773138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0702" y="1714351"/>
            <a:ext cx="29910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See clock → say most natural Chinese instantly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1101" y="1992213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0702" y="1933426"/>
            <a:ext cx="312611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Switch between 点/分/半/刻/差 without hesitation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1101" y="2279452"/>
            <a:ext cx="10769798" cy="1014859"/>
          </a:xfrm>
          <a:prstGeom prst="roundRect">
            <a:avLst>
              <a:gd name="adj" fmla="val 750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4251" y="2406402"/>
            <a:ext cx="105707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Olympics Self-Assessment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251" y="2619077"/>
            <a:ext cx="10570768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Which round was your strongest, and why?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Which time pattern (点 / 分 / 半 / 刻 / 差) do you need more practice with?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What score did you get, and what do you want to improve before Lesson 8?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1101" y="3421261"/>
            <a:ext cx="10769798" cy="644426"/>
          </a:xfrm>
          <a:prstGeom prst="roundRect">
            <a:avLst>
              <a:gd name="adj" fmla="val 11824"/>
            </a:avLst>
          </a:prstGeom>
          <a:solidFill>
            <a:srgbClr val="C8943E">
              <a:alpha val="12000"/>
            </a:srgbClr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58751" y="3567261"/>
            <a:ext cx="42364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58751" y="3691086"/>
            <a:ext cx="4236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three different ways to say 8:45 in Chinese.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1101" y="4167188"/>
            <a:ext cx="1853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= Confident with all patterns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31889" y="4167188"/>
            <a:ext cx="22597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fingers = Mostly there, need more practice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50495" y="4167188"/>
            <a:ext cx="19288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Fist = Still confused on some patterns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653213"/>
            <a:ext cx="15714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Time Olympics · 时间奥运会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2026-06-29T00:19:51Z</dcterms:created>
  <dcterms:modified xsi:type="dcterms:W3CDTF">2026-06-29T00:19:51Z</dcterms:modified>
</cp:coreProperties>
</file>