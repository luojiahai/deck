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22850" y="1664494"/>
            <a:ext cx="1346150" cy="1346150"/>
          </a:xfrm>
          <a:prstGeom prst="roundRect">
            <a:avLst>
              <a:gd name="adj" fmla="val 67927"/>
            </a:avLst>
          </a:prstGeom>
          <a:solidFill>
            <a:srgbClr val="C8943E">
              <a:alpha val="8000"/>
            </a:srgbClr>
          </a:solidFill>
          <a:ln w="3810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38390" y="1980456"/>
            <a:ext cx="514922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0"/>
              </a:spcBef>
              <a:spcAft>
                <a:spcPts val="4000"/>
              </a:spcAft>
              <a:buNone/>
            </a:pPr>
            <a:r>
              <a:rPr lang="en-US" sz="4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797981" y="3213795"/>
            <a:ext cx="459603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8 · Y7 Unit 4.1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797981" y="3496270"/>
            <a:ext cx="4596039" cy="894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040"/>
              </a:lnSpc>
              <a:buNone/>
            </a:pPr>
            <a:r>
              <a:rPr lang="en-US" sz="6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考试</a:t>
            </a:r>
            <a:pPr algn="ctr" indent="0" marL="0">
              <a:lnSpc>
                <a:spcPts val="7040"/>
              </a:lnSpc>
              <a:buNone/>
            </a:pPr>
            <a:r>
              <a:rPr lang="en-US" sz="6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</a:t>
            </a:r>
            <a:pPr algn="ctr" indent="0" marL="0">
              <a:lnSpc>
                <a:spcPts val="7040"/>
              </a:lnSpc>
              <a:buNone/>
            </a:pPr>
            <a:r>
              <a:rPr lang="en-US" sz="6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挑战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3797981" y="4441031"/>
            <a:ext cx="459603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Beat the Test · Review &amp; Test Preparation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797981" y="5031581"/>
            <a:ext cx="45960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· 50 mins · Game Show Format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74399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Warm-Up Round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2101900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0–6 min · Team Warm-Up · Not for points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2295525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Warm-Up Round · 热身赛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600" y="2711351"/>
            <a:ext cx="111922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quick questions — discuss with your team. No points, just warm up!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09600" y="3070027"/>
            <a:ext cx="2092970" cy="1409998"/>
          </a:xfrm>
          <a:prstGeom prst="roundRect">
            <a:avLst>
              <a:gd name="adj" fmla="val 7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484561" y="3247727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626714" y="3328690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18160" y="3692128"/>
            <a:ext cx="187585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say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"o'clock" in Chinese?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8160" y="4159448"/>
            <a:ext cx="18758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Answer: 点 (diǎn)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829520" y="3070027"/>
            <a:ext cx="2092970" cy="1409998"/>
          </a:xfrm>
          <a:prstGeom prst="roundRect">
            <a:avLst>
              <a:gd name="adj" fmla="val 7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704481" y="3247727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834793" y="3328690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938080" y="3692128"/>
            <a:ext cx="187585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mean?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938080" y="4159448"/>
            <a:ext cx="18758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Answer: half past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049441" y="3070027"/>
            <a:ext cx="2092970" cy="1409998"/>
          </a:xfrm>
          <a:prstGeom prst="roundRect">
            <a:avLst>
              <a:gd name="adj" fmla="val 7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924401" y="3247727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54410" y="3328690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158000" y="3692128"/>
            <a:ext cx="187585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say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3:00?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58000" y="4159448"/>
            <a:ext cx="18758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Answer: 三点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269361" y="3070027"/>
            <a:ext cx="2092970" cy="1409998"/>
          </a:xfrm>
          <a:prstGeom prst="roundRect">
            <a:avLst>
              <a:gd name="adj" fmla="val 7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144321" y="3247727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273875" y="3328690"/>
            <a:ext cx="8364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377921" y="3692128"/>
            <a:ext cx="187585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mean?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77921" y="4159448"/>
            <a:ext cx="18758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Answer: "to"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9489281" y="3070027"/>
            <a:ext cx="2093119" cy="1409998"/>
          </a:xfrm>
          <a:prstGeom prst="roundRect">
            <a:avLst>
              <a:gd name="adj" fmla="val 7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0364391" y="3247727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0494551" y="3328690"/>
            <a:ext cx="824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597839" y="3692128"/>
            <a:ext cx="1876002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现在几点?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597839" y="4159448"/>
            <a:ext cx="18760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Answer: What time?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09600" y="4657725"/>
            <a:ext cx="10972800" cy="76200"/>
          </a:xfrm>
          <a:prstGeom prst="roundRect">
            <a:avLst>
              <a:gd name="adj" fmla="val 1665000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9600" y="4657725"/>
            <a:ext cx="10972800" cy="76200"/>
          </a:xfrm>
          <a:prstGeom prst="roundRect">
            <a:avLst>
              <a:gd name="adj" fmla="val 1665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99872" y="4784675"/>
            <a:ext cx="1119225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minute timer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4559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Game Rules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2122736"/>
            <a:ext cx="53629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6–8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2316361"/>
            <a:ext cx="536295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09600" y="2871936"/>
            <a:ext cx="5257800" cy="885825"/>
          </a:xfrm>
          <a:prstGeom prst="rect">
            <a:avLst/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28650" y="2871936"/>
            <a:ext cx="0" cy="885825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850" y="3024336"/>
            <a:ext cx="49096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850850" y="3186261"/>
            <a:ext cx="4909667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confidently demonstrate our time-telling skills for the Unit 4.1 test.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600" y="3960912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07082" y="4010025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52351" y="3960912"/>
            <a:ext cx="31144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 </a:t>
            </a:r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any time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between English and Chinese.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9600" y="4303663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97855" y="4352776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952351" y="4303663"/>
            <a:ext cx="252132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Identify and </a:t>
            </a:r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common mistakes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9600" y="4646414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97706" y="4695527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52351" y="4646414"/>
            <a:ext cx="2408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Feel </a:t>
            </a:r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confident and ready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for the test.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24600" y="2002036"/>
            <a:ext cx="5257800" cy="2196852"/>
          </a:xfrm>
          <a:prstGeom prst="roundRect">
            <a:avLst>
              <a:gd name="adj" fmla="val 4625"/>
            </a:avLst>
          </a:prstGeom>
          <a:solidFill>
            <a:srgbClr val="F6F2E8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46800" y="2198787"/>
            <a:ext cx="49096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SHOW RULES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46800" y="2487662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🎲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813500" y="2530525"/>
            <a:ext cx="12573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rounds + final sprint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46800" y="2811512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3500" y="2854375"/>
            <a:ext cx="21724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Work in teams — earn points together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46800" y="3135362"/>
            <a:ext cx="12144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42063" y="3163937"/>
            <a:ext cx="15268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Strict time limits per round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46800" y="3430637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13500" y="3473500"/>
            <a:ext cx="22910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Hands up to answer — teacher confirms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546800" y="3754487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13500" y="3797350"/>
            <a:ext cx="15383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Winning team gets medals!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324600" y="4351288"/>
            <a:ext cx="5257800" cy="657076"/>
          </a:xfrm>
          <a:prstGeom prst="roundRect">
            <a:avLst>
              <a:gd name="adj" fmla="val 11597"/>
            </a:avLst>
          </a:prstGeom>
          <a:solidFill>
            <a:srgbClr val="3A7D8C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453277" y="4478238"/>
            <a:ext cx="50004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R1 Vocab: 150 pts  ·  R2 Translate: 180 pts  ·  R3 Errors: 160 pts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453277" y="4671864"/>
            <a:ext cx="50004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Total possible: 490 points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34930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35803" y="1157585"/>
            <a:ext cx="13202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8–20 min · Round 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40425" y="1351211"/>
            <a:ext cx="1111151" cy="1111151"/>
          </a:xfrm>
          <a:prstGeom prst="roundRect">
            <a:avLst>
              <a:gd name="adj" fmla="val 82293"/>
            </a:avLst>
          </a:prstGeom>
          <a:solidFill>
            <a:srgbClr val="C8943E">
              <a:alpha val="8000"/>
            </a:srgbClr>
          </a:solidFill>
          <a:ln w="476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98695" y="1632049"/>
            <a:ext cx="194462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872393" y="2038499"/>
            <a:ext cx="4470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021893" y="2665512"/>
            <a:ext cx="4148215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Vocabulary Lightning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634060" y="3354437"/>
            <a:ext cx="92373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词汇闪电战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26147" y="3830687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67349" y="4008388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📖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467349" y="4487763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15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67349" y="4916388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207050" y="3830687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448251" y="4008388"/>
            <a:ext cx="1295349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⏲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448251" y="4497288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12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448251" y="4925913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187952" y="3830687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429153" y="4008388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429153" y="4487763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150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429153" y="4916388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Max Points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870424" y="5449639"/>
            <a:ext cx="4451152" cy="403027"/>
          </a:xfrm>
          <a:prstGeom prst="roundRect">
            <a:avLst>
              <a:gd name="adj" fmla="val 3148002"/>
            </a:avLst>
          </a:prstGeom>
          <a:solidFill>
            <a:srgbClr val="3A7D8C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136809" y="5551140"/>
            <a:ext cx="3918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Format: 汉字 → 拼音 → 英文  |  Match test question style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3885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Vocabulary Lightning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519386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8–20 min · Round 1 · 10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713012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Vocabulary Lightning · 词汇闪电战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2052637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1–8 · 汉字 → 拼音 → 英文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83747" y="2417713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02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102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102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diǎn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02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102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o'clock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273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402985" y="2417713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4296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296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296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fēn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296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4296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467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222380" y="2417713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2490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刻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490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490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kè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490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490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quarter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9661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041774" y="2417713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90684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现在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90684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0684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xiànzài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0684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0684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now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079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83583" y="3895576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102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6102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102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chà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02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102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 / short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3273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3402973" y="3895576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34296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34296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296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liǎng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296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4296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(before 点)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1467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222425" y="3895576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62490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零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62490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2490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líng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2490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2490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zero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9661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9041776" y="3895576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90684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表</a:t>
            </a:r>
            <a:endParaRPr lang="en-US" sz="2200" dirty="0"/>
          </a:p>
        </p:txBody>
      </p:sp>
      <p:sp>
        <p:nvSpPr>
          <p:cNvPr id="62" name="Text 60"/>
          <p:cNvSpPr/>
          <p:nvPr/>
        </p:nvSpPr>
        <p:spPr>
          <a:xfrm>
            <a:off x="90684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90684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biǎo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90684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90684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watch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96189" y="5348139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1–8 of 15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3885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Vocabulary Lightning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519386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8–20 min · Round 1 · 10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713012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Vocabulary Lightning · 词汇闪电战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2052637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9–15 · 汉字 → 拼音 → 英文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83573" y="2417713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02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102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102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jǐ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02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102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many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273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402570" y="2417713"/>
            <a:ext cx="1000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4296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三刻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296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296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sān kè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296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4296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:45 (3 quarters)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467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222145" y="2417713"/>
            <a:ext cx="821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2490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一刻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490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490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yī kè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490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490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:15 (1 quarter)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9661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041383" y="2417713"/>
            <a:ext cx="986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90684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90684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0684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bàn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0684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0684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half past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079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83179" y="3895576"/>
            <a:ext cx="991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13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102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6102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102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liǎng diǎn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02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102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o'clock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3273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3402573" y="3895576"/>
            <a:ext cx="997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34296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五分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34296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296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wǔ fēn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296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4296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five minutes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1467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221980" y="3895576"/>
            <a:ext cx="989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62490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62490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2490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jǐ diǎn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2490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2490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time?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966150" y="3844826"/>
            <a:ext cx="2717899" cy="1376363"/>
          </a:xfrm>
          <a:prstGeom prst="roundRect">
            <a:avLst>
              <a:gd name="adj" fmla="val 5536"/>
            </a:avLst>
          </a:prstGeom>
          <a:noFill/>
          <a:ln w="9525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396189" y="5348139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9–15 of 15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3672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385858" y="1192411"/>
            <a:ext cx="14202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20–30 min · Round 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40425" y="1386036"/>
            <a:ext cx="1111151" cy="1111151"/>
          </a:xfrm>
          <a:prstGeom prst="roundRect">
            <a:avLst>
              <a:gd name="adj" fmla="val 82293"/>
            </a:avLst>
          </a:prstGeom>
          <a:solidFill>
            <a:srgbClr val="3A7D8C">
              <a:alpha val="8000"/>
            </a:srgbClr>
          </a:solidFill>
          <a:ln w="476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98695" y="1666875"/>
            <a:ext cx="194462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872393" y="2073325"/>
            <a:ext cx="4470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910468" y="2700338"/>
            <a:ext cx="4371064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Translation Showdown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726507" y="3389263"/>
            <a:ext cx="7389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翻译对决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26147" y="3865513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67349" y="4043214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💬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467349" y="4522589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67349" y="495121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207050" y="3865513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448251" y="4043214"/>
            <a:ext cx="1295349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⏲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448251" y="4532114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10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448251" y="4960739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187952" y="3865513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429153" y="4043214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429153" y="4522589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180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429153" y="495121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Max Points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868912" y="5484465"/>
            <a:ext cx="1150888" cy="333375"/>
          </a:xfrm>
          <a:prstGeom prst="roundRect">
            <a:avLst>
              <a:gd name="adj" fmla="val 3805714"/>
            </a:avLst>
          </a:prstGeom>
          <a:solidFill>
            <a:srgbClr val="3A7D8C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090575" y="5560665"/>
            <a:ext cx="7075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72200" y="5484465"/>
            <a:ext cx="1150888" cy="333375"/>
          </a:xfrm>
          <a:prstGeom prst="roundRect">
            <a:avLst>
              <a:gd name="adj" fmla="val 3805714"/>
            </a:avLst>
          </a:prstGeom>
          <a:solidFill>
            <a:srgbClr val="D4756B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393863" y="5560665"/>
            <a:ext cx="7075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4726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Translation Showdown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675805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20–30 min · Round 2 · 15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869430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Translation Showdown · 翻译对决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2209056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1–6 · Translate between English and Chinese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2523381"/>
            <a:ext cx="3640634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83747" y="2574131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26992" y="2701082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6992" y="2999482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6992" y="3272433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555549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275534" y="2523381"/>
            <a:ext cx="3640782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351169" y="2574131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394575" y="2701082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94575" y="2999482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394575" y="3272433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23281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8043267" y="2523381"/>
            <a:ext cx="3640634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118897" y="2574131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8162309" y="2701082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差十分七点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162309" y="3015853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162309" y="3288804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6:50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090865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507950" y="3857476"/>
            <a:ext cx="3640634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83574" y="3908227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26992" y="4035177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9:15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26992" y="4333577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26992" y="4606528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九点一刻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55549" y="4890046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275534" y="3857476"/>
            <a:ext cx="3640782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51167" y="3908227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394575" y="4035177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6:45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394575" y="4333577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394575" y="4606528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六点三刻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323281" y="4890046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8043267" y="3857476"/>
            <a:ext cx="3640634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118890" y="3908227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8162309" y="4035177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五点零五分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162309" y="4349948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62309" y="4622899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5:05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1090865" y="4890046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396189" y="519157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1–6 of 12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4726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Translation Showdown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54930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20–30 min · Round 2 · 15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742926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Translation Showdown · 翻译对决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2082552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7–12 · Translate between English and Chinese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2396877"/>
            <a:ext cx="3640634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83625" y="2447627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26992" y="2574578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7:55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6992" y="2872978"/>
            <a:ext cx="3402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(using 差)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26992" y="3015853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992" y="3288804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差五分八点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55549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275534" y="2396877"/>
            <a:ext cx="3640782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351160" y="2447627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394575" y="2574578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十二点半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394575" y="2889349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394575" y="3162300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12:30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23281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8043267" y="2396877"/>
            <a:ext cx="3640634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118890" y="2447627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8162309" y="2574578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3:40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162309" y="2872978"/>
            <a:ext cx="3402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(using 差)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162309" y="3015853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162309" y="3288804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差二十分四点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090865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07950" y="3857476"/>
            <a:ext cx="3640634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83170" y="3908227"/>
            <a:ext cx="1000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26992" y="4035177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一点一刻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26992" y="4349948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26992" y="4622899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1:15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555549" y="50165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275534" y="3857476"/>
            <a:ext cx="3640782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350929" y="3908227"/>
            <a:ext cx="821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394575" y="4035177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11:50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4394575" y="4333577"/>
            <a:ext cx="34027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(best way)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394575" y="4476452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394575" y="4749403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差十分十二点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7323281" y="50165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8043267" y="3857476"/>
            <a:ext cx="3640634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8118500" y="3908227"/>
            <a:ext cx="986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8162309" y="4035177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差五分两点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8162309" y="4349948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8162309" y="4622899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1:55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11090865" y="50165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396189" y="5318075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7–12 of 12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3670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385554" y="1001911"/>
            <a:ext cx="14208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30–38 min · Round 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40425" y="1195536"/>
            <a:ext cx="1111151" cy="1111151"/>
          </a:xfrm>
          <a:prstGeom prst="roundRect">
            <a:avLst>
              <a:gd name="adj" fmla="val 82293"/>
            </a:avLst>
          </a:prstGeom>
          <a:solidFill>
            <a:srgbClr val="D4756B">
              <a:alpha val="8000"/>
            </a:srgbClr>
          </a:solidFill>
          <a:ln w="476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98695" y="1476375"/>
            <a:ext cx="194462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872393" y="1882825"/>
            <a:ext cx="4470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10518" y="2509838"/>
            <a:ext cx="2570964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Error Bounty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726507" y="3198763"/>
            <a:ext cx="7389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错误悬赏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26147" y="3675013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67349" y="3852714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🔍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467349" y="4332089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8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67349" y="476071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207050" y="3675013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448251" y="3852714"/>
            <a:ext cx="1295349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⏲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448251" y="4341614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8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448251" y="4770239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187952" y="3675013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429153" y="3852714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429153" y="4332089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160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429153" y="476071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Max Points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078188" y="5293965"/>
            <a:ext cx="4035623" cy="714375"/>
          </a:xfrm>
          <a:prstGeom prst="roundRect">
            <a:avLst>
              <a:gd name="adj" fmla="val 14222"/>
            </a:avLst>
          </a:prstGeom>
          <a:solidFill>
            <a:srgbClr val="D4756B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400493" y="5446365"/>
            <a:ext cx="339101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Spot the error + ✅ Write the correction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400493" y="5694015"/>
            <a:ext cx="33910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 pts each — some items are already correct!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0368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Error Bounty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1651843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30–38 min · Round 3 · 20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845469"/>
            <a:ext cx="1150315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Error Bounty · 错误悬赏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156520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Spot the mistake &amp; write the correct form — some are already right!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445395"/>
            <a:ext cx="2743200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2997" y="2496145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3299" y="2572345"/>
            <a:ext cx="259100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二点十分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9374" y="2935635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514718" y="2960936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WRONG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33299" y="3224361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两点十分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33299" y="3478262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二 → 两 before 点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301901" y="2445395"/>
            <a:ext cx="2743349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377535" y="2496145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377998" y="2572345"/>
            <a:ext cx="259115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四点三十分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204395" y="2935635"/>
            <a:ext cx="938361" cy="212527"/>
          </a:xfrm>
          <a:prstGeom prst="roundRect">
            <a:avLst>
              <a:gd name="adj" fmla="val 5969736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298542" y="2960936"/>
            <a:ext cx="7500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CORRECT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377998" y="3224361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四点三十分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377998" y="3478262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error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146750" y="2445395"/>
            <a:ext cx="2743200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222380" y="2496145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222849" y="2572345"/>
            <a:ext cx="259100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三点五分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108924" y="2935635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204268" y="2960936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WRONG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222849" y="3224361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三点零五分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222849" y="3478262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Need 零 for single-digit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8991451" y="2445395"/>
            <a:ext cx="2743349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067075" y="2496145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9067548" y="2572345"/>
            <a:ext cx="259115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七差十分点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953774" y="2935635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0049118" y="2960936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WRONG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067548" y="3224361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差十分七点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067548" y="3478262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order: 差 X 分 Y 点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57200" y="3830538"/>
            <a:ext cx="2743200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32833" y="3881289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33299" y="3957489"/>
            <a:ext cx="259100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六点十五分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359545" y="4320778"/>
            <a:ext cx="938361" cy="212527"/>
          </a:xfrm>
          <a:prstGeom prst="roundRect">
            <a:avLst>
              <a:gd name="adj" fmla="val 5969736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453692" y="4346079"/>
            <a:ext cx="7500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CORRECT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33299" y="4609505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六点十五分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533299" y="4863405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error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301901" y="3830538"/>
            <a:ext cx="2743349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3377523" y="3881289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3377998" y="3957489"/>
            <a:ext cx="259115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差十分二点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4264223" y="4320778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4359567" y="4346079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WRONG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377998" y="4609505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差十分两点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3377998" y="4863405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二 → 两 before 点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146750" y="3830538"/>
            <a:ext cx="2743200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222425" y="3881289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6222849" y="3957489"/>
            <a:ext cx="259100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九点三刻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7049095" y="4320778"/>
            <a:ext cx="938361" cy="212527"/>
          </a:xfrm>
          <a:prstGeom prst="roundRect">
            <a:avLst>
              <a:gd name="adj" fmla="val 5969736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7143242" y="4346079"/>
            <a:ext cx="7500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CORRECT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222849" y="4609505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九点三刻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6222849" y="4863405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error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8991451" y="3830538"/>
            <a:ext cx="2743349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9067077" y="3881289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9067548" y="3957489"/>
            <a:ext cx="259115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十二点六十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9953774" y="4320778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10049118" y="4346079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WRONG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9067548" y="4609505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 / 十三点</a:t>
            </a:r>
            <a:endParaRPr lang="en-US" sz="1500" dirty="0"/>
          </a:p>
        </p:txBody>
      </p:sp>
      <p:sp>
        <p:nvSpPr>
          <p:cNvPr id="65" name="Text 63"/>
          <p:cNvSpPr/>
          <p:nvPr/>
        </p:nvSpPr>
        <p:spPr>
          <a:xfrm>
            <a:off x="9067548" y="4863405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60分 = 1 hour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344424" y="5215682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items · 3 correct · 5 wrong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5029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Sprint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94164" y="1308497"/>
            <a:ext cx="240352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38–42 min · Individual · Diagnostic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40425" y="1502122"/>
            <a:ext cx="1111151" cy="1111151"/>
          </a:xfrm>
          <a:prstGeom prst="roundRect">
            <a:avLst>
              <a:gd name="adj" fmla="val 82293"/>
            </a:avLst>
          </a:prstGeom>
          <a:solidFill>
            <a:srgbClr val="1E2A38"/>
          </a:solidFill>
          <a:ln w="476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98273" y="1817936"/>
            <a:ext cx="795305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4:00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847951" y="2173486"/>
            <a:ext cx="49609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>
                    <a:alpha val="6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421139" y="2816423"/>
            <a:ext cx="3349722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3-Question Test Sprint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846862" y="3371999"/>
            <a:ext cx="44982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challenge — individual mode, silent, collected as diagnostic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59646" y="3775174"/>
            <a:ext cx="1056977" cy="400050"/>
          </a:xfrm>
          <a:prstGeom prst="roundRect">
            <a:avLst>
              <a:gd name="adj" fmla="val 317142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5721" y="3870424"/>
            <a:ext cx="62482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🔈 Silent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43574" y="3775174"/>
            <a:ext cx="1324273" cy="400050"/>
          </a:xfrm>
          <a:prstGeom prst="roundRect">
            <a:avLst>
              <a:gd name="adj" fmla="val 317142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56976" y="3870424"/>
            <a:ext cx="8974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Individual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94797" y="3775174"/>
            <a:ext cx="1315492" cy="400050"/>
          </a:xfrm>
          <a:prstGeom prst="roundRect">
            <a:avLst>
              <a:gd name="adj" fmla="val 317142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08286" y="3870424"/>
            <a:ext cx="8885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📋 Collected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37239" y="3775174"/>
            <a:ext cx="1395115" cy="400050"/>
          </a:xfrm>
          <a:prstGeom prst="roundRect">
            <a:avLst>
              <a:gd name="adj" fmla="val 317142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649932" y="3870424"/>
            <a:ext cx="96972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 Diagnostic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921919" y="4378375"/>
            <a:ext cx="4348163" cy="1323529"/>
          </a:xfrm>
          <a:prstGeom prst="roundRect">
            <a:avLst>
              <a:gd name="adj" fmla="val 7676"/>
            </a:avLst>
          </a:prstGeom>
          <a:solidFill>
            <a:srgbClr val="F6F2E8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312295" y="4575125"/>
            <a:ext cx="35674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TEST-STYLE QUESTIONS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60727" y="479420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938698" y="4824264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143719" y="4795689"/>
            <a:ext cx="220921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Vocabulary: 汉字 → 拼音 → 英文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47270" y="5048101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415829" y="5078164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619993" y="5049589"/>
            <a:ext cx="32566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 English → Chinese (time expression)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54054" y="5302002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122460" y="5332065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340915" y="5303490"/>
            <a:ext cx="18146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Spot the error &amp; correct it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81746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Show Finale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106235" y="1738313"/>
            <a:ext cx="19793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42–46 min · Award Ceremony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825761" y="1931938"/>
            <a:ext cx="4540478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Medal Ceremony · 颁奖典礼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282087" y="2487513"/>
            <a:ext cx="36276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Congratulations to all teams for an incredible effort!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787688" y="3144589"/>
            <a:ext cx="514922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🥈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782831" y="3858964"/>
            <a:ext cx="52448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SILVER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23245" y="4090690"/>
            <a:ext cx="1043657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Almost There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3245" y="4303961"/>
            <a:ext cx="104365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差一点就满分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6198" y="4583162"/>
            <a:ext cx="1777901" cy="304800"/>
          </a:xfrm>
          <a:prstGeom prst="roundRect">
            <a:avLst>
              <a:gd name="adj" fmla="val 25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838390" y="2941439"/>
            <a:ext cx="514922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🥇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5888182" y="3655814"/>
            <a:ext cx="41533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GOLD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169841" y="3887539"/>
            <a:ext cx="1852169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Test-Ready Champions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69841" y="4100810"/>
            <a:ext cx="1852169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考试达人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06901" y="4380012"/>
            <a:ext cx="1777901" cy="507950"/>
          </a:xfrm>
          <a:prstGeom prst="roundRect">
            <a:avLst>
              <a:gd name="adj" fmla="val 1500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889242" y="3246239"/>
            <a:ext cx="514922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🥉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7841424" y="3960614"/>
            <a:ext cx="61055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BRONZE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483316" y="4192339"/>
            <a:ext cx="132677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Solid Foundation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83316" y="4405610"/>
            <a:ext cx="132677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基础扎实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257752" y="4684812"/>
            <a:ext cx="1777901" cy="203150"/>
          </a:xfrm>
          <a:prstGeom prst="roundRect">
            <a:avLst>
              <a:gd name="adj" fmla="val 37509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222275" y="5091113"/>
            <a:ext cx="374745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team scores: TBA  ·  Top scorer bonus: +10 pts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3236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1767036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46–50 min · Plenary + Self-Assessment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1960662"/>
            <a:ext cx="1119225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 · 复习反思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09600" y="2465487"/>
            <a:ext cx="1119225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09600" y="2708374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49201" y="2640062"/>
            <a:ext cx="37430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translate any time between English and Chinese.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600" y="2908399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9201" y="2840087"/>
            <a:ext cx="30795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identify and correct common mistakes.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09600" y="3108424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9201" y="3040112"/>
            <a:ext cx="32126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feel confident and ready for the Unit 4.1 test.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9600" y="3392537"/>
            <a:ext cx="5365700" cy="1146125"/>
          </a:xfrm>
          <a:prstGeom prst="roundRect">
            <a:avLst>
              <a:gd name="adj" fmla="val 886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12750" y="3544937"/>
            <a:ext cx="50585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12750" y="3786188"/>
            <a:ext cx="5058588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your paper, write down </a:t>
            </a:r>
            <a:pPr algn="l" indent="0" marL="0"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thing you're most confident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about for the test, and </a:t>
            </a:r>
            <a:pPr algn="l" indent="0" marL="0"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thing you want to review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one more time before test day.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78451" y="3392537"/>
            <a:ext cx="5403949" cy="1146125"/>
          </a:xfrm>
          <a:prstGeom prst="roundRect">
            <a:avLst>
              <a:gd name="adj" fmla="val 8865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00651" y="3637955"/>
            <a:ext cx="50587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📋 Diagnostic Collected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400651" y="3866555"/>
            <a:ext cx="5058739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Your 3-Question Sprint will be marked and returned next lesson with personalised feedback.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09600" y="4665613"/>
            <a:ext cx="18814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☝ 1 finger = Need more practice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682776" y="4665613"/>
            <a:ext cx="15947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✌ 2 fingers = Getting there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474815" y="4665613"/>
            <a:ext cx="15169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 3 fingers = Test-ready!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99872" y="4957614"/>
            <a:ext cx="111922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🎉 Good luck on the test — 加油！🎉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2026-06-28T06:39:10Z</dcterms:created>
  <dcterms:modified xsi:type="dcterms:W3CDTF">2026-06-28T06:39:10Z</dcterms:modified>
</cp:coreProperties>
</file>