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2850" y="1608534"/>
            <a:ext cx="1346150" cy="1346150"/>
          </a:xfrm>
          <a:prstGeom prst="roundRect">
            <a:avLst>
              <a:gd name="adj" fmla="val 67927"/>
            </a:avLst>
          </a:prstGeom>
          <a:solidFill>
            <a:srgbClr val="C8943E">
              <a:alpha val="8000"/>
            </a:srgbClr>
          </a:solidFill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38390" y="1924496"/>
            <a:ext cx="5149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4000"/>
              </a:spcAft>
              <a:buNone/>
            </a:pPr>
            <a:r>
              <a:rPr lang="en-US" sz="4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764280" y="3157835"/>
            <a:ext cx="46634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· Y7 Unit 4.1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64280" y="3440311"/>
            <a:ext cx="4663440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考试</a:t>
            </a:r>
            <a:r>
              <a:rPr lang="en-US" sz="7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</a:t>
            </a:r>
            <a:r>
              <a:rPr lang="en-US" sz="7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挑战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764280" y="4496842"/>
            <a:ext cx="4663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Beat the Test · Review &amp; Test Preparation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64280" y="5087392"/>
            <a:ext cx="46634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· 50 mins · Game Show 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7439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Warm-Up Round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101900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0–6 min · Team Warm-Up · Not for 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2295525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Warm-Up Round · 热身赛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2711351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quick questions — discuss with your team. No points, just warm up!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3070027"/>
            <a:ext cx="2092970" cy="1409998"/>
          </a:xfrm>
          <a:prstGeom prst="roundRect">
            <a:avLst>
              <a:gd name="adj" fmla="val 7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84561" y="324772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26714" y="3328690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8160" y="3692128"/>
            <a:ext cx="1875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"o'clock" in Chinese?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8160" y="4159448"/>
            <a:ext cx="1875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点 (diǎn)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29520" y="3070027"/>
            <a:ext cx="2092970" cy="1409998"/>
          </a:xfrm>
          <a:prstGeom prst="roundRect">
            <a:avLst>
              <a:gd name="adj" fmla="val 7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04481" y="324772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34793" y="3328690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38080" y="3692128"/>
            <a:ext cx="1875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半 mean?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38080" y="4159448"/>
            <a:ext cx="1875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half past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49441" y="3070027"/>
            <a:ext cx="2092970" cy="1409998"/>
          </a:xfrm>
          <a:prstGeom prst="roundRect">
            <a:avLst>
              <a:gd name="adj" fmla="val 7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24401" y="324772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54410" y="3328690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58000" y="3692128"/>
            <a:ext cx="1875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58000" y="4159448"/>
            <a:ext cx="1875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三点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69361" y="3070027"/>
            <a:ext cx="2092970" cy="1409998"/>
          </a:xfrm>
          <a:prstGeom prst="roundRect">
            <a:avLst>
              <a:gd name="adj" fmla="val 7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44321" y="324772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273875" y="3328690"/>
            <a:ext cx="836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77921" y="3692128"/>
            <a:ext cx="1875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mean?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77921" y="4159448"/>
            <a:ext cx="1875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"to"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89281" y="3070027"/>
            <a:ext cx="2093119" cy="1409998"/>
          </a:xfrm>
          <a:prstGeom prst="roundRect">
            <a:avLst>
              <a:gd name="adj" fmla="val 7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364391" y="324772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494551" y="3328690"/>
            <a:ext cx="82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97839" y="3692128"/>
            <a:ext cx="187600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现在几点?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97839" y="4159448"/>
            <a:ext cx="1876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What time?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9600" y="4657725"/>
            <a:ext cx="10972800" cy="76200"/>
          </a:xfrm>
          <a:prstGeom prst="roundRect">
            <a:avLst>
              <a:gd name="adj" fmla="val 1665000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9600" y="4657725"/>
            <a:ext cx="10972800" cy="76200"/>
          </a:xfrm>
          <a:prstGeom prst="roundRect">
            <a:avLst>
              <a:gd name="adj" fmla="val 1665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9872" y="4784675"/>
            <a:ext cx="111922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minute timer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2690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Warm-Up Round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130475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0–6 min · Team Warm-Up · Not for 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2324100"/>
            <a:ext cx="349682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Warm-Up Answers · 热身赛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39357" y="2422624"/>
            <a:ext cx="473720" cy="193477"/>
          </a:xfrm>
          <a:prstGeom prst="roundRect">
            <a:avLst>
              <a:gd name="adj" fmla="val 655752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66307" y="2447925"/>
            <a:ext cx="224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9600" y="2739926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quick questions — check your team's answers!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3098602"/>
            <a:ext cx="2092970" cy="1429048"/>
          </a:xfrm>
          <a:prstGeom prst="roundRect">
            <a:avLst>
              <a:gd name="adj" fmla="val 71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84561" y="327630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26714" y="3357265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8160" y="3720703"/>
            <a:ext cx="1875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"o'clock" in Chinese?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8160" y="4188023"/>
            <a:ext cx="18758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点 (diǎn)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29520" y="3098602"/>
            <a:ext cx="2092970" cy="1429048"/>
          </a:xfrm>
          <a:prstGeom prst="roundRect">
            <a:avLst>
              <a:gd name="adj" fmla="val 71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04481" y="327630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34793" y="3357265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38080" y="3720703"/>
            <a:ext cx="1875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半 mean?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38080" y="4188023"/>
            <a:ext cx="18758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half past (30 mins)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9441" y="3098602"/>
            <a:ext cx="2092970" cy="1429048"/>
          </a:xfrm>
          <a:prstGeom prst="roundRect">
            <a:avLst>
              <a:gd name="adj" fmla="val 71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24401" y="327630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54410" y="3357265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58000" y="3720703"/>
            <a:ext cx="1875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58000" y="4188023"/>
            <a:ext cx="18758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三点 (sān diǎn)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69361" y="3098602"/>
            <a:ext cx="2092970" cy="1429048"/>
          </a:xfrm>
          <a:prstGeom prst="roundRect">
            <a:avLst>
              <a:gd name="adj" fmla="val 71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144321" y="327630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73875" y="3357265"/>
            <a:ext cx="836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77921" y="3720703"/>
            <a:ext cx="1875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mean?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77921" y="4188023"/>
            <a:ext cx="18758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"to" / minutes short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89281" y="3098602"/>
            <a:ext cx="2093119" cy="1429048"/>
          </a:xfrm>
          <a:prstGeom prst="roundRect">
            <a:avLst>
              <a:gd name="adj" fmla="val 71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364391" y="327630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FCF7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494551" y="3357265"/>
            <a:ext cx="82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97839" y="3720703"/>
            <a:ext cx="187600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现在几点?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97839" y="4188023"/>
            <a:ext cx="1876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What time is it now?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9872" y="4756100"/>
            <a:ext cx="111922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points — just a warm-up!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455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Game Rules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122736"/>
            <a:ext cx="53629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6–8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2316361"/>
            <a:ext cx="53629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2871936"/>
            <a:ext cx="5257800" cy="885825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8650" y="2871936"/>
            <a:ext cx="0" cy="885825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850" y="3024336"/>
            <a:ext cx="49096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0850" y="3186261"/>
            <a:ext cx="49096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confidently demonstrate our time-telling skills for the Unit 4.1 test.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960912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7082" y="4010025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52351" y="3960912"/>
            <a:ext cx="3114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any time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between English and Chinese.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9600" y="4303663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7855" y="4352776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52351" y="4303663"/>
            <a:ext cx="25213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Identify and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common mistakes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600" y="4646414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7706" y="4695527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52351" y="4646414"/>
            <a:ext cx="2408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Feel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confident and ready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the test.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24600" y="2002036"/>
            <a:ext cx="5257800" cy="2196852"/>
          </a:xfrm>
          <a:prstGeom prst="roundRect">
            <a:avLst>
              <a:gd name="adj" fmla="val 4625"/>
            </a:avLst>
          </a:prstGeom>
          <a:solidFill>
            <a:srgbClr val="F6F2E8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46800" y="2198787"/>
            <a:ext cx="49096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SHOW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46800" y="2487662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🎲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3500" y="2530525"/>
            <a:ext cx="1257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rounds + final sprint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46800" y="2811512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3500" y="2854375"/>
            <a:ext cx="21724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 in teams — earn points together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46800" y="3135362"/>
            <a:ext cx="1214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42063" y="3163937"/>
            <a:ext cx="15268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Strict time limits per round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46800" y="3430637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3500" y="3473500"/>
            <a:ext cx="22910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Hands up to answer — teacher confirms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46800" y="3754487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3500" y="3797350"/>
            <a:ext cx="15383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team gets medals!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4600" y="4351288"/>
            <a:ext cx="5257800" cy="657076"/>
          </a:xfrm>
          <a:prstGeom prst="roundRect">
            <a:avLst>
              <a:gd name="adj" fmla="val 11597"/>
            </a:avLst>
          </a:prstGeom>
          <a:solidFill>
            <a:srgbClr val="3A7D8C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53277" y="4478238"/>
            <a:ext cx="50004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R1 Vocab: 150 pts  ·  R2 Translate: 180 pts  ·  R3 Errors: 160 pts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53277" y="4671864"/>
            <a:ext cx="50004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Total possible: 490 points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349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35803" y="1157585"/>
            <a:ext cx="13202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8–20 min · Round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40425" y="1351211"/>
            <a:ext cx="1111151" cy="1111151"/>
          </a:xfrm>
          <a:prstGeom prst="roundRect">
            <a:avLst>
              <a:gd name="adj" fmla="val 82293"/>
            </a:avLst>
          </a:prstGeom>
          <a:solidFill>
            <a:srgbClr val="C8943E">
              <a:alpha val="8000"/>
            </a:srgbClr>
          </a:solidFill>
          <a:ln w="476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98695" y="1632049"/>
            <a:ext cx="194462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72393" y="2038499"/>
            <a:ext cx="447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21893" y="2665512"/>
            <a:ext cx="414821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Vocabulary Lightning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34060" y="3354437"/>
            <a:ext cx="9237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词汇闪电战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26147" y="3830687"/>
            <a:ext cx="1777752" cy="1415802"/>
          </a:xfrm>
          <a:prstGeom prst="roundRect">
            <a:avLst>
              <a:gd name="adj" fmla="val 717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67349" y="4008388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67349" y="4487763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67349" y="4916388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07050" y="3830687"/>
            <a:ext cx="1777752" cy="1415802"/>
          </a:xfrm>
          <a:prstGeom prst="roundRect">
            <a:avLst>
              <a:gd name="adj" fmla="val 717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48251" y="4008388"/>
            <a:ext cx="12953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⏲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48251" y="4497288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48251" y="4925913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87952" y="3830687"/>
            <a:ext cx="1777752" cy="1415802"/>
          </a:xfrm>
          <a:prstGeom prst="roundRect">
            <a:avLst>
              <a:gd name="adj" fmla="val 717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29153" y="4008388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29153" y="4487763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29153" y="4916388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Max Points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70424" y="5449639"/>
            <a:ext cx="4451152" cy="403027"/>
          </a:xfrm>
          <a:prstGeom prst="roundRect">
            <a:avLst>
              <a:gd name="adj" fmla="val 3148002"/>
            </a:avLst>
          </a:prstGeom>
          <a:solidFill>
            <a:srgbClr val="3A7D8C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36809" y="5551140"/>
            <a:ext cx="3918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Format: 汉字 → 拼音 → 英文  |  Match test question style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3885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Vocabulary Lightning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2230487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8–20 min · Round 1 · 10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2424113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Vocabulary Lightning · 词汇闪电战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2763738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1–8 · 汉字 → 拼音 → 英文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3078063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3747" y="3128814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0261" y="32304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27350" y="3078063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02985" y="3128814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29661" y="32304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46750" y="3078063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22380" y="3128814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249061" y="32304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刻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6150" y="3078063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041774" y="3128814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068461" y="32304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950" y="3844826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3583" y="3895576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02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27350" y="3844826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02973" y="3895576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296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46750" y="3844826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22425" y="3895576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490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966150" y="3844826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041776" y="3895576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0684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表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96189" y="4637038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1–8 of 15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9136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Vocabulary Lightning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519386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8–20 min · Round 1 · 10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713012"/>
            <a:ext cx="32185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Vocabulary Lightning · Answers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64905" y="1773436"/>
            <a:ext cx="473720" cy="193477"/>
          </a:xfrm>
          <a:prstGeom prst="roundRect">
            <a:avLst>
              <a:gd name="adj" fmla="val 6557524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91855" y="1798737"/>
            <a:ext cx="224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052637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1–8 · 汉字 → 拼音 → 英文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366963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3747" y="2417713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10261" y="25193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0261" y="2879824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0261" y="3041749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diǎn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0261" y="3248025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0261" y="3409950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o'clock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7350" y="2366963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02985" y="2417713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661" y="25193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29661" y="2879824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661" y="3041749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661" y="3248025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661" y="3409950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46750" y="2366963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22380" y="2417713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49061" y="25193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刻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49061" y="2879824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9061" y="3041749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49061" y="3248025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49061" y="3409950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quarter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66150" y="2366963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041774" y="2417713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068461" y="25193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现在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068461" y="2879824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68461" y="3041749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xiànzài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68461" y="3248025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68461" y="3409950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950" y="3844826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3583" y="3895576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02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10261" y="43576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0261" y="45196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0261" y="47258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0261" y="48878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/ minutes short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27350" y="3844826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402973" y="3895576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4296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429661" y="43576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29661" y="45196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liǎng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429661" y="47258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429661" y="48878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(before 点)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46750" y="3844826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222425" y="3895576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490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249061" y="43576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49061" y="45196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líng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49061" y="47258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49061" y="48878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zero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966150" y="3844826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041776" y="3895576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0684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表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9068461" y="43576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068461" y="45196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biǎo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068461" y="47258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068461" y="48878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96189" y="5348139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1–8 of 15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3885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Vocabulary Lightning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2230487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8–20 min · Round 1 · 10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2424113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Vocabulary Lightning · 词汇闪电战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2763738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9–15 · 汉字 → 拼音 → 英文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3078063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3573" y="3128814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0261" y="32304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27350" y="3078063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02570" y="3128814"/>
            <a:ext cx="100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29661" y="32304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46750" y="3078063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22145" y="3128814"/>
            <a:ext cx="821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249061" y="32304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一刻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6150" y="3078063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041383" y="3128814"/>
            <a:ext cx="986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068461" y="32304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950" y="3844826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3179" y="3895576"/>
            <a:ext cx="991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02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27350" y="3844826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02573" y="3895576"/>
            <a:ext cx="997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296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五分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46750" y="3844826"/>
            <a:ext cx="2717899" cy="665262"/>
          </a:xfrm>
          <a:prstGeom prst="roundRect">
            <a:avLst>
              <a:gd name="adj" fmla="val 114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21980" y="3895576"/>
            <a:ext cx="989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490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966150" y="3844826"/>
            <a:ext cx="2717899" cy="665262"/>
          </a:xfrm>
          <a:prstGeom prst="roundRect">
            <a:avLst>
              <a:gd name="adj" fmla="val 11454"/>
            </a:avLst>
          </a:prstGeom>
          <a:noFill/>
          <a:ln w="9525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96189" y="4637038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9–15 of 15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9136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Vocabulary Lightning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519386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8–20 min · Round 1 · 10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713012"/>
            <a:ext cx="32185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Vocabulary Lightning · Answers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64905" y="1773436"/>
            <a:ext cx="473720" cy="193477"/>
          </a:xfrm>
          <a:prstGeom prst="roundRect">
            <a:avLst>
              <a:gd name="adj" fmla="val 6557524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91855" y="1798737"/>
            <a:ext cx="224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052637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9–15 · 汉字 → 拼音 → 英文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366963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3573" y="2417713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10261" y="25193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0261" y="2879824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0261" y="3041749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0261" y="3248025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0261" y="3409950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7350" y="2366963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02570" y="2417713"/>
            <a:ext cx="100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661" y="25193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三刻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29661" y="2879824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661" y="3041749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 kè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661" y="3248025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661" y="3409950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:45 (three quarters)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46750" y="2366963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22145" y="2417713"/>
            <a:ext cx="821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49061" y="25193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一刻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49061" y="2879824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9061" y="3041749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kè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49061" y="3248025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49061" y="3409950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:15 (one quarter)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66150" y="2366963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041383" y="2417713"/>
            <a:ext cx="986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068461" y="2519363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068461" y="2879824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68461" y="3041749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bàn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68461" y="3248025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68461" y="3409950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half past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950" y="3844826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3179" y="3895576"/>
            <a:ext cx="991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02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10261" y="43576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0261" y="45196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liǎng diǎn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0261" y="47258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0261" y="48878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o'clock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27350" y="3844826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402573" y="3895576"/>
            <a:ext cx="997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4296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五分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429661" y="43576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29661" y="45196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 fēn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429661" y="47258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429661" y="48878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five minutes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46750" y="3844826"/>
            <a:ext cx="2717899" cy="1376363"/>
          </a:xfrm>
          <a:prstGeom prst="roundRect">
            <a:avLst>
              <a:gd name="adj" fmla="val 55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221980" y="3895576"/>
            <a:ext cx="989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49061" y="3997226"/>
            <a:ext cx="2513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249061" y="43576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49061" y="45196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jǐ diǎn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49061" y="4725888"/>
            <a:ext cx="2513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D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49061" y="4887813"/>
            <a:ext cx="2513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time?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966150" y="3844826"/>
            <a:ext cx="2717899" cy="1376363"/>
          </a:xfrm>
          <a:prstGeom prst="roundRect">
            <a:avLst>
              <a:gd name="adj" fmla="val 5536"/>
            </a:avLst>
          </a:prstGeom>
          <a:noFill/>
          <a:ln w="9525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96189" y="5348139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9–15 of 15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3672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85858" y="1192411"/>
            <a:ext cx="1420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Round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40425" y="1386036"/>
            <a:ext cx="1111151" cy="1111151"/>
          </a:xfrm>
          <a:prstGeom prst="roundRect">
            <a:avLst>
              <a:gd name="adj" fmla="val 82293"/>
            </a:avLst>
          </a:prstGeom>
          <a:solidFill>
            <a:srgbClr val="3A7D8C">
              <a:alpha val="8000"/>
            </a:srgbClr>
          </a:solidFill>
          <a:ln w="476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98695" y="1666875"/>
            <a:ext cx="194462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72393" y="2073325"/>
            <a:ext cx="447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10468" y="2700338"/>
            <a:ext cx="437106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Translation Showdown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726507" y="3389263"/>
            <a:ext cx="7389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翻译对决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26147" y="3865513"/>
            <a:ext cx="1777752" cy="1415802"/>
          </a:xfrm>
          <a:prstGeom prst="roundRect">
            <a:avLst>
              <a:gd name="adj" fmla="val 717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67349" y="4043214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67349" y="4522589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67349" y="495121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07050" y="3865513"/>
            <a:ext cx="1777752" cy="1415802"/>
          </a:xfrm>
          <a:prstGeom prst="roundRect">
            <a:avLst>
              <a:gd name="adj" fmla="val 717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48251" y="4043214"/>
            <a:ext cx="12953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⏲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48251" y="4532114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48251" y="496073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87952" y="3865513"/>
            <a:ext cx="1777752" cy="1415802"/>
          </a:xfrm>
          <a:prstGeom prst="roundRect">
            <a:avLst>
              <a:gd name="adj" fmla="val 717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29153" y="4043214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29153" y="4522589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29153" y="495121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Max Points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68912" y="5484465"/>
            <a:ext cx="1150888" cy="333375"/>
          </a:xfrm>
          <a:prstGeom prst="roundRect">
            <a:avLst>
              <a:gd name="adj" fmla="val 3805714"/>
            </a:avLst>
          </a:prstGeom>
          <a:solidFill>
            <a:srgbClr val="3A7D8C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90575" y="5560665"/>
            <a:ext cx="7075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5484465"/>
            <a:ext cx="1150888" cy="333375"/>
          </a:xfrm>
          <a:prstGeom prst="roundRect">
            <a:avLst>
              <a:gd name="adj" fmla="val 3805714"/>
            </a:avLst>
          </a:prstGeom>
          <a:solidFill>
            <a:srgbClr val="D475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93863" y="5560665"/>
            <a:ext cx="7075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4726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Translation Showdown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2212777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Round 2 · 15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2406402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Translation Showdown · 翻译对决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2746028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1–6 · Translate between English and Chinese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3060353"/>
            <a:ext cx="3640634" cy="670173"/>
          </a:xfrm>
          <a:prstGeom prst="roundRect">
            <a:avLst>
              <a:gd name="adj" fmla="val 113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3747" y="3111103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6992" y="3238054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55549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275534" y="3060353"/>
            <a:ext cx="3640782" cy="670173"/>
          </a:xfrm>
          <a:prstGeom prst="roundRect">
            <a:avLst>
              <a:gd name="adj" fmla="val 113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51169" y="3111103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394575" y="3238054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23281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3267" y="3060353"/>
            <a:ext cx="3640634" cy="670173"/>
          </a:xfrm>
          <a:prstGeom prst="roundRect">
            <a:avLst>
              <a:gd name="adj" fmla="val 113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18897" y="3111103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162309" y="3238054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差十分七点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90865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7950" y="3857476"/>
            <a:ext cx="3640634" cy="670173"/>
          </a:xfrm>
          <a:prstGeom prst="roundRect">
            <a:avLst>
              <a:gd name="adj" fmla="val 113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3574" y="3908227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26992" y="4035177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9:15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55549" y="4353074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5534" y="3857476"/>
            <a:ext cx="3640782" cy="670173"/>
          </a:xfrm>
          <a:prstGeom prst="roundRect">
            <a:avLst>
              <a:gd name="adj" fmla="val 113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51167" y="3908227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94575" y="4035177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23281" y="4353074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043267" y="3857476"/>
            <a:ext cx="3640634" cy="670173"/>
          </a:xfrm>
          <a:prstGeom prst="roundRect">
            <a:avLst>
              <a:gd name="adj" fmla="val 113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18890" y="3908227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162309" y="4035177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五点零五分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90865" y="4353074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96189" y="4654600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1–6 of 12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997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Translation Showdown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675805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Round 2 · 15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869430"/>
            <a:ext cx="33299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Translation Showdown · Answers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74145" y="1929854"/>
            <a:ext cx="473720" cy="193477"/>
          </a:xfrm>
          <a:prstGeom prst="roundRect">
            <a:avLst>
              <a:gd name="adj" fmla="val 655752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1095" y="1955155"/>
            <a:ext cx="224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209056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1–6 · Translate between English and Chinese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523381"/>
            <a:ext cx="3640634" cy="1207145"/>
          </a:xfrm>
          <a:prstGeom prst="roundRect">
            <a:avLst>
              <a:gd name="adj" fmla="val 63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3747" y="2574131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6992" y="2701082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992" y="2999482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992" y="3272433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55549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75534" y="2523381"/>
            <a:ext cx="3640782" cy="1207145"/>
          </a:xfrm>
          <a:prstGeom prst="roundRect">
            <a:avLst>
              <a:gd name="adj" fmla="val 63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51169" y="2574131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394575" y="2701082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94575" y="2999482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94575" y="3272433"/>
            <a:ext cx="340270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23281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043267" y="2523381"/>
            <a:ext cx="3640634" cy="1207145"/>
          </a:xfrm>
          <a:prstGeom prst="roundRect">
            <a:avLst>
              <a:gd name="adj" fmla="val 63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18897" y="2574131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162309" y="2701082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差十分七点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62309" y="3015853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62309" y="3288804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6:50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90865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7950" y="3857476"/>
            <a:ext cx="3640634" cy="1207145"/>
          </a:xfrm>
          <a:prstGeom prst="roundRect">
            <a:avLst>
              <a:gd name="adj" fmla="val 63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3574" y="3908227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6992" y="4035177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9:15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6992" y="4333577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992" y="4606528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九点一刻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55549" y="4890046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275534" y="3857476"/>
            <a:ext cx="3640782" cy="1207145"/>
          </a:xfrm>
          <a:prstGeom prst="roundRect">
            <a:avLst>
              <a:gd name="adj" fmla="val 63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51167" y="3908227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394575" y="4035177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394575" y="4333577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394575" y="4606528"/>
            <a:ext cx="340270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六点三刻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23281" y="4890046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43267" y="3857476"/>
            <a:ext cx="3640634" cy="1207145"/>
          </a:xfrm>
          <a:prstGeom prst="roundRect">
            <a:avLst>
              <a:gd name="adj" fmla="val 63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118890" y="3908227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162309" y="4035177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五点零五分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62309" y="4349948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162309" y="4622899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5:05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90865" y="4890046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96189" y="519157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1–6 of 12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4726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Translation Showdown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2086273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Round 2 · 15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2279898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Translation Showdown · 翻译对决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2619524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7–12 · Translate between English and Chinese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933849"/>
            <a:ext cx="3640634" cy="796677"/>
          </a:xfrm>
          <a:prstGeom prst="roundRect">
            <a:avLst>
              <a:gd name="adj" fmla="val 956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3625" y="2984599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6992" y="3111550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992" y="3409950"/>
            <a:ext cx="3402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(using 差)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55549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75534" y="2933849"/>
            <a:ext cx="3640782" cy="796677"/>
          </a:xfrm>
          <a:prstGeom prst="roundRect">
            <a:avLst>
              <a:gd name="adj" fmla="val 956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51160" y="2984599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394575" y="3111550"/>
            <a:ext cx="340270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23281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043267" y="2933849"/>
            <a:ext cx="3640634" cy="796677"/>
          </a:xfrm>
          <a:prstGeom prst="roundRect">
            <a:avLst>
              <a:gd name="adj" fmla="val 956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18890" y="2984599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162309" y="3111550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3:40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62309" y="3409950"/>
            <a:ext cx="3402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(using 差)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90865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07950" y="3857476"/>
            <a:ext cx="3640634" cy="796677"/>
          </a:xfrm>
          <a:prstGeom prst="roundRect">
            <a:avLst>
              <a:gd name="adj" fmla="val 956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3170" y="3908227"/>
            <a:ext cx="100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6992" y="4035177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一点一刻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55549" y="4479578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75534" y="3857476"/>
            <a:ext cx="3640782" cy="796677"/>
          </a:xfrm>
          <a:prstGeom prst="roundRect">
            <a:avLst>
              <a:gd name="adj" fmla="val 956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50929" y="3908227"/>
            <a:ext cx="821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394575" y="4035177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11:50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394575" y="4333577"/>
            <a:ext cx="34027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(best way)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23281" y="4479578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043267" y="3857476"/>
            <a:ext cx="3640634" cy="796677"/>
          </a:xfrm>
          <a:prstGeom prst="roundRect">
            <a:avLst>
              <a:gd name="adj" fmla="val 956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118500" y="3908227"/>
            <a:ext cx="986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162309" y="4035177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差五分两点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90865" y="4479578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96189" y="4781104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7–12 of 12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997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Translation Showdown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54930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Round 2 · 15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742926"/>
            <a:ext cx="33299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Translation Showdown · Answers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74145" y="1803350"/>
            <a:ext cx="473720" cy="193477"/>
          </a:xfrm>
          <a:prstGeom prst="roundRect">
            <a:avLst>
              <a:gd name="adj" fmla="val 655752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1095" y="1828651"/>
            <a:ext cx="224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082552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7–12 · Translate between English and Chinese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396877"/>
            <a:ext cx="3640634" cy="1333649"/>
          </a:xfrm>
          <a:prstGeom prst="roundRect">
            <a:avLst>
              <a:gd name="adj" fmla="val 5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3625" y="2447627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6992" y="2574578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992" y="2872978"/>
            <a:ext cx="3402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(using 差)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6992" y="3015853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992" y="3288804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差五分八点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55549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75534" y="2396877"/>
            <a:ext cx="3640782" cy="1333649"/>
          </a:xfrm>
          <a:prstGeom prst="roundRect">
            <a:avLst>
              <a:gd name="adj" fmla="val 5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51160" y="2447627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94575" y="2574578"/>
            <a:ext cx="340270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94575" y="2889349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94575" y="3162300"/>
            <a:ext cx="340270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12:30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23281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043267" y="2396877"/>
            <a:ext cx="3640634" cy="1333649"/>
          </a:xfrm>
          <a:prstGeom prst="roundRect">
            <a:avLst>
              <a:gd name="adj" fmla="val 5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18890" y="2447627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162309" y="2574578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3:40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62309" y="2872978"/>
            <a:ext cx="3402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(using 差)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162309" y="3015853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62309" y="3288804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差二十分四点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90865" y="35559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07950" y="3857476"/>
            <a:ext cx="3640634" cy="1333649"/>
          </a:xfrm>
          <a:prstGeom prst="roundRect">
            <a:avLst>
              <a:gd name="adj" fmla="val 5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3170" y="3908227"/>
            <a:ext cx="100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6992" y="4035177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一点一刻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6992" y="4349948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6992" y="4622899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1:15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555549" y="50165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275534" y="3857476"/>
            <a:ext cx="3640782" cy="1333649"/>
          </a:xfrm>
          <a:prstGeom prst="roundRect">
            <a:avLst>
              <a:gd name="adj" fmla="val 5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50929" y="3908227"/>
            <a:ext cx="821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394575" y="4035177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11:50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394575" y="4333577"/>
            <a:ext cx="34027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(best way)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94575" y="4476452"/>
            <a:ext cx="3402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394575" y="4749403"/>
            <a:ext cx="340270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差十分十二点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23281" y="50165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043267" y="3857476"/>
            <a:ext cx="3640634" cy="1333649"/>
          </a:xfrm>
          <a:prstGeom prst="roundRect">
            <a:avLst>
              <a:gd name="adj" fmla="val 5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118500" y="3908227"/>
            <a:ext cx="986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162309" y="4035177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差五分两点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62309" y="4349948"/>
            <a:ext cx="340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162309" y="4622899"/>
            <a:ext cx="34025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1:55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90865" y="5016550"/>
            <a:ext cx="4964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96189" y="5318075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7–12 of 12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3670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85554" y="1001911"/>
            <a:ext cx="14208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30–38 min · Round 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40425" y="1195536"/>
            <a:ext cx="1111151" cy="1111151"/>
          </a:xfrm>
          <a:prstGeom prst="roundRect">
            <a:avLst>
              <a:gd name="adj" fmla="val 82293"/>
            </a:avLst>
          </a:prstGeom>
          <a:solidFill>
            <a:srgbClr val="D4756B">
              <a:alpha val="8000"/>
            </a:srgbClr>
          </a:solidFill>
          <a:ln w="476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98695" y="1476375"/>
            <a:ext cx="194462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72393" y="1882825"/>
            <a:ext cx="447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10518" y="2509838"/>
            <a:ext cx="257096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Error Bounty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726507" y="3198763"/>
            <a:ext cx="7389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错误悬赏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26147" y="3675013"/>
            <a:ext cx="1777752" cy="1415802"/>
          </a:xfrm>
          <a:prstGeom prst="roundRect">
            <a:avLst>
              <a:gd name="adj" fmla="val 717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67349" y="3852714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67349" y="4332089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67349" y="476071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07050" y="3675013"/>
            <a:ext cx="1777752" cy="1415802"/>
          </a:xfrm>
          <a:prstGeom prst="roundRect">
            <a:avLst>
              <a:gd name="adj" fmla="val 717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48251" y="3852714"/>
            <a:ext cx="12953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⏲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48251" y="4341614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48251" y="477023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87952" y="3675013"/>
            <a:ext cx="1777752" cy="1415802"/>
          </a:xfrm>
          <a:prstGeom prst="roundRect">
            <a:avLst>
              <a:gd name="adj" fmla="val 717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29153" y="3852714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29153" y="4332089"/>
            <a:ext cx="1295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29153" y="476071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Max Points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78188" y="5293965"/>
            <a:ext cx="4035623" cy="714375"/>
          </a:xfrm>
          <a:prstGeom prst="roundRect">
            <a:avLst>
              <a:gd name="adj" fmla="val 14222"/>
            </a:avLst>
          </a:prstGeom>
          <a:solidFill>
            <a:srgbClr val="D475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00493" y="5446365"/>
            <a:ext cx="33910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Spot the error + ✅ Write the correction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0493" y="5694015"/>
            <a:ext cx="33910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 pts each — some items are already correct!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036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Error Bounty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029569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30–38 min · Round 3 · 20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223195"/>
            <a:ext cx="115031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Error Bounty · 错误悬赏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34245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Spot the mistake &amp; write the correct form — some are already right!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23121"/>
            <a:ext cx="2743200" cy="905917"/>
          </a:xfrm>
          <a:prstGeom prst="roundRect">
            <a:avLst>
              <a:gd name="adj" fmla="val 84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2997" y="2873871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3299" y="2950071"/>
            <a:ext cx="25910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二点十分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9374" y="3313361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14718" y="3338661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01901" y="2823121"/>
            <a:ext cx="2743349" cy="905917"/>
          </a:xfrm>
          <a:prstGeom prst="roundRect">
            <a:avLst>
              <a:gd name="adj" fmla="val 84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77535" y="2873871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77998" y="2950071"/>
            <a:ext cx="2591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四点三十分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04395" y="3313361"/>
            <a:ext cx="938361" cy="212527"/>
          </a:xfrm>
          <a:prstGeom prst="roundRect">
            <a:avLst>
              <a:gd name="adj" fmla="val 596973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98542" y="3338661"/>
            <a:ext cx="750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CORRECT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46750" y="2823121"/>
            <a:ext cx="2743200" cy="905917"/>
          </a:xfrm>
          <a:prstGeom prst="roundRect">
            <a:avLst>
              <a:gd name="adj" fmla="val 84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2380" y="2873871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22849" y="2950071"/>
            <a:ext cx="25910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三点五分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08924" y="3313361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04268" y="3338661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91451" y="2823121"/>
            <a:ext cx="2743349" cy="905917"/>
          </a:xfrm>
          <a:prstGeom prst="roundRect">
            <a:avLst>
              <a:gd name="adj" fmla="val 84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067075" y="2873871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067548" y="2950071"/>
            <a:ext cx="2591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七差十分点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53774" y="3313361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049118" y="3338661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3830538"/>
            <a:ext cx="2743200" cy="905917"/>
          </a:xfrm>
          <a:prstGeom prst="roundRect">
            <a:avLst>
              <a:gd name="adj" fmla="val 84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2833" y="3881289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33299" y="3957489"/>
            <a:ext cx="25910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六点十五分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59545" y="4320778"/>
            <a:ext cx="938361" cy="212527"/>
          </a:xfrm>
          <a:prstGeom prst="roundRect">
            <a:avLst>
              <a:gd name="adj" fmla="val 596973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453692" y="4346079"/>
            <a:ext cx="750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CORRECT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01901" y="3830538"/>
            <a:ext cx="2743349" cy="905917"/>
          </a:xfrm>
          <a:prstGeom prst="roundRect">
            <a:avLst>
              <a:gd name="adj" fmla="val 84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77523" y="3881289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77998" y="3957489"/>
            <a:ext cx="2591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差十分二点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264223" y="4320778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59567" y="4346079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46750" y="3830538"/>
            <a:ext cx="2743200" cy="905917"/>
          </a:xfrm>
          <a:prstGeom prst="roundRect">
            <a:avLst>
              <a:gd name="adj" fmla="val 84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222425" y="3881289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22849" y="3957489"/>
            <a:ext cx="25910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九点三刻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49095" y="4320778"/>
            <a:ext cx="938361" cy="212527"/>
          </a:xfrm>
          <a:prstGeom prst="roundRect">
            <a:avLst>
              <a:gd name="adj" fmla="val 596973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143242" y="4346079"/>
            <a:ext cx="750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CORRECT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991451" y="3830538"/>
            <a:ext cx="2743349" cy="905917"/>
          </a:xfrm>
          <a:prstGeom prst="roundRect">
            <a:avLst>
              <a:gd name="adj" fmla="val 84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067077" y="3881289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9067548" y="3957489"/>
            <a:ext cx="2591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十二点六十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953774" y="4320778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049118" y="4346079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44424" y="4837956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items · 3 correct · 5 wrong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15619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Error Bounty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626394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30–38 min · Round 3 · 20 pts each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820019"/>
            <a:ext cx="21595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Error Bounty · Answers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75930" y="1866156"/>
            <a:ext cx="473720" cy="193477"/>
          </a:xfrm>
          <a:prstGeom prst="roundRect">
            <a:avLst>
              <a:gd name="adj" fmla="val 6557524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2880" y="1891457"/>
            <a:ext cx="224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131070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Spot the mistake &amp; write the correct form — here are the verdicts!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19945"/>
            <a:ext cx="2743200" cy="128364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2997" y="2470696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33299" y="2546896"/>
            <a:ext cx="25910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二点十分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9374" y="2910185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14718" y="2935486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3299" y="3198912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两点十分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3299" y="3452813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 → 两 before 点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01901" y="2419945"/>
            <a:ext cx="2743349" cy="128364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77535" y="2470696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77998" y="2546896"/>
            <a:ext cx="2591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四点三十分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04395" y="2910185"/>
            <a:ext cx="938361" cy="212527"/>
          </a:xfrm>
          <a:prstGeom prst="roundRect">
            <a:avLst>
              <a:gd name="adj" fmla="val 596973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98542" y="2935486"/>
            <a:ext cx="750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CORRECT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77998" y="3198912"/>
            <a:ext cx="2591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四点三十分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77998" y="3452813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error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46750" y="2419945"/>
            <a:ext cx="2743200" cy="128364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22380" y="2470696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22849" y="2546896"/>
            <a:ext cx="25910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三点五分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08924" y="2910185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04268" y="2935486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22849" y="3198912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三点零五分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22849" y="3452813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 零 for single-digit min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991451" y="2419945"/>
            <a:ext cx="2743349" cy="128364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067075" y="2470696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067548" y="2546896"/>
            <a:ext cx="2591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七差十分点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953774" y="2910185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049118" y="2935486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067548" y="3198912"/>
            <a:ext cx="2591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差十分七点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067548" y="3452813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order: 差 X 分 Y 点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7200" y="3805089"/>
            <a:ext cx="2743200" cy="128364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2833" y="3855839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33299" y="3932039"/>
            <a:ext cx="25910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六点十五分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59545" y="4295329"/>
            <a:ext cx="938361" cy="212527"/>
          </a:xfrm>
          <a:prstGeom prst="roundRect">
            <a:avLst>
              <a:gd name="adj" fmla="val 596973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453692" y="4320629"/>
            <a:ext cx="750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CORRECT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3299" y="4584055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六点十五分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33299" y="4837956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error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301901" y="3805089"/>
            <a:ext cx="2743349" cy="128364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77523" y="3855839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377998" y="3932039"/>
            <a:ext cx="2591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差十分二点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264223" y="4295329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359567" y="4320629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77998" y="4584055"/>
            <a:ext cx="2591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差十分两点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3377998" y="4837956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 → 两 before 点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146750" y="3805089"/>
            <a:ext cx="2743200" cy="128364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222425" y="3855839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22849" y="3932039"/>
            <a:ext cx="25910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九点三刻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049095" y="4295329"/>
            <a:ext cx="938361" cy="212527"/>
          </a:xfrm>
          <a:prstGeom prst="roundRect">
            <a:avLst>
              <a:gd name="adj" fmla="val 596973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143242" y="4320629"/>
            <a:ext cx="750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CORRECT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22849" y="4584055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九点三刻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6222849" y="4837956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error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991451" y="3805089"/>
            <a:ext cx="2743349" cy="128364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067077" y="3855839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067548" y="3932039"/>
            <a:ext cx="2591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十二点六十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953774" y="4295329"/>
            <a:ext cx="818704" cy="212527"/>
          </a:xfrm>
          <a:prstGeom prst="roundRect">
            <a:avLst>
              <a:gd name="adj" fmla="val 5969736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0049118" y="4320629"/>
            <a:ext cx="628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WRONG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067548" y="4584055"/>
            <a:ext cx="2591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 / 十三点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9067548" y="4837956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60分 = 1 hour, rolls over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44424" y="5240982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items · 3 correct · 5 wrong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5029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Sprint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94164" y="1308497"/>
            <a:ext cx="24035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38–42 min · Individual · Diagnostic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40425" y="1502122"/>
            <a:ext cx="1111151" cy="1111151"/>
          </a:xfrm>
          <a:prstGeom prst="roundRect">
            <a:avLst>
              <a:gd name="adj" fmla="val 82293"/>
            </a:avLst>
          </a:prstGeom>
          <a:solidFill>
            <a:srgbClr val="1E2A38"/>
          </a:solidFill>
          <a:ln w="476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98273" y="1817936"/>
            <a:ext cx="79530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47951" y="2173486"/>
            <a:ext cx="496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>
                    <a:alpha val="6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21139" y="2816423"/>
            <a:ext cx="334972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3-Question Test Sprint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6862" y="3371999"/>
            <a:ext cx="44982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challenge — individual mode, silent, collected as diagnostic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9646" y="3775174"/>
            <a:ext cx="1056977" cy="400050"/>
          </a:xfrm>
          <a:prstGeom prst="roundRect">
            <a:avLst>
              <a:gd name="adj" fmla="val 317142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75721" y="3870424"/>
            <a:ext cx="6248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🔈 Silent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43574" y="3775174"/>
            <a:ext cx="1324273" cy="400050"/>
          </a:xfrm>
          <a:prstGeom prst="roundRect">
            <a:avLst>
              <a:gd name="adj" fmla="val 317142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56976" y="3870424"/>
            <a:ext cx="8974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Individual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94797" y="3775174"/>
            <a:ext cx="1315492" cy="400050"/>
          </a:xfrm>
          <a:prstGeom prst="roundRect">
            <a:avLst>
              <a:gd name="adj" fmla="val 317142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08286" y="3870424"/>
            <a:ext cx="8885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📋 Collected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37239" y="3775174"/>
            <a:ext cx="1395115" cy="400050"/>
          </a:xfrm>
          <a:prstGeom prst="roundRect">
            <a:avLst>
              <a:gd name="adj" fmla="val 317142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49932" y="3870424"/>
            <a:ext cx="9697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Diagnostic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21919" y="4378375"/>
            <a:ext cx="4348163" cy="1323529"/>
          </a:xfrm>
          <a:prstGeom prst="roundRect">
            <a:avLst>
              <a:gd name="adj" fmla="val 7676"/>
            </a:avLst>
          </a:prstGeom>
          <a:solidFill>
            <a:srgbClr val="F6F2E8"/>
          </a:solidFill>
          <a:ln w="19050">
            <a:solidFill>
              <a:srgbClr val="D4CD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12295" y="4575125"/>
            <a:ext cx="3567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TEST-STYLE QUESTIONS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60727" y="479420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8698" y="4824264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719" y="4795689"/>
            <a:ext cx="2209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Vocabulary: 汉字 → 拼音 → 英文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47270" y="504810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15829" y="5078164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19993" y="5049589"/>
            <a:ext cx="3256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English → Chinese (time expression)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54054" y="530200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22460" y="5332065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40915" y="5303490"/>
            <a:ext cx="18146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Spot the error &amp; correct 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8174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Show Finale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06235" y="1738313"/>
            <a:ext cx="1979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42–46 min · Award Ceremony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25761" y="1931938"/>
            <a:ext cx="454047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Medal Ceremony · 颁奖典礼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82087" y="2487513"/>
            <a:ext cx="3627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Congratulations to all teams for an incredible effort!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87688" y="3144589"/>
            <a:ext cx="5149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🥈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82831" y="3858964"/>
            <a:ext cx="5244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3245" y="4090690"/>
            <a:ext cx="10436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Almost There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3245" y="4303961"/>
            <a:ext cx="10436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差一点就满分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6198" y="4583162"/>
            <a:ext cx="1777901" cy="304800"/>
          </a:xfrm>
          <a:prstGeom prst="roundRect">
            <a:avLst>
              <a:gd name="adj" fmla="val 25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38390" y="2941439"/>
            <a:ext cx="5149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🥇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888182" y="3655814"/>
            <a:ext cx="4153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9841" y="3887539"/>
            <a:ext cx="18521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Test-Ready Champions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9841" y="4100810"/>
            <a:ext cx="185216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考试达人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06901" y="4380012"/>
            <a:ext cx="1777901" cy="507950"/>
          </a:xfrm>
          <a:prstGeom prst="roundRect">
            <a:avLst>
              <a:gd name="adj" fmla="val 1500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89242" y="3246239"/>
            <a:ext cx="5149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🥉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841424" y="3960614"/>
            <a:ext cx="6105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BRONZE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83316" y="4192339"/>
            <a:ext cx="13267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Solid Foundation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83316" y="4405610"/>
            <a:ext cx="132677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基础扎实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57752" y="4684812"/>
            <a:ext cx="1777901" cy="203150"/>
          </a:xfrm>
          <a:prstGeom prst="roundRect">
            <a:avLst>
              <a:gd name="adj" fmla="val 3750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22275" y="5091113"/>
            <a:ext cx="37474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team scores: TBA  ·  Top scorer bonus: +10 pts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71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BEAT THE TEST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0676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0912" y="166688"/>
            <a:ext cx="3236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767036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46–50 min · Plenary + Self-Assessment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960662"/>
            <a:ext cx="111922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 · 复习反思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2465487"/>
            <a:ext cx="111922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09600" y="270837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9201" y="2640062"/>
            <a:ext cx="3743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translate any time between English and Chinese.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90839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9201" y="2840087"/>
            <a:ext cx="3079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identify and correct common mistakes.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" y="310842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9201" y="3040112"/>
            <a:ext cx="3212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feel confident and ready for the Unit 4.1 test.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3392537"/>
            <a:ext cx="5365700" cy="1146125"/>
          </a:xfrm>
          <a:prstGeom prst="roundRect">
            <a:avLst>
              <a:gd name="adj" fmla="val 886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2750" y="3544937"/>
            <a:ext cx="5058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2750" y="3786188"/>
            <a:ext cx="505858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your paper, write down </a:t>
            </a: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thing you're most confident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for the test, and </a:t>
            </a: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thing you want to review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more time before test day.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8451" y="3392537"/>
            <a:ext cx="5403949" cy="1146125"/>
          </a:xfrm>
          <a:prstGeom prst="roundRect">
            <a:avLst>
              <a:gd name="adj" fmla="val 8865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651" y="3637955"/>
            <a:ext cx="50587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📋 Diagnostic Collected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00651" y="3866555"/>
            <a:ext cx="505873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3-Question Sprint will be marked and returned next lesson with personalised feedback.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4665613"/>
            <a:ext cx="18814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☝ 1 finger = Need more practice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82776" y="4665613"/>
            <a:ext cx="15947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✌ 2 fingers = Getting there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74815" y="4665613"/>
            <a:ext cx="1516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 3 fingers = Test-ready!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9872" y="4957614"/>
            <a:ext cx="111922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🎉 Good luck on the test — 加油！🎉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2026-06-29T00:19:51Z</dcterms:created>
  <dcterms:modified xsi:type="dcterms:W3CDTF">2026-06-29T00:19:51Z</dcterms:modified>
</cp:coreProperties>
</file>