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22850" y="1608534"/>
            <a:ext cx="1346150" cy="1346150"/>
          </a:xfrm>
          <a:prstGeom prst="roundRect">
            <a:avLst>
              <a:gd name="adj" fmla="val 67927"/>
            </a:avLst>
          </a:prstGeom>
          <a:solidFill>
            <a:srgbClr val="C8943E">
              <a:alpha val="8000"/>
            </a:srgbClr>
          </a:solidFill>
          <a:ln w="3810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38390" y="1924496"/>
            <a:ext cx="514922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0"/>
              </a:spcBef>
              <a:spcAft>
                <a:spcPts val="4000"/>
              </a:spcAft>
              <a:buNone/>
            </a:pPr>
            <a:r>
              <a:rPr lang="en-US" sz="4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764280" y="3157835"/>
            <a:ext cx="466344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8 · Y7 Unit 4.1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764280" y="3440311"/>
            <a:ext cx="4663440" cy="1005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920"/>
              </a:lnSpc>
              <a:buNone/>
            </a:pPr>
            <a:r>
              <a:rPr lang="en-US" sz="72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考试</a:t>
            </a:r>
            <a:pPr algn="ctr" indent="0" marL="0">
              <a:lnSpc>
                <a:spcPts val="7920"/>
              </a:lnSpc>
              <a:buNone/>
            </a:pPr>
            <a:r>
              <a:rPr lang="en-US" sz="7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大</a:t>
            </a:r>
            <a:pPr algn="ctr" indent="0" marL="0">
              <a:lnSpc>
                <a:spcPts val="7920"/>
              </a:lnSpc>
              <a:buNone/>
            </a:pPr>
            <a:r>
              <a:rPr lang="en-US" sz="72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挑战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3764280" y="4496842"/>
            <a:ext cx="466344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Beat the Test · Review &amp; Test Preparation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764280" y="5087392"/>
            <a:ext cx="466344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7 Chinese · 50 mins · Game Show Format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74399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Warm-Up Round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2101900"/>
            <a:ext cx="111922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0–6 min · Team Warm-Up · Not for points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600" y="2295525"/>
            <a:ext cx="1119225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Warm-Up Round · 热身赛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9600" y="2711351"/>
            <a:ext cx="1119225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quick questions — discuss with your team. No points, just warm up!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09600" y="3070027"/>
            <a:ext cx="2092970" cy="1409998"/>
          </a:xfrm>
          <a:prstGeom prst="roundRect">
            <a:avLst>
              <a:gd name="adj" fmla="val 720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484561" y="3247727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FEFCF7"/>
          </a:solidFill>
          <a:ln w="19050">
            <a:solidFill>
              <a:srgbClr val="D4CDB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626714" y="3328690"/>
            <a:ext cx="5844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18160" y="3692128"/>
            <a:ext cx="1875851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do you say</a:t>
            </a:r>
            <a:endParaRPr lang="en-US" sz="1100" dirty="0"/>
          </a:p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"o'clock" in Chinese?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8160" y="4159448"/>
            <a:ext cx="18758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Answer: 点 (diǎn)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829520" y="3070027"/>
            <a:ext cx="2092970" cy="1409998"/>
          </a:xfrm>
          <a:prstGeom prst="roundRect">
            <a:avLst>
              <a:gd name="adj" fmla="val 720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704481" y="3247727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FEFCF7"/>
          </a:solidFill>
          <a:ln w="19050">
            <a:solidFill>
              <a:srgbClr val="D4CDB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834793" y="3328690"/>
            <a:ext cx="821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938080" y="3692128"/>
            <a:ext cx="1875851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does</a:t>
            </a:r>
            <a:endParaRPr lang="en-US" sz="1100" dirty="0"/>
          </a:p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半 mean?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938080" y="4159448"/>
            <a:ext cx="18758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Answer: half past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049441" y="3070027"/>
            <a:ext cx="2092970" cy="1409998"/>
          </a:xfrm>
          <a:prstGeom prst="roundRect">
            <a:avLst>
              <a:gd name="adj" fmla="val 720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924401" y="3247727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FEFCF7"/>
          </a:solidFill>
          <a:ln w="19050">
            <a:solidFill>
              <a:srgbClr val="D4CDB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054410" y="3328690"/>
            <a:ext cx="8273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158000" y="3692128"/>
            <a:ext cx="1875851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do you say</a:t>
            </a:r>
            <a:endParaRPr lang="en-US" sz="1100" dirty="0"/>
          </a:p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3:00?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158000" y="4159448"/>
            <a:ext cx="18758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Answer: 三点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269361" y="3070027"/>
            <a:ext cx="2092970" cy="1409998"/>
          </a:xfrm>
          <a:prstGeom prst="roundRect">
            <a:avLst>
              <a:gd name="adj" fmla="val 720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144321" y="3247727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FEFCF7"/>
          </a:solidFill>
          <a:ln w="19050">
            <a:solidFill>
              <a:srgbClr val="D4CDB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8273875" y="3328690"/>
            <a:ext cx="8364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377921" y="3692128"/>
            <a:ext cx="1875851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does</a:t>
            </a:r>
            <a:endParaRPr lang="en-US" sz="1100" dirty="0"/>
          </a:p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mean?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377921" y="4159448"/>
            <a:ext cx="18758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Answer: "to"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9489281" y="3070027"/>
            <a:ext cx="2093119" cy="1409998"/>
          </a:xfrm>
          <a:prstGeom prst="roundRect">
            <a:avLst>
              <a:gd name="adj" fmla="val 720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10364391" y="3247727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FEFCF7"/>
          </a:solidFill>
          <a:ln w="19050">
            <a:solidFill>
              <a:srgbClr val="D4CDB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10494551" y="3328690"/>
            <a:ext cx="8243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9597839" y="3692128"/>
            <a:ext cx="1876002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Translate:</a:t>
            </a:r>
            <a:endParaRPr lang="en-US" sz="1100" dirty="0"/>
          </a:p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现在几点?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597839" y="4159448"/>
            <a:ext cx="187600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Answer: What time?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09600" y="4657725"/>
            <a:ext cx="10972800" cy="76200"/>
          </a:xfrm>
          <a:prstGeom prst="roundRect">
            <a:avLst>
              <a:gd name="adj" fmla="val 1665000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09600" y="4657725"/>
            <a:ext cx="10972800" cy="76200"/>
          </a:xfrm>
          <a:prstGeom prst="roundRect">
            <a:avLst>
              <a:gd name="adj" fmla="val 1665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99872" y="4784675"/>
            <a:ext cx="1119225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 minute timer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126908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Warm-Up Round — Answers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2130475"/>
            <a:ext cx="111922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0–6 min · Team Warm-Up · Not for points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600" y="2324100"/>
            <a:ext cx="3496821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Warm-Up Answers · 热身赛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139357" y="2422624"/>
            <a:ext cx="473720" cy="193477"/>
          </a:xfrm>
          <a:prstGeom prst="roundRect">
            <a:avLst>
              <a:gd name="adj" fmla="val 6557524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266307" y="2447925"/>
            <a:ext cx="2242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09600" y="2739926"/>
            <a:ext cx="1119225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quick questions — check your team's answers!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09600" y="3098602"/>
            <a:ext cx="2092970" cy="1429048"/>
          </a:xfrm>
          <a:prstGeom prst="roundRect">
            <a:avLst>
              <a:gd name="adj" fmla="val 711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484561" y="3276302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FEFCF7"/>
          </a:solidFill>
          <a:ln w="19050">
            <a:solidFill>
              <a:srgbClr val="D4CDB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626714" y="3357265"/>
            <a:ext cx="5844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18160" y="3720703"/>
            <a:ext cx="1875851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do you say</a:t>
            </a:r>
            <a:endParaRPr lang="en-US" sz="1100" dirty="0"/>
          </a:p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"o'clock" in Chinese?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18160" y="4188023"/>
            <a:ext cx="18758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Answer: 点 (diǎn)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829520" y="3098602"/>
            <a:ext cx="2092970" cy="1429048"/>
          </a:xfrm>
          <a:prstGeom prst="roundRect">
            <a:avLst>
              <a:gd name="adj" fmla="val 711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704481" y="3276302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FEFCF7"/>
          </a:solidFill>
          <a:ln w="19050">
            <a:solidFill>
              <a:srgbClr val="D4CDB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834793" y="3357265"/>
            <a:ext cx="821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38080" y="3720703"/>
            <a:ext cx="1875851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does</a:t>
            </a:r>
            <a:endParaRPr lang="en-US" sz="1100" dirty="0"/>
          </a:p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半 mean?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938080" y="4188023"/>
            <a:ext cx="18758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Answer: half past (30 mins)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49441" y="3098602"/>
            <a:ext cx="2092970" cy="1429048"/>
          </a:xfrm>
          <a:prstGeom prst="roundRect">
            <a:avLst>
              <a:gd name="adj" fmla="val 711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924401" y="3276302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FEFCF7"/>
          </a:solidFill>
          <a:ln w="19050">
            <a:solidFill>
              <a:srgbClr val="D4CDB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054410" y="3357265"/>
            <a:ext cx="8273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158000" y="3720703"/>
            <a:ext cx="1875851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do you say</a:t>
            </a:r>
            <a:endParaRPr lang="en-US" sz="1100" dirty="0"/>
          </a:p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3:00?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158000" y="4188023"/>
            <a:ext cx="18758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Answer: 三点 (sān diǎn)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269361" y="3098602"/>
            <a:ext cx="2092970" cy="1429048"/>
          </a:xfrm>
          <a:prstGeom prst="roundRect">
            <a:avLst>
              <a:gd name="adj" fmla="val 711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8144321" y="3276302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FEFCF7"/>
          </a:solidFill>
          <a:ln w="19050">
            <a:solidFill>
              <a:srgbClr val="D4CDB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8273875" y="3357265"/>
            <a:ext cx="8364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377921" y="3720703"/>
            <a:ext cx="1875851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does</a:t>
            </a:r>
            <a:endParaRPr lang="en-US" sz="1100" dirty="0"/>
          </a:p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mean?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377921" y="4188023"/>
            <a:ext cx="18758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Answer: "to" / minutes short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489281" y="3098602"/>
            <a:ext cx="2093119" cy="1429048"/>
          </a:xfrm>
          <a:prstGeom prst="roundRect">
            <a:avLst>
              <a:gd name="adj" fmla="val 711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0364391" y="3276302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FEFCF7"/>
          </a:solidFill>
          <a:ln w="19050">
            <a:solidFill>
              <a:srgbClr val="D4CDB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10494551" y="3357265"/>
            <a:ext cx="8243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597839" y="3720703"/>
            <a:ext cx="1876002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Translate:</a:t>
            </a:r>
            <a:endParaRPr lang="en-US" sz="1100" dirty="0"/>
          </a:p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现在几点?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597839" y="4188023"/>
            <a:ext cx="187600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Answer: What time is it now?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99872" y="4756100"/>
            <a:ext cx="1119225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 points — just a warm-up!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145595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&amp; Game Rules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2122736"/>
            <a:ext cx="53629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6–8 min · Display on projector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600" y="2316361"/>
            <a:ext cx="536295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09600" y="2871936"/>
            <a:ext cx="5257800" cy="885825"/>
          </a:xfrm>
          <a:prstGeom prst="rect">
            <a:avLst/>
          </a:prstGeom>
          <a:solidFill>
            <a:srgbClr val="C8943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28650" y="2871936"/>
            <a:ext cx="0" cy="885825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0850" y="3024336"/>
            <a:ext cx="49096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850850" y="3186261"/>
            <a:ext cx="4909667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confidently demonstrate our time-telling skills for the Unit 4.1 test.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600" y="3960912"/>
            <a:ext cx="241250" cy="241250"/>
          </a:xfrm>
          <a:prstGeom prst="roundRect">
            <a:avLst>
              <a:gd name="adj" fmla="val 37902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07082" y="4010025"/>
            <a:ext cx="470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52351" y="3960912"/>
            <a:ext cx="311442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Translate </a:t>
            </a:r>
            <a:pPr algn="l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any time</a:t>
            </a:r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between English and Chinese.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09600" y="4303663"/>
            <a:ext cx="241250" cy="241250"/>
          </a:xfrm>
          <a:prstGeom prst="roundRect">
            <a:avLst>
              <a:gd name="adj" fmla="val 37902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97855" y="4352776"/>
            <a:ext cx="658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952351" y="4303663"/>
            <a:ext cx="252132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Identify and </a:t>
            </a:r>
            <a:pPr algn="l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common mistakes</a:t>
            </a:r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9600" y="4646414"/>
            <a:ext cx="241250" cy="241250"/>
          </a:xfrm>
          <a:prstGeom prst="roundRect">
            <a:avLst>
              <a:gd name="adj" fmla="val 37902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97706" y="4695527"/>
            <a:ext cx="663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952351" y="4646414"/>
            <a:ext cx="24089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Feel </a:t>
            </a:r>
            <a:pPr algn="l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confident and ready</a:t>
            </a:r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for the test.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324600" y="2002036"/>
            <a:ext cx="5257800" cy="2196852"/>
          </a:xfrm>
          <a:prstGeom prst="roundRect">
            <a:avLst>
              <a:gd name="adj" fmla="val 4625"/>
            </a:avLst>
          </a:prstGeom>
          <a:solidFill>
            <a:srgbClr val="F6F2E8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546800" y="2198787"/>
            <a:ext cx="49096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SHOW RULES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546800" y="2487662"/>
            <a:ext cx="1943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🎲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813500" y="2530525"/>
            <a:ext cx="12573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rounds + final sprint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46800" y="2811512"/>
            <a:ext cx="1943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👥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13500" y="2854375"/>
            <a:ext cx="217247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Work in teams — earn points together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546800" y="3135362"/>
            <a:ext cx="12144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742063" y="3163937"/>
            <a:ext cx="15268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Strict time limits per round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546800" y="3430637"/>
            <a:ext cx="1943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✋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813500" y="3473500"/>
            <a:ext cx="22910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Hands up to answer — teacher confirms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546800" y="3754487"/>
            <a:ext cx="1943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🏆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813500" y="3797350"/>
            <a:ext cx="153838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Winning team gets medals!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324600" y="4351288"/>
            <a:ext cx="5257800" cy="657076"/>
          </a:xfrm>
          <a:prstGeom prst="roundRect">
            <a:avLst>
              <a:gd name="adj" fmla="val 11597"/>
            </a:avLst>
          </a:prstGeom>
          <a:solidFill>
            <a:srgbClr val="3A7D8C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453277" y="4478238"/>
            <a:ext cx="500044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R1 Vocab: 150 pts  ·  R2 Translate: 180 pts  ·  R3 Errors: 160 pts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453277" y="4671864"/>
            <a:ext cx="500044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Total possible: 490 points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34930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35803" y="1157585"/>
            <a:ext cx="13202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8–20 min · Round 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540425" y="1351211"/>
            <a:ext cx="1111151" cy="1111151"/>
          </a:xfrm>
          <a:prstGeom prst="roundRect">
            <a:avLst>
              <a:gd name="adj" fmla="val 82293"/>
            </a:avLst>
          </a:prstGeom>
          <a:solidFill>
            <a:srgbClr val="C8943E">
              <a:alpha val="8000"/>
            </a:srgbClr>
          </a:solidFill>
          <a:ln w="476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998695" y="1632049"/>
            <a:ext cx="194462" cy="406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200"/>
              </a:lnSpc>
              <a:buNone/>
            </a:pPr>
            <a:r>
              <a:rPr lang="en-US" sz="3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5872393" y="2038499"/>
            <a:ext cx="4470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021893" y="2665512"/>
            <a:ext cx="4148215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Vocabulary Lightning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5634060" y="3354437"/>
            <a:ext cx="92373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词汇闪电战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26147" y="3830687"/>
            <a:ext cx="1777752" cy="1415802"/>
          </a:xfrm>
          <a:prstGeom prst="roundRect">
            <a:avLst>
              <a:gd name="adj" fmla="val 717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467349" y="4008388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📖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467349" y="4487763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15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467349" y="4916388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Questions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207050" y="3830687"/>
            <a:ext cx="1777752" cy="1415802"/>
          </a:xfrm>
          <a:prstGeom prst="roundRect">
            <a:avLst>
              <a:gd name="adj" fmla="val 717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448251" y="4008388"/>
            <a:ext cx="1295349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⏲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448251" y="4497288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12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448251" y="4925913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Minutes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187952" y="3830687"/>
            <a:ext cx="1777752" cy="1415802"/>
          </a:xfrm>
          <a:prstGeom prst="roundRect">
            <a:avLst>
              <a:gd name="adj" fmla="val 717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429153" y="4008388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⭐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7429153" y="4487763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150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429153" y="4916388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Max Points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870424" y="5449639"/>
            <a:ext cx="4451152" cy="403027"/>
          </a:xfrm>
          <a:prstGeom prst="roundRect">
            <a:avLst>
              <a:gd name="adj" fmla="val 3148002"/>
            </a:avLst>
          </a:prstGeom>
          <a:solidFill>
            <a:srgbClr val="3A7D8C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136809" y="5551140"/>
            <a:ext cx="391838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Format: 汉字 → 拼音 → 英文  |  Match test question style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138855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 · Vocabulary Lightning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2230487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8–20 min · Round 1 · 10 pts each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2424113"/>
            <a:ext cx="1139962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Vocabulary Lightning · 词汇闪电战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7950" y="2763738"/>
            <a:ext cx="11399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Items 1–8 · 汉字 → 拼音 → 英文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7950" y="3078063"/>
            <a:ext cx="2717899" cy="665262"/>
          </a:xfrm>
          <a:prstGeom prst="roundRect">
            <a:avLst>
              <a:gd name="adj" fmla="val 1145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83747" y="3128814"/>
            <a:ext cx="411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10261" y="3230463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327350" y="3078063"/>
            <a:ext cx="2717899" cy="665262"/>
          </a:xfrm>
          <a:prstGeom prst="roundRect">
            <a:avLst>
              <a:gd name="adj" fmla="val 1145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402985" y="3128814"/>
            <a:ext cx="5768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3429661" y="3230463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分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146750" y="3078063"/>
            <a:ext cx="2717899" cy="665262"/>
          </a:xfrm>
          <a:prstGeom prst="roundRect">
            <a:avLst>
              <a:gd name="adj" fmla="val 1145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222380" y="3128814"/>
            <a:ext cx="5814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6249061" y="3230463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刻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966150" y="3078063"/>
            <a:ext cx="2717899" cy="665262"/>
          </a:xfrm>
          <a:prstGeom prst="roundRect">
            <a:avLst>
              <a:gd name="adj" fmla="val 1145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041774" y="3128814"/>
            <a:ext cx="587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9068461" y="3230463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现在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07950" y="3844826"/>
            <a:ext cx="2717899" cy="665262"/>
          </a:xfrm>
          <a:prstGeom prst="roundRect">
            <a:avLst>
              <a:gd name="adj" fmla="val 1145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83583" y="3895576"/>
            <a:ext cx="5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610261" y="3997226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3327350" y="3844826"/>
            <a:ext cx="2717899" cy="665262"/>
          </a:xfrm>
          <a:prstGeom prst="roundRect">
            <a:avLst>
              <a:gd name="adj" fmla="val 1145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3402973" y="3895576"/>
            <a:ext cx="58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429661" y="3997226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6146750" y="3844826"/>
            <a:ext cx="2717899" cy="665262"/>
          </a:xfrm>
          <a:prstGeom prst="roundRect">
            <a:avLst>
              <a:gd name="adj" fmla="val 1145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222425" y="3895576"/>
            <a:ext cx="5358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249061" y="3997226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零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8966150" y="3844826"/>
            <a:ext cx="2717899" cy="665262"/>
          </a:xfrm>
          <a:prstGeom prst="roundRect">
            <a:avLst>
              <a:gd name="adj" fmla="val 1145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9041776" y="3895576"/>
            <a:ext cx="5859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9068461" y="3997226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表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396189" y="4637038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1–8 of 15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19136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 · Vocabulary Lightning — Answers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1519386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8–20 min · Round 1 · 10 pts each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1713012"/>
            <a:ext cx="321856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Vocabulary Lightning · Answers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764905" y="1773436"/>
            <a:ext cx="473720" cy="193477"/>
          </a:xfrm>
          <a:prstGeom prst="roundRect">
            <a:avLst>
              <a:gd name="adj" fmla="val 6557524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891855" y="1798737"/>
            <a:ext cx="2242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07950" y="2052637"/>
            <a:ext cx="11399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Items 1–8 · 汉字 → 拼音 → 英文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7950" y="2366963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83747" y="2417713"/>
            <a:ext cx="411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10261" y="2519363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点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10261" y="2879824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10261" y="3041749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diǎn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10261" y="3248025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10261" y="3409950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o'clock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327350" y="2366963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402985" y="2417713"/>
            <a:ext cx="5768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3429661" y="2519363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分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429661" y="2879824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429661" y="3041749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fēn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29661" y="3248025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429661" y="3409950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minute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146750" y="2366963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222380" y="2417713"/>
            <a:ext cx="5814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6249061" y="2519363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刻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249061" y="2879824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249061" y="3041749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kè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249061" y="3248025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249061" y="3409950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quarter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966150" y="2366963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9041774" y="2417713"/>
            <a:ext cx="587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9068461" y="2519363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现在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9068461" y="2879824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068461" y="3041749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xiànzài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9068461" y="3248025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9068461" y="3409950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now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07950" y="3844826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83583" y="3895576"/>
            <a:ext cx="5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610261" y="3997226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610261" y="43576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10261" y="45196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chà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10261" y="47258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10261" y="48878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 / minutes short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3327350" y="3844826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3402973" y="3895576"/>
            <a:ext cx="58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3429661" y="3997226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3429661" y="43576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3429661" y="45196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liǎng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29661" y="47258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3429661" y="48878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two (before 点)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146750" y="3844826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6222425" y="3895576"/>
            <a:ext cx="5358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6249061" y="3997226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零</a:t>
            </a:r>
            <a:endParaRPr lang="en-US" sz="2200" dirty="0"/>
          </a:p>
        </p:txBody>
      </p:sp>
      <p:sp>
        <p:nvSpPr>
          <p:cNvPr id="57" name="Text 55"/>
          <p:cNvSpPr/>
          <p:nvPr/>
        </p:nvSpPr>
        <p:spPr>
          <a:xfrm>
            <a:off x="6249061" y="43576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249061" y="45196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líng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6249061" y="47258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6249061" y="48878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zero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8966150" y="3844826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9041776" y="3895576"/>
            <a:ext cx="5859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9068461" y="3997226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表</a:t>
            </a:r>
            <a:endParaRPr lang="en-US" sz="2200" dirty="0"/>
          </a:p>
        </p:txBody>
      </p:sp>
      <p:sp>
        <p:nvSpPr>
          <p:cNvPr id="64" name="Text 62"/>
          <p:cNvSpPr/>
          <p:nvPr/>
        </p:nvSpPr>
        <p:spPr>
          <a:xfrm>
            <a:off x="9068461" y="43576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9068461" y="45196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biǎo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9068461" y="47258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9068461" y="48878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watch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396189" y="5348139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1–8 of 15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138855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 · Vocabulary Lightning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2230487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8–20 min · Round 1 · 10 pts each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2424113"/>
            <a:ext cx="1139962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Vocabulary Lightning · 词汇闪电战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7950" y="2763738"/>
            <a:ext cx="11399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Items 9–15 · 汉字 → 拼音 → 英文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7950" y="3078063"/>
            <a:ext cx="2717899" cy="665262"/>
          </a:xfrm>
          <a:prstGeom prst="roundRect">
            <a:avLst>
              <a:gd name="adj" fmla="val 1145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83573" y="3128814"/>
            <a:ext cx="58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10261" y="3230463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几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327350" y="3078063"/>
            <a:ext cx="2717899" cy="665262"/>
          </a:xfrm>
          <a:prstGeom prst="roundRect">
            <a:avLst>
              <a:gd name="adj" fmla="val 1145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402570" y="3128814"/>
            <a:ext cx="1000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3429661" y="3230463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三刻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146750" y="3078063"/>
            <a:ext cx="2717899" cy="665262"/>
          </a:xfrm>
          <a:prstGeom prst="roundRect">
            <a:avLst>
              <a:gd name="adj" fmla="val 1145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222145" y="3128814"/>
            <a:ext cx="8212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6249061" y="3230463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一刻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966150" y="3078063"/>
            <a:ext cx="2717899" cy="665262"/>
          </a:xfrm>
          <a:prstGeom prst="roundRect">
            <a:avLst>
              <a:gd name="adj" fmla="val 1145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041383" y="3128814"/>
            <a:ext cx="9867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9068461" y="3230463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半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07950" y="3844826"/>
            <a:ext cx="2717899" cy="665262"/>
          </a:xfrm>
          <a:prstGeom prst="roundRect">
            <a:avLst>
              <a:gd name="adj" fmla="val 1145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83179" y="3895576"/>
            <a:ext cx="9912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13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610261" y="3997226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3327350" y="3844826"/>
            <a:ext cx="2717899" cy="665262"/>
          </a:xfrm>
          <a:prstGeom prst="roundRect">
            <a:avLst>
              <a:gd name="adj" fmla="val 1145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3402573" y="3895576"/>
            <a:ext cx="997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14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429661" y="3997226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五分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6146750" y="3844826"/>
            <a:ext cx="2717899" cy="665262"/>
          </a:xfrm>
          <a:prstGeom prst="roundRect">
            <a:avLst>
              <a:gd name="adj" fmla="val 1145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221980" y="3895576"/>
            <a:ext cx="9897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15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249061" y="3997226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几点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8966150" y="3844826"/>
            <a:ext cx="2717899" cy="665262"/>
          </a:xfrm>
          <a:prstGeom prst="roundRect">
            <a:avLst>
              <a:gd name="adj" fmla="val 11454"/>
            </a:avLst>
          </a:prstGeom>
          <a:noFill/>
          <a:ln w="9525">
            <a:solidFill>
              <a:srgbClr val="D4CDB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396189" y="4637038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9–15 of 15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19136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 · Vocabulary Lightning — Answers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1519386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8–20 min · Round 1 · 10 pts each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1713012"/>
            <a:ext cx="321856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Vocabulary Lightning · Answers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764905" y="1773436"/>
            <a:ext cx="473720" cy="193477"/>
          </a:xfrm>
          <a:prstGeom prst="roundRect">
            <a:avLst>
              <a:gd name="adj" fmla="val 6557524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891855" y="1798737"/>
            <a:ext cx="2242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07950" y="2052637"/>
            <a:ext cx="11399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Items 9–15 · 汉字 → 拼音 → 英文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7950" y="2366963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83573" y="2417713"/>
            <a:ext cx="58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10261" y="2519363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几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10261" y="2879824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10261" y="3041749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jǐ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10261" y="3248025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10261" y="3409950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many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327350" y="2366963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402570" y="2417713"/>
            <a:ext cx="1000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3429661" y="2519363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三刻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429661" y="2879824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429661" y="3041749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sān kè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29661" y="3248025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429661" y="3409950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:45 (three quarters)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146750" y="2366963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222145" y="2417713"/>
            <a:ext cx="8212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6249061" y="2519363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一刻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249061" y="2879824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249061" y="3041749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yī kè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249061" y="3248025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249061" y="3409950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:15 (one quarter)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966150" y="2366963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9041383" y="2417713"/>
            <a:ext cx="9867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9068461" y="2519363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半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9068461" y="2879824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068461" y="3041749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bàn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9068461" y="3248025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9068461" y="3409950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half past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07950" y="3844826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83179" y="3895576"/>
            <a:ext cx="9912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13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610261" y="3997226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610261" y="43576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10261" y="45196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liǎng diǎn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10261" y="47258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10261" y="48878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o'clock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3327350" y="3844826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3402573" y="3895576"/>
            <a:ext cx="997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14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3429661" y="3997226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五分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3429661" y="43576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3429661" y="45196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wǔ fēn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29661" y="47258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3429661" y="48878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five minutes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146750" y="3844826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6221980" y="3895576"/>
            <a:ext cx="9897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15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6249061" y="3997226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几点</a:t>
            </a:r>
            <a:endParaRPr lang="en-US" sz="2200" dirty="0"/>
          </a:p>
        </p:txBody>
      </p:sp>
      <p:sp>
        <p:nvSpPr>
          <p:cNvPr id="57" name="Text 55"/>
          <p:cNvSpPr/>
          <p:nvPr/>
        </p:nvSpPr>
        <p:spPr>
          <a:xfrm>
            <a:off x="6249061" y="43576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249061" y="45196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jǐ diǎn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6249061" y="47258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6249061" y="48878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time?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8966150" y="3844826"/>
            <a:ext cx="2717899" cy="1376363"/>
          </a:xfrm>
          <a:prstGeom prst="roundRect">
            <a:avLst>
              <a:gd name="adj" fmla="val 5536"/>
            </a:avLst>
          </a:prstGeom>
          <a:noFill/>
          <a:ln w="9525">
            <a:solidFill>
              <a:srgbClr val="D4CDB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396189" y="5348139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9–15 of 15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3672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385858" y="1192411"/>
            <a:ext cx="14202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20–30 min · Round 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540425" y="1386036"/>
            <a:ext cx="1111151" cy="1111151"/>
          </a:xfrm>
          <a:prstGeom prst="roundRect">
            <a:avLst>
              <a:gd name="adj" fmla="val 82293"/>
            </a:avLst>
          </a:prstGeom>
          <a:solidFill>
            <a:srgbClr val="3A7D8C">
              <a:alpha val="8000"/>
            </a:srgbClr>
          </a:solidFill>
          <a:ln w="476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998695" y="1666875"/>
            <a:ext cx="194462" cy="406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200"/>
              </a:lnSpc>
              <a:buNone/>
            </a:pPr>
            <a:r>
              <a:rPr lang="en-US" sz="32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5872393" y="2073325"/>
            <a:ext cx="4470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910468" y="2700338"/>
            <a:ext cx="4371064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Translation Showdown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5726507" y="3389263"/>
            <a:ext cx="73898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翻译对决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26147" y="3865513"/>
            <a:ext cx="1777752" cy="1415802"/>
          </a:xfrm>
          <a:prstGeom prst="roundRect">
            <a:avLst>
              <a:gd name="adj" fmla="val 717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467349" y="4043214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💬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467349" y="4522589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467349" y="4951214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Questions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207050" y="3865513"/>
            <a:ext cx="1777752" cy="1415802"/>
          </a:xfrm>
          <a:prstGeom prst="roundRect">
            <a:avLst>
              <a:gd name="adj" fmla="val 717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448251" y="4043214"/>
            <a:ext cx="1295349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⏲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448251" y="4532114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10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448251" y="4960739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Minutes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187952" y="3865513"/>
            <a:ext cx="1777752" cy="1415802"/>
          </a:xfrm>
          <a:prstGeom prst="roundRect">
            <a:avLst>
              <a:gd name="adj" fmla="val 717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429153" y="4043214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⭐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7429153" y="4522589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180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429153" y="4951214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Max Points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868912" y="5484465"/>
            <a:ext cx="1150888" cy="333375"/>
          </a:xfrm>
          <a:prstGeom prst="roundRect">
            <a:avLst>
              <a:gd name="adj" fmla="val 3805714"/>
            </a:avLst>
          </a:prstGeom>
          <a:solidFill>
            <a:srgbClr val="3A7D8C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090575" y="5560665"/>
            <a:ext cx="70756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 → 中文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72200" y="5484465"/>
            <a:ext cx="1150888" cy="333375"/>
          </a:xfrm>
          <a:prstGeom prst="roundRect">
            <a:avLst>
              <a:gd name="adj" fmla="val 3805714"/>
            </a:avLst>
          </a:prstGeom>
          <a:solidFill>
            <a:srgbClr val="D4756B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393863" y="5560665"/>
            <a:ext cx="70756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中文 → EN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147265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 · Translation Showdown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2212777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20–30 min · Round 2 · 15 pts each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2406402"/>
            <a:ext cx="1139962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Translation Showdown · 翻译对决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7950" y="2746028"/>
            <a:ext cx="11399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Items 1–6 · Translate between English and Chinese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7950" y="3060353"/>
            <a:ext cx="3640634" cy="670173"/>
          </a:xfrm>
          <a:prstGeom prst="roundRect">
            <a:avLst>
              <a:gd name="adj" fmla="val 1137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83747" y="3111103"/>
            <a:ext cx="411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26992" y="3238054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3:00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55549" y="3555950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 → 中文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275534" y="3060353"/>
            <a:ext cx="3640782" cy="670173"/>
          </a:xfrm>
          <a:prstGeom prst="roundRect">
            <a:avLst>
              <a:gd name="adj" fmla="val 1137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351169" y="3111103"/>
            <a:ext cx="5768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394575" y="3238054"/>
            <a:ext cx="34027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2:30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323281" y="3555950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 → 中文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8043267" y="3060353"/>
            <a:ext cx="3640634" cy="670173"/>
          </a:xfrm>
          <a:prstGeom prst="roundRect">
            <a:avLst>
              <a:gd name="adj" fmla="val 1137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118897" y="3111103"/>
            <a:ext cx="5814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8162309" y="3238054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差十分七点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1090865" y="3555950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中文 → EN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507950" y="3857476"/>
            <a:ext cx="3640634" cy="670173"/>
          </a:xfrm>
          <a:prstGeom prst="roundRect">
            <a:avLst>
              <a:gd name="adj" fmla="val 1137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83574" y="3908227"/>
            <a:ext cx="587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626992" y="4035177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9:15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555549" y="4353074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 → 中文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4275534" y="3857476"/>
            <a:ext cx="3640782" cy="670173"/>
          </a:xfrm>
          <a:prstGeom prst="roundRect">
            <a:avLst>
              <a:gd name="adj" fmla="val 1137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351167" y="3908227"/>
            <a:ext cx="5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4394575" y="4035177"/>
            <a:ext cx="34027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6:45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323281" y="4353074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 → 中文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8043267" y="3857476"/>
            <a:ext cx="3640634" cy="670173"/>
          </a:xfrm>
          <a:prstGeom prst="roundRect">
            <a:avLst>
              <a:gd name="adj" fmla="val 1137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8118890" y="3908227"/>
            <a:ext cx="58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8162309" y="4035177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五点零五分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1090865" y="4353074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中文 → EN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396189" y="4654600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1–6 of 12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19977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 · Translation Showdown — Answers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1675805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20–30 min · Round 2 · 15 pts each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1869430"/>
            <a:ext cx="332998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Translation Showdown · Answers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874145" y="1929854"/>
            <a:ext cx="473720" cy="193477"/>
          </a:xfrm>
          <a:prstGeom prst="roundRect">
            <a:avLst>
              <a:gd name="adj" fmla="val 6557524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001095" y="1955155"/>
            <a:ext cx="2242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07950" y="2209056"/>
            <a:ext cx="11399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Items 1–6 · Translate between English and Chinese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7950" y="2523381"/>
            <a:ext cx="3640634" cy="1207145"/>
          </a:xfrm>
          <a:prstGeom prst="roundRect">
            <a:avLst>
              <a:gd name="adj" fmla="val 631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83747" y="2574131"/>
            <a:ext cx="411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26992" y="2701082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3:00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26992" y="2999482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992" y="3272433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555549" y="3555950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 → 中文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4275534" y="2523381"/>
            <a:ext cx="3640782" cy="1207145"/>
          </a:xfrm>
          <a:prstGeom prst="roundRect">
            <a:avLst>
              <a:gd name="adj" fmla="val 631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351169" y="2574131"/>
            <a:ext cx="5768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394575" y="2701082"/>
            <a:ext cx="34027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2:30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394575" y="2999482"/>
            <a:ext cx="34027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394575" y="3272433"/>
            <a:ext cx="3402702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两点半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323281" y="3555950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 → 中文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8043267" y="2523381"/>
            <a:ext cx="3640634" cy="1207145"/>
          </a:xfrm>
          <a:prstGeom prst="roundRect">
            <a:avLst>
              <a:gd name="adj" fmla="val 631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8118897" y="2574131"/>
            <a:ext cx="5814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8162309" y="2701082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差十分七点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162309" y="3015853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162309" y="3288804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6:50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1090865" y="3555950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中文 → EN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507950" y="3857476"/>
            <a:ext cx="3640634" cy="1207145"/>
          </a:xfrm>
          <a:prstGeom prst="roundRect">
            <a:avLst>
              <a:gd name="adj" fmla="val 631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83574" y="3908227"/>
            <a:ext cx="587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626992" y="4035177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9:15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26992" y="4333577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26992" y="4606528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九点一刻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3555549" y="4890046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 → 中文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275534" y="3857476"/>
            <a:ext cx="3640782" cy="1207145"/>
          </a:xfrm>
          <a:prstGeom prst="roundRect">
            <a:avLst>
              <a:gd name="adj" fmla="val 631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351167" y="3908227"/>
            <a:ext cx="5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4394575" y="4035177"/>
            <a:ext cx="34027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6:45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4394575" y="4333577"/>
            <a:ext cx="34027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4394575" y="4606528"/>
            <a:ext cx="3402702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六点三刻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7323281" y="4890046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 → 中文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8043267" y="3857476"/>
            <a:ext cx="3640634" cy="1207145"/>
          </a:xfrm>
          <a:prstGeom prst="roundRect">
            <a:avLst>
              <a:gd name="adj" fmla="val 631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8118890" y="3908227"/>
            <a:ext cx="58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8162309" y="4035177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五点零五分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8162309" y="4349948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8162309" y="4622899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5:05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11090865" y="4890046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中文 → EN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396189" y="5191571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1–6 of 12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147265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 · Translation Showdown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2086273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20–30 min · Round 2 · 15 pts each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2279898"/>
            <a:ext cx="1139962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Translation Showdown · 翻译对决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7950" y="2619524"/>
            <a:ext cx="11399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Items 7–12 · Translate between English and Chinese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7950" y="2933849"/>
            <a:ext cx="3640634" cy="796677"/>
          </a:xfrm>
          <a:prstGeom prst="roundRect">
            <a:avLst>
              <a:gd name="adj" fmla="val 956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83625" y="2984599"/>
            <a:ext cx="5358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26992" y="3111550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7:55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6992" y="3409950"/>
            <a:ext cx="34025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(using 差)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555549" y="3555950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 → 中文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4275534" y="2933849"/>
            <a:ext cx="3640782" cy="796677"/>
          </a:xfrm>
          <a:prstGeom prst="roundRect">
            <a:avLst>
              <a:gd name="adj" fmla="val 956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351160" y="2984599"/>
            <a:ext cx="5859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4394575" y="3111550"/>
            <a:ext cx="3402702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十二点半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323281" y="3555950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中文 → EN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8043267" y="2933849"/>
            <a:ext cx="3640634" cy="796677"/>
          </a:xfrm>
          <a:prstGeom prst="roundRect">
            <a:avLst>
              <a:gd name="adj" fmla="val 956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8890" y="2984599"/>
            <a:ext cx="58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8162309" y="3111550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3:40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162309" y="3409950"/>
            <a:ext cx="34025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(using 差)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090865" y="3555950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 → 中文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507950" y="3857476"/>
            <a:ext cx="3640634" cy="796677"/>
          </a:xfrm>
          <a:prstGeom prst="roundRect">
            <a:avLst>
              <a:gd name="adj" fmla="val 956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83170" y="3908227"/>
            <a:ext cx="1000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26992" y="4035177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一点一刻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3555549" y="4479578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中文 → EN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4275534" y="3857476"/>
            <a:ext cx="3640782" cy="796677"/>
          </a:xfrm>
          <a:prstGeom prst="roundRect">
            <a:avLst>
              <a:gd name="adj" fmla="val 956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350929" y="3908227"/>
            <a:ext cx="8212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394575" y="4035177"/>
            <a:ext cx="34027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11:50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394575" y="4333577"/>
            <a:ext cx="340270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(best way)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323281" y="4479578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 → 中文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8043267" y="3857476"/>
            <a:ext cx="3640634" cy="796677"/>
          </a:xfrm>
          <a:prstGeom prst="roundRect">
            <a:avLst>
              <a:gd name="adj" fmla="val 956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8118500" y="3908227"/>
            <a:ext cx="9867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8162309" y="4035177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差五分两点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11090865" y="4479578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中文 → EN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396189" y="4781104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7–12 of 12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19977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 · Translation Showdown — Answers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1549301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20–30 min · Round 2 · 15 pts each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1742926"/>
            <a:ext cx="332998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Translation Showdown · Answers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874145" y="1803350"/>
            <a:ext cx="473720" cy="193477"/>
          </a:xfrm>
          <a:prstGeom prst="roundRect">
            <a:avLst>
              <a:gd name="adj" fmla="val 6557524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001095" y="1828651"/>
            <a:ext cx="2242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07950" y="2082552"/>
            <a:ext cx="11399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Items 7–12 · Translate between English and Chinese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7950" y="2396877"/>
            <a:ext cx="3640634" cy="1333649"/>
          </a:xfrm>
          <a:prstGeom prst="roundRect">
            <a:avLst>
              <a:gd name="adj" fmla="val 571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83625" y="2447627"/>
            <a:ext cx="5358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26992" y="2574578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7:55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26992" y="2872978"/>
            <a:ext cx="34025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(using 差)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6992" y="3015853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6992" y="3288804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差五分八点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555549" y="3555950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 → 中文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4275534" y="2396877"/>
            <a:ext cx="3640782" cy="1333649"/>
          </a:xfrm>
          <a:prstGeom prst="roundRect">
            <a:avLst>
              <a:gd name="adj" fmla="val 571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351160" y="2447627"/>
            <a:ext cx="5859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394575" y="2574578"/>
            <a:ext cx="3402702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十二点半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394575" y="2889349"/>
            <a:ext cx="34027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394575" y="3162300"/>
            <a:ext cx="3402702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12:30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323281" y="3555950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中文 → EN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8043267" y="2396877"/>
            <a:ext cx="3640634" cy="1333649"/>
          </a:xfrm>
          <a:prstGeom prst="roundRect">
            <a:avLst>
              <a:gd name="adj" fmla="val 571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118890" y="2447627"/>
            <a:ext cx="58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8162309" y="2574578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3:40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162309" y="2872978"/>
            <a:ext cx="34025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(using 差)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162309" y="3015853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162309" y="3288804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差二十分四点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1090865" y="3555950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 → 中文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507950" y="3857476"/>
            <a:ext cx="3640634" cy="1333649"/>
          </a:xfrm>
          <a:prstGeom prst="roundRect">
            <a:avLst>
              <a:gd name="adj" fmla="val 571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583170" y="3908227"/>
            <a:ext cx="1000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626992" y="4035177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一点一刻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26992" y="4349948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26992" y="4622899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1:15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3555549" y="5016550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中文 → EN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4275534" y="3857476"/>
            <a:ext cx="3640782" cy="1333649"/>
          </a:xfrm>
          <a:prstGeom prst="roundRect">
            <a:avLst>
              <a:gd name="adj" fmla="val 571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350929" y="3908227"/>
            <a:ext cx="8212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4394575" y="4035177"/>
            <a:ext cx="34027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11:50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4394575" y="4333577"/>
            <a:ext cx="340270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(best way)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4394575" y="4476452"/>
            <a:ext cx="34027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4394575" y="4749403"/>
            <a:ext cx="3402702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差十分十二点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7323281" y="5016550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 → 中文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8043267" y="3857476"/>
            <a:ext cx="3640634" cy="1333649"/>
          </a:xfrm>
          <a:prstGeom prst="roundRect">
            <a:avLst>
              <a:gd name="adj" fmla="val 571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8118500" y="3908227"/>
            <a:ext cx="9867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8162309" y="4035177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差五分两点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8162309" y="4349948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8162309" y="4622899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1:55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11090865" y="5016550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中文 → EN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396189" y="5318075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7–12 of 12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36706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385554" y="1001911"/>
            <a:ext cx="14208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30–38 min · Round 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540425" y="1195536"/>
            <a:ext cx="1111151" cy="1111151"/>
          </a:xfrm>
          <a:prstGeom prst="roundRect">
            <a:avLst>
              <a:gd name="adj" fmla="val 82293"/>
            </a:avLst>
          </a:prstGeom>
          <a:solidFill>
            <a:srgbClr val="D4756B">
              <a:alpha val="8000"/>
            </a:srgbClr>
          </a:solidFill>
          <a:ln w="47625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998695" y="1476375"/>
            <a:ext cx="194462" cy="406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200"/>
              </a:lnSpc>
              <a:buNone/>
            </a:pPr>
            <a:r>
              <a:rPr lang="en-US" sz="32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5872393" y="1882825"/>
            <a:ext cx="4470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810518" y="2509838"/>
            <a:ext cx="2570964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Error Bounty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5726507" y="3198763"/>
            <a:ext cx="73898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错误悬赏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26147" y="3675013"/>
            <a:ext cx="1777752" cy="1415802"/>
          </a:xfrm>
          <a:prstGeom prst="roundRect">
            <a:avLst>
              <a:gd name="adj" fmla="val 717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467349" y="3852714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🔍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467349" y="4332089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8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467349" y="4760714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207050" y="3675013"/>
            <a:ext cx="1777752" cy="1415802"/>
          </a:xfrm>
          <a:prstGeom prst="roundRect">
            <a:avLst>
              <a:gd name="adj" fmla="val 717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448251" y="3852714"/>
            <a:ext cx="1295349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⏲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448251" y="4341614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8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448251" y="4770239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Minutes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187952" y="3675013"/>
            <a:ext cx="1777752" cy="1415802"/>
          </a:xfrm>
          <a:prstGeom prst="roundRect">
            <a:avLst>
              <a:gd name="adj" fmla="val 717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429153" y="3852714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⭐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7429153" y="4332089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160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429153" y="4760714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Max Points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078188" y="5293965"/>
            <a:ext cx="4035623" cy="714375"/>
          </a:xfrm>
          <a:prstGeom prst="roundRect">
            <a:avLst>
              <a:gd name="adj" fmla="val 14222"/>
            </a:avLst>
          </a:prstGeom>
          <a:solidFill>
            <a:srgbClr val="D4756B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400493" y="5446365"/>
            <a:ext cx="339101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❌ Spot the error + ✅ Write the correction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400493" y="5694015"/>
            <a:ext cx="339101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 pts each — some items are already correct!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103682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 · Error Bounty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2029569"/>
            <a:ext cx="115031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30–38 min · Round 3 · 20 pts each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2223195"/>
            <a:ext cx="1150315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Error Bounty · 错误悬赏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2534245"/>
            <a:ext cx="115031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Spot the mistake &amp; write the correct form — some are already right!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2823121"/>
            <a:ext cx="2743200" cy="905917"/>
          </a:xfrm>
          <a:prstGeom prst="roundRect">
            <a:avLst>
              <a:gd name="adj" fmla="val 841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32997" y="2873871"/>
            <a:ext cx="411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33299" y="2950071"/>
            <a:ext cx="259100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二点十分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19374" y="3313361"/>
            <a:ext cx="818704" cy="212527"/>
          </a:xfrm>
          <a:prstGeom prst="roundRect">
            <a:avLst>
              <a:gd name="adj" fmla="val 5969736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514718" y="3338661"/>
            <a:ext cx="6280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❌ WRONG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301901" y="2823121"/>
            <a:ext cx="2743349" cy="905917"/>
          </a:xfrm>
          <a:prstGeom prst="roundRect">
            <a:avLst>
              <a:gd name="adj" fmla="val 841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377535" y="2873871"/>
            <a:ext cx="5768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377998" y="2950071"/>
            <a:ext cx="2591154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四点三十分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204395" y="3313361"/>
            <a:ext cx="938361" cy="212527"/>
          </a:xfrm>
          <a:prstGeom prst="roundRect">
            <a:avLst>
              <a:gd name="adj" fmla="val 5969736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298542" y="3338661"/>
            <a:ext cx="7500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CORRECT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146750" y="2823121"/>
            <a:ext cx="2743200" cy="905917"/>
          </a:xfrm>
          <a:prstGeom prst="roundRect">
            <a:avLst>
              <a:gd name="adj" fmla="val 841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222380" y="2873871"/>
            <a:ext cx="5814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222849" y="2950071"/>
            <a:ext cx="259100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三点五分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108924" y="3313361"/>
            <a:ext cx="818704" cy="212527"/>
          </a:xfrm>
          <a:prstGeom prst="roundRect">
            <a:avLst>
              <a:gd name="adj" fmla="val 5969736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204268" y="3338661"/>
            <a:ext cx="6280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❌ WRONG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991451" y="2823121"/>
            <a:ext cx="2743349" cy="905917"/>
          </a:xfrm>
          <a:prstGeom prst="roundRect">
            <a:avLst>
              <a:gd name="adj" fmla="val 841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9067075" y="2873871"/>
            <a:ext cx="587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9067548" y="2950071"/>
            <a:ext cx="2591154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七差十分点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953774" y="3313361"/>
            <a:ext cx="818704" cy="212527"/>
          </a:xfrm>
          <a:prstGeom prst="roundRect">
            <a:avLst>
              <a:gd name="adj" fmla="val 5969736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10049118" y="3338661"/>
            <a:ext cx="6280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❌ WRONG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57200" y="3830538"/>
            <a:ext cx="2743200" cy="905917"/>
          </a:xfrm>
          <a:prstGeom prst="roundRect">
            <a:avLst>
              <a:gd name="adj" fmla="val 841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32833" y="3881289"/>
            <a:ext cx="5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533299" y="3957489"/>
            <a:ext cx="259100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六点十五分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359545" y="4320778"/>
            <a:ext cx="938361" cy="212527"/>
          </a:xfrm>
          <a:prstGeom prst="roundRect">
            <a:avLst>
              <a:gd name="adj" fmla="val 5969736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1453692" y="4346079"/>
            <a:ext cx="7500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CORRECT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3301901" y="3830538"/>
            <a:ext cx="2743349" cy="905917"/>
          </a:xfrm>
          <a:prstGeom prst="roundRect">
            <a:avLst>
              <a:gd name="adj" fmla="val 841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3377523" y="3881289"/>
            <a:ext cx="58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3377998" y="3957489"/>
            <a:ext cx="2591154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差十分二点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4264223" y="4320778"/>
            <a:ext cx="818704" cy="212527"/>
          </a:xfrm>
          <a:prstGeom prst="roundRect">
            <a:avLst>
              <a:gd name="adj" fmla="val 5969736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359567" y="4346079"/>
            <a:ext cx="6280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❌ WRONG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146750" y="3830538"/>
            <a:ext cx="2743200" cy="905917"/>
          </a:xfrm>
          <a:prstGeom prst="roundRect">
            <a:avLst>
              <a:gd name="adj" fmla="val 841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222425" y="3881289"/>
            <a:ext cx="5358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6222849" y="3957489"/>
            <a:ext cx="259100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九点三刻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7049095" y="4320778"/>
            <a:ext cx="938361" cy="212527"/>
          </a:xfrm>
          <a:prstGeom prst="roundRect">
            <a:avLst>
              <a:gd name="adj" fmla="val 5969736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143242" y="4346079"/>
            <a:ext cx="7500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CORRECT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8991451" y="3830538"/>
            <a:ext cx="2743349" cy="905917"/>
          </a:xfrm>
          <a:prstGeom prst="roundRect">
            <a:avLst>
              <a:gd name="adj" fmla="val 841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9067077" y="3881289"/>
            <a:ext cx="5859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9067548" y="3957489"/>
            <a:ext cx="2591154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十二点六十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9953774" y="4320778"/>
            <a:ext cx="818704" cy="212527"/>
          </a:xfrm>
          <a:prstGeom prst="roundRect">
            <a:avLst>
              <a:gd name="adj" fmla="val 5969736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10049118" y="4346079"/>
            <a:ext cx="6280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❌ WRONG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344424" y="4837956"/>
            <a:ext cx="115031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 items · 3 correct · 5 wrong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156191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 · Error Bounty — Answers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1626394"/>
            <a:ext cx="115031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30–38 min · Round 3 · 20 pts each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1820019"/>
            <a:ext cx="215957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Error Bounty · Answers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675930" y="1866156"/>
            <a:ext cx="473720" cy="193477"/>
          </a:xfrm>
          <a:prstGeom prst="roundRect">
            <a:avLst>
              <a:gd name="adj" fmla="val 6557524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02880" y="1891457"/>
            <a:ext cx="2242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57200" y="2131070"/>
            <a:ext cx="115031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Spot the mistake &amp; write the correct form — here are the verdicts!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2419945"/>
            <a:ext cx="2743200" cy="1283643"/>
          </a:xfrm>
          <a:prstGeom prst="roundRect">
            <a:avLst>
              <a:gd name="adj" fmla="val 59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32997" y="2470696"/>
            <a:ext cx="411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533299" y="2546896"/>
            <a:ext cx="259100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二点十分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19374" y="2910185"/>
            <a:ext cx="818704" cy="212527"/>
          </a:xfrm>
          <a:prstGeom prst="roundRect">
            <a:avLst>
              <a:gd name="adj" fmla="val 5969736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514718" y="2935486"/>
            <a:ext cx="6280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❌ WRONG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33299" y="3198912"/>
            <a:ext cx="25910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两点十分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33299" y="3452813"/>
            <a:ext cx="25910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二 → 两 before 点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301901" y="2419945"/>
            <a:ext cx="2743349" cy="1283643"/>
          </a:xfrm>
          <a:prstGeom prst="roundRect">
            <a:avLst>
              <a:gd name="adj" fmla="val 59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377535" y="2470696"/>
            <a:ext cx="5768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3377998" y="2546896"/>
            <a:ext cx="2591154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四点三十分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204395" y="2910185"/>
            <a:ext cx="938361" cy="212527"/>
          </a:xfrm>
          <a:prstGeom prst="roundRect">
            <a:avLst>
              <a:gd name="adj" fmla="val 5969736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298542" y="2935486"/>
            <a:ext cx="7500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CORRECT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377998" y="3198912"/>
            <a:ext cx="2591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四点三十分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377998" y="3452813"/>
            <a:ext cx="25911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 error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146750" y="2419945"/>
            <a:ext cx="2743200" cy="1283643"/>
          </a:xfrm>
          <a:prstGeom prst="roundRect">
            <a:avLst>
              <a:gd name="adj" fmla="val 59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222380" y="2470696"/>
            <a:ext cx="5814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6222849" y="2546896"/>
            <a:ext cx="259100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三点五分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108924" y="2910185"/>
            <a:ext cx="818704" cy="212527"/>
          </a:xfrm>
          <a:prstGeom prst="roundRect">
            <a:avLst>
              <a:gd name="adj" fmla="val 5969736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204268" y="2935486"/>
            <a:ext cx="6280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❌ WRONG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222849" y="3198912"/>
            <a:ext cx="25910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三点零五分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222849" y="3452813"/>
            <a:ext cx="25910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Need 零 for single-digit min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8991451" y="2419945"/>
            <a:ext cx="2743349" cy="1283643"/>
          </a:xfrm>
          <a:prstGeom prst="roundRect">
            <a:avLst>
              <a:gd name="adj" fmla="val 59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9067075" y="2470696"/>
            <a:ext cx="587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9067548" y="2546896"/>
            <a:ext cx="2591154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七差十分点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953774" y="2910185"/>
            <a:ext cx="818704" cy="212527"/>
          </a:xfrm>
          <a:prstGeom prst="roundRect">
            <a:avLst>
              <a:gd name="adj" fmla="val 5969736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0049118" y="2935486"/>
            <a:ext cx="6280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❌ WRONG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9067548" y="3198912"/>
            <a:ext cx="2591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差十分七点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9067548" y="3452813"/>
            <a:ext cx="25911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order: 差 X 分 Y 点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457200" y="3805089"/>
            <a:ext cx="2743200" cy="1283643"/>
          </a:xfrm>
          <a:prstGeom prst="roundRect">
            <a:avLst>
              <a:gd name="adj" fmla="val 59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32833" y="3855839"/>
            <a:ext cx="5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533299" y="3932039"/>
            <a:ext cx="259100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六点十五分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1359545" y="4295329"/>
            <a:ext cx="938361" cy="212527"/>
          </a:xfrm>
          <a:prstGeom prst="roundRect">
            <a:avLst>
              <a:gd name="adj" fmla="val 5969736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1453692" y="4320629"/>
            <a:ext cx="7500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CORRECT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533299" y="4584055"/>
            <a:ext cx="25910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六点十五分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533299" y="4837956"/>
            <a:ext cx="25910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 error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3301901" y="3805089"/>
            <a:ext cx="2743349" cy="1283643"/>
          </a:xfrm>
          <a:prstGeom prst="roundRect">
            <a:avLst>
              <a:gd name="adj" fmla="val 59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3377523" y="3855839"/>
            <a:ext cx="58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3377998" y="3932039"/>
            <a:ext cx="2591154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差十分二点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4264223" y="4295329"/>
            <a:ext cx="818704" cy="212527"/>
          </a:xfrm>
          <a:prstGeom prst="roundRect">
            <a:avLst>
              <a:gd name="adj" fmla="val 5969736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4359567" y="4320629"/>
            <a:ext cx="6280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❌ WRONG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3377998" y="4584055"/>
            <a:ext cx="2591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差十分两点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3377998" y="4837956"/>
            <a:ext cx="25911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二 → 两 before 点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6146750" y="3805089"/>
            <a:ext cx="2743200" cy="1283643"/>
          </a:xfrm>
          <a:prstGeom prst="roundRect">
            <a:avLst>
              <a:gd name="adj" fmla="val 59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6222425" y="3855839"/>
            <a:ext cx="5358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6222849" y="3932039"/>
            <a:ext cx="259100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九点三刻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7049095" y="4295329"/>
            <a:ext cx="938361" cy="212527"/>
          </a:xfrm>
          <a:prstGeom prst="roundRect">
            <a:avLst>
              <a:gd name="adj" fmla="val 5969736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7143242" y="4320629"/>
            <a:ext cx="7500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CORRECT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6222849" y="4584055"/>
            <a:ext cx="25910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九点三刻</a:t>
            </a:r>
            <a:endParaRPr lang="en-US" sz="1500" dirty="0"/>
          </a:p>
        </p:txBody>
      </p:sp>
      <p:sp>
        <p:nvSpPr>
          <p:cNvPr id="60" name="Text 58"/>
          <p:cNvSpPr/>
          <p:nvPr/>
        </p:nvSpPr>
        <p:spPr>
          <a:xfrm>
            <a:off x="6222849" y="4837956"/>
            <a:ext cx="25910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 error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8991451" y="3805089"/>
            <a:ext cx="2743349" cy="1283643"/>
          </a:xfrm>
          <a:prstGeom prst="roundRect">
            <a:avLst>
              <a:gd name="adj" fmla="val 59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9067077" y="3855839"/>
            <a:ext cx="5859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9067548" y="3932039"/>
            <a:ext cx="2591154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十二点六十</a:t>
            </a:r>
            <a:endParaRPr lang="en-US" sz="1800" dirty="0"/>
          </a:p>
        </p:txBody>
      </p:sp>
      <p:sp>
        <p:nvSpPr>
          <p:cNvPr id="64" name="Text 62"/>
          <p:cNvSpPr/>
          <p:nvPr/>
        </p:nvSpPr>
        <p:spPr>
          <a:xfrm>
            <a:off x="9953774" y="4295329"/>
            <a:ext cx="818704" cy="212527"/>
          </a:xfrm>
          <a:prstGeom prst="roundRect">
            <a:avLst>
              <a:gd name="adj" fmla="val 5969736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10049118" y="4320629"/>
            <a:ext cx="6280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❌ WRONG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9067548" y="4584055"/>
            <a:ext cx="2591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一点 / 十三点</a:t>
            </a:r>
            <a:endParaRPr lang="en-US" sz="1500" dirty="0"/>
          </a:p>
        </p:txBody>
      </p:sp>
      <p:sp>
        <p:nvSpPr>
          <p:cNvPr id="67" name="Text 65"/>
          <p:cNvSpPr/>
          <p:nvPr/>
        </p:nvSpPr>
        <p:spPr>
          <a:xfrm>
            <a:off x="9067548" y="4837956"/>
            <a:ext cx="25911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60分 = 1 hour, rolls over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344424" y="5240982"/>
            <a:ext cx="115031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 items · 3 correct · 5 wrong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5029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Final Sprint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894164" y="1308497"/>
            <a:ext cx="240352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38–42 min · Individual · Diagnostic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540425" y="1502122"/>
            <a:ext cx="1111151" cy="1111151"/>
          </a:xfrm>
          <a:prstGeom prst="roundRect">
            <a:avLst>
              <a:gd name="adj" fmla="val 82293"/>
            </a:avLst>
          </a:prstGeom>
          <a:solidFill>
            <a:srgbClr val="1E2A38"/>
          </a:solidFill>
          <a:ln w="476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698273" y="1817936"/>
            <a:ext cx="795305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4:00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847951" y="2173486"/>
            <a:ext cx="49609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>
                    <a:alpha val="6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MINUTES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4421139" y="2816423"/>
            <a:ext cx="3349722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3-Question Test Sprint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846862" y="3371999"/>
            <a:ext cx="449827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Final challenge — individual mode, silent, collected as diagnostic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359646" y="3775174"/>
            <a:ext cx="1056977" cy="400050"/>
          </a:xfrm>
          <a:prstGeom prst="roundRect">
            <a:avLst>
              <a:gd name="adj" fmla="val 3171429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5721" y="3870424"/>
            <a:ext cx="62482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🔈 Silent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43574" y="3775174"/>
            <a:ext cx="1324273" cy="400050"/>
          </a:xfrm>
          <a:prstGeom prst="roundRect">
            <a:avLst>
              <a:gd name="adj" fmla="val 3171429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756976" y="3870424"/>
            <a:ext cx="8974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📝 Individual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94797" y="3775174"/>
            <a:ext cx="1315492" cy="400050"/>
          </a:xfrm>
          <a:prstGeom prst="roundRect">
            <a:avLst>
              <a:gd name="adj" fmla="val 3171429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208286" y="3870424"/>
            <a:ext cx="88851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📋 Collected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37239" y="3775174"/>
            <a:ext cx="1395115" cy="400050"/>
          </a:xfrm>
          <a:prstGeom prst="roundRect">
            <a:avLst>
              <a:gd name="adj" fmla="val 3171429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649932" y="3870424"/>
            <a:ext cx="96972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🎯 Diagnostic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921919" y="4378375"/>
            <a:ext cx="4348163" cy="1323529"/>
          </a:xfrm>
          <a:prstGeom prst="roundRect">
            <a:avLst>
              <a:gd name="adj" fmla="val 7676"/>
            </a:avLst>
          </a:prstGeom>
          <a:solidFill>
            <a:srgbClr val="F6F2E8"/>
          </a:solidFill>
          <a:ln w="19050">
            <a:solidFill>
              <a:srgbClr val="D4CDB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312295" y="4575125"/>
            <a:ext cx="356741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TEST-STYLE QUESTIONS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60727" y="4794200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938698" y="4824264"/>
            <a:ext cx="470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EFCF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143719" y="4795689"/>
            <a:ext cx="220921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Vocabulary: 汉字 → 拼音 → 英文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347270" y="5048101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415829" y="5078164"/>
            <a:ext cx="658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EFCF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619993" y="5049589"/>
            <a:ext cx="325666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Translate: English → Chinese (time expression)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054054" y="5302002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122460" y="5332065"/>
            <a:ext cx="663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EFCF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340915" y="5303490"/>
            <a:ext cx="181467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Spot the error &amp; correct it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81746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Show Finale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106235" y="1738313"/>
            <a:ext cx="197938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42–46 min · Award Ceremony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825761" y="1931938"/>
            <a:ext cx="4540478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Medal Ceremony · 颁奖典礼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282087" y="2487513"/>
            <a:ext cx="362767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Congratulations to all teams for an incredible effort!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787688" y="3144589"/>
            <a:ext cx="514922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🥈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3782831" y="3858964"/>
            <a:ext cx="52448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SILVER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523245" y="4090690"/>
            <a:ext cx="1043657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Almost There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3245" y="4303961"/>
            <a:ext cx="104365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差一点就满分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156198" y="4583162"/>
            <a:ext cx="1777901" cy="304800"/>
          </a:xfrm>
          <a:prstGeom prst="roundRect">
            <a:avLst>
              <a:gd name="adj" fmla="val 25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838390" y="2941439"/>
            <a:ext cx="514922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🥇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5888182" y="3655814"/>
            <a:ext cx="41533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GOLD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169841" y="3887539"/>
            <a:ext cx="1852169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Test-Ready Champions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69841" y="4100810"/>
            <a:ext cx="1852169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考试达人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206901" y="4380012"/>
            <a:ext cx="1777901" cy="507950"/>
          </a:xfrm>
          <a:prstGeom prst="roundRect">
            <a:avLst>
              <a:gd name="adj" fmla="val 1500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889242" y="3246239"/>
            <a:ext cx="514922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🥉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7841424" y="3960614"/>
            <a:ext cx="61055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BRONZE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483316" y="4192339"/>
            <a:ext cx="1326773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Solid Foundation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483316" y="4405610"/>
            <a:ext cx="1326773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基础扎实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257752" y="4684812"/>
            <a:ext cx="1777901" cy="203150"/>
          </a:xfrm>
          <a:prstGeom prst="roundRect">
            <a:avLst>
              <a:gd name="adj" fmla="val 37509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222275" y="5091113"/>
            <a:ext cx="374745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Final team scores: TBA  ·  Top scorer bonus: +10 pts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3236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1767036"/>
            <a:ext cx="111922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46–50 min · Plenary + Self-Assessment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600" y="1960662"/>
            <a:ext cx="1119225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 &amp; Reflect · 复习反思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09600" y="2465487"/>
            <a:ext cx="1119225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09600" y="2708374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49201" y="2640062"/>
            <a:ext cx="37430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translate any time between English and Chinese.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09600" y="2908399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49201" y="2840087"/>
            <a:ext cx="307951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identify and correct common mistakes.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09600" y="3108424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49201" y="3040112"/>
            <a:ext cx="32126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feel confident and ready for the Unit 4.1 test.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09600" y="3392537"/>
            <a:ext cx="5365700" cy="1146125"/>
          </a:xfrm>
          <a:prstGeom prst="roundRect">
            <a:avLst>
              <a:gd name="adj" fmla="val 886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12750" y="3544937"/>
            <a:ext cx="50585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📝 Self-Assessment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12750" y="3786188"/>
            <a:ext cx="5058588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 your paper, write down </a:t>
            </a:r>
            <a:pPr algn="l" indent="0" marL="0">
              <a:buNone/>
            </a:pPr>
            <a:r>
              <a:rPr lang="en-US" sz="11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 thing you're most confident</a:t>
            </a:r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about for the test, and </a:t>
            </a:r>
            <a:pPr algn="l" indent="0" marL="0">
              <a:buNone/>
            </a:pPr>
            <a:r>
              <a:rPr lang="en-US" sz="11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 thing you want to review</a:t>
            </a:r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one more time before test day.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78451" y="3392537"/>
            <a:ext cx="5403949" cy="1146125"/>
          </a:xfrm>
          <a:prstGeom prst="roundRect">
            <a:avLst>
              <a:gd name="adj" fmla="val 8865"/>
            </a:avLst>
          </a:prstGeom>
          <a:solidFill>
            <a:srgbClr val="C8943E">
              <a:alpha val="12000"/>
            </a:srgbClr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400651" y="3637955"/>
            <a:ext cx="50587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📋 Diagnostic Collected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6400651" y="3866555"/>
            <a:ext cx="5058739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Your 3-Question Sprint will be marked and returned next lesson with personalised feedback.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09600" y="4665613"/>
            <a:ext cx="188146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☝ 1 finger = Need more practice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682776" y="4665613"/>
            <a:ext cx="159470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✌ 2 fingers = Getting there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474815" y="4665613"/>
            <a:ext cx="151698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✋ 3 fingers = Test-ready!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99872" y="4957614"/>
            <a:ext cx="111922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🎉 Good luck on the test — 加油！🎉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2026-06-29T00:19:51Z</dcterms:created>
  <dcterms:modified xsi:type="dcterms:W3CDTF">2026-06-29T00:19:51Z</dcterms:modified>
</cp:coreProperties>
</file>