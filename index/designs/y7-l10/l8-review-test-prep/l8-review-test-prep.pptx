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6"/>
    <p:sldId id="258" r:id="rId4"/>
    <p:sldId id="259" r:id="rId5"/>
    <p:sldId id="260" r:id="rId6"/>
    <p:sldId id="274" r:id="rId25"/>
    <p:sldId id="261" r:id="rId7"/>
    <p:sldId id="273" r:id="rId24"/>
    <p:sldId id="262" r:id="rId8"/>
    <p:sldId id="263" r:id="rId9"/>
    <p:sldId id="272" r:id="rId23"/>
    <p:sldId id="264" r:id="rId10"/>
    <p:sldId id="271" r:id="rId22"/>
    <p:sldId id="265" r:id="rId11"/>
    <p:sldId id="266" r:id="rId12"/>
    <p:sldId id="270" r:id="rId21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22850" y="1664494"/>
            <a:ext cx="1346150" cy="1346150"/>
          </a:xfrm>
          <a:prstGeom prst="roundRect">
            <a:avLst>
              <a:gd name="adj" fmla="val 67927"/>
            </a:avLst>
          </a:prstGeom>
          <a:solidFill>
            <a:srgbClr val="C8943E">
              <a:alpha val="8000"/>
            </a:srgbClr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38390" y="1980456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4000"/>
              </a:spcAft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797981" y="3213795"/>
            <a:ext cx="45960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· Y7 Unit 4.1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97981" y="3496270"/>
            <a:ext cx="4596039" cy="894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040"/>
              </a:lnSpc>
              <a:buNone/>
            </a:pPr>
            <a:r>
              <a:rPr lang="en-US" sz="6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考试</a:t>
            </a:r>
            <a:pPr algn="ctr" indent="0" marL="0">
              <a:lnSpc>
                <a:spcPts val="7040"/>
              </a:lnSpc>
              <a:buNone/>
            </a:pPr>
            <a:r>
              <a:rPr lang="en-US" sz="6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</a:t>
            </a:r>
            <a:pPr algn="ctr" indent="0" marL="0">
              <a:lnSpc>
                <a:spcPts val="7040"/>
              </a:lnSpc>
              <a:buNone/>
            </a:pPr>
            <a:r>
              <a:rPr lang="en-US" sz="6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挑战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3797981" y="4441031"/>
            <a:ext cx="45960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Beat the Test · Review &amp; Test Preparation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97981" y="5031581"/>
            <a:ext cx="45960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Game Show Format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7439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Warm-Up Round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019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0–6 min · Team Warm-Up · Not for 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295525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Warm-Up Round · 热身赛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7113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quick questions — discuss with your team. No points, just warm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8456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26714" y="332869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816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"o'clock" in Chinese?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816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5" name="Text 13"/>
          <p:cNvSpPr/>
          <p:nvPr/>
        </p:nvSpPr>
        <p:spPr>
          <a:xfrm>
            <a:off x="282952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0448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34793" y="332869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3808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mean?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3808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0" name="Text 18"/>
          <p:cNvSpPr/>
          <p:nvPr/>
        </p:nvSpPr>
        <p:spPr>
          <a:xfrm>
            <a:off x="504944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2440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54410" y="3328690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5800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5800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5" name="Text 23"/>
          <p:cNvSpPr/>
          <p:nvPr/>
        </p:nvSpPr>
        <p:spPr>
          <a:xfrm>
            <a:off x="726936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4432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273875" y="332869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77921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77921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0" name="Text 28"/>
          <p:cNvSpPr/>
          <p:nvPr/>
        </p:nvSpPr>
        <p:spPr>
          <a:xfrm>
            <a:off x="9489281" y="3070027"/>
            <a:ext cx="2093119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36439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494551" y="3328690"/>
            <a:ext cx="82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597839" y="3692128"/>
            <a:ext cx="18760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597839" y="4159448"/>
            <a:ext cx="1876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5" name="Text 33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9872" y="4784675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minute timer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55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Game Rules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22736"/>
            <a:ext cx="5362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6–8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316361"/>
            <a:ext cx="53629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2871936"/>
            <a:ext cx="5257800" cy="88582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8650" y="2871936"/>
            <a:ext cx="0" cy="88582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850" y="3024336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0850" y="3186261"/>
            <a:ext cx="490966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confidently demonstrate our time-telling skills for the Unit 4.1 test.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960912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7082" y="4010025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52351" y="3960912"/>
            <a:ext cx="31144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any time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between English and Chinese.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9600" y="4303663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7855" y="4352776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52351" y="4303663"/>
            <a:ext cx="25213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Identify and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common mistakes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9600" y="464641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7706" y="4695527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52351" y="4646414"/>
            <a:ext cx="2408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Feel </a:t>
            </a:r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confident and ready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the test.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24600" y="2002036"/>
            <a:ext cx="5257800" cy="2196852"/>
          </a:xfrm>
          <a:prstGeom prst="roundRect">
            <a:avLst>
              <a:gd name="adj" fmla="val 4625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46800" y="2198787"/>
            <a:ext cx="49096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SHOW RULES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46800" y="2487662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🎲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13500" y="2530525"/>
            <a:ext cx="12573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rounds + final sprint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46800" y="2811512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3500" y="2854375"/>
            <a:ext cx="21724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 in teams — earn points together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46800" y="3135362"/>
            <a:ext cx="12144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42063" y="3163937"/>
            <a:ext cx="15268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Strict time limits per round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46800" y="3430637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13500" y="3473500"/>
            <a:ext cx="22910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 to answer — teacher confirms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546800" y="3754487"/>
            <a:ext cx="1943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3500" y="3797350"/>
            <a:ext cx="15383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Winning team gets medals!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24600" y="4351288"/>
            <a:ext cx="5257800" cy="657076"/>
          </a:xfrm>
          <a:prstGeom prst="roundRect">
            <a:avLst>
              <a:gd name="adj" fmla="val 11597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53277" y="4478238"/>
            <a:ext cx="50004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R1 Vocab: 150 pts  ·  R2 Translate: 180 pts  ·  R3 Errors: 160 pts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53277" y="4671864"/>
            <a:ext cx="50004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Total possible: 490 points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493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35803" y="1157585"/>
            <a:ext cx="13202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351211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C8943E">
              <a:alpha val="8000"/>
            </a:srgbClr>
          </a:solidFill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632049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2038499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1893" y="2665512"/>
            <a:ext cx="4148215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34060" y="3354437"/>
            <a:ext cx="9237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词汇闪电战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40083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487763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91638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4008388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4972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925913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830687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4008388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487763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150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916388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870424" y="5449639"/>
            <a:ext cx="4451152" cy="403027"/>
          </a:xfrm>
          <a:prstGeom prst="roundRect">
            <a:avLst>
              <a:gd name="adj" fmla="val 3148002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136809" y="5551140"/>
            <a:ext cx="3918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Format: 汉字 → 拼音 → 英文  |  Match test question style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1–8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2417713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4" name="Text 12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5" name="Text 13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6" name="Text 14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7" name="Text 15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2985" y="2417713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1" name="Text 19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2" name="Text 20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3" name="Text 21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4" name="Text 22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380" y="2417713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8" name="Text 26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9" name="Text 27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0" name="Text 28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1" name="Text 29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774" y="2417713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5" name="Text 33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6" name="Text 34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7" name="Text 35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8" name="Text 36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583" y="3895576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2" name="Text 40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3" name="Text 41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4" name="Text 42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5" name="Text 43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02973" y="3895576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9" name="Text 47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0" name="Text 48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1" name="Text 49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2" name="Text 50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2425" y="3895576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零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6" name="Text 54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7" name="Text 55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8" name="Text 56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9" name="Text 57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041776" y="3895576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90684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90684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3" name="Text 61"/>
          <p:cNvSpPr/>
          <p:nvPr/>
        </p:nvSpPr>
        <p:spPr>
          <a:xfrm>
            <a:off x="90684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4" name="Text 62"/>
          <p:cNvSpPr/>
          <p:nvPr/>
        </p:nvSpPr>
        <p:spPr>
          <a:xfrm>
            <a:off x="90684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5" name="Text 63"/>
          <p:cNvSpPr/>
          <p:nvPr/>
        </p:nvSpPr>
        <p:spPr>
          <a:xfrm>
            <a:off x="90684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6" name="Text 64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1–8 of 15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9–15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573" y="2417713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4" name="Text 12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5" name="Text 13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6" name="Text 14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7" name="Text 15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2570" y="2417713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1" name="Text 19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2" name="Text 20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3" name="Text 21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4" name="Text 22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145" y="2417713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8" name="Text 26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9" name="Text 27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0" name="Text 28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1" name="Text 29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383" y="2417713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5" name="Text 33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6" name="Text 34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7" name="Text 35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8" name="Text 36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179" y="3895576"/>
            <a:ext cx="99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2" name="Text 40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3" name="Text 41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4" name="Text 42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5" name="Text 43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02573" y="3895576"/>
            <a:ext cx="99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9" name="Text 47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0" name="Text 48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1" name="Text 49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2" name="Text 50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1980" y="3895576"/>
            <a:ext cx="989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6" name="Text 54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7" name="Text 55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8" name="Text 56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9" name="Text 57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noFill/>
          <a:ln w="9525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9–15 of 15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672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85858" y="1192411"/>
            <a:ext cx="1420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386036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3A7D8C">
              <a:alpha val="8000"/>
            </a:srgbClr>
          </a:solidFill>
          <a:ln w="476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666875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2073325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910468" y="2700338"/>
            <a:ext cx="437106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726507" y="3389263"/>
            <a:ext cx="7389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翻译对决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40432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5225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9512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4043214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5321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96073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8655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40432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5225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180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9512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68912" y="5484465"/>
            <a:ext cx="1150888" cy="333375"/>
          </a:xfrm>
          <a:prstGeom prst="roundRect">
            <a:avLst>
              <a:gd name="adj" fmla="val 3805714"/>
            </a:avLst>
          </a:prstGeom>
          <a:solidFill>
            <a:srgbClr val="3A7D8C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90575" y="5560665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72200" y="5484465"/>
            <a:ext cx="1150888" cy="333375"/>
          </a:xfrm>
          <a:prstGeom prst="roundRect">
            <a:avLst>
              <a:gd name="adj" fmla="val 3805714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93863" y="5560665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67580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69430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20905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1–6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257413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27010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29994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4" name="Text 12"/>
          <p:cNvSpPr/>
          <p:nvPr/>
        </p:nvSpPr>
        <p:spPr>
          <a:xfrm>
            <a:off x="626992" y="3272433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5" name="Text 13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275534" y="2523381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51169" y="257413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394575" y="27010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94575" y="29994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0" name="Text 18"/>
          <p:cNvSpPr/>
          <p:nvPr/>
        </p:nvSpPr>
        <p:spPr>
          <a:xfrm>
            <a:off x="4394575" y="327243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1" name="Text 19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043267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8897" y="257413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162309" y="2701082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6" name="Text 24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7" name="Text 25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07950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83574" y="3908227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6992" y="40351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6992" y="43335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2" name="Text 30"/>
          <p:cNvSpPr/>
          <p:nvPr/>
        </p:nvSpPr>
        <p:spPr>
          <a:xfrm>
            <a:off x="626992" y="4606528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3" name="Text 31"/>
          <p:cNvSpPr/>
          <p:nvPr/>
        </p:nvSpPr>
        <p:spPr>
          <a:xfrm>
            <a:off x="3555549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275534" y="3857476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51167" y="3908227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94575" y="43335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8" name="Text 36"/>
          <p:cNvSpPr/>
          <p:nvPr/>
        </p:nvSpPr>
        <p:spPr>
          <a:xfrm>
            <a:off x="4394575" y="460652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9" name="Text 37"/>
          <p:cNvSpPr/>
          <p:nvPr/>
        </p:nvSpPr>
        <p:spPr>
          <a:xfrm>
            <a:off x="7323281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043267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118890" y="39082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五点零五分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4" name="Text 42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5" name="Text 43"/>
          <p:cNvSpPr/>
          <p:nvPr/>
        </p:nvSpPr>
        <p:spPr>
          <a:xfrm>
            <a:off x="11090865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96189" y="519157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1–6 of 12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493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429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8255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625" y="2447627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6992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5" name="Text 13"/>
          <p:cNvSpPr/>
          <p:nvPr/>
        </p:nvSpPr>
        <p:spPr>
          <a:xfrm>
            <a:off x="626992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6" name="Text 14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275534" y="2396877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51160" y="2447627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394575" y="257457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394575" y="2889349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1" name="Text 19"/>
          <p:cNvSpPr/>
          <p:nvPr/>
        </p:nvSpPr>
        <p:spPr>
          <a:xfrm>
            <a:off x="4394575" y="3162300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2" name="Text 20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043267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18890" y="24476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162309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162309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8" name="Text 26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9" name="Text 27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3170" y="3908227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6992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一点一刻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6992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4" name="Text 32"/>
          <p:cNvSpPr/>
          <p:nvPr/>
        </p:nvSpPr>
        <p:spPr>
          <a:xfrm>
            <a:off x="626992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5" name="Text 33"/>
          <p:cNvSpPr/>
          <p:nvPr/>
        </p:nvSpPr>
        <p:spPr>
          <a:xfrm>
            <a:off x="3555549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275534" y="3857476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0929" y="3908227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394575" y="4333577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(best way)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94575" y="447645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1" name="Text 39"/>
          <p:cNvSpPr/>
          <p:nvPr/>
        </p:nvSpPr>
        <p:spPr>
          <a:xfrm>
            <a:off x="4394575" y="474940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2" name="Text 40"/>
          <p:cNvSpPr/>
          <p:nvPr/>
        </p:nvSpPr>
        <p:spPr>
          <a:xfrm>
            <a:off x="7323281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043267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18500" y="3908227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7" name="Text 45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8" name="Text 46"/>
          <p:cNvSpPr/>
          <p:nvPr/>
        </p:nvSpPr>
        <p:spPr>
          <a:xfrm>
            <a:off x="11090865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96189" y="531807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7–12 of 12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670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85554" y="1001911"/>
            <a:ext cx="14208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195536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D4756B">
              <a:alpha val="8000"/>
            </a:srgbClr>
          </a:solidFill>
          <a:ln w="476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98695" y="1476375"/>
            <a:ext cx="194462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872393" y="1882825"/>
            <a:ext cx="447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10518" y="2509838"/>
            <a:ext cx="257096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726507" y="3198763"/>
            <a:ext cx="7389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错误悬赏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26147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7349" y="38527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67349" y="43320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67349" y="47607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07050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48251" y="3852714"/>
            <a:ext cx="129534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⏲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48251" y="43416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48251" y="4770239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87952" y="3675013"/>
            <a:ext cx="1777752" cy="1415802"/>
          </a:xfrm>
          <a:prstGeom prst="roundRect">
            <a:avLst>
              <a:gd name="adj" fmla="val 717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29153" y="3852714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29153" y="4332089"/>
            <a:ext cx="12953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160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429153" y="476071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Points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78188" y="5293965"/>
            <a:ext cx="4035623" cy="714375"/>
          </a:xfrm>
          <a:prstGeom prst="roundRect">
            <a:avLst>
              <a:gd name="adj" fmla="val 14222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400493" y="5446365"/>
            <a:ext cx="33910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Spot the error + ✅ Write the correction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0493" y="5694015"/>
            <a:ext cx="33910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pts each — some items are already correct!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0368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Bounty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51843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 · 20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45469"/>
            <a:ext cx="115031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 · 错误悬赏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156520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mistake &amp; write the correct form — some are already right!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44539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2997" y="2496145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299" y="2572345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二点十分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937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1471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5" name="Text 13"/>
          <p:cNvSpPr/>
          <p:nvPr/>
        </p:nvSpPr>
        <p:spPr>
          <a:xfrm>
            <a:off x="533299" y="322436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6" name="Text 14"/>
          <p:cNvSpPr/>
          <p:nvPr/>
        </p:nvSpPr>
        <p:spPr>
          <a:xfrm>
            <a:off x="533299" y="3478262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17" name="Text 15"/>
          <p:cNvSpPr/>
          <p:nvPr/>
        </p:nvSpPr>
        <p:spPr>
          <a:xfrm>
            <a:off x="3301901" y="244539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77535" y="2496145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77998" y="2572345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04395" y="2935635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298542" y="2960936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2" name="Text 20"/>
          <p:cNvSpPr/>
          <p:nvPr/>
        </p:nvSpPr>
        <p:spPr>
          <a:xfrm>
            <a:off x="3377998" y="322436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377998" y="3478262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4" name="Text 22"/>
          <p:cNvSpPr/>
          <p:nvPr/>
        </p:nvSpPr>
        <p:spPr>
          <a:xfrm>
            <a:off x="6146750" y="244539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380" y="2496145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22849" y="2572345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三点五分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0892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0426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29" name="Text 27"/>
          <p:cNvSpPr/>
          <p:nvPr/>
        </p:nvSpPr>
        <p:spPr>
          <a:xfrm>
            <a:off x="6222849" y="322436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0" name="Text 28"/>
          <p:cNvSpPr/>
          <p:nvPr/>
        </p:nvSpPr>
        <p:spPr>
          <a:xfrm>
            <a:off x="6222849" y="3478262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1" name="Text 29"/>
          <p:cNvSpPr/>
          <p:nvPr/>
        </p:nvSpPr>
        <p:spPr>
          <a:xfrm>
            <a:off x="8991451" y="244539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67075" y="2496145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7548" y="2572345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七差十分点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5377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04911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6" name="Text 34"/>
          <p:cNvSpPr/>
          <p:nvPr/>
        </p:nvSpPr>
        <p:spPr>
          <a:xfrm>
            <a:off x="9067548" y="322436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7" name="Text 35"/>
          <p:cNvSpPr/>
          <p:nvPr/>
        </p:nvSpPr>
        <p:spPr>
          <a:xfrm>
            <a:off x="9067548" y="3478262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38" name="Text 36"/>
          <p:cNvSpPr/>
          <p:nvPr/>
        </p:nvSpPr>
        <p:spPr>
          <a:xfrm>
            <a:off x="457200" y="3830538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2833" y="3881289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3329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35954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5369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3" name="Text 41"/>
          <p:cNvSpPr/>
          <p:nvPr/>
        </p:nvSpPr>
        <p:spPr>
          <a:xfrm>
            <a:off x="533299" y="460950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33299" y="486340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45" name="Text 43"/>
          <p:cNvSpPr/>
          <p:nvPr/>
        </p:nvSpPr>
        <p:spPr>
          <a:xfrm>
            <a:off x="3301901" y="3830538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377523" y="3881289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37799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差十分二点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264223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359567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0" name="Text 48"/>
          <p:cNvSpPr/>
          <p:nvPr/>
        </p:nvSpPr>
        <p:spPr>
          <a:xfrm>
            <a:off x="3377998" y="460950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1" name="Text 49"/>
          <p:cNvSpPr/>
          <p:nvPr/>
        </p:nvSpPr>
        <p:spPr>
          <a:xfrm>
            <a:off x="3377998" y="486340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2" name="Text 50"/>
          <p:cNvSpPr/>
          <p:nvPr/>
        </p:nvSpPr>
        <p:spPr>
          <a:xfrm>
            <a:off x="6146750" y="3830538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2425" y="3881289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2284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704909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14324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7" name="Text 55"/>
          <p:cNvSpPr/>
          <p:nvPr/>
        </p:nvSpPr>
        <p:spPr>
          <a:xfrm>
            <a:off x="6222849" y="460950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222849" y="486340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59" name="Text 57"/>
          <p:cNvSpPr/>
          <p:nvPr/>
        </p:nvSpPr>
        <p:spPr>
          <a:xfrm>
            <a:off x="8991451" y="3830538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067077" y="3881289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906754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十二点六十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9953774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0049118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4" name="Text 62"/>
          <p:cNvSpPr/>
          <p:nvPr/>
        </p:nvSpPr>
        <p:spPr>
          <a:xfrm>
            <a:off x="9067548" y="460950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5" name="Text 63"/>
          <p:cNvSpPr/>
          <p:nvPr/>
        </p:nvSpPr>
        <p:spPr>
          <a:xfrm>
            <a:off x="9067548" y="486340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p:p>
            <a:r>
              <a:t/>
            </a:r>
          </p:p>
        </p:txBody>
      </p:sp>
      <p:sp>
        <p:nvSpPr>
          <p:cNvPr id="66" name="Text 64"/>
          <p:cNvSpPr/>
          <p:nvPr/>
        </p:nvSpPr>
        <p:spPr>
          <a:xfrm>
            <a:off x="344424" y="5215682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· 3 correct · 5 wrong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5029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94164" y="1308497"/>
            <a:ext cx="24035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38–42 min · Individual · Diagnostic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40425" y="1502122"/>
            <a:ext cx="1111151" cy="1111151"/>
          </a:xfrm>
          <a:prstGeom prst="roundRect">
            <a:avLst>
              <a:gd name="adj" fmla="val 82293"/>
            </a:avLst>
          </a:prstGeom>
          <a:solidFill>
            <a:srgbClr val="1E2A38"/>
          </a:solidFill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98273" y="1817936"/>
            <a:ext cx="795305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847951" y="2173486"/>
            <a:ext cx="496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>
                    <a:alpha val="6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421139" y="2816423"/>
            <a:ext cx="334972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3-Question Test Sprint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846862" y="3371999"/>
            <a:ext cx="44982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challenge — individual mode, silent, collected as diagnostic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59646" y="3775174"/>
            <a:ext cx="1056977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5721" y="3870424"/>
            <a:ext cx="6248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🔈 Silent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43574" y="3775174"/>
            <a:ext cx="1324273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56976" y="3870424"/>
            <a:ext cx="8974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Individual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4797" y="3775174"/>
            <a:ext cx="1315492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08286" y="3870424"/>
            <a:ext cx="888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Collected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37239" y="3775174"/>
            <a:ext cx="1395115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649932" y="3870424"/>
            <a:ext cx="9697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Diagnostic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21919" y="4378375"/>
            <a:ext cx="4348163" cy="1323529"/>
          </a:xfrm>
          <a:prstGeom prst="roundRect">
            <a:avLst>
              <a:gd name="adj" fmla="val 7676"/>
            </a:avLst>
          </a:prstGeom>
          <a:solidFill>
            <a:srgbClr val="F6F2E8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312295" y="4575125"/>
            <a:ext cx="3567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TEST-STYLE QUESTIONS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60727" y="479420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38698" y="4824264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43719" y="4795689"/>
            <a:ext cx="22092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Vocabulary: 汉字 → 拼音 → 英文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47270" y="5048101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415829" y="5078164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19993" y="5049589"/>
            <a:ext cx="32566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English → Chinese (time expression)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54054" y="530200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122460" y="5332065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340915" y="5303490"/>
            <a:ext cx="18146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error &amp; correct 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8174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Show Finale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06235" y="1738313"/>
            <a:ext cx="1979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42–46 min · Award Ceremony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825761" y="1931938"/>
            <a:ext cx="454047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Medal Ceremony · 颁奖典礼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82087" y="2487513"/>
            <a:ext cx="36276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Congratulations to all teams for an incredible effort!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87688" y="314458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🥈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82831" y="3858964"/>
            <a:ext cx="5244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3245" y="4090690"/>
            <a:ext cx="104365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There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3245" y="4303961"/>
            <a:ext cx="104365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差一点就满分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6198" y="4583162"/>
            <a:ext cx="1777901" cy="304800"/>
          </a:xfrm>
          <a:prstGeom prst="roundRect">
            <a:avLst>
              <a:gd name="adj" fmla="val 25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38390" y="294143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🥇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888182" y="3655814"/>
            <a:ext cx="4153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69841" y="3887539"/>
            <a:ext cx="185216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Test-Ready Champions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69841" y="4100810"/>
            <a:ext cx="185216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考试达人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06901" y="4380012"/>
            <a:ext cx="1777901" cy="507950"/>
          </a:xfrm>
          <a:prstGeom prst="roundRect">
            <a:avLst>
              <a:gd name="adj" fmla="val 1500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889242" y="3246239"/>
            <a:ext cx="514922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🥉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841424" y="3960614"/>
            <a:ext cx="6105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83316" y="4192339"/>
            <a:ext cx="132677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Solid Foundation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83316" y="4405610"/>
            <a:ext cx="132677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基础扎实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57752" y="4684812"/>
            <a:ext cx="1777901" cy="203150"/>
          </a:xfrm>
          <a:prstGeom prst="roundRect">
            <a:avLst>
              <a:gd name="adj" fmla="val 3750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2275" y="5091113"/>
            <a:ext cx="37474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team scores: TBA  ·  Top scorer bonus: +10 pts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767036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46–50 min · Plenary + Self-Assessment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960662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复习反思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2465487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09600" y="270837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9201" y="2640062"/>
            <a:ext cx="37430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any time between English and Chinese.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908399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9201" y="2840087"/>
            <a:ext cx="3079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identify and correct common mistakes.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9600" y="310842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9201" y="3040112"/>
            <a:ext cx="3212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feel confident and ready for the Unit 4.1 test.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9600" y="3392537"/>
            <a:ext cx="5365700" cy="1146125"/>
          </a:xfrm>
          <a:prstGeom prst="roundRect">
            <a:avLst>
              <a:gd name="adj" fmla="val 88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2750" y="3544937"/>
            <a:ext cx="50585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12750" y="3786188"/>
            <a:ext cx="505858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write down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you're most confident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for the test, and </a:t>
            </a:r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 want to review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one more time before test day.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78451" y="3392537"/>
            <a:ext cx="5403949" cy="1146125"/>
          </a:xfrm>
          <a:prstGeom prst="roundRect">
            <a:avLst>
              <a:gd name="adj" fmla="val 8865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00651" y="3637955"/>
            <a:ext cx="5058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Diagnostic Collected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400651" y="3866555"/>
            <a:ext cx="505873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3-Question Sprint will be marked and returned next lesson with personalised feedback.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9600" y="4665613"/>
            <a:ext cx="18814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 1 finger = Need more practice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82776" y="4665613"/>
            <a:ext cx="159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 2 fingers = Getting there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74815" y="4665613"/>
            <a:ext cx="15169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 3 fingers = Test-ready!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9872" y="4957614"/>
            <a:ext cx="111922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🎉 Good luck on the test — 加油！🎉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0368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Bounty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51843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30–38 min · Round 3 · 20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45469"/>
            <a:ext cx="115031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Bounty · 错误悬赏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156520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mistake &amp; write the correct form — some are already right!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44539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2997" y="2496145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299" y="2572345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二点十分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937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1471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3299" y="322436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3299" y="3478262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→ 两 before 点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301901" y="244539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77535" y="2496145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77998" y="2572345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04395" y="2935635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298542" y="2960936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77998" y="322436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四点三十分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377998" y="3478262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46750" y="2445395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380" y="2496145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22849" y="2572345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三点五分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0892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0426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22849" y="322436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三点零五分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222849" y="3478262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 零 for single-digit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991451" y="2445395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67075" y="2496145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7548" y="2572345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七差十分点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953774" y="2935635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049118" y="2960936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067548" y="322436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067548" y="3478262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差 X 分 Y 点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57200" y="3830538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2833" y="3881289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3329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35954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5369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3299" y="460950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六点十五分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33299" y="486340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301901" y="3830538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377523" y="3881289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37799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差十分二点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264223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359567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377998" y="460950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差十分两点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3377998" y="486340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 → 两 before 点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146750" y="3830538"/>
            <a:ext cx="2743200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2425" y="3881289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22849" y="3957489"/>
            <a:ext cx="259100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7049095" y="4320778"/>
            <a:ext cx="93836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7143242" y="4346079"/>
            <a:ext cx="7500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CORRECT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222849" y="460950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九点三刻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222849" y="486340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error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991451" y="3830538"/>
            <a:ext cx="2743349" cy="1283643"/>
          </a:xfrm>
          <a:prstGeom prst="roundRect">
            <a:avLst>
              <a:gd name="adj" fmla="val 59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067077" y="3881289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9067548" y="3957489"/>
            <a:ext cx="259115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十二点六十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9953774" y="4320778"/>
            <a:ext cx="818704" cy="212527"/>
          </a:xfrm>
          <a:prstGeom prst="roundRect">
            <a:avLst>
              <a:gd name="adj" fmla="val 5969736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0049118" y="4346079"/>
            <a:ext cx="6280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WRONG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067548" y="460950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 / 十三点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9067548" y="486340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60分 = 1 hour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44424" y="5215682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· 3 correct · 5 wrong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493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429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8255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625" y="2447627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6992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992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275534" y="2396877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51160" y="2447627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394575" y="257457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394575" y="2889349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394575" y="3162300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12:30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043267" y="2396877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18890" y="24476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162309" y="257457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162309" y="2872978"/>
            <a:ext cx="34025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(using 差)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3170" y="3908227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26992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一点一刻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6992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6992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1:15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55549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275534" y="3857476"/>
            <a:ext cx="3640782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0929" y="3908227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394575" y="4333577"/>
            <a:ext cx="34027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(best way)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94575" y="447645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394575" y="474940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差十分十二点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23281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043267" y="3857476"/>
            <a:ext cx="3640634" cy="1333649"/>
          </a:xfrm>
          <a:prstGeom prst="roundRect">
            <a:avLst>
              <a:gd name="adj" fmla="val 57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18500" y="3908227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1:55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090865" y="50165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96189" y="531807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7–12 of 12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4726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Translation Showdown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67580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20–30 min · Round 2 · 15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69430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Translation Showdown · 翻译对决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20905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1–6 · Translate between English and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2574131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6992" y="27010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992" y="2999482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6992" y="3272433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55549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275534" y="2523381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51169" y="2574131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394575" y="27010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94575" y="2999482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394575" y="3272433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23281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043267" y="2523381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8897" y="2574131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8162309" y="2701082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162309" y="3015853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62309" y="3288804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6:50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090865" y="3555950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07950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83574" y="3908227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6992" y="40351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6992" y="4333577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6992" y="4606528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九点一刻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55549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275534" y="3857476"/>
            <a:ext cx="3640782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51167" y="3908227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94575" y="40351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94575" y="4333577"/>
            <a:ext cx="34027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394575" y="4606528"/>
            <a:ext cx="3402702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323281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 → 中文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043267" y="3857476"/>
            <a:ext cx="3640634" cy="1207145"/>
          </a:xfrm>
          <a:prstGeom prst="roundRect">
            <a:avLst>
              <a:gd name="adj" fmla="val 63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118890" y="3908227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62309" y="4035177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五点零五分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162309" y="4349948"/>
            <a:ext cx="3402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62309" y="4622899"/>
            <a:ext cx="340255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5:05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1090865" y="4890046"/>
            <a:ext cx="4964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中文 → EN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96189" y="519157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1–6 of 12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9–15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573" y="2417713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2570" y="2417713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三刻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kè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:45 (3 quarters)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145" y="2417713"/>
            <a:ext cx="821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kè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:15 (1 quarter)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383" y="2417713"/>
            <a:ext cx="986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179" y="3895576"/>
            <a:ext cx="99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o'clock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02573" y="3895576"/>
            <a:ext cx="99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五分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fēn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five minutes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1980" y="3895576"/>
            <a:ext cx="989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jǐ diǎn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noFill/>
          <a:ln w="9525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9–15 of 15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13885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Vocabulary Lightning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1938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Round 1 · 10 pts each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713012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Lightning · 词汇闪电战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205263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1–8 · 汉字 → 拼音 → 英文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3747" y="2417713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02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02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02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diǎn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02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2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o'clock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273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02985" y="2417713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296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296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6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6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6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467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222380" y="2417713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490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刻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490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490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kè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490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490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quarter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966150" y="2366963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041774" y="2417713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068461" y="2519363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068461" y="2879824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68461" y="3041749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068461" y="3248025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068461" y="3409950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79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3583" y="3895576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02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102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02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02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102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/ short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273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3402973" y="3895576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4296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34296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296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296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296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(before 点)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467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222425" y="3895576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2490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零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2490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490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líng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2490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490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zero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966150" y="3844826"/>
            <a:ext cx="2717899" cy="1376363"/>
          </a:xfrm>
          <a:prstGeom prst="roundRect">
            <a:avLst>
              <a:gd name="adj" fmla="val 55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9041776" y="3895576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9068461" y="3997226"/>
            <a:ext cx="251327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9068461" y="43576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9068461" y="45196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9068461" y="4725888"/>
            <a:ext cx="2513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CDB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9068461" y="4887813"/>
            <a:ext cx="25132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6189" y="534813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1–8 of 15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710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BEAT THE TEST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0676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20912" y="166688"/>
            <a:ext cx="7439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Warm-Up Round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1019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0–6 min · Team Warm-Up · Not for 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295525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Warm-Up Round · 热身赛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7113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quick questions — discuss with your team. No points, just warm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8456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26714" y="332869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816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"o'clock" in Chinese?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816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点 (diǎn)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29520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0448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834793" y="332869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3808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mean?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3808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half past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4944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2440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54410" y="3328690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58000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58000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三点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269361" y="3070027"/>
            <a:ext cx="2092970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4432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273875" y="332869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77921" y="3692128"/>
            <a:ext cx="1875851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77921" y="4159448"/>
            <a:ext cx="18758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"to"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9489281" y="3070027"/>
            <a:ext cx="2093119" cy="1409998"/>
          </a:xfrm>
          <a:prstGeom prst="roundRect">
            <a:avLst>
              <a:gd name="adj" fmla="val 72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364391" y="3247727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FEFCF7"/>
          </a:solidFill>
          <a:ln w="19050">
            <a:solidFill>
              <a:srgbClr val="D4CDB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494551" y="3328690"/>
            <a:ext cx="82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597839" y="3692128"/>
            <a:ext cx="1876002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现在几点?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597839" y="4159448"/>
            <a:ext cx="1876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Answer: What time?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9600" y="4657725"/>
            <a:ext cx="10972800" cy="76200"/>
          </a:xfrm>
          <a:prstGeom prst="roundRect">
            <a:avLst>
              <a:gd name="adj" fmla="val 166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9872" y="4784675"/>
            <a:ext cx="1119225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minute timer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2026-06-28T06:39:10Z</dcterms:created>
  <dcterms:modified xsi:type="dcterms:W3CDTF">2026-06-28T06:39:10Z</dcterms:modified>
</cp:coreProperties>
</file>