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8851" y="1754684"/>
            <a:ext cx="1054001" cy="1054001"/>
          </a:xfrm>
          <a:prstGeom prst="roundRect">
            <a:avLst>
              <a:gd name="adj" fmla="val 8675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23705" y="3011835"/>
            <a:ext cx="5744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· Y7 Unit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23705" y="3294311"/>
            <a:ext cx="5744441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刻 · Quarters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223705" y="4350841"/>
            <a:ext cx="57444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Quarter-past &amp; Quarter-to · 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23705" y="4941391"/>
            <a:ext cx="57444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· 50 mins · Speaking + Listening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9326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Clock Flash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5550" y="660350"/>
            <a:ext cx="117105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55550" y="853976"/>
            <a:ext cx="117105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Clock Face Flash · 钟表闪卡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5550" y="1193602"/>
            <a:ext cx="117105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each clock, write the DIGIT time on paper. Ready?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5550" y="1457027"/>
            <a:ext cx="2235101" cy="669727"/>
          </a:xfrm>
          <a:prstGeom prst="roundRect">
            <a:avLst>
              <a:gd name="adj" fmla="val 113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0923" y="1558528"/>
            <a:ext cx="21243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0923" y="1682353"/>
            <a:ext cx="21243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0923" y="1882378"/>
            <a:ext cx="21243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66851" y="1457027"/>
            <a:ext cx="2235250" cy="669727"/>
          </a:xfrm>
          <a:prstGeom prst="roundRect">
            <a:avLst>
              <a:gd name="adj" fmla="val 113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22223" y="1558528"/>
            <a:ext cx="2124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22223" y="1682353"/>
            <a:ext cx="2124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22223" y="1882378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78301" y="1457027"/>
            <a:ext cx="2235250" cy="669727"/>
          </a:xfrm>
          <a:prstGeom prst="roundRect">
            <a:avLst>
              <a:gd name="adj" fmla="val 113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33672" y="1558528"/>
            <a:ext cx="2124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33672" y="1682353"/>
            <a:ext cx="2124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33672" y="1882378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9:00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89750" y="1457027"/>
            <a:ext cx="2235250" cy="669727"/>
          </a:xfrm>
          <a:prstGeom prst="roundRect">
            <a:avLst>
              <a:gd name="adj" fmla="val 113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45122" y="1558528"/>
            <a:ext cx="2124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345122" y="1682353"/>
            <a:ext cx="2124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45122" y="1882378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0" y="1457027"/>
            <a:ext cx="2235101" cy="669727"/>
          </a:xfrm>
          <a:prstGeom prst="roundRect">
            <a:avLst>
              <a:gd name="adj" fmla="val 113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656573" y="1558528"/>
            <a:ext cx="21243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656573" y="1682353"/>
            <a:ext cx="21243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56573" y="1882378"/>
            <a:ext cx="21243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5550" y="2202954"/>
            <a:ext cx="2235101" cy="812602"/>
          </a:xfrm>
          <a:prstGeom prst="roundRect">
            <a:avLst>
              <a:gd name="adj" fmla="val 9377"/>
            </a:avLst>
          </a:prstGeom>
          <a:solidFill>
            <a:srgbClr val="D4756B">
              <a:alpha val="6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30354" y="2323505"/>
            <a:ext cx="20854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30354" y="2447330"/>
            <a:ext cx="20854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三点一刻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0354" y="2647355"/>
            <a:ext cx="2085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3:15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0354" y="2790230"/>
            <a:ext cx="20854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· 刻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666851" y="2202954"/>
            <a:ext cx="2235250" cy="812602"/>
          </a:xfrm>
          <a:prstGeom prst="roundRect">
            <a:avLst>
              <a:gd name="adj" fmla="val 937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722223" y="2304455"/>
            <a:ext cx="2124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722223" y="2428280"/>
            <a:ext cx="2124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22223" y="2628305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78301" y="2202954"/>
            <a:ext cx="2235250" cy="812602"/>
          </a:xfrm>
          <a:prstGeom prst="roundRect">
            <a:avLst>
              <a:gd name="adj" fmla="val 9377"/>
            </a:avLst>
          </a:prstGeom>
          <a:solidFill>
            <a:srgbClr val="D4756B">
              <a:alpha val="6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53103" y="2323505"/>
            <a:ext cx="20856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53103" y="2447330"/>
            <a:ext cx="20856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八点三刻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53103" y="2647355"/>
            <a:ext cx="20856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8:45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53103" y="2790230"/>
            <a:ext cx="20856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· 刻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289750" y="2202954"/>
            <a:ext cx="2235250" cy="812602"/>
          </a:xfrm>
          <a:prstGeom prst="roundRect">
            <a:avLst>
              <a:gd name="adj" fmla="val 937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45122" y="2304455"/>
            <a:ext cx="2124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345122" y="2428280"/>
            <a:ext cx="2124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45122" y="2628305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601200" y="2202954"/>
            <a:ext cx="2235101" cy="812602"/>
          </a:xfrm>
          <a:prstGeom prst="roundRect">
            <a:avLst>
              <a:gd name="adj" fmla="val 9377"/>
            </a:avLst>
          </a:prstGeom>
          <a:solidFill>
            <a:srgbClr val="D4756B">
              <a:alpha val="6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9676004" y="2323505"/>
            <a:ext cx="20854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9676004" y="2447330"/>
            <a:ext cx="20854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六点三刻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676004" y="2647355"/>
            <a:ext cx="2085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676004" y="2790230"/>
            <a:ext cx="20854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· 刻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55550" y="3117056"/>
            <a:ext cx="1241227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57051" y="3155156"/>
            <a:ext cx="10589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seconds per clock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749177" y="3117056"/>
            <a:ext cx="1679228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850678" y="3155156"/>
            <a:ext cx="150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DIGITS only — e.g. 2:00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580805" y="3117056"/>
            <a:ext cx="2255193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682305" y="3155156"/>
            <a:ext cx="2093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Spot the new ones? Different expression!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797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76200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81075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638300"/>
            <a:ext cx="10769798" cy="714375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0151" y="1638300"/>
            <a:ext cx="0" cy="714375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351" y="1790700"/>
            <a:ext cx="10531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52351" y="1952625"/>
            <a:ext cx="105319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say quarter-past and quarter-to times using 刻.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01" y="2581275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8583" y="2630388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3852" y="2597051"/>
            <a:ext cx="30242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quarter-past times using 一刻.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5901" y="2847826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用「一刻」说 :15 时间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101" y="3111252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9356" y="3160365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3852" y="3127028"/>
            <a:ext cx="28525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quarter-to times using 三刻.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5901" y="3377803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用「三刻」说 :45 时间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1101" y="3641229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9207" y="3690342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3852" y="3657005"/>
            <a:ext cx="36979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choose the right pattern — 点, 分, 半, or 刻.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5901" y="3907780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选择正确的时间表达方式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997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066627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2260253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2828479"/>
            <a:ext cx="5419874" cy="1721793"/>
          </a:xfrm>
          <a:prstGeom prst="roundRect">
            <a:avLst>
              <a:gd name="adj" fmla="val 7376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3333750"/>
            <a:ext cx="725475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刻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898600" y="3394025"/>
            <a:ext cx="13991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8600" y="3641675"/>
            <a:ext cx="13991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quarter of an hour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98600" y="3841700"/>
            <a:ext cx="13991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strokes · radical: 刂 (dāo)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83375" y="2828479"/>
            <a:ext cx="5299025" cy="1721793"/>
          </a:xfrm>
          <a:prstGeom prst="roundRect">
            <a:avLst>
              <a:gd name="adj" fmla="val 590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46800" y="3015704"/>
            <a:ext cx="48676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 Spotlight · p85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755318" y="3266480"/>
            <a:ext cx="61906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亥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755318" y="3769370"/>
            <a:ext cx="6190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hài · phonetic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495258" y="3422600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63268" y="3266480"/>
            <a:ext cx="488811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刂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763268" y="3769370"/>
            <a:ext cx="4888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dāo · knife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374237" y="3422600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42467" y="326648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刻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642467" y="3769370"/>
            <a:ext cx="4663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kè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99079" y="4020145"/>
            <a:ext cx="48676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刂 (knife radical) + 亥 (phonetic). Originally: to carve / notch, now: a marked division of time.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9600" y="4753421"/>
            <a:ext cx="1119225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character 刻 means "a quarter" of an hour (15 minutes). In Chinese, we say 一刻 for "one quarter" (:15 past) and 三刻 for "three quarters" (:45 past).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10498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Pattern: 一刻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857673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2051298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Quarter Past · 一刻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2429024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+ 点 + 一刻 = X:15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98020" y="2851249"/>
            <a:ext cx="484436" cy="476250"/>
          </a:xfrm>
          <a:prstGeom prst="roundRect">
            <a:avLst>
              <a:gd name="adj" fmla="val 16000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69470" y="2946499"/>
            <a:ext cx="1443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8655" y="2946499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4931" y="2851249"/>
            <a:ext cx="549176" cy="476250"/>
          </a:xfrm>
          <a:prstGeom prst="roundRect">
            <a:avLst>
              <a:gd name="adj" fmla="val 16000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6381" y="2946499"/>
            <a:ext cx="2104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0307" y="2946499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96583" y="2851249"/>
            <a:ext cx="755452" cy="476250"/>
          </a:xfrm>
          <a:prstGeom prst="roundRect">
            <a:avLst>
              <a:gd name="adj" fmla="val 16000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68033" y="2946499"/>
            <a:ext cx="4208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8234" y="2946499"/>
            <a:ext cx="128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30492" y="2851249"/>
            <a:ext cx="763339" cy="476250"/>
          </a:xfrm>
          <a:prstGeom prst="roundRect">
            <a:avLst>
              <a:gd name="adj" fmla="val 16000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01942" y="2946499"/>
            <a:ext cx="4288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X:15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7950" y="3613100"/>
            <a:ext cx="2717899" cy="749201"/>
          </a:xfrm>
          <a:prstGeom prst="roundRect">
            <a:avLst>
              <a:gd name="adj" fmla="val 135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8495" y="3740051"/>
            <a:ext cx="26168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三点一刻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8495" y="4054376"/>
            <a:ext cx="26168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27350" y="3613100"/>
            <a:ext cx="2717899" cy="749201"/>
          </a:xfrm>
          <a:prstGeom prst="roundRect">
            <a:avLst>
              <a:gd name="adj" fmla="val 135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7895" y="3740051"/>
            <a:ext cx="26168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七点一刻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77895" y="4054376"/>
            <a:ext cx="26168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6750" y="3613100"/>
            <a:ext cx="2717899" cy="749201"/>
          </a:xfrm>
          <a:prstGeom prst="roundRect">
            <a:avLst>
              <a:gd name="adj" fmla="val 135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97295" y="3740051"/>
            <a:ext cx="26168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十二点一刻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97295" y="4054376"/>
            <a:ext cx="26168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6150" y="3613100"/>
            <a:ext cx="2717899" cy="749201"/>
          </a:xfrm>
          <a:prstGeom prst="roundRect">
            <a:avLst>
              <a:gd name="adj" fmla="val 135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016695" y="3740051"/>
            <a:ext cx="26168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五点一刻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16695" y="4054376"/>
            <a:ext cx="26168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950" y="4540002"/>
            <a:ext cx="11176099" cy="612577"/>
          </a:xfrm>
          <a:prstGeom prst="roundRect">
            <a:avLst>
              <a:gd name="adj" fmla="val 12439"/>
            </a:avLst>
          </a:prstGeom>
          <a:solidFill>
            <a:srgbClr val="3A7D8C">
              <a:alpha val="10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4701" y="468912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60252" y="4660553"/>
            <a:ext cx="3665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一刻 = one quarter past the hour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60252" y="4889153"/>
            <a:ext cx="36654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Remember: 一刻 is always :15 — the minute hand is at 3 o'clock position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10498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Pattern: 三刻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504057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72233"/>
            <a:ext cx="115031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Quarter To · 三刻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859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+ 点 + 三刻 = X:45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6763" y="2370534"/>
            <a:ext cx="416421" cy="412552"/>
          </a:xfrm>
          <a:prstGeom prst="roundRect">
            <a:avLst>
              <a:gd name="adj" fmla="val 18470"/>
            </a:avLst>
          </a:prstGeom>
          <a:solidFill>
            <a:srgbClr val="EDE7D7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22763" y="2452985"/>
            <a:ext cx="1269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69384" y="2452985"/>
            <a:ext cx="116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60181" y="2370534"/>
            <a:ext cx="473125" cy="412552"/>
          </a:xfrm>
          <a:prstGeom prst="roundRect">
            <a:avLst>
              <a:gd name="adj" fmla="val 18470"/>
            </a:avLst>
          </a:prstGeom>
          <a:solidFill>
            <a:srgbClr val="EDE7D7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06182" y="2452985"/>
            <a:ext cx="1847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9506" y="2452985"/>
            <a:ext cx="116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00304" y="2370534"/>
            <a:ext cx="654248" cy="412552"/>
          </a:xfrm>
          <a:prstGeom prst="roundRect">
            <a:avLst>
              <a:gd name="adj" fmla="val 18470"/>
            </a:avLst>
          </a:prstGeom>
          <a:solidFill>
            <a:srgbClr val="EDE7D7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6304" y="2452985"/>
            <a:ext cx="3694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30752" y="2452985"/>
            <a:ext cx="1132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17978" y="2370534"/>
            <a:ext cx="697111" cy="412552"/>
          </a:xfrm>
          <a:prstGeom prst="roundRect">
            <a:avLst>
              <a:gd name="adj" fmla="val 18470"/>
            </a:avLst>
          </a:prstGeom>
          <a:solidFill>
            <a:srgbClr val="EDE7D7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63978" y="2452985"/>
            <a:ext cx="4132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X:45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005286"/>
            <a:ext cx="115031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三刻 works — counting FORWARD from the hour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3179862"/>
            <a:ext cx="11277600" cy="828377"/>
          </a:xfrm>
          <a:prstGeom prst="roundRect">
            <a:avLst>
              <a:gd name="adj" fmla="val 1226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76679" y="3332113"/>
            <a:ext cx="3485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67002" y="3541663"/>
            <a:ext cx="1678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hour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495502" y="3646438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41699" y="3489275"/>
            <a:ext cx="207062" cy="20955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77421" y="3332113"/>
            <a:ext cx="3160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4:15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69225" y="3541663"/>
            <a:ext cx="3323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quarter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524554" y="3646438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四点一刻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6198" y="3489275"/>
            <a:ext cx="207062" cy="20955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46287" y="3332113"/>
            <a:ext cx="347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25489" y="3541663"/>
            <a:ext cx="3887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quarters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786628" y="3646438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四点半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10549" y="3489275"/>
            <a:ext cx="207062" cy="20955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13550" y="3281363"/>
            <a:ext cx="2133749" cy="625376"/>
          </a:xfrm>
          <a:prstGeom prst="roundRect">
            <a:avLst>
              <a:gd name="adj" fmla="val 8123"/>
            </a:avLst>
          </a:prstGeom>
          <a:solidFill>
            <a:srgbClr val="D475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07292" y="3332113"/>
            <a:ext cx="3462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4:45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86191" y="3541663"/>
            <a:ext cx="3884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quarters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969454" y="3646438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四点三刻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47299" y="3489275"/>
            <a:ext cx="207062" cy="20955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367387" y="3332113"/>
            <a:ext cx="3471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362834" y="3541663"/>
            <a:ext cx="3561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hour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10385453" y="3646438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135189"/>
            <a:ext cx="3691533" cy="650677"/>
          </a:xfrm>
          <a:prstGeom prst="roundRect">
            <a:avLst>
              <a:gd name="adj" fmla="val 156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8009" y="4236690"/>
            <a:ext cx="36099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四点三刻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98009" y="4522440"/>
            <a:ext cx="36099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4:45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50234" y="4135189"/>
            <a:ext cx="3691533" cy="650677"/>
          </a:xfrm>
          <a:prstGeom prst="roundRect">
            <a:avLst>
              <a:gd name="adj" fmla="val 156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291042" y="4236690"/>
            <a:ext cx="36099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九点三刻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91042" y="4522440"/>
            <a:ext cx="36099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9:45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43267" y="4135189"/>
            <a:ext cx="3691533" cy="650677"/>
          </a:xfrm>
          <a:prstGeom prst="roundRect">
            <a:avLst>
              <a:gd name="adj" fmla="val 156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084076" y="4236690"/>
            <a:ext cx="36099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六点三刻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84076" y="4522440"/>
            <a:ext cx="36099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912816"/>
            <a:ext cx="11277600" cy="593527"/>
          </a:xfrm>
          <a:prstGeom prst="roundRect">
            <a:avLst>
              <a:gd name="adj" fmla="val 12839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53951" y="5066705"/>
            <a:ext cx="695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!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3615" y="5033367"/>
            <a:ext cx="46394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三刻 = 3 quarters PAST the hour, NOT "to"!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23615" y="5242917"/>
            <a:ext cx="46394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Always count FORWARD: 4:45 = 四点三刻 (three quarters past 4). Also correct: 四点四十五分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13923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37547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569095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137321"/>
            <a:ext cx="10769798" cy="555427"/>
          </a:xfrm>
          <a:prstGeom prst="roundRect">
            <a:avLst>
              <a:gd name="adj" fmla="val 13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0707" y="2238821"/>
            <a:ext cx="28493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4352" y="2315021"/>
            <a:ext cx="93239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「五点一刻」= 5:15 or 5:45? 1 finger = 5:15, 2 fingers = 5:45.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70196" y="2334071"/>
            <a:ext cx="8583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— 5:15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1101" y="2794248"/>
            <a:ext cx="10769798" cy="555427"/>
          </a:xfrm>
          <a:prstGeom prst="roundRect">
            <a:avLst>
              <a:gd name="adj" fmla="val 13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0707" y="2895749"/>
            <a:ext cx="28493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44352" y="2971949"/>
            <a:ext cx="93016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「八点三刻」= 8:45 or 8:03? 1 finger = 8:45, 2 fingers = 8:03.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47880" y="2990999"/>
            <a:ext cx="8806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— 8:45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101" y="3451175"/>
            <a:ext cx="10769798" cy="555427"/>
          </a:xfrm>
          <a:prstGeom prst="roundRect">
            <a:avLst>
              <a:gd name="adj" fmla="val 13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0707" y="3552676"/>
            <a:ext cx="28493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44352" y="3628876"/>
            <a:ext cx="94680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else can you say 「十点三刻」? Write it on paper, hold it up.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14258" y="3647926"/>
            <a:ext cx="7142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十点四十五分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1101" y="4108103"/>
            <a:ext cx="10769798" cy="555427"/>
          </a:xfrm>
          <a:prstGeom prst="roundRect">
            <a:avLst>
              <a:gd name="adj" fmla="val 13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60707" y="4209604"/>
            <a:ext cx="28493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44352" y="4285804"/>
            <a:ext cx="97060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2:15 on clock. Say it in Chinese — whole class choral.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852288" y="4304854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两点一刻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1101" y="4765030"/>
            <a:ext cx="10769798" cy="555427"/>
          </a:xfrm>
          <a:prstGeom prst="roundRect">
            <a:avLst>
              <a:gd name="adj" fmla="val 13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60707" y="4866531"/>
            <a:ext cx="28493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44352" y="4942731"/>
            <a:ext cx="9587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11:45 on clock. Say it in Chinese — whole class choral.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33273" y="4961781"/>
            <a:ext cx="595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十一点三刻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1101" y="5472857"/>
            <a:ext cx="12548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Yes / Agree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93714" y="5472857"/>
            <a:ext cx="1455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No / Disagree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11708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Clock Face Flood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584150"/>
            <a:ext cx="1181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10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4800" y="752326"/>
            <a:ext cx="118140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Clock Face Flood · 钟表洪流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4800" y="1091952"/>
            <a:ext cx="118140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chorally says the time. Block by block — start slow, speed up!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800" y="133007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3410" y="1357015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58701" y="1347490"/>
            <a:ext cx="877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一刻 Only (:15)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4800" y="1558528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6574" y="1609279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三点一刻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6574" y="1771204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3:15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758851" y="1558528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70623" y="1609279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两点一刻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70623" y="1771204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2:15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13050" y="1558528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24824" y="1609279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五点一刻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24824" y="1771204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5:15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67101" y="1558528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78873" y="1609279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八点一刻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8873" y="1771204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8:15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21301" y="1558528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33073" y="1609279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十点一刻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33073" y="1771204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10:15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575500" y="1558528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87274" y="1609279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一点一刻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7274" y="1771204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1:15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029551" y="1558528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041323" y="1609279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六点一刻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041323" y="1771204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6:15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483751" y="1558528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95523" y="1609279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十一点一刻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495523" y="1771204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11:15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04800" y="1996529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6574" y="2047280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七点一刻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6574" y="2209205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758851" y="1996529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770623" y="2047280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四点一刻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70623" y="2209205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4:15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13050" y="1996529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224824" y="2047280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十二点一刻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24824" y="2209205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12:15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667101" y="1996529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678873" y="2047280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九点一刻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78873" y="2209205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9:15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121301" y="1996529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33073" y="2047280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两点一刻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33073" y="2209205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2:15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575500" y="1996529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587274" y="2047280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一点一刻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87274" y="2209205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1:15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029551" y="1996529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9041323" y="2047280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五点一刻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041323" y="2209205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5:15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483751" y="1996529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0495523" y="2047280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十一点一刻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495523" y="2209205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11:15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04800" y="248528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65373" y="2512219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58701" y="2502694"/>
            <a:ext cx="8973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三刻 Only (:45)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04800" y="2713732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316574" y="2764482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四点三刻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16574" y="2926407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4:45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758851" y="2713732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770623" y="2764482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九点三刻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770623" y="2926407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9:45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3213050" y="2713732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3224824" y="2764482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六点三刻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224824" y="2926407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6:45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667101" y="2713732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678873" y="2764482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一点三刻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678873" y="2926407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1:45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121301" y="2713732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6133073" y="2764482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十二点三刻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133073" y="2926407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12:45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7575500" y="2713732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7587274" y="2764482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五点三刻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587274" y="2926407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5:45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9029551" y="2713732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9041323" y="2764482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八点三刻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041323" y="2926407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8:45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10483751" y="2713732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10495523" y="2764482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二点三刻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495523" y="2926407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2:45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304800" y="3151733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316574" y="3202484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十点三刻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316574" y="3364409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10:45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1758851" y="3151733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1770623" y="3202484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七点三刻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770623" y="3364409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7:45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3213050" y="3151733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3224824" y="3202484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四点三刻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3224824" y="3364409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4:45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4667101" y="3151733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4678873" y="3202484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十一点三刻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678873" y="3364409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11:45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6121301" y="3151733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6133073" y="3202484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九点三刻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133073" y="3364409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9:45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7575500" y="3151733"/>
            <a:ext cx="1403300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7587274" y="3202484"/>
            <a:ext cx="13797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六点三刻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587274" y="3364409"/>
            <a:ext cx="13797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6:45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9029551" y="3151733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9041323" y="3202484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五点三刻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9041323" y="3364409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5:45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10483751" y="3151733"/>
            <a:ext cx="1403449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10495523" y="3202484"/>
            <a:ext cx="13799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十二点三刻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10495523" y="3364409"/>
            <a:ext cx="1379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12:45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304800" y="3640485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365075" y="3667423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558701" y="3657898"/>
            <a:ext cx="1902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Mixed (点 / 半 / 一刻 / 三刻)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304800" y="3868936"/>
            <a:ext cx="1241822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318189" y="3919686"/>
            <a:ext cx="1215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318189" y="4081611"/>
            <a:ext cx="1215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5:00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1597372" y="3868936"/>
            <a:ext cx="1241822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7"/>
          <p:cNvSpPr/>
          <p:nvPr/>
        </p:nvSpPr>
        <p:spPr>
          <a:xfrm>
            <a:off x="1610761" y="3919686"/>
            <a:ext cx="1215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三点一刻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1610761" y="4081611"/>
            <a:ext cx="1215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3:15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889945" y="3868936"/>
            <a:ext cx="1241822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20"/>
          <p:cNvSpPr/>
          <p:nvPr/>
        </p:nvSpPr>
        <p:spPr>
          <a:xfrm>
            <a:off x="2903333" y="3919686"/>
            <a:ext cx="1215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六点三刻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2903333" y="4081611"/>
            <a:ext cx="1215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6:45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4182517" y="3868936"/>
            <a:ext cx="1241822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123"/>
          <p:cNvSpPr/>
          <p:nvPr/>
        </p:nvSpPr>
        <p:spPr>
          <a:xfrm>
            <a:off x="4195905" y="3919686"/>
            <a:ext cx="1215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四点半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4195905" y="4081611"/>
            <a:ext cx="1215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4:30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5475089" y="3868936"/>
            <a:ext cx="1241822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Text 126"/>
          <p:cNvSpPr/>
          <p:nvPr/>
        </p:nvSpPr>
        <p:spPr>
          <a:xfrm>
            <a:off x="5488478" y="3919686"/>
            <a:ext cx="1215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5488478" y="4081611"/>
            <a:ext cx="1215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2:00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767661" y="3868936"/>
            <a:ext cx="1241822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129"/>
          <p:cNvSpPr/>
          <p:nvPr/>
        </p:nvSpPr>
        <p:spPr>
          <a:xfrm>
            <a:off x="6781050" y="3919686"/>
            <a:ext cx="1215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十点一刻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6781050" y="4081611"/>
            <a:ext cx="1215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10:15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8060234" y="3868936"/>
            <a:ext cx="1241822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Text 132"/>
          <p:cNvSpPr/>
          <p:nvPr/>
        </p:nvSpPr>
        <p:spPr>
          <a:xfrm>
            <a:off x="8073622" y="3919686"/>
            <a:ext cx="1215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九点三刻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8073622" y="4081611"/>
            <a:ext cx="1215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9:45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9352806" y="3868936"/>
            <a:ext cx="1241822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Text 135"/>
          <p:cNvSpPr/>
          <p:nvPr/>
        </p:nvSpPr>
        <p:spPr>
          <a:xfrm>
            <a:off x="9366194" y="3919686"/>
            <a:ext cx="1215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十一点半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9366194" y="4081611"/>
            <a:ext cx="1215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11:30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10645378" y="3868936"/>
            <a:ext cx="1241822" cy="387251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Text 138"/>
          <p:cNvSpPr/>
          <p:nvPr/>
        </p:nvSpPr>
        <p:spPr>
          <a:xfrm>
            <a:off x="10658767" y="3919686"/>
            <a:ext cx="1215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10658767" y="4081611"/>
            <a:ext cx="12150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304800" y="4357688"/>
            <a:ext cx="2001738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Text 141"/>
          <p:cNvSpPr/>
          <p:nvPr/>
        </p:nvSpPr>
        <p:spPr>
          <a:xfrm>
            <a:off x="406301" y="4395788"/>
            <a:ext cx="1834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response — everyone speaks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2433489" y="4357688"/>
            <a:ext cx="2447776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Text 143"/>
          <p:cNvSpPr/>
          <p:nvPr/>
        </p:nvSpPr>
        <p:spPr>
          <a:xfrm>
            <a:off x="2534989" y="4395788"/>
            <a:ext cx="22896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 1: 一刻 → Block 2: 三刻 → Block 3: ALL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5008215" y="4357688"/>
            <a:ext cx="1289745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Text 145"/>
          <p:cNvSpPr/>
          <p:nvPr/>
        </p:nvSpPr>
        <p:spPr>
          <a:xfrm>
            <a:off x="5109716" y="4395788"/>
            <a:ext cx="11084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Speed up each round!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14366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and Draw · Textbook p88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825823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1b · 6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019449"/>
            <a:ext cx="115031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 and Draw · 听画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397175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the time in Chinese — you draw the hands on each clock.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86050"/>
            <a:ext cx="2153841" cy="1511201"/>
          </a:xfrm>
          <a:prstGeom prst="roundRect">
            <a:avLst>
              <a:gd name="adj" fmla="val 672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8623" y="2857500"/>
            <a:ext cx="195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4070" y="3025676"/>
            <a:ext cx="800100" cy="800100"/>
          </a:xfrm>
          <a:prstGeom prst="roundRect">
            <a:avLst>
              <a:gd name="adj" fmla="val 114286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8623" y="3901976"/>
            <a:ext cx="19509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reads...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37991" y="2686050"/>
            <a:ext cx="2153989" cy="1511201"/>
          </a:xfrm>
          <a:prstGeom prst="roundRect">
            <a:avLst>
              <a:gd name="adj" fmla="val 672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39413" y="2857500"/>
            <a:ext cx="19511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14861" y="3025676"/>
            <a:ext cx="800100" cy="800100"/>
          </a:xfrm>
          <a:prstGeom prst="roundRect">
            <a:avLst>
              <a:gd name="adj" fmla="val 114286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39413" y="3901976"/>
            <a:ext cx="19511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18931" y="2686050"/>
            <a:ext cx="2153989" cy="1511201"/>
          </a:xfrm>
          <a:prstGeom prst="roundRect">
            <a:avLst>
              <a:gd name="adj" fmla="val 672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20353" y="2857500"/>
            <a:ext cx="19511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95801" y="3025676"/>
            <a:ext cx="800100" cy="800100"/>
          </a:xfrm>
          <a:prstGeom prst="roundRect">
            <a:avLst>
              <a:gd name="adj" fmla="val 114286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20353" y="3901976"/>
            <a:ext cx="19511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reads...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99871" y="2686050"/>
            <a:ext cx="2153989" cy="1511201"/>
          </a:xfrm>
          <a:prstGeom prst="roundRect">
            <a:avLst>
              <a:gd name="adj" fmla="val 672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01293" y="2857500"/>
            <a:ext cx="19511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76741" y="3025676"/>
            <a:ext cx="800100" cy="800100"/>
          </a:xfrm>
          <a:prstGeom prst="roundRect">
            <a:avLst>
              <a:gd name="adj" fmla="val 114286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01293" y="3901976"/>
            <a:ext cx="19511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reads...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580811" y="2686050"/>
            <a:ext cx="2153841" cy="1511201"/>
          </a:xfrm>
          <a:prstGeom prst="roundRect">
            <a:avLst>
              <a:gd name="adj" fmla="val 6723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682234" y="2857500"/>
            <a:ext cx="195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257681" y="3025676"/>
            <a:ext cx="800100" cy="800100"/>
          </a:xfrm>
          <a:prstGeom prst="roundRect">
            <a:avLst>
              <a:gd name="adj" fmla="val 114286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682234" y="3901976"/>
            <a:ext cx="19509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reads...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4324201"/>
            <a:ext cx="11277600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60350" y="4451152"/>
            <a:ext cx="11088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SCRIPT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60350" y="4574977"/>
            <a:ext cx="11088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三点一刻 · 2. 八点三刻 · 3. 十二点一刻 · 4. 五点三刻 · 5. 九点一刻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965353"/>
            <a:ext cx="2111573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58701" y="5003453"/>
            <a:ext cx="19467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carefully — teacher reads twice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21173" y="4965353"/>
            <a:ext cx="1505694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822674" y="5003453"/>
            <a:ext cx="1328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 hour + minute hands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79268" y="4965353"/>
            <a:ext cx="1407021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80768" y="5003453"/>
            <a:ext cx="1228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check after all 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13308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Worksheet · Clock to Chinese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584150"/>
            <a:ext cx="1181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4800" y="752326"/>
            <a:ext cx="118140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Clock to Chinese · 看钟写中文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4800" y="1091952"/>
            <a:ext cx="118140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Look at each clock. Write the time in Chinese. Then partner check!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800" y="1330077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3908" y="1406277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· 3:15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1946" y="1580852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8343" y="1644253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33960" y="1330077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63068" y="1406277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· 4:45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01107" y="1580852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17503" y="1644253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63120" y="1330077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2228" y="1406277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· 12:00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230267" y="1580852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46663" y="1644253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92280" y="1330077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21388" y="1406277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· 9:45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559427" y="1580852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775823" y="1644253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621441" y="1330077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650548" y="1406277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· 7:30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888587" y="1580852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104983" y="1644253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4800" y="1821805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3908" y="1898005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· 2:15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71946" y="2072580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8343" y="2135981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33960" y="1821805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663068" y="1898005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· 11:00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01107" y="2072580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117503" y="2135981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963120" y="1821805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92228" y="1898005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· 6:45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230267" y="2072580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46663" y="2135981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292280" y="1821805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321388" y="1898005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· 5:15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559427" y="2072580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775823" y="2135981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621441" y="1821805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650548" y="1898005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· 8:30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888587" y="2072580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104983" y="2135981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04800" y="2313533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33908" y="2389733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· 12:45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71946" y="2564309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88343" y="2627709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633960" y="2313533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663068" y="2389733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· 9:00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901107" y="2564309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117503" y="2627709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963120" y="2313533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992228" y="2389733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· 4:15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230267" y="2564309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446663" y="2627709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292280" y="2313533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321388" y="2389733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· 5:45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559427" y="2564309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775823" y="2627709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9621441" y="2313533"/>
            <a:ext cx="2265759" cy="428327"/>
          </a:xfrm>
          <a:prstGeom prst="roundRect">
            <a:avLst>
              <a:gd name="adj" fmla="val 177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9650548" y="2389733"/>
            <a:ext cx="22075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· 2:15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9888587" y="2564309"/>
            <a:ext cx="1731318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0104983" y="2627709"/>
            <a:ext cx="1298525" cy="12650"/>
          </a:xfrm>
          <a:prstGeom prst="roundRect">
            <a:avLst>
              <a:gd name="adj" fmla="val 100395"/>
            </a:avLst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04800" y="2818061"/>
            <a:ext cx="1261021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06301" y="2856161"/>
            <a:ext cx="10791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seconds per clock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692771" y="2818061"/>
            <a:ext cx="1887587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794272" y="2856161"/>
            <a:ext cx="17182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full Chinese — e.g. 三点一刻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707309" y="2818061"/>
            <a:ext cx="2227659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808809" y="2856161"/>
            <a:ext cx="2065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check — mark each other's work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1021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Slap the Board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6301" y="1565374"/>
            <a:ext cx="116069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7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6301" y="1759000"/>
            <a:ext cx="116069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Slap the Board · 拍板子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6301" y="2136725"/>
            <a:ext cx="116069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 time. Two students race to slap the correct expression!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6301" y="2470100"/>
            <a:ext cx="2768650" cy="819150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6301" y="2479625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5425" y="2470100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301" y="3279725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351" y="2470100"/>
            <a:ext cx="0" cy="81915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197" y="2539901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6775" y="2641550"/>
            <a:ext cx="2506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6775" y="2955875"/>
            <a:ext cx="2506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76451" y="2470100"/>
            <a:ext cx="2768798" cy="819150"/>
          </a:xfrm>
          <a:prstGeom prst="roundRect">
            <a:avLst>
              <a:gd name="adj" fmla="val 12403"/>
            </a:avLst>
          </a:prstGeom>
          <a:solidFill>
            <a:srgbClr val="C8943E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76451" y="2479625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725" y="2470100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76451" y="3279725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5501" y="2470100"/>
            <a:ext cx="0" cy="81915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0186" y="2539901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16924" y="2641550"/>
            <a:ext cx="25069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五点一刻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16924" y="2955875"/>
            <a:ext cx="25069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46750" y="2470100"/>
            <a:ext cx="2768650" cy="819150"/>
          </a:xfrm>
          <a:prstGeom prst="roundRect">
            <a:avLst>
              <a:gd name="adj" fmla="val 12403"/>
            </a:avLst>
          </a:prstGeom>
          <a:solidFill>
            <a:srgbClr val="D475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146750" y="2479625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05875" y="2470100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6750" y="3279725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5800" y="2470100"/>
            <a:ext cx="0" cy="819150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0480" y="2539901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87225" y="2641550"/>
            <a:ext cx="2506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八点三刻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87225" y="2955875"/>
            <a:ext cx="2506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8:45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16901" y="2470100"/>
            <a:ext cx="2768798" cy="819150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9016901" y="2479625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76174" y="2470100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16901" y="3279725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35951" y="2470100"/>
            <a:ext cx="0" cy="819150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30625" y="2539901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157374" y="2641550"/>
            <a:ext cx="25069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六点半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57374" y="2955875"/>
            <a:ext cx="25069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6301" y="3390751"/>
            <a:ext cx="2768650" cy="819150"/>
          </a:xfrm>
          <a:prstGeom prst="roundRect">
            <a:avLst>
              <a:gd name="adj" fmla="val 12403"/>
            </a:avLst>
          </a:prstGeom>
          <a:solidFill>
            <a:srgbClr val="C8943E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06301" y="3400276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65425" y="3390751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6301" y="4200376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5351" y="3390751"/>
            <a:ext cx="0" cy="81915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0034" y="3460552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6775" y="3562201"/>
            <a:ext cx="2506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十二点一刻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46775" y="3876526"/>
            <a:ext cx="2506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12:15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76451" y="3390751"/>
            <a:ext cx="2768798" cy="819150"/>
          </a:xfrm>
          <a:prstGeom prst="roundRect">
            <a:avLst>
              <a:gd name="adj" fmla="val 12403"/>
            </a:avLst>
          </a:prstGeom>
          <a:solidFill>
            <a:srgbClr val="D475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3276451" y="3400276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35725" y="3390751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76451" y="4200376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95501" y="3390751"/>
            <a:ext cx="0" cy="819150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90174" y="3460552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416924" y="3562201"/>
            <a:ext cx="25069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四点三刻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416924" y="3876526"/>
            <a:ext cx="25069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4:45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46750" y="3390751"/>
            <a:ext cx="2768650" cy="819150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6146750" y="3400276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05875" y="3390751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46750" y="4200376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65800" y="3390751"/>
            <a:ext cx="0" cy="81915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0525" y="3460552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287225" y="3562201"/>
            <a:ext cx="2506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6287225" y="3876526"/>
            <a:ext cx="2506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10:00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016901" y="3390751"/>
            <a:ext cx="2768798" cy="819150"/>
          </a:xfrm>
          <a:prstGeom prst="roundRect">
            <a:avLst>
              <a:gd name="adj" fmla="val 12403"/>
            </a:avLst>
          </a:prstGeom>
          <a:solidFill>
            <a:srgbClr val="C8943E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9016901" y="3400276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776174" y="3390751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16901" y="4200376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35951" y="3390751"/>
            <a:ext cx="0" cy="81915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30626" y="3460552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9157374" y="3562201"/>
            <a:ext cx="25069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七点一刻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9157374" y="3876526"/>
            <a:ext cx="25069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06301" y="4311402"/>
            <a:ext cx="2768650" cy="819150"/>
          </a:xfrm>
          <a:prstGeom prst="roundRect">
            <a:avLst>
              <a:gd name="adj" fmla="val 12403"/>
            </a:avLst>
          </a:prstGeom>
          <a:solidFill>
            <a:srgbClr val="D475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406301" y="4320927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65425" y="4311402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6301" y="5121027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351" y="4311402"/>
            <a:ext cx="0" cy="819150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0023" y="4381202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46775" y="4482852"/>
            <a:ext cx="2506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一点三刻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546775" y="4797177"/>
            <a:ext cx="2506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1:45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276451" y="4311402"/>
            <a:ext cx="2768798" cy="819150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Shape 81"/>
          <p:cNvSpPr/>
          <p:nvPr/>
        </p:nvSpPr>
        <p:spPr>
          <a:xfrm>
            <a:off x="3276451" y="4320927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35725" y="4311402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76451" y="5121027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5501" y="4311402"/>
            <a:ext cx="0" cy="819150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89770" y="4381202"/>
            <a:ext cx="100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3416924" y="4482852"/>
            <a:ext cx="25069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九点半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3416924" y="4797177"/>
            <a:ext cx="25069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9:30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146750" y="4311402"/>
            <a:ext cx="2768650" cy="819150"/>
          </a:xfrm>
          <a:prstGeom prst="roundRect">
            <a:avLst>
              <a:gd name="adj" fmla="val 12403"/>
            </a:avLst>
          </a:prstGeom>
          <a:solidFill>
            <a:srgbClr val="C8943E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Shape 89"/>
          <p:cNvSpPr/>
          <p:nvPr/>
        </p:nvSpPr>
        <p:spPr>
          <a:xfrm>
            <a:off x="6146750" y="4320927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905875" y="4311402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46750" y="5121027"/>
            <a:ext cx="276865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65800" y="4311402"/>
            <a:ext cx="0" cy="81915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60245" y="4381202"/>
            <a:ext cx="821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6287225" y="4482852"/>
            <a:ext cx="2506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两点一刻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6287225" y="4797177"/>
            <a:ext cx="2506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2:15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9016901" y="4311402"/>
            <a:ext cx="2768798" cy="819150"/>
          </a:xfrm>
          <a:prstGeom prst="roundRect">
            <a:avLst>
              <a:gd name="adj" fmla="val 12403"/>
            </a:avLst>
          </a:prstGeom>
          <a:solidFill>
            <a:srgbClr val="D475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Shape 97"/>
          <p:cNvSpPr/>
          <p:nvPr/>
        </p:nvSpPr>
        <p:spPr>
          <a:xfrm>
            <a:off x="9016901" y="4320927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776174" y="4311402"/>
            <a:ext cx="0" cy="81915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16901" y="5121027"/>
            <a:ext cx="2768798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35951" y="4311402"/>
            <a:ext cx="0" cy="819150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130233" y="4381202"/>
            <a:ext cx="986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D4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9157374" y="4482852"/>
            <a:ext cx="25069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十一点三刻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9157374" y="4797177"/>
            <a:ext cx="25069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11:45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06301" y="5282952"/>
            <a:ext cx="13360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students at the board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868537" y="5282952"/>
            <a:ext cx="20056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a time in Chinese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3987254" y="5282952"/>
            <a:ext cx="19701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to slap the correct card wins!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071146" y="5282952"/>
            <a:ext cx="14922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Rotate players each round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890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QUARTERS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31875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6027" y="166688"/>
            <a:ext cx="3236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682948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876574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419499"/>
            <a:ext cx="109851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1101" y="266238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0702" y="2594074"/>
            <a:ext cx="27305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quarter-past times using 一刻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101" y="2862411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0702" y="2794099"/>
            <a:ext cx="25732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quarter-to times using 三刻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1101" y="306243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0702" y="2994124"/>
            <a:ext cx="33479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choose the right pattern — 点, 分, 半, or 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1101" y="3371850"/>
            <a:ext cx="10769798" cy="682377"/>
          </a:xfrm>
          <a:prstGeom prst="roundRect">
            <a:avLst>
              <a:gd name="adj" fmla="val 148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251" y="3498800"/>
            <a:ext cx="105707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Self-Assessment · 自我评价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251" y="3736925"/>
            <a:ext cx="512993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was easier for you? 一刻 or 三刻?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48400" y="3736925"/>
            <a:ext cx="512993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 you still find tricky? Write an expression you are not sure about.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1101" y="4206627"/>
            <a:ext cx="10769798" cy="857250"/>
          </a:xfrm>
          <a:prstGeom prst="roundRect">
            <a:avLst>
              <a:gd name="adj" fmla="val 11852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84052" y="4378077"/>
            <a:ext cx="10428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84052" y="4501902"/>
            <a:ext cx="10428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10:45 using 刻.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4052" y="4749552"/>
            <a:ext cx="10428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paper and hand to teacher on the way out.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1101" y="5165378"/>
            <a:ext cx="1084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Achieved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02929" y="5165378"/>
            <a:ext cx="14076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Getting there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1612" y="5165378"/>
            <a:ext cx="9311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Fist = Need help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53213"/>
            <a:ext cx="11763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4.4 Quarters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2026-06-28T06:36:31Z</dcterms:created>
  <dcterms:modified xsi:type="dcterms:W3CDTF">2026-06-28T06:36:31Z</dcterms:modified>
</cp:coreProperties>
</file>