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546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223705" y="3011835"/>
            <a:ext cx="57444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4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23705" y="3294311"/>
            <a:ext cx="5744441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 · Quarters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223705" y="4350841"/>
            <a:ext cx="57444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Quarter-past &amp; Quarter-to · 刻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23705" y="4941391"/>
            <a:ext cx="57444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9326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Clock Flash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55550" y="660350"/>
            <a:ext cx="117105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55550" y="853976"/>
            <a:ext cx="117105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Clock Face Flash · 钟表闪卡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5550" y="1193602"/>
            <a:ext cx="117105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clock, write the DIGIT time on paper. Ready?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5550" y="1457027"/>
            <a:ext cx="2235101" cy="669727"/>
          </a:xfrm>
          <a:prstGeom prst="roundRect">
            <a:avLst>
              <a:gd name="adj" fmla="val 113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10923" y="1558528"/>
            <a:ext cx="21243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10923" y="1682353"/>
            <a:ext cx="21243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0923" y="1882378"/>
            <a:ext cx="21243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666851" y="1457027"/>
            <a:ext cx="2235250" cy="669727"/>
          </a:xfrm>
          <a:prstGeom prst="roundRect">
            <a:avLst>
              <a:gd name="adj" fmla="val 113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722223" y="1558528"/>
            <a:ext cx="2124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722223" y="1682353"/>
            <a:ext cx="2124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22223" y="1882378"/>
            <a:ext cx="21245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78301" y="1457027"/>
            <a:ext cx="2235250" cy="669727"/>
          </a:xfrm>
          <a:prstGeom prst="roundRect">
            <a:avLst>
              <a:gd name="adj" fmla="val 113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33672" y="1558528"/>
            <a:ext cx="2124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33672" y="1682353"/>
            <a:ext cx="2124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33672" y="1882378"/>
            <a:ext cx="21245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9:00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289750" y="1457027"/>
            <a:ext cx="2235250" cy="669727"/>
          </a:xfrm>
          <a:prstGeom prst="roundRect">
            <a:avLst>
              <a:gd name="adj" fmla="val 113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45122" y="1558528"/>
            <a:ext cx="2124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345122" y="1682353"/>
            <a:ext cx="2124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45122" y="1882378"/>
            <a:ext cx="21245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601200" y="1457027"/>
            <a:ext cx="2235101" cy="669727"/>
          </a:xfrm>
          <a:prstGeom prst="roundRect">
            <a:avLst>
              <a:gd name="adj" fmla="val 113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656573" y="1558528"/>
            <a:ext cx="21243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9656573" y="1682353"/>
            <a:ext cx="21243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656573" y="1882378"/>
            <a:ext cx="21243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55550" y="2202954"/>
            <a:ext cx="2235101" cy="812602"/>
          </a:xfrm>
          <a:prstGeom prst="roundRect">
            <a:avLst>
              <a:gd name="adj" fmla="val 9377"/>
            </a:avLst>
          </a:prstGeom>
          <a:solidFill>
            <a:srgbClr val="D4756B">
              <a:alpha val="6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30354" y="2323505"/>
            <a:ext cx="20854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30354" y="2447330"/>
            <a:ext cx="20854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三点一刻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0354" y="2647355"/>
            <a:ext cx="20854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30354" y="2790230"/>
            <a:ext cx="208549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· 刻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666851" y="2202954"/>
            <a:ext cx="2235250" cy="812602"/>
          </a:xfrm>
          <a:prstGeom prst="roundRect">
            <a:avLst>
              <a:gd name="adj" fmla="val 937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722223" y="2304455"/>
            <a:ext cx="2124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722223" y="2428280"/>
            <a:ext cx="2124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722223" y="2628305"/>
            <a:ext cx="21245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11:00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978301" y="2202954"/>
            <a:ext cx="2235250" cy="812602"/>
          </a:xfrm>
          <a:prstGeom prst="roundRect">
            <a:avLst>
              <a:gd name="adj" fmla="val 9377"/>
            </a:avLst>
          </a:prstGeom>
          <a:solidFill>
            <a:srgbClr val="D4756B">
              <a:alpha val="6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053103" y="2323505"/>
            <a:ext cx="20856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053103" y="2447330"/>
            <a:ext cx="20856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八点三刻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53103" y="2647355"/>
            <a:ext cx="2085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8:45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53103" y="2790230"/>
            <a:ext cx="208564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· 刻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289750" y="2202954"/>
            <a:ext cx="2235250" cy="812602"/>
          </a:xfrm>
          <a:prstGeom prst="roundRect">
            <a:avLst>
              <a:gd name="adj" fmla="val 937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345122" y="2304455"/>
            <a:ext cx="2124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345122" y="2428280"/>
            <a:ext cx="21245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45122" y="2628305"/>
            <a:ext cx="21245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601200" y="2202954"/>
            <a:ext cx="2235101" cy="812602"/>
          </a:xfrm>
          <a:prstGeom prst="roundRect">
            <a:avLst>
              <a:gd name="adj" fmla="val 9377"/>
            </a:avLst>
          </a:prstGeom>
          <a:solidFill>
            <a:srgbClr val="D4756B">
              <a:alpha val="6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9676004" y="2323505"/>
            <a:ext cx="20854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9676004" y="2447330"/>
            <a:ext cx="20854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676004" y="2647355"/>
            <a:ext cx="20854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9676004" y="2790230"/>
            <a:ext cx="208549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· 刻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55550" y="3117056"/>
            <a:ext cx="1241227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57051" y="3155156"/>
            <a:ext cx="10589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seconds per clock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749177" y="3117056"/>
            <a:ext cx="1679228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850678" y="3155156"/>
            <a:ext cx="1505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DIGITS only — e.g. 2:00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580805" y="3117056"/>
            <a:ext cx="2255193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682305" y="3155156"/>
            <a:ext cx="20932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new ones? Different expression!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6200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81075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638300"/>
            <a:ext cx="10769798" cy="71437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638300"/>
            <a:ext cx="0" cy="71437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351" y="1790700"/>
            <a:ext cx="10531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52351" y="1952625"/>
            <a:ext cx="105319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quarter-past and quarter-to times using 刻.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581275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630388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597051"/>
            <a:ext cx="302425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quarter-past times using 一刻.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5901" y="2847826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用「一刻」说 :15 时间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111252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3160365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3127028"/>
            <a:ext cx="28525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quarter-to times using 三刻.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15901" y="3377803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用「三刻」说 :45 时间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101" y="3641229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690342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657005"/>
            <a:ext cx="36979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choose the right pattern — 点, 分, 半, or 刻.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15901" y="3907780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选择正确的时间表达方式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066627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260253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828479"/>
            <a:ext cx="5419874" cy="1721793"/>
          </a:xfrm>
          <a:prstGeom prst="roundRect">
            <a:avLst>
              <a:gd name="adj" fmla="val 737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3333750"/>
            <a:ext cx="72547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1898600" y="3394025"/>
            <a:ext cx="13991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898600" y="3641675"/>
            <a:ext cx="13991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 of an hour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98600" y="3841700"/>
            <a:ext cx="13991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strokes · radical: 刂 (dāo)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83375" y="2828479"/>
            <a:ext cx="5299025" cy="1721793"/>
          </a:xfrm>
          <a:prstGeom prst="roundRect">
            <a:avLst>
              <a:gd name="adj" fmla="val 590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46800" y="3015704"/>
            <a:ext cx="48676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 Spotlight · p85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7755318" y="3266480"/>
            <a:ext cx="61906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亥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755318" y="3769370"/>
            <a:ext cx="6190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hài · phonetic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495258" y="3422600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63268" y="3266480"/>
            <a:ext cx="488811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刂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763268" y="3769370"/>
            <a:ext cx="4888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dāo · knife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374237" y="3422600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42467" y="3266480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9642467" y="3769370"/>
            <a:ext cx="4663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499079" y="4020145"/>
            <a:ext cx="48676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刂 (knife radical) + 亥 (phonetic). Originally: to carve / notch, now: a marked division of time.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9600" y="4753421"/>
            <a:ext cx="11192256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刻 means "a quarter" of an hour (15 minutes). In Chinese, we say 一刻 for "one quarter" (:15 past) and 三刻 for "three quarters" (:45 past).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0498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Pattern: 一刻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857673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2051298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Quarter Past · 一刻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2429024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+ 点 + 一刻 = X:15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98020" y="2851249"/>
            <a:ext cx="484436" cy="476250"/>
          </a:xfrm>
          <a:prstGeom prst="roundRect">
            <a:avLst>
              <a:gd name="adj" fmla="val 1600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69470" y="2946499"/>
            <a:ext cx="1443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58655" y="2946499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4931" y="2851249"/>
            <a:ext cx="549176" cy="476250"/>
          </a:xfrm>
          <a:prstGeom prst="roundRect">
            <a:avLst>
              <a:gd name="adj" fmla="val 1600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336381" y="2946499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90307" y="2946499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96583" y="2851249"/>
            <a:ext cx="755452" cy="476250"/>
          </a:xfrm>
          <a:prstGeom prst="roundRect">
            <a:avLst>
              <a:gd name="adj" fmla="val 1600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68033" y="2946499"/>
            <a:ext cx="4208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一刻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28234" y="2946499"/>
            <a:ext cx="128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30492" y="2851249"/>
            <a:ext cx="763339" cy="476250"/>
          </a:xfrm>
          <a:prstGeom prst="roundRect">
            <a:avLst>
              <a:gd name="adj" fmla="val 16000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01942" y="2946499"/>
            <a:ext cx="4288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X:15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7950" y="3613100"/>
            <a:ext cx="2717899" cy="749201"/>
          </a:xfrm>
          <a:prstGeom prst="roundRect">
            <a:avLst>
              <a:gd name="adj" fmla="val 135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58495" y="3740051"/>
            <a:ext cx="261680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三点一刻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8495" y="4054376"/>
            <a:ext cx="26168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27350" y="3613100"/>
            <a:ext cx="2717899" cy="749201"/>
          </a:xfrm>
          <a:prstGeom prst="roundRect">
            <a:avLst>
              <a:gd name="adj" fmla="val 135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77895" y="3740051"/>
            <a:ext cx="261680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377895" y="4054376"/>
            <a:ext cx="26168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46750" y="3613100"/>
            <a:ext cx="2717899" cy="749201"/>
          </a:xfrm>
          <a:prstGeom prst="roundRect">
            <a:avLst>
              <a:gd name="adj" fmla="val 135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97295" y="3740051"/>
            <a:ext cx="261680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十二点一刻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97295" y="4054376"/>
            <a:ext cx="26168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6150" y="3613100"/>
            <a:ext cx="2717899" cy="749201"/>
          </a:xfrm>
          <a:prstGeom prst="roundRect">
            <a:avLst>
              <a:gd name="adj" fmla="val 135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016695" y="3740051"/>
            <a:ext cx="261680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五点一刻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016695" y="4054376"/>
            <a:ext cx="26168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7950" y="4540002"/>
            <a:ext cx="11176099" cy="612577"/>
          </a:xfrm>
          <a:prstGeom prst="roundRect">
            <a:avLst>
              <a:gd name="adj" fmla="val 12439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701" y="4689128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60252" y="4660553"/>
            <a:ext cx="36654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一刻 = one quarter past the hour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60252" y="4889153"/>
            <a:ext cx="36654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一刻 is always :15 — the minute hand is at 3 o'clock position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0498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Pattern: 三刻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50405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672233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Quarter To · 三刻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01185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 + 点 + 三刻 = X:45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6763" y="2370534"/>
            <a:ext cx="416421" cy="412552"/>
          </a:xfrm>
          <a:prstGeom prst="roundRect">
            <a:avLst>
              <a:gd name="adj" fmla="val 18470"/>
            </a:avLst>
          </a:prstGeom>
          <a:solidFill>
            <a:srgbClr val="EDE7D7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22763" y="2452985"/>
            <a:ext cx="1269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69384" y="2452985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60181" y="2370534"/>
            <a:ext cx="473125" cy="412552"/>
          </a:xfrm>
          <a:prstGeom prst="roundRect">
            <a:avLst>
              <a:gd name="adj" fmla="val 18470"/>
            </a:avLst>
          </a:prstGeom>
          <a:solidFill>
            <a:srgbClr val="EDE7D7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06182" y="2452985"/>
            <a:ext cx="1847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09506" y="2452985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00304" y="2370534"/>
            <a:ext cx="654248" cy="412552"/>
          </a:xfrm>
          <a:prstGeom prst="roundRect">
            <a:avLst>
              <a:gd name="adj" fmla="val 18470"/>
            </a:avLst>
          </a:prstGeom>
          <a:solidFill>
            <a:srgbClr val="EDE7D7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46304" y="2452985"/>
            <a:ext cx="3694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30752" y="2452985"/>
            <a:ext cx="1132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17978" y="2370534"/>
            <a:ext cx="697111" cy="412552"/>
          </a:xfrm>
          <a:prstGeom prst="roundRect">
            <a:avLst>
              <a:gd name="adj" fmla="val 18470"/>
            </a:avLst>
          </a:prstGeom>
          <a:solidFill>
            <a:srgbClr val="EDE7D7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63978" y="2452985"/>
            <a:ext cx="4132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X:45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005286"/>
            <a:ext cx="1150315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三刻 works — counting FORWARD from the hour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3179862"/>
            <a:ext cx="11277600" cy="828377"/>
          </a:xfrm>
          <a:prstGeom prst="roundRect">
            <a:avLst>
              <a:gd name="adj" fmla="val 122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476679" y="3332113"/>
            <a:ext cx="3485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567002" y="3541663"/>
            <a:ext cx="16789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hour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495502" y="3646438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41699" y="3489275"/>
            <a:ext cx="207062" cy="20955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77421" y="3332113"/>
            <a:ext cx="3160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69225" y="3541663"/>
            <a:ext cx="3323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quarter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524554" y="3646438"/>
            <a:ext cx="6217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四点一刻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26198" y="3489275"/>
            <a:ext cx="207062" cy="20955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46287" y="3332113"/>
            <a:ext cx="3470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25489" y="3541663"/>
            <a:ext cx="38877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quarters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786628" y="3646438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10549" y="3489275"/>
            <a:ext cx="207062" cy="20955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213550" y="3281363"/>
            <a:ext cx="2133749" cy="625376"/>
          </a:xfrm>
          <a:prstGeom prst="roundRect">
            <a:avLst>
              <a:gd name="adj" fmla="val 8123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107292" y="3332113"/>
            <a:ext cx="3462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4:45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86191" y="3541663"/>
            <a:ext cx="3884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quarters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7969454" y="3646438"/>
            <a:ext cx="6217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四点三刻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347299" y="3489275"/>
            <a:ext cx="207062" cy="209550"/>
          </a:xfrm>
          <a:prstGeom prst="rect">
            <a:avLst/>
          </a:prstGeom>
          <a:noFill/>
          <a:ln/>
        </p:spPr>
        <p:txBody>
          <a:bodyPr wrap="square" lIns="25400" tIns="0" rIns="2540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367387" y="3332113"/>
            <a:ext cx="3471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362834" y="3541663"/>
            <a:ext cx="3561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hour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10385453" y="3646438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135189"/>
            <a:ext cx="3691533" cy="650677"/>
          </a:xfrm>
          <a:prstGeom prst="roundRect">
            <a:avLst>
              <a:gd name="adj" fmla="val 156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98009" y="4236690"/>
            <a:ext cx="36099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四点三刻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98009" y="4522440"/>
            <a:ext cx="36099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4:45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250234" y="4135189"/>
            <a:ext cx="3691533" cy="650677"/>
          </a:xfrm>
          <a:prstGeom prst="roundRect">
            <a:avLst>
              <a:gd name="adj" fmla="val 156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291042" y="4236690"/>
            <a:ext cx="36099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291042" y="4522440"/>
            <a:ext cx="36099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043267" y="4135189"/>
            <a:ext cx="3691533" cy="650677"/>
          </a:xfrm>
          <a:prstGeom prst="roundRect">
            <a:avLst>
              <a:gd name="adj" fmla="val 156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084076" y="4236690"/>
            <a:ext cx="36099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8084076" y="4522440"/>
            <a:ext cx="36099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4912816"/>
            <a:ext cx="11277600" cy="593527"/>
          </a:xfrm>
          <a:prstGeom prst="roundRect">
            <a:avLst>
              <a:gd name="adj" fmla="val 12839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53951" y="5066705"/>
            <a:ext cx="695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23615" y="5033367"/>
            <a:ext cx="46394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 = 3 quarters PAST the hour, NOT "to"!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23615" y="5242917"/>
            <a:ext cx="46394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Always count FORWARD: 4:45 = 四点三刻 (three quarters past 4). Also correct: 四点四十五分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3923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37547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569095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137321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0707" y="2238821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44352" y="2315021"/>
            <a:ext cx="102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「五点一刻」= 5:15 or 5:45? 1 finger = 5:15, 2 fingers = 5:45.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1101" y="2794248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707" y="2895749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44352" y="2971949"/>
            <a:ext cx="102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「八点三刻」= 8:45 or 8:03? 1 finger = 8:45, 2 fingers = 8:03.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1101" y="3451175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707" y="3552676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44352" y="3628876"/>
            <a:ext cx="102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else can you say 「十点三刻」? Write it on paper, hold it up.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101" y="4108103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0707" y="4209604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44352" y="4285804"/>
            <a:ext cx="102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2:15 on clock. Say it in Chinese — whole class choral.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1101" y="4765030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0707" y="4866531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244352" y="4942731"/>
            <a:ext cx="102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11:45 on clock. Say it in Chinese — whole class choral.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101" y="5472857"/>
            <a:ext cx="12548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093714" y="5472857"/>
            <a:ext cx="145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9575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237506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431131"/>
            <a:ext cx="10769798" cy="174427"/>
          </a:xfrm>
          <a:prstGeom prst="roundRect">
            <a:avLst>
              <a:gd name="adj" fmla="val 2184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2602" y="1456432"/>
            <a:ext cx="10778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1707059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1101" y="2275284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707" y="2376785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44352" y="2452985"/>
            <a:ext cx="932399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「五点一刻」= 5:15 or 5:45? 1 finger = 5:15, 2 fingers = 5:45.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470196" y="2472035"/>
            <a:ext cx="8583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— 5:15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1101" y="2932212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707" y="3033713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44352" y="3109913"/>
            <a:ext cx="93016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「八点三刻」= 8:45 or 8:03? 1 finger = 8:45, 2 fingers = 8:03.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447880" y="3128963"/>
            <a:ext cx="8806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— 8:45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1101" y="3589139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60707" y="3690640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44352" y="3766840"/>
            <a:ext cx="94680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else can you say 「十点三刻」? Write it on paper, hold it up.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14258" y="3785890"/>
            <a:ext cx="7142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十点四十五分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1101" y="4246066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60707" y="4347567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244352" y="4423767"/>
            <a:ext cx="97060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2:15 on clock. Say it in Chinese — whole class choral.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852288" y="4442817"/>
            <a:ext cx="4762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两点一刻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11101" y="4902994"/>
            <a:ext cx="10769798" cy="555427"/>
          </a:xfrm>
          <a:prstGeom prst="roundRect">
            <a:avLst>
              <a:gd name="adj" fmla="val 13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60707" y="5004495"/>
            <a:ext cx="2849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244352" y="5080695"/>
            <a:ext cx="95870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11:45 on clock. Say it in Chinese — whole class choral.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733273" y="5099745"/>
            <a:ext cx="5952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十一点三刻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11101" y="5610820"/>
            <a:ext cx="12548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093714" y="5610820"/>
            <a:ext cx="145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1708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Clock Face Flood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584150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10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752326"/>
            <a:ext cx="118140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Clock Face Flood · 钟表洪流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4800" y="1091952"/>
            <a:ext cx="11814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 chorally says the time. Block by block — start slow, speed up!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800" y="1330077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3410" y="1357015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58701" y="1347490"/>
            <a:ext cx="8772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一刻 Only (:15)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04800" y="1558528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16574" y="1609279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三点一刻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6574" y="1771204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3:15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758851" y="1558528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70623" y="1609279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两点一刻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770623" y="1771204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13050" y="1558528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224824" y="1609279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五点一刻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24824" y="1771204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5:15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7101" y="1558528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78873" y="1609279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八点一刻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678873" y="1771204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8:15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21301" y="1558528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33073" y="1609279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十点一刻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33073" y="1771204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10:15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575500" y="1558528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87274" y="1609279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一点一刻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7274" y="1771204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1:15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9029551" y="1558528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323" y="1609279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六点一刻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041323" y="1771204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6:15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0483751" y="1558528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95523" y="1609279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十一点一刻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495523" y="1771204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11:15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04800" y="1996529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16574" y="2047280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16574" y="2209205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758851" y="1996529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770623" y="2047280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四点一刻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770623" y="2209205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3213050" y="1996529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224824" y="2047280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十二点一刻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24824" y="2209205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12:15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667101" y="1996529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678873" y="2047280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九点一刻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678873" y="2209205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121301" y="1996529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133073" y="2047280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两点一刻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33073" y="2209205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575500" y="1996529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587274" y="2047280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一点一刻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87274" y="2209205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1:15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9029551" y="1996529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9041323" y="2047280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五点一刻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041323" y="2209205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5:15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10483751" y="1996529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0495523" y="2047280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十一点一刻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495523" y="2209205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11:15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04800" y="2485281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365373" y="2512219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58701" y="2502694"/>
            <a:ext cx="8973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 Only (:45)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304800" y="2713732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316574" y="2764482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四点三刻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16574" y="2926407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4:45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758851" y="2713732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1770623" y="2764482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770623" y="2926407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3213050" y="2713732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3224824" y="2764482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3224824" y="2926407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4667101" y="2713732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4678873" y="2764482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一点三刻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4678873" y="2926407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121301" y="2713732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133073" y="2764482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十二点三刻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133073" y="2926407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12:45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7575500" y="2713732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7587274" y="2764482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五点三刻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7587274" y="2926407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5:45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9029551" y="2713732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9041323" y="2764482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八点三刻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9041323" y="2926407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8:45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10483751" y="2713732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0495523" y="2764482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二点三刻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10495523" y="2926407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2:45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04800" y="3151733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316574" y="3202484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十点三刻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316574" y="3364409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10:45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1758851" y="3151733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1770623" y="3202484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七点三刻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1770623" y="3364409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3213050" y="3151733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3224824" y="3202484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四点三刻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3224824" y="3364409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4:45</a:t>
            </a:r>
            <a:endParaRPr lang="en-US" sz="700" dirty="0"/>
          </a:p>
        </p:txBody>
      </p:sp>
      <p:sp>
        <p:nvSpPr>
          <p:cNvPr id="97" name="Text 95"/>
          <p:cNvSpPr/>
          <p:nvPr/>
        </p:nvSpPr>
        <p:spPr>
          <a:xfrm>
            <a:off x="4667101" y="3151733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4678873" y="3202484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十一点三刻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4678873" y="3364409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6121301" y="3151733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6133073" y="3202484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6133073" y="3364409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7575500" y="3151733"/>
            <a:ext cx="1403300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7587274" y="3202484"/>
            <a:ext cx="13797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7587274" y="3364409"/>
            <a:ext cx="13797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9029551" y="3151733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9041323" y="3202484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五点三刻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9041323" y="3364409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5:45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10483751" y="3151733"/>
            <a:ext cx="1403449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108"/>
          <p:cNvSpPr/>
          <p:nvPr/>
        </p:nvSpPr>
        <p:spPr>
          <a:xfrm>
            <a:off x="10495523" y="3202484"/>
            <a:ext cx="13799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十二点三刻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10495523" y="3364409"/>
            <a:ext cx="13799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12:45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304800" y="3640485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365075" y="3667423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558701" y="3657898"/>
            <a:ext cx="1902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Mixed (点 / 半 / 一刻 / 三刻)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304800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318189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318189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</a:t>
            </a:r>
            <a:endParaRPr lang="en-US" sz="700" dirty="0"/>
          </a:p>
        </p:txBody>
      </p:sp>
      <p:sp>
        <p:nvSpPr>
          <p:cNvPr id="118" name="Text 116"/>
          <p:cNvSpPr/>
          <p:nvPr/>
        </p:nvSpPr>
        <p:spPr>
          <a:xfrm>
            <a:off x="1597372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Text 117"/>
          <p:cNvSpPr/>
          <p:nvPr/>
        </p:nvSpPr>
        <p:spPr>
          <a:xfrm>
            <a:off x="1610761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三点一刻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1610761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3:15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889945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Text 120"/>
          <p:cNvSpPr/>
          <p:nvPr/>
        </p:nvSpPr>
        <p:spPr>
          <a:xfrm>
            <a:off x="2903333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2903333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700" dirty="0"/>
          </a:p>
        </p:txBody>
      </p:sp>
      <p:sp>
        <p:nvSpPr>
          <p:cNvPr id="124" name="Text 122"/>
          <p:cNvSpPr/>
          <p:nvPr/>
        </p:nvSpPr>
        <p:spPr>
          <a:xfrm>
            <a:off x="4182517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Text 123"/>
          <p:cNvSpPr/>
          <p:nvPr/>
        </p:nvSpPr>
        <p:spPr>
          <a:xfrm>
            <a:off x="4195905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4195905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4:30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5475089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Text 126"/>
          <p:cNvSpPr/>
          <p:nvPr/>
        </p:nvSpPr>
        <p:spPr>
          <a:xfrm>
            <a:off x="5488478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5488478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2:00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767661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Text 129"/>
          <p:cNvSpPr/>
          <p:nvPr/>
        </p:nvSpPr>
        <p:spPr>
          <a:xfrm>
            <a:off x="6781050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十点一刻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6781050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10:15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8060234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Text 132"/>
          <p:cNvSpPr/>
          <p:nvPr/>
        </p:nvSpPr>
        <p:spPr>
          <a:xfrm>
            <a:off x="8073622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8073622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9:45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9352806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Text 135"/>
          <p:cNvSpPr/>
          <p:nvPr/>
        </p:nvSpPr>
        <p:spPr>
          <a:xfrm>
            <a:off x="9366194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900" dirty="0"/>
          </a:p>
        </p:txBody>
      </p:sp>
      <p:sp>
        <p:nvSpPr>
          <p:cNvPr id="138" name="Text 136"/>
          <p:cNvSpPr/>
          <p:nvPr/>
        </p:nvSpPr>
        <p:spPr>
          <a:xfrm>
            <a:off x="9366194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10645378" y="3868936"/>
            <a:ext cx="1241822" cy="387251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Text 138"/>
          <p:cNvSpPr/>
          <p:nvPr/>
        </p:nvSpPr>
        <p:spPr>
          <a:xfrm>
            <a:off x="10658767" y="3919686"/>
            <a:ext cx="1215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900" dirty="0"/>
          </a:p>
        </p:txBody>
      </p:sp>
      <p:sp>
        <p:nvSpPr>
          <p:cNvPr id="141" name="Text 139"/>
          <p:cNvSpPr/>
          <p:nvPr/>
        </p:nvSpPr>
        <p:spPr>
          <a:xfrm>
            <a:off x="10658767" y="4081611"/>
            <a:ext cx="12150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304800" y="4357688"/>
            <a:ext cx="2001738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Text 141"/>
          <p:cNvSpPr/>
          <p:nvPr/>
        </p:nvSpPr>
        <p:spPr>
          <a:xfrm>
            <a:off x="406301" y="4395788"/>
            <a:ext cx="18347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2433489" y="4357688"/>
            <a:ext cx="2447776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Text 143"/>
          <p:cNvSpPr/>
          <p:nvPr/>
        </p:nvSpPr>
        <p:spPr>
          <a:xfrm>
            <a:off x="2534989" y="4395788"/>
            <a:ext cx="22896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 1: 一刻 → Block 2: 三刻 → Block 3: ALL</a:t>
            </a:r>
            <a:endParaRPr lang="en-US" sz="800" dirty="0"/>
          </a:p>
        </p:txBody>
      </p:sp>
      <p:sp>
        <p:nvSpPr>
          <p:cNvPr id="146" name="Text 144"/>
          <p:cNvSpPr/>
          <p:nvPr/>
        </p:nvSpPr>
        <p:spPr>
          <a:xfrm>
            <a:off x="5008215" y="4357688"/>
            <a:ext cx="1289745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Text 145"/>
          <p:cNvSpPr/>
          <p:nvPr/>
        </p:nvSpPr>
        <p:spPr>
          <a:xfrm>
            <a:off x="5109716" y="4395788"/>
            <a:ext cx="11084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Speed up each round!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4366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and Draw · Textbook p88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095649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1b · 6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289274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 and Draw · 听画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667000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the time in Chinese — you draw the hands on each clock.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955875"/>
            <a:ext cx="2153841" cy="1511201"/>
          </a:xfrm>
          <a:prstGeom prst="roundRect">
            <a:avLst>
              <a:gd name="adj" fmla="val 672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58623" y="3127325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34070" y="3295501"/>
            <a:ext cx="800100" cy="800100"/>
          </a:xfrm>
          <a:prstGeom prst="roundRect">
            <a:avLst>
              <a:gd name="adj" fmla="val 11428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8623" y="4171801"/>
            <a:ext cx="1950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reads...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737991" y="2955875"/>
            <a:ext cx="2153989" cy="1511201"/>
          </a:xfrm>
          <a:prstGeom prst="roundRect">
            <a:avLst>
              <a:gd name="adj" fmla="val 672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839413" y="3127325"/>
            <a:ext cx="19511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414861" y="3295501"/>
            <a:ext cx="800100" cy="800100"/>
          </a:xfrm>
          <a:prstGeom prst="roundRect">
            <a:avLst>
              <a:gd name="adj" fmla="val 11428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839413" y="4171801"/>
            <a:ext cx="19511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reads...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18931" y="2955875"/>
            <a:ext cx="2153989" cy="1511201"/>
          </a:xfrm>
          <a:prstGeom prst="roundRect">
            <a:avLst>
              <a:gd name="adj" fmla="val 672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20353" y="3127325"/>
            <a:ext cx="19511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695801" y="3295501"/>
            <a:ext cx="800100" cy="800100"/>
          </a:xfrm>
          <a:prstGeom prst="roundRect">
            <a:avLst>
              <a:gd name="adj" fmla="val 11428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120353" y="4171801"/>
            <a:ext cx="19511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reads...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99871" y="2955875"/>
            <a:ext cx="2153989" cy="1511201"/>
          </a:xfrm>
          <a:prstGeom prst="roundRect">
            <a:avLst>
              <a:gd name="adj" fmla="val 672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01293" y="3127325"/>
            <a:ext cx="19511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976741" y="3295501"/>
            <a:ext cx="800100" cy="800100"/>
          </a:xfrm>
          <a:prstGeom prst="roundRect">
            <a:avLst>
              <a:gd name="adj" fmla="val 11428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01293" y="4171801"/>
            <a:ext cx="19511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reads...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80811" y="2955875"/>
            <a:ext cx="2153841" cy="1511201"/>
          </a:xfrm>
          <a:prstGeom prst="roundRect">
            <a:avLst>
              <a:gd name="adj" fmla="val 672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682234" y="3127325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257681" y="3295501"/>
            <a:ext cx="800100" cy="800100"/>
          </a:xfrm>
          <a:prstGeom prst="roundRect">
            <a:avLst>
              <a:gd name="adj" fmla="val 11428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682234" y="4171801"/>
            <a:ext cx="1950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reads...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4695527"/>
            <a:ext cx="2111573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8701" y="4733627"/>
            <a:ext cx="19467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carefully — teacher reads twice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21173" y="4695527"/>
            <a:ext cx="1505694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22674" y="4733627"/>
            <a:ext cx="13287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hour + minute hands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379268" y="4695527"/>
            <a:ext cx="2135386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480768" y="4733627"/>
            <a:ext cx="19710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check — answers on next slide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1971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and Draw ·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515070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708696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 and Draw: Answers · 答案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086421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your clock hands!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375297"/>
            <a:ext cx="11277600" cy="244376"/>
          </a:xfrm>
          <a:prstGeom prst="roundRect">
            <a:avLst>
              <a:gd name="adj" fmla="val 51917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0350" y="2426047"/>
            <a:ext cx="11088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KEY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2746623"/>
            <a:ext cx="11277600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9400" y="2886224"/>
            <a:ext cx="2589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1002" y="2867174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三点一刻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999655" y="2900511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04455" y="2886224"/>
            <a:ext cx="3149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90974" y="2919561"/>
            <a:ext cx="7168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 past 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57200" y="3311575"/>
            <a:ext cx="11277600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9400" y="3451175"/>
            <a:ext cx="2589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1002" y="3432125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八点三刻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999655" y="3465463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04455" y="3451175"/>
            <a:ext cx="3461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21484" y="3484513"/>
            <a:ext cx="602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 to 9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3876526"/>
            <a:ext cx="11277600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79400" y="4016127"/>
            <a:ext cx="2589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11002" y="3997077"/>
            <a:ext cx="9065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十二点一刻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77504" y="4030414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82304" y="4016127"/>
            <a:ext cx="3843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036838" y="4049464"/>
            <a:ext cx="7602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 past 12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7200" y="4441478"/>
            <a:ext cx="11277600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9400" y="4581079"/>
            <a:ext cx="2589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11002" y="4562029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五点三刻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999655" y="4595366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304455" y="4581079"/>
            <a:ext cx="344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5:45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820293" y="4614416"/>
            <a:ext cx="6028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 to 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5006429"/>
            <a:ext cx="11277600" cy="488752"/>
          </a:xfrm>
          <a:prstGeom prst="roundRect">
            <a:avLst>
              <a:gd name="adj" fmla="val 155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79400" y="5146030"/>
            <a:ext cx="2589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11002" y="5126980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九点一刻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999655" y="5160318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304455" y="5146030"/>
            <a:ext cx="3163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792313" y="5179368"/>
            <a:ext cx="7177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 past 9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330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Worksheet · Clock to Chinese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584150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752326"/>
            <a:ext cx="118140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Clock to Chinese · 看钟写中文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4800" y="1091952"/>
            <a:ext cx="118140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Look at each clock. Write the time in Chinese. Then partner check!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800" y="1330077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3908" y="1406277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· 3:15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1946" y="1580852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88343" y="1644253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33960" y="1330077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63068" y="1406277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· 4:45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901107" y="1580852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117503" y="1644253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63120" y="1330077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992228" y="1406277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· 12:00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230267" y="1580852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446663" y="1644253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292280" y="1330077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21388" y="1406277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· 9:45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559427" y="1580852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775823" y="1644253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621441" y="1330077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650548" y="1406277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· 7:30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9888587" y="1580852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104983" y="1644253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4800" y="1821805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33908" y="1898005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· 2:15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71946" y="2072580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88343" y="2135981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633960" y="1821805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663068" y="1898005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 · 11:00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901107" y="2072580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17503" y="2135981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963120" y="1821805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92228" y="1898005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· 6:45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230267" y="2072580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46663" y="2135981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292280" y="1821805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21388" y="1898005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 · 5:15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559427" y="2072580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775823" y="2135981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621441" y="1821805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9650548" y="1898005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· 8:30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9888587" y="2072580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104983" y="2135981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304800" y="2313533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333908" y="2389733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 · 12:45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71946" y="2564309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88343" y="2627709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2633960" y="2313533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2663068" y="2389733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· 9:00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901107" y="2564309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3117503" y="2627709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4963120" y="2313533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92228" y="2389733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 · 4:15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230267" y="2564309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46663" y="2627709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292280" y="2313533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321388" y="2389733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 · 5:45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7559427" y="2564309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775823" y="2627709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9621441" y="2313533"/>
            <a:ext cx="2265759" cy="428327"/>
          </a:xfrm>
          <a:prstGeom prst="roundRect">
            <a:avLst>
              <a:gd name="adj" fmla="val 177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9650548" y="2389733"/>
            <a:ext cx="22075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· 2:15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9888587" y="2564309"/>
            <a:ext cx="1731318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104983" y="2627709"/>
            <a:ext cx="1298525" cy="12650"/>
          </a:xfrm>
          <a:prstGeom prst="roundRect">
            <a:avLst>
              <a:gd name="adj" fmla="val 100395"/>
            </a:avLst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304800" y="2818061"/>
            <a:ext cx="1261021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406301" y="2856161"/>
            <a:ext cx="10791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 seconds per clock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1692771" y="2818061"/>
            <a:ext cx="1887587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794272" y="2856161"/>
            <a:ext cx="17182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full Chinese — e.g. 三点一刻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707309" y="2818061"/>
            <a:ext cx="2227659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3808809" y="2856161"/>
            <a:ext cx="2065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check — mark each other's work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10219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Slap the Board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6301" y="1565374"/>
            <a:ext cx="116069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7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6301" y="1759000"/>
            <a:ext cx="1160698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Slap the Board · 拍板子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06301" y="2136725"/>
            <a:ext cx="116069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time. Two students race to slap the correct expression!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6301" y="2470100"/>
            <a:ext cx="2768650" cy="819150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06301" y="2479625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65425" y="2470100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301" y="3279725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351" y="2470100"/>
            <a:ext cx="0" cy="8191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197" y="2539901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46775" y="2641550"/>
            <a:ext cx="2506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6775" y="2955875"/>
            <a:ext cx="2506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76451" y="2470100"/>
            <a:ext cx="2768798" cy="819150"/>
          </a:xfrm>
          <a:prstGeom prst="roundRect">
            <a:avLst>
              <a:gd name="adj" fmla="val 12403"/>
            </a:avLst>
          </a:prstGeom>
          <a:solidFill>
            <a:srgbClr val="C8943E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276451" y="2479625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725" y="2470100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76451" y="3279725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5501" y="2470100"/>
            <a:ext cx="0" cy="8191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90186" y="2539901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16924" y="2641550"/>
            <a:ext cx="250690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五点一刻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416924" y="2955875"/>
            <a:ext cx="25069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46750" y="2470100"/>
            <a:ext cx="2768650" cy="819150"/>
          </a:xfrm>
          <a:prstGeom prst="roundRect">
            <a:avLst>
              <a:gd name="adj" fmla="val 12403"/>
            </a:avLst>
          </a:prstGeom>
          <a:solidFill>
            <a:srgbClr val="D4756B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146750" y="2479625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05875" y="2470100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46750" y="3279725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5800" y="2470100"/>
            <a:ext cx="0" cy="819150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60480" y="253990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287225" y="2641550"/>
            <a:ext cx="2506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八点三刻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287225" y="2955875"/>
            <a:ext cx="2506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016901" y="2470100"/>
            <a:ext cx="2768798" cy="819150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9016901" y="2479625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776174" y="2470100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16901" y="3279725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35951" y="2470100"/>
            <a:ext cx="0" cy="81915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30625" y="2539901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9157374" y="2641550"/>
            <a:ext cx="250690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57374" y="2955875"/>
            <a:ext cx="25069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06301" y="3390751"/>
            <a:ext cx="2768650" cy="819150"/>
          </a:xfrm>
          <a:prstGeom prst="roundRect">
            <a:avLst>
              <a:gd name="adj" fmla="val 12403"/>
            </a:avLst>
          </a:prstGeom>
          <a:solidFill>
            <a:srgbClr val="C8943E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06301" y="3400276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165425" y="3390751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6301" y="4200376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5351" y="3390751"/>
            <a:ext cx="0" cy="8191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0034" y="3460552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6775" y="3562201"/>
            <a:ext cx="2506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十二点一刻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546775" y="3876526"/>
            <a:ext cx="2506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76451" y="3390751"/>
            <a:ext cx="2768798" cy="819150"/>
          </a:xfrm>
          <a:prstGeom prst="roundRect">
            <a:avLst>
              <a:gd name="adj" fmla="val 12403"/>
            </a:avLst>
          </a:prstGeom>
          <a:solidFill>
            <a:srgbClr val="D4756B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3276451" y="3400276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035725" y="3390751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76451" y="4200376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95501" y="3390751"/>
            <a:ext cx="0" cy="819150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90174" y="3460552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3416924" y="3562201"/>
            <a:ext cx="250690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四点三刻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416924" y="3876526"/>
            <a:ext cx="25069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4:45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46750" y="3390751"/>
            <a:ext cx="2768650" cy="819150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6146750" y="3400276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905875" y="3390751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46750" y="4200376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65800" y="3390751"/>
            <a:ext cx="0" cy="8191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60525" y="3460552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287225" y="3562201"/>
            <a:ext cx="2506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6287225" y="3876526"/>
            <a:ext cx="2506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9016901" y="3390751"/>
            <a:ext cx="2768798" cy="819150"/>
          </a:xfrm>
          <a:prstGeom prst="roundRect">
            <a:avLst>
              <a:gd name="adj" fmla="val 12403"/>
            </a:avLst>
          </a:prstGeom>
          <a:solidFill>
            <a:srgbClr val="C8943E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Shape 65"/>
          <p:cNvSpPr/>
          <p:nvPr/>
        </p:nvSpPr>
        <p:spPr>
          <a:xfrm>
            <a:off x="9016901" y="3400276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776174" y="3390751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16901" y="4200376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35951" y="3390751"/>
            <a:ext cx="0" cy="8191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130626" y="3460552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9157374" y="3562201"/>
            <a:ext cx="250690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七点一刻</a:t>
            </a:r>
            <a:endParaRPr lang="en-US" sz="1800" dirty="0"/>
          </a:p>
        </p:txBody>
      </p:sp>
      <p:sp>
        <p:nvSpPr>
          <p:cNvPr id="73" name="Text 71"/>
          <p:cNvSpPr/>
          <p:nvPr/>
        </p:nvSpPr>
        <p:spPr>
          <a:xfrm>
            <a:off x="9157374" y="3876526"/>
            <a:ext cx="25069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06301" y="4311402"/>
            <a:ext cx="2768650" cy="819150"/>
          </a:xfrm>
          <a:prstGeom prst="roundRect">
            <a:avLst>
              <a:gd name="adj" fmla="val 12403"/>
            </a:avLst>
          </a:prstGeom>
          <a:solidFill>
            <a:srgbClr val="D4756B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Shape 73"/>
          <p:cNvSpPr/>
          <p:nvPr/>
        </p:nvSpPr>
        <p:spPr>
          <a:xfrm>
            <a:off x="406301" y="4320927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165425" y="4311402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06301" y="5121027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25351" y="4311402"/>
            <a:ext cx="0" cy="819150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20023" y="4381202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46775" y="4482852"/>
            <a:ext cx="2506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一点三刻</a:t>
            </a:r>
            <a:endParaRPr lang="en-US" sz="1800" dirty="0"/>
          </a:p>
        </p:txBody>
      </p:sp>
      <p:sp>
        <p:nvSpPr>
          <p:cNvPr id="81" name="Text 79"/>
          <p:cNvSpPr/>
          <p:nvPr/>
        </p:nvSpPr>
        <p:spPr>
          <a:xfrm>
            <a:off x="546775" y="4797177"/>
            <a:ext cx="2506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3276451" y="4311402"/>
            <a:ext cx="2768798" cy="819150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Shape 81"/>
          <p:cNvSpPr/>
          <p:nvPr/>
        </p:nvSpPr>
        <p:spPr>
          <a:xfrm>
            <a:off x="3276451" y="4320927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035725" y="4311402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276451" y="5121027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95501" y="4311402"/>
            <a:ext cx="0" cy="81915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89770" y="4381202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3416924" y="4482852"/>
            <a:ext cx="250690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1800" dirty="0"/>
          </a:p>
        </p:txBody>
      </p:sp>
      <p:sp>
        <p:nvSpPr>
          <p:cNvPr id="89" name="Text 87"/>
          <p:cNvSpPr/>
          <p:nvPr/>
        </p:nvSpPr>
        <p:spPr>
          <a:xfrm>
            <a:off x="3416924" y="4797177"/>
            <a:ext cx="25069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9:30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6146750" y="4311402"/>
            <a:ext cx="2768650" cy="819150"/>
          </a:xfrm>
          <a:prstGeom prst="roundRect">
            <a:avLst>
              <a:gd name="adj" fmla="val 12403"/>
            </a:avLst>
          </a:prstGeom>
          <a:solidFill>
            <a:srgbClr val="C8943E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Shape 89"/>
          <p:cNvSpPr/>
          <p:nvPr/>
        </p:nvSpPr>
        <p:spPr>
          <a:xfrm>
            <a:off x="6146750" y="4320927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905875" y="4311402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46750" y="5121027"/>
            <a:ext cx="276865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65800" y="4311402"/>
            <a:ext cx="0" cy="81915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60245" y="4381202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6287225" y="4482852"/>
            <a:ext cx="25067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两点一刻</a:t>
            </a:r>
            <a:endParaRPr lang="en-US" sz="1800" dirty="0"/>
          </a:p>
        </p:txBody>
      </p:sp>
      <p:sp>
        <p:nvSpPr>
          <p:cNvPr id="97" name="Text 95"/>
          <p:cNvSpPr/>
          <p:nvPr/>
        </p:nvSpPr>
        <p:spPr>
          <a:xfrm>
            <a:off x="6287225" y="4797177"/>
            <a:ext cx="25067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9016901" y="4311402"/>
            <a:ext cx="2768798" cy="819150"/>
          </a:xfrm>
          <a:prstGeom prst="roundRect">
            <a:avLst>
              <a:gd name="adj" fmla="val 12403"/>
            </a:avLst>
          </a:prstGeom>
          <a:solidFill>
            <a:srgbClr val="D4756B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Shape 97"/>
          <p:cNvSpPr/>
          <p:nvPr/>
        </p:nvSpPr>
        <p:spPr>
          <a:xfrm>
            <a:off x="9016901" y="4320927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1776174" y="4311402"/>
            <a:ext cx="0" cy="81915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016901" y="5121027"/>
            <a:ext cx="2768798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035951" y="4311402"/>
            <a:ext cx="0" cy="819150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130233" y="4381202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FD4D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9157374" y="4482852"/>
            <a:ext cx="250690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十一点三刻</a:t>
            </a:r>
            <a:endParaRPr lang="en-US" sz="1800" dirty="0"/>
          </a:p>
        </p:txBody>
      </p:sp>
      <p:sp>
        <p:nvSpPr>
          <p:cNvPr id="105" name="Text 103"/>
          <p:cNvSpPr/>
          <p:nvPr/>
        </p:nvSpPr>
        <p:spPr>
          <a:xfrm>
            <a:off x="9157374" y="4797177"/>
            <a:ext cx="25069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406301" y="5282952"/>
            <a:ext cx="13360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students at the board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1868537" y="5282952"/>
            <a:ext cx="20056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a time in Chinese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3987254" y="5282952"/>
            <a:ext cx="19701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to slap the correct card wins!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071146" y="5282952"/>
            <a:ext cx="14922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players each round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8906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L4 · QUARTERS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31875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6027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682948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876574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419499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6238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94074"/>
            <a:ext cx="27305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quarter-past times using 一刻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1101" y="2862411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94099"/>
            <a:ext cx="25732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quarter-to times using 三刻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1101" y="306243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94124"/>
            <a:ext cx="33479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choose the right pattern — 点, 分, 半, or 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1101" y="3371850"/>
            <a:ext cx="10769798" cy="682377"/>
          </a:xfrm>
          <a:prstGeom prst="roundRect">
            <a:avLst>
              <a:gd name="adj" fmla="val 148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3498800"/>
            <a:ext cx="10570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 · 自我评价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251" y="3736925"/>
            <a:ext cx="5129936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was easier for you? 一刻 or 三刻?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48400" y="3736925"/>
            <a:ext cx="5129936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 you still find tricky? Write an expression you are not sure about.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1101" y="4206627"/>
            <a:ext cx="10769798" cy="857250"/>
          </a:xfrm>
          <a:prstGeom prst="roundRect">
            <a:avLst>
              <a:gd name="adj" fmla="val 11852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84052" y="4378077"/>
            <a:ext cx="104283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84052" y="4501902"/>
            <a:ext cx="104283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10:45 using 刻.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84052" y="4749552"/>
            <a:ext cx="104283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on paper and hand to teacher on the way out.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11101" y="5165378"/>
            <a:ext cx="10844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Achieved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002929" y="5165378"/>
            <a:ext cx="14076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Getting there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11612" y="5165378"/>
            <a:ext cx="931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Need help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1763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4.4 Quarters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2026-06-29T00:22:27Z</dcterms:created>
  <dcterms:modified xsi:type="dcterms:W3CDTF">2026-06-29T00:22:27Z</dcterms:modified>
</cp:coreProperties>
</file>