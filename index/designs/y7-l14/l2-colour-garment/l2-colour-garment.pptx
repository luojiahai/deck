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430250" y="5181600"/>
            <a:ext cx="4274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3000" dirty="0"/>
          </a:p>
        </p:txBody>
      </p:sp>
      <p:sp>
        <p:nvSpPr>
          <p:cNvPr id="7" name="Text 5"/>
          <p:cNvSpPr/>
          <p:nvPr/>
        </p:nvSpPr>
        <p:spPr>
          <a:xfrm>
            <a:off x="749808" y="2629346"/>
            <a:ext cx="1678838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Y7 UNIT 5 · 轻松学中文 1</a:t>
            </a:r>
            <a:endParaRPr lang="en-US" sz="1950" dirty="0"/>
          </a:p>
        </p:txBody>
      </p:sp>
      <p:pic>
        <p:nvPicPr>
          <p:cNvPr id="8" name="Image 0" descr="/var/folders/6c/210dcgxn4gz5sm71vld2cy1h0000gn/T/y7l14-pptx-5Uk7v3/art/art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172271"/>
            <a:ext cx="1496764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5430589"/>
            <a:ext cx="16788384" cy="1312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10335"/>
              </a:lnSpc>
              <a:spcBef>
                <a:spcPts val="6532"/>
              </a:spcBef>
              <a:spcAft>
                <a:spcPts val="900"/>
              </a:spcAft>
              <a:buNone/>
            </a:pPr>
            <a:r>
              <a:rPr lang="en-US" sz="97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长短</a:t>
            </a:r>
            <a:endParaRPr lang="en-US" sz="9750" dirty="0"/>
          </a:p>
        </p:txBody>
      </p:sp>
      <p:sp>
        <p:nvSpPr>
          <p:cNvPr id="10" name="Text 7"/>
          <p:cNvSpPr/>
          <p:nvPr/>
        </p:nvSpPr>
        <p:spPr>
          <a:xfrm>
            <a:off x="749808" y="6857405"/>
            <a:ext cx="16788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Colour + 的 + Garment · Long and Short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319409" y="7638455"/>
            <a:ext cx="17311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568415" y="7638455"/>
            <a:ext cx="8290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914300" y="7638455"/>
            <a:ext cx="18275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Speaking-heavy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1250039" y="7638455"/>
            <a:ext cx="171827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p.105–106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57536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 · 0–8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14325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上节课的四个词 — 两人一组，一人说颜色，一人说衣服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676650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y7l14-pptx-5Uk7v3/art/art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146" y="3857625"/>
            <a:ext cx="957709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38425" y="4848225"/>
            <a:ext cx="505206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5086350" y="3676650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y7l14-pptx-5Uk7v3/art/art-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096" y="3857625"/>
            <a:ext cx="957709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62725" y="48482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3900" dirty="0"/>
          </a:p>
        </p:txBody>
      </p:sp>
      <p:sp>
        <p:nvSpPr>
          <p:cNvPr id="14" name="Text 10"/>
          <p:cNvSpPr/>
          <p:nvPr/>
        </p:nvSpPr>
        <p:spPr>
          <a:xfrm>
            <a:off x="9258300" y="3676650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y7l14-pptx-5Uk7v3/art/art-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1046" y="3857625"/>
            <a:ext cx="957709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687050" y="4848225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13430250" y="3676650"/>
            <a:ext cx="394335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y7l14-pptx-5Uk7v3/art/art-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996" y="3857625"/>
            <a:ext cx="957709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906625" y="4848225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3900" dirty="0"/>
          </a:p>
        </p:txBody>
      </p:sp>
      <p:sp>
        <p:nvSpPr>
          <p:cNvPr id="20" name="Text 14"/>
          <p:cNvSpPr/>
          <p:nvPr/>
        </p:nvSpPr>
        <p:spPr>
          <a:xfrm>
            <a:off x="5553670" y="6300788"/>
            <a:ext cx="7189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白色</a:t>
            </a:r>
            <a:endParaRPr lang="en-US" sz="2550" dirty="0"/>
          </a:p>
        </p:txBody>
      </p:sp>
      <p:sp>
        <p:nvSpPr>
          <p:cNvPr id="21" name="Text 15"/>
          <p:cNvSpPr/>
          <p:nvPr/>
        </p:nvSpPr>
        <p:spPr>
          <a:xfrm>
            <a:off x="7049095" y="6315075"/>
            <a:ext cx="2184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7920484" y="6300788"/>
            <a:ext cx="699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蓝色</a:t>
            </a:r>
            <a:endParaRPr lang="en-US" sz="2550" dirty="0"/>
          </a:p>
        </p:txBody>
      </p:sp>
      <p:sp>
        <p:nvSpPr>
          <p:cNvPr id="23" name="Text 17"/>
          <p:cNvSpPr/>
          <p:nvPr/>
        </p:nvSpPr>
        <p:spPr>
          <a:xfrm>
            <a:off x="9396859" y="6315075"/>
            <a:ext cx="21844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=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10268248" y="6300788"/>
            <a:ext cx="23792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 </a:t>
            </a:r>
            <a:pPr algn="l" indent="0" marL="0"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tiānlánsè</a:t>
            </a:r>
            <a:endParaRPr lang="en-US" sz="2550" dirty="0"/>
          </a:p>
        </p:txBody>
      </p:sp>
      <p:sp>
        <p:nvSpPr>
          <p:cNvPr id="25" name="Text 19"/>
          <p:cNvSpPr/>
          <p:nvPr/>
        </p:nvSpPr>
        <p:spPr>
          <a:xfrm>
            <a:off x="749808" y="7124700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p.102 的调色题 — 今天课本上的例子就是它</a:t>
            </a:r>
            <a:endParaRPr lang="en-US" sz="1650" dirty="0"/>
          </a:p>
        </p:txBody>
      </p:sp>
      <p:sp>
        <p:nvSpPr>
          <p:cNvPr id="26" name="Shape 20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12846248" y="9405938"/>
            <a:ext cx="47733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第十三课 p.102 · 第十四课 p.104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5940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目标 · Learning Intention &amp; Success Criteria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02260"/>
            <a:ext cx="3627983" cy="552450"/>
          </a:xfrm>
          <a:prstGeom prst="roundRect">
            <a:avLst>
              <a:gd name="adj" fmla="val 1722414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2659410"/>
            <a:ext cx="33119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154710"/>
            <a:ext cx="1678838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我们学怎么说衣服的颜色和长短。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4080421"/>
            <a:ext cx="2825204" cy="552450"/>
          </a:xfrm>
          <a:prstGeom prst="roundRect">
            <a:avLst>
              <a:gd name="adj" fmla="val 1722414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4900" y="4137571"/>
            <a:ext cx="2493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67097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90625" y="490909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76425" y="4909096"/>
            <a:ext cx="1397923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我会把颜色放在衣服前面，中间用「的」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put any colour in front of any garment using 的 — 天蓝色的衬衫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2156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90625" y="605968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76425" y="6059686"/>
            <a:ext cx="13038505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我会分长裤和短裤，知道「长」和「短」的意思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tell 长裤 and 短裤 apart — 长 is long, 短 is short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72151"/>
            <a:ext cx="16459200" cy="979140"/>
          </a:xfrm>
          <a:prstGeom prst="roundRect">
            <a:avLst>
              <a:gd name="adj" fmla="val 1167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90625" y="721027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876425" y="7210276"/>
            <a:ext cx="11428768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我听得出声调，会写对拼音</a:t>
            </a:r>
            <a:pPr algn="l" indent="0" marL="0">
              <a:lnSpc>
                <a:spcPts val="3480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hear a word and write it in pinyin with the right tone mark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979069" y="6378773"/>
            <a:ext cx="187023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chángkù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269135" y="7169348"/>
            <a:ext cx="1278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trousers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cháng = long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y7l14-pptx-5Uk7v3/art/art-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1729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9600" dirty="0"/>
          </a:p>
        </p:txBody>
      </p:sp>
      <p:sp>
        <p:nvSpPr>
          <p:cNvPr id="17" name="Text 13"/>
          <p:cNvSpPr/>
          <p:nvPr/>
        </p:nvSpPr>
        <p:spPr>
          <a:xfrm>
            <a:off x="12602170" y="6378773"/>
            <a:ext cx="1611407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duǎnkù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2917984" y="7169348"/>
            <a:ext cx="9672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shorts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104660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4075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短</a:t>
            </a:r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duǎn = short</a:t>
            </a:r>
            <a:endParaRPr lang="en-US" sz="1950" dirty="0"/>
          </a:p>
        </p:txBody>
      </p:sp>
      <p:sp>
        <p:nvSpPr>
          <p:cNvPr id="21" name="Shape 17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88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长裤 · 短裤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bàba xǐhuan chuān chángkù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 likes wearing trousers.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dìdi xǐhuan chuān duǎnkù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我弟弟喜欢穿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younger brother likes wearing shorts.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chuān hēisè de chángkù， bù xǐhuan chuān duǎnkù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我喜欢穿黑色的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，不喜欢穿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wearing black trousers, I don't like wearing shorts.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690149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你今天穿长裤吗？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690149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Point and answer, then ask your partner the same about 短裤.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长裤 · 短裤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691979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691979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920579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371058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238750"/>
            <a:ext cx="4662985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— 颜色 + 的 + 裤子。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017865"/>
            <a:ext cx="164592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303615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246465"/>
            <a:ext cx="11677424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两个人，一句话，用「也」或者「不」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我哥哥喜欢穿短裤，我也喜欢穿短裤，我姐姐不喜欢。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01475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y7l14-pptx-5Uk7v3/art/art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8521" y="2374553"/>
            <a:ext cx="2494508" cy="2381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76650" y="4927253"/>
            <a:ext cx="248716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0"/>
              </a:lnSpc>
              <a:buNone/>
            </a:pPr>
            <a:r>
              <a:rPr lang="en-US" sz="9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998863" y="6378773"/>
            <a:ext cx="182970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hànshān</a:t>
            </a:r>
            <a:endParaRPr lang="en-US" sz="3450" dirty="0"/>
          </a:p>
        </p:txBody>
      </p:sp>
      <p:sp>
        <p:nvSpPr>
          <p:cNvPr id="11" name="Text 8"/>
          <p:cNvSpPr/>
          <p:nvPr/>
        </p:nvSpPr>
        <p:spPr>
          <a:xfrm>
            <a:off x="4357836" y="7169348"/>
            <a:ext cx="10975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T-shirt</a:t>
            </a:r>
            <a:endParaRPr lang="en-US" sz="2550" dirty="0"/>
          </a:p>
        </p:txBody>
      </p:sp>
      <p:sp>
        <p:nvSpPr>
          <p:cNvPr id="12" name="Shape 9"/>
          <p:cNvSpPr/>
          <p:nvPr/>
        </p:nvSpPr>
        <p:spPr>
          <a:xfrm>
            <a:off x="1969740" y="7802761"/>
            <a:ext cx="585207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1220" y="7864673"/>
            <a:ext cx="59691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没有扣子，圆领 — no buttons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9410700" y="1974503"/>
            <a:ext cx="7962900" cy="6604546"/>
          </a:xfrm>
          <a:prstGeom prst="roundRect">
            <a:avLst>
              <a:gd name="adj" fmla="val 4038"/>
            </a:avLst>
          </a:prstGeom>
          <a:solidFill>
            <a:srgbClr val="F2EFE7"/>
          </a:solidFill>
          <a:ln w="19050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y7l14-pptx-5Uk7v3/art/art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821" y="2374553"/>
            <a:ext cx="2494508" cy="23812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963400" y="4927253"/>
            <a:ext cx="291465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endParaRPr lang="en-US" sz="7500" dirty="0"/>
          </a:p>
        </p:txBody>
      </p:sp>
      <p:sp>
        <p:nvSpPr>
          <p:cNvPr id="17" name="Text 13"/>
          <p:cNvSpPr/>
          <p:nvPr/>
        </p:nvSpPr>
        <p:spPr>
          <a:xfrm>
            <a:off x="12421046" y="6098828"/>
            <a:ext cx="198089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tiānlánsè</a:t>
            </a:r>
            <a:endParaRPr lang="en-US" sz="3450" dirty="0"/>
          </a:p>
        </p:txBody>
      </p:sp>
      <p:sp>
        <p:nvSpPr>
          <p:cNvPr id="18" name="Text 14"/>
          <p:cNvSpPr/>
          <p:nvPr/>
        </p:nvSpPr>
        <p:spPr>
          <a:xfrm>
            <a:off x="12765137" y="6889403"/>
            <a:ext cx="1279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sky blue</a:t>
            </a:r>
            <a:endParaRPr lang="en-US" sz="2550" dirty="0"/>
          </a:p>
        </p:txBody>
      </p:sp>
      <p:sp>
        <p:nvSpPr>
          <p:cNvPr id="19" name="Shape 15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7054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汗衫 · 天蓝色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91556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chuān báisè de hànshān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237276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他穿白色的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3073747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He's wearing a white T-shirt.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3778597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xǐhuan tiānlánsè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4235797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493677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sky blue.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14400" y="5641628"/>
            <a:ext cx="167883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mèimei chuān tiānlánsè de hànshān hé hēisè de duǎnkù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098828"/>
            <a:ext cx="16788384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我妹妹穿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lnSpc>
                <a:spcPts val="5070"/>
              </a:lnSpc>
              <a:buNone/>
            </a:pPr>
            <a:r>
              <a:rPr lang="en-US" sz="39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pPr algn="l" indent="0" marL="0">
              <a:lnSpc>
                <a:spcPts val="5070"/>
              </a:lnSpc>
              <a:buNone/>
            </a:pPr>
            <a:r>
              <a:rPr lang="en-US" sz="39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和黑色的短裤。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914400" y="6799808"/>
            <a:ext cx="167883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little sister is wearing a sky-blue T-shirt and black shorts.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7504658"/>
            <a:ext cx="16459200" cy="1133475"/>
          </a:xfrm>
          <a:prstGeom prst="roundRect">
            <a:avLst>
              <a:gd name="adj" fmla="val 10084"/>
            </a:avLst>
          </a:prstGeom>
          <a:solidFill>
            <a:srgbClr val="2E7D6E">
              <a:alpha val="10000"/>
            </a:srgbClr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714208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771650" y="7714208"/>
            <a:ext cx="467027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汗衫和衬衫，哪里不一样？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771650" y="8114258"/>
            <a:ext cx="467027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has buttons and a collar. Which one?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92193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汗衫 · 天蓝色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488085"/>
            <a:ext cx="16459200" cy="124197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42975" y="3488085"/>
            <a:ext cx="0" cy="1241971"/>
          </a:xfrm>
          <a:prstGeom prst="line">
            <a:avLst/>
          </a:prstGeom>
          <a:noFill/>
          <a:ln w="5715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76350" y="3716685"/>
            <a:ext cx="16108299" cy="78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</a:t>
            </a:r>
            <a:pPr algn="l" indent="0" marL="0">
              <a:lnSpc>
                <a:spcPts val="5880"/>
              </a:lnSpc>
              <a:buNone/>
            </a:pPr>
            <a:r>
              <a:rPr lang="en-US" sz="42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色的汗衫。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104900" y="5167164"/>
            <a:ext cx="564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39243" y="5034855"/>
            <a:ext cx="5993553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写一句。可以写自己，也可以写家人。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5813971"/>
            <a:ext cx="1645920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8250" y="6099721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895326" y="6042571"/>
            <a:ext cx="7353115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描述教室里的一个人 — 两件衣服，两个颜色，不要说名字。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class guesses who. 他是谁？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24068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到现在的六件衣服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808" y="3986213"/>
            <a:ext cx="167883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只有汉字和图 — 这块板整节课都在屏幕上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y7l14-pptx-5Uk7v3/art/art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821" y="4700588"/>
            <a:ext cx="957709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54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6957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y7l14-pptx-5Uk7v3/art/art-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21" y="4700588"/>
            <a:ext cx="957709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67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汗衫</a:t>
            </a:r>
            <a:endParaRPr lang="en-US" sz="3900" dirty="0"/>
          </a:p>
        </p:txBody>
      </p:sp>
      <p:sp>
        <p:nvSpPr>
          <p:cNvPr id="14" name="Text 10"/>
          <p:cNvSpPr/>
          <p:nvPr/>
        </p:nvSpPr>
        <p:spPr>
          <a:xfrm>
            <a:off x="64770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y7l14-pptx-5Uk7v3/art/art-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421" y="4700588"/>
            <a:ext cx="957709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10425" y="5691188"/>
            <a:ext cx="1107567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牛仔裤</a:t>
            </a:r>
            <a:endParaRPr lang="en-US" sz="2850" dirty="0"/>
          </a:p>
        </p:txBody>
      </p:sp>
      <p:sp>
        <p:nvSpPr>
          <p:cNvPr id="17" name="Text 12"/>
          <p:cNvSpPr/>
          <p:nvPr/>
        </p:nvSpPr>
        <p:spPr>
          <a:xfrm>
            <a:off x="92583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y7l14-pptx-5Uk7v3/art/art-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21" y="4700588"/>
            <a:ext cx="957709" cy="914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393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长裤</a:t>
            </a:r>
            <a:endParaRPr lang="en-US" sz="3900" dirty="0"/>
          </a:p>
        </p:txBody>
      </p:sp>
      <p:sp>
        <p:nvSpPr>
          <p:cNvPr id="20" name="Text 14"/>
          <p:cNvSpPr/>
          <p:nvPr/>
        </p:nvSpPr>
        <p:spPr>
          <a:xfrm>
            <a:off x="120396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var/folders/6c/210dcgxn4gz5sm71vld2cy1h0000gn/T/y7l14-pptx-5Uk7v3/art/art-1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37021" y="4700588"/>
            <a:ext cx="957709" cy="914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206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短裤</a:t>
            </a:r>
            <a:endParaRPr lang="en-US" sz="3900" dirty="0"/>
          </a:p>
        </p:txBody>
      </p:sp>
      <p:sp>
        <p:nvSpPr>
          <p:cNvPr id="23" name="Text 16"/>
          <p:cNvSpPr/>
          <p:nvPr/>
        </p:nvSpPr>
        <p:spPr>
          <a:xfrm>
            <a:off x="14820900" y="4519613"/>
            <a:ext cx="2552700" cy="2047875"/>
          </a:xfrm>
          <a:prstGeom prst="roundRect">
            <a:avLst>
              <a:gd name="adj" fmla="val 9302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var/folders/6c/210dcgxn4gz5sm71vld2cy1h0000gn/T/y7l14-pptx-5Uk7v3/art/art-1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8321" y="4700588"/>
            <a:ext cx="957709" cy="9144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601950" y="5691188"/>
            <a:ext cx="1010412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裙子</a:t>
            </a:r>
            <a:endParaRPr lang="en-US" sz="3900" dirty="0"/>
          </a:p>
        </p:txBody>
      </p:sp>
      <p:sp>
        <p:nvSpPr>
          <p:cNvPr id="26" name="Shape 18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078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颜色 + 的 + 衣服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66800" y="977503"/>
            <a:ext cx="312110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颜色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的 </a:t>
            </a:r>
            <a:pPr algn="l" indent="0" marL="0">
              <a:buNone/>
            </a:pPr>
            <a:r>
              <a:rPr lang="en-US" sz="24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pPr algn="l" indent="0" marL="0">
              <a:buNone/>
            </a:pPr>
            <a:r>
              <a:rPr lang="en-US" sz="33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33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723900" y="1949053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hóngsè de chènshān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3900" y="2406253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红色的衬衫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23900" y="3067645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red shirt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23900" y="3658195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tiānlánsè de chènshān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23900" y="4115395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天蓝色的衬衫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723900" y="4776788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sky-blue shirt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23900" y="5367338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huīsè de chángkù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5824538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灰色的长裤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723900" y="6485930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grey trousers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23900" y="7076480"/>
            <a:ext cx="171770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jiějie jīntiān chuān tiānlánsè de chènshān hé huīsè de chángkù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723900" y="7533680"/>
            <a:ext cx="17177004" cy="604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58"/>
              </a:lnSpc>
              <a:buNone/>
            </a:pPr>
            <a:r>
              <a:rPr lang="en-US" sz="39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我姐姐今天穿天蓝色的衬衫和灰色的长裤。</a:t>
            </a:r>
            <a:endParaRPr lang="en-US" sz="3900" dirty="0"/>
          </a:p>
        </p:txBody>
      </p:sp>
      <p:sp>
        <p:nvSpPr>
          <p:cNvPr id="19" name="Text 17"/>
          <p:cNvSpPr/>
          <p:nvPr/>
        </p:nvSpPr>
        <p:spPr>
          <a:xfrm>
            <a:off x="723900" y="8195072"/>
            <a:ext cx="171770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sister is wearing a sky-blue shirt and grey trousers today.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723900" y="8690372"/>
            <a:ext cx="16840200" cy="1057275"/>
          </a:xfrm>
          <a:prstGeom prst="roundRect">
            <a:avLst>
              <a:gd name="adj" fmla="val 10811"/>
            </a:avLst>
          </a:prstGeom>
          <a:solidFill>
            <a:srgbClr val="B03C2C">
              <a:alpha val="10000"/>
            </a:srgbClr>
          </a:solidFill>
          <a:ln w="19050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09650" y="8861822"/>
            <a:ext cx="349758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543050" y="8861822"/>
            <a:ext cx="87935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「的」不能省。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543050" y="9261872"/>
            <a:ext cx="879359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蓝色牛仔裤　✓ 蓝色的牛仔裤 — the most common written error in this lesson.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0715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We Do · 20–27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094607"/>
            <a:ext cx="7004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72593" y="1955602"/>
            <a:ext cx="5123408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快速说 · Rapid-fire naming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576542" y="2094607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83848" y="2094607"/>
            <a:ext cx="33198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p.105 练习 1 · p.106 练习 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82416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2824163"/>
            <a:ext cx="664752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第一遍：老师指，全班一起说。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Round 1: teacher points, whole class answers together.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3862387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3862387"/>
            <a:ext cx="500955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第二遍：不举手，老师点名，快一点。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Round 2: cold call, no hands up, faster.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490061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24000" y="4900613"/>
            <a:ext cx="835533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第三遍：老师只说颜色，一个同学补衣服，下一个同学说成一整句。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Round 3: teacher says the colour only — one student adds the garment, the next makes it a sentence with 穿.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7015163"/>
            <a:ext cx="8801100" cy="1582936"/>
          </a:xfrm>
          <a:prstGeom prst="roundRect">
            <a:avLst>
              <a:gd name="adj" fmla="val 7221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38250" y="7300913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895326" y="7243763"/>
            <a:ext cx="7646250" cy="112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你来当老师 — 指着图问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这是什么颜色的衣服？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correct a wrong answer in Chinese: 不对，是橙色的，不是红色的。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172700" y="2824163"/>
            <a:ext cx="7200900" cy="3457575"/>
          </a:xfrm>
          <a:prstGeom prst="roundRect">
            <a:avLst>
              <a:gd name="adj" fmla="val 5510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96550" y="3128963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96550" y="3548063"/>
            <a:ext cx="668426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天蓝色的衬衫　橙色的长裤　蓝色的牛仔裤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10496550" y="4862513"/>
            <a:ext cx="668426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他穿橙色的长裤。</a:t>
            </a:r>
            <a:pPr algn="l" indent="0" marL="0">
              <a:lnSpc>
                <a:spcPts val="4725"/>
              </a:lnSpc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tā chuān chéngsè de chángkù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073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27–31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3395663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58318" y="3256657"/>
            <a:ext cx="5417909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声调冲刺 · Tone-mark sprint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950994" y="3395663"/>
            <a:ext cx="6060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269016" y="3395663"/>
            <a:ext cx="28721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p.105 练习 2 · CD T66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125218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24000" y="4125218"/>
            <a:ext cx="711614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听两遍，把声调写在小白板上，举起来。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Listen twice, write the pinyin with its tone mark, hold it up.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5163443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524000" y="5163443"/>
            <a:ext cx="598049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九个词里有两个是今天的中文 — 找出来。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of the nine are today's language. Spot them.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400" y="6449318"/>
            <a:ext cx="8801100" cy="843855"/>
          </a:xfrm>
          <a:prstGeom prst="roundRect">
            <a:avLst>
              <a:gd name="adj" fmla="val 13545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38250" y="6735068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95326" y="6677918"/>
            <a:ext cx="650164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能写汉字的三个，也把汉字写出来 —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短裤 绿色 牛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172700" y="4125218"/>
            <a:ext cx="7200900" cy="3171825"/>
          </a:xfrm>
          <a:prstGeom prst="roundRect">
            <a:avLst>
              <a:gd name="adj" fmla="val 6006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496550" y="4430018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496550" y="4849118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gōngniú kùnnan </a:t>
            </a:r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duǎnkù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496550" y="5563493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chuántǒng　tiáozi　tàozhuāng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496550" y="6277868"/>
            <a:ext cx="668426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duànliàn yǒuqíng </a:t>
            </a:r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lǜsè</a:t>
            </a:r>
            <a:endParaRPr lang="en-US" sz="3150" dirty="0"/>
          </a:p>
        </p:txBody>
      </p:sp>
      <p:sp>
        <p:nvSpPr>
          <p:cNvPr id="23" name="Shape 2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188255" y="9405938"/>
            <a:ext cx="442449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课本 p.105 练习 2 · CD T66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41178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Flexible Practice · You Do · 31–38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1407319"/>
            <a:ext cx="7878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67818" y="1268313"/>
            <a:ext cx="6905140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说一说，画一画 · Describe and draw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218563" y="1407319"/>
            <a:ext cx="5950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25869" y="1407319"/>
            <a:ext cx="21325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p.148 · p.155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3900" y="2136874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33500" y="2136874"/>
            <a:ext cx="827988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两人一组，中间放一本书，看不见对方的纸。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Pairs, with a book between you so you can't see each other's paper.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3900" y="3175099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33500" y="3175099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说一套衣服 — 两件衣服，两个颜色。B 画出来，涂上颜色。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describes an outfit — two garments, two colours. B draws and colours it.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723900" y="4627662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333500" y="4627662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换过来再做一次。最后比一比，画错了是说错了还是听错了？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Swap. Then compare: if the drawing is wrong, was it the saying or the hearing?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23900" y="6080224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333500" y="6080224"/>
            <a:ext cx="8569071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接着做练习册 p.148 第 3 题和 p.155 第 17 题 — 按中文涂色。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workbook Ex.3 and Ex.17 — colour the pictures to match the Chinese.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23900" y="7647087"/>
            <a:ext cx="9010650" cy="1638151"/>
          </a:xfrm>
          <a:prstGeom prst="roundRect">
            <a:avLst>
              <a:gd name="adj" fmla="val 6977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7750" y="7932837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704826" y="7875687"/>
            <a:ext cx="7859991" cy="1180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不可以说「再说一遍」，A 要说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件衣服，用「、」和「和」：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我穿天蓝色的汗衫、黑色的短裤和白色的运动鞋。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B describes the drawing back in Chinese as a check.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191750" y="2136874"/>
            <a:ext cx="7372350" cy="2543175"/>
          </a:xfrm>
          <a:prstGeom prst="roundRect">
            <a:avLst>
              <a:gd name="adj" fmla="val 7491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515600" y="2441674"/>
            <a:ext cx="68591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515600" y="2860774"/>
            <a:ext cx="6859143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我穿天蓝色的汗衫和黑色的短裤。</a:t>
            </a:r>
            <a:pPr algn="l" indent="0" marL="0">
              <a:lnSpc>
                <a:spcPts val="4725"/>
              </a:lnSpc>
              <a:buNone/>
            </a:pPr>
            <a:r>
              <a:rPr lang="en-US" sz="2100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wǒ chuān tiānlánsè de hànshān hé hēisè de duǎnkù</a:t>
            </a:r>
            <a:endParaRPr lang="en-US" sz="3150" dirty="0"/>
          </a:p>
        </p:txBody>
      </p:sp>
      <p:sp>
        <p:nvSpPr>
          <p:cNvPr id="25" name="Shape 23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2371933" y="9405938"/>
            <a:ext cx="52571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练习册 p.148 第 3 题 · p.155 第 17 题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4918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Quizlet Live · 38–43 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04900" y="2467421"/>
            <a:ext cx="609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82998" y="2328416"/>
            <a:ext cx="6094655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Quizlet Live · 图 ↔ 汉字 配对赛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8439150" y="2467421"/>
            <a:ext cx="6041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min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96977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524000" y="3196977"/>
            <a:ext cx="803912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拿出平板，老师发房间号，系统自动分组。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Devices out. Teacher shares the join code; the app assigns teams.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4235202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4000" y="4235202"/>
            <a:ext cx="8355330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图配汉字，比谁快。六件衣服 + 十一个颜色都在里面。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Match picture to 汉字 against the clock — all six garments plus the eleven colours.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5687764"/>
            <a:ext cx="427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24000" y="5687764"/>
            <a:ext cx="426707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时间够就打第二轮。
</a:t>
            </a:r>
            <a:pPr algn="l" indent="0" marL="0">
              <a:lnSpc>
                <a:spcPts val="3263"/>
              </a:lnSpc>
              <a:buNone/>
            </a:pPr>
            <a:r>
              <a:rPr lang="en-US" sz="19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a second round if there's time.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6973639"/>
            <a:ext cx="8801100" cy="1251496"/>
          </a:xfrm>
          <a:prstGeom prst="roundRect">
            <a:avLst>
              <a:gd name="adj" fmla="val 9133"/>
            </a:avLst>
          </a:prstGeom>
          <a:solidFill>
            <a:srgbClr val="B0822C">
              <a:alpha val="12000"/>
            </a:srgbClr>
          </a:solidFill>
          <a:ln w="19050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8250" y="7259389"/>
            <a:ext cx="47590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95326" y="7202239"/>
            <a:ext cx="6117729" cy="79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第二轮换成 </a:t>
            </a:r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汉字 ↔ 拼音</a:t>
            </a:r>
            <a:pPr algn="l" indent="0" marL="0">
              <a:lnSpc>
                <a:spcPts val="3045"/>
              </a:lnSpc>
              <a:buNone/>
            </a:pPr>
            <a:r>
              <a:rPr lang="en-US" sz="21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模式，把图关掉 — </a:t>
            </a:r>
            <a:pPr algn="l" indent="0" marL="0">
              <a:lnSpc>
                <a:spcPts val="3045"/>
              </a:lnSpc>
              <a:buNone/>
            </a:pPr>
            <a:r>
              <a:rPr lang="en-US" sz="18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 picture shortcut, so the characters have to be read.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172700" y="3196977"/>
            <a:ext cx="7200900" cy="2828925"/>
          </a:xfrm>
          <a:prstGeom prst="roundRect">
            <a:avLst>
              <a:gd name="adj" fmla="val 6734"/>
            </a:avLst>
          </a:prstGeom>
          <a:solidFill>
            <a:srgbClr val="E7E2D5"/>
          </a:solidFill>
          <a:ln w="19050">
            <a:solidFill>
              <a:srgbClr val="CFC4A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496550" y="3501777"/>
            <a:ext cx="66842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你要说 / 写的中文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96550" y="3920877"/>
            <a:ext cx="668426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5"/>
              </a:lnSpc>
              <a:buNone/>
            </a:pPr>
            <a:r>
              <a:rPr lang="en-US" sz="315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衬衫　汗衫　牛仔裤　长裤　短裤　裙子</a:t>
            </a:r>
            <a:endParaRPr lang="en-US" sz="3150" dirty="0"/>
          </a:p>
        </p:txBody>
      </p:sp>
      <p:sp>
        <p:nvSpPr>
          <p:cNvPr id="22" name="Text 20"/>
          <p:cNvSpPr/>
          <p:nvPr/>
        </p:nvSpPr>
        <p:spPr>
          <a:xfrm>
            <a:off x="10496550" y="5235327"/>
            <a:ext cx="668426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19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加上第十三课的十一个颜色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3056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回顾 · 自评 · 出门条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3322290"/>
            <a:ext cx="2498229" cy="571500"/>
          </a:xfrm>
          <a:prstGeom prst="roundRect">
            <a:avLst>
              <a:gd name="adj" fmla="val 1665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04900" y="3379440"/>
            <a:ext cx="21595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 · 对照今天的目标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89379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407476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838325" y="4074765"/>
            <a:ext cx="4705490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我会用「的」把颜色放在衣服前面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4891980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5072955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838325" y="5072955"/>
            <a:ext cx="2828577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我会分 长裤 和 短裤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5890171"/>
            <a:ext cx="8001000" cy="864840"/>
          </a:xfrm>
          <a:prstGeom prst="roundRect">
            <a:avLst>
              <a:gd name="adj" fmla="val 1321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6071146"/>
            <a:ext cx="466344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838325" y="6071146"/>
            <a:ext cx="3764453" cy="441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我听得出声调，写得对拼音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6945511"/>
            <a:ext cx="81610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👍 会了　😐 快会了　👎 还要练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72600" y="3322290"/>
            <a:ext cx="2422922" cy="571500"/>
          </a:xfrm>
          <a:prstGeom prst="roundRect">
            <a:avLst>
              <a:gd name="adj" fmla="val 1665000"/>
            </a:avLst>
          </a:prstGeom>
          <a:solidFill>
            <a:srgbClr val="B03C2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563100" y="3379440"/>
            <a:ext cx="2082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Exit Ticket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3893790"/>
            <a:ext cx="8001000" cy="2586930"/>
          </a:xfrm>
          <a:prstGeom prst="roundRect">
            <a:avLst>
              <a:gd name="adj" fmla="val 7364"/>
            </a:avLst>
          </a:prstGeom>
          <a:solidFill>
            <a:srgbClr val="F2EFE7"/>
          </a:solidFill>
          <a:ln w="28575">
            <a:solidFill>
              <a:srgbClr val="B03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782175" y="4303365"/>
            <a:ext cx="7325487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天蓝色的短裤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782175" y="5156746"/>
            <a:ext cx="73254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先写这个词，再用它写一整句。
</a:t>
            </a:r>
            <a:pPr algn="l" indent="0" marL="0">
              <a:lnSpc>
                <a:spcPts val="3600"/>
              </a:lnSpc>
              <a:buNone/>
            </a:pPr>
            <a:r>
              <a:rPr lang="en-US" sz="16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'sky-blue shorts' in Chinese, then use it in a full sentence.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14300"/>
            <a:ext cx="18288000" cy="8096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9162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114300"/>
            <a:ext cx="16764000" cy="38100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381000"/>
            <a:ext cx="15470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L14 穿着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2132" y="371475"/>
            <a:ext cx="17164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下一课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854107" y="3075682"/>
            <a:ext cx="2579787" cy="666750"/>
          </a:xfrm>
          <a:prstGeom prst="roundRect">
            <a:avLst>
              <a:gd name="adj" fmla="val 1427143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22619" y="3132832"/>
            <a:ext cx="22427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 · Next Lesson</a:t>
            </a:r>
            <a:endParaRPr lang="en-US" sz="1500" dirty="0"/>
          </a:p>
        </p:txBody>
      </p:sp>
      <p:pic>
        <p:nvPicPr>
          <p:cNvPr id="9" name="Image 0" descr="/var/folders/6c/210dcgxn4gz5sm71vld2cy1h0000gn/T/y7l14-pptx-5Uk7v3/art/art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42432"/>
            <a:ext cx="1995636" cy="1905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9808" y="5990332"/>
            <a:ext cx="16788384" cy="746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880"/>
              </a:lnSpc>
              <a:buNone/>
            </a:pPr>
            <a:r>
              <a:rPr lang="en-US" sz="42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下一课 — 课文二：你喜欢穿什么衣服？还有三件新衣服。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49808" y="6946553"/>
            <a:ext cx="16788384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lesson: Text 2 — 你喜欢穿什么衣服？— plus 衣服, 毛衣 and 外套.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0" y="9253538"/>
            <a:ext cx="18288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2000" y="9405938"/>
            <a:ext cx="32348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颜色的衣服 + 长/短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3480405" y="9405938"/>
            <a:ext cx="41265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p.105–106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2026-09-14T03:46:32Z</dcterms:created>
  <dcterms:modified xsi:type="dcterms:W3CDTF">2026-09-14T03:46:32Z</dcterms:modified>
</cp:coreProperties>
</file>