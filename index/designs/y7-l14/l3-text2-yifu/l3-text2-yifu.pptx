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430250" y="5181600"/>
            <a:ext cx="427482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0"/>
              </a:lnSpc>
              <a:buNone/>
            </a:pPr>
            <a:r>
              <a:rPr lang="en-US" sz="33000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</a:t>
            </a:r>
            <a:endParaRPr lang="en-US" sz="33000" dirty="0"/>
          </a:p>
        </p:txBody>
      </p:sp>
      <p:sp>
        <p:nvSpPr>
          <p:cNvPr id="7" name="Text 5"/>
          <p:cNvSpPr/>
          <p:nvPr/>
        </p:nvSpPr>
        <p:spPr>
          <a:xfrm>
            <a:off x="749808" y="1973163"/>
            <a:ext cx="1678838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 · Y7 UNIT 5 · 轻松学中文 1</a:t>
            </a:r>
            <a:endParaRPr lang="en-US" sz="1950" dirty="0"/>
          </a:p>
        </p:txBody>
      </p:sp>
      <p:pic>
        <p:nvPicPr>
          <p:cNvPr id="8" name="Image 0" descr="/var/folders/6c/210dcgxn4gz5sm71vld2cy1h0000gn/T/y7l14-pptx-5Uk7v3/art/art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16088"/>
            <a:ext cx="1496764" cy="14287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4774406"/>
            <a:ext cx="16788384" cy="2625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335"/>
              </a:lnSpc>
              <a:spcBef>
                <a:spcPts val="6532"/>
              </a:spcBef>
              <a:spcAft>
                <a:spcPts val="900"/>
              </a:spcAft>
              <a:buNone/>
            </a:pPr>
            <a:r>
              <a:rPr lang="en-US" sz="97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你喜欢穿</a:t>
            </a:r>
            <a:endParaRPr lang="en-US" sz="9750" dirty="0"/>
          </a:p>
          <a:p>
            <a:pPr algn="ctr" indent="0" marL="0">
              <a:lnSpc>
                <a:spcPts val="10335"/>
              </a:lnSpc>
              <a:spcBef>
                <a:spcPts val="6532"/>
              </a:spcBef>
              <a:spcAft>
                <a:spcPts val="900"/>
              </a:spcAft>
              <a:buNone/>
            </a:pPr>
            <a:r>
              <a:rPr lang="en-US" sz="97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什么衣服？</a:t>
            </a:r>
            <a:endParaRPr lang="en-US" sz="9750" dirty="0"/>
          </a:p>
        </p:txBody>
      </p:sp>
      <p:sp>
        <p:nvSpPr>
          <p:cNvPr id="10" name="Text 7"/>
          <p:cNvSpPr/>
          <p:nvPr/>
        </p:nvSpPr>
        <p:spPr>
          <a:xfrm>
            <a:off x="749808" y="7513737"/>
            <a:ext cx="16788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 2 · 衣服 · 校服 · 毛衣 · 外套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6166687" y="8294787"/>
            <a:ext cx="17311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7 Chinese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415693" y="8294787"/>
            <a:ext cx="8290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 分钟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9772879" y="8294787"/>
            <a:ext cx="6749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Mixed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0972910" y="8294787"/>
            <a:ext cx="1142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p.108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2000" y="9405938"/>
            <a:ext cx="40627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 · 课文二 · 你喜欢穿什么衣服？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3946386" y="9405938"/>
            <a:ext cx="36512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24430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练习册 p.152 第 11 题 · 0–8 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909316"/>
            <a:ext cx="7626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43113" y="1770311"/>
            <a:ext cx="7531031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圈出衣服的词 · Circle the clothing words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807476" y="1909316"/>
            <a:ext cx="6057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25200" y="1909316"/>
            <a:ext cx="12822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p.152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3900" y="2638871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33500" y="2638871"/>
            <a:ext cx="8569071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p.152 第 11 题 — 十八个格子，圈出所有衣服的词。三分钟，自己做。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Workbook Ex.11 — eighteen cells, circle every clothing word. Three minutes, on your own.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723900" y="4505771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33500" y="4505771"/>
            <a:ext cx="8569071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格子里混了很多以前学过的词：年级、出租车、睡觉、起床、上课、地铁、放学。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grid mixes in words from earlier units — this is a recall test of the whole year.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23900" y="6372671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333500" y="6372671"/>
            <a:ext cx="8569071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有两个词今天下课以前你才圈得出来 — 毛衣、外套。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of them you won't be able to circle until the end of today — 毛衣 and 外套.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23900" y="7939534"/>
            <a:ext cx="9010650" cy="843855"/>
          </a:xfrm>
          <a:prstGeom prst="roundRect">
            <a:avLst>
              <a:gd name="adj" fmla="val 1354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47750" y="8225284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704826" y="8168134"/>
            <a:ext cx="7440403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圈完以后，用其中四个词写一句话，中间用「、」和「和」。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191750" y="2638871"/>
            <a:ext cx="7372350" cy="3429000"/>
          </a:xfrm>
          <a:prstGeom prst="roundRect">
            <a:avLst>
              <a:gd name="adj" fmla="val 5556"/>
            </a:avLst>
          </a:prstGeom>
          <a:solidFill>
            <a:srgbClr val="E7E2D5"/>
          </a:solidFill>
          <a:ln w="19050">
            <a:solidFill>
              <a:srgbClr val="CFC4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515600" y="2943671"/>
            <a:ext cx="68591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你要说 / 写的中文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515600" y="3362771"/>
            <a:ext cx="6859143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衬衫　汗衫　长衫　长裤　短裤　牛仔裤　校服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10515600" y="4677221"/>
            <a:ext cx="6859143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今天学完再回来圈</a:t>
            </a:r>
            <a:pPr algn="l" indent="0" marL="0">
              <a:lnSpc>
                <a:spcPts val="4725"/>
              </a:lnSpc>
              <a:buNone/>
            </a:pPr>
            <a:r>
              <a:rPr lang="en-US" sz="31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毛衣 外套</a:t>
            </a:r>
            <a:endParaRPr lang="en-US" sz="3150" dirty="0"/>
          </a:p>
        </p:txBody>
      </p:sp>
      <p:sp>
        <p:nvSpPr>
          <p:cNvPr id="24" name="Shape 22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9405938"/>
            <a:ext cx="40627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 · 课文二 · 你喜欢穿什么衣服？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820775" y="9405938"/>
            <a:ext cx="37793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练习册 p.152 第 11 题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5940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目标 · Learning Intention &amp; Success Criteria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411909"/>
            <a:ext cx="3627983" cy="552450"/>
          </a:xfrm>
          <a:prstGeom prst="roundRect">
            <a:avLst>
              <a:gd name="adj" fmla="val 1722414"/>
            </a:avLst>
          </a:prstGeom>
          <a:solidFill>
            <a:srgbClr val="2C4C7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04900" y="2469059"/>
            <a:ext cx="33119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今天我们学 · Learning Intention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964359"/>
            <a:ext cx="1678838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我们学怎么问别人喜欢穿什么衣服，也学怎么一次说好几件。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14400" y="3890070"/>
            <a:ext cx="2825204" cy="552450"/>
          </a:xfrm>
          <a:prstGeom prst="roundRect">
            <a:avLst>
              <a:gd name="adj" fmla="val 1722414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04900" y="3947220"/>
            <a:ext cx="2493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 · Success Criteria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480620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90625" y="471874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876425" y="4718745"/>
            <a:ext cx="7864697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我会问「你喜欢穿什么衣服？」</a:t>
            </a:r>
            <a:pPr algn="l" indent="0" marL="0">
              <a:lnSpc>
                <a:spcPts val="3480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ask 你喜欢穿什么衣服？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5631210"/>
            <a:ext cx="16459200" cy="1359991"/>
          </a:xfrm>
          <a:prstGeom prst="roundRect">
            <a:avLst>
              <a:gd name="adj" fmla="val 840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90625" y="586933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876425" y="5869335"/>
            <a:ext cx="15525369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我会一次说好几件衣服，中间用「、」，最后用「和」</a:t>
            </a:r>
            <a:pPr algn="l" indent="0" marL="0">
              <a:lnSpc>
                <a:spcPts val="3480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answer with several garments — 、 between them, 和 before the last one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7162651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90625" y="740077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876425" y="7400776"/>
            <a:ext cx="8884977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我会说 衣服、校服、毛衣、外套</a:t>
            </a:r>
            <a:pPr algn="l" indent="0" marL="0">
              <a:lnSpc>
                <a:spcPts val="3480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衣服, 校服, 毛衣 and 外套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000" y="9405938"/>
            <a:ext cx="40627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 · 课文二 · 你喜欢穿什么衣服？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946386" y="9405938"/>
            <a:ext cx="36512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0147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生词 · 第一组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974503"/>
            <a:ext cx="7962900" cy="6604546"/>
          </a:xfrm>
          <a:prstGeom prst="roundRect">
            <a:avLst>
              <a:gd name="adj" fmla="val 4038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var/folders/6c/210dcgxn4gz5sm71vld2cy1h0000gn/T/y7l14-pptx-5Uk7v3/art/art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8521" y="2374553"/>
            <a:ext cx="2494508" cy="23812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76650" y="4927253"/>
            <a:ext cx="248716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衣服</a:t>
            </a:r>
            <a:endParaRPr lang="en-US" sz="9600" dirty="0"/>
          </a:p>
        </p:txBody>
      </p:sp>
      <p:sp>
        <p:nvSpPr>
          <p:cNvPr id="10" name="Text 7"/>
          <p:cNvSpPr/>
          <p:nvPr/>
        </p:nvSpPr>
        <p:spPr>
          <a:xfrm>
            <a:off x="4460230" y="6378773"/>
            <a:ext cx="88866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yīfu</a:t>
            </a:r>
            <a:endParaRPr lang="en-US" sz="3450" dirty="0"/>
          </a:p>
        </p:txBody>
      </p:sp>
      <p:sp>
        <p:nvSpPr>
          <p:cNvPr id="11" name="Text 8"/>
          <p:cNvSpPr/>
          <p:nvPr/>
        </p:nvSpPr>
        <p:spPr>
          <a:xfrm>
            <a:off x="4286994" y="7169348"/>
            <a:ext cx="1242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clothing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9410700" y="1974503"/>
            <a:ext cx="7962900" cy="6604546"/>
          </a:xfrm>
          <a:prstGeom prst="roundRect">
            <a:avLst>
              <a:gd name="adj" fmla="val 4038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y7l14-pptx-5Uk7v3/art/art-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821" y="2374553"/>
            <a:ext cx="2494508" cy="23812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172950" y="4927253"/>
            <a:ext cx="248716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校服</a:t>
            </a:r>
            <a:endParaRPr lang="en-US" sz="9600" dirty="0"/>
          </a:p>
        </p:txBody>
      </p:sp>
      <p:sp>
        <p:nvSpPr>
          <p:cNvPr id="15" name="Text 11"/>
          <p:cNvSpPr/>
          <p:nvPr/>
        </p:nvSpPr>
        <p:spPr>
          <a:xfrm>
            <a:off x="12716768" y="6378773"/>
            <a:ext cx="1377779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xiàofú</a:t>
            </a:r>
            <a:endParaRPr lang="en-US" sz="3450" dirty="0"/>
          </a:p>
        </p:txBody>
      </p:sp>
      <p:sp>
        <p:nvSpPr>
          <p:cNvPr id="16" name="Text 12"/>
          <p:cNvSpPr/>
          <p:nvPr/>
        </p:nvSpPr>
        <p:spPr>
          <a:xfrm>
            <a:off x="12253168" y="7169348"/>
            <a:ext cx="2323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school uniform</a:t>
            </a:r>
            <a:endParaRPr lang="en-US" sz="2550" dirty="0"/>
          </a:p>
        </p:txBody>
      </p:sp>
      <p:sp>
        <p:nvSpPr>
          <p:cNvPr id="17" name="Shape 13"/>
          <p:cNvSpPr/>
          <p:nvPr/>
        </p:nvSpPr>
        <p:spPr>
          <a:xfrm>
            <a:off x="10466040" y="7802761"/>
            <a:ext cx="585207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407520" y="7864673"/>
            <a:ext cx="59691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校</a:t>
            </a:r>
            <a:pPr algn="ctr" indent="0" marL="0"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和「校车」「学校」一样</a:t>
            </a:r>
            <a:endParaRPr lang="en-US" sz="1950" dirty="0"/>
          </a:p>
        </p:txBody>
      </p:sp>
      <p:sp>
        <p:nvSpPr>
          <p:cNvPr id="19" name="Shape 15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62000" y="9405938"/>
            <a:ext cx="40627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 · 课文二 · 你喜欢穿什么衣服？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13946386" y="9405938"/>
            <a:ext cx="36512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4888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例句 · 衣服 · 校服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915567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chuān shénme yīfu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4400" y="2372767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你喜欢穿什么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衣服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3073747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clothes do you like to wear?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778597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shàngxué chuān xiàofú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14400" y="4235797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我上学穿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校服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14400" y="4936778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wear school uniform to school.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5641628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bù xǐhuan xiàofú， wǒ xǐhuan chuān wǒ de yīfu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6098828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我不喜欢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校服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，我喜欢穿我的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衣服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914400" y="6799808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don't like the uniform, I like wearing my own clothes.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7504658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38250" y="7714208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771650" y="7714208"/>
            <a:ext cx="55111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你喜欢穿什么衣服？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771650" y="8114258"/>
            <a:ext cx="551111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Ask three students. Full sentences, not one word.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000" y="9405938"/>
            <a:ext cx="40627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 · 课文二 · 你喜欢穿什么衣服？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946386" y="9405938"/>
            <a:ext cx="36512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7054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写一句 · 衣服 · 校服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691979"/>
            <a:ext cx="16459200" cy="124197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42975" y="3691979"/>
            <a:ext cx="0" cy="1241971"/>
          </a:xfrm>
          <a:prstGeom prst="line">
            <a:avLst/>
          </a:prstGeom>
          <a:noFill/>
          <a:ln w="5715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76350" y="3920579"/>
            <a:ext cx="16108299" cy="78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我喜欢穿</a:t>
            </a:r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衣服。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104900" y="5371058"/>
            <a:ext cx="564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39243" y="5238750"/>
            <a:ext cx="5640910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写一句回答「你喜欢穿什么衣服？」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6017865"/>
            <a:ext cx="16459200" cy="843855"/>
          </a:xfrm>
          <a:prstGeom prst="roundRect">
            <a:avLst>
              <a:gd name="adj" fmla="val 1354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38250" y="6303615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895326" y="6246465"/>
            <a:ext cx="9490525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用两个分句，一个正的一个反的 — 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我喜欢穿汗衫和牛仔裤，我不喜欢穿校服。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9405938"/>
            <a:ext cx="40627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 · 课文二 · 你喜欢穿什么衣服？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946386" y="9405938"/>
            <a:ext cx="36512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0147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生词 · 第二组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974503"/>
            <a:ext cx="7962900" cy="6604546"/>
          </a:xfrm>
          <a:prstGeom prst="roundRect">
            <a:avLst>
              <a:gd name="adj" fmla="val 4038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var/folders/6c/210dcgxn4gz5sm71vld2cy1h0000gn/T/y7l14-pptx-5Uk7v3/art/art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8521" y="2374553"/>
            <a:ext cx="2494508" cy="23812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76650" y="4927253"/>
            <a:ext cx="248716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毛衣</a:t>
            </a:r>
            <a:endParaRPr lang="en-US" sz="9600" dirty="0"/>
          </a:p>
        </p:txBody>
      </p:sp>
      <p:sp>
        <p:nvSpPr>
          <p:cNvPr id="10" name="Text 7"/>
          <p:cNvSpPr/>
          <p:nvPr/>
        </p:nvSpPr>
        <p:spPr>
          <a:xfrm>
            <a:off x="4220021" y="6378773"/>
            <a:ext cx="1378538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máoyī</a:t>
            </a:r>
            <a:endParaRPr lang="en-US" sz="3450" dirty="0"/>
          </a:p>
        </p:txBody>
      </p:sp>
      <p:sp>
        <p:nvSpPr>
          <p:cNvPr id="11" name="Text 8"/>
          <p:cNvSpPr/>
          <p:nvPr/>
        </p:nvSpPr>
        <p:spPr>
          <a:xfrm>
            <a:off x="4294584" y="7169348"/>
            <a:ext cx="12264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sweater</a:t>
            </a:r>
            <a:endParaRPr lang="en-US" sz="2550" dirty="0"/>
          </a:p>
        </p:txBody>
      </p:sp>
      <p:sp>
        <p:nvSpPr>
          <p:cNvPr id="12" name="Shape 9"/>
          <p:cNvSpPr/>
          <p:nvPr/>
        </p:nvSpPr>
        <p:spPr>
          <a:xfrm>
            <a:off x="1969740" y="7802761"/>
            <a:ext cx="585207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11220" y="7864673"/>
            <a:ext cx="59691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毛</a:t>
            </a:r>
            <a:pPr algn="ctr" indent="0" marL="0"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máo = wool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9410700" y="1974503"/>
            <a:ext cx="7962900" cy="6604546"/>
          </a:xfrm>
          <a:prstGeom prst="roundRect">
            <a:avLst>
              <a:gd name="adj" fmla="val 4038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y7l14-pptx-5Uk7v3/art/art-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821" y="2374553"/>
            <a:ext cx="2494508" cy="23812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172950" y="4927253"/>
            <a:ext cx="248716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外套</a:t>
            </a:r>
            <a:endParaRPr lang="en-US" sz="9600" dirty="0"/>
          </a:p>
        </p:txBody>
      </p:sp>
      <p:sp>
        <p:nvSpPr>
          <p:cNvPr id="17" name="Text 13"/>
          <p:cNvSpPr/>
          <p:nvPr/>
        </p:nvSpPr>
        <p:spPr>
          <a:xfrm>
            <a:off x="12679412" y="6378773"/>
            <a:ext cx="145383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wàitào</a:t>
            </a:r>
            <a:endParaRPr lang="en-US" sz="3450" dirty="0"/>
          </a:p>
        </p:txBody>
      </p:sp>
      <p:sp>
        <p:nvSpPr>
          <p:cNvPr id="18" name="Text 14"/>
          <p:cNvSpPr/>
          <p:nvPr/>
        </p:nvSpPr>
        <p:spPr>
          <a:xfrm>
            <a:off x="13054608" y="7169348"/>
            <a:ext cx="6884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coat</a:t>
            </a:r>
            <a:endParaRPr lang="en-US" sz="2550" dirty="0"/>
          </a:p>
        </p:txBody>
      </p:sp>
      <p:sp>
        <p:nvSpPr>
          <p:cNvPr id="19" name="Shape 15"/>
          <p:cNvSpPr/>
          <p:nvPr/>
        </p:nvSpPr>
        <p:spPr>
          <a:xfrm>
            <a:off x="10466040" y="7802761"/>
            <a:ext cx="585207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0407520" y="7864673"/>
            <a:ext cx="59691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外</a:t>
            </a:r>
            <a:pPr algn="ctr" indent="0" marL="0"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wài = outer</a:t>
            </a:r>
            <a:endParaRPr lang="en-US" sz="1950" dirty="0"/>
          </a:p>
        </p:txBody>
      </p:sp>
      <p:sp>
        <p:nvSpPr>
          <p:cNvPr id="21" name="Shape 17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62000" y="9405938"/>
            <a:ext cx="40627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 · 课文二 · 你喜欢穿什么衣服？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13946386" y="9405938"/>
            <a:ext cx="36512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4888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例句 · 毛衣 · 外套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915567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māma xǐhuan chuān hóngsè de máoyī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4400" y="2372767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我妈妈喜欢穿红色的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毛衣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3073747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mum likes wearing a red sweater.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778597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bàba xǐhuan chuān hēisè de wàitào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14400" y="4235797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我爸爸喜欢穿黑色的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外套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14400" y="4936778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dad likes wearing a black coat.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5641628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chuān máoyī hé wàitào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6098828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我穿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毛衣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外套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914400" y="6799808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I'm wearing a sweater and a coat.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7504658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38250" y="7714208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771650" y="7714208"/>
            <a:ext cx="70410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「外套」的「外」是什么？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771650" y="8114258"/>
            <a:ext cx="70410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Which of the two goes on the outside? The character tells you.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000" y="9405938"/>
            <a:ext cx="40627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 · 课文二 · 你喜欢穿什么衣服？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946386" y="9405938"/>
            <a:ext cx="36512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7054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写一句 · 毛衣 · 外套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691979"/>
            <a:ext cx="16459200" cy="124197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42975" y="3691979"/>
            <a:ext cx="0" cy="1241971"/>
          </a:xfrm>
          <a:prstGeom prst="line">
            <a:avLst/>
          </a:prstGeom>
          <a:noFill/>
          <a:ln w="5715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76350" y="3920579"/>
            <a:ext cx="16108299" cy="78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我穿</a:t>
            </a:r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色的毛衣和</a:t>
            </a:r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色的外套。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104900" y="5371058"/>
            <a:ext cx="564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39243" y="5238750"/>
            <a:ext cx="4935929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写一句。两件衣服，两个颜色。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6017865"/>
            <a:ext cx="16459200" cy="843855"/>
          </a:xfrm>
          <a:prstGeom prst="roundRect">
            <a:avLst>
              <a:gd name="adj" fmla="val 1354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38250" y="6303615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895326" y="6246465"/>
            <a:ext cx="11974202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写三件衣服，用「、」和「和」，再加一个分句写别人 — 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我穿汗衫、毛衣和外套，我弟弟穿短裤。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9405938"/>
            <a:ext cx="40627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 · 课文二 · 你喜欢穿什么衣服？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946386" y="9405938"/>
            <a:ext cx="36512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4068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到现在的十件衣服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9808" y="2847975"/>
            <a:ext cx="167883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只有汉字和图 — 这块板整节课都在屏幕上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3381375"/>
            <a:ext cx="3108871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var/folders/6c/210dcgxn4gz5sm71vld2cy1h0000gn/T/y7l14-pptx-5Uk7v3/art/art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9981" y="3562350"/>
            <a:ext cx="957709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73461" y="455295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衬衫</a:t>
            </a:r>
            <a:endParaRPr lang="en-US" sz="3900" dirty="0"/>
          </a:p>
        </p:txBody>
      </p:sp>
      <p:sp>
        <p:nvSpPr>
          <p:cNvPr id="11" name="Text 8"/>
          <p:cNvSpPr/>
          <p:nvPr/>
        </p:nvSpPr>
        <p:spPr>
          <a:xfrm>
            <a:off x="4251871" y="3381375"/>
            <a:ext cx="310902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var/folders/6c/210dcgxn4gz5sm71vld2cy1h0000gn/T/y7l14-pptx-5Uk7v3/art/art-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452" y="3562350"/>
            <a:ext cx="957709" cy="914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11080" y="455295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汗衫</a:t>
            </a:r>
            <a:endParaRPr lang="en-US" sz="3900" dirty="0"/>
          </a:p>
        </p:txBody>
      </p:sp>
      <p:sp>
        <p:nvSpPr>
          <p:cNvPr id="14" name="Text 10"/>
          <p:cNvSpPr/>
          <p:nvPr/>
        </p:nvSpPr>
        <p:spPr>
          <a:xfrm>
            <a:off x="7589490" y="3381375"/>
            <a:ext cx="3108871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2" descr="/var/folders/6c/210dcgxn4gz5sm71vld2cy1h0000gn/T/y7l14-pptx-5Uk7v3/art/art-2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5071" y="3562350"/>
            <a:ext cx="957709" cy="914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48551" y="455295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毛衣</a:t>
            </a:r>
            <a:endParaRPr lang="en-US" sz="3900" dirty="0"/>
          </a:p>
        </p:txBody>
      </p:sp>
      <p:sp>
        <p:nvSpPr>
          <p:cNvPr id="17" name="Text 12"/>
          <p:cNvSpPr/>
          <p:nvPr/>
        </p:nvSpPr>
        <p:spPr>
          <a:xfrm>
            <a:off x="10926961" y="3381375"/>
            <a:ext cx="310902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3" descr="/var/folders/6c/210dcgxn4gz5sm71vld2cy1h0000gn/T/y7l14-pptx-5Uk7v3/art/art-2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2542" y="3562350"/>
            <a:ext cx="957709" cy="9144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986171" y="455295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外套</a:t>
            </a:r>
            <a:endParaRPr lang="en-US" sz="3900" dirty="0"/>
          </a:p>
        </p:txBody>
      </p:sp>
      <p:sp>
        <p:nvSpPr>
          <p:cNvPr id="20" name="Text 14"/>
          <p:cNvSpPr/>
          <p:nvPr/>
        </p:nvSpPr>
        <p:spPr>
          <a:xfrm>
            <a:off x="14264580" y="3381375"/>
            <a:ext cx="3108871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4" descr="/var/folders/6c/210dcgxn4gz5sm71vld2cy1h0000gn/T/y7l14-pptx-5Uk7v3/art/art-2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40161" y="3562350"/>
            <a:ext cx="957709" cy="9144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323641" y="455295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校服</a:t>
            </a:r>
            <a:endParaRPr lang="en-US" sz="3900" dirty="0"/>
          </a:p>
        </p:txBody>
      </p:sp>
      <p:sp>
        <p:nvSpPr>
          <p:cNvPr id="23" name="Text 16"/>
          <p:cNvSpPr/>
          <p:nvPr/>
        </p:nvSpPr>
        <p:spPr>
          <a:xfrm>
            <a:off x="914400" y="5657850"/>
            <a:ext cx="3108871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5" descr="/var/folders/6c/210dcgxn4gz5sm71vld2cy1h0000gn/T/y7l14-pptx-5Uk7v3/art/art-2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9981" y="5838825"/>
            <a:ext cx="957709" cy="9144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925836" y="6829425"/>
            <a:ext cx="110756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牛仔裤</a:t>
            </a:r>
            <a:endParaRPr lang="en-US" sz="2850" dirty="0"/>
          </a:p>
        </p:txBody>
      </p:sp>
      <p:sp>
        <p:nvSpPr>
          <p:cNvPr id="26" name="Text 18"/>
          <p:cNvSpPr/>
          <p:nvPr/>
        </p:nvSpPr>
        <p:spPr>
          <a:xfrm>
            <a:off x="4251871" y="5657850"/>
            <a:ext cx="310902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6" descr="/var/folders/6c/210dcgxn4gz5sm71vld2cy1h0000gn/T/y7l14-pptx-5Uk7v3/art/art-3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7452" y="5838825"/>
            <a:ext cx="957709" cy="9144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311080" y="682942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长裤</a:t>
            </a:r>
            <a:endParaRPr lang="en-US" sz="3900" dirty="0"/>
          </a:p>
        </p:txBody>
      </p:sp>
      <p:sp>
        <p:nvSpPr>
          <p:cNvPr id="29" name="Text 20"/>
          <p:cNvSpPr/>
          <p:nvPr/>
        </p:nvSpPr>
        <p:spPr>
          <a:xfrm>
            <a:off x="7589490" y="5657850"/>
            <a:ext cx="3108871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7" descr="/var/folders/6c/210dcgxn4gz5sm71vld2cy1h0000gn/T/y7l14-pptx-5Uk7v3/art/art-3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5071" y="5838825"/>
            <a:ext cx="957709" cy="9144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8648551" y="682942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短裤</a:t>
            </a:r>
            <a:endParaRPr lang="en-US" sz="3900" dirty="0"/>
          </a:p>
        </p:txBody>
      </p:sp>
      <p:sp>
        <p:nvSpPr>
          <p:cNvPr id="32" name="Text 22"/>
          <p:cNvSpPr/>
          <p:nvPr/>
        </p:nvSpPr>
        <p:spPr>
          <a:xfrm>
            <a:off x="10926961" y="5657850"/>
            <a:ext cx="310902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8" descr="/var/folders/6c/210dcgxn4gz5sm71vld2cy1h0000gn/T/y7l14-pptx-5Uk7v3/art/art-3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02542" y="5838825"/>
            <a:ext cx="957709" cy="9144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11986171" y="682942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裙子</a:t>
            </a:r>
            <a:endParaRPr lang="en-US" sz="3900" dirty="0"/>
          </a:p>
        </p:txBody>
      </p:sp>
      <p:sp>
        <p:nvSpPr>
          <p:cNvPr id="35" name="Text 24"/>
          <p:cNvSpPr/>
          <p:nvPr/>
        </p:nvSpPr>
        <p:spPr>
          <a:xfrm>
            <a:off x="14264580" y="5657850"/>
            <a:ext cx="3108871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9" descr="/var/folders/6c/210dcgxn4gz5sm71vld2cy1h0000gn/T/y7l14-pptx-5Uk7v3/art/art-33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340161" y="5838825"/>
            <a:ext cx="957709" cy="91440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15323641" y="682942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衣服</a:t>
            </a:r>
            <a:endParaRPr lang="en-US" sz="3900" dirty="0"/>
          </a:p>
        </p:txBody>
      </p:sp>
      <p:sp>
        <p:nvSpPr>
          <p:cNvPr id="38" name="Shape 26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39" name="Text 27"/>
          <p:cNvSpPr/>
          <p:nvPr/>
        </p:nvSpPr>
        <p:spPr>
          <a:xfrm>
            <a:off x="762000" y="9405938"/>
            <a:ext cx="40627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 · 课文二 · 你喜欢穿什么衣服？</a:t>
            </a:r>
            <a:endParaRPr lang="en-US" sz="1350" dirty="0"/>
          </a:p>
        </p:txBody>
      </p:sp>
      <p:sp>
        <p:nvSpPr>
          <p:cNvPr id="40" name="Text 28"/>
          <p:cNvSpPr/>
          <p:nvPr/>
        </p:nvSpPr>
        <p:spPr>
          <a:xfrm>
            <a:off x="13946386" y="9405938"/>
            <a:ext cx="36512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7742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句型 · A、B、C 和 D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66800" y="977503"/>
            <a:ext cx="290599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 </a:t>
            </a:r>
            <a:pPr algn="l" indent="0" marL="0">
              <a:buNone/>
            </a:pPr>
            <a:r>
              <a:rPr lang="en-US" sz="24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pPr algn="l" indent="0" marL="0">
              <a:buNone/>
            </a:pPr>
            <a:r>
              <a:rPr lang="en-US" sz="33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B </a:t>
            </a:r>
            <a:pPr algn="l" indent="0" marL="0">
              <a:buNone/>
            </a:pPr>
            <a:r>
              <a:rPr lang="en-US" sz="24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pPr algn="l" indent="0" marL="0">
              <a:buNone/>
            </a:pPr>
            <a:r>
              <a:rPr lang="en-US" sz="33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C </a:t>
            </a:r>
            <a:pPr algn="l" indent="0" marL="0">
              <a:buNone/>
            </a:pPr>
            <a:r>
              <a:rPr lang="en-US" sz="24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pPr algn="l" indent="0" marL="0">
              <a:buNone/>
            </a:pPr>
            <a:r>
              <a:rPr lang="en-US" sz="33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D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23900" y="1949053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chuān shénme yīfu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23900" y="2406253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你喜欢穿什么衣服？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723900" y="3067645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clothes do you like to wear?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3900" y="3658195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xǐhuan chuān hànshān hé duǎnkù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23900" y="4115395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我喜欢穿汗衫和短裤。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723900" y="4776788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like wearing a T-shirt and shorts.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3900" y="5367338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chuān chènshān、 máoyī、 wàitào hé chángkù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23900" y="5824538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我穿衬衫</a:t>
            </a:r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pPr algn="l" indent="0" marL="0">
              <a:lnSpc>
                <a:spcPts val="4758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毛衣</a:t>
            </a:r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pPr algn="l" indent="0" marL="0">
              <a:lnSpc>
                <a:spcPts val="4758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外套</a:t>
            </a:r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pPr algn="l" indent="0" marL="0">
              <a:lnSpc>
                <a:spcPts val="4758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长裤。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723900" y="6485930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wear a shirt, a sweater, a coat and trousers.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23900" y="7076480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xǐhuan chuān hànshān hé duǎnkù， wǒ bù xǐhuan chuān máoyī hé wàitào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23900" y="7533680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我喜欢穿汗衫和短裤，我不喜欢穿毛衣和外套。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723900" y="8195072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like wearing a T-shirt and shorts; I don't like a sweater and a coat.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23900" y="8690372"/>
            <a:ext cx="16840200" cy="1057275"/>
          </a:xfrm>
          <a:prstGeom prst="roundRect">
            <a:avLst>
              <a:gd name="adj" fmla="val 10811"/>
            </a:avLst>
          </a:prstGeom>
          <a:solidFill>
            <a:srgbClr val="2C4C7C">
              <a:alpha val="10000"/>
            </a:srgbClr>
          </a:solidFill>
          <a:ln w="19050">
            <a:solidFill>
              <a:srgbClr val="2C4C7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09650" y="8861822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543050" y="8861822"/>
            <a:ext cx="1010867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说四件东西，只要一个「和」。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543050" y="9261872"/>
            <a:ext cx="1010867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顿号 goes between the middle items; 和 only before the last one. ✗ 衬衫和毛衣和外套和长裤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9405938"/>
            <a:ext cx="40627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 · 课文二 · 你喜欢穿什么衣服？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946386" y="9405938"/>
            <a:ext cx="36512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4040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检查一下 · Check for Understanding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511004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562100" y="3511004"/>
            <a:ext cx="8220072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8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</a:t>
            </a:r>
            <a:pPr algn="l" indent="0" marL="0">
              <a:lnSpc>
                <a:spcPts val="4568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衣服</a:t>
            </a:r>
            <a:pPr algn="l" indent="0" marL="0">
              <a:lnSpc>
                <a:spcPts val="4568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」和「</a:t>
            </a:r>
            <a:pPr algn="l" indent="0" marL="0">
              <a:lnSpc>
                <a:spcPts val="4568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校服</a:t>
            </a:r>
            <a:pPr algn="l" indent="0" marL="0">
              <a:lnSpc>
                <a:spcPts val="4568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」，哪一个是学校的？哪个字告诉你？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4338638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562100" y="4338638"/>
            <a:ext cx="4705490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我说四样东西，要用几个「和」？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5148263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562100" y="5148263"/>
            <a:ext cx="7701355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8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这句对不对？ </a:t>
            </a:r>
            <a:pPr algn="l" indent="0" marL="0">
              <a:lnSpc>
                <a:spcPts val="4568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我穿衬衫和毛衣和外套和长裤。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6071146"/>
            <a:ext cx="16459200" cy="971550"/>
          </a:xfrm>
          <a:prstGeom prst="roundRect">
            <a:avLst>
              <a:gd name="adj" fmla="val 11765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19200" y="6261646"/>
            <a:ext cx="598474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我穿衬衫和毛衣和外套和长裤。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7353300" y="6342608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924800" y="6261646"/>
            <a:ext cx="598474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我穿衬衫、毛衣、外套和长裤。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000" y="9405938"/>
            <a:ext cx="40627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 · 课文二 · 你喜欢穿什么衣服？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946386" y="9405938"/>
            <a:ext cx="36512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24033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课文二 · Text 2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882253"/>
            <a:ext cx="7989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CD T67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3900" y="1415653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A： nǐ xǐhuan chuān shénme yīfu？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23900" y="1853803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A：你喜欢穿什么衣服？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723900" y="2648545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B： wǒ xǐhuan chuān hànshān hé duǎnkù。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723900" y="3086695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B：我喜欢穿汗衫和短裤。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723900" y="3881438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A： nǐ shàngxué chuān xiàofú ma？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723900" y="4319588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A：你上学穿校服吗？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723900" y="5114330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B： chuān。 wǒ chuān chènshān、 máoyī、 wàitào hé chángkù。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23900" y="5552480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B：穿。我穿衬衫、毛衣、外套和长裤。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723900" y="6366272"/>
            <a:ext cx="16840200" cy="2190750"/>
          </a:xfrm>
          <a:prstGeom prst="roundRect">
            <a:avLst>
              <a:gd name="adj" fmla="val 869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57275" y="6623447"/>
            <a:ext cx="1532334" cy="533400"/>
          </a:xfrm>
          <a:prstGeom prst="roundRect">
            <a:avLst>
              <a:gd name="adj" fmla="val 1783929"/>
            </a:avLst>
          </a:prstGeom>
          <a:solidFill>
            <a:srgbClr val="B03C2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47775" y="6680597"/>
            <a:ext cx="11743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听 · 读 · 问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7275" y="7156847"/>
            <a:ext cx="16173450" cy="1028700"/>
          </a:xfrm>
          <a:prstGeom prst="rect">
            <a:avLst/>
          </a:prstGeom>
          <a:noFill/>
          <a:ln/>
        </p:spPr>
        <p:txBody>
          <a:bodyPr wrap="square" lIns="161925" tIns="0" rIns="0" bIns="0" rtlCol="0" anchor="t"/>
          <a:lstStyle/>
          <a:p>
            <a:pPr algn="l" marL="161925" indent="-161925">
              <a:lnSpc>
                <a:spcPts val="3600"/>
              </a:lnSpc>
              <a:spcAft>
                <a:spcPts val="900"/>
              </a:spcAft>
              <a:buSzPct val="100000"/>
              <a:buChar char="•"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女孩喜欢穿什么？</a:t>
            </a:r>
            <a:endParaRPr lang="en-US" sz="2250" dirty="0"/>
          </a:p>
          <a:p>
            <a:pPr algn="l" marL="161925" indent="-161925">
              <a:lnSpc>
                <a:spcPts val="3600"/>
              </a:lnSpc>
              <a:spcAft>
                <a:spcPts val="900"/>
              </a:spcAft>
              <a:buSzPct val="100000"/>
              <a:buChar char="•"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他的校服有哪四件衣服？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723900" y="8671322"/>
            <a:ext cx="16840200" cy="1057275"/>
          </a:xfrm>
          <a:prstGeom prst="roundRect">
            <a:avLst>
              <a:gd name="adj" fmla="val 10811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09650" y="8842772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082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543050" y="8842772"/>
            <a:ext cx="723941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注意最后的回答：「穿。」不是「是。」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543050" y="9242822"/>
            <a:ext cx="723941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Flag it now — the whole of next lesson is about this one answer.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9405938"/>
            <a:ext cx="40627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 · 课文二 · 你喜欢穿什么衣服？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946386" y="9405938"/>
            <a:ext cx="36512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0715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Flexible Practice · We Do · 20–27 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04900" y="1859756"/>
            <a:ext cx="7004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72593" y="1720751"/>
            <a:ext cx="6645706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我的衣柜 · What's in your wardrobe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068991" y="1859756"/>
            <a:ext cx="5950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589312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524000" y="2589312"/>
            <a:ext cx="8355330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</a:t>
            </a:r>
            <a:pPr algn="l" indent="0" marL="0">
              <a:lnSpc>
                <a:spcPts val="3263"/>
              </a:lnSpc>
              <a:buNone/>
            </a:pPr>
            <a:r>
              <a:rPr lang="en-US" sz="225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一句话</a:t>
            </a:r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，至少四件衣服，每件都有颜色。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ONE sentence listing at least four garments, each with a colour.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400" y="4041874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24000" y="4041874"/>
            <a:ext cx="835533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中间用「、」，最后一件前面用「和」— 数一数，只能有一个「和」。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顿号 between, 和 before the last — count them, there must be exactly one 和.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5908774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24000" y="5908774"/>
            <a:ext cx="5736396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四分钟。写完三个人读给全班听。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Four minutes. Three students read theirs aloud.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7194649"/>
            <a:ext cx="8801100" cy="1638151"/>
          </a:xfrm>
          <a:prstGeom prst="roundRect">
            <a:avLst>
              <a:gd name="adj" fmla="val 6977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38250" y="7480399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895326" y="7423249"/>
            <a:ext cx="7646250" cy="1180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别人</a:t>
            </a:r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的衣柜，写完变成猜谜 — 说四件这个房间里某个人有的衣服，最后问 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他是谁？</a:t>
            </a:r>
            <a:pPr algn="l" indent="0" marL="0">
              <a:lnSpc>
                <a:spcPts val="3045"/>
              </a:lnSpc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summary board — turn away from the screen.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172700" y="2589312"/>
            <a:ext cx="7200900" cy="3143250"/>
          </a:xfrm>
          <a:prstGeom prst="roundRect">
            <a:avLst>
              <a:gd name="adj" fmla="val 6061"/>
            </a:avLst>
          </a:prstGeom>
          <a:solidFill>
            <a:srgbClr val="E7E2D5"/>
          </a:solidFill>
          <a:ln w="19050">
            <a:solidFill>
              <a:srgbClr val="CFC4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496550" y="2894112"/>
            <a:ext cx="66842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你要说 / 写的中文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496550" y="3313212"/>
            <a:ext cx="6684264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我有白色的衬衫、蓝色的牛仔裤、灰色的毛衣和黑色的外套。</a:t>
            </a:r>
            <a:pPr algn="l" indent="0" marL="0">
              <a:lnSpc>
                <a:spcPts val="4725"/>
              </a:lnSpc>
              <a:buNone/>
            </a:pPr>
            <a:r>
              <a:rPr lang="en-US" sz="2100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wǒ yǒu báisè de chènshān、 lánsè de niúzǎikù、 huīsè de máoyī hé hēisè de wàitào</a:t>
            </a:r>
            <a:endParaRPr lang="en-US" sz="3150" dirty="0"/>
          </a:p>
        </p:txBody>
      </p:sp>
      <p:sp>
        <p:nvSpPr>
          <p:cNvPr id="22" name="Shape 20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9405938"/>
            <a:ext cx="40627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 · 课文二 · 你喜欢穿什么衣服？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946386" y="9405938"/>
            <a:ext cx="36512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0243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部首 · 课本 p.107 练习 4 · 第二组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105150"/>
            <a:ext cx="5295900" cy="2924175"/>
          </a:xfrm>
          <a:prstGeom prst="roundRect">
            <a:avLst>
              <a:gd name="adj" fmla="val 6515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143000" y="4252913"/>
            <a:ext cx="4838700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30182" y="3371850"/>
            <a:ext cx="738378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00"/>
              </a:lnSpc>
              <a:buNone/>
            </a:pPr>
            <a:r>
              <a:rPr lang="en-US" sz="57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冫</a:t>
            </a:r>
            <a:endParaRPr lang="en-US" sz="5700" dirty="0"/>
          </a:p>
        </p:txBody>
      </p:sp>
      <p:sp>
        <p:nvSpPr>
          <p:cNvPr id="10" name="Text 8"/>
          <p:cNvSpPr/>
          <p:nvPr/>
        </p:nvSpPr>
        <p:spPr>
          <a:xfrm>
            <a:off x="3813721" y="3376613"/>
            <a:ext cx="380878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冰</a:t>
            </a:r>
            <a:pPr algn="l"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ice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94613" y="4429125"/>
            <a:ext cx="4935474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00"/>
              </a:lnSpc>
              <a:buNone/>
            </a:pPr>
            <a:r>
              <a:rPr lang="en-US" sz="6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冷</a:t>
            </a:r>
            <a:endParaRPr lang="en-US" sz="6900" dirty="0"/>
          </a:p>
        </p:txBody>
      </p:sp>
      <p:sp>
        <p:nvSpPr>
          <p:cNvPr id="12" name="Text 10"/>
          <p:cNvSpPr/>
          <p:nvPr/>
        </p:nvSpPr>
        <p:spPr>
          <a:xfrm>
            <a:off x="1094613" y="5381625"/>
            <a:ext cx="49354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lěng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496050" y="3105150"/>
            <a:ext cx="5295900" cy="2924175"/>
          </a:xfrm>
          <a:prstGeom prst="roundRect">
            <a:avLst>
              <a:gd name="adj" fmla="val 6515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724650" y="4252913"/>
            <a:ext cx="4838700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51953" y="3371850"/>
            <a:ext cx="738378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00"/>
              </a:lnSpc>
              <a:buNone/>
            </a:pPr>
            <a:r>
              <a:rPr lang="en-US" sz="57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户</a:t>
            </a:r>
            <a:endParaRPr lang="en-US" sz="5700" dirty="0"/>
          </a:p>
        </p:txBody>
      </p:sp>
      <p:sp>
        <p:nvSpPr>
          <p:cNvPr id="16" name="Text 14"/>
          <p:cNvSpPr/>
          <p:nvPr/>
        </p:nvSpPr>
        <p:spPr>
          <a:xfrm>
            <a:off x="8935492" y="3376613"/>
            <a:ext cx="1319183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门户</a:t>
            </a:r>
            <a:pPr algn="l"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household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676263" y="4429125"/>
            <a:ext cx="4935474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00"/>
              </a:lnSpc>
              <a:buNone/>
            </a:pPr>
            <a:r>
              <a:rPr lang="en-US" sz="6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</a:t>
            </a:r>
            <a:endParaRPr lang="en-US" sz="6900" dirty="0"/>
          </a:p>
        </p:txBody>
      </p:sp>
      <p:sp>
        <p:nvSpPr>
          <p:cNvPr id="18" name="Text 16"/>
          <p:cNvSpPr/>
          <p:nvPr/>
        </p:nvSpPr>
        <p:spPr>
          <a:xfrm>
            <a:off x="6676263" y="5381625"/>
            <a:ext cx="49354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fáng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077700" y="3105150"/>
            <a:ext cx="5295900" cy="2924175"/>
          </a:xfrm>
          <a:prstGeom prst="roundRect">
            <a:avLst>
              <a:gd name="adj" fmla="val 6515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12306300" y="4252913"/>
            <a:ext cx="4838700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850892" y="3371850"/>
            <a:ext cx="738378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00"/>
              </a:lnSpc>
              <a:buNone/>
            </a:pPr>
            <a:r>
              <a:rPr lang="en-US" sz="57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忄</a:t>
            </a:r>
            <a:endParaRPr lang="en-US" sz="5700" dirty="0"/>
          </a:p>
        </p:txBody>
      </p:sp>
      <p:sp>
        <p:nvSpPr>
          <p:cNvPr id="22" name="Text 20"/>
          <p:cNvSpPr/>
          <p:nvPr/>
        </p:nvSpPr>
        <p:spPr>
          <a:xfrm>
            <a:off x="14734431" y="3376613"/>
            <a:ext cx="87576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心情</a:t>
            </a:r>
            <a:pPr algn="l"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feeling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2257913" y="4429125"/>
            <a:ext cx="4935474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00"/>
              </a:lnSpc>
              <a:buNone/>
            </a:pPr>
            <a:r>
              <a:rPr lang="en-US" sz="6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忙</a:t>
            </a:r>
            <a:endParaRPr lang="en-US" sz="6900" dirty="0"/>
          </a:p>
        </p:txBody>
      </p:sp>
      <p:sp>
        <p:nvSpPr>
          <p:cNvPr id="24" name="Text 22"/>
          <p:cNvSpPr/>
          <p:nvPr/>
        </p:nvSpPr>
        <p:spPr>
          <a:xfrm>
            <a:off x="12257913" y="5381625"/>
            <a:ext cx="49354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máng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14400" y="6315075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B03C2C">
              <a:alpha val="10000"/>
            </a:srgbClr>
          </a:solidFill>
          <a:ln w="19050">
            <a:solidFill>
              <a:srgbClr val="B03C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38250" y="6524625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1771650" y="6524625"/>
            <a:ext cx="1391198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六个部首到齐了：冂 牛 贝 冫 户 忄。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771650" y="6924675"/>
            <a:ext cx="1391198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six are now taught. Both Unit Test radical questions (Parts 2 and 3) draw from this set plus Lesson 13's 疒 火 爫 弓 力 礻.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000" y="9405938"/>
            <a:ext cx="40627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 · 课文二 · 你喜欢穿什么衣服？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4132123" y="9405938"/>
            <a:ext cx="346175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课本 p.107 练习 4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14836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Flexible Practice · You Do · 27–36 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993130"/>
            <a:ext cx="7878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67818" y="854125"/>
            <a:ext cx="4488561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课文二对话 · 然后写字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6849368" y="993130"/>
            <a:ext cx="6063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67687" y="993130"/>
            <a:ext cx="39803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p.149 · p.151–152 · 课本 p.107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3900" y="1722686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33500" y="1722686"/>
            <a:ext cx="8569071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两人一组，照着课本演课文二。再演一次，这次合上书，只看总览板。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Pairs: perform Text 2 from the book, then again with the book closed.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723900" y="3175248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33500" y="3175248"/>
            <a:ext cx="7671146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p.151–152 第 9 题 — 按笔顺抄写 衣 服 毛 外 套。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Workbook Ex.9 — copy 衣 服 毛 外 套 with stroke order.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23900" y="4213473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333500" y="4213473"/>
            <a:ext cx="8569071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p.149 第 5 题 — 部首配汉字。「衤」那一格里有 衬 和 衫。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Workbook Ex.5 — match radicals to characters. 衬 and 衫 both sit under 衤.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23900" y="6080373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333500" y="6080373"/>
            <a:ext cx="8569071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p.107 第二组部首：冫 (冷)、户 (房)、忄 (忙)，抄到练习册 p.146。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Second radical set from p.107 — 冫 ice, 户 household, 忄 feeling. All six are on the Unit Test.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723900" y="8061573"/>
            <a:ext cx="9010650" cy="1638151"/>
          </a:xfrm>
          <a:prstGeom prst="roundRect">
            <a:avLst>
              <a:gd name="adj" fmla="val 6977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47750" y="8347323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704826" y="8290173"/>
            <a:ext cx="7859991" cy="1180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 13 题写成一个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问句</a:t>
            </a:r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，不是陈述句 — 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你喜欢穿外套吗？</a:t>
            </a:r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再写答案：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穿。／不穿。</a:t>
            </a:r>
            <a:pPr algn="l" indent="0" marL="0">
              <a:lnSpc>
                <a:spcPts val="3045"/>
              </a:lnSpc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head start on next lesson's verb-repeat answer.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191750" y="1722686"/>
            <a:ext cx="7372350" cy="2114550"/>
          </a:xfrm>
          <a:prstGeom prst="roundRect">
            <a:avLst>
              <a:gd name="adj" fmla="val 9009"/>
            </a:avLst>
          </a:prstGeom>
          <a:solidFill>
            <a:srgbClr val="E7E2D5"/>
          </a:solidFill>
          <a:ln w="19050">
            <a:solidFill>
              <a:srgbClr val="CFC4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515600" y="2027486"/>
            <a:ext cx="68591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你要说 / 写的中文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0515600" y="2446586"/>
            <a:ext cx="6859143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课本 p.107 第二组部首</a:t>
            </a:r>
            <a:pPr algn="l" indent="0" marL="0">
              <a:lnSpc>
                <a:spcPts val="4725"/>
              </a:lnSpc>
              <a:buNone/>
            </a:pPr>
            <a:r>
              <a:rPr lang="en-US" sz="31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冫 冷 户 房 忄 忙</a:t>
            </a:r>
            <a:endParaRPr lang="en-US" sz="3150" dirty="0"/>
          </a:p>
        </p:txBody>
      </p:sp>
      <p:sp>
        <p:nvSpPr>
          <p:cNvPr id="25" name="Shape 23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000" y="9405938"/>
            <a:ext cx="40627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 · 课文二 · 你喜欢穿什么衣服？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2360176" y="9405938"/>
            <a:ext cx="52691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练习册 p.149, p.151–152 · 课本 p.107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7760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排句子 Sentence Jumble · 36–43 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04900" y="1652588"/>
            <a:ext cx="609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82998" y="1513582"/>
            <a:ext cx="4770311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排句子 · Sentence Jumble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140773" y="1652588"/>
            <a:ext cx="5950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382143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524000" y="2382143"/>
            <a:ext cx="835533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每组一个信封，里面是课文二四句话，剪成一个一个的词，全打乱了。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envelope per pair: the four sentences of Text 2, cut into single words and shuffled.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400" y="4249043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24000" y="4249043"/>
            <a:ext cx="835533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比谁先把四句话都排好。「、」和「和」是单独的卡片 — 标点也要排对。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Race to rebuild all four. The 、 and 和 are separate cards, so punctuation counts too.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6115943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24000" y="6115943"/>
            <a:ext cx="7330648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最快的三组各读一句检查。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first three pairs each read one sentence aloud to check.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7401818"/>
            <a:ext cx="8801100" cy="1638151"/>
          </a:xfrm>
          <a:prstGeom prst="roundRect">
            <a:avLst>
              <a:gd name="adj" fmla="val 6977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38250" y="7687568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895326" y="7630418"/>
            <a:ext cx="7646250" cy="1180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有一个信封里多了一句课文里没有的话 — 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我不喜欢穿校服，我喜欢穿牛仔裤。</a:t>
            </a:r>
            <a:pPr algn="l" indent="0" marL="0">
              <a:lnSpc>
                <a:spcPts val="3045"/>
              </a:lnSpc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Build all five, then work out which one is the intruder.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172700" y="2382143"/>
            <a:ext cx="7200900" cy="3657600"/>
          </a:xfrm>
          <a:prstGeom prst="roundRect">
            <a:avLst>
              <a:gd name="adj" fmla="val 5208"/>
            </a:avLst>
          </a:prstGeom>
          <a:solidFill>
            <a:srgbClr val="E7E2D5"/>
          </a:solidFill>
          <a:ln w="19050">
            <a:solidFill>
              <a:srgbClr val="CFC4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496550" y="2686943"/>
            <a:ext cx="66842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你要说 / 写的中文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496550" y="3106043"/>
            <a:ext cx="6684264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你喜欢穿什么衣服？　我喜欢穿汗衫和短裤。</a:t>
            </a:r>
            <a:endParaRPr lang="en-US" sz="3150" dirty="0"/>
          </a:p>
        </p:txBody>
      </p:sp>
      <p:sp>
        <p:nvSpPr>
          <p:cNvPr id="22" name="Text 20"/>
          <p:cNvSpPr/>
          <p:nvPr/>
        </p:nvSpPr>
        <p:spPr>
          <a:xfrm>
            <a:off x="10496550" y="4420493"/>
            <a:ext cx="6684264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你上学穿校服吗？　穿。我穿衬衫、毛衣、外套和长裤。</a:t>
            </a:r>
            <a:endParaRPr lang="en-US" sz="3150" dirty="0"/>
          </a:p>
        </p:txBody>
      </p:sp>
      <p:sp>
        <p:nvSpPr>
          <p:cNvPr id="23" name="Shape 21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000" y="9405938"/>
            <a:ext cx="40627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 · 课文二 · 你喜欢穿什么衣服？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3946386" y="9405938"/>
            <a:ext cx="36512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3056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 · 回顾 · 自评 · 出门条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322290"/>
            <a:ext cx="2498229" cy="571500"/>
          </a:xfrm>
          <a:prstGeom prst="roundRect">
            <a:avLst>
              <a:gd name="adj" fmla="val 1665000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04900" y="3379440"/>
            <a:ext cx="21595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 · 对照今天的目标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893790"/>
            <a:ext cx="8001000" cy="864840"/>
          </a:xfrm>
          <a:prstGeom prst="roundRect">
            <a:avLst>
              <a:gd name="adj" fmla="val 1321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52525" y="407476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838325" y="4074765"/>
            <a:ext cx="4391861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我会问「你喜欢穿什么衣服？」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4891980"/>
            <a:ext cx="8001000" cy="864840"/>
          </a:xfrm>
          <a:prstGeom prst="roundRect">
            <a:avLst>
              <a:gd name="adj" fmla="val 1321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52525" y="507295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838325" y="5072955"/>
            <a:ext cx="5019118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我会用「、」和「和」一次说好几件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5890171"/>
            <a:ext cx="8001000" cy="864840"/>
          </a:xfrm>
          <a:prstGeom prst="roundRect">
            <a:avLst>
              <a:gd name="adj" fmla="val 1321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52525" y="607114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838325" y="6071146"/>
            <a:ext cx="4498125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我会说 衣服、校服、毛衣、外套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6945511"/>
            <a:ext cx="81610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👍 会了　😐 快会了　👎 还要练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372600" y="3322290"/>
            <a:ext cx="2422922" cy="571500"/>
          </a:xfrm>
          <a:prstGeom prst="roundRect">
            <a:avLst>
              <a:gd name="adj" fmla="val 1665000"/>
            </a:avLst>
          </a:prstGeom>
          <a:solidFill>
            <a:srgbClr val="B03C2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563100" y="3379440"/>
            <a:ext cx="2082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Exit Ticket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72600" y="3893790"/>
            <a:ext cx="8001000" cy="2586930"/>
          </a:xfrm>
          <a:prstGeom prst="roundRect">
            <a:avLst>
              <a:gd name="adj" fmla="val 7364"/>
            </a:avLst>
          </a:prstGeom>
          <a:solidFill>
            <a:srgbClr val="F2EFE7"/>
          </a:solidFill>
          <a:ln w="28575">
            <a:solidFill>
              <a:srgbClr val="B03C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782175" y="4303365"/>
            <a:ext cx="7325487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42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你喜欢穿什么衣服？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9782175" y="5156746"/>
            <a:ext cx="73254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用中文回答。至少两件衣服，一个「和」。
</a:t>
            </a:r>
            <a:pPr algn="l" indent="0" marL="0">
              <a:lnSpc>
                <a:spcPts val="3600"/>
              </a:lnSpc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Answer in Chinese — at least two garments and one 和.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9405938"/>
            <a:ext cx="40627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 · 课文二 · 你喜欢穿什么衣服？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946386" y="9405938"/>
            <a:ext cx="36512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76238"/>
            <a:ext cx="141497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82652" y="361950"/>
            <a:ext cx="160639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Preview · 下一课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913489" y="2431852"/>
            <a:ext cx="2460873" cy="676275"/>
          </a:xfrm>
          <a:prstGeom prst="roundRect">
            <a:avLst>
              <a:gd name="adj" fmla="val 1407042"/>
            </a:avLst>
          </a:prstGeom>
          <a:solidFill>
            <a:srgbClr val="2C4C7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83190" y="2489002"/>
            <a:ext cx="212147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下一课 · Next Lesson</a:t>
            </a:r>
            <a:endParaRPr lang="en-US" sz="1500" dirty="0"/>
          </a:p>
        </p:txBody>
      </p:sp>
      <p:pic>
        <p:nvPicPr>
          <p:cNvPr id="9" name="Image 0" descr="/var/folders/6c/210dcgxn4gz5sm71vld2cy1h0000gn/T/y7l14-pptx-5Uk7v3/art/art-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108127"/>
            <a:ext cx="1995636" cy="1905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5356027"/>
            <a:ext cx="16788384" cy="149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下一课 — 校服。还有中文里最奇怪的回答：</a:t>
            </a:r>
            <a:endParaRPr lang="en-US" sz="4200" dirty="0"/>
          </a:p>
          <a:p>
            <a:pPr algn="ctr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别人问你「你穿校服吗？」，你不说「是」，你说「穿」。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749808" y="7058918"/>
            <a:ext cx="16788384" cy="106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 lesson: school uniform — and the strangest answer in Chinese. Asked 你穿校服吗？ you don't say 是, you say 穿。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2000" y="9401175"/>
            <a:ext cx="37735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 · 课文二 · 你喜欢穿什么衣服？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4158466" y="9401175"/>
            <a:ext cx="34348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2026-09-14T03:46:59Z</dcterms:created>
  <dcterms:modified xsi:type="dcterms:W3CDTF">2026-09-14T03:46:59Z</dcterms:modified>
</cp:coreProperties>
</file>