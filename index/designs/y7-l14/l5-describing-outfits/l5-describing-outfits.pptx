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30250" y="5181600"/>
            <a:ext cx="4274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endParaRPr lang="en-US" sz="33000" dirty="0"/>
          </a:p>
        </p:txBody>
      </p:sp>
      <p:sp>
        <p:nvSpPr>
          <p:cNvPr id="7" name="Text 5"/>
          <p:cNvSpPr/>
          <p:nvPr/>
        </p:nvSpPr>
        <p:spPr>
          <a:xfrm>
            <a:off x="749808" y="2629346"/>
            <a:ext cx="167883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Y7 UNIT 5 · 轻松学中文 1</a:t>
            </a:r>
            <a:endParaRPr lang="en-US" sz="1950" dirty="0"/>
          </a:p>
        </p:txBody>
      </p:sp>
      <p:pic>
        <p:nvPicPr>
          <p:cNvPr id="8" name="Image 0" descr="/var/folders/6c/210dcgxn4gz5sm71vld2cy1h0000gn/T/y7l14-pptx-5Uk7v3/art/art-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72271"/>
            <a:ext cx="1496764" cy="1428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430589"/>
            <a:ext cx="16788384" cy="1312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他穿什么？</a:t>
            </a:r>
            <a:endParaRPr lang="en-US" sz="9750" dirty="0"/>
          </a:p>
        </p:txBody>
      </p:sp>
      <p:sp>
        <p:nvSpPr>
          <p:cNvPr id="10" name="Text 7"/>
          <p:cNvSpPr/>
          <p:nvPr/>
        </p:nvSpPr>
        <p:spPr>
          <a:xfrm>
            <a:off x="749808" y="6857405"/>
            <a:ext cx="1678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Writing What People Wear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5340989" y="7638455"/>
            <a:ext cx="1731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589995" y="7638455"/>
            <a:ext cx="829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935496" y="7638455"/>
            <a:ext cx="18667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Writing-focused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1310830" y="7638455"/>
            <a:ext cx="16352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p.109–111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547080" y="9405938"/>
            <a:ext cx="4058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p.109–111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2852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练习册 p.153 第 12 题 · 0–8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842766"/>
            <a:ext cx="762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43113" y="2703761"/>
            <a:ext cx="5052515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图配词 · Match the picture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377559" y="2842766"/>
            <a:ext cx="6057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95283" y="2842766"/>
            <a:ext cx="12833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p.153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3572321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33500" y="3572321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p.153 第 12 题 — 九张图配九个词。四分钟，自己做，然后点名对答案。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Workbook Ex.12 — match nine garment pictures to nine words. Four minutes solo, then cold call.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23900" y="5439221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33500" y="5439221"/>
            <a:ext cx="8569071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三分钟口头：老师连着问，不举手。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minutes oral — teacher fires questions, no hands up. Listening for the verb-repeat answer.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7006084"/>
            <a:ext cx="901065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47750" y="7291834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704826" y="7234684"/>
            <a:ext cx="5787098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配完以后，挑三个词各写一句，每句要有颜色。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191750" y="3572321"/>
            <a:ext cx="7372350" cy="3657600"/>
          </a:xfrm>
          <a:prstGeom prst="roundRect">
            <a:avLst>
              <a:gd name="adj" fmla="val 5208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515600" y="3877121"/>
            <a:ext cx="68591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515600" y="4296221"/>
            <a:ext cx="685914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校服　短裤　毛衣　衬衫　裙子　长裤　汗衫　外套　牛仔裤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10515600" y="5610671"/>
            <a:ext cx="685914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你上学穿校服吗？　你喜欢穿裙子吗？　你喜欢穿短裤吗？</a:t>
            </a:r>
            <a:endParaRPr lang="en-US" sz="3150" dirty="0"/>
          </a:p>
        </p:txBody>
      </p:sp>
      <p:sp>
        <p:nvSpPr>
          <p:cNvPr id="22" name="Shape 20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787289" y="9405938"/>
            <a:ext cx="38134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练习册 p.153 第 12 题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5940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目标 · Learning Intention &amp; Success Criteria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411909"/>
            <a:ext cx="3627983" cy="552450"/>
          </a:xfrm>
          <a:prstGeom prst="roundRect">
            <a:avLst>
              <a:gd name="adj" fmla="val 1722414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469059"/>
            <a:ext cx="33119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964359"/>
            <a:ext cx="167883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我们学怎么写一个人穿什么。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3890070"/>
            <a:ext cx="2825204" cy="552450"/>
          </a:xfrm>
          <a:prstGeom prst="roundRect">
            <a:avLst>
              <a:gd name="adj" fmla="val 1722414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4900" y="3947220"/>
            <a:ext cx="2493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480620"/>
            <a:ext cx="16459200" cy="1359991"/>
          </a:xfrm>
          <a:prstGeom prst="roundRect">
            <a:avLst>
              <a:gd name="adj" fmla="val 840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71874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718745"/>
            <a:ext cx="15525369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我会写「他／她穿 + 颜色的衣服 + 和 + 颜色的衣服」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他/她穿 + colour + 的 + garment 和 colour + 的 + garment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601206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625018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6250186"/>
            <a:ext cx="14039960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我找得出句子里写错的字，也改得对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find a wrong character in a clothing sentence and write the right one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716265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90625" y="740077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876425" y="7400776"/>
            <a:ext cx="9454396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皮鞋、运动鞋、西装、领带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皮鞋, 运动鞋, 西装 and 领带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547080" y="9405938"/>
            <a:ext cx="4058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p.109–111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63459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第一组 · 课本 p.110 Extra Words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114550"/>
            <a:ext cx="7962900" cy="6324600"/>
          </a:xfrm>
          <a:prstGeom prst="roundRect">
            <a:avLst>
              <a:gd name="adj" fmla="val 4217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y7l14-pptx-5Uk7v3/art/art-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521" y="2514600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76650" y="5067300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皮鞋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4381351" y="6518821"/>
            <a:ext cx="104957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píxié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3869382" y="7309396"/>
            <a:ext cx="20938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leather shoes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9410700" y="2114550"/>
            <a:ext cx="7962900" cy="6324600"/>
          </a:xfrm>
          <a:prstGeom prst="roundRect">
            <a:avLst>
              <a:gd name="adj" fmla="val 4217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y7l14-pptx-5Uk7v3/art/art-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821" y="2514600"/>
            <a:ext cx="2494508" cy="2381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963400" y="5067300"/>
            <a:ext cx="29146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运动鞋</a:t>
            </a:r>
            <a:endParaRPr lang="en-US" sz="7500" dirty="0"/>
          </a:p>
        </p:txBody>
      </p:sp>
      <p:sp>
        <p:nvSpPr>
          <p:cNvPr id="15" name="Text 11"/>
          <p:cNvSpPr/>
          <p:nvPr/>
        </p:nvSpPr>
        <p:spPr>
          <a:xfrm>
            <a:off x="12147054" y="6238875"/>
            <a:ext cx="253984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yùndòngxié</a:t>
            </a:r>
            <a:endParaRPr lang="en-US" sz="3450" dirty="0"/>
          </a:p>
        </p:txBody>
      </p:sp>
      <p:sp>
        <p:nvSpPr>
          <p:cNvPr id="16" name="Text 12"/>
          <p:cNvSpPr/>
          <p:nvPr/>
        </p:nvSpPr>
        <p:spPr>
          <a:xfrm>
            <a:off x="12710964" y="7029450"/>
            <a:ext cx="1389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sneakers</a:t>
            </a:r>
            <a:endParaRPr lang="en-US" sz="2550" dirty="0"/>
          </a:p>
        </p:txBody>
      </p:sp>
      <p:sp>
        <p:nvSpPr>
          <p:cNvPr id="17" name="Shape 13"/>
          <p:cNvSpPr/>
          <p:nvPr/>
        </p:nvSpPr>
        <p:spPr>
          <a:xfrm>
            <a:off x="10466040" y="7662863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407520" y="7724775"/>
            <a:ext cx="59691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鞋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的部首是「革」— 第十五课再学</a:t>
            </a:r>
            <a:endParaRPr lang="en-US" sz="1950" dirty="0"/>
          </a:p>
        </p:txBody>
      </p:sp>
      <p:sp>
        <p:nvSpPr>
          <p:cNvPr id="19" name="Shape 15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3581757" y="9405938"/>
            <a:ext cx="402312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课本 p.110 Extra Words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7054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皮鞋 · 运动鞋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1556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bàba chuān hēisè de píxié shàngbān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37276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我爸爸穿黑色的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皮鞋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上班。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073747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dad wears black leather shoes to work.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77859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měitiān chuān yùndòngxié shàngxué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23579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运动鞋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上学。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493677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wear sneakers to school every day.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641628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yǒu píxié hé yùndòngxié， wǒ xǐhuan chuān yùndòngxié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098828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皮鞋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运动鞋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，我喜欢穿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运动鞋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679980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have leather shoes and sneakers; I like wearing sneakers.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504658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714208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771650" y="7714208"/>
            <a:ext cx="417341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你今天穿什么鞋？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771650" y="8114258"/>
            <a:ext cx="417341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鞋 takes 穿 — unlike hats and gloves.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547080" y="9405938"/>
            <a:ext cx="4058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p.109–111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9219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皮鞋 · 运动鞋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691979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3691979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920579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我每天穿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色的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上学。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04900" y="5371058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39243" y="5238750"/>
            <a:ext cx="5640910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写一句。写在本子上，不是小白板。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6017865"/>
            <a:ext cx="1645920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630361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95326" y="6246465"/>
            <a:ext cx="1330249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写两个人，用第十二课的交通方式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我爸爸开车上班，他穿黑色的皮鞋；我坐校车上学，我穿白色的运动鞋。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547080" y="9405938"/>
            <a:ext cx="4058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p.109–111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014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第二组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y7l14-pptx-5Uk7v3/art/art-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521" y="2374553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766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西装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3904952" y="6378773"/>
            <a:ext cx="2021431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xīzhuāng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4618286" y="7169348"/>
            <a:ext cx="5662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suit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94107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y7l14-pptx-5Uk7v3/art/art-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821" y="2374553"/>
            <a:ext cx="2494508" cy="2381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1729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领带</a:t>
            </a:r>
            <a:endParaRPr lang="en-US" sz="9600" dirty="0"/>
          </a:p>
        </p:txBody>
      </p:sp>
      <p:sp>
        <p:nvSpPr>
          <p:cNvPr id="15" name="Text 11"/>
          <p:cNvSpPr/>
          <p:nvPr/>
        </p:nvSpPr>
        <p:spPr>
          <a:xfrm>
            <a:off x="12670482" y="6378773"/>
            <a:ext cx="1472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lǐngdài</a:t>
            </a:r>
            <a:endParaRPr lang="en-US" sz="3450" dirty="0"/>
          </a:p>
        </p:txBody>
      </p:sp>
      <p:sp>
        <p:nvSpPr>
          <p:cNvPr id="16" name="Text 12"/>
          <p:cNvSpPr/>
          <p:nvPr/>
        </p:nvSpPr>
        <p:spPr>
          <a:xfrm>
            <a:off x="13198822" y="7169348"/>
            <a:ext cx="3943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tie</a:t>
            </a:r>
            <a:endParaRPr lang="en-US" sz="2550" dirty="0"/>
          </a:p>
        </p:txBody>
      </p:sp>
      <p:sp>
        <p:nvSpPr>
          <p:cNvPr id="17" name="Shape 13"/>
          <p:cNvSpPr/>
          <p:nvPr/>
        </p:nvSpPr>
        <p:spPr>
          <a:xfrm>
            <a:off x="10466040" y="7802761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407520" y="7864673"/>
            <a:ext cx="59691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领带用「</a:t>
            </a:r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」，不用「穿」</a:t>
            </a:r>
            <a:endParaRPr lang="en-US" sz="1950" dirty="0"/>
          </a:p>
        </p:txBody>
      </p:sp>
      <p:sp>
        <p:nvSpPr>
          <p:cNvPr id="19" name="Shape 15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3547080" y="9405938"/>
            <a:ext cx="4058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p.109–111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4888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西装 · 领带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1556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bàba shàngbān chuān xīzhuāng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37276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我爸爸上班穿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西装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073747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dad wears a suit to work.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77859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lǐngdài shì hóngsè de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23579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领带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是红色的。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493677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 tie is red.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641628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gēge chuān hēisè de xīzhuāng hé lánsè de lǐngdài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098828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我哥哥穿黑色的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西装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和蓝色的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领带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679980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older brother is wearing a black suit and a blue tie.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504658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714208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771650" y="7714208"/>
            <a:ext cx="31355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谁上班穿西装？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771650" y="8114258"/>
            <a:ext cx="313552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with a full sentence.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547080" y="9405938"/>
            <a:ext cx="4058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p.109–111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76238"/>
            <a:ext cx="141497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882652" y="361950"/>
            <a:ext cx="24218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西装 · 领带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691979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3691979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920579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色的西装。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04900" y="5366296"/>
            <a:ext cx="51385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89683" y="5238750"/>
            <a:ext cx="3497580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写一句。写在本子上。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6017865"/>
            <a:ext cx="1645920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6303615"/>
            <a:ext cx="4702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89820" y="6246465"/>
            <a:ext cx="12927080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给一个要上班的人配一整套衣服 — 西装、衬衫、领带、皮鞋，四个颜色，一句话，「、」和「和」都要放对。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01175"/>
            <a:ext cx="267753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737431" y="9401175"/>
            <a:ext cx="38643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p.109–111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8295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到现在学过的全部衣服 · 整节课都在屏幕上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7643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y7l14-pptx-5Uk7v3/art/art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821" y="2157413"/>
            <a:ext cx="957709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5450" y="314801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3695700" y="197643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/var/folders/6c/210dcgxn4gz5sm71vld2cy1h0000gn/T/y7l14-pptx-5Uk7v3/art/art-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121" y="2157413"/>
            <a:ext cx="957709" cy="914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76750" y="314801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汗衫</a:t>
            </a:r>
            <a:endParaRPr lang="en-US" sz="3900" dirty="0"/>
          </a:p>
        </p:txBody>
      </p:sp>
      <p:sp>
        <p:nvSpPr>
          <p:cNvPr id="13" name="Text 9"/>
          <p:cNvSpPr/>
          <p:nvPr/>
        </p:nvSpPr>
        <p:spPr>
          <a:xfrm>
            <a:off x="6477000" y="197643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/var/folders/6c/210dcgxn4gz5sm71vld2cy1h0000gn/T/y7l14-pptx-5Uk7v3/art/art-2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421" y="2157413"/>
            <a:ext cx="957709" cy="914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58050" y="314801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毛衣</a:t>
            </a:r>
            <a:endParaRPr lang="en-US" sz="3900" dirty="0"/>
          </a:p>
        </p:txBody>
      </p:sp>
      <p:sp>
        <p:nvSpPr>
          <p:cNvPr id="16" name="Text 11"/>
          <p:cNvSpPr/>
          <p:nvPr/>
        </p:nvSpPr>
        <p:spPr>
          <a:xfrm>
            <a:off x="9258300" y="197643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/var/folders/6c/210dcgxn4gz5sm71vld2cy1h0000gn/T/y7l14-pptx-5Uk7v3/art/art-2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21" y="2157413"/>
            <a:ext cx="957709" cy="914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39350" y="314801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外套</a:t>
            </a:r>
            <a:endParaRPr lang="en-US" sz="3900" dirty="0"/>
          </a:p>
        </p:txBody>
      </p:sp>
      <p:sp>
        <p:nvSpPr>
          <p:cNvPr id="19" name="Text 13"/>
          <p:cNvSpPr/>
          <p:nvPr/>
        </p:nvSpPr>
        <p:spPr>
          <a:xfrm>
            <a:off x="12039600" y="197643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4" descr="/var/folders/6c/210dcgxn4gz5sm71vld2cy1h0000gn/T/y7l14-pptx-5Uk7v3/art/art-2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37021" y="2157413"/>
            <a:ext cx="957709" cy="914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20650" y="314801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校服</a:t>
            </a:r>
            <a:endParaRPr lang="en-US" sz="3900" dirty="0"/>
          </a:p>
        </p:txBody>
      </p:sp>
      <p:sp>
        <p:nvSpPr>
          <p:cNvPr id="22" name="Text 15"/>
          <p:cNvSpPr/>
          <p:nvPr/>
        </p:nvSpPr>
        <p:spPr>
          <a:xfrm>
            <a:off x="14820900" y="197643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5" descr="/var/folders/6c/210dcgxn4gz5sm71vld2cy1h0000gn/T/y7l14-pptx-5Uk7v3/art/art-4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18321" y="2157413"/>
            <a:ext cx="957709" cy="9144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5601950" y="314801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衣服</a:t>
            </a:r>
            <a:endParaRPr lang="en-US" sz="3900" dirty="0"/>
          </a:p>
        </p:txBody>
      </p:sp>
      <p:sp>
        <p:nvSpPr>
          <p:cNvPr id="25" name="Text 17"/>
          <p:cNvSpPr/>
          <p:nvPr/>
        </p:nvSpPr>
        <p:spPr>
          <a:xfrm>
            <a:off x="914400" y="42529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6" descr="/var/folders/6c/210dcgxn4gz5sm71vld2cy1h0000gn/T/y7l14-pptx-5Uk7v3/art/art-4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1821" y="4433888"/>
            <a:ext cx="957709" cy="9144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647825" y="5424488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牛仔裤</a:t>
            </a:r>
            <a:endParaRPr lang="en-US" sz="2850" dirty="0"/>
          </a:p>
        </p:txBody>
      </p:sp>
      <p:sp>
        <p:nvSpPr>
          <p:cNvPr id="28" name="Text 19"/>
          <p:cNvSpPr/>
          <p:nvPr/>
        </p:nvSpPr>
        <p:spPr>
          <a:xfrm>
            <a:off x="3695700" y="42529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7" descr="/var/folders/6c/210dcgxn4gz5sm71vld2cy1h0000gn/T/y7l14-pptx-5Uk7v3/art/art-4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3121" y="4433888"/>
            <a:ext cx="957709" cy="9144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476750" y="54244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长裤</a:t>
            </a:r>
            <a:endParaRPr lang="en-US" sz="3900" dirty="0"/>
          </a:p>
        </p:txBody>
      </p:sp>
      <p:sp>
        <p:nvSpPr>
          <p:cNvPr id="31" name="Text 21"/>
          <p:cNvSpPr/>
          <p:nvPr/>
        </p:nvSpPr>
        <p:spPr>
          <a:xfrm>
            <a:off x="6477000" y="42529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8" descr="/var/folders/6c/210dcgxn4gz5sm71vld2cy1h0000gn/T/y7l14-pptx-5Uk7v3/art/art-4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4421" y="4433888"/>
            <a:ext cx="957709" cy="9144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258050" y="54244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短裤</a:t>
            </a:r>
            <a:endParaRPr lang="en-US" sz="3900" dirty="0"/>
          </a:p>
        </p:txBody>
      </p:sp>
      <p:sp>
        <p:nvSpPr>
          <p:cNvPr id="34" name="Text 23"/>
          <p:cNvSpPr/>
          <p:nvPr/>
        </p:nvSpPr>
        <p:spPr>
          <a:xfrm>
            <a:off x="9258300" y="42529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9" descr="/var/folders/6c/210dcgxn4gz5sm71vld2cy1h0000gn/T/y7l14-pptx-5Uk7v3/art/art-5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5721" y="4433888"/>
            <a:ext cx="957709" cy="9144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0039350" y="54244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裙子</a:t>
            </a:r>
            <a:endParaRPr lang="en-US" sz="3900" dirty="0"/>
          </a:p>
        </p:txBody>
      </p:sp>
      <p:sp>
        <p:nvSpPr>
          <p:cNvPr id="37" name="Text 25"/>
          <p:cNvSpPr/>
          <p:nvPr/>
        </p:nvSpPr>
        <p:spPr>
          <a:xfrm>
            <a:off x="12039600" y="42529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10" descr="/var/folders/6c/210dcgxn4gz5sm71vld2cy1h0000gn/T/y7l14-pptx-5Uk7v3/art/art-5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37021" y="4433888"/>
            <a:ext cx="957709" cy="91440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12820650" y="54244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帽子</a:t>
            </a:r>
            <a:endParaRPr lang="en-US" sz="3900" dirty="0"/>
          </a:p>
        </p:txBody>
      </p:sp>
      <p:sp>
        <p:nvSpPr>
          <p:cNvPr id="40" name="Text 27"/>
          <p:cNvSpPr/>
          <p:nvPr/>
        </p:nvSpPr>
        <p:spPr>
          <a:xfrm>
            <a:off x="14820900" y="42529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1" name="Image 11" descr="/var/folders/6c/210dcgxn4gz5sm71vld2cy1h0000gn/T/y7l14-pptx-5Uk7v3/art/art-5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618321" y="4433888"/>
            <a:ext cx="957709" cy="91440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15601950" y="54244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手套</a:t>
            </a:r>
            <a:endParaRPr lang="en-US" sz="3900" dirty="0"/>
          </a:p>
        </p:txBody>
      </p:sp>
      <p:sp>
        <p:nvSpPr>
          <p:cNvPr id="43" name="Text 29"/>
          <p:cNvSpPr/>
          <p:nvPr/>
        </p:nvSpPr>
        <p:spPr>
          <a:xfrm>
            <a:off x="914400" y="652938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4" name="Image 12" descr="/var/folders/6c/210dcgxn4gz5sm71vld2cy1h0000gn/T/y7l14-pptx-5Uk7v3/art/art-5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1821" y="6710363"/>
            <a:ext cx="957709" cy="914400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1695450" y="770096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围巾</a:t>
            </a:r>
            <a:endParaRPr lang="en-US" sz="3900" dirty="0"/>
          </a:p>
        </p:txBody>
      </p:sp>
      <p:sp>
        <p:nvSpPr>
          <p:cNvPr id="46" name="Text 31"/>
          <p:cNvSpPr/>
          <p:nvPr/>
        </p:nvSpPr>
        <p:spPr>
          <a:xfrm>
            <a:off x="3695700" y="652938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7" name="Image 13" descr="/var/folders/6c/210dcgxn4gz5sm71vld2cy1h0000gn/T/y7l14-pptx-5Uk7v3/art/art-5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3121" y="6710363"/>
            <a:ext cx="957709" cy="914400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4476750" y="770096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袜子</a:t>
            </a:r>
            <a:endParaRPr lang="en-US" sz="3900" dirty="0"/>
          </a:p>
        </p:txBody>
      </p:sp>
      <p:sp>
        <p:nvSpPr>
          <p:cNvPr id="49" name="Text 33"/>
          <p:cNvSpPr/>
          <p:nvPr/>
        </p:nvSpPr>
        <p:spPr>
          <a:xfrm>
            <a:off x="6477000" y="652938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0" name="Image 14" descr="/var/folders/6c/210dcgxn4gz5sm71vld2cy1h0000gn/T/y7l14-pptx-5Uk7v3/art/art-55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74421" y="6710363"/>
            <a:ext cx="957709" cy="914400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7258050" y="770096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皮鞋</a:t>
            </a:r>
            <a:endParaRPr lang="en-US" sz="3900" dirty="0"/>
          </a:p>
        </p:txBody>
      </p:sp>
      <p:sp>
        <p:nvSpPr>
          <p:cNvPr id="52" name="Text 35"/>
          <p:cNvSpPr/>
          <p:nvPr/>
        </p:nvSpPr>
        <p:spPr>
          <a:xfrm>
            <a:off x="9258300" y="652938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3" name="Image 15" descr="/var/folders/6c/210dcgxn4gz5sm71vld2cy1h0000gn/T/y7l14-pptx-5Uk7v3/art/art-56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55721" y="6710363"/>
            <a:ext cx="957709" cy="914400"/>
          </a:xfrm>
          <a:prstGeom prst="rect">
            <a:avLst/>
          </a:prstGeom>
        </p:spPr>
      </p:pic>
      <p:sp>
        <p:nvSpPr>
          <p:cNvPr id="54" name="Text 36"/>
          <p:cNvSpPr/>
          <p:nvPr/>
        </p:nvSpPr>
        <p:spPr>
          <a:xfrm>
            <a:off x="9991725" y="7700963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运动鞋</a:t>
            </a:r>
            <a:endParaRPr lang="en-US" sz="2850" dirty="0"/>
          </a:p>
        </p:txBody>
      </p:sp>
      <p:sp>
        <p:nvSpPr>
          <p:cNvPr id="55" name="Text 37"/>
          <p:cNvSpPr/>
          <p:nvPr/>
        </p:nvSpPr>
        <p:spPr>
          <a:xfrm>
            <a:off x="12039600" y="652938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6" name="Image 16" descr="/var/folders/6c/210dcgxn4gz5sm71vld2cy1h0000gn/T/y7l14-pptx-5Uk7v3/art/art-57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837021" y="6710363"/>
            <a:ext cx="957709" cy="914400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12820650" y="770096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西装</a:t>
            </a:r>
            <a:endParaRPr lang="en-US" sz="3900" dirty="0"/>
          </a:p>
        </p:txBody>
      </p:sp>
      <p:sp>
        <p:nvSpPr>
          <p:cNvPr id="58" name="Text 39"/>
          <p:cNvSpPr/>
          <p:nvPr/>
        </p:nvSpPr>
        <p:spPr>
          <a:xfrm>
            <a:off x="14820900" y="6529388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9" name="Image 17" descr="/var/folders/6c/210dcgxn4gz5sm71vld2cy1h0000gn/T/y7l14-pptx-5Uk7v3/art/art-58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618321" y="6710363"/>
            <a:ext cx="957709" cy="914400"/>
          </a:xfrm>
          <a:prstGeom prst="rect">
            <a:avLst/>
          </a:prstGeom>
        </p:spPr>
      </p:pic>
      <p:sp>
        <p:nvSpPr>
          <p:cNvPr id="60" name="Text 40"/>
          <p:cNvSpPr/>
          <p:nvPr/>
        </p:nvSpPr>
        <p:spPr>
          <a:xfrm>
            <a:off x="15601950" y="7700963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领带</a:t>
            </a:r>
            <a:endParaRPr lang="en-US" sz="3900" dirty="0"/>
          </a:p>
        </p:txBody>
      </p:sp>
      <p:sp>
        <p:nvSpPr>
          <p:cNvPr id="61" name="Shape 41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62" name="Text 42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63" name="Text 43"/>
          <p:cNvSpPr/>
          <p:nvPr/>
        </p:nvSpPr>
        <p:spPr>
          <a:xfrm>
            <a:off x="13547080" y="9405938"/>
            <a:ext cx="4058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p.109–111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8809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 · 他穿……和……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66800" y="1363266"/>
            <a:ext cx="742992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他/她 穿 </a:t>
            </a:r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颜色的衣服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和 </a:t>
            </a:r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颜色的衣服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。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23900" y="2334816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chuān báisè de hànshān hé chéngsè de duǎnkù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3900" y="2792016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他穿白色的汗衫和橙色的短裤。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23900" y="3453408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He's wearing a white T-shirt and orange shorts.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3900" y="4043958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chuān fěnhóngsè de chènshān hé zǐsè de qúnzi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23900" y="4501158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她穿粉红色的衬衫和紫色的裙子。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723900" y="5162550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She's wearing a pink shirt and a purple skirt.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3900" y="5753100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jīngjing chuān lǜsè de wàitào hé hēisè de chángkù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6210300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京京穿绿色的外套和黑色的长裤。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723900" y="6871692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Jingjing is wearing a green coat and black trousers.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23900" y="7462242"/>
            <a:ext cx="17177004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wáng xiǎomíng jīntiān chuān chéngsè de chènshān、 hēisè de chángkù hé báisè de yùndòngxié， tā bù chuān xiàofú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3900" y="8319492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王小明今天穿橙色的衬衫</a:t>
            </a:r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黑色的长裤</a:t>
            </a:r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白色的运动鞋，</a:t>
            </a:r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他不穿校服</a:t>
            </a:r>
            <a:pPr algn="l" indent="0" marL="0">
              <a:lnSpc>
                <a:spcPts val="4758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723900" y="8980884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Wang Xiaoming is wearing an orange shirt, black trousers and white sneakers today — he isn't wearing uniform.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547080" y="9405938"/>
            <a:ext cx="4058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p.109–111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4040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检查一下 · Check for Understanding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949029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62100" y="2949029"/>
            <a:ext cx="4479605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怎么写 </a:t>
            </a:r>
            <a:pPr algn="l" indent="0" marL="0">
              <a:lnSpc>
                <a:spcPts val="3480"/>
              </a:lnSpc>
              <a:buNone/>
            </a:pPr>
            <a:r>
              <a:rPr lang="en-US" sz="2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brown leather shoes</a:t>
            </a:r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758654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562100" y="3758654"/>
            <a:ext cx="5158627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这句哪里不对？ </a:t>
            </a:r>
            <a:pPr algn="l" indent="0" marL="0">
              <a:lnSpc>
                <a:spcPts val="4568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他穿白色汗衫。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4586288"/>
            <a:ext cx="446913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1562100" y="4586288"/>
            <a:ext cx="4750576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8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这句哪里不对？ </a:t>
            </a:r>
            <a:pPr algn="l" indent="0" marL="0">
              <a:lnSpc>
                <a:spcPts val="4568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他穿午仔裤。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5509171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19200" y="5699671"/>
            <a:ext cx="299237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他穿白色汗衫。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4419600" y="5780633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91100" y="5699671"/>
            <a:ext cx="341985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他穿白色的汗衫。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14400" y="6633121"/>
            <a:ext cx="16459200" cy="971550"/>
          </a:xfrm>
          <a:prstGeom prst="roundRect">
            <a:avLst>
              <a:gd name="adj" fmla="val 11765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19200" y="6823621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午仔裤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2743200" y="6904583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314700" y="6823621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牛仔裤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547080" y="9405938"/>
            <a:ext cx="4058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p.109–111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0715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Practice · We Do · 20–27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746945"/>
            <a:ext cx="7004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82093" y="1607939"/>
            <a:ext cx="636744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听写 + 对照 · Dictation and check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8605689" y="1746945"/>
            <a:ext cx="5950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12995" y="1746945"/>
            <a:ext cx="28006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p.111 练习 9 · CD T69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2476500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33500" y="2476500"/>
            <a:ext cx="8569071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p.111 第 9 题。每一句放两遍，把听到的</a:t>
            </a:r>
            <a:pPr algn="l" indent="0" marL="0">
              <a:lnSpc>
                <a:spcPts val="3263"/>
              </a:lnSpc>
              <a:buNone/>
            </a:pPr>
            <a:r>
              <a:rPr lang="en-US" sz="225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整句话</a:t>
            </a:r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写在本子上。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Textbook Ex.9. Each line played twice — write the full sentence in your book, not just a tick.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23900" y="3929063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33500" y="3929063"/>
            <a:ext cx="8569071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写完以后看图，自己给自己打勾或画叉。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look at the six pictures and tick or cross your own sentence against them.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5381625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33500" y="5381625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第一句录音说的是「白汗衫」，不是「白色的汗衫」。说话可以省，写字不省。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Item 1 says 白汗衫, not 白色的汗衫 — spoken Chinese drops it, written work here keeps it.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23900" y="7362825"/>
            <a:ext cx="9010650" cy="1582936"/>
          </a:xfrm>
          <a:prstGeom prst="roundRect">
            <a:avLst>
              <a:gd name="adj" fmla="val 7221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47750" y="764857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704826" y="7591425"/>
            <a:ext cx="7859991" cy="11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写完六句以后，把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画叉的两句改对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改成和图一样的句子，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which means producing a corrected sentence, not just marking a cross.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191750" y="2476500"/>
            <a:ext cx="7372350" cy="3171825"/>
          </a:xfrm>
          <a:prstGeom prst="roundRect">
            <a:avLst>
              <a:gd name="adj" fmla="val 6006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515600" y="2781300"/>
            <a:ext cx="68591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515600" y="3200400"/>
            <a:ext cx="685914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大生穿白汗衫，蓝短裤。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515600" y="3914775"/>
            <a:ext cx="685914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小文穿粉红色的衬衫，紫色的裙子。</a:t>
            </a:r>
            <a:endParaRPr lang="en-US" sz="3150" dirty="0"/>
          </a:p>
        </p:txBody>
      </p:sp>
      <p:sp>
        <p:nvSpPr>
          <p:cNvPr id="24" name="Text 22"/>
          <p:cNvSpPr/>
          <p:nvPr/>
        </p:nvSpPr>
        <p:spPr>
          <a:xfrm>
            <a:off x="10515600" y="4629150"/>
            <a:ext cx="685914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京京穿绿色的外套，黑色的长裤。</a:t>
            </a:r>
            <a:endParaRPr lang="en-US" sz="3150" dirty="0"/>
          </a:p>
        </p:txBody>
      </p:sp>
      <p:sp>
        <p:nvSpPr>
          <p:cNvPr id="25" name="Shape 2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253740" y="9405938"/>
            <a:ext cx="43577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课本 p.111 练习 9 · CD T69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137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Practice · You Do · 27–37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139279"/>
            <a:ext cx="7878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67818" y="1000274"/>
            <a:ext cx="3206115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写描述 · 找错字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592068" y="1139279"/>
            <a:ext cx="7055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07721" y="1139279"/>
            <a:ext cx="3146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p.109–110 · 练习册 p.156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1868835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33500" y="1868835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· 课本 p.109 第 6 题 — 四个人，每人写一整句。第一句一起写。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A (4 min) — write a full sentence for each of the four people. Model the first together.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23900" y="3735735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33500" y="3735735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· 课本 p.110 第 8 题 — 十五样东西，颜色 + 的 + 衣服，这次用写的。三分钟写多少算多少。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B (3 min) — fifteen items, written this time. Nobody is expected to finish fifteen.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5602635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33500" y="5602635"/>
            <a:ext cx="856907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 · 练习册 p.156 第 19 题 — 五句话，找出错字写对。第一题已经做好了：午仔裤 → 牛。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 C (3 min) — spot the mistake in five sentences. This is Unit Test Part 8 in miniature.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23900" y="7583835"/>
            <a:ext cx="9010650" cy="1969591"/>
          </a:xfrm>
          <a:prstGeom prst="roundRect">
            <a:avLst>
              <a:gd name="adj" fmla="val 5803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47750" y="786958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704826" y="7812435"/>
            <a:ext cx="7859991" cy="1512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部分每个人写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 — 穿什么，还有一件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穿的：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他穿白色的汗衫和橙色的短裤，他不穿外套。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Part C, then write a sentence of your own with a deliberate error, swap with a partner, and have them find it.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191750" y="1868835"/>
            <a:ext cx="7372350" cy="2828925"/>
          </a:xfrm>
          <a:prstGeom prst="roundRect">
            <a:avLst>
              <a:gd name="adj" fmla="val 6734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515600" y="2173635"/>
            <a:ext cx="68591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515600" y="2592735"/>
            <a:ext cx="685914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他穿白色的汗衫和橙色的短裤。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515600" y="3307110"/>
            <a:ext cx="685914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找错字</a:t>
            </a:r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他喜欢穿衬衫和</a:t>
            </a:r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</a:t>
            </a:r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仔裤。 → 牛</a:t>
            </a:r>
            <a:endParaRPr lang="en-US" sz="31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785277" y="9405938"/>
            <a:ext cx="68755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课本 p.109 练习 6, p.110 练习 8 · 练习册 p.156 第 19 题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1264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找词竞赛 · 37–43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04900" y="2053084"/>
            <a:ext cx="609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82998" y="1914079"/>
            <a:ext cx="540515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找词竞赛 · Word-search race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763173" y="2053084"/>
            <a:ext cx="6063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81492" y="2053084"/>
            <a:ext cx="21802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p.156 第 18 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782639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24000" y="2782639"/>
            <a:ext cx="835533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p.156 第 18 题 — 六乘六的字格，横着竖着藏了十二个词。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Workbook Ex.18 — a 6×6 character grid with twelve phrases hidden across and down.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4649539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24000" y="4649539"/>
            <a:ext cx="8355330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三人一组，圈出来再写下来。先找齐十二个的那组赢。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Teams of three: circle them and write them out. First team with all twelve wins.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6102102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24000" y="6102102"/>
            <a:ext cx="5885771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没有组找齐的话，找得最多的那组得分。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 nobody finishes, most-correct takes the point.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7387977"/>
            <a:ext cx="8801100" cy="1251496"/>
          </a:xfrm>
          <a:prstGeom prst="roundRect">
            <a:avLst>
              <a:gd name="adj" fmla="val 9133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38250" y="7673727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895326" y="7616577"/>
            <a:ext cx="6707946" cy="79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赢的那组要把十二个词一个一个念出来，还要说英文 — 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reading the English off the page.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172700" y="2782639"/>
            <a:ext cx="7200900" cy="3057525"/>
          </a:xfrm>
          <a:prstGeom prst="roundRect">
            <a:avLst>
              <a:gd name="adj" fmla="val 6231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96550" y="3087439"/>
            <a:ext cx="66842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496550" y="3506539"/>
            <a:ext cx="668426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　汗衫　校服　长裙　短裤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496550" y="4220914"/>
            <a:ext cx="6684264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地铁　走路　公共汽车　粉红色　上学　中午　独生子</a:t>
            </a:r>
            <a:endParaRPr lang="en-US" sz="31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785205" y="9405938"/>
            <a:ext cx="38156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练习册 p.156 第 18 题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056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回顾 · 自评 · 出门条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099643"/>
            <a:ext cx="2498229" cy="571500"/>
          </a:xfrm>
          <a:prstGeom prst="roundRect">
            <a:avLst>
              <a:gd name="adj" fmla="val 16650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3156793"/>
            <a:ext cx="21595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 · 对照今天的目标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671143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3852118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838325" y="3852118"/>
            <a:ext cx="3764453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我会写「他穿……和……」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4669334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52525" y="4850309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38325" y="4850309"/>
            <a:ext cx="3450672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我找得出错字，也改得对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667524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52525" y="5848499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38325" y="5848499"/>
            <a:ext cx="4811753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皮鞋、运动鞋、西装、领带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722864"/>
            <a:ext cx="81610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👍 会了　😐 快会了　👎 还要练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372600" y="3099643"/>
            <a:ext cx="2422922" cy="571500"/>
          </a:xfrm>
          <a:prstGeom prst="roundRect">
            <a:avLst>
              <a:gd name="adj" fmla="val 1665000"/>
            </a:avLst>
          </a:prstGeom>
          <a:solidFill>
            <a:srgbClr val="B03C2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63100" y="3156793"/>
            <a:ext cx="2082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Exit Ticket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72600" y="3671143"/>
            <a:ext cx="8001000" cy="3782913"/>
          </a:xfrm>
          <a:prstGeom prst="roundRect">
            <a:avLst>
              <a:gd name="adj" fmla="val 5036"/>
            </a:avLst>
          </a:prstGeom>
          <a:solidFill>
            <a:srgbClr val="F2EFE7"/>
          </a:solidFill>
          <a:ln w="28575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782175" y="4080718"/>
            <a:ext cx="7325487" cy="2160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看屏幕上的人。</a:t>
            </a:r>
            <a:endParaRPr lang="en-US" sz="4200" dirty="0"/>
          </a:p>
          <a:p>
            <a:pPr algn="l" indent="0" marL="0">
              <a:lnSpc>
                <a:spcPts val="567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写一句话，两件衣服，两个颜色。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782175" y="6374160"/>
            <a:ext cx="7325487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Look at the person on the screen. Write one sentence describing what they're wearing.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547080" y="9405938"/>
            <a:ext cx="4058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p.109–111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17164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 · 下一课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854107" y="2436614"/>
            <a:ext cx="2579787" cy="666750"/>
          </a:xfrm>
          <a:prstGeom prst="roundRect">
            <a:avLst>
              <a:gd name="adj" fmla="val 1427143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22619" y="2493764"/>
            <a:ext cx="2242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下一课 · Next Lesson</a:t>
            </a:r>
            <a:endParaRPr lang="en-US" sz="1500" dirty="0"/>
          </a:p>
        </p:txBody>
      </p:sp>
      <p:pic>
        <p:nvPicPr>
          <p:cNvPr id="9" name="Image 0" descr="/var/folders/6c/210dcgxn4gz5sm71vld2cy1h0000gn/T/y7l14-pptx-5Uk7v3/art/art-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03364"/>
            <a:ext cx="1995636" cy="1905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5351264"/>
            <a:ext cx="16788384" cy="149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8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下一课 — 最后一课。读黄铁牛的故事，互相采访，再给聚会上的陌生人写一份介绍。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749808" y="7054155"/>
            <a:ext cx="16788384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lesson, the last one: read about 黄铁牛, interview each other about everything from this year, and write a profile of a stranger at a party.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2000" y="9405938"/>
            <a:ext cx="28744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写：他穿什么？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3547080" y="9405938"/>
            <a:ext cx="4058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p.109–111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2026-09-14T03:47:50Z</dcterms:created>
  <dcterms:modified xsi:type="dcterms:W3CDTF">2026-09-14T03:47:50Z</dcterms:modified>
</cp:coreProperties>
</file>