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3000" dirty="0"/>
          </a:p>
        </p:txBody>
      </p:sp>
      <p:sp>
        <p:nvSpPr>
          <p:cNvPr id="7" name="Text 5"/>
          <p:cNvSpPr/>
          <p:nvPr/>
        </p:nvSpPr>
        <p:spPr>
          <a:xfrm>
            <a:off x="749808" y="1973163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Y7 UNIT 5 · 轻松学中文 1</a:t>
            </a:r>
            <a:endParaRPr lang="en-US" sz="1950" dirty="0"/>
          </a:p>
        </p:txBody>
      </p:sp>
      <p:pic>
        <p:nvPicPr>
          <p:cNvPr id="8" name="Image 0" descr="/var/folders/6c/210dcgxn4gz5sm71vld2cy1h0000gn/T/y7l14-pptx-5Uk7v3/art/art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6088"/>
            <a:ext cx="1496764" cy="1428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4774406"/>
            <a:ext cx="16788384" cy="262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</a:t>
            </a:r>
            <a:endParaRPr lang="en-US" sz="9750" dirty="0"/>
          </a:p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穿校服吗？</a:t>
            </a:r>
            <a:endParaRPr lang="en-US" sz="9750" dirty="0"/>
          </a:p>
        </p:txBody>
      </p:sp>
      <p:sp>
        <p:nvSpPr>
          <p:cNvPr id="10" name="Text 7"/>
          <p:cNvSpPr/>
          <p:nvPr/>
        </p:nvSpPr>
        <p:spPr>
          <a:xfrm>
            <a:off x="749808" y="7513737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School Uniform · 穿。not 是。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5038124" y="8294787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287130" y="8294787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626968" y="8294787"/>
            <a:ext cx="24443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Speaking · Role-play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1573863" y="8294787"/>
            <a:ext cx="16753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p.108–110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5753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 · 0–8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16485"/>
            <a:ext cx="762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43113" y="1977479"/>
            <a:ext cx="448856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两人对话 · 然后小白板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824663" y="2116485"/>
            <a:ext cx="6057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42387" y="2116485"/>
            <a:ext cx="1286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84604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2846040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两人一组，背着课本做对话。A 问，B 至少说两件衣服，每件有颜色。换过来。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from memory: A asks 你喜欢穿什么衣服？ B answers with two garments and a colour each.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471294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4712940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小白板四题：写 a grey coat / a red sweater / school uniform，再翻译 </a:t>
            </a:r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我穿衬衫、毛衣和长裤。</a:t>
            </a:r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whiteboard items — three to write, one to translate.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616550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6165503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p.149 第 6 题 — 口头快速过一遍，不用写。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Workbook Ex.6 — find the missing word. Quick oral run-through, not written.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7732365"/>
            <a:ext cx="901065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47750" y="80181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04826" y="7960965"/>
            <a:ext cx="7637446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回答完，再主动问 A 一个问题，然后把 A 的答案报给全班。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91750" y="2846040"/>
            <a:ext cx="7372350" cy="2457450"/>
          </a:xfrm>
          <a:prstGeom prst="roundRect">
            <a:avLst>
              <a:gd name="adj" fmla="val 7752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15600" y="3150840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515600" y="3569940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灰色的外套　红色的毛衣　校服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515600" y="4284315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我穿衬衫、毛衣和长裤。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865423" y="9405938"/>
            <a:ext cx="37337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p.149 第 6 题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5940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 · Learning Intention &amp; Success Criteria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11909"/>
            <a:ext cx="3627983" cy="552450"/>
          </a:xfrm>
          <a:prstGeom prst="roundRect">
            <a:avLst>
              <a:gd name="adj" fmla="val 1722414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469059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964359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我们学怎么问和回答校服的问题。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3890070"/>
            <a:ext cx="2825204" cy="552450"/>
          </a:xfrm>
          <a:prstGeom prst="roundRect">
            <a:avLst>
              <a:gd name="adj" fmla="val 1722414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3947220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480620"/>
            <a:ext cx="16459200" cy="1359991"/>
          </a:xfrm>
          <a:prstGeom prst="roundRect">
            <a:avLst>
              <a:gd name="adj" fmla="val 840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71874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718745"/>
            <a:ext cx="1552536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别人问「……吗？」，我会用动词回答 — 穿。／不穿。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answer a 穿……吗？ question by repeating the verb — not with 是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601206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625018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6250186"/>
            <a:ext cx="15505483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我会问也会答「你穿什么校服？」「你喜欢你的校服吗？」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and answer 你穿什么校服？ and 你喜欢你的校服吗？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71626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4007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400776"/>
            <a:ext cx="888497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帽子、手套、围巾、袜子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帽子, 手套, 围巾 and 袜子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6345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 · 课本 p.110 Extra Words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1388715"/>
            <a:ext cx="81534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3271" y="1788765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81400" y="4341465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160044" y="5792986"/>
            <a:ext cx="130673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màozi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558010" y="6583561"/>
            <a:ext cx="4947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hat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10700" y="1388715"/>
            <a:ext cx="81534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y7l14-pptx-5Uk7v3/art/art-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071" y="1788765"/>
            <a:ext cx="2494508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268200" y="4341465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手套</a:t>
            </a:r>
            <a:endParaRPr lang="en-US" sz="9600" dirty="0"/>
          </a:p>
        </p:txBody>
      </p:sp>
      <p:sp>
        <p:nvSpPr>
          <p:cNvPr id="15" name="Text 11"/>
          <p:cNvSpPr/>
          <p:nvPr/>
        </p:nvSpPr>
        <p:spPr>
          <a:xfrm>
            <a:off x="12620030" y="5792986"/>
            <a:ext cx="176928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shǒutào</a:t>
            </a:r>
            <a:endParaRPr lang="en-US" sz="3450" dirty="0"/>
          </a:p>
        </p:txBody>
      </p:sp>
      <p:sp>
        <p:nvSpPr>
          <p:cNvPr id="16" name="Text 12"/>
          <p:cNvSpPr/>
          <p:nvPr/>
        </p:nvSpPr>
        <p:spPr>
          <a:xfrm>
            <a:off x="13000137" y="6583561"/>
            <a:ext cx="9940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gloves</a:t>
            </a:r>
            <a:endParaRPr lang="en-US" sz="2550" dirty="0"/>
          </a:p>
        </p:txBody>
      </p:sp>
      <p:sp>
        <p:nvSpPr>
          <p:cNvPr id="17" name="Shape 13"/>
          <p:cNvSpPr/>
          <p:nvPr/>
        </p:nvSpPr>
        <p:spPr>
          <a:xfrm>
            <a:off x="10485090" y="7216973"/>
            <a:ext cx="60044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425046" y="7278886"/>
            <a:ext cx="61245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套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和「外套」一样的字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723900" y="8107561"/>
            <a:ext cx="16840200" cy="1057275"/>
          </a:xfrm>
          <a:prstGeom prst="roundRect">
            <a:avLst>
              <a:gd name="adj" fmla="val 10811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009650" y="8279011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1543050" y="8279011"/>
            <a:ext cx="14985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帽子和手套用「有」，不用「穿」。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1543050" y="8679061"/>
            <a:ext cx="149858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 我有帽子，不说 我穿帽子。Chinese uses a different verb for things you put on your head and hands, and Book 1 hasn't taught it yet.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13581757" y="9405938"/>
            <a:ext cx="40231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p.110 Extra Words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88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帽子 · 手套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jiějie xǐhuan hēisè de màozi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我姐姐喜欢黑色的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sister likes black hats.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yǒu fěnhóngsè de shǒutào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我妈妈有粉红色的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手套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has pink gloves.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yǒu màozi hé shǒutào， shì lánsè de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手套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，是蓝色的。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have a hat and gloves — they're blue.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444484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你有帽子吗？什么颜色的？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44448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answers: 有／没有, then the colour.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帽子 · 手套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7105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238750"/>
            <a:ext cx="528842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写一句。用「有」，不用「穿」。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246465"/>
            <a:ext cx="13062338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两个分句，一句写自己，一句写家人，用「也」连起来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我有黑色的帽子，我妹妹也有，她的是粉红色的。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围巾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236393" y="6378773"/>
            <a:ext cx="13451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wéijīn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507855" y="7169348"/>
            <a:ext cx="791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scarf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y7l14-pptx-5Uk7v3/art/art-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374553"/>
            <a:ext cx="2494508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729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袜子</a:t>
            </a:r>
            <a:endParaRPr lang="en-US" sz="9600" dirty="0"/>
          </a:p>
        </p:txBody>
      </p:sp>
      <p:sp>
        <p:nvSpPr>
          <p:cNvPr id="15" name="Text 11"/>
          <p:cNvSpPr/>
          <p:nvPr/>
        </p:nvSpPr>
        <p:spPr>
          <a:xfrm>
            <a:off x="12910840" y="6378773"/>
            <a:ext cx="98172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wàzi</a:t>
            </a:r>
            <a:endParaRPr lang="en-US" sz="3450" dirty="0"/>
          </a:p>
        </p:txBody>
      </p:sp>
      <p:sp>
        <p:nvSpPr>
          <p:cNvPr id="16" name="Text 12"/>
          <p:cNvSpPr/>
          <p:nvPr/>
        </p:nvSpPr>
        <p:spPr>
          <a:xfrm>
            <a:off x="12951768" y="7169348"/>
            <a:ext cx="898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socks</a:t>
            </a:r>
            <a:endParaRPr lang="en-US" sz="2550" dirty="0"/>
          </a:p>
        </p:txBody>
      </p:sp>
      <p:sp>
        <p:nvSpPr>
          <p:cNvPr id="17" name="Shape 13"/>
          <p:cNvSpPr/>
          <p:nvPr/>
        </p:nvSpPr>
        <p:spPr>
          <a:xfrm>
            <a:off x="104660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4075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袜子可以用「</a:t>
            </a:r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穿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88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围巾 · 袜子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yǒu lǜsè de wéijīn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我有绿色的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围巾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have a green scarf.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dìdi xǐhuan huángsè de wàzi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我弟弟喜欢黄色的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袜子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little brother likes yellow socks.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wéijīn hé wàzi shì báisè de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围巾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袜子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是白色的。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scarf and socks are white.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44135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哪一个可以用「穿」？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44135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Only one of these two takes 穿. Which?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围巾 · 袜子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7105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238750"/>
            <a:ext cx="4583287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写一句。用今天的一个新词。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246465"/>
            <a:ext cx="7164878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一句话写四样东西，四个不同的颜色，用「、」和「和」。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478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用动词回答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243263"/>
            <a:ext cx="8058150" cy="2609850"/>
          </a:xfrm>
          <a:prstGeom prst="roundRect">
            <a:avLst>
              <a:gd name="adj" fmla="val 7299"/>
            </a:avLst>
          </a:prstGeom>
          <a:solidFill>
            <a:srgbClr val="B03C2C">
              <a:alpha val="10000"/>
            </a:srgbClr>
          </a:solidFill>
          <a:ln w="2857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3975" y="3652838"/>
            <a:ext cx="990898" cy="552450"/>
          </a:xfrm>
          <a:prstGeom prst="roundRect">
            <a:avLst>
              <a:gd name="adj" fmla="val 1722414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14475" y="3709988"/>
            <a:ext cx="622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✗ 不对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3975" y="4205288"/>
            <a:ext cx="738378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你上学穿校服吗？</a:t>
            </a:r>
            <a:endParaRPr lang="en-US" sz="3750" dirty="0"/>
          </a:p>
        </p:txBody>
      </p:sp>
      <p:sp>
        <p:nvSpPr>
          <p:cNvPr id="11" name="Text 9"/>
          <p:cNvSpPr/>
          <p:nvPr/>
        </p:nvSpPr>
        <p:spPr>
          <a:xfrm>
            <a:off x="1323975" y="4824413"/>
            <a:ext cx="738378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7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是。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9315450" y="3243263"/>
            <a:ext cx="8058150" cy="2609850"/>
          </a:xfrm>
          <a:prstGeom prst="roundRect">
            <a:avLst>
              <a:gd name="adj" fmla="val 7299"/>
            </a:avLst>
          </a:prstGeom>
          <a:solidFill>
            <a:srgbClr val="2E7D6E">
              <a:alpha val="10000"/>
            </a:srgbClr>
          </a:solidFill>
          <a:ln w="2857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725025" y="3652838"/>
            <a:ext cx="822127" cy="552450"/>
          </a:xfrm>
          <a:prstGeom prst="roundRect">
            <a:avLst>
              <a:gd name="adj" fmla="val 1722414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15525" y="3709988"/>
            <a:ext cx="449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25025" y="4205288"/>
            <a:ext cx="738378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你上学穿校服吗？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9725025" y="4824413"/>
            <a:ext cx="738378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75"/>
              </a:lnSpc>
              <a:buNone/>
            </a:pPr>
            <a:r>
              <a:rPr lang="en-US" sz="37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穿。／不穿。</a:t>
            </a:r>
            <a:endParaRPr lang="en-US" sz="3750" dirty="0"/>
          </a:p>
        </p:txBody>
      </p:sp>
      <p:sp>
        <p:nvSpPr>
          <p:cNvPr id="17" name="Text 15"/>
          <p:cNvSpPr/>
          <p:nvPr/>
        </p:nvSpPr>
        <p:spPr>
          <a:xfrm>
            <a:off x="914400" y="6176963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6386513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动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771650" y="6386513"/>
            <a:ext cx="97284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问句里是什么动词，答案就重复那个动词。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771650" y="6786563"/>
            <a:ext cx="97284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你喜欢吗？→ 喜欢。　你有吗？→ 有。　你穿吗？→ 穿。 This is on the Unit Test, Part 9.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5208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三个问题 · 复习 p.171 要考的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7988" y="1023938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52550" y="990600"/>
            <a:ext cx="40692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shàngxué chuān xiàofú ma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1371600"/>
            <a:ext cx="406927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你上学穿校服吗？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352550" y="1933575"/>
            <a:ext cx="406927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you wear uniform to school?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7988" y="2452688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52550" y="2419350"/>
            <a:ext cx="12252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chuān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2800350"/>
            <a:ext cx="122521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穿。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1352550" y="3362325"/>
            <a:ext cx="122521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Yes (I do).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7988" y="3881438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52550" y="3848100"/>
            <a:ext cx="3400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chuān shénme xiàofú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4229100"/>
            <a:ext cx="34004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你穿什么校服？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1352550" y="4791075"/>
            <a:ext cx="34004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uniform do you wear?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07988" y="5310188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52550" y="5276850"/>
            <a:ext cx="582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báisè de chènshān hé lánsè de chángkù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5657850"/>
            <a:ext cx="58293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白色的衬衫和蓝色的长裤。</a:t>
            </a:r>
            <a:endParaRPr lang="en-US" sz="3750" dirty="0"/>
          </a:p>
        </p:txBody>
      </p:sp>
      <p:sp>
        <p:nvSpPr>
          <p:cNvPr id="22" name="Text 20"/>
          <p:cNvSpPr/>
          <p:nvPr/>
        </p:nvSpPr>
        <p:spPr>
          <a:xfrm>
            <a:off x="1352550" y="6219825"/>
            <a:ext cx="58293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white shirt and blue trousers.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07988" y="6738938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52550" y="67056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nǐ de xiàofú ma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352550" y="7086600"/>
            <a:ext cx="43719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你喜欢你的校服吗？</a:t>
            </a:r>
            <a:endParaRPr lang="en-US" sz="3750" dirty="0"/>
          </a:p>
        </p:txBody>
      </p:sp>
      <p:sp>
        <p:nvSpPr>
          <p:cNvPr id="26" name="Text 24"/>
          <p:cNvSpPr/>
          <p:nvPr/>
        </p:nvSpPr>
        <p:spPr>
          <a:xfrm>
            <a:off x="1352550" y="7648575"/>
            <a:ext cx="43719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you like your uniform?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07988" y="8167687"/>
            <a:ext cx="255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52550" y="8134350"/>
            <a:ext cx="1943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bù xǐhuan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52550" y="8515350"/>
            <a:ext cx="19431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25"/>
              </a:lnSpc>
              <a:buNone/>
            </a:pPr>
            <a:r>
              <a:rPr lang="en-US" sz="3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不喜欢。</a:t>
            </a:r>
            <a:endParaRPr lang="en-US" sz="3750" dirty="0"/>
          </a:p>
        </p:txBody>
      </p:sp>
      <p:sp>
        <p:nvSpPr>
          <p:cNvPr id="30" name="Text 28"/>
          <p:cNvSpPr/>
          <p:nvPr/>
        </p:nvSpPr>
        <p:spPr>
          <a:xfrm>
            <a:off x="1352550" y="9077325"/>
            <a:ext cx="19431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(I don't).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3476833" y="9405938"/>
            <a:ext cx="4130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p.171 复习 第 7 题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7058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这两句，课本里一次都没出现过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722364"/>
            <a:ext cx="16459200" cy="5108972"/>
          </a:xfrm>
          <a:prstGeom prst="roundRect">
            <a:avLst>
              <a:gd name="adj" fmla="val 5220"/>
            </a:avLst>
          </a:prstGeom>
          <a:solidFill>
            <a:srgbClr val="B03C2C">
              <a:alpha val="10000"/>
            </a:srgbClr>
          </a:solidFill>
          <a:ln w="2857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76375" y="3189089"/>
            <a:ext cx="1564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这两个问题，课本第十四课里</a:t>
            </a:r>
            <a:pPr algn="l" indent="0" marL="0">
              <a:buNone/>
            </a:pPr>
            <a:r>
              <a:rPr lang="en-US" sz="255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一次都没有出现过</a:t>
            </a:r>
            <a:pPr algn="l" indent="0" marL="0">
              <a:buNone/>
            </a:pPr>
            <a:r>
              <a:rPr lang="en-US" sz="25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476375" y="3951089"/>
            <a:ext cx="1564195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75"/>
              </a:lnSpc>
              <a:buNone/>
            </a:pPr>
            <a:r>
              <a:rPr lang="en-US" sz="46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你穿什么校服？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1476375" y="4836914"/>
            <a:ext cx="1564195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75"/>
              </a:lnSpc>
              <a:buNone/>
            </a:pPr>
            <a:r>
              <a:rPr lang="en-US" sz="46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你喜欢你的校服吗？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476375" y="6008489"/>
            <a:ext cx="1564195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可是复习表 (练习册 p.171) 要考。所以今天要学。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476375" y="6646664"/>
            <a:ext cx="15641955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are on the Revision list you are tested from, and</a:t>
            </a:r>
            <a:endParaRPr lang="en-US" sz="1950" dirty="0"/>
          </a:p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neither appears anywhere in the textbook lesson. That is why we teach them today.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76833" y="9405938"/>
            <a:ext cx="4130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p.171 复习 第 7 题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4040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检查一下 · Check for Understanding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49029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2949029"/>
            <a:ext cx="933113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你喜欢穿裙子吗？</a:t>
            </a:r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」— 连着问五个同学，只听答案对不对。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776662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3776662"/>
            <a:ext cx="5332899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老师故意说错，你们喊出正确的说法。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586288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4586288"/>
            <a:ext cx="5993401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写下我们学校的答案：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你穿什么校服？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509171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200" y="5699671"/>
            <a:ext cx="48091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你上学穿校服吗？— 是。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200775" y="5780633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72275" y="5699671"/>
            <a:ext cx="48091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你上学穿校服吗？— 穿。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14400" y="6633121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19200" y="6823621"/>
            <a:ext cx="52366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你喜欢你的校服吗？— 对。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6619875" y="6904583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91375" y="6823621"/>
            <a:ext cx="566413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你喜欢你的校服吗？— 喜欢。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082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We Do · 20–26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2491829"/>
            <a:ext cx="7004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72593" y="2352824"/>
            <a:ext cx="6000687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全班调查 · Class uniform survey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436620" y="2491829"/>
            <a:ext cx="606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54939" y="2491829"/>
            <a:ext cx="15389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p.101 格式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22138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24000" y="3221385"/>
            <a:ext cx="767008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站起来，走动，问每个同学一个问题，用「正」字记数。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 up, move round the room, ask everyone and tally with 正.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425961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24000" y="4259610"/>
            <a:ext cx="57995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问题：</a:t>
            </a:r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你喜欢你的校服吗？</a:t>
            </a:r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喜欢 ／ 不喜欢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question — tally 喜欢 against 不喜欢.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529783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24000" y="5297835"/>
            <a:ext cx="6169646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回来报告，用第十三课的句型。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 back in the frame you learned in Lesson 13.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6583710"/>
            <a:ext cx="8801100" cy="1617166"/>
          </a:xfrm>
          <a:prstGeom prst="roundRect">
            <a:avLst>
              <a:gd name="adj" fmla="val 7068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6869460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95326" y="6812310"/>
            <a:ext cx="7646250" cy="115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记完数以后再追问一句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你喜欢穿什么衣服？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，报告的时候一句话说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件事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十五个人不喜欢校服，他们喜欢穿汗衫和牛仔裤。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72700" y="3221385"/>
            <a:ext cx="7200900" cy="3228975"/>
          </a:xfrm>
          <a:prstGeom prst="roundRect">
            <a:avLst>
              <a:gd name="adj" fmla="val 5900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96550" y="3526185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96550" y="3945285"/>
            <a:ext cx="6684264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十五个人不喜欢校服。</a:t>
            </a:r>
            <a:pPr algn="l" indent="0" marL="0">
              <a:lnSpc>
                <a:spcPts val="4725"/>
              </a:lnSpc>
              <a:buNone/>
            </a:pPr>
            <a:r>
              <a:rPr lang="en-US" sz="21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shíwǔ ge rén bù xǐhuan xiàofú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496550" y="5059710"/>
            <a:ext cx="6684264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第十三课 p.101 的报告句型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五个人喜欢黑色。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1588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You Do · 26–35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774627"/>
            <a:ext cx="787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67818" y="1635621"/>
            <a:ext cx="592751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校服角色卡 · Uniform role-play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260110" y="1774627"/>
            <a:ext cx="606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3900" y="2504182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33500" y="2504182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两人一组，每组两张卡片。卡片上是一所学校的校服。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Pairs, two printed cards each. Every card describes one school's uniform.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395674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33500" y="3956745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拿着卡片当那所学校的学生，B 问三个问题。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holds the card and is a student at that school. B asks the three questions.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23900" y="5409307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33500" y="5409307"/>
            <a:ext cx="797217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换卡片，换角色，再做一次。每个人都要做两遍。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Swap cards and roles, then run it again — everyone does it twice.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23900" y="6561832"/>
            <a:ext cx="9010650" cy="2356247"/>
          </a:xfrm>
          <a:prstGeom prst="roundRect">
            <a:avLst>
              <a:gd name="adj" fmla="val 4851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7750" y="6847582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04826" y="6790432"/>
            <a:ext cx="7859991" cy="189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问的人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不看卡片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，要自己想追问的问题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你喜欢什么颜色？你今天穿什么衣服？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最后凭记忆把对方学校的校服报给全班：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他穿白色的衬衫和灰色的裙子，他不喜欢他的校服。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 a fluent student with a less confident one and give them the interviewer's role.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191750" y="2504182"/>
            <a:ext cx="7372350" cy="6057900"/>
          </a:xfrm>
          <a:prstGeom prst="roundRect">
            <a:avLst>
              <a:gd name="adj" fmla="val 3145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515600" y="2808982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515600" y="3228082"/>
            <a:ext cx="685914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卡片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红星中学：白色的衬衫、灰色的裙子、黑色的袜子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0515600" y="4914007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B：你上学穿校服吗？　A：穿。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515600" y="5628382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B：你穿什么校服？　A：我穿白色的衬衫、灰色的裙子和黑色的袜子。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0515600" y="6942832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B：你喜欢你的校服吗？　A：不喜欢。</a:t>
            </a:r>
            <a:endParaRPr lang="en-US" sz="3150" dirty="0"/>
          </a:p>
        </p:txBody>
      </p:sp>
      <p:sp>
        <p:nvSpPr>
          <p:cNvPr id="25" name="Shape 2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1588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You Do · 35–39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2776091"/>
            <a:ext cx="787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58318" y="2637086"/>
            <a:ext cx="6742709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听一听，选颜色 · Listen and choose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249817" y="2776091"/>
            <a:ext cx="6060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67839" y="2776091"/>
            <a:ext cx="28651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p.109 练习 7 · CD T68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505646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24000" y="3505646"/>
            <a:ext cx="835533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p.109 第 7 题。听两遍，把字母写在小白板上，每题举一次。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Textbook Ex.7. Play twice; write the letter on a whiteboard and hold it up after each item.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5372546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24000" y="5372546"/>
            <a:ext cx="8355330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六题里三题是衣服，三题是车 — 单元测验也是这样混着考的。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garments and three vehicles, deliberately mixed — the Unit Test does the same.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7072759"/>
            <a:ext cx="88011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38250" y="7358509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895326" y="7301359"/>
            <a:ext cx="6770337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不要只写字母，把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整句话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写下来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爸爸穿白色的衬衫。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172700" y="3505646"/>
            <a:ext cx="7200900" cy="2457450"/>
          </a:xfrm>
          <a:prstGeom prst="roundRect">
            <a:avLst>
              <a:gd name="adj" fmla="val 7752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496550" y="3810446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496550" y="4229546"/>
            <a:ext cx="668426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　牛仔裤　裙子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496550" y="4943921"/>
            <a:ext cx="668426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出租车　校车　电车</a:t>
            </a:r>
            <a:endParaRPr lang="en-US" sz="3150" dirty="0"/>
          </a:p>
        </p:txBody>
      </p:sp>
      <p:sp>
        <p:nvSpPr>
          <p:cNvPr id="22" name="Shape 20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195250" y="9405938"/>
            <a:ext cx="441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p.109 练习 7 · CD T68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9204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抢词卡 · 39–43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2779365"/>
            <a:ext cx="609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82998" y="2640360"/>
            <a:ext cx="3206115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抢词卡 · 配件版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607248" y="2779365"/>
            <a:ext cx="6060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50892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24000" y="3508921"/>
            <a:ext cx="835533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四个小组，黑板上十张卡片：今天的四个配件 + 六件学过的衣服。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teams. Ten cards: today's four accessories plus six known garments.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37582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24000" y="5375821"/>
            <a:ext cx="387102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老师说，第一个拍到的得分。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calls; first hand scores.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661696"/>
            <a:ext cx="8801100" cy="1251496"/>
          </a:xfrm>
          <a:prstGeom prst="roundRect">
            <a:avLst>
              <a:gd name="adj" fmla="val 913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6947446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95326" y="6890296"/>
            <a:ext cx="6489650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老师改说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英文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，不说中文 — 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sound-matching shortcut; they have to know the word.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172700" y="3508921"/>
            <a:ext cx="7200900" cy="3057525"/>
          </a:xfrm>
          <a:prstGeom prst="roundRect">
            <a:avLst>
              <a:gd name="adj" fmla="val 6231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496550" y="3813721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496550" y="4232821"/>
            <a:ext cx="668426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　手套　围巾　袜子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0496550" y="4947196"/>
            <a:ext cx="668426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　汗衫　毛衣　外套　校服　长裤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056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回顾 · 自评 · 出门条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322290"/>
            <a:ext cx="2498229" cy="571500"/>
          </a:xfrm>
          <a:prstGeom prst="roundRect">
            <a:avLst>
              <a:gd name="adj" fmla="val 1665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3379440"/>
            <a:ext cx="2159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 · 对照今天的目标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9379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407476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38325" y="4074765"/>
            <a:ext cx="523179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我会用动词回答 — 穿。不是「是」。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489198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507295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38325" y="5072955"/>
            <a:ext cx="470549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我会问也会答「你穿什么校服？」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90171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607114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38325" y="6071146"/>
            <a:ext cx="4498125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帽子、手套、围巾、袜子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45511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👍 会了　😐 快会了　👎 还要练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72600" y="3322290"/>
            <a:ext cx="2422922" cy="571500"/>
          </a:xfrm>
          <a:prstGeom prst="roundRect">
            <a:avLst>
              <a:gd name="adj" fmla="val 1665000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63100" y="3379440"/>
            <a:ext cx="2082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3893790"/>
            <a:ext cx="8001000" cy="3306961"/>
          </a:xfrm>
          <a:prstGeom prst="roundRect">
            <a:avLst>
              <a:gd name="adj" fmla="val 5761"/>
            </a:avLst>
          </a:prstGeom>
          <a:solidFill>
            <a:srgbClr val="F2EFE7"/>
          </a:solidFill>
          <a:ln w="2857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82175" y="4303365"/>
            <a:ext cx="7325487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你上学穿校服吗？</a:t>
            </a:r>
            <a:endParaRPr lang="en-US" sz="4200" dirty="0"/>
          </a:p>
          <a:p>
            <a:pPr algn="l" indent="0" marL="0">
              <a:lnSpc>
                <a:spcPts val="567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你喜欢你的校服吗？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782175" y="5876776"/>
            <a:ext cx="7325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两个问题都用中文回答，写在小白板上。
</a:t>
            </a:r>
            <a:pPr algn="l" indent="0" marL="0">
              <a:lnSpc>
                <a:spcPts val="3600"/>
              </a:lnSpc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both in Chinese.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17164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下一课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54107" y="2436614"/>
            <a:ext cx="2579787" cy="666750"/>
          </a:xfrm>
          <a:prstGeom prst="roundRect">
            <a:avLst>
              <a:gd name="adj" fmla="val 1427143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22619" y="2493764"/>
            <a:ext cx="2242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 · Next Lesson</a:t>
            </a:r>
            <a:endParaRPr lang="en-US" sz="1500" dirty="0"/>
          </a:p>
        </p:txBody>
      </p:sp>
      <p:pic>
        <p:nvPicPr>
          <p:cNvPr id="9" name="Image 0" descr="/var/folders/6c/210dcgxn4gz5sm71vld2cy1h0000gn/T/y7l14-pptx-5Uk7v3/art/art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03364"/>
            <a:ext cx="1995636" cy="1905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351264"/>
            <a:ext cx="16788384" cy="14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下一课 — 写。你要听录音写下六个人穿什么，还要把故意写错的字找出来。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49808" y="7054155"/>
            <a:ext cx="16788384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lesson: writing. You'll describe six people from a recording, and hunt for the deliberate character mistakes.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00" y="9405938"/>
            <a:ext cx="3754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校服 · 穿……吗？→ 穿。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514933" y="9405938"/>
            <a:ext cx="40912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p.108–110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2026-09-14T03:47:26Z</dcterms:created>
  <dcterms:modified xsi:type="dcterms:W3CDTF">2026-09-14T03:47:26Z</dcterms:modified>
</cp:coreProperties>
</file>