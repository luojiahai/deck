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430250" y="5181600"/>
            <a:ext cx="427482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0"/>
              </a:lnSpc>
              <a:buNone/>
            </a:pPr>
            <a:r>
              <a:rPr lang="en-US" sz="33000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穿</a:t>
            </a:r>
            <a:endParaRPr lang="en-US" sz="33000" dirty="0"/>
          </a:p>
        </p:txBody>
      </p:sp>
      <p:sp>
        <p:nvSpPr>
          <p:cNvPr id="7" name="Text 5"/>
          <p:cNvSpPr/>
          <p:nvPr/>
        </p:nvSpPr>
        <p:spPr>
          <a:xfrm>
            <a:off x="749808" y="2629346"/>
            <a:ext cx="1678838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6 · Y7 UNIT 5 · 轻松学中文 1</a:t>
            </a:r>
            <a:endParaRPr lang="en-US" sz="1950" dirty="0"/>
          </a:p>
        </p:txBody>
      </p:sp>
      <p:pic>
        <p:nvPicPr>
          <p:cNvPr id="8" name="Image 0" descr="/var/folders/6c/210dcgxn4gz5sm71vld2cy1h0000gn/T/y7l14-pptx-5Uk7v3/art/art-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172271"/>
            <a:ext cx="1496764" cy="14287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5430589"/>
            <a:ext cx="16788384" cy="1312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335"/>
              </a:lnSpc>
              <a:spcBef>
                <a:spcPts val="6532"/>
              </a:spcBef>
              <a:spcAft>
                <a:spcPts val="900"/>
              </a:spcAft>
              <a:buNone/>
            </a:pPr>
            <a:r>
              <a:rPr lang="en-US" sz="97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介绍一个人</a:t>
            </a:r>
            <a:endParaRPr lang="en-US" sz="9750" dirty="0"/>
          </a:p>
        </p:txBody>
      </p:sp>
      <p:sp>
        <p:nvSpPr>
          <p:cNvPr id="10" name="Text 7"/>
          <p:cNvSpPr/>
          <p:nvPr/>
        </p:nvSpPr>
        <p:spPr>
          <a:xfrm>
            <a:off x="749808" y="6857405"/>
            <a:ext cx="16788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Profiles — Describing a Whole Person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5925586" y="7638455"/>
            <a:ext cx="17311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7 Chinese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174592" y="7638455"/>
            <a:ext cx="8290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 分钟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9531778" y="7638455"/>
            <a:ext cx="67492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Mixed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0726987" y="7638455"/>
            <a:ext cx="16343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p.112–113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2000" y="9405938"/>
            <a:ext cx="24980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6 · 介绍一个人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3547824" y="9405938"/>
            <a:ext cx="405773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p.112–113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32249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看图写汉字 · 0–8 min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9808" y="1709738"/>
            <a:ext cx="167883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三分钟，能写几个写几个 — 然后自己数一数，满分十八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2243138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/var/folders/6c/210dcgxn4gz5sm71vld2cy1h0000gn/T/y7l14-pptx-5Uk7v3/art/art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1821" y="2424113"/>
            <a:ext cx="957709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5450" y="3414713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衬衫</a:t>
            </a:r>
            <a:endParaRPr lang="en-US" sz="3900" dirty="0"/>
          </a:p>
        </p:txBody>
      </p:sp>
      <p:sp>
        <p:nvSpPr>
          <p:cNvPr id="11" name="Text 8"/>
          <p:cNvSpPr/>
          <p:nvPr/>
        </p:nvSpPr>
        <p:spPr>
          <a:xfrm>
            <a:off x="3695700" y="2243138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var/folders/6c/210dcgxn4gz5sm71vld2cy1h0000gn/T/y7l14-pptx-5Uk7v3/art/art-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121" y="2424113"/>
            <a:ext cx="957709" cy="914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76750" y="3414713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汗衫</a:t>
            </a:r>
            <a:endParaRPr lang="en-US" sz="3900" dirty="0"/>
          </a:p>
        </p:txBody>
      </p:sp>
      <p:sp>
        <p:nvSpPr>
          <p:cNvPr id="14" name="Text 10"/>
          <p:cNvSpPr/>
          <p:nvPr/>
        </p:nvSpPr>
        <p:spPr>
          <a:xfrm>
            <a:off x="6477000" y="2243138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2" descr="/var/folders/6c/210dcgxn4gz5sm71vld2cy1h0000gn/T/y7l14-pptx-5Uk7v3/art/art-2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421" y="2424113"/>
            <a:ext cx="957709" cy="9144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58050" y="3414713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毛衣</a:t>
            </a:r>
            <a:endParaRPr lang="en-US" sz="3900" dirty="0"/>
          </a:p>
        </p:txBody>
      </p:sp>
      <p:sp>
        <p:nvSpPr>
          <p:cNvPr id="17" name="Text 12"/>
          <p:cNvSpPr/>
          <p:nvPr/>
        </p:nvSpPr>
        <p:spPr>
          <a:xfrm>
            <a:off x="9258300" y="2243138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3" descr="/var/folders/6c/210dcgxn4gz5sm71vld2cy1h0000gn/T/y7l14-pptx-5Uk7v3/art/art-2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721" y="2424113"/>
            <a:ext cx="957709" cy="9144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39350" y="3414713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外套</a:t>
            </a:r>
            <a:endParaRPr lang="en-US" sz="3900" dirty="0"/>
          </a:p>
        </p:txBody>
      </p:sp>
      <p:sp>
        <p:nvSpPr>
          <p:cNvPr id="20" name="Text 14"/>
          <p:cNvSpPr/>
          <p:nvPr/>
        </p:nvSpPr>
        <p:spPr>
          <a:xfrm>
            <a:off x="12039600" y="2243138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4" descr="/var/folders/6c/210dcgxn4gz5sm71vld2cy1h0000gn/T/y7l14-pptx-5Uk7v3/art/art-2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37021" y="2424113"/>
            <a:ext cx="957709" cy="9144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820650" y="3414713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校服</a:t>
            </a:r>
            <a:endParaRPr lang="en-US" sz="3900" dirty="0"/>
          </a:p>
        </p:txBody>
      </p:sp>
      <p:sp>
        <p:nvSpPr>
          <p:cNvPr id="23" name="Text 16"/>
          <p:cNvSpPr/>
          <p:nvPr/>
        </p:nvSpPr>
        <p:spPr>
          <a:xfrm>
            <a:off x="14820900" y="2243138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5" descr="/var/folders/6c/210dcgxn4gz5sm71vld2cy1h0000gn/T/y7l14-pptx-5Uk7v3/art/art-4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18321" y="2424113"/>
            <a:ext cx="957709" cy="9144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5601950" y="3414713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衣服</a:t>
            </a:r>
            <a:endParaRPr lang="en-US" sz="3900" dirty="0"/>
          </a:p>
        </p:txBody>
      </p:sp>
      <p:sp>
        <p:nvSpPr>
          <p:cNvPr id="26" name="Text 18"/>
          <p:cNvSpPr/>
          <p:nvPr/>
        </p:nvSpPr>
        <p:spPr>
          <a:xfrm>
            <a:off x="914400" y="4519613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6" descr="/var/folders/6c/210dcgxn4gz5sm71vld2cy1h0000gn/T/y7l14-pptx-5Uk7v3/art/art-4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1821" y="4700588"/>
            <a:ext cx="957709" cy="9144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647825" y="5691188"/>
            <a:ext cx="110756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牛仔裤</a:t>
            </a:r>
            <a:endParaRPr lang="en-US" sz="2850" dirty="0"/>
          </a:p>
        </p:txBody>
      </p:sp>
      <p:sp>
        <p:nvSpPr>
          <p:cNvPr id="29" name="Text 20"/>
          <p:cNvSpPr/>
          <p:nvPr/>
        </p:nvSpPr>
        <p:spPr>
          <a:xfrm>
            <a:off x="3695700" y="4519613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7" descr="/var/folders/6c/210dcgxn4gz5sm71vld2cy1h0000gn/T/y7l14-pptx-5Uk7v3/art/art-4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3121" y="4700588"/>
            <a:ext cx="957709" cy="9144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4476750" y="5691188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长裤</a:t>
            </a:r>
            <a:endParaRPr lang="en-US" sz="3900" dirty="0"/>
          </a:p>
        </p:txBody>
      </p:sp>
      <p:sp>
        <p:nvSpPr>
          <p:cNvPr id="32" name="Text 22"/>
          <p:cNvSpPr/>
          <p:nvPr/>
        </p:nvSpPr>
        <p:spPr>
          <a:xfrm>
            <a:off x="6477000" y="4519613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8" descr="/var/folders/6c/210dcgxn4gz5sm71vld2cy1h0000gn/T/y7l14-pptx-5Uk7v3/art/art-49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74421" y="4700588"/>
            <a:ext cx="957709" cy="91440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7258050" y="5691188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短裤</a:t>
            </a:r>
            <a:endParaRPr lang="en-US" sz="3900" dirty="0"/>
          </a:p>
        </p:txBody>
      </p:sp>
      <p:sp>
        <p:nvSpPr>
          <p:cNvPr id="35" name="Text 24"/>
          <p:cNvSpPr/>
          <p:nvPr/>
        </p:nvSpPr>
        <p:spPr>
          <a:xfrm>
            <a:off x="9258300" y="4519613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6" name="Image 9" descr="/var/folders/6c/210dcgxn4gz5sm71vld2cy1h0000gn/T/y7l14-pptx-5Uk7v3/art/art-5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5721" y="4700588"/>
            <a:ext cx="957709" cy="91440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10039350" y="5691188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裙子</a:t>
            </a:r>
            <a:endParaRPr lang="en-US" sz="3900" dirty="0"/>
          </a:p>
        </p:txBody>
      </p:sp>
      <p:sp>
        <p:nvSpPr>
          <p:cNvPr id="38" name="Text 26"/>
          <p:cNvSpPr/>
          <p:nvPr/>
        </p:nvSpPr>
        <p:spPr>
          <a:xfrm>
            <a:off x="12039600" y="4519613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10" descr="/var/folders/6c/210dcgxn4gz5sm71vld2cy1h0000gn/T/y7l14-pptx-5Uk7v3/art/art-5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37021" y="4700588"/>
            <a:ext cx="957709" cy="914400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12820650" y="5691188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帽子</a:t>
            </a:r>
            <a:endParaRPr lang="en-US" sz="3900" dirty="0"/>
          </a:p>
        </p:txBody>
      </p:sp>
      <p:sp>
        <p:nvSpPr>
          <p:cNvPr id="41" name="Text 28"/>
          <p:cNvSpPr/>
          <p:nvPr/>
        </p:nvSpPr>
        <p:spPr>
          <a:xfrm>
            <a:off x="14820900" y="4519613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2" name="Image 11" descr="/var/folders/6c/210dcgxn4gz5sm71vld2cy1h0000gn/T/y7l14-pptx-5Uk7v3/art/art-52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618321" y="4700588"/>
            <a:ext cx="957709" cy="914400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15601950" y="5691188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手套</a:t>
            </a:r>
            <a:endParaRPr lang="en-US" sz="3900" dirty="0"/>
          </a:p>
        </p:txBody>
      </p:sp>
      <p:sp>
        <p:nvSpPr>
          <p:cNvPr id="44" name="Text 30"/>
          <p:cNvSpPr/>
          <p:nvPr/>
        </p:nvSpPr>
        <p:spPr>
          <a:xfrm>
            <a:off x="914400" y="6796088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5" name="Image 12" descr="/var/folders/6c/210dcgxn4gz5sm71vld2cy1h0000gn/T/y7l14-pptx-5Uk7v3/art/art-53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11821" y="6977063"/>
            <a:ext cx="957709" cy="914400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1695450" y="7967662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围巾</a:t>
            </a:r>
            <a:endParaRPr lang="en-US" sz="3900" dirty="0"/>
          </a:p>
        </p:txBody>
      </p:sp>
      <p:sp>
        <p:nvSpPr>
          <p:cNvPr id="47" name="Text 32"/>
          <p:cNvSpPr/>
          <p:nvPr/>
        </p:nvSpPr>
        <p:spPr>
          <a:xfrm>
            <a:off x="3695700" y="6796088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8" name="Image 13" descr="/var/folders/6c/210dcgxn4gz5sm71vld2cy1h0000gn/T/y7l14-pptx-5Uk7v3/art/art-54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93121" y="6977063"/>
            <a:ext cx="957709" cy="914400"/>
          </a:xfrm>
          <a:prstGeom prst="rect">
            <a:avLst/>
          </a:prstGeom>
        </p:spPr>
      </p:pic>
      <p:sp>
        <p:nvSpPr>
          <p:cNvPr id="49" name="Text 33"/>
          <p:cNvSpPr/>
          <p:nvPr/>
        </p:nvSpPr>
        <p:spPr>
          <a:xfrm>
            <a:off x="4476750" y="7967662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袜子</a:t>
            </a:r>
            <a:endParaRPr lang="en-US" sz="3900" dirty="0"/>
          </a:p>
        </p:txBody>
      </p:sp>
      <p:sp>
        <p:nvSpPr>
          <p:cNvPr id="50" name="Text 34"/>
          <p:cNvSpPr/>
          <p:nvPr/>
        </p:nvSpPr>
        <p:spPr>
          <a:xfrm>
            <a:off x="6477000" y="6796088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1" name="Image 14" descr="/var/folders/6c/210dcgxn4gz5sm71vld2cy1h0000gn/T/y7l14-pptx-5Uk7v3/art/art-55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74421" y="6977063"/>
            <a:ext cx="957709" cy="914400"/>
          </a:xfrm>
          <a:prstGeom prst="rect">
            <a:avLst/>
          </a:prstGeom>
        </p:spPr>
      </p:pic>
      <p:sp>
        <p:nvSpPr>
          <p:cNvPr id="52" name="Text 35"/>
          <p:cNvSpPr/>
          <p:nvPr/>
        </p:nvSpPr>
        <p:spPr>
          <a:xfrm>
            <a:off x="7258050" y="7967662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皮鞋</a:t>
            </a:r>
            <a:endParaRPr lang="en-US" sz="3900" dirty="0"/>
          </a:p>
        </p:txBody>
      </p:sp>
      <p:sp>
        <p:nvSpPr>
          <p:cNvPr id="53" name="Text 36"/>
          <p:cNvSpPr/>
          <p:nvPr/>
        </p:nvSpPr>
        <p:spPr>
          <a:xfrm>
            <a:off x="9258300" y="6796088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4" name="Image 15" descr="/var/folders/6c/210dcgxn4gz5sm71vld2cy1h0000gn/T/y7l14-pptx-5Uk7v3/art/art-56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55721" y="6977063"/>
            <a:ext cx="957709" cy="914400"/>
          </a:xfrm>
          <a:prstGeom prst="rect">
            <a:avLst/>
          </a:prstGeom>
        </p:spPr>
      </p:pic>
      <p:sp>
        <p:nvSpPr>
          <p:cNvPr id="55" name="Text 37"/>
          <p:cNvSpPr/>
          <p:nvPr/>
        </p:nvSpPr>
        <p:spPr>
          <a:xfrm>
            <a:off x="9991725" y="7967662"/>
            <a:ext cx="110756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运动鞋</a:t>
            </a:r>
            <a:endParaRPr lang="en-US" sz="2850" dirty="0"/>
          </a:p>
        </p:txBody>
      </p:sp>
      <p:sp>
        <p:nvSpPr>
          <p:cNvPr id="56" name="Text 38"/>
          <p:cNvSpPr/>
          <p:nvPr/>
        </p:nvSpPr>
        <p:spPr>
          <a:xfrm>
            <a:off x="12039600" y="6796088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7" name="Image 16" descr="/var/folders/6c/210dcgxn4gz5sm71vld2cy1h0000gn/T/y7l14-pptx-5Uk7v3/art/art-57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837021" y="6977063"/>
            <a:ext cx="957709" cy="914400"/>
          </a:xfrm>
          <a:prstGeom prst="rect">
            <a:avLst/>
          </a:prstGeom>
        </p:spPr>
      </p:pic>
      <p:sp>
        <p:nvSpPr>
          <p:cNvPr id="58" name="Text 39"/>
          <p:cNvSpPr/>
          <p:nvPr/>
        </p:nvSpPr>
        <p:spPr>
          <a:xfrm>
            <a:off x="12820650" y="7967662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西装</a:t>
            </a:r>
            <a:endParaRPr lang="en-US" sz="3900" dirty="0"/>
          </a:p>
        </p:txBody>
      </p:sp>
      <p:sp>
        <p:nvSpPr>
          <p:cNvPr id="59" name="Text 40"/>
          <p:cNvSpPr/>
          <p:nvPr/>
        </p:nvSpPr>
        <p:spPr>
          <a:xfrm>
            <a:off x="14820900" y="6796088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0" name="Image 17" descr="/var/folders/6c/210dcgxn4gz5sm71vld2cy1h0000gn/T/y7l14-pptx-5Uk7v3/art/art-58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618321" y="6977063"/>
            <a:ext cx="957709" cy="914400"/>
          </a:xfrm>
          <a:prstGeom prst="rect">
            <a:avLst/>
          </a:prstGeom>
        </p:spPr>
      </p:pic>
      <p:sp>
        <p:nvSpPr>
          <p:cNvPr id="61" name="Text 41"/>
          <p:cNvSpPr/>
          <p:nvPr/>
        </p:nvSpPr>
        <p:spPr>
          <a:xfrm>
            <a:off x="15601950" y="7967662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领带</a:t>
            </a:r>
            <a:endParaRPr lang="en-US" sz="3900" dirty="0"/>
          </a:p>
        </p:txBody>
      </p:sp>
      <p:sp>
        <p:nvSpPr>
          <p:cNvPr id="62" name="Shape 42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63" name="Text 43"/>
          <p:cNvSpPr/>
          <p:nvPr/>
        </p:nvSpPr>
        <p:spPr>
          <a:xfrm>
            <a:off x="762000" y="9405938"/>
            <a:ext cx="24980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6 · 介绍一个人</a:t>
            </a:r>
            <a:endParaRPr lang="en-US" sz="1350" dirty="0"/>
          </a:p>
        </p:txBody>
      </p:sp>
      <p:sp>
        <p:nvSpPr>
          <p:cNvPr id="64" name="Text 44"/>
          <p:cNvSpPr/>
          <p:nvPr/>
        </p:nvSpPr>
        <p:spPr>
          <a:xfrm>
            <a:off x="13547824" y="9405938"/>
            <a:ext cx="405773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p.112–113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5940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目标 · Learning Intention &amp; Success Criteria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511796"/>
            <a:ext cx="3627983" cy="552450"/>
          </a:xfrm>
          <a:prstGeom prst="roundRect">
            <a:avLst>
              <a:gd name="adj" fmla="val 1722414"/>
            </a:avLst>
          </a:prstGeom>
          <a:solidFill>
            <a:srgbClr val="2C4C7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04900" y="1568946"/>
            <a:ext cx="33119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今天我们学 · Learning Intention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064246"/>
            <a:ext cx="1678838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我们学怎么写一个人的介绍，里面要有他穿什么。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14400" y="2989957"/>
            <a:ext cx="2825204" cy="552450"/>
          </a:xfrm>
          <a:prstGeom prst="roundRect">
            <a:avLst>
              <a:gd name="adj" fmla="val 1722414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04900" y="3047107"/>
            <a:ext cx="2493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 · Success Criteria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580507"/>
            <a:ext cx="16459200" cy="1359991"/>
          </a:xfrm>
          <a:prstGeom prst="roundRect">
            <a:avLst>
              <a:gd name="adj" fmla="val 840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90625" y="3818632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876425" y="3818632"/>
            <a:ext cx="15525369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我会问也会答「你喜欢穿什么衣服？」「你今天穿什么衣服？」</a:t>
            </a:r>
            <a:pPr algn="l" indent="0" marL="0">
              <a:lnSpc>
                <a:spcPts val="3480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ask and answer 你喜欢穿什么衣服？ and 你今天穿什么衣服？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5111948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90625" y="5350073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876425" y="5350073"/>
            <a:ext cx="15506242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我看得懂一段介绍，答得出关于衣服的问题</a:t>
            </a:r>
            <a:pPr algn="l" indent="0" marL="0">
              <a:lnSpc>
                <a:spcPts val="3480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read a passage about someone and answer questions about their clothes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6262539"/>
            <a:ext cx="16459200" cy="1359991"/>
          </a:xfrm>
          <a:prstGeom prst="roundRect">
            <a:avLst>
              <a:gd name="adj" fmla="val 840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90625" y="6500664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876425" y="6500664"/>
            <a:ext cx="15525369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我会写一个人的介绍，用上今年学过的至少三样东西</a:t>
            </a:r>
            <a:pPr algn="l" indent="0" marL="0">
              <a:lnSpc>
                <a:spcPts val="3480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write a short profile using at least three things I've learned this year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14400" y="7908280"/>
            <a:ext cx="16459200" cy="1133475"/>
          </a:xfrm>
          <a:prstGeom prst="roundRect">
            <a:avLst>
              <a:gd name="adj" fmla="val 10084"/>
            </a:avLst>
          </a:prstGeom>
          <a:solidFill>
            <a:srgbClr val="2C4C7C">
              <a:alpha val="10000"/>
            </a:srgbClr>
          </a:solidFill>
          <a:ln w="19050">
            <a:solidFill>
              <a:srgbClr val="2C4C7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38250" y="8117830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771650" y="8117830"/>
            <a:ext cx="1072135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今年学过的：名字 · 年龄 · 年级 · 国家 · 家人 · 时间 · 上学 · 颜色 · 衣服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771650" y="8517880"/>
            <a:ext cx="1072135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Nine topics from nine lessons — this list stays on the board as the scaffold for the writing task.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000" y="9405938"/>
            <a:ext cx="24980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6 · 介绍一个人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3547824" y="9405938"/>
            <a:ext cx="405773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p.112–113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2629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生词 · 第一组 · 练习册 p.152 查字典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23900" y="1231553"/>
            <a:ext cx="8153400" cy="6604546"/>
          </a:xfrm>
          <a:prstGeom prst="roundRect">
            <a:avLst>
              <a:gd name="adj" fmla="val 4038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var/folders/6c/210dcgxn4gz5sm71vld2cy1h0000gn/T/y7l14-pptx-5Uk7v3/art/art-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3271" y="1631603"/>
            <a:ext cx="2494508" cy="23812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581400" y="4184303"/>
            <a:ext cx="2487168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0"/>
              </a:lnSpc>
              <a:buNone/>
            </a:pPr>
            <a:r>
              <a:rPr lang="en-US" sz="9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长衫</a:t>
            </a:r>
            <a:endParaRPr lang="en-US" sz="9600" dirty="0"/>
          </a:p>
        </p:txBody>
      </p:sp>
      <p:sp>
        <p:nvSpPr>
          <p:cNvPr id="10" name="Text 7"/>
          <p:cNvSpPr/>
          <p:nvPr/>
        </p:nvSpPr>
        <p:spPr>
          <a:xfrm>
            <a:off x="3639145" y="5635823"/>
            <a:ext cx="2369368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chángshān</a:t>
            </a:r>
            <a:endParaRPr lang="en-US" sz="3450" dirty="0"/>
          </a:p>
        </p:txBody>
      </p:sp>
      <p:sp>
        <p:nvSpPr>
          <p:cNvPr id="11" name="Text 8"/>
          <p:cNvSpPr/>
          <p:nvPr/>
        </p:nvSpPr>
        <p:spPr>
          <a:xfrm>
            <a:off x="4010769" y="6426398"/>
            <a:ext cx="1611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long gown</a:t>
            </a:r>
            <a:endParaRPr lang="en-US" sz="2550" dirty="0"/>
          </a:p>
        </p:txBody>
      </p:sp>
      <p:sp>
        <p:nvSpPr>
          <p:cNvPr id="12" name="Shape 9"/>
          <p:cNvSpPr/>
          <p:nvPr/>
        </p:nvSpPr>
        <p:spPr>
          <a:xfrm>
            <a:off x="1798290" y="7059811"/>
            <a:ext cx="6004471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738246" y="7121723"/>
            <a:ext cx="612456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长</a:t>
            </a:r>
            <a:pPr algn="ctr" indent="0" marL="0"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+ </a:t>
            </a:r>
            <a:pPr algn="ctr" indent="0" marL="0">
              <a:buNone/>
            </a:pPr>
            <a:r>
              <a:rPr lang="en-US" sz="195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衫</a:t>
            </a:r>
            <a:pPr algn="ctr" indent="0" marL="0"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两个字都学过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9410700" y="1231553"/>
            <a:ext cx="8153400" cy="6604546"/>
          </a:xfrm>
          <a:prstGeom prst="roundRect">
            <a:avLst>
              <a:gd name="adj" fmla="val 4038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y7l14-pptx-5Uk7v3/art/art-6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0071" y="1631603"/>
            <a:ext cx="2494508" cy="23812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268200" y="4184303"/>
            <a:ext cx="2487168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0"/>
              </a:lnSpc>
              <a:buNone/>
            </a:pPr>
            <a:r>
              <a:rPr lang="en-US" sz="9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大衣</a:t>
            </a:r>
            <a:endParaRPr lang="en-US" sz="9600" dirty="0"/>
          </a:p>
        </p:txBody>
      </p:sp>
      <p:sp>
        <p:nvSpPr>
          <p:cNvPr id="17" name="Text 13"/>
          <p:cNvSpPr/>
          <p:nvPr/>
        </p:nvSpPr>
        <p:spPr>
          <a:xfrm>
            <a:off x="13009066" y="5635823"/>
            <a:ext cx="97580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dàyī</a:t>
            </a:r>
            <a:endParaRPr lang="en-US" sz="3450" dirty="0"/>
          </a:p>
        </p:txBody>
      </p:sp>
      <p:sp>
        <p:nvSpPr>
          <p:cNvPr id="18" name="Text 14"/>
          <p:cNvSpPr/>
          <p:nvPr/>
        </p:nvSpPr>
        <p:spPr>
          <a:xfrm>
            <a:off x="12821989" y="6426398"/>
            <a:ext cx="1357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overcoat</a:t>
            </a:r>
            <a:endParaRPr lang="en-US" sz="2550" dirty="0"/>
          </a:p>
        </p:txBody>
      </p:sp>
      <p:sp>
        <p:nvSpPr>
          <p:cNvPr id="19" name="Shape 15"/>
          <p:cNvSpPr/>
          <p:nvPr/>
        </p:nvSpPr>
        <p:spPr>
          <a:xfrm>
            <a:off x="10485090" y="7059811"/>
            <a:ext cx="6004471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0425046" y="7121723"/>
            <a:ext cx="612456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大</a:t>
            </a:r>
            <a:pPr algn="ctr" indent="0" marL="0"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+ </a:t>
            </a:r>
            <a:pPr algn="ctr" indent="0" marL="0">
              <a:buNone/>
            </a:pPr>
            <a:r>
              <a:rPr lang="en-US" sz="195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衣</a:t>
            </a:r>
            <a:pPr algn="ctr" indent="0" marL="0"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两个字都学过</a:t>
            </a:r>
            <a:endParaRPr lang="en-US" sz="1950" dirty="0"/>
          </a:p>
        </p:txBody>
      </p:sp>
      <p:sp>
        <p:nvSpPr>
          <p:cNvPr id="21" name="Text 17"/>
          <p:cNvSpPr/>
          <p:nvPr/>
        </p:nvSpPr>
        <p:spPr>
          <a:xfrm>
            <a:off x="723900" y="7950398"/>
            <a:ext cx="16840200" cy="1371600"/>
          </a:xfrm>
          <a:prstGeom prst="roundRect">
            <a:avLst>
              <a:gd name="adj" fmla="val 8333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1009650" y="8121848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读</a:t>
            </a:r>
            <a:endParaRPr lang="en-US" sz="2700" dirty="0"/>
          </a:p>
        </p:txBody>
      </p:sp>
      <p:sp>
        <p:nvSpPr>
          <p:cNvPr id="23" name="Text 19"/>
          <p:cNvSpPr/>
          <p:nvPr/>
        </p:nvSpPr>
        <p:spPr>
          <a:xfrm>
            <a:off x="1543050" y="8121848"/>
            <a:ext cx="1605000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这四个词，你差不多已经会读了。</a:t>
            </a:r>
            <a:endParaRPr lang="en-US" sz="2250" dirty="0"/>
          </a:p>
        </p:txBody>
      </p:sp>
      <p:sp>
        <p:nvSpPr>
          <p:cNvPr id="24" name="Text 20"/>
          <p:cNvSpPr/>
          <p:nvPr/>
        </p:nvSpPr>
        <p:spPr>
          <a:xfrm>
            <a:off x="1543050" y="8521898"/>
            <a:ext cx="1605000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Every one is built from characters you already know. 长衫 even appeared back in Lesson 1 — you coloured a 棕色的长衫 without being told what it was.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62000" y="9405938"/>
            <a:ext cx="24980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6 · 介绍一个人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13787735" y="9405938"/>
            <a:ext cx="38130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练习册 p.152 第 10 题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4888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例句 · 长衫 · 大衣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915567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zhè shì zhōngguó de chángshān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14400" y="2372767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这是中国的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长衫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14400" y="3073747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is a Chinese long gown.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3778597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māma xǐhuan hēisè de dàyī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14400" y="4235797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我妈妈喜欢黑色的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大衣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914400" y="4936778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mum likes black overcoats.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" y="5641628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māma xǐhuan chuān dàyī， wǒ bù xǐhuan， wǒ xǐhuan chángshān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" y="6098828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我妈妈喜欢穿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大衣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，我不喜欢，我喜欢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长衫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914400" y="6799808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mum likes wearing an overcoat; I don't, I like a long gown.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7504658"/>
            <a:ext cx="16459200" cy="1133475"/>
          </a:xfrm>
          <a:prstGeom prst="roundRect">
            <a:avLst>
              <a:gd name="adj" fmla="val 10084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38250" y="7714208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771650" y="7714208"/>
            <a:ext cx="570588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「长衫」的「长」念 cháng 还是 zhǎng？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771650" y="8114258"/>
            <a:ext cx="570588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Same character, two readings — this one is cháng.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000" y="9405938"/>
            <a:ext cx="24980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6 · 介绍一个人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547824" y="9405938"/>
            <a:ext cx="405773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p.112–113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7054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写一句 · 长衫 · 大衣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691979"/>
            <a:ext cx="16459200" cy="1241971"/>
          </a:xfrm>
          <a:prstGeom prst="rect">
            <a:avLst/>
          </a:prstGeom>
          <a:solidFill>
            <a:srgbClr val="E7E2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42975" y="3691979"/>
            <a:ext cx="0" cy="1241971"/>
          </a:xfrm>
          <a:prstGeom prst="line">
            <a:avLst/>
          </a:prstGeom>
          <a:noFill/>
          <a:ln w="57150">
            <a:solidFill>
              <a:srgbClr val="2C4C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76350" y="3920579"/>
            <a:ext cx="16108299" cy="78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喜欢穿</a:t>
            </a:r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104900" y="5371058"/>
            <a:ext cx="5644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039243" y="5238750"/>
            <a:ext cx="1410266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6017865"/>
            <a:ext cx="16459200" cy="843855"/>
          </a:xfrm>
          <a:prstGeom prst="roundRect">
            <a:avLst>
              <a:gd name="adj" fmla="val 1354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38250" y="6303615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895326" y="6246465"/>
            <a:ext cx="807859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光看汉字，猜猜 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长裙</a:t>
            </a:r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和 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短裙</a:t>
            </a:r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是什么意思，再用其中一个写一句。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" y="9405938"/>
            <a:ext cx="24980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6 · 介绍一个人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3547824" y="9405938"/>
            <a:ext cx="405773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p.112–113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0147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生词 · 第二组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114550"/>
            <a:ext cx="7962900" cy="6324600"/>
          </a:xfrm>
          <a:prstGeom prst="roundRect">
            <a:avLst>
              <a:gd name="adj" fmla="val 4217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var/folders/6c/210dcgxn4gz5sm71vld2cy1h0000gn/T/y7l14-pptx-5Uk7v3/art/art-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8521" y="2514600"/>
            <a:ext cx="2494508" cy="23812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76650" y="5067300"/>
            <a:ext cx="2487168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0"/>
              </a:lnSpc>
              <a:buNone/>
            </a:pPr>
            <a:r>
              <a:rPr lang="en-US" sz="9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风衣</a:t>
            </a:r>
            <a:endParaRPr lang="en-US" sz="9600" dirty="0"/>
          </a:p>
        </p:txBody>
      </p:sp>
      <p:sp>
        <p:nvSpPr>
          <p:cNvPr id="10" name="Text 7"/>
          <p:cNvSpPr/>
          <p:nvPr/>
        </p:nvSpPr>
        <p:spPr>
          <a:xfrm>
            <a:off x="4197400" y="6518821"/>
            <a:ext cx="1424687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fēngyī</a:t>
            </a:r>
            <a:endParaRPr lang="en-US" sz="3450" dirty="0"/>
          </a:p>
        </p:txBody>
      </p:sp>
      <p:sp>
        <p:nvSpPr>
          <p:cNvPr id="11" name="Text 8"/>
          <p:cNvSpPr/>
          <p:nvPr/>
        </p:nvSpPr>
        <p:spPr>
          <a:xfrm>
            <a:off x="3961209" y="7309396"/>
            <a:ext cx="19065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windbreaker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9410700" y="2114550"/>
            <a:ext cx="7962900" cy="6324600"/>
          </a:xfrm>
          <a:prstGeom prst="roundRect">
            <a:avLst>
              <a:gd name="adj" fmla="val 4217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y7l14-pptx-5Uk7v3/art/art-6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821" y="2514600"/>
            <a:ext cx="2494508" cy="23812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963400" y="5067300"/>
            <a:ext cx="291465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连衣裙</a:t>
            </a:r>
            <a:endParaRPr lang="en-US" sz="7500" dirty="0"/>
          </a:p>
        </p:txBody>
      </p:sp>
      <p:sp>
        <p:nvSpPr>
          <p:cNvPr id="15" name="Text 11"/>
          <p:cNvSpPr/>
          <p:nvPr/>
        </p:nvSpPr>
        <p:spPr>
          <a:xfrm>
            <a:off x="12386965" y="6238875"/>
            <a:ext cx="2050426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liányīqún</a:t>
            </a:r>
            <a:endParaRPr lang="en-US" sz="3450" dirty="0"/>
          </a:p>
        </p:txBody>
      </p:sp>
      <p:sp>
        <p:nvSpPr>
          <p:cNvPr id="16" name="Text 12"/>
          <p:cNvSpPr/>
          <p:nvPr/>
        </p:nvSpPr>
        <p:spPr>
          <a:xfrm>
            <a:off x="12977366" y="7029450"/>
            <a:ext cx="8461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dress</a:t>
            </a:r>
            <a:endParaRPr lang="en-US" sz="2550" dirty="0"/>
          </a:p>
        </p:txBody>
      </p:sp>
      <p:sp>
        <p:nvSpPr>
          <p:cNvPr id="17" name="Shape 13"/>
          <p:cNvSpPr/>
          <p:nvPr/>
        </p:nvSpPr>
        <p:spPr>
          <a:xfrm>
            <a:off x="10466040" y="7662863"/>
            <a:ext cx="5852071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407520" y="7724775"/>
            <a:ext cx="596911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衣</a:t>
            </a:r>
            <a:pPr algn="ctr" indent="0" marL="0"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+ </a:t>
            </a:r>
            <a:pPr algn="ctr" indent="0" marL="0">
              <a:buNone/>
            </a:pPr>
            <a:r>
              <a:rPr lang="en-US" sz="195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裙</a:t>
            </a:r>
            <a:pPr algn="ctr" indent="0" marL="0"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连在一起</a:t>
            </a:r>
            <a:endParaRPr lang="en-US" sz="1950" dirty="0"/>
          </a:p>
        </p:txBody>
      </p:sp>
      <p:sp>
        <p:nvSpPr>
          <p:cNvPr id="19" name="Shape 15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62000" y="9405938"/>
            <a:ext cx="24980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6 · 介绍一个人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13547824" y="9405938"/>
            <a:ext cx="405773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p.112–113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7054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例句 · 风衣 · 连衣裙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915567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jiějie yǒu fěnhóngsè de liányīqún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14400" y="2372767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我姐姐有粉红色的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连衣裙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14400" y="3073747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older sister has a pink dress.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3778597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bàba xǐhuan chuān fēngyī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14400" y="4235797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我爸爸喜欢穿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风衣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914400" y="4936778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dad likes wearing a windbreaker.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" y="5641628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māma xǐhuan chuān liányīqún， wǒ bàba xǐhuan chuān fēngyī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" y="6098828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我妈妈喜欢穿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连衣裙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，我爸爸喜欢穿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风衣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914400" y="6799808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mum likes wearing dresses, my dad likes a windbreaker.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7504658"/>
            <a:ext cx="16459200" cy="1133475"/>
          </a:xfrm>
          <a:prstGeom prst="roundRect">
            <a:avLst>
              <a:gd name="adj" fmla="val 10084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38250" y="7714208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771650" y="7714208"/>
            <a:ext cx="542929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为什么叫「连衣裙」？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771650" y="8114258"/>
            <a:ext cx="542929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Explain it in Chinese using only words you know.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000" y="9405938"/>
            <a:ext cx="24980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6 · 介绍一个人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547824" y="9405938"/>
            <a:ext cx="405773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p.112–113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92193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写一句 · 风衣 · 连衣裙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691979"/>
            <a:ext cx="16459200" cy="1241971"/>
          </a:xfrm>
          <a:prstGeom prst="rect">
            <a:avLst/>
          </a:prstGeom>
          <a:solidFill>
            <a:srgbClr val="E7E2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42975" y="3691979"/>
            <a:ext cx="0" cy="1241971"/>
          </a:xfrm>
          <a:prstGeom prst="line">
            <a:avLst/>
          </a:prstGeom>
          <a:noFill/>
          <a:ln w="57150">
            <a:solidFill>
              <a:srgbClr val="2C4C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76350" y="3920579"/>
            <a:ext cx="16108299" cy="78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</a:t>
            </a:r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色的连衣裙。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104900" y="5371058"/>
            <a:ext cx="5644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039243" y="5238750"/>
            <a:ext cx="1410266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6017865"/>
            <a:ext cx="16459200" cy="843855"/>
          </a:xfrm>
          <a:prstGeom prst="roundRect">
            <a:avLst>
              <a:gd name="adj" fmla="val 1354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38250" y="6303615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895326" y="6246465"/>
            <a:ext cx="8419999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用你会的词解释「连衣裙」为什么叫连衣裙 — 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连衣裙是衣服和裙子。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" y="9405938"/>
            <a:ext cx="24980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6 · 介绍一个人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3547824" y="9405938"/>
            <a:ext cx="405773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p.112–113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88094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句型 · 一份介绍怎么写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66800" y="1563291"/>
            <a:ext cx="744298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这是 </a:t>
            </a:r>
            <a:pPr algn="l" indent="0" marL="0">
              <a:buNone/>
            </a:pPr>
            <a:r>
              <a:rPr lang="en-US" sz="33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</a:t>
            </a:r>
            <a:pPr algn="l" indent="0" marL="0">
              <a:buNone/>
            </a:pPr>
            <a:r>
              <a:rPr lang="en-US" sz="33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。 他今年 </a:t>
            </a:r>
            <a:pPr algn="l" indent="0" marL="0">
              <a:buNone/>
            </a:pPr>
            <a:r>
              <a:rPr lang="en-US" sz="33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</a:t>
            </a:r>
            <a:pPr algn="l" indent="0" marL="0">
              <a:buNone/>
            </a:pPr>
            <a:r>
              <a:rPr lang="en-US" sz="33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岁，上 </a:t>
            </a:r>
            <a:pPr algn="l" indent="0" marL="0">
              <a:buNone/>
            </a:pPr>
            <a:r>
              <a:rPr lang="en-US" sz="33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</a:t>
            </a:r>
            <a:pPr algn="l" indent="0" marL="0">
              <a:buNone/>
            </a:pPr>
            <a:r>
              <a:rPr lang="en-US" sz="33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年级。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723900" y="2534841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zhè shì wáng xiǎomíng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23900" y="2992041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这是王小明。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723900" y="3653433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is Wang Xiaoming.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3900" y="4243983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jīnnián shí'èr suì， shàng qī niánjí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23900" y="4701183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他今年十二岁，上七年级。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723900" y="5362575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He's twelve this year and in Year 7.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23900" y="5953125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měitiān zuò xiàochē shàngxué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23900" y="6410325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他每天坐校车上学。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723900" y="7071717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 takes the school bus to school every day.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23900" y="7662267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shàngxué chuān xiàofú： báisè de chènshān hé lánsè de chángkù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723900" y="8119467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他上学穿校服：白色的衬衫和蓝色的长裤。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723900" y="8780859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 wears uniform to school: a white shirt and blue trousers.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000" y="9405938"/>
            <a:ext cx="24980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6 · 介绍一个人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547824" y="9405938"/>
            <a:ext cx="405773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p.112–113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309742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句型 · 六句话，五个单元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476500"/>
            <a:ext cx="16459200" cy="4181475"/>
          </a:xfrm>
          <a:prstGeom prst="rect">
            <a:avLst/>
          </a:prstGeom>
          <a:solidFill>
            <a:srgbClr val="E7E2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42975" y="2476500"/>
            <a:ext cx="0" cy="4181475"/>
          </a:xfrm>
          <a:prstGeom prst="line">
            <a:avLst/>
          </a:prstGeom>
          <a:noFill/>
          <a:ln w="57150">
            <a:solidFill>
              <a:srgbClr val="2C4C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52550" y="2781300"/>
            <a:ext cx="1595285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25"/>
              </a:lnSpc>
              <a:buNone/>
            </a:pPr>
            <a:r>
              <a:rPr lang="en-US" sz="37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这是王小明。</a:t>
            </a:r>
            <a:endParaRPr lang="en-US" sz="3750" dirty="0"/>
          </a:p>
        </p:txBody>
      </p:sp>
      <p:sp>
        <p:nvSpPr>
          <p:cNvPr id="10" name="Text 8"/>
          <p:cNvSpPr/>
          <p:nvPr/>
        </p:nvSpPr>
        <p:spPr>
          <a:xfrm>
            <a:off x="1352550" y="3495675"/>
            <a:ext cx="1595285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25"/>
              </a:lnSpc>
              <a:buNone/>
            </a:pPr>
            <a:r>
              <a:rPr lang="en-US" sz="37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他今年十二岁，上七年级。</a:t>
            </a:r>
            <a:endParaRPr lang="en-US" sz="3750" dirty="0"/>
          </a:p>
        </p:txBody>
      </p:sp>
      <p:sp>
        <p:nvSpPr>
          <p:cNvPr id="11" name="Text 9"/>
          <p:cNvSpPr/>
          <p:nvPr/>
        </p:nvSpPr>
        <p:spPr>
          <a:xfrm>
            <a:off x="1352550" y="4210050"/>
            <a:ext cx="1595285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25"/>
              </a:lnSpc>
              <a:buNone/>
            </a:pPr>
            <a:r>
              <a:rPr lang="en-US" sz="37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他每天坐校车上学。</a:t>
            </a:r>
            <a:endParaRPr lang="en-US" sz="3750" dirty="0"/>
          </a:p>
        </p:txBody>
      </p:sp>
      <p:sp>
        <p:nvSpPr>
          <p:cNvPr id="12" name="Text 10"/>
          <p:cNvSpPr/>
          <p:nvPr/>
        </p:nvSpPr>
        <p:spPr>
          <a:xfrm>
            <a:off x="1352550" y="4924425"/>
            <a:ext cx="1595285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25"/>
              </a:lnSpc>
              <a:buNone/>
            </a:pPr>
            <a:r>
              <a:rPr lang="en-US" sz="37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他上学穿校服：白色的衬衫和蓝色的长裤。</a:t>
            </a:r>
            <a:endParaRPr lang="en-US" sz="3750" dirty="0"/>
          </a:p>
        </p:txBody>
      </p:sp>
      <p:sp>
        <p:nvSpPr>
          <p:cNvPr id="13" name="Text 11"/>
          <p:cNvSpPr/>
          <p:nvPr/>
        </p:nvSpPr>
        <p:spPr>
          <a:xfrm>
            <a:off x="1352550" y="5638800"/>
            <a:ext cx="1595285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25"/>
              </a:lnSpc>
              <a:buNone/>
            </a:pPr>
            <a:r>
              <a:rPr lang="en-US" sz="37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他不喜欢校服，他喜欢穿汗衫和牛仔裤。</a:t>
            </a:r>
            <a:endParaRPr lang="en-US" sz="3750" dirty="0"/>
          </a:p>
        </p:txBody>
      </p:sp>
      <p:sp>
        <p:nvSpPr>
          <p:cNvPr id="14" name="Text 12"/>
          <p:cNvSpPr/>
          <p:nvPr/>
        </p:nvSpPr>
        <p:spPr>
          <a:xfrm>
            <a:off x="914400" y="6943725"/>
            <a:ext cx="16459200" cy="1133475"/>
          </a:xfrm>
          <a:prstGeom prst="roundRect">
            <a:avLst>
              <a:gd name="adj" fmla="val 10084"/>
            </a:avLst>
          </a:prstGeom>
          <a:solidFill>
            <a:srgbClr val="2C4C7C">
              <a:alpha val="10000"/>
            </a:srgbClr>
          </a:solidFill>
          <a:ln w="19050">
            <a:solidFill>
              <a:srgbClr val="2C4C7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38250" y="7153275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771650" y="7153275"/>
            <a:ext cx="1545705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六句话，五个单元的内容。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771650" y="7553325"/>
            <a:ext cx="1545705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名字 · 年龄 · 年级 · 上学 · 衣服 — five topics from five different lessons, in one short paragraph. This is what you are writing in Activity 2.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2000" y="9405938"/>
            <a:ext cx="24980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6 · 介绍一个人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547824" y="9405938"/>
            <a:ext cx="405773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p.112–113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44785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阅读理解 · 黄铁牛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23900" y="1902023"/>
            <a:ext cx="1717700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jiào huáng tiěniú。 wǒ shì běijīng rén。 wǒ jīnnián shí'èr suì， shàng qī niánjí。 wǒmen yì jiā rén xiànzài zhù zài xiānggǎng。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723900" y="2740223"/>
            <a:ext cx="17177004" cy="1208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我叫黄铁牛。我是北京人。我今年十二岁，上七年级。我们一家人现在住在香港。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723900" y="4139208"/>
            <a:ext cx="1717700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jiā yǒu sān kǒu rén： bàba、 māma hé wǒ。 wǒ bàba měitiān jiǔ diǎn shàngbān。 tā zuò gōnggòng qìchē shàngbān。 tā xǐhuan chuān chènshān hé chángkù。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723900" y="4977408"/>
            <a:ext cx="17177004" cy="1208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我家有三口人：爸爸、妈妈和我。我爸爸每天九点上班。他坐公共汽车上班。他喜欢穿衬衫和长裤。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723900" y="6376392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māma bù gōngzuò。 tā xǐhuan chuān qúnzi。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23900" y="6814542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我妈妈不工作。她喜欢穿裙子。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723900" y="7609284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měitiān bā diǎn shàngxué， xiàwǔ sì diǎn fàngxué。 wǒ xǐhuan chuān hànshān hé niúzǎikù。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723900" y="8047434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我每天八点上学，下午四点放学。我喜欢穿汗衫和牛仔裤。</a:t>
            </a:r>
            <a:endParaRPr lang="en-US" sz="3900" dirty="0"/>
          </a:p>
        </p:txBody>
      </p:sp>
      <p:sp>
        <p:nvSpPr>
          <p:cNvPr id="15" name="Shape 13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" y="9405938"/>
            <a:ext cx="24980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6 · 介绍一个人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3761541" y="9405938"/>
            <a:ext cx="38397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练习册 p.157 第 20 题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66432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阅读理解 · 八个问题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201591"/>
            <a:ext cx="4192694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53"/>
              </a:lnSpc>
              <a:buNone/>
            </a:pPr>
            <a:r>
              <a:rPr lang="en-US" sz="19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pPr algn="l" indent="0" marL="0">
              <a:lnSpc>
                <a:spcPts val="4253"/>
              </a:lnSpc>
              <a:buNone/>
            </a:pPr>
            <a:r>
              <a:rPr lang="en-US" sz="31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黄铁牛今年上几年级？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9353550" y="3201591"/>
            <a:ext cx="3422588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53"/>
              </a:lnSpc>
              <a:buNone/>
            </a:pPr>
            <a:r>
              <a:rPr lang="en-US" sz="19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pPr algn="l" indent="0" marL="0">
              <a:lnSpc>
                <a:spcPts val="4253"/>
              </a:lnSpc>
              <a:buNone/>
            </a:pPr>
            <a:r>
              <a:rPr lang="en-US" sz="31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他每天几点上学？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914400" y="3932039"/>
            <a:ext cx="3015752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53"/>
              </a:lnSpc>
              <a:buNone/>
            </a:pPr>
            <a:r>
              <a:rPr lang="en-US" sz="19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pPr algn="l" indent="0" marL="0">
              <a:lnSpc>
                <a:spcPts val="4253"/>
              </a:lnSpc>
              <a:buNone/>
            </a:pPr>
            <a:r>
              <a:rPr lang="en-US" sz="31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他爸爸工作吗？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9353550" y="3932039"/>
            <a:ext cx="4649778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53"/>
              </a:lnSpc>
              <a:buNone/>
            </a:pPr>
            <a:r>
              <a:rPr lang="en-US" sz="19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pPr algn="l" indent="0" marL="0">
              <a:lnSpc>
                <a:spcPts val="4253"/>
              </a:lnSpc>
              <a:buNone/>
            </a:pPr>
            <a:r>
              <a:rPr lang="en-US" sz="31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他爸爸喜欢穿什么衣服？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14400" y="4662488"/>
            <a:ext cx="4239450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53"/>
              </a:lnSpc>
              <a:buNone/>
            </a:pPr>
            <a:r>
              <a:rPr lang="en-US" sz="19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pPr algn="l" indent="0" marL="0">
              <a:lnSpc>
                <a:spcPts val="4253"/>
              </a:lnSpc>
              <a:buNone/>
            </a:pPr>
            <a:r>
              <a:rPr lang="en-US" sz="31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他爸爸每天怎么上班？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9353550" y="4662488"/>
            <a:ext cx="3018029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53"/>
              </a:lnSpc>
              <a:buNone/>
            </a:pPr>
            <a:r>
              <a:rPr lang="en-US" sz="19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</a:t>
            </a:r>
            <a:pPr algn="l" indent="0" marL="0">
              <a:lnSpc>
                <a:spcPts val="4253"/>
              </a:lnSpc>
              <a:buNone/>
            </a:pPr>
            <a:r>
              <a:rPr lang="en-US" sz="31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他妈妈工作吗？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914400" y="5392936"/>
            <a:ext cx="4635660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53"/>
              </a:lnSpc>
              <a:buNone/>
            </a:pPr>
            <a:r>
              <a:rPr lang="en-US" sz="19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7</a:t>
            </a:r>
            <a:pPr algn="l" indent="0" marL="0">
              <a:lnSpc>
                <a:spcPts val="4253"/>
              </a:lnSpc>
              <a:buNone/>
            </a:pPr>
            <a:r>
              <a:rPr lang="en-US" sz="31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他妈妈喜欢穿什么衣服？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9353550" y="5392936"/>
            <a:ext cx="3833372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53"/>
              </a:lnSpc>
              <a:buNone/>
            </a:pPr>
            <a:r>
              <a:rPr lang="en-US" sz="19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8</a:t>
            </a:r>
            <a:pPr algn="l" indent="0" marL="0">
              <a:lnSpc>
                <a:spcPts val="4253"/>
              </a:lnSpc>
              <a:buNone/>
            </a:pPr>
            <a:r>
              <a:rPr lang="en-US" sz="31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他喜欢穿什么衣服？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914400" y="6218634"/>
            <a:ext cx="16459200" cy="1133475"/>
          </a:xfrm>
          <a:prstGeom prst="roundRect">
            <a:avLst>
              <a:gd name="adj" fmla="val 10084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38250" y="6428184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082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范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771650" y="6428184"/>
            <a:ext cx="952680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这段就是待会儿你要写的介绍的范文。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771650" y="6828234"/>
            <a:ext cx="952680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Keep the passage up beside these — it is the model for the writing task in Activity 2.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2000" y="9405938"/>
            <a:ext cx="24980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6 · 介绍一个人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3761541" y="9405938"/>
            <a:ext cx="38397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练习册 p.157 第 20 题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0820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Flexible Practice · We Do · 20–26 min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950839"/>
            <a:ext cx="7004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82093" y="1811834"/>
            <a:ext cx="4852437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采访两个同学 · Interview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120384" y="1950839"/>
            <a:ext cx="6063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min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38704" y="1950839"/>
            <a:ext cx="18143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p.112 练习 11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3900" y="2680395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333500" y="2680395"/>
            <a:ext cx="8569071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p.112 第 11 题，十四个问题里挑七个 — 待会儿写介绍要用的那七个。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Textbook Ex.11, seven of the fourteen questions — the ones that feed the profile.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723900" y="4547295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33500" y="4547295"/>
            <a:ext cx="8113353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采访</a:t>
            </a:r>
            <a:pPr algn="l" indent="0" marL="0">
              <a:lnSpc>
                <a:spcPts val="3263"/>
              </a:lnSpc>
              <a:buNone/>
            </a:pPr>
            <a:r>
              <a:rPr lang="en-US" sz="225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</a:t>
            </a:r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个同学，把答案记在 Notes 那一栏。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Interview TWO partners and note the answers in the Notes column.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23900" y="5585520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333500" y="5585520"/>
            <a:ext cx="7185827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两个人报告，用课本的句型：他叫……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students report back in the textbook's frame: 他叫……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723900" y="6738045"/>
            <a:ext cx="9010650" cy="2003822"/>
          </a:xfrm>
          <a:prstGeom prst="roundRect">
            <a:avLst>
              <a:gd name="adj" fmla="val 5704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47750" y="7023795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704826" y="6966645"/>
            <a:ext cx="7859991" cy="1546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不看问题表，用中文采访，还要自己加一个问题。报告的时候说成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一段话</a:t>
            </a:r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，不是一条一条 — 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他叫大生，今年十二岁，上七年级。他每天走路上学，他喜欢蓝色，今天穿蓝色的汗衫和黑色的短裤。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191750" y="2680395"/>
            <a:ext cx="7372350" cy="4972050"/>
          </a:xfrm>
          <a:prstGeom prst="roundRect">
            <a:avLst>
              <a:gd name="adj" fmla="val 3831"/>
            </a:avLst>
          </a:prstGeom>
          <a:solidFill>
            <a:srgbClr val="E7E2D5"/>
          </a:solidFill>
          <a:ln w="19050">
            <a:solidFill>
              <a:srgbClr val="CFC4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515600" y="2985195"/>
            <a:ext cx="68591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你要说 / 写的中文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515600" y="3404295"/>
            <a:ext cx="6859143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你叫什么名字？　你今年多大了？　你上几年级？</a:t>
            </a:r>
            <a:endParaRPr lang="en-US" sz="3150" dirty="0"/>
          </a:p>
        </p:txBody>
      </p:sp>
      <p:sp>
        <p:nvSpPr>
          <p:cNvPr id="23" name="Text 21"/>
          <p:cNvSpPr/>
          <p:nvPr/>
        </p:nvSpPr>
        <p:spPr>
          <a:xfrm>
            <a:off x="10515600" y="4718745"/>
            <a:ext cx="6859143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你每天怎么上学？　你喜欢什么颜色？</a:t>
            </a:r>
            <a:endParaRPr lang="en-US" sz="3150" dirty="0"/>
          </a:p>
        </p:txBody>
      </p:sp>
      <p:sp>
        <p:nvSpPr>
          <p:cNvPr id="24" name="Text 22"/>
          <p:cNvSpPr/>
          <p:nvPr/>
        </p:nvSpPr>
        <p:spPr>
          <a:xfrm>
            <a:off x="10515600" y="6033195"/>
            <a:ext cx="6859143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你喜欢穿什么衣服？　你今天穿什么衣服？</a:t>
            </a:r>
            <a:endParaRPr lang="en-US" sz="3150" dirty="0"/>
          </a:p>
        </p:txBody>
      </p:sp>
      <p:sp>
        <p:nvSpPr>
          <p:cNvPr id="25" name="Shape 23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000" y="9405938"/>
            <a:ext cx="24980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6 · 介绍一个人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4110246" y="9405938"/>
            <a:ext cx="34840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课本 p.112 练习 11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1588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Flexible Practice · You Do · 26–36 min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304925"/>
            <a:ext cx="7878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67818" y="1165920"/>
            <a:ext cx="4813878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写介绍 · Write the profile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168307" y="1304925"/>
            <a:ext cx="7055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min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83960" y="1304925"/>
            <a:ext cx="18506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p.113 练习 12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3900" y="2034480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333500" y="2034480"/>
            <a:ext cx="8569071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· 写你采访的一个同学。至少四句，其中两句写衣服。黄铁牛那段留在屏幕上当范文。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 A (5 min) — profile one of the people you interviewed. Minimum four sentences, at least two about clothes.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723900" y="3901380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33500" y="3901380"/>
            <a:ext cx="8569071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 · 课本 p.113 第 12 题 — 聚会的图。挑两个人，给他们各写一份介绍。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 B (5 min) — the party scene. Choose two people and write a profile for each.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23900" y="5768280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333500" y="5768280"/>
            <a:ext cx="8569071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这两个是陌生人，所有内容都是你编的。开头用「这是……」或者「这个人是……」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These are strangers, so everything is invented. Start each with 这是…… or 这个人是……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723900" y="7749480"/>
            <a:ext cx="9010650" cy="1638151"/>
          </a:xfrm>
          <a:prstGeom prst="roundRect">
            <a:avLst>
              <a:gd name="adj" fmla="val 6977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47750" y="8035230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704826" y="7978080"/>
            <a:ext cx="7859991" cy="1180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写三份，不是两份。其中一份要让全班光凭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衣服</a:t>
            </a:r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就认得出是图里哪个人 — 念出来，让大家指。</a:t>
            </a:r>
            <a:pPr algn="l" indent="0" marL="0">
              <a:lnSpc>
                <a:spcPts val="3045"/>
              </a:lnSpc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word bank, no summary board — turn away from the screen.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191750" y="2034480"/>
            <a:ext cx="7372350" cy="3657600"/>
          </a:xfrm>
          <a:prstGeom prst="roundRect">
            <a:avLst>
              <a:gd name="adj" fmla="val 5208"/>
            </a:avLst>
          </a:prstGeom>
          <a:solidFill>
            <a:srgbClr val="E7E2D5"/>
          </a:solidFill>
          <a:ln w="19050">
            <a:solidFill>
              <a:srgbClr val="CFC4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515600" y="2339280"/>
            <a:ext cx="68591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你要说 / 写的中文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515600" y="2758380"/>
            <a:ext cx="6859143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这是王小明。他今年十二岁，上七年级。</a:t>
            </a:r>
            <a:endParaRPr lang="en-US" sz="3150" dirty="0"/>
          </a:p>
        </p:txBody>
      </p:sp>
      <p:sp>
        <p:nvSpPr>
          <p:cNvPr id="23" name="Text 21"/>
          <p:cNvSpPr/>
          <p:nvPr/>
        </p:nvSpPr>
        <p:spPr>
          <a:xfrm>
            <a:off x="10515600" y="4072830"/>
            <a:ext cx="6859143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他每天坐校车上学。他上学穿校服：白色的衬衫和蓝色的长裤。</a:t>
            </a:r>
            <a:endParaRPr lang="en-US" sz="3150" dirty="0"/>
          </a:p>
        </p:txBody>
      </p:sp>
      <p:sp>
        <p:nvSpPr>
          <p:cNvPr id="24" name="Shape 22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000" y="9405938"/>
            <a:ext cx="24980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6 · 介绍一个人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4076908" y="9405938"/>
            <a:ext cx="351807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课本 p.113 练习 12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335351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查字典接力 · 36–43 min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912590"/>
            <a:ext cx="609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92498" y="1773585"/>
            <a:ext cx="5620569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查字典接力 · Dictionary relay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83860" y="1912590"/>
            <a:ext cx="5950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min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091166" y="1912590"/>
            <a:ext cx="21782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p.152 第 10 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3900" y="2642146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333500" y="2642146"/>
            <a:ext cx="8569071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三人一组，一本字典或者一台平板。练习册 p.152 第 10 题，十个词。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Teams of three, one dictionary or device each. Workbook Ex.10 — ten words.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723900" y="4509046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33500" y="4509046"/>
            <a:ext cx="8569071" cy="1243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十个里面有九个你今天以前就见过了，真正的新词只有「和服」一个。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Nine of the ten you already know — only 和服 is genuinely new.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23900" y="5961608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333500" y="5961608"/>
            <a:ext cx="8569071" cy="1243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所以比的不是认字，是</a:t>
            </a:r>
            <a:pPr algn="l" indent="0" marL="0">
              <a:lnSpc>
                <a:spcPts val="3263"/>
              </a:lnSpc>
              <a:buNone/>
            </a:pPr>
            <a:r>
              <a:rPr lang="en-US" sz="225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查得快不快</a:t>
            </a:r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。全写对的第一组赢。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 this is a dictionary-skills race, not a vocabulary hunt. First team correct wins.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723900" y="7528471"/>
            <a:ext cx="9010650" cy="1251496"/>
          </a:xfrm>
          <a:prstGeom prst="roundRect">
            <a:avLst>
              <a:gd name="adj" fmla="val 9133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47750" y="7814221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704826" y="7757071"/>
            <a:ext cx="7133758" cy="79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部首</a:t>
            </a:r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查，不用拼音查 — 和服查「禾」，袜子查「衤」。</a:t>
            </a:r>
            <a:pPr algn="l" indent="0" marL="0">
              <a:lnSpc>
                <a:spcPts val="3045"/>
              </a:lnSpc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the team has to say which radical they used for each word.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191750" y="2642146"/>
            <a:ext cx="7372350" cy="2457450"/>
          </a:xfrm>
          <a:prstGeom prst="roundRect">
            <a:avLst>
              <a:gd name="adj" fmla="val 7752"/>
            </a:avLst>
          </a:prstGeom>
          <a:solidFill>
            <a:srgbClr val="E7E2D5"/>
          </a:solidFill>
          <a:ln w="19050">
            <a:solidFill>
              <a:srgbClr val="CFC4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515600" y="2946946"/>
            <a:ext cx="68591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你要说 / 写的中文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515600" y="3366046"/>
            <a:ext cx="685914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和服　长衫　袜子　皮鞋　西装</a:t>
            </a:r>
            <a:endParaRPr lang="en-US" sz="3150" dirty="0"/>
          </a:p>
        </p:txBody>
      </p:sp>
      <p:sp>
        <p:nvSpPr>
          <p:cNvPr id="23" name="Text 21"/>
          <p:cNvSpPr/>
          <p:nvPr/>
        </p:nvSpPr>
        <p:spPr>
          <a:xfrm>
            <a:off x="10515600" y="4080421"/>
            <a:ext cx="685914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手套　大衣　风衣　帽子　连衣裙</a:t>
            </a:r>
            <a:endParaRPr lang="en-US" sz="3150" dirty="0"/>
          </a:p>
        </p:txBody>
      </p:sp>
      <p:sp>
        <p:nvSpPr>
          <p:cNvPr id="24" name="Shape 22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000" y="9405938"/>
            <a:ext cx="24980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6 · 介绍一个人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787735" y="9405938"/>
            <a:ext cx="38130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练习册 p.152 第 10 题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39224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 · 回顾整个单元 · 自评 · 出门条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825079"/>
            <a:ext cx="3994547" cy="571500"/>
          </a:xfrm>
          <a:prstGeom prst="roundRect">
            <a:avLst>
              <a:gd name="adj" fmla="val 1665000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04900" y="1882229"/>
            <a:ext cx="36858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回顾整个单元 · the whole sequence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396579"/>
            <a:ext cx="8001000" cy="864840"/>
          </a:xfrm>
          <a:prstGeom prst="roundRect">
            <a:avLst>
              <a:gd name="adj" fmla="val 1321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52525" y="2577554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838325" y="2577554"/>
            <a:ext cx="3450672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我会用「穿」说谁穿什么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3394770"/>
            <a:ext cx="8001000" cy="864840"/>
          </a:xfrm>
          <a:prstGeom prst="roundRect">
            <a:avLst>
              <a:gd name="adj" fmla="val 1321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52525" y="357574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838325" y="3575745"/>
            <a:ext cx="4705490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我会用「的」把颜色放在衣服前面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4392960"/>
            <a:ext cx="8001000" cy="864840"/>
          </a:xfrm>
          <a:prstGeom prst="roundRect">
            <a:avLst>
              <a:gd name="adj" fmla="val 1321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52525" y="457393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838325" y="4573935"/>
            <a:ext cx="5019118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我会用「、」和「和」一次说好几件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5391150"/>
            <a:ext cx="8001000" cy="864840"/>
          </a:xfrm>
          <a:prstGeom prst="roundRect">
            <a:avLst>
              <a:gd name="adj" fmla="val 1321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52525" y="557212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838325" y="5572125"/>
            <a:ext cx="5231797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我会用动词回答 — 穿。不是「是」。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14400" y="6389340"/>
            <a:ext cx="8001000" cy="864840"/>
          </a:xfrm>
          <a:prstGeom prst="roundRect">
            <a:avLst>
              <a:gd name="adj" fmla="val 1321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52525" y="657031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1838325" y="6570315"/>
            <a:ext cx="2823264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我会写一个人穿什么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14400" y="7387530"/>
            <a:ext cx="8001000" cy="864840"/>
          </a:xfrm>
          <a:prstGeom prst="roundRect">
            <a:avLst>
              <a:gd name="adj" fmla="val 1321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152525" y="756850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</a:t>
            </a:r>
            <a:endParaRPr lang="en-US" sz="3300" dirty="0"/>
          </a:p>
        </p:txBody>
      </p:sp>
      <p:sp>
        <p:nvSpPr>
          <p:cNvPr id="26" name="Text 24"/>
          <p:cNvSpPr/>
          <p:nvPr/>
        </p:nvSpPr>
        <p:spPr>
          <a:xfrm>
            <a:off x="1838325" y="7568505"/>
            <a:ext cx="2823264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我会写一个人的介绍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14400" y="8442871"/>
            <a:ext cx="81610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👍 会了　😐 快会了　👎 还要练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372600" y="1825079"/>
            <a:ext cx="2422922" cy="571500"/>
          </a:xfrm>
          <a:prstGeom prst="roundRect">
            <a:avLst>
              <a:gd name="adj" fmla="val 1665000"/>
            </a:avLst>
          </a:prstGeom>
          <a:solidFill>
            <a:srgbClr val="B03C2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563100" y="1882229"/>
            <a:ext cx="2082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 · Exit Ticket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372600" y="2396579"/>
            <a:ext cx="8001000" cy="3044130"/>
          </a:xfrm>
          <a:prstGeom prst="roundRect">
            <a:avLst>
              <a:gd name="adj" fmla="val 6258"/>
            </a:avLst>
          </a:prstGeom>
          <a:solidFill>
            <a:srgbClr val="F2EFE7"/>
          </a:solidFill>
          <a:ln w="28575">
            <a:solidFill>
              <a:srgbClr val="B03C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9782175" y="2806154"/>
            <a:ext cx="7325487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70"/>
              </a:lnSpc>
              <a:buNone/>
            </a:pPr>
            <a:r>
              <a:rPr lang="en-US" sz="42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我不喜欢穿校服。</a:t>
            </a:r>
            <a:endParaRPr lang="en-US" sz="4200" dirty="0"/>
          </a:p>
        </p:txBody>
      </p:sp>
      <p:sp>
        <p:nvSpPr>
          <p:cNvPr id="32" name="Text 30"/>
          <p:cNvSpPr/>
          <p:nvPr/>
        </p:nvSpPr>
        <p:spPr>
          <a:xfrm>
            <a:off x="9782175" y="3659535"/>
            <a:ext cx="732548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翻译成中文。
</a:t>
            </a:r>
            <a:pPr algn="l" indent="0" marL="0">
              <a:lnSpc>
                <a:spcPts val="3600"/>
              </a:lnSpc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Translate: I do not like wearing school uniform. (练习册 p.154 第 16 题 — and Unit Test Part 10.)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2000" y="9405938"/>
            <a:ext cx="24980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6 · 介绍一个人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3785354" y="9405938"/>
            <a:ext cx="381545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练习册 p.154 第 16 题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319078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 · 这六节课我们走过的路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038475"/>
            <a:ext cx="5308550" cy="2105025"/>
          </a:xfrm>
          <a:prstGeom prst="roundRect">
            <a:avLst>
              <a:gd name="adj" fmla="val 9050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81100" y="3324225"/>
            <a:ext cx="487065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181100" y="3838575"/>
            <a:ext cx="487065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穿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181100" y="4505325"/>
            <a:ext cx="487065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verb, and three garments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489650" y="3038475"/>
            <a:ext cx="5308550" cy="2105025"/>
          </a:xfrm>
          <a:prstGeom prst="roundRect">
            <a:avLst>
              <a:gd name="adj" fmla="val 9050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56350" y="3324225"/>
            <a:ext cx="487065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6756350" y="3838575"/>
            <a:ext cx="487065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颜色的衣服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756350" y="4505325"/>
            <a:ext cx="487065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colour + 的 + garment · 长 and 短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064901" y="3038475"/>
            <a:ext cx="5308550" cy="2105025"/>
          </a:xfrm>
          <a:prstGeom prst="roundRect">
            <a:avLst>
              <a:gd name="adj" fmla="val 9050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331601" y="3324225"/>
            <a:ext cx="487065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2331601" y="3838575"/>
            <a:ext cx="487065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你喜欢穿什么衣服？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331601" y="4505325"/>
            <a:ext cx="487065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question, and listing with 、和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14400" y="5410200"/>
            <a:ext cx="5308550" cy="2105025"/>
          </a:xfrm>
          <a:prstGeom prst="roundRect">
            <a:avLst>
              <a:gd name="adj" fmla="val 9050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81100" y="5695950"/>
            <a:ext cx="487065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181100" y="6210300"/>
            <a:ext cx="487065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校服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181100" y="6877050"/>
            <a:ext cx="487065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穿。 not 是。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6489650" y="5410200"/>
            <a:ext cx="5308550" cy="2105025"/>
          </a:xfrm>
          <a:prstGeom prst="roundRect">
            <a:avLst>
              <a:gd name="adj" fmla="val 9050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756350" y="5695950"/>
            <a:ext cx="487065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3300" dirty="0"/>
          </a:p>
        </p:txBody>
      </p:sp>
      <p:sp>
        <p:nvSpPr>
          <p:cNvPr id="25" name="Text 23"/>
          <p:cNvSpPr/>
          <p:nvPr/>
        </p:nvSpPr>
        <p:spPr>
          <a:xfrm>
            <a:off x="6756350" y="6210300"/>
            <a:ext cx="487065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他穿什么？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756350" y="6877050"/>
            <a:ext cx="487065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writing it down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2064901" y="5410200"/>
            <a:ext cx="5308550" cy="2105025"/>
          </a:xfrm>
          <a:prstGeom prst="roundRect">
            <a:avLst>
              <a:gd name="adj" fmla="val 9050"/>
            </a:avLst>
          </a:prstGeom>
          <a:solidFill>
            <a:srgbClr val="B03C2C">
              <a:alpha val="10000"/>
            </a:srgbClr>
          </a:solidFill>
          <a:ln w="19050">
            <a:solidFill>
              <a:srgbClr val="B03C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2331601" y="5695950"/>
            <a:ext cx="487065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</a:t>
            </a:r>
            <a:endParaRPr lang="en-US" sz="3300" dirty="0"/>
          </a:p>
        </p:txBody>
      </p:sp>
      <p:sp>
        <p:nvSpPr>
          <p:cNvPr id="29" name="Text 27"/>
          <p:cNvSpPr/>
          <p:nvPr/>
        </p:nvSpPr>
        <p:spPr>
          <a:xfrm>
            <a:off x="12331601" y="6210300"/>
            <a:ext cx="487065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介绍一个人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12331601" y="6877050"/>
            <a:ext cx="487065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whole person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2000" y="9405938"/>
            <a:ext cx="24980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6 · 介绍一个人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3547824" y="9405938"/>
            <a:ext cx="405773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p.112–113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17164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Preview · 下一课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854107" y="3560564"/>
            <a:ext cx="2579787" cy="666750"/>
          </a:xfrm>
          <a:prstGeom prst="roundRect">
            <a:avLst>
              <a:gd name="adj" fmla="val 1427143"/>
            </a:avLst>
          </a:prstGeom>
          <a:solidFill>
            <a:srgbClr val="2C4C7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22619" y="3617714"/>
            <a:ext cx="22427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下一课 · Next Lesson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4227314"/>
            <a:ext cx="16788384" cy="149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下一课 — 第十五课：人体部位。</a:t>
            </a:r>
            <a:endParaRPr lang="en-US" sz="4200" dirty="0"/>
          </a:p>
          <a:p>
            <a:pPr algn="ctr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还是这个「的」，只是后面换成了眼睛、鼻子和头发。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749808" y="5930205"/>
            <a:ext cx="16788384" cy="106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Next lesson — Lesson 15: Parts of the Body. The same 的 you've used all week, but what comes after it is eyes, noses and hair.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00" y="9405938"/>
            <a:ext cx="24980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6 · 介绍一个人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2992695" y="9405938"/>
            <a:ext cx="462397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第十五课 人体部位 · 课本 p.114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2026-09-14T03:48:16Z</dcterms:created>
  <dcterms:modified xsi:type="dcterms:W3CDTF">2026-09-14T03:48:16Z</dcterms:modified>
</cp:coreProperties>
</file>