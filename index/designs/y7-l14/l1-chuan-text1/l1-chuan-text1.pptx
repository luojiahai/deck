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430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91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11430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81000"/>
            <a:ext cx="1547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L14 穿着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430250" y="5181600"/>
            <a:ext cx="4274820" cy="419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0"/>
              </a:lnSpc>
              <a:buNone/>
            </a:pPr>
            <a:r>
              <a:rPr lang="en-US" sz="33000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穿</a:t>
            </a:r>
            <a:endParaRPr lang="en-US" sz="33000" dirty="0"/>
          </a:p>
        </p:txBody>
      </p:sp>
      <p:sp>
        <p:nvSpPr>
          <p:cNvPr id="7" name="Text 5"/>
          <p:cNvSpPr/>
          <p:nvPr/>
        </p:nvSpPr>
        <p:spPr>
          <a:xfrm>
            <a:off x="749808" y="2629346"/>
            <a:ext cx="1678838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1 OF 6 · Y7 UNIT 5 · 轻松学中文 1</a:t>
            </a:r>
            <a:endParaRPr lang="en-US" sz="1950" dirty="0"/>
          </a:p>
        </p:txBody>
      </p:sp>
      <p:pic>
        <p:nvPicPr>
          <p:cNvPr id="8" name="Image 0" descr="/var/folders/6c/210dcgxn4gz5sm71vld2cy1h0000gn/T/y7l14-pptx-5Uk7v3/art/art-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172271"/>
            <a:ext cx="1496764" cy="14287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5430589"/>
            <a:ext cx="16788384" cy="13125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335"/>
              </a:lnSpc>
              <a:spcBef>
                <a:spcPts val="6532"/>
              </a:spcBef>
              <a:spcAft>
                <a:spcPts val="900"/>
              </a:spcAft>
              <a:buNone/>
            </a:pPr>
            <a:r>
              <a:rPr lang="en-US" sz="975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穿</a:t>
            </a:r>
            <a:pPr algn="ctr" indent="0" marL="0">
              <a:lnSpc>
                <a:spcPts val="10335"/>
              </a:lnSpc>
              <a:spcBef>
                <a:spcPts val="6532"/>
              </a:spcBef>
              <a:spcAft>
                <a:spcPts val="900"/>
              </a:spcAft>
              <a:buNone/>
            </a:pPr>
            <a:r>
              <a:rPr lang="en-US" sz="975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·</a:t>
            </a:r>
            <a:pPr algn="ctr" indent="0" marL="0">
              <a:lnSpc>
                <a:spcPts val="10335"/>
              </a:lnSpc>
              <a:spcBef>
                <a:spcPts val="6532"/>
              </a:spcBef>
              <a:spcAft>
                <a:spcPts val="900"/>
              </a:spcAft>
              <a:buNone/>
            </a:pPr>
            <a:r>
              <a:rPr lang="en-US" sz="975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衬衫</a:t>
            </a:r>
            <a:endParaRPr lang="en-US" sz="9750" dirty="0"/>
          </a:p>
        </p:txBody>
      </p:sp>
      <p:sp>
        <p:nvSpPr>
          <p:cNvPr id="10" name="Text 7"/>
          <p:cNvSpPr/>
          <p:nvPr/>
        </p:nvSpPr>
        <p:spPr>
          <a:xfrm>
            <a:off x="749808" y="6857405"/>
            <a:ext cx="16788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Wear · Shirt · Jeans · Skirt</a:t>
            </a:r>
            <a:endParaRPr lang="en-US" sz="2550" dirty="0"/>
          </a:p>
        </p:txBody>
      </p:sp>
      <p:sp>
        <p:nvSpPr>
          <p:cNvPr id="11" name="Text 8"/>
          <p:cNvSpPr/>
          <p:nvPr/>
        </p:nvSpPr>
        <p:spPr>
          <a:xfrm>
            <a:off x="6166836" y="7638455"/>
            <a:ext cx="173118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Year 7 Chinese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8415842" y="7638455"/>
            <a:ext cx="82900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50 分钟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9773028" y="7638455"/>
            <a:ext cx="67492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Mixed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10973060" y="7638455"/>
            <a:ext cx="114233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课本 p.104</a:t>
            </a:r>
            <a:endParaRPr lang="en-US" sz="1650" dirty="0"/>
          </a:p>
        </p:txBody>
      </p:sp>
      <p:sp>
        <p:nvSpPr>
          <p:cNvPr id="15" name="Shape 12"/>
          <p:cNvSpPr/>
          <p:nvPr/>
        </p:nvSpPr>
        <p:spPr>
          <a:xfrm>
            <a:off x="0" y="92535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62000" y="9405938"/>
            <a:ext cx="35068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1 of 6 · 穿 + Text 1 Garments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13946535" y="9405938"/>
            <a:ext cx="365105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p.104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430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91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11430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81000"/>
            <a:ext cx="1547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L14 穿着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2132" y="371475"/>
            <a:ext cx="300846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Review · 复习颜色 · 0–8 min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49808" y="2657475"/>
            <a:ext cx="167883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上节课的颜色 — 看到就说，不要看拼音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14400" y="3190875"/>
            <a:ext cx="2552700" cy="1571625"/>
          </a:xfrm>
          <a:prstGeom prst="roundRect">
            <a:avLst>
              <a:gd name="adj" fmla="val 12121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695450" y="3867150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黑色</a:t>
            </a:r>
            <a:endParaRPr lang="en-US" sz="3900" dirty="0"/>
          </a:p>
        </p:txBody>
      </p:sp>
      <p:sp>
        <p:nvSpPr>
          <p:cNvPr id="10" name="Text 8"/>
          <p:cNvSpPr/>
          <p:nvPr/>
        </p:nvSpPr>
        <p:spPr>
          <a:xfrm>
            <a:off x="3695700" y="3190875"/>
            <a:ext cx="2552700" cy="1571625"/>
          </a:xfrm>
          <a:prstGeom prst="roundRect">
            <a:avLst>
              <a:gd name="adj" fmla="val 12121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476750" y="3886200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白色</a:t>
            </a:r>
            <a:endParaRPr lang="en-US" sz="3900" dirty="0"/>
          </a:p>
        </p:txBody>
      </p:sp>
      <p:sp>
        <p:nvSpPr>
          <p:cNvPr id="12" name="Text 10"/>
          <p:cNvSpPr/>
          <p:nvPr/>
        </p:nvSpPr>
        <p:spPr>
          <a:xfrm>
            <a:off x="6477000" y="3190875"/>
            <a:ext cx="2552700" cy="1571625"/>
          </a:xfrm>
          <a:prstGeom prst="roundRect">
            <a:avLst>
              <a:gd name="adj" fmla="val 12121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258050" y="3867150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黄色</a:t>
            </a:r>
            <a:endParaRPr lang="en-US" sz="3900" dirty="0"/>
          </a:p>
        </p:txBody>
      </p:sp>
      <p:sp>
        <p:nvSpPr>
          <p:cNvPr id="14" name="Text 12"/>
          <p:cNvSpPr/>
          <p:nvPr/>
        </p:nvSpPr>
        <p:spPr>
          <a:xfrm>
            <a:off x="9258300" y="3190875"/>
            <a:ext cx="2552700" cy="1571625"/>
          </a:xfrm>
          <a:prstGeom prst="roundRect">
            <a:avLst>
              <a:gd name="adj" fmla="val 12121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0039350" y="3867150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蓝色</a:t>
            </a:r>
            <a:endParaRPr lang="en-US" sz="3900" dirty="0"/>
          </a:p>
        </p:txBody>
      </p:sp>
      <p:sp>
        <p:nvSpPr>
          <p:cNvPr id="16" name="Text 14"/>
          <p:cNvSpPr/>
          <p:nvPr/>
        </p:nvSpPr>
        <p:spPr>
          <a:xfrm>
            <a:off x="12039600" y="3190875"/>
            <a:ext cx="2552700" cy="1571625"/>
          </a:xfrm>
          <a:prstGeom prst="roundRect">
            <a:avLst>
              <a:gd name="adj" fmla="val 12121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2820650" y="3867150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红色</a:t>
            </a:r>
            <a:endParaRPr lang="en-US" sz="3900" dirty="0"/>
          </a:p>
        </p:txBody>
      </p:sp>
      <p:sp>
        <p:nvSpPr>
          <p:cNvPr id="18" name="Text 16"/>
          <p:cNvSpPr/>
          <p:nvPr/>
        </p:nvSpPr>
        <p:spPr>
          <a:xfrm>
            <a:off x="14820900" y="3190875"/>
            <a:ext cx="2552700" cy="1571625"/>
          </a:xfrm>
          <a:prstGeom prst="roundRect">
            <a:avLst>
              <a:gd name="adj" fmla="val 12121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5554325" y="3867150"/>
            <a:ext cx="1107567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粉红色</a:t>
            </a:r>
            <a:endParaRPr lang="en-US" sz="2850" dirty="0"/>
          </a:p>
        </p:txBody>
      </p:sp>
      <p:sp>
        <p:nvSpPr>
          <p:cNvPr id="20" name="Text 18"/>
          <p:cNvSpPr/>
          <p:nvPr/>
        </p:nvSpPr>
        <p:spPr>
          <a:xfrm>
            <a:off x="914400" y="4991100"/>
            <a:ext cx="2552700" cy="1552575"/>
          </a:xfrm>
          <a:prstGeom prst="roundRect">
            <a:avLst>
              <a:gd name="adj" fmla="val 12270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695450" y="5667375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橙色</a:t>
            </a:r>
            <a:endParaRPr lang="en-US" sz="3900" dirty="0"/>
          </a:p>
        </p:txBody>
      </p:sp>
      <p:sp>
        <p:nvSpPr>
          <p:cNvPr id="22" name="Text 20"/>
          <p:cNvSpPr/>
          <p:nvPr/>
        </p:nvSpPr>
        <p:spPr>
          <a:xfrm>
            <a:off x="3695700" y="4991100"/>
            <a:ext cx="2552700" cy="1552575"/>
          </a:xfrm>
          <a:prstGeom prst="roundRect">
            <a:avLst>
              <a:gd name="adj" fmla="val 12270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476750" y="5667375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紫色</a:t>
            </a:r>
            <a:endParaRPr lang="en-US" sz="3900" dirty="0"/>
          </a:p>
        </p:txBody>
      </p:sp>
      <p:sp>
        <p:nvSpPr>
          <p:cNvPr id="24" name="Text 22"/>
          <p:cNvSpPr/>
          <p:nvPr/>
        </p:nvSpPr>
        <p:spPr>
          <a:xfrm>
            <a:off x="6477000" y="4991100"/>
            <a:ext cx="2552700" cy="1552575"/>
          </a:xfrm>
          <a:prstGeom prst="roundRect">
            <a:avLst>
              <a:gd name="adj" fmla="val 12270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258050" y="5667375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棕色</a:t>
            </a:r>
            <a:endParaRPr lang="en-US" sz="3900" dirty="0"/>
          </a:p>
        </p:txBody>
      </p:sp>
      <p:sp>
        <p:nvSpPr>
          <p:cNvPr id="26" name="Text 24"/>
          <p:cNvSpPr/>
          <p:nvPr/>
        </p:nvSpPr>
        <p:spPr>
          <a:xfrm>
            <a:off x="9258300" y="4991100"/>
            <a:ext cx="2552700" cy="1552575"/>
          </a:xfrm>
          <a:prstGeom prst="roundRect">
            <a:avLst>
              <a:gd name="adj" fmla="val 12270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0039350" y="5667375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绿色</a:t>
            </a:r>
            <a:endParaRPr lang="en-US" sz="3900" dirty="0"/>
          </a:p>
        </p:txBody>
      </p:sp>
      <p:sp>
        <p:nvSpPr>
          <p:cNvPr id="28" name="Text 26"/>
          <p:cNvSpPr/>
          <p:nvPr/>
        </p:nvSpPr>
        <p:spPr>
          <a:xfrm>
            <a:off x="12039600" y="4991100"/>
            <a:ext cx="2552700" cy="1552575"/>
          </a:xfrm>
          <a:prstGeom prst="roundRect">
            <a:avLst>
              <a:gd name="adj" fmla="val 12270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2820650" y="5667375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灰色</a:t>
            </a:r>
            <a:endParaRPr lang="en-US" sz="3900" dirty="0"/>
          </a:p>
        </p:txBody>
      </p:sp>
      <p:sp>
        <p:nvSpPr>
          <p:cNvPr id="30" name="Text 28"/>
          <p:cNvSpPr/>
          <p:nvPr/>
        </p:nvSpPr>
        <p:spPr>
          <a:xfrm>
            <a:off x="4369891" y="7134225"/>
            <a:ext cx="312110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颜色 </a:t>
            </a:r>
            <a:pPr algn="l" indent="0" marL="0">
              <a:buNone/>
            </a:pPr>
            <a:r>
              <a:rPr lang="en-US" sz="24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+</a:t>
            </a:r>
            <a:pPr algn="l" indent="0" marL="0">
              <a:buNone/>
            </a:pPr>
            <a:r>
              <a:rPr lang="en-US" sz="33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的 </a:t>
            </a:r>
            <a:pPr algn="l" indent="0" marL="0">
              <a:buNone/>
            </a:pPr>
            <a:r>
              <a:rPr lang="en-US" sz="24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+</a:t>
            </a:r>
            <a:pPr algn="l" indent="0" marL="0">
              <a:buNone/>
            </a:pPr>
            <a:r>
              <a:rPr lang="en-US" sz="33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</a:t>
            </a:r>
            <a:pPr algn="l" indent="0" marL="0">
              <a:buNone/>
            </a:pPr>
            <a:r>
              <a:rPr lang="en-US" sz="33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名词</a:t>
            </a:r>
            <a:endParaRPr lang="en-US" sz="3300" dirty="0"/>
          </a:p>
        </p:txBody>
      </p:sp>
      <p:sp>
        <p:nvSpPr>
          <p:cNvPr id="31" name="Text 29"/>
          <p:cNvSpPr/>
          <p:nvPr/>
        </p:nvSpPr>
        <p:spPr>
          <a:xfrm>
            <a:off x="8039398" y="7163693"/>
            <a:ext cx="6346043" cy="53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5"/>
              </a:lnSpc>
              <a:buNone/>
            </a:pPr>
            <a:r>
              <a:rPr lang="en-US" sz="27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黑色的火车　红色的出租车　黄色的校车</a:t>
            </a:r>
            <a:endParaRPr lang="en-US" sz="2700" dirty="0"/>
          </a:p>
        </p:txBody>
      </p:sp>
      <p:sp>
        <p:nvSpPr>
          <p:cNvPr id="32" name="Shape 30"/>
          <p:cNvSpPr/>
          <p:nvPr/>
        </p:nvSpPr>
        <p:spPr>
          <a:xfrm>
            <a:off x="0" y="92535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2000" y="9405938"/>
            <a:ext cx="35068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1 of 6 · 穿 + Text 1 Garments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12943136" y="9405938"/>
            <a:ext cx="467452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第十三课 颜色 · 课本 p.96–103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430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91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11430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81000"/>
            <a:ext cx="1547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L14 穿着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2132" y="371475"/>
            <a:ext cx="459406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目标 · Learning Intention &amp; Success Criteria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2411909"/>
            <a:ext cx="3627983" cy="552450"/>
          </a:xfrm>
          <a:prstGeom prst="roundRect">
            <a:avLst>
              <a:gd name="adj" fmla="val 1722414"/>
            </a:avLst>
          </a:prstGeom>
          <a:solidFill>
            <a:srgbClr val="2C4C7C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04900" y="2469059"/>
            <a:ext cx="331192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今天我们学 · Learning Intention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2964359"/>
            <a:ext cx="16788384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我们学怎么说别人喜欢穿什么衣服。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914400" y="3890070"/>
            <a:ext cx="2825204" cy="552450"/>
          </a:xfrm>
          <a:prstGeom prst="roundRect">
            <a:avLst>
              <a:gd name="adj" fmla="val 1722414"/>
            </a:avLst>
          </a:prstGeom>
          <a:solidFill>
            <a:srgbClr val="2E7D6E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04900" y="3947220"/>
            <a:ext cx="24930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 · Success Criteria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4480620"/>
            <a:ext cx="16459200" cy="979140"/>
          </a:xfrm>
          <a:prstGeom prst="roundRect">
            <a:avLst>
              <a:gd name="adj" fmla="val 11674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190625" y="4718745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1876425" y="4718745"/>
            <a:ext cx="10025333" cy="441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我会说三件衣服的名字</a:t>
            </a:r>
            <a:pPr algn="l" indent="0" marL="0">
              <a:lnSpc>
                <a:spcPts val="3480"/>
              </a:lnSpc>
              <a:buNone/>
            </a:pPr>
            <a:r>
              <a:rPr lang="en-US" sz="19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name three items of clothing — 衬衫、牛仔裤、裙子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14400" y="5631210"/>
            <a:ext cx="16459200" cy="979140"/>
          </a:xfrm>
          <a:prstGeom prst="roundRect">
            <a:avLst>
              <a:gd name="adj" fmla="val 11674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190625" y="5869335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1876425" y="5869335"/>
            <a:ext cx="10305868" cy="441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我会用「穿」说谁穿什么</a:t>
            </a:r>
            <a:pPr algn="l" indent="0" marL="0">
              <a:lnSpc>
                <a:spcPts val="3480"/>
              </a:lnSpc>
              <a:buNone/>
            </a:pPr>
            <a:r>
              <a:rPr lang="en-US" sz="19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use 穿 to say what someone wears — 他喜欢穿……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14400" y="6781800"/>
            <a:ext cx="16459200" cy="1359991"/>
          </a:xfrm>
          <a:prstGeom prst="roundRect">
            <a:avLst>
              <a:gd name="adj" fmla="val 8404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190625" y="7019925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3300" dirty="0"/>
          </a:p>
        </p:txBody>
      </p:sp>
      <p:sp>
        <p:nvSpPr>
          <p:cNvPr id="20" name="Text 18"/>
          <p:cNvSpPr/>
          <p:nvPr/>
        </p:nvSpPr>
        <p:spPr>
          <a:xfrm>
            <a:off x="1876425" y="7019925"/>
            <a:ext cx="15525369" cy="883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我会写「穿」，也知道为什么衣服的字有「衤」</a:t>
            </a:r>
            <a:pPr algn="l" indent="0" marL="0">
              <a:lnSpc>
                <a:spcPts val="3480"/>
              </a:lnSpc>
              <a:buNone/>
            </a:pPr>
            <a:r>
              <a:rPr lang="en-US" sz="19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write 穿 with the right stroke order, and I know why clothing characters take 衤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0" y="92535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2000" y="9405938"/>
            <a:ext cx="35068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1 of 6 · 穿 + Text 1 Garments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3946535" y="9405938"/>
            <a:ext cx="365105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p.104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430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91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11430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81000"/>
            <a:ext cx="1547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L14 穿着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2132" y="371475"/>
            <a:ext cx="201475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生词 · 第一组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1974503"/>
            <a:ext cx="7962900" cy="6604546"/>
          </a:xfrm>
          <a:prstGeom prst="roundRect">
            <a:avLst>
              <a:gd name="adj" fmla="val 4038"/>
            </a:avLst>
          </a:prstGeom>
          <a:solidFill>
            <a:srgbClr val="F2EFE7"/>
          </a:solidFill>
          <a:ln w="19050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" name="Image 0" descr="/var/folders/6c/210dcgxn4gz5sm71vld2cy1h0000gn/T/y7l14-pptx-5Uk7v3/art/art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48521" y="2374553"/>
            <a:ext cx="2494508" cy="23812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286250" y="4927253"/>
            <a:ext cx="1243584" cy="1280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80"/>
              </a:lnSpc>
              <a:buNone/>
            </a:pPr>
            <a:r>
              <a:rPr lang="en-US" sz="9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穿</a:t>
            </a:r>
            <a:endParaRPr lang="en-US" sz="9600" dirty="0"/>
          </a:p>
        </p:txBody>
      </p:sp>
      <p:sp>
        <p:nvSpPr>
          <p:cNvPr id="10" name="Text 7"/>
          <p:cNvSpPr/>
          <p:nvPr/>
        </p:nvSpPr>
        <p:spPr>
          <a:xfrm>
            <a:off x="4247406" y="6378773"/>
            <a:ext cx="1322826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chuān</a:t>
            </a:r>
            <a:endParaRPr lang="en-US" sz="3450" dirty="0"/>
          </a:p>
        </p:txBody>
      </p:sp>
      <p:sp>
        <p:nvSpPr>
          <p:cNvPr id="11" name="Text 8"/>
          <p:cNvSpPr/>
          <p:nvPr/>
        </p:nvSpPr>
        <p:spPr>
          <a:xfrm>
            <a:off x="4528096" y="7169348"/>
            <a:ext cx="7502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wear</a:t>
            </a:r>
            <a:endParaRPr lang="en-US" sz="2550" dirty="0"/>
          </a:p>
        </p:txBody>
      </p:sp>
      <p:sp>
        <p:nvSpPr>
          <p:cNvPr id="12" name="Text 9"/>
          <p:cNvSpPr/>
          <p:nvPr/>
        </p:nvSpPr>
        <p:spPr>
          <a:xfrm>
            <a:off x="9410700" y="1974503"/>
            <a:ext cx="7962900" cy="6604546"/>
          </a:xfrm>
          <a:prstGeom prst="roundRect">
            <a:avLst>
              <a:gd name="adj" fmla="val 4038"/>
            </a:avLst>
          </a:prstGeom>
          <a:solidFill>
            <a:srgbClr val="F2EFE7"/>
          </a:solidFill>
          <a:ln w="19050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" name="Image 1" descr="/var/folders/6c/210dcgxn4gz5sm71vld2cy1h0000gn/T/y7l14-pptx-5Uk7v3/art/art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4821" y="2374553"/>
            <a:ext cx="2494508" cy="238125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172950" y="4927253"/>
            <a:ext cx="2487168" cy="1280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80"/>
              </a:lnSpc>
              <a:buNone/>
            </a:pPr>
            <a:r>
              <a:rPr lang="en-US" sz="9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衬衫</a:t>
            </a:r>
            <a:endParaRPr lang="en-US" sz="9600" dirty="0"/>
          </a:p>
        </p:txBody>
      </p:sp>
      <p:sp>
        <p:nvSpPr>
          <p:cNvPr id="15" name="Text 11"/>
          <p:cNvSpPr/>
          <p:nvPr/>
        </p:nvSpPr>
        <p:spPr>
          <a:xfrm>
            <a:off x="12367468" y="6378773"/>
            <a:ext cx="2090351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chènshān</a:t>
            </a:r>
            <a:endParaRPr lang="en-US" sz="3450" dirty="0"/>
          </a:p>
        </p:txBody>
      </p:sp>
      <p:sp>
        <p:nvSpPr>
          <p:cNvPr id="16" name="Text 12"/>
          <p:cNvSpPr/>
          <p:nvPr/>
        </p:nvSpPr>
        <p:spPr>
          <a:xfrm>
            <a:off x="13054608" y="7169348"/>
            <a:ext cx="6885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shirt</a:t>
            </a:r>
            <a:endParaRPr lang="en-US" sz="2550" dirty="0"/>
          </a:p>
        </p:txBody>
      </p:sp>
      <p:sp>
        <p:nvSpPr>
          <p:cNvPr id="17" name="Shape 13"/>
          <p:cNvSpPr/>
          <p:nvPr/>
        </p:nvSpPr>
        <p:spPr>
          <a:xfrm>
            <a:off x="10466040" y="7802761"/>
            <a:ext cx="5852071" cy="0"/>
          </a:xfrm>
          <a:prstGeom prst="line">
            <a:avLst/>
          </a:prstGeom>
          <a:noFill/>
          <a:ln w="9525">
            <a:solidFill>
              <a:srgbClr val="CFC4A9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10407520" y="7864673"/>
            <a:ext cx="596911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两个字都有 </a:t>
            </a:r>
            <a:pPr algn="ctr" indent="0" marL="0">
              <a:buNone/>
            </a:pPr>
            <a:r>
              <a:rPr lang="en-US" sz="195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衤</a:t>
            </a:r>
            <a:pPr algn="ctr" indent="0" marL="0">
              <a:buNone/>
            </a:pPr>
            <a:r>
              <a:rPr lang="en-US" sz="19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 clothing</a:t>
            </a:r>
            <a:endParaRPr lang="en-US" sz="1950" dirty="0"/>
          </a:p>
        </p:txBody>
      </p:sp>
      <p:sp>
        <p:nvSpPr>
          <p:cNvPr id="19" name="Shape 15"/>
          <p:cNvSpPr/>
          <p:nvPr/>
        </p:nvSpPr>
        <p:spPr>
          <a:xfrm>
            <a:off x="0" y="92535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62000" y="9405938"/>
            <a:ext cx="35068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1 of 6 · 穿 + Text 1 Garments</a:t>
            </a:r>
            <a:endParaRPr lang="en-US" sz="1350" dirty="0"/>
          </a:p>
        </p:txBody>
      </p:sp>
      <p:sp>
        <p:nvSpPr>
          <p:cNvPr id="21" name="Text 17"/>
          <p:cNvSpPr/>
          <p:nvPr/>
        </p:nvSpPr>
        <p:spPr>
          <a:xfrm>
            <a:off x="13946535" y="9405938"/>
            <a:ext cx="365105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p.104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430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91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11430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81000"/>
            <a:ext cx="1547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L14 穿着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2132" y="371475"/>
            <a:ext cx="227236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例句 · 穿 · 衬衫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1915567"/>
            <a:ext cx="1678838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zhè shì chènshān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914400" y="2372767"/>
            <a:ext cx="16788384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pPr algn="l" indent="0" marL="0">
              <a:lnSpc>
                <a:spcPts val="5070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这是</a:t>
            </a:r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衬衫</a:t>
            </a:r>
            <a:pPr algn="l" indent="0" marL="0">
              <a:lnSpc>
                <a:spcPts val="5070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914400" y="3073747"/>
            <a:ext cx="167883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This is a shirt.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14400" y="3778597"/>
            <a:ext cx="1678838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bàba chuān báisè de chènshān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914400" y="4235797"/>
            <a:ext cx="16788384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pPr algn="l" indent="0" marL="0">
              <a:lnSpc>
                <a:spcPts val="5070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我爸爸</a:t>
            </a:r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穿</a:t>
            </a:r>
            <a:pPr algn="l" indent="0" marL="0">
              <a:lnSpc>
                <a:spcPts val="5070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白色的</a:t>
            </a:r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衬衫</a:t>
            </a:r>
            <a:pPr algn="l" indent="0" marL="0">
              <a:lnSpc>
                <a:spcPts val="5070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3900" dirty="0"/>
          </a:p>
        </p:txBody>
      </p:sp>
      <p:sp>
        <p:nvSpPr>
          <p:cNvPr id="12" name="Text 10"/>
          <p:cNvSpPr/>
          <p:nvPr/>
        </p:nvSpPr>
        <p:spPr>
          <a:xfrm>
            <a:off x="914400" y="4936778"/>
            <a:ext cx="167883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My dad wears a white shirt.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14400" y="5641628"/>
            <a:ext cx="1678838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xǐhuan chuān lánsè de chènshān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914400" y="6098828"/>
            <a:ext cx="16788384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pPr algn="l" indent="0" marL="0">
              <a:lnSpc>
                <a:spcPts val="5070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我喜欢</a:t>
            </a:r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穿</a:t>
            </a:r>
            <a:pPr algn="l" indent="0" marL="0">
              <a:lnSpc>
                <a:spcPts val="5070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蓝色的</a:t>
            </a:r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衬衫</a:t>
            </a:r>
            <a:pPr algn="l" indent="0" marL="0">
              <a:lnSpc>
                <a:spcPts val="5070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3900" dirty="0"/>
          </a:p>
        </p:txBody>
      </p:sp>
      <p:sp>
        <p:nvSpPr>
          <p:cNvPr id="15" name="Text 13"/>
          <p:cNvSpPr/>
          <p:nvPr/>
        </p:nvSpPr>
        <p:spPr>
          <a:xfrm>
            <a:off x="914400" y="6799808"/>
            <a:ext cx="167883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like wearing a blue shirt.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14400" y="7504658"/>
            <a:ext cx="16459200" cy="1133475"/>
          </a:xfrm>
          <a:prstGeom prst="roundRect">
            <a:avLst>
              <a:gd name="adj" fmla="val 10084"/>
            </a:avLst>
          </a:prstGeom>
          <a:solidFill>
            <a:srgbClr val="2E7D6E">
              <a:alpha val="10000"/>
            </a:srgbClr>
          </a:solidFill>
          <a:ln w="19050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238250" y="7714208"/>
            <a:ext cx="349758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问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1771650" y="7714208"/>
            <a:ext cx="452575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你爸爸喜欢穿什么颜色的衬衫？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771650" y="8114258"/>
            <a:ext cx="452575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Answer in Chinese — colour + 的 + 衬衫.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0" y="92535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2000" y="9405938"/>
            <a:ext cx="35068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1 of 6 · 穿 + Text 1 Garments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3946535" y="9405938"/>
            <a:ext cx="365105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p.104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430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91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11430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81000"/>
            <a:ext cx="1547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L14 穿着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2132" y="371475"/>
            <a:ext cx="248883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写一句 · 穿 · 衬衫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3488085"/>
            <a:ext cx="16459200" cy="1241971"/>
          </a:xfrm>
          <a:prstGeom prst="rect">
            <a:avLst/>
          </a:prstGeom>
          <a:solidFill>
            <a:srgbClr val="E7E2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942975" y="3488085"/>
            <a:ext cx="0" cy="1241971"/>
          </a:xfrm>
          <a:prstGeom prst="line">
            <a:avLst/>
          </a:prstGeom>
          <a:noFill/>
          <a:ln w="57150">
            <a:solidFill>
              <a:srgbClr val="2C4C7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76350" y="3716685"/>
            <a:ext cx="16108299" cy="784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880"/>
              </a:lnSpc>
              <a:buNone/>
            </a:pPr>
            <a:r>
              <a:rPr lang="en-US" sz="42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我喜欢穿</a:t>
            </a:r>
            <a:pPr algn="l" indent="0" marL="0">
              <a:lnSpc>
                <a:spcPts val="5880"/>
              </a:lnSpc>
              <a:buNone/>
            </a:pPr>
            <a:r>
              <a:rPr lang="en-US" sz="42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色的衬衫。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1104900" y="5167164"/>
            <a:ext cx="5644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60 秒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039243" y="5034855"/>
            <a:ext cx="5640910" cy="53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5"/>
              </a:lnSpc>
              <a:buNone/>
            </a:pPr>
            <a:r>
              <a:rPr lang="en-US" sz="27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在小白板上写一句。写完了举起来。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914400" y="5813971"/>
            <a:ext cx="16459200" cy="1251496"/>
          </a:xfrm>
          <a:prstGeom prst="roundRect">
            <a:avLst>
              <a:gd name="adj" fmla="val 9133"/>
            </a:avLst>
          </a:prstGeom>
          <a:solidFill>
            <a:srgbClr val="B0822C">
              <a:alpha val="12000"/>
            </a:srgbClr>
          </a:solidFill>
          <a:ln w="19050">
            <a:solidFill>
              <a:srgbClr val="B082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238250" y="6099721"/>
            <a:ext cx="47590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082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更难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895326" y="6042571"/>
            <a:ext cx="8921713" cy="794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45"/>
              </a:lnSpc>
              <a:buNone/>
            </a:pPr>
            <a:r>
              <a:rPr lang="en-US" sz="21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用两个人写一句 — </a:t>
            </a:r>
            <a:pPr algn="l" indent="0" marL="0">
              <a:lnSpc>
                <a:spcPts val="3045"/>
              </a:lnSpc>
              <a:buNone/>
            </a:pPr>
            <a:r>
              <a:rPr lang="en-US" sz="21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我爸爸喜欢穿白色的衬衫，我妈妈喜欢穿红色的衬衫。</a:t>
            </a:r>
            <a:pPr algn="l" indent="0" marL="0">
              <a:lnSpc>
                <a:spcPts val="3045"/>
              </a:lnSpc>
              <a:buNone/>
            </a:pPr>
            <a:r>
              <a:rPr lang="en-US" sz="18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Then add 也 or 不: 我也喜欢穿白色的衬衫。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0" y="92535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2000" y="9405938"/>
            <a:ext cx="35068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1 of 6 · 穿 + Text 1 Garments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3946535" y="9405938"/>
            <a:ext cx="365105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p.104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430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91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11430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81000"/>
            <a:ext cx="1547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L14 穿着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2132" y="371475"/>
            <a:ext cx="201475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生词 · 第二组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2114550"/>
            <a:ext cx="7962900" cy="6324600"/>
          </a:xfrm>
          <a:prstGeom prst="roundRect">
            <a:avLst>
              <a:gd name="adj" fmla="val 4217"/>
            </a:avLst>
          </a:prstGeom>
          <a:solidFill>
            <a:srgbClr val="F2EFE7"/>
          </a:solidFill>
          <a:ln w="19050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" name="Image 0" descr="/var/folders/6c/210dcgxn4gz5sm71vld2cy1h0000gn/T/y7l14-pptx-5Uk7v3/art/art-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48521" y="2514600"/>
            <a:ext cx="2494508" cy="23812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467100" y="5067300"/>
            <a:ext cx="2914650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75"/>
              </a:lnSpc>
              <a:buNone/>
            </a:pPr>
            <a:r>
              <a:rPr lang="en-US" sz="75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牛仔裤</a:t>
            </a:r>
            <a:endParaRPr lang="en-US" sz="7500" dirty="0"/>
          </a:p>
        </p:txBody>
      </p:sp>
      <p:sp>
        <p:nvSpPr>
          <p:cNvPr id="10" name="Text 7"/>
          <p:cNvSpPr/>
          <p:nvPr/>
        </p:nvSpPr>
        <p:spPr>
          <a:xfrm>
            <a:off x="3990826" y="6238875"/>
            <a:ext cx="1846097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niúzǎikù</a:t>
            </a:r>
            <a:endParaRPr lang="en-US" sz="3450" dirty="0"/>
          </a:p>
        </p:txBody>
      </p:sp>
      <p:sp>
        <p:nvSpPr>
          <p:cNvPr id="11" name="Text 8"/>
          <p:cNvSpPr/>
          <p:nvPr/>
        </p:nvSpPr>
        <p:spPr>
          <a:xfrm>
            <a:off x="4492526" y="7029450"/>
            <a:ext cx="82278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jeans</a:t>
            </a:r>
            <a:endParaRPr lang="en-US" sz="2550" dirty="0"/>
          </a:p>
        </p:txBody>
      </p:sp>
      <p:sp>
        <p:nvSpPr>
          <p:cNvPr id="12" name="Shape 9"/>
          <p:cNvSpPr/>
          <p:nvPr/>
        </p:nvSpPr>
        <p:spPr>
          <a:xfrm>
            <a:off x="1969740" y="7662863"/>
            <a:ext cx="5852071" cy="0"/>
          </a:xfrm>
          <a:prstGeom prst="line">
            <a:avLst/>
          </a:prstGeom>
          <a:noFill/>
          <a:ln w="9525">
            <a:solidFill>
              <a:srgbClr val="CFC4A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911220" y="7724775"/>
            <a:ext cx="596911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牛</a:t>
            </a:r>
            <a:pPr algn="ctr" indent="0" marL="0">
              <a:buNone/>
            </a:pPr>
            <a:r>
              <a:rPr lang="en-US" sz="19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niú — 不是「午」</a:t>
            </a:r>
            <a:endParaRPr lang="en-US" sz="1950" dirty="0"/>
          </a:p>
        </p:txBody>
      </p:sp>
      <p:sp>
        <p:nvSpPr>
          <p:cNvPr id="14" name="Text 11"/>
          <p:cNvSpPr/>
          <p:nvPr/>
        </p:nvSpPr>
        <p:spPr>
          <a:xfrm>
            <a:off x="9410700" y="2114550"/>
            <a:ext cx="7962900" cy="6324600"/>
          </a:xfrm>
          <a:prstGeom prst="roundRect">
            <a:avLst>
              <a:gd name="adj" fmla="val 4217"/>
            </a:avLst>
          </a:prstGeom>
          <a:solidFill>
            <a:srgbClr val="F2EFE7"/>
          </a:solidFill>
          <a:ln w="19050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1" descr="/var/folders/6c/210dcgxn4gz5sm71vld2cy1h0000gn/T/y7l14-pptx-5Uk7v3/art/art-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4821" y="2514600"/>
            <a:ext cx="2494508" cy="238125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2172950" y="5067300"/>
            <a:ext cx="2487168" cy="1280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80"/>
              </a:lnSpc>
              <a:buNone/>
            </a:pPr>
            <a:r>
              <a:rPr lang="en-US" sz="9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裙子</a:t>
            </a:r>
            <a:endParaRPr lang="en-US" sz="9600" dirty="0"/>
          </a:p>
        </p:txBody>
      </p:sp>
      <p:sp>
        <p:nvSpPr>
          <p:cNvPr id="17" name="Text 13"/>
          <p:cNvSpPr/>
          <p:nvPr/>
        </p:nvSpPr>
        <p:spPr>
          <a:xfrm>
            <a:off x="12805321" y="6518821"/>
            <a:ext cx="1197132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qúnzi</a:t>
            </a:r>
            <a:endParaRPr lang="en-US" sz="3450" dirty="0"/>
          </a:p>
        </p:txBody>
      </p:sp>
      <p:sp>
        <p:nvSpPr>
          <p:cNvPr id="18" name="Text 14"/>
          <p:cNvSpPr/>
          <p:nvPr/>
        </p:nvSpPr>
        <p:spPr>
          <a:xfrm>
            <a:off x="13058924" y="7309396"/>
            <a:ext cx="67978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skirt</a:t>
            </a:r>
            <a:endParaRPr lang="en-US" sz="2550" dirty="0"/>
          </a:p>
        </p:txBody>
      </p:sp>
      <p:sp>
        <p:nvSpPr>
          <p:cNvPr id="19" name="Shape 15"/>
          <p:cNvSpPr/>
          <p:nvPr/>
        </p:nvSpPr>
        <p:spPr>
          <a:xfrm>
            <a:off x="0" y="92535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62000" y="9405938"/>
            <a:ext cx="35068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1 of 6 · 穿 + Text 1 Garments</a:t>
            </a:r>
            <a:endParaRPr lang="en-US" sz="1350" dirty="0"/>
          </a:p>
        </p:txBody>
      </p:sp>
      <p:sp>
        <p:nvSpPr>
          <p:cNvPr id="21" name="Text 17"/>
          <p:cNvSpPr/>
          <p:nvPr/>
        </p:nvSpPr>
        <p:spPr>
          <a:xfrm>
            <a:off x="13946535" y="9405938"/>
            <a:ext cx="365105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p.104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430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91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11430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81000"/>
            <a:ext cx="1547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L14 穿着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2132" y="371475"/>
            <a:ext cx="270546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例句 · 牛仔裤 · 裙子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1915567"/>
            <a:ext cx="1678838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gēge xǐhuan chuān niúzǎikù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914400" y="2372767"/>
            <a:ext cx="16788384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pPr algn="l" indent="0" marL="0">
              <a:lnSpc>
                <a:spcPts val="5070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我哥哥喜欢穿</a:t>
            </a:r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牛仔裤</a:t>
            </a:r>
            <a:pPr algn="l" indent="0" marL="0">
              <a:lnSpc>
                <a:spcPts val="5070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914400" y="3073747"/>
            <a:ext cx="167883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My older brother likes wearing jeans.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14400" y="3778597"/>
            <a:ext cx="1678838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jiějie xǐhuan chuān qúnzi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914400" y="4235797"/>
            <a:ext cx="16788384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pPr algn="l" indent="0" marL="0">
              <a:lnSpc>
                <a:spcPts val="5070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我姐姐喜欢穿</a:t>
            </a:r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裙子</a:t>
            </a:r>
            <a:pPr algn="l" indent="0" marL="0">
              <a:lnSpc>
                <a:spcPts val="5070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3900" dirty="0"/>
          </a:p>
        </p:txBody>
      </p:sp>
      <p:sp>
        <p:nvSpPr>
          <p:cNvPr id="12" name="Text 10"/>
          <p:cNvSpPr/>
          <p:nvPr/>
        </p:nvSpPr>
        <p:spPr>
          <a:xfrm>
            <a:off x="914400" y="4936778"/>
            <a:ext cx="167883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My older sister likes wearing skirts.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14400" y="5641628"/>
            <a:ext cx="1678838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māma xǐhuan chuān lánsè de niúzǎikù hé fěnhóngsè de qúnzi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914400" y="6098828"/>
            <a:ext cx="16788384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pPr algn="l" indent="0" marL="0">
              <a:lnSpc>
                <a:spcPts val="5070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我妈妈喜欢穿蓝色的</a:t>
            </a:r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牛仔裤</a:t>
            </a:r>
            <a:pPr algn="l" indent="0" marL="0">
              <a:lnSpc>
                <a:spcPts val="5070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和粉红色的</a:t>
            </a:r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裙子</a:t>
            </a:r>
            <a:pPr algn="l" indent="0" marL="0">
              <a:lnSpc>
                <a:spcPts val="5070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3900" dirty="0"/>
          </a:p>
        </p:txBody>
      </p:sp>
      <p:sp>
        <p:nvSpPr>
          <p:cNvPr id="15" name="Text 13"/>
          <p:cNvSpPr/>
          <p:nvPr/>
        </p:nvSpPr>
        <p:spPr>
          <a:xfrm>
            <a:off x="914400" y="6799808"/>
            <a:ext cx="167883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My mum likes wearing blue jeans and a pink skirt.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14400" y="7504658"/>
            <a:ext cx="16459200" cy="1133475"/>
          </a:xfrm>
          <a:prstGeom prst="roundRect">
            <a:avLst>
              <a:gd name="adj" fmla="val 10084"/>
            </a:avLst>
          </a:prstGeom>
          <a:solidFill>
            <a:srgbClr val="2E7D6E">
              <a:alpha val="10000"/>
            </a:srgbClr>
          </a:solidFill>
          <a:ln w="19050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238250" y="7714208"/>
            <a:ext cx="349758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问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1771650" y="7714208"/>
            <a:ext cx="467983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谁喜欢穿裙子？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771650" y="8114258"/>
            <a:ext cx="467983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Answer with a full sentence, not just 姐姐.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0" y="92535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2000" y="9405938"/>
            <a:ext cx="35068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1 of 6 · 穿 + Text 1 Garments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3946535" y="9405938"/>
            <a:ext cx="365105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p.104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430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91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11430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81000"/>
            <a:ext cx="1547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L14 穿着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2132" y="371475"/>
            <a:ext cx="292193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写一句 · 牛仔裤 · 裙子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3488085"/>
            <a:ext cx="16459200" cy="1241971"/>
          </a:xfrm>
          <a:prstGeom prst="rect">
            <a:avLst/>
          </a:prstGeom>
          <a:solidFill>
            <a:srgbClr val="E7E2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942975" y="3488085"/>
            <a:ext cx="0" cy="1241971"/>
          </a:xfrm>
          <a:prstGeom prst="line">
            <a:avLst/>
          </a:prstGeom>
          <a:noFill/>
          <a:ln w="57150">
            <a:solidFill>
              <a:srgbClr val="2C4C7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76350" y="3716685"/>
            <a:ext cx="16108299" cy="784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880"/>
              </a:lnSpc>
              <a:buNone/>
            </a:pPr>
            <a:r>
              <a:rPr lang="en-US" sz="42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</a:t>
            </a:r>
            <a:pPr algn="l" indent="0" marL="0">
              <a:lnSpc>
                <a:spcPts val="5880"/>
              </a:lnSpc>
              <a:buNone/>
            </a:pPr>
            <a:r>
              <a:rPr lang="en-US" sz="42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喜欢穿</a:t>
            </a:r>
            <a:pPr algn="l" indent="0" marL="0">
              <a:lnSpc>
                <a:spcPts val="5880"/>
              </a:lnSpc>
              <a:buNone/>
            </a:pPr>
            <a:r>
              <a:rPr lang="en-US" sz="42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1104900" y="5167164"/>
            <a:ext cx="5644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60 秒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039243" y="5034855"/>
            <a:ext cx="5385271" cy="53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5"/>
              </a:lnSpc>
              <a:buNone/>
            </a:pPr>
            <a:r>
              <a:rPr lang="en-US" sz="27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写一句。用一个家人 + 一件衣服。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914400" y="5813971"/>
            <a:ext cx="16459200" cy="1251496"/>
          </a:xfrm>
          <a:prstGeom prst="roundRect">
            <a:avLst>
              <a:gd name="adj" fmla="val 9133"/>
            </a:avLst>
          </a:prstGeom>
          <a:solidFill>
            <a:srgbClr val="B0822C">
              <a:alpha val="12000"/>
            </a:srgbClr>
          </a:solidFill>
          <a:ln w="19050">
            <a:solidFill>
              <a:srgbClr val="B082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238250" y="6099721"/>
            <a:ext cx="47590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082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更难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895326" y="6042571"/>
            <a:ext cx="10013341" cy="794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45"/>
              </a:lnSpc>
              <a:buNone/>
            </a:pPr>
            <a:r>
              <a:rPr lang="en-US" sz="21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写三个人，一句话 — </a:t>
            </a:r>
            <a:pPr algn="l" indent="0" marL="0">
              <a:lnSpc>
                <a:spcPts val="3045"/>
              </a:lnSpc>
              <a:buNone/>
            </a:pPr>
            <a:r>
              <a:rPr lang="en-US" sz="21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我爸爸喜欢穿牛仔裤，我妈妈喜欢穿裙子，我不喜欢穿裙子。</a:t>
            </a:r>
            <a:pPr algn="l" indent="0" marL="0">
              <a:lnSpc>
                <a:spcPts val="3045"/>
              </a:lnSpc>
              <a:buNone/>
            </a:pPr>
            <a:r>
              <a:rPr lang="en-US" sz="18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 word bank — turn away from the board.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0" y="92535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2000" y="9405938"/>
            <a:ext cx="35068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1 of 6 · 穿 + Text 1 Garments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3946535" y="9405938"/>
            <a:ext cx="365105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p.104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430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91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11430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81000"/>
            <a:ext cx="1547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L14 穿着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2132" y="371475"/>
            <a:ext cx="266432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今天的词 · 看图说词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49808" y="3986213"/>
            <a:ext cx="167883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只有汉字和图 — 没有拼音，没有英文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14400" y="4519613"/>
            <a:ext cx="3943350" cy="2047875"/>
          </a:xfrm>
          <a:prstGeom prst="roundRect">
            <a:avLst>
              <a:gd name="adj" fmla="val 9302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0" descr="/var/folders/6c/210dcgxn4gz5sm71vld2cy1h0000gn/T/y7l14-pptx-5Uk7v3/art/art-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7146" y="4700588"/>
            <a:ext cx="957709" cy="9144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638425" y="5691188"/>
            <a:ext cx="505206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穿</a:t>
            </a:r>
            <a:endParaRPr lang="en-US" sz="3900" dirty="0"/>
          </a:p>
        </p:txBody>
      </p:sp>
      <p:sp>
        <p:nvSpPr>
          <p:cNvPr id="11" name="Text 8"/>
          <p:cNvSpPr/>
          <p:nvPr/>
        </p:nvSpPr>
        <p:spPr>
          <a:xfrm>
            <a:off x="5086350" y="4519613"/>
            <a:ext cx="3943350" cy="2047875"/>
          </a:xfrm>
          <a:prstGeom prst="roundRect">
            <a:avLst>
              <a:gd name="adj" fmla="val 9302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2" name="Image 1" descr="/var/folders/6c/210dcgxn4gz5sm71vld2cy1h0000gn/T/y7l14-pptx-5Uk7v3/art/art-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9096" y="4700588"/>
            <a:ext cx="957709" cy="9144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562725" y="5691188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衬衫</a:t>
            </a:r>
            <a:endParaRPr lang="en-US" sz="3900" dirty="0"/>
          </a:p>
        </p:txBody>
      </p:sp>
      <p:sp>
        <p:nvSpPr>
          <p:cNvPr id="14" name="Text 10"/>
          <p:cNvSpPr/>
          <p:nvPr/>
        </p:nvSpPr>
        <p:spPr>
          <a:xfrm>
            <a:off x="9258300" y="4519613"/>
            <a:ext cx="3943350" cy="2047875"/>
          </a:xfrm>
          <a:prstGeom prst="roundRect">
            <a:avLst>
              <a:gd name="adj" fmla="val 9302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2" descr="/var/folders/6c/210dcgxn4gz5sm71vld2cy1h0000gn/T/y7l14-pptx-5Uk7v3/art/art-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1046" y="4700588"/>
            <a:ext cx="957709" cy="9144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687050" y="5691188"/>
            <a:ext cx="1107567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牛仔裤</a:t>
            </a:r>
            <a:endParaRPr lang="en-US" sz="2850" dirty="0"/>
          </a:p>
        </p:txBody>
      </p:sp>
      <p:sp>
        <p:nvSpPr>
          <p:cNvPr id="17" name="Text 12"/>
          <p:cNvSpPr/>
          <p:nvPr/>
        </p:nvSpPr>
        <p:spPr>
          <a:xfrm>
            <a:off x="13430250" y="4519613"/>
            <a:ext cx="3943350" cy="2047875"/>
          </a:xfrm>
          <a:prstGeom prst="roundRect">
            <a:avLst>
              <a:gd name="adj" fmla="val 9302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8" name="Image 3" descr="/var/folders/6c/210dcgxn4gz5sm71vld2cy1h0000gn/T/y7l14-pptx-5Uk7v3/art/art-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22996" y="4700588"/>
            <a:ext cx="957709" cy="9144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906625" y="5691188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裙子</a:t>
            </a:r>
            <a:endParaRPr lang="en-US" sz="3900" dirty="0"/>
          </a:p>
        </p:txBody>
      </p:sp>
      <p:sp>
        <p:nvSpPr>
          <p:cNvPr id="20" name="Shape 14"/>
          <p:cNvSpPr/>
          <p:nvPr/>
        </p:nvSpPr>
        <p:spPr>
          <a:xfrm>
            <a:off x="0" y="92535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762000" y="9405938"/>
            <a:ext cx="35068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1 of 6 · 穿 + Text 1 Garments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13946535" y="9405938"/>
            <a:ext cx="365105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p.104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430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91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11430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81000"/>
            <a:ext cx="1547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L14 穿着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2132" y="371475"/>
            <a:ext cx="396346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句型 · 这是我爸爸。他喜欢穿……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066800" y="977503"/>
            <a:ext cx="722878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这是我 </a:t>
            </a:r>
            <a:pPr algn="l" indent="0" marL="0">
              <a:buNone/>
            </a:pPr>
            <a:r>
              <a:rPr lang="en-US" sz="33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家人</a:t>
            </a:r>
            <a:pPr algn="l" indent="0" marL="0">
              <a:buNone/>
            </a:pPr>
            <a:r>
              <a:rPr lang="en-US" sz="33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。 他/她 喜欢 穿 </a:t>
            </a:r>
            <a:pPr algn="l" indent="0" marL="0">
              <a:buNone/>
            </a:pPr>
            <a:r>
              <a:rPr lang="en-US" sz="33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衣服</a:t>
            </a:r>
            <a:pPr algn="l" indent="0" marL="0">
              <a:buNone/>
            </a:pPr>
            <a:r>
              <a:rPr lang="en-US" sz="33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。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723900" y="1949053"/>
            <a:ext cx="1717700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zhè shì wǒ bàba， tā xǐhuan chuān chènshān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723900" y="2406253"/>
            <a:ext cx="17177004" cy="604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58"/>
              </a:lnSpc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这是我爸爸。他喜欢穿衬衫。</a:t>
            </a:r>
            <a:endParaRPr lang="en-US" sz="3900" dirty="0"/>
          </a:p>
        </p:txBody>
      </p:sp>
      <p:sp>
        <p:nvSpPr>
          <p:cNvPr id="10" name="Text 8"/>
          <p:cNvSpPr/>
          <p:nvPr/>
        </p:nvSpPr>
        <p:spPr>
          <a:xfrm>
            <a:off x="723900" y="3067645"/>
            <a:ext cx="1717700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This is my dad. He likes wearing a shirt.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23900" y="3658195"/>
            <a:ext cx="1717700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zhè shì wǒ māma， tā xǐhuan chuān qúnzi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723900" y="4115395"/>
            <a:ext cx="17177004" cy="604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58"/>
              </a:lnSpc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这是我妈妈。她喜欢穿裙子。</a:t>
            </a:r>
            <a:endParaRPr lang="en-US" sz="3900" dirty="0"/>
          </a:p>
        </p:txBody>
      </p:sp>
      <p:sp>
        <p:nvSpPr>
          <p:cNvPr id="13" name="Text 11"/>
          <p:cNvSpPr/>
          <p:nvPr/>
        </p:nvSpPr>
        <p:spPr>
          <a:xfrm>
            <a:off x="723900" y="4776788"/>
            <a:ext cx="1717700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This is my mum. She likes wearing a skirt.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23900" y="5367338"/>
            <a:ext cx="1717700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gēge xǐhuan chuān hēisè de niúzǎikù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723900" y="5824538"/>
            <a:ext cx="17177004" cy="604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58"/>
              </a:lnSpc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我哥哥喜欢穿黑色的牛仔裤。</a:t>
            </a:r>
            <a:endParaRPr lang="en-US" sz="3900" dirty="0"/>
          </a:p>
        </p:txBody>
      </p:sp>
      <p:sp>
        <p:nvSpPr>
          <p:cNvPr id="16" name="Text 14"/>
          <p:cNvSpPr/>
          <p:nvPr/>
        </p:nvSpPr>
        <p:spPr>
          <a:xfrm>
            <a:off x="723900" y="6485930"/>
            <a:ext cx="1717700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My older brother likes wearing black jeans.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723900" y="7076480"/>
            <a:ext cx="1717700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jiějie xǐhuan chuān báisè de chènshān hé lánsè de niúzǎikù，tā bù xǐhuan chuān qúnzi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723900" y="7533680"/>
            <a:ext cx="17177004" cy="604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58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我姐姐喜欢穿白色的衬衫和蓝色的牛仔裤，</a:t>
            </a:r>
            <a:pPr algn="l" indent="0" marL="0">
              <a:lnSpc>
                <a:spcPts val="4758"/>
              </a:lnSpc>
              <a:buNone/>
            </a:pPr>
            <a:r>
              <a:rPr lang="en-US" sz="39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她不喜欢穿裙子</a:t>
            </a:r>
            <a:pPr algn="l" indent="0" marL="0">
              <a:lnSpc>
                <a:spcPts val="4758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3900" dirty="0"/>
          </a:p>
        </p:txBody>
      </p:sp>
      <p:sp>
        <p:nvSpPr>
          <p:cNvPr id="19" name="Text 17"/>
          <p:cNvSpPr/>
          <p:nvPr/>
        </p:nvSpPr>
        <p:spPr>
          <a:xfrm>
            <a:off x="723900" y="8195072"/>
            <a:ext cx="1717700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My sister likes wearing a white shirt and blue jeans — she doesn't like skirts.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723900" y="8690372"/>
            <a:ext cx="16840200" cy="1057275"/>
          </a:xfrm>
          <a:prstGeom prst="roundRect">
            <a:avLst>
              <a:gd name="adj" fmla="val 10811"/>
            </a:avLst>
          </a:prstGeom>
          <a:solidFill>
            <a:srgbClr val="2C4C7C">
              <a:alpha val="10000"/>
            </a:srgbClr>
          </a:solidFill>
          <a:ln w="19050">
            <a:solidFill>
              <a:srgbClr val="2C4C7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009650" y="8861822"/>
            <a:ext cx="349758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的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1543050" y="8861822"/>
            <a:ext cx="56421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颜色和衣服中间一定要有「的」。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1543050" y="9261872"/>
            <a:ext cx="564212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✗ 红色衬衫　✓ 红色的衬衫 — the 的 is not optional.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0" y="92535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2000" y="9405938"/>
            <a:ext cx="35068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1 of 6 · 穿 + Text 1 Garments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3946535" y="9405938"/>
            <a:ext cx="365105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p.104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430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91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11430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81000"/>
            <a:ext cx="1547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L14 穿着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2132" y="371475"/>
            <a:ext cx="440400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检查一下 · Check for Understanding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2949029"/>
            <a:ext cx="446913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3150" dirty="0"/>
          </a:p>
        </p:txBody>
      </p:sp>
      <p:sp>
        <p:nvSpPr>
          <p:cNvPr id="8" name="Text 6"/>
          <p:cNvSpPr/>
          <p:nvPr/>
        </p:nvSpPr>
        <p:spPr>
          <a:xfrm>
            <a:off x="1562100" y="2949029"/>
            <a:ext cx="4486284" cy="579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68"/>
              </a:lnSpc>
              <a:buNone/>
            </a:pPr>
            <a:r>
              <a:rPr lang="en-US" sz="2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「</a:t>
            </a:r>
            <a:pPr algn="l" indent="0" marL="0">
              <a:lnSpc>
                <a:spcPts val="4568"/>
              </a:lnSpc>
              <a:buNone/>
            </a:pPr>
            <a:r>
              <a:rPr lang="en-US" sz="315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穿</a:t>
            </a:r>
            <a:pPr algn="l" indent="0" marL="0">
              <a:lnSpc>
                <a:spcPts val="4568"/>
              </a:lnSpc>
              <a:buNone/>
            </a:pPr>
            <a:r>
              <a:rPr lang="en-US" sz="2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」是什么意思？会的举手。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14400" y="3776662"/>
            <a:ext cx="446913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3150" dirty="0"/>
          </a:p>
        </p:txBody>
      </p:sp>
      <p:sp>
        <p:nvSpPr>
          <p:cNvPr id="10" name="Text 8"/>
          <p:cNvSpPr/>
          <p:nvPr/>
        </p:nvSpPr>
        <p:spPr>
          <a:xfrm>
            <a:off x="1562100" y="3776662"/>
            <a:ext cx="5136160" cy="441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怎么说 </a:t>
            </a:r>
            <a:pPr algn="l" indent="0" marL="0">
              <a:lnSpc>
                <a:spcPts val="3480"/>
              </a:lnSpc>
              <a:buNone/>
            </a:pPr>
            <a:r>
              <a:rPr lang="en-US" sz="24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red skirt</a:t>
            </a:r>
            <a:pPr algn="l" indent="0" marL="0">
              <a:lnSpc>
                <a:spcPts val="3480"/>
              </a:lnSpc>
              <a:buNone/>
            </a:pPr>
            <a:r>
              <a:rPr lang="en-US" sz="2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？写在小白板上。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14400" y="4586288"/>
            <a:ext cx="446913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3150" dirty="0"/>
          </a:p>
        </p:txBody>
      </p:sp>
      <p:sp>
        <p:nvSpPr>
          <p:cNvPr id="12" name="Text 10"/>
          <p:cNvSpPr/>
          <p:nvPr/>
        </p:nvSpPr>
        <p:spPr>
          <a:xfrm>
            <a:off x="1562100" y="4586288"/>
            <a:ext cx="4844998" cy="579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68"/>
              </a:lnSpc>
              <a:buNone/>
            </a:pPr>
            <a:r>
              <a:rPr lang="en-US" sz="2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这句对不对？ </a:t>
            </a:r>
            <a:pPr algn="l" indent="0" marL="0">
              <a:lnSpc>
                <a:spcPts val="4568"/>
              </a:lnSpc>
              <a:buNone/>
            </a:pPr>
            <a:r>
              <a:rPr lang="en-US" sz="315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我喜欢裙子穿。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14400" y="5509171"/>
            <a:ext cx="16459200" cy="971550"/>
          </a:xfrm>
          <a:prstGeom prst="roundRect">
            <a:avLst>
              <a:gd name="adj" fmla="val 11765"/>
            </a:avLst>
          </a:prstGeom>
          <a:solidFill>
            <a:srgbClr val="F2EF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219200" y="5699671"/>
            <a:ext cx="299237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我喜欢裙子穿。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4419600" y="5780633"/>
            <a:ext cx="31089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991100" y="5699671"/>
            <a:ext cx="299237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我喜欢穿裙子。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914400" y="6633121"/>
            <a:ext cx="16459200" cy="971550"/>
          </a:xfrm>
          <a:prstGeom prst="roundRect">
            <a:avLst>
              <a:gd name="adj" fmla="val 11765"/>
            </a:avLst>
          </a:prstGeom>
          <a:solidFill>
            <a:srgbClr val="F2EF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219200" y="6823621"/>
            <a:ext cx="1709928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红色衬衫</a:t>
            </a:r>
            <a:endParaRPr lang="en-US" sz="3300" dirty="0"/>
          </a:p>
        </p:txBody>
      </p:sp>
      <p:sp>
        <p:nvSpPr>
          <p:cNvPr id="19" name="Text 17"/>
          <p:cNvSpPr/>
          <p:nvPr/>
        </p:nvSpPr>
        <p:spPr>
          <a:xfrm>
            <a:off x="3162300" y="6904583"/>
            <a:ext cx="31089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→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3733800" y="6823621"/>
            <a:ext cx="213741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红色的衬衫</a:t>
            </a:r>
            <a:endParaRPr lang="en-US" sz="3300" dirty="0"/>
          </a:p>
        </p:txBody>
      </p:sp>
      <p:sp>
        <p:nvSpPr>
          <p:cNvPr id="21" name="Shape 19"/>
          <p:cNvSpPr/>
          <p:nvPr/>
        </p:nvSpPr>
        <p:spPr>
          <a:xfrm>
            <a:off x="0" y="92535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2000" y="9405938"/>
            <a:ext cx="35068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1 of 6 · 穿 + Text 1 Garments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3946535" y="9405938"/>
            <a:ext cx="365105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p.104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430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91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11430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81000"/>
            <a:ext cx="1547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L14 穿着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2132" y="371475"/>
            <a:ext cx="219919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课文一 · Text 1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2415183"/>
            <a:ext cx="80805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CD T65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23900" y="2948583"/>
            <a:ext cx="1717700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zhè shì wǒ bàba。 tā xǐhuan chuān chènshān hé niúzǎikù。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723900" y="3386733"/>
            <a:ext cx="17177004" cy="604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58"/>
              </a:lnSpc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这是我爸爸。他喜欢穿衬衫和牛仔裤。</a:t>
            </a:r>
            <a:endParaRPr lang="en-US" sz="3900" dirty="0"/>
          </a:p>
        </p:txBody>
      </p:sp>
      <p:sp>
        <p:nvSpPr>
          <p:cNvPr id="10" name="Text 8"/>
          <p:cNvSpPr/>
          <p:nvPr/>
        </p:nvSpPr>
        <p:spPr>
          <a:xfrm>
            <a:off x="723900" y="4181475"/>
            <a:ext cx="1717700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zhè shì wǒ māma。 tā xǐhuan chuān qúnzi。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723900" y="4619625"/>
            <a:ext cx="17177004" cy="604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58"/>
              </a:lnSpc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这是我妈妈。她喜欢穿裙子。</a:t>
            </a:r>
            <a:endParaRPr lang="en-US" sz="3900" dirty="0"/>
          </a:p>
        </p:txBody>
      </p:sp>
      <p:sp>
        <p:nvSpPr>
          <p:cNvPr id="12" name="Text 10"/>
          <p:cNvSpPr/>
          <p:nvPr/>
        </p:nvSpPr>
        <p:spPr>
          <a:xfrm>
            <a:off x="723900" y="5433417"/>
            <a:ext cx="16840200" cy="2762250"/>
          </a:xfrm>
          <a:prstGeom prst="roundRect">
            <a:avLst>
              <a:gd name="adj" fmla="val 6897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057275" y="5690592"/>
            <a:ext cx="1532334" cy="533400"/>
          </a:xfrm>
          <a:prstGeom prst="roundRect">
            <a:avLst>
              <a:gd name="adj" fmla="val 1783929"/>
            </a:avLst>
          </a:prstGeom>
          <a:solidFill>
            <a:srgbClr val="B03C2C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247775" y="5747742"/>
            <a:ext cx="11743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03C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听 · 读 · 问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57275" y="6223992"/>
            <a:ext cx="16173450" cy="1600200"/>
          </a:xfrm>
          <a:prstGeom prst="rect">
            <a:avLst/>
          </a:prstGeom>
          <a:noFill/>
          <a:ln/>
        </p:spPr>
        <p:txBody>
          <a:bodyPr wrap="square" lIns="161925" tIns="0" rIns="0" bIns="0" rtlCol="0" anchor="t"/>
          <a:lstStyle/>
          <a:p>
            <a:pPr algn="l" marL="161925" indent="-161925">
              <a:lnSpc>
                <a:spcPts val="3600"/>
              </a:lnSpc>
              <a:spcAft>
                <a:spcPts val="900"/>
              </a:spcAft>
              <a:buSzPct val="100000"/>
              <a:buChar char="•"/>
            </a:pPr>
            <a:r>
              <a:rPr lang="en-US" sz="225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Who likes wearing jeans?</a:t>
            </a:r>
            <a:endParaRPr lang="en-US" sz="2250" dirty="0"/>
          </a:p>
          <a:p>
            <a:pPr algn="l" marL="161925" indent="-161925">
              <a:lnSpc>
                <a:spcPts val="3600"/>
              </a:lnSpc>
              <a:spcAft>
                <a:spcPts val="900"/>
              </a:spcAft>
              <a:buSzPct val="100000"/>
              <a:buChar char="•"/>
            </a:pPr>
            <a:r>
              <a:rPr lang="en-US" sz="225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妈妈喜欢穿什么？</a:t>
            </a:r>
            <a:endParaRPr lang="en-US" sz="2250" dirty="0"/>
          </a:p>
          <a:p>
            <a:pPr algn="l" marL="161925" indent="-161925">
              <a:lnSpc>
                <a:spcPts val="3600"/>
              </a:lnSpc>
              <a:spcAft>
                <a:spcPts val="900"/>
              </a:spcAft>
              <a:buSzPct val="100000"/>
              <a:buChar char="•"/>
            </a:pPr>
            <a:r>
              <a:rPr lang="en-US" sz="225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Does dad wear a skirt?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0" y="92535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2000" y="9405938"/>
            <a:ext cx="35068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1 of 6 · 穿 + Text 1 Garments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3946535" y="9405938"/>
            <a:ext cx="365105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p.104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430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91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11430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81000"/>
            <a:ext cx="1547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L14 穿着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2132" y="371475"/>
            <a:ext cx="408202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Flexible Practice · We Do · 20–28 min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104900" y="1873597"/>
            <a:ext cx="70042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 Do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172593" y="1734592"/>
            <a:ext cx="6750451" cy="544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90"/>
              </a:lnSpc>
              <a:buNone/>
            </a:pPr>
            <a:r>
              <a:rPr lang="en-US" sz="33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家人穿什么 · Family clothing profile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9171682" y="1873597"/>
            <a:ext cx="60570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03C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 min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2603153"/>
            <a:ext cx="4274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524000" y="2603153"/>
            <a:ext cx="8355330" cy="1243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写四句话，四个家人，每句一件衣服和一个颜色。
</a:t>
            </a:r>
            <a:pPr algn="l" indent="0" marL="0">
              <a:lnSpc>
                <a:spcPts val="3263"/>
              </a:lnSpc>
              <a:buNone/>
            </a:pPr>
            <a:r>
              <a:rPr lang="en-US" sz="19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Four sentences, four family members — a different garment and colour in each.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914400" y="4055715"/>
            <a:ext cx="4274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524000" y="4055715"/>
            <a:ext cx="8355330" cy="1243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四句话里面，今天的四个词都要用到。
</a:t>
            </a:r>
            <a:pPr algn="l" indent="0" marL="0">
              <a:lnSpc>
                <a:spcPts val="3263"/>
              </a:lnSpc>
              <a:buNone/>
            </a:pPr>
            <a:r>
              <a:rPr lang="en-US" sz="19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Between them the four sentences must use all four of today's words.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914400" y="5508278"/>
            <a:ext cx="4274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524000" y="5508278"/>
            <a:ext cx="4760899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写完了，三个人读给全班听。
</a:t>
            </a:r>
            <a:pPr algn="l" indent="0" marL="0">
              <a:lnSpc>
                <a:spcPts val="3263"/>
              </a:lnSpc>
              <a:buNone/>
            </a:pPr>
            <a:r>
              <a:rPr lang="en-US" sz="19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Three students read theirs to the class.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914400" y="6794153"/>
            <a:ext cx="8801100" cy="2024807"/>
          </a:xfrm>
          <a:prstGeom prst="roundRect">
            <a:avLst>
              <a:gd name="adj" fmla="val 5645"/>
            </a:avLst>
          </a:prstGeom>
          <a:solidFill>
            <a:srgbClr val="B0822C">
              <a:alpha val="12000"/>
            </a:srgbClr>
          </a:solidFill>
          <a:ln w="19050">
            <a:solidFill>
              <a:srgbClr val="B082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238250" y="7079903"/>
            <a:ext cx="47590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082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更难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895326" y="7022753"/>
            <a:ext cx="7646250" cy="15676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45"/>
              </a:lnSpc>
              <a:buNone/>
            </a:pPr>
            <a:r>
              <a:rPr lang="en-US" sz="21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写成一段话，不是四句 — 用「和」「也」连起来，而且要有一个人</a:t>
            </a:r>
            <a:pPr algn="l" indent="0" marL="0">
              <a:lnSpc>
                <a:spcPts val="3045"/>
              </a:lnSpc>
              <a:buNone/>
            </a:pPr>
            <a:r>
              <a:rPr lang="en-US" sz="21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不</a:t>
            </a:r>
            <a:pPr algn="l" indent="0" marL="0">
              <a:lnSpc>
                <a:spcPts val="3045"/>
              </a:lnSpc>
              <a:buNone/>
            </a:pPr>
            <a:r>
              <a:rPr lang="en-US" sz="21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喜欢一件衣服：</a:t>
            </a:r>
            <a:pPr algn="l" indent="0" marL="0">
              <a:lnSpc>
                <a:spcPts val="3045"/>
              </a:lnSpc>
              <a:buNone/>
            </a:pPr>
            <a:r>
              <a:rPr lang="en-US" sz="21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我姐姐喜欢穿牛仔裤，她也喜欢穿衬衫，她不喜欢穿裙子。</a:t>
            </a:r>
            <a:pPr algn="l" indent="0" marL="0">
              <a:lnSpc>
                <a:spcPts val="3045"/>
              </a:lnSpc>
              <a:buNone/>
            </a:pPr>
            <a:r>
              <a:rPr lang="en-US" sz="18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Then read it aloud without looking at the page.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0172700" y="2603153"/>
            <a:ext cx="7200900" cy="3257550"/>
          </a:xfrm>
          <a:prstGeom prst="roundRect">
            <a:avLst>
              <a:gd name="adj" fmla="val 5848"/>
            </a:avLst>
          </a:prstGeom>
          <a:solidFill>
            <a:srgbClr val="E7E2D5"/>
          </a:solidFill>
          <a:ln w="19050">
            <a:solidFill>
              <a:srgbClr val="CFC4A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0496550" y="2907953"/>
            <a:ext cx="668426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你要说 / 写的中文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0496550" y="3327053"/>
            <a:ext cx="6684264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25"/>
              </a:lnSpc>
              <a:buNone/>
            </a:pPr>
            <a:r>
              <a:rPr lang="en-US" sz="315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我爸爸喜欢穿灰色的衬衫。</a:t>
            </a:r>
            <a:pPr algn="l" indent="0" marL="0">
              <a:lnSpc>
                <a:spcPts val="4725"/>
              </a:lnSpc>
              <a:buNone/>
            </a:pPr>
            <a:r>
              <a:rPr lang="en-US" sz="2100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wǒ bàba xǐhuan chuān huīsè de chènshān</a:t>
            </a:r>
            <a:endParaRPr lang="en-US" sz="3150" dirty="0"/>
          </a:p>
        </p:txBody>
      </p:sp>
      <p:sp>
        <p:nvSpPr>
          <p:cNvPr id="22" name="Text 20"/>
          <p:cNvSpPr/>
          <p:nvPr/>
        </p:nvSpPr>
        <p:spPr>
          <a:xfrm>
            <a:off x="10496550" y="4441478"/>
            <a:ext cx="6684264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25"/>
              </a:lnSpc>
              <a:buNone/>
            </a:pPr>
            <a:r>
              <a:rPr lang="en-US" sz="315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我姐姐喜欢穿蓝色的牛仔裤。</a:t>
            </a:r>
            <a:pPr algn="l" indent="0" marL="0">
              <a:lnSpc>
                <a:spcPts val="4725"/>
              </a:lnSpc>
              <a:buNone/>
            </a:pPr>
            <a:r>
              <a:rPr lang="en-US" sz="2100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wǒ jiějie xǐhuan chuān lánsè de niúzǎikù</a:t>
            </a:r>
            <a:endParaRPr lang="en-US" sz="3150" dirty="0"/>
          </a:p>
        </p:txBody>
      </p:sp>
      <p:sp>
        <p:nvSpPr>
          <p:cNvPr id="23" name="Shape 21"/>
          <p:cNvSpPr/>
          <p:nvPr/>
        </p:nvSpPr>
        <p:spPr>
          <a:xfrm>
            <a:off x="0" y="92535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2000" y="9405938"/>
            <a:ext cx="35068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1 of 6 · 穿 + Text 1 Garments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3946535" y="9405938"/>
            <a:ext cx="365105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p.104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430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91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11430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81000"/>
            <a:ext cx="1547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L14 穿着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2132" y="371475"/>
            <a:ext cx="402434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部首 · 课本 p.107 练习 4 · 第一组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2947988"/>
            <a:ext cx="5295900" cy="2924175"/>
          </a:xfrm>
          <a:prstGeom prst="roundRect">
            <a:avLst>
              <a:gd name="adj" fmla="val 6515"/>
            </a:avLst>
          </a:prstGeom>
          <a:solidFill>
            <a:srgbClr val="F2EFE7"/>
          </a:solidFill>
          <a:ln w="19050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1143000" y="4095750"/>
            <a:ext cx="4838700" cy="0"/>
          </a:xfrm>
          <a:prstGeom prst="line">
            <a:avLst/>
          </a:prstGeom>
          <a:noFill/>
          <a:ln w="9525">
            <a:solidFill>
              <a:srgbClr val="CFC4A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00242" y="3214688"/>
            <a:ext cx="738378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700"/>
              </a:lnSpc>
              <a:buNone/>
            </a:pPr>
            <a:r>
              <a:rPr lang="en-US" sz="57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冂</a:t>
            </a:r>
            <a:endParaRPr lang="en-US" sz="5700" dirty="0"/>
          </a:p>
        </p:txBody>
      </p:sp>
      <p:sp>
        <p:nvSpPr>
          <p:cNvPr id="10" name="Text 8"/>
          <p:cNvSpPr/>
          <p:nvPr/>
        </p:nvSpPr>
        <p:spPr>
          <a:xfrm>
            <a:off x="3583781" y="3219450"/>
            <a:ext cx="849954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边框</a:t>
            </a:r>
            <a:pPr algn="l" indent="0" marL="0">
              <a:lnSpc>
                <a:spcPts val="3000"/>
              </a:lnSpc>
              <a:buNone/>
            </a:pPr>
            <a:r>
              <a:rPr lang="en-US" sz="2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border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094613" y="4271963"/>
            <a:ext cx="4935474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900"/>
              </a:lnSpc>
              <a:buNone/>
            </a:pPr>
            <a:r>
              <a:rPr lang="en-US" sz="6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周</a:t>
            </a:r>
            <a:endParaRPr lang="en-US" sz="6900" dirty="0"/>
          </a:p>
        </p:txBody>
      </p:sp>
      <p:sp>
        <p:nvSpPr>
          <p:cNvPr id="12" name="Text 10"/>
          <p:cNvSpPr/>
          <p:nvPr/>
        </p:nvSpPr>
        <p:spPr>
          <a:xfrm>
            <a:off x="1094613" y="5224463"/>
            <a:ext cx="493547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zhōu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496050" y="2947988"/>
            <a:ext cx="5295900" cy="2924175"/>
          </a:xfrm>
          <a:prstGeom prst="roundRect">
            <a:avLst>
              <a:gd name="adj" fmla="val 6515"/>
            </a:avLst>
          </a:prstGeom>
          <a:solidFill>
            <a:srgbClr val="F2EFE7"/>
          </a:solidFill>
          <a:ln w="19050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724650" y="4095750"/>
            <a:ext cx="4838700" cy="0"/>
          </a:xfrm>
          <a:prstGeom prst="line">
            <a:avLst/>
          </a:prstGeom>
          <a:noFill/>
          <a:ln w="9525">
            <a:solidFill>
              <a:srgbClr val="CFC4A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41138" y="3214688"/>
            <a:ext cx="738378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700"/>
              </a:lnSpc>
              <a:buNone/>
            </a:pPr>
            <a:r>
              <a:rPr lang="en-US" sz="57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牛</a:t>
            </a:r>
            <a:endParaRPr lang="en-US" sz="5700" dirty="0"/>
          </a:p>
        </p:txBody>
      </p:sp>
      <p:sp>
        <p:nvSpPr>
          <p:cNvPr id="16" name="Text 14"/>
          <p:cNvSpPr/>
          <p:nvPr/>
        </p:nvSpPr>
        <p:spPr>
          <a:xfrm>
            <a:off x="9324677" y="3219450"/>
            <a:ext cx="525092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牛</a:t>
            </a:r>
            <a:pPr algn="l" indent="0" marL="0">
              <a:lnSpc>
                <a:spcPts val="3000"/>
              </a:lnSpc>
              <a:buNone/>
            </a:pPr>
            <a:r>
              <a:rPr lang="en-US" sz="2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cow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676263" y="4271963"/>
            <a:ext cx="4935474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900"/>
              </a:lnSpc>
              <a:buNone/>
            </a:pPr>
            <a:r>
              <a:rPr lang="en-US" sz="6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物</a:t>
            </a:r>
            <a:endParaRPr lang="en-US" sz="6900" dirty="0"/>
          </a:p>
        </p:txBody>
      </p:sp>
      <p:sp>
        <p:nvSpPr>
          <p:cNvPr id="18" name="Text 16"/>
          <p:cNvSpPr/>
          <p:nvPr/>
        </p:nvSpPr>
        <p:spPr>
          <a:xfrm>
            <a:off x="6676263" y="5224463"/>
            <a:ext cx="493547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wù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2077700" y="2947988"/>
            <a:ext cx="5295900" cy="2924175"/>
          </a:xfrm>
          <a:prstGeom prst="roundRect">
            <a:avLst>
              <a:gd name="adj" fmla="val 6515"/>
            </a:avLst>
          </a:prstGeom>
          <a:solidFill>
            <a:srgbClr val="F2EFE7"/>
          </a:solidFill>
          <a:ln w="19050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12306300" y="4095750"/>
            <a:ext cx="4838700" cy="0"/>
          </a:xfrm>
          <a:prstGeom prst="line">
            <a:avLst/>
          </a:prstGeom>
          <a:noFill/>
          <a:ln w="9525">
            <a:solidFill>
              <a:srgbClr val="CFC4A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975461" y="3214688"/>
            <a:ext cx="738378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700"/>
              </a:lnSpc>
              <a:buNone/>
            </a:pPr>
            <a:r>
              <a:rPr lang="en-US" sz="57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贝</a:t>
            </a:r>
            <a:endParaRPr lang="en-US" sz="5700" dirty="0"/>
          </a:p>
        </p:txBody>
      </p:sp>
      <p:sp>
        <p:nvSpPr>
          <p:cNvPr id="22" name="Text 20"/>
          <p:cNvSpPr/>
          <p:nvPr/>
        </p:nvSpPr>
        <p:spPr>
          <a:xfrm>
            <a:off x="14859000" y="3219450"/>
            <a:ext cx="621792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贝壳</a:t>
            </a:r>
            <a:pPr algn="l" indent="0" marL="0">
              <a:lnSpc>
                <a:spcPts val="3000"/>
              </a:lnSpc>
              <a:buNone/>
            </a:pPr>
            <a:r>
              <a:rPr lang="en-US" sz="2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shell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2257913" y="4271963"/>
            <a:ext cx="4935474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900"/>
              </a:lnSpc>
              <a:buNone/>
            </a:pPr>
            <a:r>
              <a:rPr lang="en-US" sz="6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贵</a:t>
            </a:r>
            <a:endParaRPr lang="en-US" sz="6900" dirty="0"/>
          </a:p>
        </p:txBody>
      </p:sp>
      <p:sp>
        <p:nvSpPr>
          <p:cNvPr id="24" name="Text 22"/>
          <p:cNvSpPr/>
          <p:nvPr/>
        </p:nvSpPr>
        <p:spPr>
          <a:xfrm>
            <a:off x="12257913" y="5224463"/>
            <a:ext cx="493547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guì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914400" y="6157913"/>
            <a:ext cx="16459200" cy="1447800"/>
          </a:xfrm>
          <a:prstGeom prst="roundRect">
            <a:avLst>
              <a:gd name="adj" fmla="val 7895"/>
            </a:avLst>
          </a:prstGeom>
          <a:solidFill>
            <a:srgbClr val="B03C2C">
              <a:alpha val="10000"/>
            </a:srgbClr>
          </a:solidFill>
          <a:ln w="19050">
            <a:solidFill>
              <a:srgbClr val="B03C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238250" y="6367463"/>
            <a:ext cx="349758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考</a:t>
            </a:r>
            <a:endParaRPr lang="en-US" sz="2700" dirty="0"/>
          </a:p>
        </p:txBody>
      </p:sp>
      <p:sp>
        <p:nvSpPr>
          <p:cNvPr id="27" name="Text 25"/>
          <p:cNvSpPr/>
          <p:nvPr/>
        </p:nvSpPr>
        <p:spPr>
          <a:xfrm>
            <a:off x="1771650" y="6367463"/>
            <a:ext cx="1558366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B03C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这六个部首，单元测验要考两次。</a:t>
            </a:r>
            <a:endParaRPr lang="en-US" sz="2250" dirty="0"/>
          </a:p>
        </p:txBody>
      </p:sp>
      <p:sp>
        <p:nvSpPr>
          <p:cNvPr id="28" name="Text 26"/>
          <p:cNvSpPr/>
          <p:nvPr/>
        </p:nvSpPr>
        <p:spPr>
          <a:xfrm>
            <a:off x="1771650" y="6767513"/>
            <a:ext cx="15583662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Unit Test Part 2 gives you the character and asks for the radical's meaning; Part 3 gives you the radical and asks for a character. The other three come in Lesson 3.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0" y="92535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2000" y="9405938"/>
            <a:ext cx="35068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1 of 6 · 穿 + Text 1 Garments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14132123" y="9405938"/>
            <a:ext cx="346175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课本 p.107 练习 4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430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91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11430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81000"/>
            <a:ext cx="1547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L14 穿着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2132" y="371475"/>
            <a:ext cx="415884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Flexible Practice · You Do · 28–36 min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104900" y="1694111"/>
            <a:ext cx="7878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You Do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258318" y="1555105"/>
            <a:ext cx="3847338" cy="544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90"/>
              </a:lnSpc>
              <a:buNone/>
            </a:pPr>
            <a:r>
              <a:rPr lang="en-US" sz="33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笔顺 · 衤 还是 礻？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6411218" y="1694111"/>
            <a:ext cx="60570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03C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 min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28942" y="1694111"/>
            <a:ext cx="183471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练习册 p.146–148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2423666"/>
            <a:ext cx="4274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524000" y="2423666"/>
            <a:ext cx="7862117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先在课本上把四个字里的「衤」圈出来 — 衬、衫、裤、裙。
</a:t>
            </a:r>
            <a:pPr algn="l" indent="0" marL="0">
              <a:lnSpc>
                <a:spcPts val="3263"/>
              </a:lnSpc>
              <a:buNone/>
            </a:pPr>
            <a:r>
              <a:rPr lang="en-US" sz="19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Circle the 衤 in all four characters before you copy anything.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914400" y="3461891"/>
            <a:ext cx="4274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524000" y="3461891"/>
            <a:ext cx="8355330" cy="165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练习册 p.147–148 第 2 题 — 按笔顺抄写 穿 衬 衫 牛 仔 裤 裙。
</a:t>
            </a:r>
            <a:pPr algn="l" indent="0" marL="0">
              <a:lnSpc>
                <a:spcPts val="3263"/>
              </a:lnSpc>
              <a:buNone/>
            </a:pPr>
            <a:r>
              <a:rPr lang="en-US" sz="19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Workbook Ex.2 — copy the seven characters following the stroke order.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914400" y="5328791"/>
            <a:ext cx="4274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524000" y="5328791"/>
            <a:ext cx="8355330" cy="1243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练习册 p.148 第 4 题 — 写出两个问题的答案。
</a:t>
            </a:r>
            <a:pPr algn="l" indent="0" marL="0">
              <a:lnSpc>
                <a:spcPts val="3263"/>
              </a:lnSpc>
              <a:buNone/>
            </a:pPr>
            <a:r>
              <a:rPr lang="en-US" sz="19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Workbook Ex.4 — write answers to 你喜欢穿衬衫吗？and 你喜欢穿牛仔裤吗？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914400" y="7029004"/>
            <a:ext cx="8801100" cy="1969591"/>
          </a:xfrm>
          <a:prstGeom prst="roundRect">
            <a:avLst>
              <a:gd name="adj" fmla="val 5803"/>
            </a:avLst>
          </a:prstGeom>
          <a:solidFill>
            <a:srgbClr val="B0822C">
              <a:alpha val="12000"/>
            </a:srgbClr>
          </a:solidFill>
          <a:ln w="19050">
            <a:solidFill>
              <a:srgbClr val="B082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238250" y="7314754"/>
            <a:ext cx="47590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082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更难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895326" y="7257604"/>
            <a:ext cx="7646250" cy="1512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45"/>
              </a:lnSpc>
              <a:buNone/>
            </a:pPr>
            <a:r>
              <a:rPr lang="en-US" sz="21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 4 题不要只写「喜欢／不喜欢」，写完整的两个分句：</a:t>
            </a:r>
            <a:pPr algn="l" indent="0" marL="0">
              <a:lnSpc>
                <a:spcPts val="3045"/>
              </a:lnSpc>
              <a:buNone/>
            </a:pPr>
            <a:r>
              <a:rPr lang="en-US" sz="21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我喜欢穿衬衫，我不喜欢穿裙子。</a:t>
            </a:r>
            <a:pPr algn="l" indent="0" marL="0">
              <a:lnSpc>
                <a:spcPts val="3045"/>
              </a:lnSpc>
              <a:buNone/>
            </a:pPr>
            <a:r>
              <a:rPr lang="en-US" sz="18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Then write two more characters that take 衤 without looking them up.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0172700" y="2423666"/>
            <a:ext cx="7200900" cy="3571875"/>
          </a:xfrm>
          <a:prstGeom prst="roundRect">
            <a:avLst>
              <a:gd name="adj" fmla="val 5333"/>
            </a:avLst>
          </a:prstGeom>
          <a:solidFill>
            <a:srgbClr val="E7E2D5"/>
          </a:solidFill>
          <a:ln w="19050">
            <a:solidFill>
              <a:srgbClr val="CFC4A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0496550" y="2728466"/>
            <a:ext cx="668426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你要说 / 写的中文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0496550" y="3147566"/>
            <a:ext cx="6684264" cy="194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25"/>
              </a:lnSpc>
              <a:buNone/>
            </a:pPr>
            <a:r>
              <a:rPr lang="en-US" sz="1950" dirty="0">
                <a:solidFill>
                  <a:srgbClr val="56514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上节课的部首</a:t>
            </a:r>
            <a:pPr algn="l" indent="0" marL="0">
              <a:lnSpc>
                <a:spcPts val="4725"/>
              </a:lnSpc>
              <a:buNone/>
            </a:pPr>
            <a:r>
              <a:rPr lang="en-US" sz="315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礻 — 视 </a:t>
            </a:r>
            <a:pPr algn="l" indent="0" marL="0">
              <a:lnSpc>
                <a:spcPts val="4725"/>
              </a:lnSpc>
              <a:buNone/>
            </a:pPr>
            <a:r>
              <a:rPr lang="en-US" sz="1950" dirty="0">
                <a:solidFill>
                  <a:srgbClr val="56514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衣服的部首</a:t>
            </a:r>
            <a:pPr algn="l" indent="0" marL="0">
              <a:lnSpc>
                <a:spcPts val="4725"/>
              </a:lnSpc>
              <a:buNone/>
            </a:pPr>
            <a:r>
              <a:rPr lang="en-US" sz="315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衤 — 衬 衫 裤 裙</a:t>
            </a:r>
            <a:endParaRPr lang="en-US" sz="3150" dirty="0"/>
          </a:p>
        </p:txBody>
      </p:sp>
      <p:sp>
        <p:nvSpPr>
          <p:cNvPr id="23" name="Text 21"/>
          <p:cNvSpPr/>
          <p:nvPr/>
        </p:nvSpPr>
        <p:spPr>
          <a:xfrm>
            <a:off x="10496550" y="5204966"/>
            <a:ext cx="668426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19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多一笔，意思完全不一样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0" y="92535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2000" y="9405938"/>
            <a:ext cx="35068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1 of 6 · 穿 + Text 1 Garments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4096405" y="9405938"/>
            <a:ext cx="349818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练习册 p.146–148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430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91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11430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81000"/>
            <a:ext cx="1547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L14 穿着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2132" y="371475"/>
            <a:ext cx="453987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Game · 抢词卡 Slap the Board · 36–43 min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104900" y="2508945"/>
            <a:ext cx="6090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Game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082998" y="2369939"/>
            <a:ext cx="4514216" cy="544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90"/>
              </a:lnSpc>
              <a:buNone/>
            </a:pPr>
            <a:r>
              <a:rPr lang="en-US" sz="33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抢词卡 · Slap the Board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6889700" y="2508945"/>
            <a:ext cx="59507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03C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 min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197007" y="2508945"/>
            <a:ext cx="178097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课本 p.107 练习 5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3238500"/>
            <a:ext cx="4274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524000" y="3238500"/>
            <a:ext cx="6654662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四个小组。每组派一个人到黑板前。
</a:t>
            </a:r>
            <a:pPr algn="l" indent="0" marL="0">
              <a:lnSpc>
                <a:spcPts val="3263"/>
              </a:lnSpc>
              <a:buNone/>
            </a:pPr>
            <a:r>
              <a:rPr lang="en-US" sz="19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Four groups. One player from each group at the board.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914400" y="4276725"/>
            <a:ext cx="4274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524000" y="4276725"/>
            <a:ext cx="6948404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老师说一个词 — 第一个拍到正确卡片的得一分。
</a:t>
            </a:r>
            <a:pPr algn="l" indent="0" marL="0">
              <a:lnSpc>
                <a:spcPts val="3263"/>
              </a:lnSpc>
              <a:buNone/>
            </a:pPr>
            <a:r>
              <a:rPr lang="en-US" sz="19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Teacher calls a word. First hand on the right card scores.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914400" y="5314950"/>
            <a:ext cx="4274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524000" y="5314950"/>
            <a:ext cx="3912159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换人，每个人都要上来一次。
</a:t>
            </a:r>
            <a:pPr algn="l" indent="0" marL="0">
              <a:lnSpc>
                <a:spcPts val="3263"/>
              </a:lnSpc>
              <a:buNone/>
            </a:pPr>
            <a:r>
              <a:rPr lang="en-US" sz="19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Rotate — everyone takes a turn.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914400" y="6600825"/>
            <a:ext cx="8801100" cy="1582936"/>
          </a:xfrm>
          <a:prstGeom prst="roundRect">
            <a:avLst>
              <a:gd name="adj" fmla="val 7221"/>
            </a:avLst>
          </a:prstGeom>
          <a:solidFill>
            <a:srgbClr val="B0822C">
              <a:alpha val="12000"/>
            </a:srgbClr>
          </a:solidFill>
          <a:ln w="19050">
            <a:solidFill>
              <a:srgbClr val="B082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238250" y="6886575"/>
            <a:ext cx="47590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082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更难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895326" y="6829425"/>
            <a:ext cx="7646250" cy="1125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45"/>
              </a:lnSpc>
              <a:buNone/>
            </a:pPr>
            <a:r>
              <a:rPr lang="en-US" sz="21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老师说一整句 — </a:t>
            </a:r>
            <a:pPr algn="l" indent="0" marL="0">
              <a:lnSpc>
                <a:spcPts val="3045"/>
              </a:lnSpc>
              <a:buNone/>
            </a:pPr>
            <a:r>
              <a:rPr lang="en-US" sz="21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我姐姐喜欢穿粉红色的裙子。</a:t>
            </a:r>
            <a:pPr algn="l" indent="0" marL="0">
              <a:lnSpc>
                <a:spcPts val="3045"/>
              </a:lnSpc>
              <a:buNone/>
            </a:pPr>
            <a:r>
              <a:rPr lang="en-US" sz="18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Slap TWO cards, in the right order: the colour first, then the garment.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0172700" y="3238500"/>
            <a:ext cx="7200900" cy="3800475"/>
          </a:xfrm>
          <a:prstGeom prst="roundRect">
            <a:avLst>
              <a:gd name="adj" fmla="val 5013"/>
            </a:avLst>
          </a:prstGeom>
          <a:solidFill>
            <a:srgbClr val="E7E2D5"/>
          </a:solidFill>
          <a:ln w="19050">
            <a:solidFill>
              <a:srgbClr val="CFC4A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0496550" y="3543300"/>
            <a:ext cx="668426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你要说 / 写的中文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0496550" y="3962400"/>
            <a:ext cx="6684264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25"/>
              </a:lnSpc>
              <a:buNone/>
            </a:pPr>
            <a:r>
              <a:rPr lang="en-US" sz="1950" dirty="0">
                <a:solidFill>
                  <a:srgbClr val="56514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黑板上的卡片</a:t>
            </a:r>
            <a:pPr algn="l" indent="0" marL="0">
              <a:lnSpc>
                <a:spcPts val="4725"/>
              </a:lnSpc>
              <a:buNone/>
            </a:pPr>
            <a:r>
              <a:rPr lang="en-US" sz="315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穿 衬衫 牛仔裤 裙子</a:t>
            </a:r>
            <a:endParaRPr lang="en-US" sz="3150" dirty="0"/>
          </a:p>
        </p:txBody>
      </p:sp>
      <p:sp>
        <p:nvSpPr>
          <p:cNvPr id="23" name="Text 21"/>
          <p:cNvSpPr/>
          <p:nvPr/>
        </p:nvSpPr>
        <p:spPr>
          <a:xfrm>
            <a:off x="10496550" y="5048250"/>
            <a:ext cx="6684264" cy="1571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25"/>
              </a:lnSpc>
              <a:buNone/>
            </a:pPr>
            <a:r>
              <a:rPr lang="en-US" sz="1950" dirty="0">
                <a:solidFill>
                  <a:srgbClr val="56514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加上第十三课的颜色词</a:t>
            </a:r>
            <a:pPr algn="l" indent="0" marL="0">
              <a:lnSpc>
                <a:spcPts val="4725"/>
              </a:lnSpc>
              <a:buNone/>
            </a:pPr>
            <a:r>
              <a:rPr lang="en-US" sz="315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红色 蓝色 黑色 白色 粉红色 黄色</a:t>
            </a:r>
            <a:endParaRPr lang="en-US" sz="3150" dirty="0"/>
          </a:p>
        </p:txBody>
      </p:sp>
      <p:sp>
        <p:nvSpPr>
          <p:cNvPr id="24" name="Shape 22"/>
          <p:cNvSpPr/>
          <p:nvPr/>
        </p:nvSpPr>
        <p:spPr>
          <a:xfrm>
            <a:off x="0" y="92535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2000" y="9405938"/>
            <a:ext cx="35068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1 of 6 · 穿 + Text 1 Garments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3328154" y="9405938"/>
            <a:ext cx="428180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p.107 练习 5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430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91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11430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81000"/>
            <a:ext cx="1547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L14 穿着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2132" y="371475"/>
            <a:ext cx="30562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Plenary · 回顾 · 自评 · 出门条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3322290"/>
            <a:ext cx="2498229" cy="571500"/>
          </a:xfrm>
          <a:prstGeom prst="roundRect">
            <a:avLst>
              <a:gd name="adj" fmla="val 1665000"/>
            </a:avLst>
          </a:prstGeom>
          <a:solidFill>
            <a:srgbClr val="2E7D6E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04900" y="3379440"/>
            <a:ext cx="215957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自评 · 对照今天的目标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3893790"/>
            <a:ext cx="8001000" cy="864840"/>
          </a:xfrm>
          <a:prstGeom prst="roundRect">
            <a:avLst>
              <a:gd name="adj" fmla="val 13216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152525" y="4074765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1838325" y="4074765"/>
            <a:ext cx="3870716" cy="441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我会说 衬衫、牛仔裤、裙子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14400" y="4891980"/>
            <a:ext cx="8001000" cy="864840"/>
          </a:xfrm>
          <a:prstGeom prst="roundRect">
            <a:avLst>
              <a:gd name="adj" fmla="val 13216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152525" y="5072955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1838325" y="5072955"/>
            <a:ext cx="3450672" cy="441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我会用「穿」说谁穿什么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14400" y="5890171"/>
            <a:ext cx="8001000" cy="864840"/>
          </a:xfrm>
          <a:prstGeom prst="roundRect">
            <a:avLst>
              <a:gd name="adj" fmla="val 13216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152525" y="6071146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1838325" y="6071146"/>
            <a:ext cx="5332899" cy="441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我会写「穿」，知道衣服的字有「衤」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14400" y="6945511"/>
            <a:ext cx="816102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👍 会了　😐 快会了　👎 还要练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9372600" y="3322290"/>
            <a:ext cx="2422922" cy="571500"/>
          </a:xfrm>
          <a:prstGeom prst="roundRect">
            <a:avLst>
              <a:gd name="adj" fmla="val 1665000"/>
            </a:avLst>
          </a:prstGeom>
          <a:solidFill>
            <a:srgbClr val="B03C2C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9563100" y="3379440"/>
            <a:ext cx="20827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03C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出门条 · Exit Ticket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372600" y="3893790"/>
            <a:ext cx="8001000" cy="2586930"/>
          </a:xfrm>
          <a:prstGeom prst="roundRect">
            <a:avLst>
              <a:gd name="adj" fmla="val 7364"/>
            </a:avLst>
          </a:prstGeom>
          <a:solidFill>
            <a:srgbClr val="F2EFE7"/>
          </a:solidFill>
          <a:ln w="28575">
            <a:solidFill>
              <a:srgbClr val="B03C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9782175" y="4303365"/>
            <a:ext cx="7325487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70"/>
              </a:lnSpc>
              <a:buNone/>
            </a:pPr>
            <a:r>
              <a:rPr lang="en-US" sz="42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我姐姐喜欢穿蓝色的牛仔裤。</a:t>
            </a:r>
            <a:endParaRPr lang="en-US" sz="4200" dirty="0"/>
          </a:p>
        </p:txBody>
      </p:sp>
      <p:sp>
        <p:nvSpPr>
          <p:cNvPr id="23" name="Text 21"/>
          <p:cNvSpPr/>
          <p:nvPr/>
        </p:nvSpPr>
        <p:spPr>
          <a:xfrm>
            <a:off x="9782175" y="5156746"/>
            <a:ext cx="732548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2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把这句话翻译成中文，写在小白板上。
</a:t>
            </a:r>
            <a:pPr algn="l" indent="0" marL="0">
              <a:lnSpc>
                <a:spcPts val="3600"/>
              </a:lnSpc>
              <a:buNone/>
            </a:pPr>
            <a:r>
              <a:rPr lang="en-US" sz="16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Translate into Chinese: My older sister likes wearing blue jeans.</a:t>
            </a:r>
            <a:endParaRPr lang="en-US" sz="2250" dirty="0"/>
          </a:p>
        </p:txBody>
      </p:sp>
      <p:sp>
        <p:nvSpPr>
          <p:cNvPr id="24" name="Shape 22"/>
          <p:cNvSpPr/>
          <p:nvPr/>
        </p:nvSpPr>
        <p:spPr>
          <a:xfrm>
            <a:off x="0" y="92535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2000" y="9405938"/>
            <a:ext cx="35068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1 of 6 · 穿 + Text 1 Garments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3946535" y="9405938"/>
            <a:ext cx="365105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p.104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430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91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11430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81000"/>
            <a:ext cx="1547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L14 穿着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2132" y="371475"/>
            <a:ext cx="17164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Preview · 下一课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854107" y="3075682"/>
            <a:ext cx="2579787" cy="666750"/>
          </a:xfrm>
          <a:prstGeom prst="roundRect">
            <a:avLst>
              <a:gd name="adj" fmla="val 1427143"/>
            </a:avLst>
          </a:prstGeom>
          <a:solidFill>
            <a:srgbClr val="2C4C7C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022619" y="3132832"/>
            <a:ext cx="22427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下一课 · Next Lesson</a:t>
            </a:r>
            <a:endParaRPr lang="en-US" sz="1500" dirty="0"/>
          </a:p>
        </p:txBody>
      </p:sp>
      <p:pic>
        <p:nvPicPr>
          <p:cNvPr id="9" name="Image 0" descr="/var/folders/6c/210dcgxn4gz5sm71vld2cy1h0000gn/T/y7l14-pptx-5Uk7v3/art/art-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742432"/>
            <a:ext cx="1995636" cy="19050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49808" y="5990332"/>
            <a:ext cx="16788384" cy="746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880"/>
              </a:lnSpc>
              <a:buNone/>
            </a:pPr>
            <a:r>
              <a:rPr lang="en-US" sz="42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下一课 — 颜色 + 的 + 衣服，还有两种裤子：长裤和短裤。</a:t>
            </a:r>
            <a:endParaRPr lang="en-US" sz="4200" dirty="0"/>
          </a:p>
        </p:txBody>
      </p:sp>
      <p:sp>
        <p:nvSpPr>
          <p:cNvPr id="11" name="Text 8"/>
          <p:cNvSpPr/>
          <p:nvPr/>
        </p:nvSpPr>
        <p:spPr>
          <a:xfrm>
            <a:off x="749808" y="6946553"/>
            <a:ext cx="16788384" cy="53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185"/>
              </a:lnSpc>
              <a:buNone/>
            </a:pPr>
            <a:r>
              <a:rPr lang="en-US" sz="27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Next lesson: colours and clothes together, and two kinds of trousers — 长裤 and 短裤.</a:t>
            </a:r>
            <a:endParaRPr lang="en-US" sz="2700" dirty="0"/>
          </a:p>
        </p:txBody>
      </p:sp>
      <p:sp>
        <p:nvSpPr>
          <p:cNvPr id="12" name="Shape 9"/>
          <p:cNvSpPr/>
          <p:nvPr/>
        </p:nvSpPr>
        <p:spPr>
          <a:xfrm>
            <a:off x="0" y="92535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62000" y="9405938"/>
            <a:ext cx="35068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1 of 6 · 穿 + Text 1 Garments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13946535" y="9405938"/>
            <a:ext cx="365105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p.104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2026-09-14T03:46:08Z</dcterms:created>
  <dcterms:modified xsi:type="dcterms:W3CDTF">2026-09-14T03:46:08Z</dcterms:modified>
</cp:coreProperties>
</file>