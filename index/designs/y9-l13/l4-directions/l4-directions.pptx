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42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4056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社区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PP.127–129 · 课文二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请问，怎么走？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Asking the Way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Book 3 · Unit 5 · Lesson 13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358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Lessons 1–3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3967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两部分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39702"/>
            <a:ext cx="10972800" cy="2804071"/>
          </a:xfrm>
          <a:prstGeom prst="roundRect">
            <a:avLst>
              <a:gd name="adj" fmla="val 4529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387352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（甲）说地图，五分钟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拿出上节课画的社区地图。A 对 B 说六十秒，不停；B 听完问一个问题。然后换。取三位上台说。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07821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（乙）填空，三分钟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练习册 p.147 第 8 题，白板作答。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2364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词库：船 · 中间 · 后面 · 方便 · 附近 · 前面 · 有 · 离 · 上边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896023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小明家住在一个离岛上，生活不太＿＿。他们家＿＿没有超级市场，要去超级市场得坐二十分钟的＿＿。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6195"/>
            </a:avLst>
          </a:prstGeom>
          <a:solidFill>
            <a:srgbClr val="DFD9CC"/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ask for directions politely and give a simple two-step route.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539529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请问，……在哪儿？and 请问，去……怎么走？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5395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能有礼貌地问路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31469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过马路 and 一直往前走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31469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能说「过马路」「一直往前走」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418980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join two steps with 先……，然后……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41898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能用「先……，然后……」把两步连起来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kafeigu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37842" y="3866852"/>
            <a:ext cx="10729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kāfēiguǎn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349401" y="4285952"/>
            <a:ext cx="186537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咖啡馆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064371" y="5070723"/>
            <a:ext cx="406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café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YpSXl5tPiy/img/guomal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25793" y="3866852"/>
            <a:ext cx="4124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guò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623250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过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679507" y="5070723"/>
            <a:ext cx="5068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咖啡馆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就在银行对面。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café is right opposite the bank.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你先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过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马路。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cross the road.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过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马路，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咖啡馆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就在你的左边。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 the road and the café is on your left.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问：咖啡馆在哪儿？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咖啡馆在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你先过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写一问一答：一个人问咖啡馆在哪儿，另一个人回答，答句里要有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位置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，还要有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要走几分钟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391" y="176213"/>
            <a:ext cx="4198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yi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77455" y="3866852"/>
            <a:ext cx="5842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yì zhí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一直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11376" y="5070723"/>
            <a:ext cx="7189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straight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YpSXl5tPiy/img/wangq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76642" y="3866852"/>
            <a:ext cx="11247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wǎng qián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往前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572946" y="5070723"/>
            <a:ext cx="724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forward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一直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 going straight.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往前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Please walk forward.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一直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往前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走，五分钟就到了。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 walking straight ahead — five minutes and you're there.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问：「一直往前走」是什么意思？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843" y="176213"/>
            <a:ext cx="4265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你一直 ________ 走。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往前走，就到了。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同一句指路，说两遍——一遍对朋友说，一遍有礼貌地对陌生人说。哪里不一样？（请问 · 请 · 您）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734" y="176213"/>
            <a:ext cx="483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6950" y="1457027"/>
            <a:ext cx="4317950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honglvde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35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86685" y="3866852"/>
            <a:ext cx="14466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hóng lǜ dēng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181451" y="4285952"/>
            <a:ext cx="186537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红绿灯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5530602" y="5070723"/>
            <a:ext cx="1153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traffic lights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前面有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红绿灯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 are traffic lights ahead.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你看到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红绿灯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就过马路。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you see the lights, cross the road.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一直往前走，看到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红绿灯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，咖啡馆就在对面。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 straight, and at the lights the café is opposite.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问：红绿灯——中文按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颜色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叫它，英文按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用途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叫它。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3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看到红绿灯，________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用「先……，然后……」把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动作连起来：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先过马路，然后一直往前走，看到红绿灯就到了。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4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62101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947988"/>
            <a:ext cx="2052340" cy="958751"/>
          </a:xfrm>
          <a:prstGeom prst="roundRect">
            <a:avLst>
              <a:gd name="adj" fmla="val 1324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2323" y="3160663"/>
            <a:ext cx="186689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咖啡馆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39641" y="2947988"/>
            <a:ext cx="2052340" cy="958751"/>
          </a:xfrm>
          <a:prstGeom prst="roundRect">
            <a:avLst>
              <a:gd name="adj" fmla="val 1324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32364" y="3160663"/>
            <a:ext cx="186689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过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69681" y="2947988"/>
            <a:ext cx="2052489" cy="958751"/>
          </a:xfrm>
          <a:prstGeom prst="roundRect">
            <a:avLst>
              <a:gd name="adj" fmla="val 1324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62403" y="3160663"/>
            <a:ext cx="18670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一直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299871" y="2947988"/>
            <a:ext cx="2052340" cy="958751"/>
          </a:xfrm>
          <a:prstGeom prst="roundRect">
            <a:avLst>
              <a:gd name="adj" fmla="val 1324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92594" y="3160663"/>
            <a:ext cx="186689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往前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29911" y="2947988"/>
            <a:ext cx="2052489" cy="958751"/>
          </a:xfrm>
          <a:prstGeom prst="roundRect">
            <a:avLst>
              <a:gd name="adj" fmla="val 1324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22633" y="3160663"/>
            <a:ext cx="18670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红绿灯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9600" y="403368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卡住就回去重教——后面两课全都建在这五个词上。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693" y="176213"/>
            <a:ext cx="484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一条路线是一个顺序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DFD9CC"/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 + 动作一 ，然后 + 动作二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20141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你先过马路。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201414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cross the road.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457842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你先过马路，然后一直往前走。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457842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cross the road, then keep going straight.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46954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你一直往前走，看到红绿灯就过马路。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469547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 straight, and cross when you see the lights.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顺序照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真的走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的顺序说。先＝first，然后＝then。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2718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请问，去银行怎么走？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54163"/>
            <a:ext cx="3448943" cy="1111597"/>
          </a:xfrm>
          <a:prstGeom prst="roundRect">
            <a:avLst>
              <a:gd name="adj" fmla="val 6855"/>
            </a:avLst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600" y="2373213"/>
            <a:ext cx="3448943" cy="0"/>
          </a:xfrm>
          <a:prstGeom prst="line">
            <a:avLst/>
          </a:prstGeom>
          <a:noFill/>
          <a:ln w="38100">
            <a:solidFill>
              <a:srgbClr val="2F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53780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" y="3460998"/>
            <a:ext cx="3448943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363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1525" y="2595414"/>
            <a:ext cx="31875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5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1525" y="2879824"/>
            <a:ext cx="318759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过马路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160044" y="2676525"/>
            <a:ext cx="11218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71529" y="2354163"/>
            <a:ext cx="3448943" cy="1111597"/>
          </a:xfrm>
          <a:prstGeom prst="roundRect">
            <a:avLst>
              <a:gd name="adj" fmla="val 6855"/>
            </a:avLst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71529" y="2373213"/>
            <a:ext cx="3448943" cy="0"/>
          </a:xfrm>
          <a:prstGeom prst="line">
            <a:avLst/>
          </a:prstGeom>
          <a:noFill/>
          <a:ln w="38100">
            <a:solidFill>
              <a:srgbClr val="2F5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5709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1529" y="3460998"/>
            <a:ext cx="3448943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6291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3454" y="2595414"/>
            <a:ext cx="31875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5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33454" y="2879824"/>
            <a:ext cx="318759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一直往前走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921972" y="2676525"/>
            <a:ext cx="11218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133457" y="2354163"/>
            <a:ext cx="3448943" cy="1111597"/>
          </a:xfrm>
          <a:prstGeom prst="roundRect">
            <a:avLst>
              <a:gd name="adj" fmla="val 6855"/>
            </a:avLst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133457" y="2373213"/>
            <a:ext cx="3448943" cy="0"/>
          </a:xfrm>
          <a:prstGeom prst="line">
            <a:avLst/>
          </a:prstGeom>
          <a:noFill/>
          <a:ln w="38100">
            <a:solidFill>
              <a:srgbClr val="2F5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77638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3457" y="3460998"/>
            <a:ext cx="3448943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220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95382" y="2595414"/>
            <a:ext cx="31875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5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95382" y="2879824"/>
            <a:ext cx="318759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走五分钟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09600" y="3643461"/>
            <a:ext cx="10972800" cy="831652"/>
          </a:xfrm>
          <a:prstGeom prst="roundRect">
            <a:avLst>
              <a:gd name="adj" fmla="val 9162"/>
            </a:avLst>
          </a:prstGeom>
          <a:solidFill>
            <a:srgbClr val="B3321E">
              <a:alpha val="11000"/>
            </a:srgbClr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82551" y="3840212"/>
            <a:ext cx="1063543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……就到了。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609600" y="46275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一问一答，三步加一个时间。这就是今天要会说的整句。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73242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举手／放平：「过马路」＝ cross the road？「一直」＝ turn？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73242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第二个是错的——要他们说出为什么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51686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白板：写「先过马路，然后一直往前走」。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51686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it in characters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60527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这句的顺序哪里错了？ 你先走一直，然后过马路。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60527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改过来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29923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请问，去咖啡馆怎么走？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29923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点名一位，要两步的答案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78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8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646" y="176213"/>
            <a:ext cx="478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7188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箭头配词（课本 P.129 第 8 题）· 白板作答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98861"/>
            <a:ext cx="3539133" cy="1727002"/>
          </a:xfrm>
          <a:prstGeom prst="roundRect">
            <a:avLst>
              <a:gd name="adj" fmla="val 735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yi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316" y="1735336"/>
            <a:ext cx="939701" cy="9397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85466" y="2751237"/>
            <a:ext cx="161914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一直往前走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4326434" y="1598861"/>
            <a:ext cx="3539133" cy="1727002"/>
          </a:xfrm>
          <a:prstGeom prst="roundRect">
            <a:avLst>
              <a:gd name="adj" fmla="val 735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YpSXl5tPiy/img/guomal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150" y="1735336"/>
            <a:ext cx="939701" cy="9397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19750" y="2751237"/>
            <a:ext cx="971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过马路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8043267" y="1598861"/>
            <a:ext cx="3539133" cy="1727002"/>
          </a:xfrm>
          <a:prstGeom prst="roundRect">
            <a:avLst>
              <a:gd name="adj" fmla="val 735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YpSXl5tPiy/img/wangqi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983" y="1735336"/>
            <a:ext cx="939701" cy="9397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36584" y="2751237"/>
            <a:ext cx="971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往前走</a:t>
            </a:r>
            <a:endParaRPr lang="en-US" sz="2500" dirty="0"/>
          </a:p>
        </p:txBody>
      </p:sp>
      <p:sp>
        <p:nvSpPr>
          <p:cNvPr id="18" name="Text 13"/>
          <p:cNvSpPr/>
          <p:nvPr/>
        </p:nvSpPr>
        <p:spPr>
          <a:xfrm>
            <a:off x="609600" y="3503563"/>
            <a:ext cx="3539133" cy="1727002"/>
          </a:xfrm>
          <a:prstGeom prst="roundRect">
            <a:avLst>
              <a:gd name="adj" fmla="val 735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YpSXl5tPiy/img/gu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316" y="3640038"/>
            <a:ext cx="939701" cy="93970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02916" y="4655939"/>
            <a:ext cx="971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往右拐</a:t>
            </a:r>
            <a:endParaRPr lang="en-US" sz="2500" dirty="0"/>
          </a:p>
        </p:txBody>
      </p:sp>
      <p:sp>
        <p:nvSpPr>
          <p:cNvPr id="21" name="Text 15"/>
          <p:cNvSpPr/>
          <p:nvPr/>
        </p:nvSpPr>
        <p:spPr>
          <a:xfrm>
            <a:off x="4326434" y="3503563"/>
            <a:ext cx="3539133" cy="1727002"/>
          </a:xfrm>
          <a:prstGeom prst="roundRect">
            <a:avLst>
              <a:gd name="adj" fmla="val 735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YpSXl5tPiy/img/zhu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6150" y="3640038"/>
            <a:ext cx="939701" cy="93970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19750" y="4655939"/>
            <a:ext cx="971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向左转</a:t>
            </a:r>
            <a:endParaRPr lang="en-US" sz="2500" dirty="0"/>
          </a:p>
        </p:txBody>
      </p:sp>
      <p:sp>
        <p:nvSpPr>
          <p:cNvPr id="24" name="Text 17"/>
          <p:cNvSpPr/>
          <p:nvPr/>
        </p:nvSpPr>
        <p:spPr>
          <a:xfrm>
            <a:off x="8043267" y="3503563"/>
            <a:ext cx="3539133" cy="1727002"/>
          </a:xfrm>
          <a:prstGeom prst="roundRect">
            <a:avLst>
              <a:gd name="adj" fmla="val 735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var/folders/6c/210dcgxn4gz5sm71vld2cy1h0000gn/T/tmp.YpSXl5tPiy/img/d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2983" y="3640038"/>
            <a:ext cx="939701" cy="93970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860334" y="4655939"/>
            <a:ext cx="194294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在第一个路口</a:t>
            </a:r>
            <a:endParaRPr lang="en-US" sz="2500" dirty="0"/>
          </a:p>
        </p:txBody>
      </p:sp>
      <p:sp>
        <p:nvSpPr>
          <p:cNvPr id="27" name="Text 19"/>
          <p:cNvSpPr/>
          <p:nvPr/>
        </p:nvSpPr>
        <p:spPr>
          <a:xfrm>
            <a:off x="609600" y="53829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只有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前三个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今天学过。后三个是下节课的——让他们看箭头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猜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，猜的这一下就是下节课的预习。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1780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b · 3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12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P.128 第 7 题 · 十二张店铺图配名字 · </a:t>
            </a: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只认，不背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91308"/>
            <a:ext cx="10972800" cy="1877020"/>
          </a:xfrm>
          <a:prstGeom prst="roundRect">
            <a:avLst>
              <a:gd name="adj" fmla="val 6766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13895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中药房 · 剧场 · 灯具店 · 五金店 · 礼品店 · 糕饼店 · 理发店 · 电器店 · 茶馆 · 钟表店 · 便利店 · 西洋乐器店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8298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开始前先说清楚：这十二个都不是生词，也不考。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免得有人想把十二家店背下来。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1752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两分钟配对比赛，然后对答案。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94602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14278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40620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价值不在词，在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推理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——几乎每一个都能从已经会的字拆出来：中药＋房 · 灯具＋店 · 理发＋店 · 钟表＋店。请两位同学说说他们是怎么猜出来的。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235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097" y="176213"/>
            <a:ext cx="485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638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课文二对话一、二（P.127 · CD 51）· 先看书，再合上书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63911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2583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41227" y="1925836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请问，咖啡馆在哪儿？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" y="2589312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51237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41227" y="2751237"/>
            <a:ext cx="59847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你先过马路，然后一直往前走，走五分钟就到了。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3414713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766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41227" y="3576638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请问，去银行怎么走？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9600" y="4240113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4020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41227" y="4402038"/>
            <a:ext cx="6800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你一直往前走，看到红绿灯向左拐，再走五分钟就到了。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09600" y="50909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换词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：句型不动，把目的地换成一到三课的建筑，分钟数也换。取三组上台。第一轮句型留在黑板上，第二轮擦掉。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延伸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582" y="176213"/>
            <a:ext cx="509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1126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延伸 · 给会说的同学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11288"/>
            <a:ext cx="10972800" cy="1531590"/>
          </a:xfrm>
          <a:prstGeom prst="roundRect">
            <a:avLst>
              <a:gd name="adj" fmla="val 8292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45893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故意说一条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和地图不符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的路线，A 要听出来并用中文纠正：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80436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不对吧，过马路以后应该往前走，不是往回走。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14979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然后再跑一遍：A 很急——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我很急，走路要几分钟？坐车呢？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——B 两个都要答。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92057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11733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380756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都做完了，两人合作把这条路线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下来，写成一段，中间不能出现英文。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30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You Do · 4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1126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看地图问路（课本 P.129 第 9 题）· 每组一张 A5 地图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11288"/>
            <a:ext cx="10972800" cy="1531590"/>
          </a:xfrm>
          <a:prstGeom prst="roundRect">
            <a:avLst>
              <a:gd name="adj" fmla="val 8292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45893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只用今天会的：请问，……在哪儿？ · 请问，去……怎么走？ · 先……然后…… · 过马路 · 一直往前走 · 走 X 分钟就到了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4979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三个情境：1 去邮局　2 去教堂　3 去市政大楼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600" y="392057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11733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380756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三个情境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连成一趟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——从邮局到教堂再到市政大楼，每一段的起点是上一段的终点。一口气说完，不停。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8944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4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838" y="176213"/>
            <a:ext cx="5102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6407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老师说 · 前面留出空地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64097"/>
            <a:ext cx="10972800" cy="1531590"/>
          </a:xfrm>
          <a:prstGeom prst="roundRect">
            <a:avLst>
              <a:gd name="adj" fmla="val 8292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31174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老师说：一直往前走！ · 老师说：过马路！ · 老师说：停！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往前走！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（陷阱——没有「老师说」，动了就出局）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026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练的是不经过英文、直接听懂方向动词。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773388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397013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23356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指令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串起来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——老师说：先过马路，然后一直往前走，看到红绿灯就停——三步都要做对。最后两轮换一位会说的同学当发令人，他要自己编。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285" y="176213"/>
            <a:ext cx="5097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5283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请一位同学现场造一句，示范第三条。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举手：会了 · 差不多 · 还要练，一条一条来。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一张纸条，走的时候交。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学「在第二个路口往右拐」——怎么说转弯。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出门条：翻译 —— First cross the road, then walk straight ahead for five minutes.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2026-10-23T03:06:01Z</dcterms:created>
  <dcterms:modified xsi:type="dcterms:W3CDTF">2026-10-23T03:06:01Z</dcterms:modified>
</cp:coreProperties>
</file>