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45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6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4354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第十三课 · 社区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16593" y="176213"/>
            <a:ext cx="3748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PP.130–131 · 最后一课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我在哪儿？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Build the Town, Give the Route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9 · Book 3 · Unit 5 · Lesson 13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3859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Lessons 4–5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441" y="176213"/>
            <a:ext cx="400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1234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抢词卡 · 方向版 · 两队，每队一人上台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12368"/>
            <a:ext cx="10972800" cy="2058591"/>
          </a:xfrm>
          <a:prstGeom prst="roundRect">
            <a:avLst>
              <a:gd name="adj" fmla="val 6169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7600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黑板上六张卡：往右拐 · 向左转 · 一直往前走 · 过马路 · 第一个路口 · 红绿灯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1054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老师说英文，先拍到的得分。每两轮换人，直到每个人都上过一次。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45087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然后白板三十秒：写「在第二个路口往右拐」。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92325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到现在为止，你们的路线一次只有两三步。今天走完整条路。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888" y="176213"/>
            <a:ext cx="400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816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81720"/>
            <a:ext cx="10972800" cy="784175"/>
          </a:xfrm>
          <a:prstGeom prst="roundRect">
            <a:avLst>
              <a:gd name="adj" fmla="val 16195"/>
            </a:avLst>
          </a:prstGeom>
          <a:solidFill>
            <a:srgbClr val="DFD9CC"/>
          </a:solidFill>
          <a:ln w="19050">
            <a:solidFill>
              <a:srgbClr val="B332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591270"/>
            <a:ext cx="10531602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give a full multi-step route across a map and follow one we hear.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3182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619821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8174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781746"/>
            <a:ext cx="517608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看到……就…… to say what to look out for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116907"/>
            <a:ext cx="51760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能用「看到……就……」说路上要看什么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697932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85985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3859857"/>
            <a:ext cx="614141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finish a route with 就在你的右手边 or 你就可以看到……了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195018"/>
            <a:ext cx="6141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能把路线收尾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776043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493796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4937968"/>
            <a:ext cx="623416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give a three-step route someone else can actually follow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273129"/>
            <a:ext cx="62341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能说一条别人真的走得通的路线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292" y="176213"/>
            <a:ext cx="4006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75062" y="2406253"/>
            <a:ext cx="7931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kàndào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425601" y="2888754"/>
            <a:ext cx="1709928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看到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3104406" y="3988445"/>
            <a:ext cx="325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0" descr="/var/folders/6c/210dcgxn4gz5sm71vld2cy1h0000gn/T/tmp.YpSXl5tPiy/img/yousho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475613" y="3866852"/>
            <a:ext cx="9228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yòushǒu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右手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8459986" y="5070723"/>
            <a:ext cx="954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right hand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441" y="176213"/>
            <a:ext cx="400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看到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红绿灯就过马路。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When you see the lights, cross the road.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银行就在你的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右手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边。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bank is on your right-hand side.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3321E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332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一直往前走，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看到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教堂，公园就在你的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右手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边。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 straight; at the church, the park is on your right.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问：「看」和「看到」有什么不一样？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697" y="176213"/>
            <a:ext cx="4012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3919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3921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DFD9CC"/>
          </a:solidFill>
          <a:ln w="19050">
            <a:solidFill>
              <a:srgbClr val="2F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16306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你看到 ________ 就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82981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就在你的右手边。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3998119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19487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45829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同一条路线写两遍——一遍用「就在你的右手边」收尾，一遍用「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你就可以看到……了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」收尾。然后说说：对一个迷路的人，哪一种更有用？为什么？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7245" y="176213"/>
            <a:ext cx="3945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6950" y="1457027"/>
            <a:ext cx="4317950" cy="4270921"/>
          </a:xfrm>
          <a:prstGeom prst="roundRect">
            <a:avLst>
              <a:gd name="adj" fmla="val 2974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YpSXl5tPiy/img/zh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35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70811" y="3866852"/>
            <a:ext cx="66308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zhōng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791051" y="4285952"/>
            <a:ext cx="621792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钟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5853559" y="5070723"/>
            <a:ext cx="4944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clock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143" y="176213"/>
            <a:ext cx="4007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那个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钟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在市政大楼的前面。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That clock is in front of the city hall.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走五分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钟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就到了。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Five minutes' walk and you're there.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3321E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332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看到那个大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钟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，再走两分</a:t>
            </a:r>
            <a:r>
              <a:rPr lang="en-US" sz="26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钟</a:t>
            </a:r>
            <a:r>
              <a:rPr lang="en-US" sz="2600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就到了。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the big clock, two more minutes and you're there.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问：「分钟」你们从第一课就在说了——今天才第一次见到这个字。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548" y="176213"/>
            <a:ext cx="40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9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9933"/>
            <a:ext cx="10972800" cy="1314450"/>
          </a:xfrm>
          <a:prstGeom prst="roundRect">
            <a:avLst>
              <a:gd name="adj" fmla="val 9662"/>
            </a:avLst>
          </a:prstGeom>
          <a:solidFill>
            <a:srgbClr val="DFD9CC"/>
          </a:solidFill>
          <a:ln w="19050">
            <a:solidFill>
              <a:srgbClr val="2F5A7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378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走 ________ 分钟就到了。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2084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0883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7226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同一趟路说两个版本——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走路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和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坐车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，时间不一样：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走路要二十分钟，坐车十分钟就到了。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44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440" y="176213"/>
            <a:ext cx="4586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7023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97212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583" y="3036838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看到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334917" y="2697212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38900" y="3036838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右手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060234" y="2697212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64217" y="3036838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钟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09600" y="428446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「看到」的「到」和「走到」「就到了」是同一个——看了，而且看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见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了。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58848" y="176213"/>
            <a:ext cx="4337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一条路线要有</a:t>
            </a: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终点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3072"/>
            </a:avLst>
          </a:prstGeom>
          <a:solidFill>
            <a:srgbClr val="DFD9CC"/>
          </a:solidFill>
          <a:ln w="19050">
            <a:solidFill>
              <a:srgbClr val="B332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……就在你的右手边 ／ 你就可以看到……了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286075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医院就在你的右手边。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286075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hospital is on your right.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41471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你就可以看到教堂了。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414715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then you'll be able to see the church.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524879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看到红绿灯向右拐，银行就在你的右手边。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524879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Turn right at the lights and the bank is on your right.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指令说完不等于路线说完。要让对方知道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他到了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2718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如果从你家去市中心公园……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54163"/>
            <a:ext cx="2508349" cy="1111597"/>
          </a:xfrm>
          <a:prstGeom prst="roundRect">
            <a:avLst>
              <a:gd name="adj" fmla="val 6855"/>
            </a:avLst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09600" y="2373213"/>
            <a:ext cx="2508349" cy="0"/>
          </a:xfrm>
          <a:prstGeom prst="line">
            <a:avLst/>
          </a:prstGeom>
          <a:noFill/>
          <a:ln w="38100">
            <a:solidFill>
              <a:srgbClr val="2F5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13187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600" y="3460998"/>
            <a:ext cx="2508349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4363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1525" y="2595414"/>
            <a:ext cx="2228189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F5A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1525" y="2879824"/>
            <a:ext cx="222818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先过马路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219450" y="2676525"/>
            <a:ext cx="11218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430935" y="2354163"/>
            <a:ext cx="2508498" cy="1111597"/>
          </a:xfrm>
          <a:prstGeom prst="roundRect">
            <a:avLst>
              <a:gd name="adj" fmla="val 6855"/>
            </a:avLst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430935" y="2373213"/>
            <a:ext cx="2508498" cy="0"/>
          </a:xfrm>
          <a:prstGeom prst="line">
            <a:avLst/>
          </a:prstGeom>
          <a:noFill/>
          <a:ln w="38100">
            <a:solidFill>
              <a:srgbClr val="2F5A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34670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30935" y="3460998"/>
            <a:ext cx="2508498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35697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92860" y="2595414"/>
            <a:ext cx="222834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F5A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92860" y="2879824"/>
            <a:ext cx="222834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然后一直走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040934" y="2676525"/>
            <a:ext cx="11218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252418" y="2354163"/>
            <a:ext cx="2508498" cy="1111597"/>
          </a:xfrm>
          <a:prstGeom prst="roundRect">
            <a:avLst>
              <a:gd name="adj" fmla="val 6855"/>
            </a:avLst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6252418" y="2373213"/>
            <a:ext cx="2508498" cy="0"/>
          </a:xfrm>
          <a:prstGeom prst="line">
            <a:avLst/>
          </a:prstGeom>
          <a:noFill/>
          <a:ln w="38100">
            <a:solidFill>
              <a:srgbClr val="2F5A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56154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52418" y="3460998"/>
            <a:ext cx="2508498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57181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4343" y="2595414"/>
            <a:ext cx="222834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F5A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14343" y="2879824"/>
            <a:ext cx="222834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第三个路口向右拐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8862417" y="2676525"/>
            <a:ext cx="11218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073902" y="2354163"/>
            <a:ext cx="2508498" cy="1111597"/>
          </a:xfrm>
          <a:prstGeom prst="roundRect">
            <a:avLst>
              <a:gd name="adj" fmla="val 6855"/>
            </a:avLst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9073902" y="2373213"/>
            <a:ext cx="2508498" cy="0"/>
          </a:xfrm>
          <a:prstGeom prst="line">
            <a:avLst/>
          </a:prstGeom>
          <a:noFill/>
          <a:ln w="38100">
            <a:solidFill>
              <a:srgbClr val="2F5A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577637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73902" y="3460998"/>
            <a:ext cx="2508498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78664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35827" y="2595414"/>
            <a:ext cx="222834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F5A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235827" y="2879824"/>
            <a:ext cx="222834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再走五分钟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609600" y="3643461"/>
            <a:ext cx="10972800" cy="831652"/>
          </a:xfrm>
          <a:prstGeom prst="roundRect">
            <a:avLst>
              <a:gd name="adj" fmla="val 9162"/>
            </a:avLst>
          </a:prstGeom>
          <a:solidFill>
            <a:srgbClr val="B3321E">
              <a:alpha val="11000"/>
            </a:srgbClr>
          </a:solidFill>
          <a:ln w="19050">
            <a:solidFill>
              <a:srgbClr val="B332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82551" y="3840212"/>
            <a:ext cx="1063543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你就可以看到市中心公园了。</a:t>
            </a:r>
            <a:endParaRPr lang="en-US" sz="2500" dirty="0"/>
          </a:p>
        </p:txBody>
      </p:sp>
      <p:sp>
        <p:nvSpPr>
          <p:cNvPr id="42" name="Text 40"/>
          <p:cNvSpPr/>
          <p:nvPr/>
        </p:nvSpPr>
        <p:spPr>
          <a:xfrm>
            <a:off x="609600" y="46275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全班一起数：一共几步？ 四步，然后收尾。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142" y="176213"/>
            <a:ext cx="4589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1128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11312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3732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373237"/>
            <a:ext cx="54406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「看到」和「看」意思完全一样——对不对？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824038"/>
            <a:ext cx="544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这句是错的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405063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56698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566988"/>
            <a:ext cx="435254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白板：写「邮局就在你的右手边」。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3017788"/>
            <a:ext cx="43525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it in characters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598813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7607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760738"/>
            <a:ext cx="605275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这句少了一个字。是哪个？ 你看红绿灯就过马路。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09600" y="4475113"/>
            <a:ext cx="10972800" cy="1041350"/>
          </a:xfrm>
          <a:prstGeom prst="roundRect">
            <a:avLst>
              <a:gd name="adj" fmla="val 7317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46370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4637038"/>
            <a:ext cx="40805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「走五分钟就到了」是什么意思？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79327" y="5087838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D6A4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点名，用中文说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9600" y="564341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9180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六节课的全部生词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547" y="176213"/>
            <a:ext cx="4595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3068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第十三课 · 全部生词 · CHARACTERS ONLY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57660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9810" y="1894136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市中心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459534" y="1757660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529743" y="1894136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生活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309467" y="1757660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79677" y="1894136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方便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59401" y="1757660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29610" y="1894136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邮局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009334" y="1757660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79544" y="1894136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诊所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859268" y="1757660"/>
            <a:ext cx="1723132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929476" y="1894136"/>
            <a:ext cx="158271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09600" y="2624286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9810" y="2760762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百货公司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459534" y="2624286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529743" y="2760762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市政大楼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309467" y="2624286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79677" y="2760762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教堂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159401" y="2624286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29610" y="2760762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公园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009334" y="2624286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079544" y="2760762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咖啡馆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859268" y="2624286"/>
            <a:ext cx="1723132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929476" y="2760762"/>
            <a:ext cx="158271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过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09600" y="3490913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9810" y="3627388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一直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2459534" y="3490913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529743" y="3627388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往前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4309467" y="3490913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379677" y="3627388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红绿灯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159401" y="3490913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229610" y="3627388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向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8009334" y="3490913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079544" y="3627388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拐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9859268" y="3490913"/>
            <a:ext cx="1723132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929476" y="3627388"/>
            <a:ext cx="158271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转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609600" y="4357539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79810" y="4494014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路口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2459534" y="4357539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2529743" y="4494014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4309467" y="4357539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379677" y="4494014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看到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6159401" y="4357539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229610" y="4494014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右手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8009334" y="4357539"/>
            <a:ext cx="1722983" cy="739676"/>
          </a:xfrm>
          <a:prstGeom prst="roundRect">
            <a:avLst>
              <a:gd name="adj" fmla="val 17170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8079544" y="4494014"/>
            <a:ext cx="158256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钟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609600" y="522416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这块板整节课都留在屏幕上——建城和猜路线都靠它。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785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We Do · 8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3862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全班建一座城 · 黑板上已经画好空白街道网（四横四竖）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38648"/>
            <a:ext cx="10972800" cy="1877020"/>
          </a:xfrm>
          <a:prstGeom prst="roundRect">
            <a:avLst>
              <a:gd name="adj" fmla="val 6766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28629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每组拿一张 A4 卡，从上面的总览板里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挑一座建筑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，画出来，用汉字标上名字。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63172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一组一组上来，把卡贴在网格上任何位置——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贴的代价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是用中文说一句话，把它摆好：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97715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我们的银行在第二个路口，就在邮局对面。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32258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最后黑板上是一座十二到十五座建筑的共享城市，而且每个学生都出声说过一句摆位句。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600" y="409336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29012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55354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不贴自己的卡。听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前一组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的摆位句，按他们说的把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他们的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卡贴上去。贴错了，他们可以用中文纠正你。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642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You Do · 11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952" y="176213"/>
            <a:ext cx="4601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6407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我在哪儿？ · 今天的重头戏 · 三人一组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64097"/>
            <a:ext cx="10972800" cy="1531590"/>
          </a:xfrm>
          <a:prstGeom prst="roundRect">
            <a:avLst>
              <a:gd name="adj" fmla="val 8292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31174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每组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偷偷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选一个终点，写一条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三步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的路线，起点是网格下方标着「你」的那一点。四分钟写。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6571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然后每组把路线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慢慢念一遍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，其余同学在心里走，把终点写在白板上。喊「三、二、一」，一起举起来。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0026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一半以上的人走对了，该组得 2 分；一个人都没走对，0 分，重写。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600" y="3773388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397013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23356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路线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倒着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说——从终点说回「你」——让全班推出起点在哪儿。或者：说一条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四步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的路线，里面故意藏一个错，全班要用中文说出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哪一步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错了、怎么改，不能只用手指地图。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句型支架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9500" y="176213"/>
            <a:ext cx="4534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2718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你先过马路，然后……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54163"/>
            <a:ext cx="3448943" cy="1111597"/>
          </a:xfrm>
          <a:prstGeom prst="roundRect">
            <a:avLst>
              <a:gd name="adj" fmla="val 6855"/>
            </a:avLst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09600" y="2373213"/>
            <a:ext cx="3448943" cy="0"/>
          </a:xfrm>
          <a:prstGeom prst="line">
            <a:avLst/>
          </a:prstGeom>
          <a:noFill/>
          <a:ln w="38100">
            <a:solidFill>
              <a:srgbClr val="2F5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53780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600" y="3460998"/>
            <a:ext cx="3448943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4363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1525" y="2595414"/>
            <a:ext cx="318759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F5A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1525" y="2879824"/>
            <a:ext cx="318759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一直往前走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160044" y="2676525"/>
            <a:ext cx="11218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371529" y="2354163"/>
            <a:ext cx="3448943" cy="1111597"/>
          </a:xfrm>
          <a:prstGeom prst="roundRect">
            <a:avLst>
              <a:gd name="adj" fmla="val 6855"/>
            </a:avLst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371529" y="2373213"/>
            <a:ext cx="3448943" cy="0"/>
          </a:xfrm>
          <a:prstGeom prst="line">
            <a:avLst/>
          </a:prstGeom>
          <a:noFill/>
          <a:ln w="38100">
            <a:solidFill>
              <a:srgbClr val="2F5A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5709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71529" y="3460998"/>
            <a:ext cx="3448943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76291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3454" y="2595414"/>
            <a:ext cx="318759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F5A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33454" y="2879824"/>
            <a:ext cx="318759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第二个路口向左拐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921972" y="2676525"/>
            <a:ext cx="11218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›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133457" y="2354163"/>
            <a:ext cx="3448943" cy="1111597"/>
          </a:xfrm>
          <a:prstGeom prst="roundRect">
            <a:avLst>
              <a:gd name="adj" fmla="val 6855"/>
            </a:avLst>
          </a:prstGeom>
          <a:solidFill>
            <a:srgbClr val="ECE8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8133457" y="2373213"/>
            <a:ext cx="3448943" cy="0"/>
          </a:xfrm>
          <a:prstGeom prst="line">
            <a:avLst/>
          </a:prstGeom>
          <a:noFill/>
          <a:ln w="38100">
            <a:solidFill>
              <a:srgbClr val="2F5A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77638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3457" y="3460998"/>
            <a:ext cx="3448943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220" y="2354163"/>
            <a:ext cx="0" cy="1111597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95382" y="2595414"/>
            <a:ext cx="318759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2F5A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95382" y="2879824"/>
            <a:ext cx="3187595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看到红绿灯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609600" y="3643461"/>
            <a:ext cx="10972800" cy="831652"/>
          </a:xfrm>
          <a:prstGeom prst="roundRect">
            <a:avLst>
              <a:gd name="adj" fmla="val 9162"/>
            </a:avLst>
          </a:prstGeom>
          <a:solidFill>
            <a:srgbClr val="B3321E">
              <a:alpha val="11000"/>
            </a:srgbClr>
          </a:solidFill>
          <a:ln w="19050">
            <a:solidFill>
              <a:srgbClr val="B332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82551" y="3840212"/>
            <a:ext cx="1063543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就在你的右手边。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609600" y="46275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只留前两轮</a:t>
            </a: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，第三轮起擦掉——后面要他们自己组织。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3369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更难的地图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398" y="176213"/>
            <a:ext cx="4596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1234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早做完的组 · 换课本 P.130 第 11 题的地图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12368"/>
            <a:ext cx="10972800" cy="2058591"/>
          </a:xfrm>
          <a:prstGeom prst="roundRect">
            <a:avLst>
              <a:gd name="adj" fmla="val 6169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7600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那张地图比黑板上的网格难——街道更多，没有提示，而且书上的范例答案是一条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三次转弯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的真路线。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1054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四个情境全写：去医院 · 去体育中心 · 去咖啡馆 · 去市政大楼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45087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写完两人互相走一遍，趁全班还在起草。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92325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写完还有时间，就把四条连成一趟，一口气说完。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30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You Do · 4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803" y="176213"/>
            <a:ext cx="4602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6407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听力 · 课本 P.131 第 12 题 · CD 52 · 放两遍 · 按队计分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64097"/>
            <a:ext cx="10972800" cy="1531590"/>
          </a:xfrm>
          <a:prstGeom prst="roundRect">
            <a:avLst>
              <a:gd name="adj" fmla="val 8292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31174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每人一张 A5 街道图，格子 A–H。六条指路，六个地方写字母：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6571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超市 · 邮局 · 诊所 · 银行 · 市政大楼 · 教堂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0026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各队统计答对几个，加进活动二的总分。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600" y="3773388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D6A4F">
              <a:alpha val="10000"/>
            </a:srgbClr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397013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23356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只听一遍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，而且不写字母——写下六条里各自的</a:t>
            </a:r>
            <a:r>
              <a:rPr lang="en-US" sz="1600" b="1" dirty="0">
                <a:solidFill>
                  <a:srgbClr val="2D6A4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转弯动作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：往右拐 / 过马路 / 往右转两次 / 在第二个路口过马路 / 往左拐 / 往右拐。然后念出来，看全班同不同意。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整个单元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5942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这是第六课，所以回看</a:t>
            </a: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六节课</a:t>
            </a:r>
            <a:r>
              <a:rPr lang="en-US" sz="1100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，不只是今天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759446"/>
            <a:ext cx="10972800" cy="486221"/>
          </a:xfrm>
          <a:prstGeom prst="roundRect">
            <a:avLst>
              <a:gd name="adj" fmla="val 1567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85782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857821"/>
            <a:ext cx="376080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我家住在哪儿 —— 离……远／不远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309068"/>
            <a:ext cx="10972800" cy="486221"/>
          </a:xfrm>
          <a:prstGeom prst="roundRect">
            <a:avLst>
              <a:gd name="adj" fmla="val 1567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407444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03127" y="2407444"/>
            <a:ext cx="544341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二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社区里有什么 —— 诊所、银行、百货公司、市政大楼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2858691"/>
            <a:ext cx="10972800" cy="486221"/>
          </a:xfrm>
          <a:prstGeom prst="roundRect">
            <a:avLst>
              <a:gd name="adj" fmla="val 1567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2957066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203127" y="2957066"/>
            <a:ext cx="397105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前面、后面 —— 把整条街连成一段话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3408313"/>
            <a:ext cx="10972800" cy="486221"/>
          </a:xfrm>
          <a:prstGeom prst="roundRect">
            <a:avLst>
              <a:gd name="adj" fmla="val 1567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350668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203127" y="3506688"/>
            <a:ext cx="439171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请问，怎么走？ —— 过马路、一直往前走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9600" y="3957935"/>
            <a:ext cx="10972800" cy="486221"/>
          </a:xfrm>
          <a:prstGeom prst="roundRect">
            <a:avLst>
              <a:gd name="adj" fmla="val 1567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05631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4056311"/>
            <a:ext cx="418146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第……个路口、往左／右拐 —— 写路线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" y="4507557"/>
            <a:ext cx="10972800" cy="486221"/>
          </a:xfrm>
          <a:prstGeom prst="roundRect">
            <a:avLst>
              <a:gd name="adj" fmla="val 15672"/>
            </a:avLst>
          </a:prstGeom>
          <a:solidFill>
            <a:srgbClr val="ECE8DF"/>
          </a:solidFill>
          <a:ln w="9525">
            <a:solidFill>
              <a:srgbClr val="DCD5C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6826" y="460593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332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203127" y="4605933"/>
            <a:ext cx="376080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</a:t>
            </a: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看到……就……、右手边 —— 收尾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600" y="509528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每一行写：会了 · 差不多 · 还要练。</a:t>
            </a:r>
            <a:r>
              <a:rPr lang="en-US" sz="1200" b="1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「差不多」最多的那一行，就是测验前要先热身的那一课。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7F5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CD5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7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78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B332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5283"/>
            </a:avLst>
          </a:prstGeom>
          <a:solidFill>
            <a:srgbClr val="ECE8DF"/>
          </a:solidFill>
          <a:ln w="19050">
            <a:solidFill>
              <a:srgbClr val="BFB6A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读今天三条，再问全班：哪一节课最难？取三个答案，能用中文就用中文。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写一条</a:t>
            </a: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完整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的路线，从教室到学校里任何一个地方，至少三步，用「就在你的右手边」或「你就可以看到……了」收尾。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3321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下一课</a:t>
            </a:r>
            <a:r>
              <a:rPr lang="en-US" sz="17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第十四课《问路》——一样是问路，可是这次要坐公共汽车：坐几路车？坐几站？在哪站下车？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1F29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出门条：从我们的教室去 ____________ ，怎么走？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2026-10-23T03:08:12Z</dcterms:created>
  <dcterms:modified xsi:type="dcterms:W3CDTF">2026-10-23T03:08:12Z</dcterms:modified>
</cp:coreProperties>
</file>