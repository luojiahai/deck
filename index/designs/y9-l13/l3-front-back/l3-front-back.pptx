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33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3163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5700" y="176213"/>
            <a:ext cx="3757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PP.122, 124, 126 · 课文一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前面、后面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Front, Back &amp; the Whole Street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358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Lessons 1–2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7194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改错 · 白板，九十秒 · 黑板上还有一句是</a:t>
            </a: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</a:t>
            </a: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98923"/>
            <a:ext cx="2844701" cy="657225"/>
          </a:xfrm>
          <a:prstGeom prst="roundRect">
            <a:avLst>
              <a:gd name="adj" fmla="val 11594"/>
            </a:avLst>
          </a:prstGeom>
          <a:solidFill>
            <a:srgbClr val="B3321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21322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银行在对面邮局。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49452" y="2098923"/>
            <a:ext cx="2844701" cy="657225"/>
          </a:xfrm>
          <a:prstGeom prst="roundRect">
            <a:avLst>
              <a:gd name="adj" fmla="val 11594"/>
            </a:avLst>
          </a:prstGeom>
          <a:solidFill>
            <a:srgbClr val="2D6A4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52602" y="221322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银行在邮局对面。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73503" y="2313236"/>
            <a:ext cx="1744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地标先说，「对面」后说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035350"/>
            <a:ext cx="3454301" cy="657225"/>
          </a:xfrm>
          <a:prstGeom prst="roundRect">
            <a:avLst>
              <a:gd name="adj" fmla="val 11594"/>
            </a:avLst>
          </a:prstGeom>
          <a:solidFill>
            <a:srgbClr val="B3321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149650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我家离市中心很方便。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59052" y="3035350"/>
            <a:ext cx="3149501" cy="657225"/>
          </a:xfrm>
          <a:prstGeom prst="roundRect">
            <a:avLst>
              <a:gd name="adj" fmla="val 11594"/>
            </a:avLst>
          </a:prstGeom>
          <a:solidFill>
            <a:srgbClr val="2D6A4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202" y="3149650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我家离市中心很远。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987903" y="3249662"/>
            <a:ext cx="158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方便说生活，不说距离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3971776"/>
            <a:ext cx="3759101" cy="657225"/>
          </a:xfrm>
          <a:prstGeom prst="roundRect">
            <a:avLst>
              <a:gd name="adj" fmla="val 11594"/>
            </a:avLst>
          </a:prstGeom>
          <a:solidFill>
            <a:srgbClr val="B3321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750" y="4086076"/>
            <a:ext cx="34198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市政大楼就在旁边公园。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63852" y="3971776"/>
            <a:ext cx="3759101" cy="657225"/>
          </a:xfrm>
          <a:prstGeom prst="roundRect">
            <a:avLst>
              <a:gd name="adj" fmla="val 11594"/>
            </a:avLst>
          </a:prstGeom>
          <a:solidFill>
            <a:srgbClr val="2D6A4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67002" y="4086076"/>
            <a:ext cx="34198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市政大楼就在公园旁边。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02303" y="4186089"/>
            <a:ext cx="1109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同样：地标在前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488290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第四句（对的，不要改）：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诊所的左边是百货公司。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改法从台下来，不从台上来。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995" y="176213"/>
            <a:ext cx="4009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11051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use 前面 and 后面, and describe a whole neighbourhood in a connected paragraph.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36216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教堂 and 公园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36216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能说出教堂和公园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31089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A 在 B 的前面／后面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能用「在……的前面／后面」摆位置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689254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describe a neighbourhood in four or more connected sentences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6892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能说一段话（四句以上）介绍我的社区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qianm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33824" y="3866852"/>
            <a:ext cx="10813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qián mian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041303" y="5070723"/>
            <a:ext cx="454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YpSXl5tPiy/img/houm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27541" y="3866852"/>
            <a:ext cx="10208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hòu mian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后面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708975" y="5070723"/>
            <a:ext cx="446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银行在邮局的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bank is in front of the post office.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后面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有一个超市。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supermarket behind my house.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诊所在银行的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，百货公司在银行的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后面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clinic is in front of the bank, the department store behind it.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问：你家的后面有什么？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在 ________ 的前面。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我家的后面有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一句话摆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座建筑，用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三个不同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的位置词，其中至少一个是前面或后面。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352" y="176213"/>
            <a:ext cx="3954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jiaot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29223" y="3866852"/>
            <a:ext cx="886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jiàotáng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教堂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54089" y="5070723"/>
            <a:ext cx="6318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church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YpSXl5tPiy/img/gongyu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04473" y="3866852"/>
            <a:ext cx="10680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gōngyuán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726239" y="5070723"/>
            <a:ext cx="4116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park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250" y="176213"/>
            <a:ext cx="401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教堂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离我家很近，走路十分钟就到了。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church is close to my home — ten minutes' walk.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在市政大楼的后面。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park is behind the city hall.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教堂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的旁边是一个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Beside the church is a park.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问：公园在哪儿？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91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921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6306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教堂在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82981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的旁边是一个公园。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399811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19487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4582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用「因为……，所以……」：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因为我家附近有一个大公园，所以我每天都去跑步。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再说公园在哪儿——要用两个别的建筑定位。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7023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9721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3683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9721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3683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后面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9721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3683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教堂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97212"/>
            <a:ext cx="2590949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3683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844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「面」自己是「side」——前面、后面、对面，都是同一个「面」。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连成一段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7955" y="176213"/>
            <a:ext cx="4346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一段话是怎么连起来的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先说「我家」→ 每一句挂在上一句提过的地方上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38084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我家住在市中心，生活很方便。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380847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Opens with the speaker.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21762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邮局离我家不远。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21762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Hangs off 我家.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29923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超级市场就在邮局对面。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299237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Hangs off 邮局.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这不是一张清单——是一条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链子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。每一句都抓住前一句里的地方。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9777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p.122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7906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全文 · 一起读两遍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79091"/>
            <a:ext cx="10972800" cy="2110383"/>
          </a:xfrm>
          <a:prstGeom prst="roundRect">
            <a:avLst>
              <a:gd name="adj" fmla="val 6018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02941"/>
            <a:ext cx="1047998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2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我家住在市中心，生活很方便。邮局离我家不远。超级市场就在邮局对面。邮局的左边是诊所，右边是银行。市政大楼在百货公司的前面。我家附近还有一个大教堂。教堂的后面是一个小学，旁边是一个公园。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4041874"/>
            <a:ext cx="10972800" cy="1262360"/>
          </a:xfrm>
          <a:prstGeom prst="roundRect">
            <a:avLst>
              <a:gd name="adj" fmla="val 10060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4289524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超级市场在哪儿？ · 邮局的右边是什么？ · 教堂的后面有什么？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711154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注意「还有」——它把一个新地标带进来，然后「教堂」就变成下两句的地标。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249" y="176213"/>
            <a:ext cx="4598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9249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我说两座建筑和一个位置词——是「前面」就往前指，是「后面」就往后指。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92491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六次，全班一起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白板：写「公园在教堂的后面」。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it in characters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41485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这句哪里错了？ 公园在后面教堂。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4148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改过来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教堂的后面是什么？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用中文回答，答案在课文里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1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Summary 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654" y="176213"/>
            <a:ext cx="4604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940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95586"/>
            <a:ext cx="2609850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shizhongx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425" y="1732062"/>
            <a:ext cx="838200" cy="838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1125" y="2671763"/>
            <a:ext cx="108813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市中心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397151" y="1595586"/>
            <a:ext cx="2609999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YpSXl5tPiy/img/youj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976" y="1732062"/>
            <a:ext cx="838200" cy="838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6525" y="2671763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6184850" y="1595586"/>
            <a:ext cx="2609850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YpSXl5tPiy/img/zhensu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675" y="1732062"/>
            <a:ext cx="838200" cy="838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4076" y="2671763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诊所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8972401" y="1595586"/>
            <a:ext cx="2609999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YpSXl5tPiy/img/yinha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226" y="1732062"/>
            <a:ext cx="838200" cy="838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921776" y="2671763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</a:t>
            </a:r>
            <a:endParaRPr lang="en-US" sz="2800" dirty="0"/>
          </a:p>
        </p:txBody>
      </p:sp>
      <p:sp>
        <p:nvSpPr>
          <p:cNvPr id="21" name="Text 15"/>
          <p:cNvSpPr/>
          <p:nvPr/>
        </p:nvSpPr>
        <p:spPr>
          <a:xfrm>
            <a:off x="609600" y="3490764"/>
            <a:ext cx="2609850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YpSXl5tPiy/img/baihu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425" y="3627239"/>
            <a:ext cx="838200" cy="838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30375" y="4566940"/>
            <a:ext cx="11915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百货公司</a:t>
            </a:r>
            <a:endParaRPr lang="en-US" sz="2300" dirty="0"/>
          </a:p>
        </p:txBody>
      </p:sp>
      <p:sp>
        <p:nvSpPr>
          <p:cNvPr id="24" name="Text 17"/>
          <p:cNvSpPr/>
          <p:nvPr/>
        </p:nvSpPr>
        <p:spPr>
          <a:xfrm>
            <a:off x="3397151" y="3490764"/>
            <a:ext cx="2609999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var/folders/6c/210dcgxn4gz5sm71vld2cy1h0000gn/T/tmp.YpSXl5tPiy/img/shizhe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2976" y="3627239"/>
            <a:ext cx="838200" cy="838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118074" y="4566940"/>
            <a:ext cx="11915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市政大楼</a:t>
            </a:r>
            <a:endParaRPr lang="en-US" sz="2300" dirty="0"/>
          </a:p>
        </p:txBody>
      </p:sp>
      <p:sp>
        <p:nvSpPr>
          <p:cNvPr id="27" name="Text 19"/>
          <p:cNvSpPr/>
          <p:nvPr/>
        </p:nvSpPr>
        <p:spPr>
          <a:xfrm>
            <a:off x="6184850" y="3490764"/>
            <a:ext cx="2609850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6" descr="/var/folders/6c/210dcgxn4gz5sm71vld2cy1h0000gn/T/tmp.YpSXl5tPiy/img/jiaota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0675" y="3627239"/>
            <a:ext cx="838200" cy="838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34076" y="4566940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教堂</a:t>
            </a:r>
            <a:endParaRPr lang="en-US" sz="2800" dirty="0"/>
          </a:p>
        </p:txBody>
      </p:sp>
      <p:sp>
        <p:nvSpPr>
          <p:cNvPr id="30" name="Text 21"/>
          <p:cNvSpPr/>
          <p:nvPr/>
        </p:nvSpPr>
        <p:spPr>
          <a:xfrm>
            <a:off x="8972401" y="3490764"/>
            <a:ext cx="2609999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7" descr="/var/folders/6c/210dcgxn4gz5sm71vld2cy1h0000gn/T/tmp.YpSXl5tPiy/img/gongyu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8226" y="3627239"/>
            <a:ext cx="838200" cy="8382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921776" y="4566940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</a:t>
            </a:r>
            <a:endParaRPr lang="en-US" sz="2800" dirty="0"/>
          </a:p>
        </p:txBody>
      </p:sp>
      <p:sp>
        <p:nvSpPr>
          <p:cNvPr id="33" name="Text 23"/>
          <p:cNvSpPr/>
          <p:nvPr/>
        </p:nvSpPr>
        <p:spPr>
          <a:xfrm>
            <a:off x="609600" y="536064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加上「生活」和「方便」——一共十个。看一分钟，然后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盖起来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8405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社区总览 · 看一分钟，然后把板盖起来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84078"/>
            <a:ext cx="10972800" cy="1186160"/>
          </a:xfrm>
          <a:prstGeom prst="roundRect">
            <a:avLst>
              <a:gd name="adj" fmla="val 10707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6317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第一轮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两人一组，凭记忆把十个词用汉字写下来，然后打开板自己对。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7715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第二轮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漏掉的每一个词，写一句话，把它摆在一个你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记得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的词旁边。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74793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394468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20811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不写清单。写一段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四句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话，描述一条想象的街，十个词全部用上，每句挂着上一句。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板全程盖着。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15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We Do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059" y="176213"/>
            <a:ext cx="4610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12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词卡走动（课本 P.124 第 3 题）· 每人一张卡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130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13895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卡片：我们学校 · 离 · 很远 · 有 · 附近 · 市中心 · 银行 · 每个星期天 · 在 · 对面 · 百货公司 · 教堂 · 公园 · 的前面 · 的后面 · 是 · 一个 · 大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8298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走动，找到能和你的卡组成句子的人，站成一句。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752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各组念出自己的句子，全班表决：对 / 不对。做两轮，中间换卡。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94602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14278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40620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一位同学拿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多余的卡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（一个用不上的「很」或「了」），他的任务是去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加入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每一组。每组都要用中文把他赶走，并说出理由：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不行，因为这句不要「了」。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30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You Do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8607" y="176213"/>
            <a:ext cx="4543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3862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听力 · 课本 P.126 第 5 题 · CD 50 · 放两遍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3864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862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两层楼平面图，格子 A–J。把九个房间的字母写下来：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317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哥哥的卧室 · 客厅 · 浴室 · 爸爸、妈妈的卧室 · 厨房 · 书房 · 小明的卧室 · 电视房 · 活动室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97715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房间名是二年级学过的，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真正要听的是位置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——在……对面 · 在……的隔壁 · 在右手边 · 一上楼就看见了。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409336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29012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55354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只听一遍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，而且不写字母——写下你听到的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五个位置词组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。然后用其中三个说说学校的教学楼。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30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活动四 · You Do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505" y="176213"/>
            <a:ext cx="460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931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活动四 · 两部分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93218"/>
            <a:ext cx="10972800" cy="2567880"/>
          </a:xfrm>
          <a:prstGeom prst="roundRect">
            <a:avLst>
              <a:gd name="adj" fmla="val 4946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94086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（甲）翻译，三分钟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练习册 p.147 第 7 题——也是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单元测验第三部分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的题型。四句都写在本子上：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2862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· The post office is not far from my home.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6317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· The clinic is in front of the park.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297715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· The church is opposite to the city hall.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3225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· The bank is behind the department store.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3450" y="3668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（乙）画地图，两分钟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A4 纸，画自己社区的草图，至少五个地方，用汉字标出来。下节课要用。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600" y="443879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250" y="463555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250" y="489897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四句写完，自己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再用英文出四句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，和同伴交换翻译。你出的四句，位置词不能和书上的重复。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1910" y="176213"/>
            <a:ext cx="4611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特别问第三条——今天「说一段话」做得到吗？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白板：会了 · 差不多 · 还要练，一条一条来。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就写你刚画的那张地图。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走到街上——学怎么问路：「请问，咖啡馆在哪儿？」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出门条：写三句，讲你画的地图，三个不同的位置词，至少一个是前面或后面。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2026-10-23T03:05:02Z</dcterms:created>
  <dcterms:modified xsi:type="dcterms:W3CDTF">2026-10-23T03:05:02Z</dcterms:modified>
</cp:coreProperties>
</file>