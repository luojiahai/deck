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16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1526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第十一课 · 零食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15849" y="176213"/>
            <a:ext cx="3755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3 · PP.107–109 · 全课复习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吃完饭以后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After we finish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9 · Unit 4 · Lesson 11 · Lesson 5 of 5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6274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第十一课全部生词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697" y="176213"/>
            <a:ext cx="4012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5413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第十一课 · 二十四个生词 · 只有汉字 · 一起读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281113"/>
            <a:ext cx="1659434" cy="1314450"/>
          </a:xfrm>
          <a:prstGeom prst="roundRect">
            <a:avLst>
              <a:gd name="adj" fmla="val 966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7390" y="1404938"/>
            <a:ext cx="15438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零食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72184" y="1281113"/>
            <a:ext cx="1659582" cy="1314450"/>
          </a:xfrm>
          <a:prstGeom prst="roundRect">
            <a:avLst>
              <a:gd name="adj" fmla="val 966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529972" y="1404938"/>
            <a:ext cx="154400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各种各样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334917" y="1281113"/>
            <a:ext cx="1659434" cy="1314450"/>
          </a:xfrm>
          <a:prstGeom prst="roundRect">
            <a:avLst>
              <a:gd name="adj" fmla="val 966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92707" y="1404938"/>
            <a:ext cx="15438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比如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97501" y="1281113"/>
            <a:ext cx="1659582" cy="1314450"/>
          </a:xfrm>
          <a:prstGeom prst="roundRect">
            <a:avLst>
              <a:gd name="adj" fmla="val 966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55289" y="1404938"/>
            <a:ext cx="154400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巧克力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060234" y="1281113"/>
            <a:ext cx="1659434" cy="1314450"/>
          </a:xfrm>
          <a:prstGeom prst="roundRect">
            <a:avLst>
              <a:gd name="adj" fmla="val 966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18024" y="1404938"/>
            <a:ext cx="15438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蛋糕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922818" y="1281113"/>
            <a:ext cx="1659582" cy="1314450"/>
          </a:xfrm>
          <a:prstGeom prst="roundRect">
            <a:avLst>
              <a:gd name="adj" fmla="val 966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980606" y="1404938"/>
            <a:ext cx="154400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冰淇淋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09600" y="2798713"/>
            <a:ext cx="1659434" cy="781050"/>
          </a:xfrm>
          <a:prstGeom prst="roundRect">
            <a:avLst>
              <a:gd name="adj" fmla="val 1626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67390" y="2922538"/>
            <a:ext cx="15438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饼干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2472184" y="2798713"/>
            <a:ext cx="1659582" cy="781050"/>
          </a:xfrm>
          <a:prstGeom prst="roundRect">
            <a:avLst>
              <a:gd name="adj" fmla="val 1626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529972" y="2922538"/>
            <a:ext cx="154400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牙齿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334917" y="2798713"/>
            <a:ext cx="1659434" cy="781050"/>
          </a:xfrm>
          <a:prstGeom prst="roundRect">
            <a:avLst>
              <a:gd name="adj" fmla="val 1626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392707" y="2922538"/>
            <a:ext cx="15438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从小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197501" y="2798713"/>
            <a:ext cx="1659582" cy="781050"/>
          </a:xfrm>
          <a:prstGeom prst="roundRect">
            <a:avLst>
              <a:gd name="adj" fmla="val 1626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255289" y="2922538"/>
            <a:ext cx="154400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总是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8060234" y="2798713"/>
            <a:ext cx="1659434" cy="781050"/>
          </a:xfrm>
          <a:prstGeom prst="roundRect">
            <a:avLst>
              <a:gd name="adj" fmla="val 1626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118024" y="2922538"/>
            <a:ext cx="15438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正餐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922818" y="2798713"/>
            <a:ext cx="1659582" cy="781050"/>
          </a:xfrm>
          <a:prstGeom prst="roundRect">
            <a:avLst>
              <a:gd name="adj" fmla="val 1626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980606" y="2922538"/>
            <a:ext cx="154400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谷类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09600" y="3782913"/>
            <a:ext cx="1659434" cy="781050"/>
          </a:xfrm>
          <a:prstGeom prst="roundRect">
            <a:avLst>
              <a:gd name="adj" fmla="val 1626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67390" y="3906738"/>
            <a:ext cx="15438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加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2472184" y="3782913"/>
            <a:ext cx="1659582" cy="781050"/>
          </a:xfrm>
          <a:prstGeom prst="roundRect">
            <a:avLst>
              <a:gd name="adj" fmla="val 1626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529972" y="3906738"/>
            <a:ext cx="154400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牛奶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4334917" y="3782913"/>
            <a:ext cx="1659434" cy="781050"/>
          </a:xfrm>
          <a:prstGeom prst="roundRect">
            <a:avLst>
              <a:gd name="adj" fmla="val 1626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392707" y="3906738"/>
            <a:ext cx="15438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面包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6197501" y="3782913"/>
            <a:ext cx="1659582" cy="781050"/>
          </a:xfrm>
          <a:prstGeom prst="roundRect">
            <a:avLst>
              <a:gd name="adj" fmla="val 1626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255289" y="3906738"/>
            <a:ext cx="154400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煎蛋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8060234" y="3782913"/>
            <a:ext cx="1659434" cy="781050"/>
          </a:xfrm>
          <a:prstGeom prst="roundRect">
            <a:avLst>
              <a:gd name="adj" fmla="val 1626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118024" y="3906738"/>
            <a:ext cx="15438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香肠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9922818" y="3782913"/>
            <a:ext cx="1659582" cy="781050"/>
          </a:xfrm>
          <a:prstGeom prst="roundRect">
            <a:avLst>
              <a:gd name="adj" fmla="val 1626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9980606" y="3906738"/>
            <a:ext cx="154400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酸奶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609600" y="4767114"/>
            <a:ext cx="1659434" cy="781050"/>
          </a:xfrm>
          <a:prstGeom prst="roundRect">
            <a:avLst>
              <a:gd name="adj" fmla="val 1626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67390" y="4890939"/>
            <a:ext cx="15438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有时</a:t>
            </a:r>
            <a:endParaRPr lang="en-US" sz="3000" dirty="0"/>
          </a:p>
        </p:txBody>
      </p:sp>
      <p:sp>
        <p:nvSpPr>
          <p:cNvPr id="47" name="Text 45"/>
          <p:cNvSpPr/>
          <p:nvPr/>
        </p:nvSpPr>
        <p:spPr>
          <a:xfrm>
            <a:off x="2472184" y="4767114"/>
            <a:ext cx="1659582" cy="781050"/>
          </a:xfrm>
          <a:prstGeom prst="roundRect">
            <a:avLst>
              <a:gd name="adj" fmla="val 1626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2529972" y="4890939"/>
            <a:ext cx="154400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杂菜汤</a:t>
            </a:r>
            <a:endParaRPr lang="en-US" sz="3000" dirty="0"/>
          </a:p>
        </p:txBody>
      </p:sp>
      <p:sp>
        <p:nvSpPr>
          <p:cNvPr id="49" name="Text 47"/>
          <p:cNvSpPr/>
          <p:nvPr/>
        </p:nvSpPr>
        <p:spPr>
          <a:xfrm>
            <a:off x="4334917" y="4767114"/>
            <a:ext cx="1659434" cy="781050"/>
          </a:xfrm>
          <a:prstGeom prst="roundRect">
            <a:avLst>
              <a:gd name="adj" fmla="val 1626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392707" y="4890939"/>
            <a:ext cx="15438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沙拉</a:t>
            </a:r>
            <a:endParaRPr lang="en-US" sz="3000" dirty="0"/>
          </a:p>
        </p:txBody>
      </p:sp>
      <p:sp>
        <p:nvSpPr>
          <p:cNvPr id="51" name="Text 49"/>
          <p:cNvSpPr/>
          <p:nvPr/>
        </p:nvSpPr>
        <p:spPr>
          <a:xfrm>
            <a:off x="6197501" y="4767114"/>
            <a:ext cx="1659582" cy="781050"/>
          </a:xfrm>
          <a:prstGeom prst="roundRect">
            <a:avLst>
              <a:gd name="adj" fmla="val 1626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255289" y="4890939"/>
            <a:ext cx="154400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帮忙</a:t>
            </a:r>
            <a:endParaRPr lang="en-US" sz="3000" dirty="0"/>
          </a:p>
        </p:txBody>
      </p:sp>
      <p:sp>
        <p:nvSpPr>
          <p:cNvPr id="53" name="Text 51"/>
          <p:cNvSpPr/>
          <p:nvPr/>
        </p:nvSpPr>
        <p:spPr>
          <a:xfrm>
            <a:off x="8060234" y="4767114"/>
            <a:ext cx="1659434" cy="781050"/>
          </a:xfrm>
          <a:prstGeom prst="roundRect">
            <a:avLst>
              <a:gd name="adj" fmla="val 1626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8118024" y="4890939"/>
            <a:ext cx="15438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完</a:t>
            </a:r>
            <a:endParaRPr lang="en-US" sz="3000" dirty="0"/>
          </a:p>
        </p:txBody>
      </p:sp>
      <p:sp>
        <p:nvSpPr>
          <p:cNvPr id="55" name="Text 53"/>
          <p:cNvSpPr/>
          <p:nvPr/>
        </p:nvSpPr>
        <p:spPr>
          <a:xfrm>
            <a:off x="9922818" y="4767114"/>
            <a:ext cx="1659582" cy="781050"/>
          </a:xfrm>
          <a:prstGeom prst="roundRect">
            <a:avLst>
              <a:gd name="adj" fmla="val 1626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9980606" y="4890939"/>
            <a:ext cx="154400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碗</a:t>
            </a:r>
            <a:endParaRPr lang="en-US" sz="3000" dirty="0"/>
          </a:p>
        </p:txBody>
      </p:sp>
      <p:sp>
        <p:nvSpPr>
          <p:cNvPr id="57" name="Text 55"/>
          <p:cNvSpPr/>
          <p:nvPr/>
        </p:nvSpPr>
        <p:spPr>
          <a:xfrm>
            <a:off x="609600" y="570056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全班从左读到右。读完，老师随便点五个，问英文是什么。这一课一共二十四个生词 —— 今天学最后两个。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8242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汉字 · 课本 p.109 · Act. 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143" y="176213"/>
            <a:ext cx="4007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8921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记住这十二个部件 · 课本说五分钟，我们用三分钟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41637"/>
            <a:ext cx="1691134" cy="1190625"/>
          </a:xfrm>
          <a:prstGeom prst="roundRect">
            <a:avLst>
              <a:gd name="adj" fmla="val 1066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0128" y="2379762"/>
            <a:ext cx="1550078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矢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465784" y="2141637"/>
            <a:ext cx="1691283" cy="1190625"/>
          </a:xfrm>
          <a:prstGeom prst="roundRect">
            <a:avLst>
              <a:gd name="adj" fmla="val 1066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536311" y="2379762"/>
            <a:ext cx="155022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斗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322118" y="2141637"/>
            <a:ext cx="1691283" cy="1190625"/>
          </a:xfrm>
          <a:prstGeom prst="roundRect">
            <a:avLst>
              <a:gd name="adj" fmla="val 1066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92644" y="2379762"/>
            <a:ext cx="155022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力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178451" y="2141637"/>
            <a:ext cx="1691283" cy="1190625"/>
          </a:xfrm>
          <a:prstGeom prst="roundRect">
            <a:avLst>
              <a:gd name="adj" fmla="val 1066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48977" y="2379762"/>
            <a:ext cx="155022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寸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034784" y="2141637"/>
            <a:ext cx="1691283" cy="1190625"/>
          </a:xfrm>
          <a:prstGeom prst="roundRect">
            <a:avLst>
              <a:gd name="adj" fmla="val 1066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05311" y="2379762"/>
            <a:ext cx="155022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青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891117" y="2141637"/>
            <a:ext cx="1691134" cy="1190625"/>
          </a:xfrm>
          <a:prstGeom prst="roundRect">
            <a:avLst>
              <a:gd name="adj" fmla="val 1066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961645" y="2379762"/>
            <a:ext cx="1550078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旦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09600" y="3497312"/>
            <a:ext cx="1691134" cy="1190625"/>
          </a:xfrm>
          <a:prstGeom prst="roundRect">
            <a:avLst>
              <a:gd name="adj" fmla="val 1066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80128" y="3735437"/>
            <a:ext cx="1550078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2465784" y="3497312"/>
            <a:ext cx="1691283" cy="1190625"/>
          </a:xfrm>
          <a:prstGeom prst="roundRect">
            <a:avLst>
              <a:gd name="adj" fmla="val 1066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536311" y="3735437"/>
            <a:ext cx="155022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己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4322118" y="3497312"/>
            <a:ext cx="1691283" cy="1190625"/>
          </a:xfrm>
          <a:prstGeom prst="roundRect">
            <a:avLst>
              <a:gd name="adj" fmla="val 1066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392644" y="3735437"/>
            <a:ext cx="155022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亡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6178451" y="3497312"/>
            <a:ext cx="1691283" cy="1190625"/>
          </a:xfrm>
          <a:prstGeom prst="roundRect">
            <a:avLst>
              <a:gd name="adj" fmla="val 1066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248977" y="3735437"/>
            <a:ext cx="155022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立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8034784" y="3497312"/>
            <a:ext cx="1691283" cy="1190625"/>
          </a:xfrm>
          <a:prstGeom prst="roundRect">
            <a:avLst>
              <a:gd name="adj" fmla="val 1066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105311" y="3735437"/>
            <a:ext cx="155022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9891117" y="3497312"/>
            <a:ext cx="1691134" cy="1190625"/>
          </a:xfrm>
          <a:prstGeom prst="roundRect">
            <a:avLst>
              <a:gd name="adj" fmla="val 1066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961645" y="3735437"/>
            <a:ext cx="1550078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609600" y="486563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4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看三分钟 → 关屏幕 → 在白板上写，能写几个写几个。只数数目，不打分。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548" y="176213"/>
            <a:ext cx="40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990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99108"/>
            <a:ext cx="10972800" cy="1149251"/>
          </a:xfrm>
          <a:prstGeom prst="roundRect">
            <a:avLst>
              <a:gd name="adj" fmla="val 11051"/>
            </a:avLst>
          </a:prstGeom>
          <a:solidFill>
            <a:srgbClr val="E4D5BC"/>
          </a:solidFill>
          <a:ln w="19050">
            <a:solidFill>
              <a:srgbClr val="7A44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408658"/>
            <a:ext cx="10531602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say what we do after finishing something, and to recognise the character components behind this unit's food words.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50075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802285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96421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964210"/>
            <a:ext cx="423550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帮忙 and use 完 to mean “finish”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299371"/>
            <a:ext cx="42355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能说「我帮妈妈洗碗」，会用「吃完」「做完」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880396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0423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4042321"/>
            <a:ext cx="498541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……完……以后，…… to link two actions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377482"/>
            <a:ext cx="49854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能用「……完……以后，……」说两件事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958507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51204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5120432"/>
            <a:ext cx="543901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write twelve character components from memory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455593"/>
            <a:ext cx="54390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能默写十二个部件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814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697" y="176213"/>
            <a:ext cx="4012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45jDbTDBTA/img/bangma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05249" y="3866852"/>
            <a:ext cx="113944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bāngmáng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帮忙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945457" y="5070723"/>
            <a:ext cx="6494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 help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713143" y="2406253"/>
            <a:ext cx="4382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wán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508950" y="2888754"/>
            <a:ext cx="854964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完</a:t>
            </a:r>
            <a:endParaRPr lang="en-US" sz="6600" dirty="0"/>
          </a:p>
        </p:txBody>
      </p:sp>
      <p:sp>
        <p:nvSpPr>
          <p:cNvPr id="17" name="Text 14"/>
          <p:cNvSpPr/>
          <p:nvPr/>
        </p:nvSpPr>
        <p:spPr>
          <a:xfrm>
            <a:off x="8550920" y="3988445"/>
            <a:ext cx="7691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 finish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89953" y="176213"/>
            <a:ext cx="4019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我常常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帮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妈妈洗碗。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often help my mum wash up.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我做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完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作业了。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I've finished my homework.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7A442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7A44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我吃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完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晚饭以后，会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帮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妈妈洗碗。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 I finish dinner I help my mum wash up.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问：「你会帮忙吗？」和「你会帮妈妈吗？」——两个都对吗？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6501" y="176213"/>
            <a:ext cx="3952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6149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61517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1985367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我常常帮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652117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 ________ 完了。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3820418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01716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28059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写三句：一句说你在家帮谁做什么，一句说你上个周末做完了什么，一句用「因为……，所以……」说你为什么帮忙（或者为什么不帮忙）。三句要连起来。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519335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注意：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帮忙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后面不能再放人。「帮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忙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妈妈」是错的 —— 说谁的时候把「忙」拿掉：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帮妈妈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0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399" y="176213"/>
            <a:ext cx="4015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V + 完 + O + 以后，+ 第二件事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3072"/>
            </a:avLst>
          </a:prstGeom>
          <a:solidFill>
            <a:srgbClr val="E4D5BC"/>
          </a:solidFill>
          <a:ln w="19050">
            <a:solidFill>
              <a:srgbClr val="7A44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…… 完 …… 以后，……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39824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我吃完早饭以后刷牙。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398244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 I finish breakfast I brush my teeth.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506541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他游完泳以后去买零食。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506541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 he finishes swimming he goes to buy snacks.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499331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我们一家人看完电影以后去饭店吃饭。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499331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 we finish the film the family goes out to eat.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「完」放在动词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后面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，不是前面：吃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完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，不是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完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吃。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522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语序 · 课本 p.108 · NOTE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89804" y="176213"/>
            <a:ext cx="402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7088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P.108 的 NOTE · 这两句意思</a:t>
            </a: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完全一样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70906"/>
            <a:ext cx="10972800" cy="1891903"/>
          </a:xfrm>
          <a:prstGeom prst="roundRect">
            <a:avLst>
              <a:gd name="adj" fmla="val 6713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094756"/>
            <a:ext cx="10479988" cy="62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2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做完作业以后，他看电视。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58751" y="2716857"/>
            <a:ext cx="10479988" cy="62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2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＝ 他做完作业以后看电视。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09600" y="3840510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4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「他」可以放在最前面，也可以放在「以后」前面 —— 两种都对，课本两种都印了。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600" y="4361111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557861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821287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把黑板上三个例句每一句都用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另一种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语序再说一遍。说得出来，再自己造一句两种语序都说。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662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难句 · 用两次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696" y="176213"/>
            <a:ext cx="4593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9067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最难的一句 · 一句话里用两次 · 「才」是第二册的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90700"/>
            <a:ext cx="10972800" cy="1179165"/>
          </a:xfrm>
          <a:prstGeom prst="roundRect">
            <a:avLst>
              <a:gd name="adj" fmla="val 1077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114550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我吃</a:t>
            </a: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完</a:t>
            </a:r>
            <a:r>
              <a:rPr lang="en-US" sz="27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晚饭</a:t>
            </a: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以后帮</a:t>
            </a:r>
            <a:r>
              <a:rPr lang="en-US" sz="27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妈妈洗碗，洗</a:t>
            </a: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完</a:t>
            </a:r>
            <a:r>
              <a:rPr lang="en-US" sz="27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碗</a:t>
            </a: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以后</a:t>
            </a:r>
            <a:r>
              <a:rPr lang="en-US" sz="27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才做作业。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122265"/>
            <a:ext cx="1119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 I finish dinner I help mum wash up, and only after the washing-up is done do I start my homework.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93501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两次「完……以后」，一件事接一件事。「才」是「一直到那时候才」—— 有点晚的意思。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4341316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538067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801493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照这个样子说你自己的晚上，从放学说到睡觉，至少用两次「完……以后」。不写，直接说。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7969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任务 · 课本 p.108 · Act.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58104" y="176213"/>
            <a:ext cx="4344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7321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DO · 八题 · 6 分钟 · </a:t>
            </a: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1–4 和 5–8 是反过来的，两边都要做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73237"/>
            <a:ext cx="10972800" cy="2913311"/>
          </a:xfrm>
          <a:prstGeom prst="roundRect">
            <a:avLst>
              <a:gd name="adj" fmla="val 4359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62088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1–4 给了前半句，补后半句：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1966317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我吃完早饭以后 ____ 。（刷牙，课本已给） · 2 他游完泳以后去 ____ 。 · 3 我们一家人看完电影以后去 ____ 。 · 4 她做完作业以后去 ____ 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6571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5–8 给了后半句，补「……完……以后」那一半：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002607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____ 帮妈妈洗碗。 · 6 ____ 跟姐姐一起去买菜。 · 7 ____ 去图书馆看书。 · 8 ____ 跟爸爸一起去钓鱼。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369346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 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 is your turn!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—— 自己写三句。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9600" y="4464248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7250" y="466099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7250" y="492442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做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p.125 Ex. 16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的四组图，每组写一句「……完……以后」。然后把四句连成一段话，说一个人的一天，从早上到晚上，中间要用「先……，然后……，最后……」。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9695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课本 p.108 · Act.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952" y="176213"/>
            <a:ext cx="4601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9691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听力 · CD 44 · 放两遍，错得最多的两题再放一遍 · 6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96938"/>
            <a:ext cx="5397550" cy="877639"/>
          </a:xfrm>
          <a:prstGeom prst="roundRect">
            <a:avLst>
              <a:gd name="adj" fmla="val 86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4175" y="182076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90476" y="1820763"/>
            <a:ext cx="421728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今天早餐她想吃 ____ 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90476" y="2201763"/>
            <a:ext cx="4217286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a) 面包、煎蛋   b) 谷类早餐加牛奶   c) 牛奶、面包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600" y="2676079"/>
            <a:ext cx="5397550" cy="877639"/>
          </a:xfrm>
          <a:prstGeom prst="roundRect">
            <a:avLst>
              <a:gd name="adj" fmla="val 86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4175" y="2799904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190476" y="2799904"/>
            <a:ext cx="27393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她想在她的茶里加 ____ 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90476" y="3180904"/>
            <a:ext cx="2739316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a) 糖和牛奶   b) 水和糖   c) 牛奶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9600" y="3655219"/>
            <a:ext cx="5397550" cy="877639"/>
          </a:xfrm>
          <a:prstGeom prst="roundRect">
            <a:avLst>
              <a:gd name="adj" fmla="val 86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4175" y="3779044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190476" y="3779044"/>
            <a:ext cx="44020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她今天午饭想吃 ____ 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90476" y="4160044"/>
            <a:ext cx="440203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a) 汉堡包和薯条   b) 炸鸡腿和沙拉   c) 炸鸡翅和沙拉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84850" y="1696938"/>
            <a:ext cx="5397550" cy="1126629"/>
          </a:xfrm>
          <a:prstGeom prst="roundRect">
            <a:avLst>
              <a:gd name="adj" fmla="val 676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59426" y="182076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765727" y="1820763"/>
            <a:ext cx="47349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她昨天晚饭吃了 ____ 。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65727" y="2201763"/>
            <a:ext cx="4734940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a) 杂菜汤、水果和面包   b) 比萨饼和沙拉   c) 杂菜汤、沙拉和面包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84850" y="2925068"/>
            <a:ext cx="5397550" cy="877639"/>
          </a:xfrm>
          <a:prstGeom prst="roundRect">
            <a:avLst>
              <a:gd name="adj" fmla="val 86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59426" y="304889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765727" y="3048893"/>
            <a:ext cx="22218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他们家一般吃 ____ 。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65727" y="3429893"/>
            <a:ext cx="222181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a) 西餐   b) 中餐   c) 快餐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84850" y="3904208"/>
            <a:ext cx="5397550" cy="1126629"/>
          </a:xfrm>
          <a:prstGeom prst="roundRect">
            <a:avLst>
              <a:gd name="adj" fmla="val 676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359426" y="402803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765727" y="4028033"/>
            <a:ext cx="47349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他们家平时 ____ 。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65727" y="4409033"/>
            <a:ext cx="4734940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a) 她做饭，妈妈洗碗   b) 妈妈做饭，妈妈洗碗   c) 妈妈做饭，她洗碗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9600" y="515778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 6 题就是今天的句型：录音里说 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吃过晚饭，我经常洗碗。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再放一遍，问问「吃过」在这里是什么意思。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21117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A · 课本 p.107 · Act.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398" y="176213"/>
            <a:ext cx="4596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7321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同桌互问 · 2 分钟 · 加点的词就是目标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73237"/>
            <a:ext cx="10972800" cy="674340"/>
          </a:xfrm>
          <a:prstGeom prst="roundRect">
            <a:avLst>
              <a:gd name="adj" fmla="val 1130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53516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535162"/>
            <a:ext cx="357591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</a:t>
            </a: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有时候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在学校餐厅买午饭吃，你呢？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199977"/>
            <a:ext cx="10972800" cy="674340"/>
          </a:xfrm>
          <a:prstGeom prst="roundRect">
            <a:avLst>
              <a:gd name="adj" fmla="val 1130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36190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361902"/>
            <a:ext cx="210355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</a:t>
            </a: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小时候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在哪儿住过？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026718"/>
            <a:ext cx="10972800" cy="674340"/>
          </a:xfrm>
          <a:prstGeom prst="roundRect">
            <a:avLst>
              <a:gd name="adj" fmla="val 1130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1886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188643"/>
            <a:ext cx="273445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上课的时候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你可以吃东西吗？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3853458"/>
            <a:ext cx="10972800" cy="674340"/>
          </a:xfrm>
          <a:prstGeom prst="roundRect">
            <a:avLst>
              <a:gd name="adj" fmla="val 1130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401538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279327" y="4015383"/>
            <a:ext cx="315526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放学以后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，你一般什么时候到家？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4680198"/>
            <a:ext cx="10972800" cy="674340"/>
          </a:xfrm>
          <a:prstGeom prst="roundRect">
            <a:avLst>
              <a:gd name="adj" fmla="val 1130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84212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842123"/>
            <a:ext cx="357591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</a:t>
            </a: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从小就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喜欢吃什么？不喜欢吃什么？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600" y="548148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 is your turn!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—— 每个人再用其中一个加点的词自己造一个问题，去问同桌。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22029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B · 练习册 p.126 · Ex. 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654" y="176213"/>
            <a:ext cx="4604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912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八个句型，每个写一句 · 4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91308"/>
            <a:ext cx="10972800" cy="1877020"/>
          </a:xfrm>
          <a:prstGeom prst="roundRect">
            <a:avLst>
              <a:gd name="adj" fmla="val 6766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138958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有时候 · 小时候 · ……的时候 · 从小 · 一……就…… · 除了……以外，…… · 一边……，一边…… · 因为……，所以……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82981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先做 从小 · 有时候 · 因为……所以……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—— 这三个测验要考。剩下的有时间再做。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17524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每一句都要说吃的或者吃饭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—— 这样这一课的词就跟着老句型一起复习了。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600" y="3946029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14278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40620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八个句型全部写完，而且八句要组成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一段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话，说你自己的一天吃什么。不是八个不相关的句子 —— 要能从头读到尾。写完念给同桌，同桌说哪一句最好。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6501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写字接力 · 5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952" y="176213"/>
            <a:ext cx="4601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3862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两队，黑板上两列，老师说线索，下一个同学跑上来写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38648"/>
            <a:ext cx="10972800" cy="1877020"/>
          </a:xfrm>
          <a:prstGeom prst="roundRect">
            <a:avLst>
              <a:gd name="adj" fmla="val 6766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28629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第一轮 · 练习册 p.122 Ex. 10 的九个简单字：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63172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tongue 舌 · melon 瓜 · sheep 羊 · seedling 苗 · east 东 · south 南 · west 西 · north 北 · bow 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97715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第二轮 · 练习册 p.125 Ex. 17 组词：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老师说一半，跑上来的同学写出完整的词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32258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煎 ___ · ___ 肠 · 面 ___ · 热 ___ · 酸 ___ · ___ 排 · 沙 ___ · 盒 ___ · ___ 汤 · 鸡 ___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600" y="409336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7250" y="429012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7250" y="455354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第二轮要写词组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加量词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（一碗杂菜汤、一块牛排）。没有量词不算分。最后三个让说得最好的同学来当出题的人。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1739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第十一课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207" y="176213"/>
            <a:ext cx="4608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6609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这次看的是</a:t>
            </a: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整个第十一课</a:t>
            </a:r>
            <a:r>
              <a:rPr lang="en-US" sz="1100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，不只是今天 · 43–50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66118"/>
            <a:ext cx="10972800" cy="1219646"/>
          </a:xfrm>
          <a:prstGeom prst="roundRect">
            <a:avLst>
              <a:gd name="adj" fmla="val 6248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7280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728043"/>
            <a:ext cx="10292206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五节课，五条目标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能说各种各样的零食 → 能用「对……不好」→ 能说早饭吃什么 → 能问同学然后报告 → 能用「……完……以后」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9327" y="2347615"/>
            <a:ext cx="1029220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每一条举手 👍 / 😐 / 👎。哪一条 😐 最多，测验前就回去补哪一条。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938165"/>
            <a:ext cx="10972800" cy="674340"/>
          </a:xfrm>
          <a:prstGeom prst="roundRect">
            <a:avLst>
              <a:gd name="adj" fmla="val 1130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310009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3100090"/>
            <a:ext cx="319579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问一句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五节课里，哪一节最难？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3764905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392683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3926830"/>
            <a:ext cx="787183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Exit ticket · 两句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第一句用「……完……以后，……」说你今天放学以后做什么。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261991"/>
            <a:ext cx="78718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第二句用「从小就」说一样你一直喜欢吃的东西。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843016"/>
            <a:ext cx="10972800" cy="674340"/>
          </a:xfrm>
          <a:prstGeom prst="roundRect">
            <a:avLst>
              <a:gd name="adj" fmla="val 1130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500494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5004941"/>
            <a:ext cx="880892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下一课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第十一课学完了。下一课是第十二课 —— 外出就餐：去饭店点菜、看菜单、自助餐。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2026-09-14T08:48:17Z</dcterms:created>
  <dcterms:modified xsi:type="dcterms:W3CDTF">2026-09-14T08:48:17Z</dcterms:modified>
</cp:coreProperties>
</file>