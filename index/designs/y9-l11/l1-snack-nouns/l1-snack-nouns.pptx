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1777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48011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第十一课 · 零食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888" y="176213"/>
            <a:ext cx="400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PP.100–103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Snacks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Book 3 · Unit 4 · Lesson 11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1616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Lesson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3435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认字快闪 · FLASHCARDS, CHARACTERS ONLY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61331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1700957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糖果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1361331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1700957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1361331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1700957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薯条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1361331"/>
            <a:ext cx="2590949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1700957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炸鸡翅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3024783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2897" y="3364409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3403550" y="3024783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16847" y="3364409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咖喱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197501" y="3024783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10798" y="3364409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猪排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991451" y="3024783"/>
            <a:ext cx="2590949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04747" y="3364409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609600" y="4662785"/>
            <a:ext cx="10972800" cy="1186160"/>
          </a:xfrm>
          <a:prstGeom prst="roundRect">
            <a:avLst>
              <a:gd name="adj" fmla="val 10707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33450" y="4910435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白板四题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写「炸鸡翅」 · 翻译 Crisps are cheaper than a box lunch. · 用「平时……，但是……」说今天的事 · 「不算太贵」是什么意思？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182" y="176213"/>
            <a:ext cx="425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816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81720"/>
            <a:ext cx="10972800" cy="784175"/>
          </a:xfrm>
          <a:prstGeom prst="roundRect">
            <a:avLst>
              <a:gd name="adj" fmla="val 16195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91270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name the snacks we eat and to list examples of them in Chinese.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182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19821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817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81746"/>
            <a:ext cx="602361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six snack words in Chinese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16907"/>
            <a:ext cx="60236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能说出「零食」「巧克力」「蛋糕」「冰淇淋」「饼干」「各种各样」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7932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98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9857"/>
            <a:ext cx="606338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各种各样的……，比如：A、B、C 等 to list examples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5018"/>
            <a:ext cx="60633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能用「各种各样……比如」举例子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76043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379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37968"/>
            <a:ext cx="664221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how much I like a snack — 非常／特别／挺／最／不太喜欢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3129"/>
            <a:ext cx="66422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能用五个程度词说自己爱吃什么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45jDbTDBTA/img/lings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10036" y="3866852"/>
            <a:ext cx="7216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língshí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零食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997250" y="5070723"/>
            <a:ext cx="543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snack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45jDbTDBTA/img/qiaokel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09397" y="3866852"/>
            <a:ext cx="8539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qiǎokèlì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013650" y="4285952"/>
            <a:ext cx="1865376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巧克力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479929" y="5070723"/>
            <a:ext cx="914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chocolate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我很喜欢吃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零食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really like eating snacks.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这块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巧克力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很好吃。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chocolate is delicious.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我最喜欢的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零食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巧克力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favourite snack is chocolate.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问：你最喜欢的零食是什么？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很好吃。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用「比」写一句：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巧克力比薯片贵。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再用「因为……，所以……」说你买哪一个。两句要连起来。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391" y="176213"/>
            <a:ext cx="4198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45jDbTDBTA/img/dang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69406" y="3866852"/>
            <a:ext cx="8045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dàngāo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蛋糕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047702" y="5070723"/>
            <a:ext cx="440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cake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45jDbTDBTA/img/bingqil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49866" y="3866852"/>
            <a:ext cx="9754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bīngqílín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013650" y="4285952"/>
            <a:ext cx="1865376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冰淇淋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475613" y="5070723"/>
            <a:ext cx="9229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ice cream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我妈妈会做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蛋糕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mum can make cakes.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夏天我常常吃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冰淇淋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summer I often eat ice cream.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蛋糕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，我最喜欢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冰淇淋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much like cake; ice cream is my favourite.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问：夏天你常常吃什么？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843" y="176213"/>
            <a:ext cx="4265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我常常吃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 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用「比」写两句，比较冰淇淋和蛋糕：哪个好吃？哪个便宜？然后说你买哪个，为什么。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不看屏幕。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3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734" y="176213"/>
            <a:ext cx="4838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45jDbTDBTA/img/bingg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33539" y="3866852"/>
            <a:ext cx="8778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bǐnggān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饼干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554635" y="5070723"/>
            <a:ext cx="144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biscuit; cracker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046988" y="2406253"/>
            <a:ext cx="17972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gèzhǒng gèyàng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251650" y="2888754"/>
            <a:ext cx="3419856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各种各样</a:t>
            </a:r>
            <a:endParaRPr lang="en-US" sz="6600" dirty="0"/>
          </a:p>
        </p:txBody>
      </p:sp>
      <p:sp>
        <p:nvSpPr>
          <p:cNvPr id="17" name="Text 14"/>
          <p:cNvSpPr/>
          <p:nvPr/>
        </p:nvSpPr>
        <p:spPr>
          <a:xfrm>
            <a:off x="8420695" y="3988445"/>
            <a:ext cx="10350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kinds of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3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这家店卖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饼干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shop sells biscuits.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这家店卖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各种各样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的零食。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shop sells all kinds of snacks.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我妈妈买了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各种各样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饼干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mum bought all kinds of biscuits.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问：「各种各样」跟第十课的「各种」有什么不一样？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3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这家店卖各种各样的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写一句比较两家店：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这家店的饼干比超市的便宜。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再用「因为……，所以……」说你为什么去那家店买。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4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检查点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257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5276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583" y="219238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零食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34917" y="185276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900" y="219238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巧克力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60234" y="185276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64217" y="219238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蛋糕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9600" y="351621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3583" y="385583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冰淇淋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334917" y="351621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38900" y="385583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饼干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060234" y="351621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64217" y="385583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各种各样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09600" y="512891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六个字一起读出来。读不出来的，我们再教一遍 —— 不往下走。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693" y="176213"/>
            <a:ext cx="484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各种各样的 + N，比如：A、B、C 等。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各种各样的 ____ ，比如：A、B、C 等。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740822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这家超市卖各种各样的零食，比如巧克力、糖果等。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740822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supermarket sells all kinds of snacks — chocolate, sweets and so 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63361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我每天都吃各种各样的零食，比如：饼干、薯片等。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633617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eat all kinds of snacks every day — biscuits, crisps and so on.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8169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这个菜市场卖各种各样的新鲜蔬菜，比如西红柿、黄瓜等。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816982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market sells all kinds of fresh vegetables — tomatoes, cucumbers and so on.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新词：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比如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bǐrú </a:t>
            </a:r>
            <a:r>
              <a:rPr lang="en-US" sz="1200" i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example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它打开单子，「等」把单子关上。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62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难句 · two clauses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248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再难一点 · 两个分句 · 「比」是第十课学的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24893"/>
            <a:ext cx="10972800" cy="1710630"/>
          </a:xfrm>
          <a:prstGeom prst="roundRect">
            <a:avLst>
              <a:gd name="adj" fmla="val 7424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1848743"/>
            <a:ext cx="10479988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我们学校的小卖部卖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各种各样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的东西，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比如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三明治、盒饭、饮料等，可是那里的东西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外面贵。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387923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tuck shop sells all sorts — sandwiches, box lunches, drinks — but the things there are dearer than outside.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20067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两件事：先说卖什么，再说贵不贵。「可是」把两个分句连起来。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4606975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80372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5067151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照这个样子说你家附近的一家店 —— 卖什么，比如什么，再比一比价钱。不写，直接说。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08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程度词 · Degree phrases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7839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五个程度词 · 从最喜欢到不太喜欢 · 课本 P.101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05373"/>
            <a:ext cx="1441252" cy="628650"/>
          </a:xfrm>
          <a:prstGeom prst="roundRect">
            <a:avLst>
              <a:gd name="adj" fmla="val 1212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629198"/>
            <a:ext cx="1088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非常喜欢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165152" y="2667298"/>
            <a:ext cx="733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351336" y="2505373"/>
            <a:ext cx="1441252" cy="628650"/>
          </a:xfrm>
          <a:prstGeom prst="roundRect">
            <a:avLst>
              <a:gd name="adj" fmla="val 1212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38561" y="2629198"/>
            <a:ext cx="1088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特别喜欢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06887" y="2667298"/>
            <a:ext cx="733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93071" y="2505373"/>
            <a:ext cx="1174552" cy="628650"/>
          </a:xfrm>
          <a:prstGeom prst="roundRect">
            <a:avLst>
              <a:gd name="adj" fmla="val 1212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280297" y="2629198"/>
            <a:ext cx="8161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挺喜欢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381923" y="2667298"/>
            <a:ext cx="733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68107" y="2505373"/>
            <a:ext cx="1174552" cy="628650"/>
          </a:xfrm>
          <a:prstGeom prst="roundRect">
            <a:avLst>
              <a:gd name="adj" fmla="val 1212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55332" y="2629198"/>
            <a:ext cx="8161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最喜欢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6958" y="2667298"/>
            <a:ext cx="733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043142" y="2505373"/>
            <a:ext cx="1441252" cy="628650"/>
          </a:xfrm>
          <a:prstGeom prst="roundRect">
            <a:avLst>
              <a:gd name="adj" fmla="val 1212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30368" y="2629198"/>
            <a:ext cx="1088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不太喜欢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09600" y="3362623"/>
            <a:ext cx="10972800" cy="1342281"/>
          </a:xfrm>
          <a:prstGeom prst="roundRect">
            <a:avLst>
              <a:gd name="adj" fmla="val 9461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33450" y="3610273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非常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喜欢吃巧克力。我每天都吃巧克力。可是我</a:t>
            </a: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不太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喜欢糖果。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33450" y="411182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Bef>
                <a:spcPts val="800"/>
              </a:spcBef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两三句，不是一句 —— 说了喜欢，还要说你怎么吃它。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698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Text 1 · p.100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646" y="176213"/>
            <a:ext cx="478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6941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先听一遍（CD 41），再一起读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69443"/>
            <a:ext cx="10972800" cy="1704380"/>
          </a:xfrm>
          <a:prstGeom prst="roundRect">
            <a:avLst>
              <a:gd name="adj" fmla="val 7451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293293"/>
            <a:ext cx="10479988" cy="105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6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我特别喜欢吃</a:t>
            </a: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零食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。我每天都吃</a:t>
            </a: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各种各样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零食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</a:t>
            </a: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比如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：糖果、</a:t>
            </a: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巧克力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、薯片、</a:t>
            </a: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蛋糕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冰淇淋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饼干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等。我还喜欢喝汽水。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09600" y="3851523"/>
            <a:ext cx="10972800" cy="1262360"/>
          </a:xfrm>
          <a:prstGeom prst="roundRect">
            <a:avLst>
              <a:gd name="adj" fmla="val 10060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3450" y="409917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1 他每天吃什么？ · 2 他喜欢喝什么？ · 3 课文里有几种零食？请说出来。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452080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Bef>
                <a:spcPts val="600"/>
              </a:spcBef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后面的「对牙齿不好 / 从小就 / 总是」下节课再学。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17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Summary 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0518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06711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45jDbTDBTA/img/lings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1443186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0066" y="2586038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零食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306711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45jDbTDBTA/img/qiaokel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1443186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7350" y="2586038"/>
            <a:ext cx="12824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巧克力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306711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45jDbTDBTA/img/danga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1443186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93734" y="2586038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蛋糕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490764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45jDbTDBTA/img/bingqil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417" y="3627239"/>
            <a:ext cx="1041350" cy="1041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50516" y="4770090"/>
            <a:ext cx="12824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冰淇淋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4326434" y="3490764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var/folders/6c/210dcgxn4gz5sm71vld2cy1h0000gn/T/tmp.45jDbTDBTA/img/bingg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250" y="3627239"/>
            <a:ext cx="1041350" cy="10413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76900" y="4770090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饼干</a:t>
            </a:r>
            <a:endParaRPr lang="en-US" sz="3300" dirty="0"/>
          </a:p>
        </p:txBody>
      </p:sp>
      <p:sp>
        <p:nvSpPr>
          <p:cNvPr id="24" name="Text 17"/>
          <p:cNvSpPr/>
          <p:nvPr/>
        </p:nvSpPr>
        <p:spPr>
          <a:xfrm>
            <a:off x="8043267" y="3490764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9101584" y="3627239"/>
            <a:ext cx="145079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各种各样</a:t>
            </a:r>
            <a:endParaRPr lang="en-US" sz="2800" dirty="0"/>
          </a:p>
        </p:txBody>
      </p:sp>
      <p:sp>
        <p:nvSpPr>
          <p:cNvPr id="26" name="Text 19"/>
          <p:cNvSpPr/>
          <p:nvPr/>
        </p:nvSpPr>
        <p:spPr>
          <a:xfrm>
            <a:off x="609600" y="564951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这块板留在屏幕上 —— 下面的任务要用到每一个词。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633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任务 · 课本 p.103 · Act.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097" y="176213"/>
            <a:ext cx="4854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7328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每家店说一句 · 两人一组 · 4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73312"/>
            <a:ext cx="10972800" cy="1713161"/>
          </a:xfrm>
          <a:prstGeom prst="roundRect">
            <a:avLst>
              <a:gd name="adj" fmla="val 7413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22096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七家店：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服装店 · 肉店 · 水果店 · 餐厅 · 文具店 · 家具店 · 电器店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56639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第八家是你们学校的小卖部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那一句要用到总览板上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每一个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038773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例：这家超市卖各种各样的零食，比如巧克力、糖果等。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09600" y="3864173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06092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32435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三句，不看总览板。第一句用「各种各样……比如」，第二句用「比」比较两种零食的价钱，第三句用「因为……，所以……」说你为什么常买那一种。写完念给同桌，同桌要问你一个问题。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539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课本 p.101 · Act.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582" y="176213"/>
            <a:ext cx="509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0049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八张图，每张两三句 · 两人轮流 · 7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0523"/>
            <a:ext cx="10972800" cy="2058591"/>
          </a:xfrm>
          <a:prstGeom prst="roundRect">
            <a:avLst>
              <a:gd name="adj" fmla="val 6169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048173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图上有：鸡翅·鸡腿 · 猪肉·牛肉·羊肉 · 水果·薯片 · 巧克力·糖果 · 冰淇淋·饮料 · 蛋糕·饼干 · 西红柿·黄瓜 · 香蕉·苹果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73903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每一句都要用一个程度词。第一轮程度词留在黑板上，第二轮擦掉。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11413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我非常喜欢吃巧克力。我每天都吃巧克力。可是我不太喜欢糖果。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09600" y="4036814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23356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496991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不是 B 自己挑程度词 —— A 指定（「用『挺喜欢』」），B 当场说三句，最后一句一定要用「比如」举两个例子。说完交换，A 拿 B 觉得最难的那张图。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908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课本 p.102 · Act.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0049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写五句 · 练习本 · 5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0523"/>
            <a:ext cx="10972800" cy="2058591"/>
          </a:xfrm>
          <a:prstGeom prst="roundRect">
            <a:avLst>
              <a:gd name="adj" fmla="val 6169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04817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程度词 + 比如 + 至少三样东西 + 等。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39360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第一句课本已给（说衣服），所以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五句不能全说吃的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要回到第一册第五单元的词。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73903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写完的同学做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p.118 Ex. 1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：十二张零食图，写汉字（「炸鸡翅」已给）。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211413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我特别喜欢买衣服，比如连衣裙、汗衫、毛衣、牛仔裤等。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" y="4036814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23356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496991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五句里至少两句不是说吃的 —— 一句说文具，一句说学校的科目（第三单元的词）。再加第六句，用「各种各样」说你的书包里有什么。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359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拍字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838" y="176213"/>
            <a:ext cx="5102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367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拍字 SLAP THE CHARACTER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36738"/>
            <a:ext cx="10972800" cy="1186160"/>
          </a:xfrm>
          <a:prstGeom prst="roundRect">
            <a:avLst>
              <a:gd name="adj" fmla="val 10707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48438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黑板上十二张字卡：今天的六个词 + 糖果 · 薯片 · 薯条 · 炸鸡翅 · 盒饭 · 三明治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8298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两个同学上来，老师说词，他们拍。赢的留下。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600" y="360059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379735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06077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老师不说词了 —— 说中文提示（「这个东西很甜，是黑色的」→ 巧克力），或者说一句缺词的话。两轮以后，让说得最好的同学自己来出提示。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285" y="176213"/>
            <a:ext cx="5097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3874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38771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200069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2000696"/>
            <a:ext cx="637276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请一位同学读三条 Success Criteria，第二条用中文读。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665512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8274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827437"/>
            <a:ext cx="508378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每条 👍 / 😐 / 👎 —— 第二条有多少人举 😐？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492252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65417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654177"/>
            <a:ext cx="65691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用「各种各样」和「比如」写一句：你家里有什么零食。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9327" y="3989338"/>
            <a:ext cx="65691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写在白板上，出门的时候举起来给我看。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600" y="4570363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3228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32288"/>
            <a:ext cx="677155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学怎么说「吃太多糖果对牙齿不好」，还有「我从小就……」。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2026-09-14T08:44:31Z</dcterms:created>
  <dcterms:modified xsi:type="dcterms:W3CDTF">2026-09-14T08:44:31Z</dcterms:modified>
</cp:coreProperties>
</file>