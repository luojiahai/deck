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7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· 零食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334" y="176213"/>
            <a:ext cx="399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PP.105, 107 · 课文二 + 采访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午饭和晚饭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Lunch and dinner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Unit 4 · Lesson 11 · Lesson 4 of 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00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23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拍字（4 分钟）+ 同桌对话（3 分钟）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2343"/>
            <a:ext cx="10972800" cy="2458641"/>
          </a:xfrm>
          <a:prstGeom prst="roundRect">
            <a:avLst>
              <a:gd name="adj" fmla="val 5165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59993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拍字：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黑板上十个词 —— 谷类 · 牛奶 · 面包 · 煎蛋 · 香肠 · 加 · 零食 · 巧克力 · 蛋糕 · 冰淇淋。两个同学上来，老师说词，他们拍。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同桌对话，不看书：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你早饭吃什么？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 要用「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一般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……，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有时候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……」两半都说到。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2323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接上：早饭说完了。今天说午饭和晚饭 —— 然后去问四个同学，看全班吃得一样不一样。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480" y="176213"/>
            <a:ext cx="4249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we eat for lunch and dinner, and to interview four classmates and report back what they said.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50326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four lunch and dinner foods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50326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能说出「沙拉」「酸奶」「杂菜汤」「碗」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61442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有时 = 有时候 and the right measure word for a dish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61442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能用「有时」，也会说「一碗汤」「一杯牛奶」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634073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interview a classmate and report their answer to the class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63407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能问同学，然后向全班报告：他早饭一般吃……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884" y="176213"/>
            <a:ext cx="4255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50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665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sha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6570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84004" y="3676352"/>
            <a:ext cx="5709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shālā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0954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21509" y="4880223"/>
            <a:ext cx="4942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salad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2665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suann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6570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13862" y="3676352"/>
            <a:ext cx="844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suānnǎi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0954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580537" y="4880223"/>
            <a:ext cx="7087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yoghurt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09600" y="568984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「酸」的左边是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酉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，一个酒坛子 —— 酸的东西、发酵的东西都用它。所以「酸奶」是 yoghurt，不是「坏掉的牛奶」。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我午饭常常吃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often have salad for lunch.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对身体很好。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Yoghurt is good for you.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lunch I have salad and yoghurt.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问：沙拉和薯条，哪个对身体好？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我午饭常常吃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对身体很好。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用「比」写一句，比较沙拉和薯条，说哪个对身体好，为什么。再加一句「可是我从小就喜欢……」说你其实爱吃哪个。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838" y="176213"/>
            <a:ext cx="4194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50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665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zacait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6570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6623" y="3676352"/>
            <a:ext cx="10551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zácàitāng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0954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566988" y="4880223"/>
            <a:ext cx="1421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vegetable soup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2665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w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6570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13143" y="3676352"/>
            <a:ext cx="438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wǎn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0954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14482" y="4880223"/>
            <a:ext cx="435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bowl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09600" y="568984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「汤」的左边是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氵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（水）。把它和第十课的「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场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」（菜市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场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）放在一起看 —— 右边一样，左边不一样。「碗」的左边是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石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妈妈做了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Mum made vegetable soup.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我喝了一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汤。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drank a bowl of soup.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我晚饭喝一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碗杂菜汤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dinner I have a bowl of vegetable soup.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问：汤用什么量词？牛奶呢？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289" y="176213"/>
            <a:ext cx="4261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我喝了一碗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妈妈做了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写三句说你们家昨天的晚饭，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每句都要有量词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（碗、杯、块、条、个）。写完把三句连成一段，加上「因为……，所以……」说为什么是妈妈做的。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检查点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0181" y="176213"/>
            <a:ext cx="4833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四个字一起读出来。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005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频率词 · Frequency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368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从最多到最少 · 今天的新词是第五格：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有时</a:t>
            </a: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YǑUSHÍ </a:t>
            </a:r>
            <a:r>
              <a:rPr lang="en-US" sz="1100" b="1" i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SOMETIMES</a:t>
            </a: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（课本写「有时＝有时候」）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3862"/>
            <a:ext cx="9078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687687"/>
            <a:ext cx="544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31752" y="2725787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17936" y="2563862"/>
            <a:ext cx="9078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05161" y="2687687"/>
            <a:ext cx="544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840087" y="2725787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26271" y="2563862"/>
            <a:ext cx="17079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13497" y="2687687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常常／经常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848523" y="2725787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34707" y="2563862"/>
            <a:ext cx="25080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21932" y="2687687"/>
            <a:ext cx="21762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一般／平时／通常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57058" y="2725787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43242" y="2563862"/>
            <a:ext cx="1974652" cy="628650"/>
          </a:xfrm>
          <a:prstGeom prst="roundRect">
            <a:avLst>
              <a:gd name="adj" fmla="val 12121"/>
            </a:avLst>
          </a:prstGeom>
          <a:solidFill>
            <a:srgbClr val="7A4426">
              <a:alpha val="12000"/>
            </a:srgbClr>
          </a:solidFill>
          <a:ln w="9525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30468" y="2687687"/>
            <a:ext cx="16322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有时／有时候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32194" y="2725787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118378" y="2563862"/>
            <a:ext cx="9078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305604" y="2687687"/>
            <a:ext cx="544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很少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09600" y="3395663"/>
            <a:ext cx="10972800" cy="895350"/>
          </a:xfrm>
          <a:prstGeom prst="roundRect">
            <a:avLst>
              <a:gd name="adj" fmla="val 1418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33450" y="36433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吃三明治，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吃薯条。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09600" y="44179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红框是新的，其他五个第十课都学过了。「有时」只是「有时候」的短说法，意思完全一样 —— 课本两个都用。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703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先说平常，再说例外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70397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479947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 / 平时 ……，有时 / 有时候 ……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36889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53082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530822"/>
            <a:ext cx="57204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我们家晚饭有时候吃中餐，有时候吃西餐。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968972"/>
            <a:ext cx="57204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home we sometimes eat Chinese, sometimes Western.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6770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72963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729633"/>
            <a:ext cx="39200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我平时喝牛奶，有时喝酸奶。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167783"/>
            <a:ext cx="392005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drink milk; sometimes yoghurt.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7665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9284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928443"/>
            <a:ext cx="59921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我午饭一般吃盒饭，有时吃三明治。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366593"/>
            <a:ext cx="599218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lunch I usually have a box lunch; sometimes a sandwich.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23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难句 · two lists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248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最难的一句 · 两串单子对着说 · 这就是课文里的回答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4893"/>
            <a:ext cx="10972800" cy="1710630"/>
          </a:xfrm>
          <a:prstGeom prst="roundRect">
            <a:avLst>
              <a:gd name="adj" fmla="val 7424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1848743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吃三明治、热狗、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吃薯条、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387923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lunch I usually have a sandwich, a hot dog and yoghurt; sometimes chips, vegetable soup, salad and so 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20067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不是一样对一样 —— 是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一串对一串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。两边都用顿号「、」，后面用「等」收尾。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606975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80372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506715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照这个形状说晚饭：一般吃哪三样，有时吃哪三样。六样东西都要说出来，不写，直接说。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971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· p.105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后半段 · 再听一遍 CD 43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98445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午饭呢？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6153251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吃三明治、热狗、</a:t>
            </a: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</a:t>
            </a: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吃薯条、</a:t>
            </a: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2214982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你们家晚饭吃什么？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344535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有时候吃中餐，有时候吃西餐。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3691435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你们家平时谁做饭？你会帮忙吗？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6152644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一般是妈妈做。有时候吃完晚饭以后，我会帮妈妈洗</a:t>
            </a: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r>
              <a:rPr lang="en-US" sz="19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最后一句的「帮忙」「吃完……以后」下节课学 —— 但「洗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碗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」是今天的词。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1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051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sha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431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45jDbTDBTA/img/suann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431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45jDbTDBTA/img/zacaita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431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4184" y="2586038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45jDbTDBTA/img/w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169616" y="4770090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676900" y="362723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</a:t>
            </a:r>
            <a:endParaRPr lang="en-US" sz="3300" dirty="0"/>
          </a:p>
        </p:txBody>
      </p:sp>
      <p:sp>
        <p:nvSpPr>
          <p:cNvPr id="23" name="Text 17"/>
          <p:cNvSpPr/>
          <p:nvPr/>
        </p:nvSpPr>
        <p:spPr>
          <a:xfrm>
            <a:off x="609600" y="56495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这块板留在屏幕上 —— 分类和采访都要用。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130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任务 · 练习册 p.124 Ex. 15 · 课本 p.102 Act.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4585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二十四个词分五类 · 两人一组 · 5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45878"/>
            <a:ext cx="10972800" cy="2567880"/>
          </a:xfrm>
          <a:prstGeom prst="roundRect">
            <a:avLst>
              <a:gd name="adj" fmla="val 494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7935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五个格子：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中餐 / 西餐 / 快餐 / 零食 / 饮料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1389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蒸鱼 · 牛排 · 汽水 · 薯条 · 冰淇淋 · 杂菜汤 · 沙拉 · 薯片 · 花茶 · 炒青菜 · 比萨饼 · 炸鸡翅 · 热狗 · 可乐 · 糖果 · 三明治 · 巧克力 · 红烧豆腐 · 饼干 · 绿茶 · 鸡汤 · 汉堡包 · 炸鸡腿 · 北京烤鸭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分完，用中文说出两个的理由：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我觉得沙拉是西餐，因为……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Act. 3 / 练习册 Ex. 7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：每一类自己再加五个，不能用板上有的。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5206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这就是单元测验第一大题的样子。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29145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4882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51636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每一类加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个，五个里至少两个要是第十课学的（菜市场的词）。加完读练习册 p.122 Ex. 11 的短文，用中文回答五个问题，再把你们学校餐厅卖的东西填进「正餐／零食／小吃／饮料」四个格子里。全部用汉字。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1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p.107 · Act.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5092" y="176213"/>
            <a:ext cx="4783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5152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采访 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</a:t>
            </a: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同学，笔记用中文写 · 10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1546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6257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62571"/>
            <a:ext cx="1893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你早饭一般吃什么？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239268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35029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350294"/>
            <a:ext cx="1893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你午饭一般吃什么？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826990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93801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2938016"/>
            <a:ext cx="1893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你晚饭一般吃什么？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414713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525738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你们家周末常常去饭店吃饭吗？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002435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134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113461"/>
            <a:ext cx="25242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你们一般去哪家饭店吃饭？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590157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70118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03127" y="4701183"/>
            <a:ext cx="168275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你们一般吃什么？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20318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然后向全班报告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（这才是重点，报告要用第三人称）：三个同学早饭一般吃水果和面包，喝牛奶。一个同学有时候早饭吃谷类早餐加牛奶。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052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练习册 p.124 · Ex.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0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十六个量词，每个写一样东西 · 4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097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件 · 条 ·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碗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辆 · 支 · 架 · 副 · 顶 · 个 · 间 · 位 · 套 · 幢 · 双 · 口 · 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先做最容易的八个，再做剩下的。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「碗」是今天的词，必须在那八个里。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这是单元测验第二大题的样子。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338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013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十六个全部写完，而且每个词组都要写成一个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完整的句子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，不是只写名词。比如不写「碗：汤」，写「我喝了一碗杂菜汤」。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找不同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44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哪个不一样？用中文说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64431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7545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275457"/>
            <a:ext cx="24357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沙拉 · 酸奶 · 杂菜汤 ·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1610618"/>
            <a:ext cx="24357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碗不是吃的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64544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7557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75570"/>
            <a:ext cx="24358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总是 · 常常 · 有时 ·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牛奶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510730"/>
            <a:ext cx="24358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牛奶不是频率词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4656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75682"/>
            <a:ext cx="26461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面包 · 煎蛋 · 香肠 ·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冰淇淋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410843"/>
            <a:ext cx="26461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冰淇淋不是早饭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64769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757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75795"/>
            <a:ext cx="15944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碗 · 杯 · 条 ·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310955"/>
            <a:ext cx="1594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汤不是量词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764881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8759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875907"/>
            <a:ext cx="26461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巧克力 · 饼干 · 蛋糕 ·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正餐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3127" y="5211068"/>
            <a:ext cx="26461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正餐不是零食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69029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2、5 题不止一个答案 —— 能用中文把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另一个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答案讲通的，那一轮就算赢。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029" y="176213"/>
            <a:ext cx="509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435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4382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12630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2126307"/>
            <a:ext cx="572000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读一遍，问两个报告过的同学：第三条打勾了吗？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79112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5304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53048"/>
            <a:ext cx="38027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白板上三条一起写 👍 / 😐 / 👎。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61786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77978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779788"/>
            <a:ext cx="61483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用「一般……，有时……」写一句：你午饭吃什么。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44460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60652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606528"/>
            <a:ext cx="86647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第十一课最后一节：学「吃完饭以后……」，学十二个部件，还要把整课复习一遍。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2026-09-14T08:47:26Z</dcterms:created>
  <dcterms:modified xsi:type="dcterms:W3CDTF">2026-09-14T08:47:26Z</dcterms:modified>
</cp:coreProperties>
</file>