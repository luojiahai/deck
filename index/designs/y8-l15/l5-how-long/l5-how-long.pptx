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30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2866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第十五课 · 社区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7245" y="176213"/>
            <a:ext cx="3945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P.148, P.152–153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要坐多长时间？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How Long Does It Take?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15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901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上一课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093" y="176213"/>
            <a:ext cx="4201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446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两人一组，背着说 · 2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14488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72551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725513"/>
            <a:ext cx="273567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问：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从你家怎么去电影院？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2060674"/>
            <a:ext cx="27356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 答两段路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514600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62562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625626"/>
            <a:ext cx="273567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问：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从学校怎么去火车站？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2960787"/>
            <a:ext cx="27356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 再答两段路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14713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5257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525738"/>
            <a:ext cx="388620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换角色，再来一遍。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3127" y="3860899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然后请三个同学上来表演，桌上什么都不许放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314825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42585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4425851"/>
            <a:ext cx="525122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小白板：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I take the boat, then the number 5 bus.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3127" y="4761012"/>
            <a:ext cx="5251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我先坐船，然后坐五路公共汽车。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2402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怎么去，你们已经会说了。今天是所有人接下来一定会被问的那一句。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901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拆开看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391" y="176213"/>
            <a:ext cx="4198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266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多 + 长 + 时间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26655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85050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多长时间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85822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+ long + time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32807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「多」和「长」你早就会了。今天真正新的只有中间那个「时间」。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1796" y="176213"/>
            <a:ext cx="4204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816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81720"/>
            <a:ext cx="10972800" cy="784175"/>
          </a:xfrm>
          <a:prstGeom prst="roundRect">
            <a:avLst>
              <a:gd name="adj" fmla="val 1457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91270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ask and answer how long a journey takes.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182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19821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817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81746"/>
            <a:ext cx="578497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要坐多长时间？ and answer with a length of 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16907"/>
            <a:ext cx="57849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会问「要坐多长时间？」，也会回答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7932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98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9857"/>
            <a:ext cx="443831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give an approximate answer using 大约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5018"/>
            <a:ext cx="44383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会用「大约」说大概多久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76043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379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37968"/>
            <a:ext cx="230545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飞机 and 机场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3129"/>
            <a:ext cx="23054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能说「飞机」和「机场」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093" y="176213"/>
            <a:ext cx="4201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253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26828"/>
            <a:ext cx="5308550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kuKuqUEQz8/img/shij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917353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12864" y="3936653"/>
            <a:ext cx="7160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shíjiān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816150" y="4355753"/>
            <a:ext cx="295320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时间（時間）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063776" y="5000923"/>
            <a:ext cx="4080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526828"/>
            <a:ext cx="5308699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kuKuqUEQz8/img/day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917353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10154" y="3936653"/>
            <a:ext cx="6485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dàyuē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480399" y="4355753"/>
            <a:ext cx="295320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大约（大約）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7962305" y="5000923"/>
            <a:ext cx="19699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about; approximately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1349" y="176213"/>
            <a:ext cx="4209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你要坐多长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long do you have to travel?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大约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二十分钟。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About twenty minutes.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从我家到学校要多长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 —— 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大约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半个小时。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long from my home to school? — About half an hour.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问：「时间」说的是一段，不是一个点——钟面上那个箭头扫过的一块。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7749" y="176213"/>
            <a:ext cx="4144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25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259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9644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从我家到 ________ 要大约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474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14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492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两条路一起说，还要比较，还要说结果：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从我家到超市大约五分钟，可是到火车站要大约半个小时，所以我常常走路去超市，坐公共汽车去火车站。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1647" y="176213"/>
            <a:ext cx="4206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253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26828"/>
            <a:ext cx="5308550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kuKuqUEQz8/img/fei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917353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43982" y="3936653"/>
            <a:ext cx="4485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fēijī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816150" y="4355753"/>
            <a:ext cx="295320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飞机（飛機）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016895" y="5000923"/>
            <a:ext cx="503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526828"/>
            <a:ext cx="5308699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kuKuqUEQz8/img/jich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917353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04014" y="3936653"/>
            <a:ext cx="12730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(fēi)jīchǎng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098209" y="4355753"/>
            <a:ext cx="3732877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(飞)机场（機場）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8622060" y="5000923"/>
            <a:ext cx="6240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airport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1200" y="176213"/>
            <a:ext cx="4211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我坐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飞机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去中国。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go to China by plane.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机场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很远。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home is far from the airport.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机场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挺远的，要先坐火车，然后坐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飞机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airport is quite far — first the train, then the plane.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问：「机」这个字你上一课就见过了——在哪两个词里？（洗衣机、冷气机）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5092" y="176213"/>
            <a:ext cx="4783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25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259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9644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我家离机场 ________ ，要坐 ________ 去。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474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14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492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写一条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三段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的路去机场，每一段都说时间，最后说你为什么要早出门：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我家离机场挺远的。我先坐十路公共汽车，大约十五分钟，然后坐火车，大约一个小时，所以我要很早出门。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797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9500" y="176213"/>
            <a:ext cx="4534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7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大约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飞机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84562"/>
            <a:ext cx="2590949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24188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机场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297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读不出来就停下来重教——不要往下走。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348" y="176213"/>
            <a:ext cx="479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问多久，答大概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1765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要坐多长时间？　→　大约 + 时间。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60527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你家离火车站远吗？　—— 不远，就在马路对面。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605275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Yesterday's 就 and Lesson 2's 离 — both still running.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47199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要坐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多长时间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 —— 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大约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二十分钟。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471991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new pair. 大约 goes in front of the amount.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62116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你家离(飞)机场远吗？ —— 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挺远的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，要坐火车去。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62116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is Text 2, p.148 — and 挺……的 came from Lesson 2.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三句里只有中间那一句是今天新的。另外两句是第二课和第三课还在用的东西。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1098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最常见的错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40833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改一改 · 「多长时间」和「大约」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735312"/>
            <a:ext cx="2844701" cy="666750"/>
          </a:xfrm>
          <a:prstGeom prst="roundRect">
            <a:avLst>
              <a:gd name="adj" fmla="val 9524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2849612"/>
            <a:ext cx="248716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你要多长时间坐？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43350" y="2735312"/>
            <a:ext cx="2844701" cy="666750"/>
          </a:xfrm>
          <a:prstGeom prst="roundRect">
            <a:avLst>
              <a:gd name="adj" fmla="val 9524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46500" y="2849612"/>
            <a:ext cx="248716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你要坐</a:t>
            </a: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多长时间</a:t>
            </a:r>
            <a:r>
              <a:rPr lang="en-US" sz="2400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67401" y="2954387"/>
            <a:ext cx="4585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「多长时间」在动词后面——它是问「坐多久」，不是问「多久坐」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681264"/>
            <a:ext cx="4063901" cy="666750"/>
          </a:xfrm>
          <a:prstGeom prst="roundRect">
            <a:avLst>
              <a:gd name="adj" fmla="val 9524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795564"/>
            <a:ext cx="373075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大约二十分钟的时间要坐。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62550" y="3681264"/>
            <a:ext cx="3149501" cy="666750"/>
          </a:xfrm>
          <a:prstGeom prst="roundRect">
            <a:avLst>
              <a:gd name="adj" fmla="val 9524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65700" y="3795564"/>
            <a:ext cx="279806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要坐</a:t>
            </a: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大约</a:t>
            </a:r>
            <a:r>
              <a:rPr lang="en-US" sz="2400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二十分钟。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91401" y="3900339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「大约」贴在数量前面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050" y="176213"/>
            <a:ext cx="4793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895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一口气回答两个问题：怎么去，还有多久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89547"/>
            <a:ext cx="10972800" cy="1710630"/>
          </a:xfrm>
          <a:prstGeom prst="roundRect">
            <a:avLst>
              <a:gd name="adj" fmla="val 6682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13397"/>
            <a:ext cx="10479988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从你家怎么去机场？要坐多长时间？　—— 我先坐火车，然后坐公共汽车，大约一个小时。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952577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do you get to the airport from your home, and how long does it take? — First the train, then the bus; about an hour.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76532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两个问题，一个回合答完：路线在前，时间在后。这就是课文二最后那几行在做的事。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62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CD 74 · 上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348" y="176213"/>
            <a:ext cx="479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5387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上半 · 课本 P.148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3902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56492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5777" y="1564928"/>
            <a:ext cx="2707133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你们家附近有电影院吗？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600" y="2101155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21218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15777" y="2212181"/>
            <a:ext cx="738378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没有。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09600" y="2748409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85943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15777" y="2859435"/>
            <a:ext cx="2707133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从你们家怎么去电影院？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09600" y="3395663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50668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15777" y="3506688"/>
            <a:ext cx="3937510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我先坐船，然后再坐五路公共汽车。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09600" y="4042916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153942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15777" y="4153942"/>
            <a:ext cx="1722680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要坐多长时间？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09600" y="4690170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826" y="480119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15777" y="4801195"/>
            <a:ext cx="1722680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大约二十分钟。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09600" y="540097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前四行上节课读过了。今天新的是最后两行——也就是今天这一课。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62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CD 74 · 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3604" y="176213"/>
            <a:ext cx="4798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49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下半 · 课本 P.148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49611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81153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41227" y="1811536"/>
            <a:ext cx="24483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你家离火车站远吗？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600" y="2475012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636937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41227" y="2636937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不远，就在马路对面。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3300413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4623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41227" y="3462338"/>
            <a:ext cx="26072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你家离(飞)机场远吗？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9600" y="4125813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2877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41227" y="4287738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挺远的，要坐火车去。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09600" y="4976664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这四行里没有一个今天的新词——「离」「就」「对面」「挺……的」全是第二课和第三课的。整段是单元测验口语部分的样板：放 CD 74，齐读，两人一组读两遍换角色。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20004" y="176213"/>
            <a:ext cx="4733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47854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「多长时间」是问 </a:t>
            </a:r>
            <a:r>
              <a:rPr lang="en-US" sz="2100" b="1" i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when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还是 </a:t>
            </a:r>
            <a:r>
              <a:rPr lang="en-US" sz="2100" b="1" i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how long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47854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 how long 的举手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31248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翻译：</a:t>
            </a:r>
            <a:r>
              <a:rPr lang="en-US" sz="2100" b="1" i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About forty minutes.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3124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小白板：大约四十分钟。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38084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用中文问我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：我到学校要多久？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点两个人，第二个人要问得跟第一个不一样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4080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改一改：我要多长时间坐去机场？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哪个部分放错了？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3902" y="176213"/>
            <a:ext cx="4795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1798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kuKuqUEQz8/img/shij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1455986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0066" y="2598837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kuKuqUEQz8/img/day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1455986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900" y="2598837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大约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kuKuqUEQz8/img/feij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1455986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93734" y="2598837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飞机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503563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kuKuqUEQz8/img/jicha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417" y="3640038"/>
            <a:ext cx="1041350" cy="1041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60066" y="4782889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机场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609600" y="563686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这一页留在屏幕上——后面两个活动都看它。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032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7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3455" y="176213"/>
            <a:ext cx="4800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我的时间表</a:t>
            </a:r>
            <a:endParaRPr lang="en-US" sz="1100" dirty="0"/>
          </a:p>
        </p:txBody>
      </p:sp>
      <p:pic>
        <p:nvPicPr>
          <p:cNvPr id="9" name="Image 0" descr="/var/folders/6c/210dcgxn4gz5sm71vld2cy1h0000gn/T/tmp.kuKuqUEQz8/img/tub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44003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发纸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四栏：去哪儿 / 怎么去 / 多长时间 / 远不远。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2785467"/>
            <a:ext cx="8031531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填六个真的地方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学校、超市、火车站、电影院、机场，再加一个你自己的。全部写汉字。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347632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时间那一栏每一格都要用「大约」开头。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三分钟。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82175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填完两人一组互相采访，然后两个同学报告同桌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最长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的那一条路。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08350" y="4294138"/>
            <a:ext cx="803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从你家怎么去机场？　要坐多长时间？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9940" y="176213"/>
            <a:ext cx="5039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48513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 · 表填完就扣过来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5157"/>
            <a:ext cx="10972800" cy="1713161"/>
          </a:xfrm>
          <a:prstGeom prst="roundRect">
            <a:avLst>
              <a:gd name="adj" fmla="val 667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表填好，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盖起来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，然后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说一分钟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，面前什么都不看。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六个地方要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从近到远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排着说，而且句子要连起来，不是一条一条念。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75061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超市离我家最近，走路五分钟就到了。机场最远，要先坐火车，然后……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5008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听力 · CD 75 · 4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348" y="176213"/>
            <a:ext cx="479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7250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听力 · 课本 P.153 第十五题 · 放两遍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925068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4175" y="304889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90476" y="3048893"/>
            <a:ext cx="27980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第一段：他家离学校远吗？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0476" y="3429893"/>
            <a:ext cx="279806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他怎么上学？坐多久？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84850" y="2925068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59426" y="304889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765727" y="3048893"/>
            <a:ext cx="30312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第二段：他家附近有超市吗？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65727" y="3429893"/>
            <a:ext cx="3031236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他怎么去超市？要开多久？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600" y="392965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两段听完再放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第三遍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——这一遍不做题，只听「挺远的」和「大约十五分钟」在整句话里是什么声音。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039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9196" y="176213"/>
            <a:ext cx="5047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4858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课本 P.152 第十三题 · 写在本子上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48607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21105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2110532"/>
            <a:ext cx="315510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八个问句，用「多长时间」补完。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2445693"/>
            <a:ext cx="31551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写在本子上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3026718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31886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3188643"/>
            <a:ext cx="567946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老师走一圈，专找一种错：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「多长时间」跑到动词前面去了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3523804"/>
            <a:ext cx="56794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找到就当场改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4104829"/>
            <a:ext cx="10972800" cy="674340"/>
          </a:xfrm>
          <a:prstGeom prst="roundRect">
            <a:avLst>
              <a:gd name="adj" fmla="val 941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266754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4266754"/>
            <a:ext cx="29448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写完的人不要停——看下一页。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490611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这八句的格式跟单元测验第六部分一样。现在写顺了，考试就不是新东西。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9494" y="176213"/>
            <a:ext cx="5044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57591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加难 · 自己写一段课文二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775942"/>
            <a:ext cx="10972800" cy="1531590"/>
          </a:xfrm>
          <a:prstGeom prst="roundRect">
            <a:avLst>
              <a:gd name="adj" fmla="val 7463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302359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不做填空。写一段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八行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的对话，说你自己家附近。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36902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「附近有……」「离……远吗」「从……怎么去」「要坐多长时间」「大约」——五个都要出现。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71445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写完找一个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没看过你稿子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的同伴，当场演一遍——他要答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他自己家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的情况，不是照你写的念。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884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二十个问题 · 7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8898" y="176213"/>
            <a:ext cx="5050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912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猜一个地方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91308"/>
            <a:ext cx="10972800" cy="1877020"/>
          </a:xfrm>
          <a:prstGeom prst="roundRect">
            <a:avLst>
              <a:gd name="adj" fmla="val 6089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13895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一个同学心里想一个地方：超市、花店、文具店、家具店、饭店、火车站、电影院、机场、学校。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48438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只能用中文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问：离学校远吗？要坐多长时间？在马路对面吗？那儿有沙发吗？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8298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他只能答：是／不是／挺远的／大约二十分钟。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1752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二十个问题之内猜出来算全班赢。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600" y="3946029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14278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40620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想地方的人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不许只答一个词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——每一句都要是完整的句子，而且整轮里至少有三句要用「先……，然后……」。问的人：同一个问法不能用第二次。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写字 · 课文二生词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9196" y="176213"/>
            <a:ext cx="5047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797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写字 · 课本笔顺 · 练习册 PP.168–169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79786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65511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09576" y="1617911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74727" y="1617911"/>
            <a:ext cx="19801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日字旁，右边是「寸」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91874" y="155123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80774" y="155123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69675" y="155123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2186136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2271861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间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609576" y="2424261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74727" y="2424261"/>
            <a:ext cx="19801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门字框，里面是「日」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91874" y="23575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80774" y="23575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69675" y="23575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2992487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22275" y="3078212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约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1609576" y="3230612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画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574727" y="3230612"/>
            <a:ext cx="19801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绞丝旁，右边是「勺」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91874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480774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969675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600" y="3798838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22275" y="3884563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飞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1609576" y="4036963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画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574727" y="4036963"/>
            <a:ext cx="23760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只有三画——横斜钩，两点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91874" y="397028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480774" y="397028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969675" y="397028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9600" y="4605189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2275" y="4690914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场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1609576" y="4843314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画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574727" y="4843314"/>
            <a:ext cx="31681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提土旁，右边先写横折折折，再写撇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991874" y="477663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480774" y="477663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969675" y="477663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09600" y="547508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每个字写三遍。「飞」只有三画，很多人写成四画。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6088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70683" y="166688"/>
            <a:ext cx="1116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26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9915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回头看今天的三个目标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99183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96110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961108"/>
            <a:ext cx="369189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会问「要坐多长时间？」，也会回答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2296269"/>
            <a:ext cx="369189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全班一起回答：你家离学校要坐多长时间？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886819"/>
            <a:ext cx="10972800" cy="944761"/>
          </a:xfrm>
          <a:prstGeom prst="roundRect">
            <a:avLst>
              <a:gd name="adj" fmla="val 672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3048744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3048744"/>
            <a:ext cx="124343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会用「大约」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3383905"/>
            <a:ext cx="12434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 / 😐 / 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983980"/>
            <a:ext cx="10972800" cy="944761"/>
          </a:xfrm>
          <a:prstGeom prst="roundRect">
            <a:avLst>
              <a:gd name="adj" fmla="val 672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14590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4145905"/>
            <a:ext cx="227965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能说「飞机」和「机场」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4481066"/>
            <a:ext cx="22796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 / 😐 / 👎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505569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第一条不用举手——全班齐声答一次，答得出来就是会了。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Exit ticket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94852" y="176213"/>
            <a:ext cx="4989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 / 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621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回答一句，交上来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62150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286000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从你家到学校要坐多长时间？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293715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sentence. It must have 大约 in it.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76356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下节课是这个单元的最后一课：再学四个店，看一张地图，然后你要给一个陌生人指路。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4169866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366617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630043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写完了？再加一句说你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怎么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去，用「先……，然后……」。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2026-09-15T23:41:34Z</dcterms:created>
  <dcterms:modified xsi:type="dcterms:W3CDTF">2026-09-15T23:41:34Z</dcterms:modified>
</cp:coreProperties>
</file>