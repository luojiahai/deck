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2045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6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74354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第十五课 · 社区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441" y="176213"/>
            <a:ext cx="400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P.145–146, P.151, P.153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我们的社区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My Whole Neighbourhood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15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6593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课本 p.145 第四题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1291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站起来，两人一组，八个问题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12937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185863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3127" y="1185863"/>
            <a:ext cx="147797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你家附近有什么？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3127" y="1485602"/>
            <a:ext cx="14779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用「等」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1875979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1948904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3127" y="1948904"/>
            <a:ext cx="252603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你家离学校远吗？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3127" y="2248644"/>
            <a:ext cx="25260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用「挺……的」或者「不远」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639020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2711946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3127" y="2711946"/>
            <a:ext cx="314053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你家离超市远不远？走路要多长时间？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03127" y="3011686"/>
            <a:ext cx="31405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用「离」和「大约」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402062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474988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3127" y="3474988"/>
            <a:ext cx="213741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从你家怎么去电影院？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3127" y="3774728"/>
            <a:ext cx="21374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用「先……，然后……」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165104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238030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03127" y="4238030"/>
            <a:ext cx="174879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火车站在哪儿？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03127" y="4537770"/>
            <a:ext cx="17487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用「就在……对面」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4928146"/>
            <a:ext cx="10972800" cy="712291"/>
          </a:xfrm>
          <a:prstGeom prst="roundRect">
            <a:avLst>
              <a:gd name="adj" fmla="val 8915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6826" y="5001071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03127" y="5001071"/>
            <a:ext cx="3325282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你家的房子有几层？你的房间里有什么？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03127" y="5300811"/>
            <a:ext cx="33252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第十三课和第十四课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9600" y="57419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问完八题换 B。老师一边走一边听两件事：「离」后面有没有东西，「就」有没有跑到动词后面去。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6274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你刚才做的是什么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736" y="176213"/>
            <a:ext cx="425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2663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刚才那八个问题，就是单元测验的口语部分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2665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85050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而且你是</a:t>
            </a: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背着</a:t>
            </a:r>
            <a:r>
              <a:rPr lang="en-US" sz="27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做完的。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858220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That interview is the speaking half of the unit test, and you just did it from memory.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32807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今天先加最后四个店，然后把整个社区放到一张地图上。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140" y="176213"/>
            <a:ext cx="4262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990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99108"/>
            <a:ext cx="10972800" cy="1149251"/>
          </a:xfrm>
          <a:prstGeom prst="roundRect">
            <a:avLst>
              <a:gd name="adj" fmla="val 994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408658"/>
            <a:ext cx="10531602" cy="730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describe a whole neighbourhood and tell someone how to get around it.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50075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802285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964210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964210"/>
            <a:ext cx="279457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four more shops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299371"/>
            <a:ext cx="27945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再多说四个商店的名字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880396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40423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4042321"/>
            <a:ext cx="465068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describe a map using 附近、离、就、对面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377482"/>
            <a:ext cx="4650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会用「附近」「离」「就」「对面」描述一张地图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958507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51204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5120432"/>
            <a:ext cx="615871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tell a visitor how to reach a place, and how long it takes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455593"/>
            <a:ext cx="61587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会告诉别人怎么去，还要说多久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shuiguod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609999" y="3866852"/>
            <a:ext cx="133390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shuǐguǒdiàn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349401" y="4285952"/>
            <a:ext cx="1865376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水果店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2818805" y="5070723"/>
            <a:ext cx="9079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fruit shop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LHO6BoqOp1/img/shud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506123" y="3866852"/>
            <a:ext cx="8607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shūdiàn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480399" y="4285952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书店（書店）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8482459" y="4931122"/>
            <a:ext cx="9090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bookshop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水果店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里有苹果和香蕉。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are apples and bananas in the fruit shop.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我常常去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买书。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often go to the bookshop to buy books.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就在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水果店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bookshop is right opposite the fruit shop.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问：今天四个词的最后一个字都一样——是哪个字？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093" y="176213"/>
            <a:ext cx="4201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________ 就在 ________ 对面。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两句连起来：先摆位置，再说你更常去哪一个，还要说为什么。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书店就在水果店对面。因为我很喜欢看书，所以我常常去书店，可是妈妈天天去水果店买苹果。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991" y="176213"/>
            <a:ext cx="4264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lifad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65834" y="3866852"/>
            <a:ext cx="8118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lǐfàdiàn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333649" y="4285952"/>
            <a:ext cx="3937510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理发店（理髮店）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673251" y="4931122"/>
            <a:ext cx="12047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hairdresser's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LHO6BoqOp1/img/kuaicand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284071" y="3866852"/>
            <a:ext cx="13135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kuàicāndiàn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013650" y="4285952"/>
            <a:ext cx="1865376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快餐店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226623" y="5070723"/>
            <a:ext cx="14309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fast-food shop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545" y="176213"/>
            <a:ext cx="4268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理发店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在花店右面。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hairdresser's is to the right of the flower shop.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我们常常去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快餐店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吃饭。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 often eat at the fast-food shop.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理发店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快餐店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都在马路对面。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Both the hairdresser's and the fast-food shop are across the road.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问：「快餐」＝ 快 + 餐。两个字你都会了。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288" y="176213"/>
            <a:ext cx="4842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7256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17259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9644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 ________ 和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664744"/>
            <a:ext cx="10972800" cy="1245989"/>
          </a:xfrm>
          <a:prstGeom prst="roundRect">
            <a:avLst>
              <a:gd name="adj" fmla="val 5096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386149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124920"/>
            <a:ext cx="10687050" cy="589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今天四个店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全部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放进一句，用「等」收尾；再写第二句，说哪一个最远、你怎么去：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我家附近有水果店、书店、理发店、快餐店等。理发店最远，我要先走路，然后坐五路公共汽车，大约十五分钟。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931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只认不写 · Recognition only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696" y="176213"/>
            <a:ext cx="4593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48141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8485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医院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4470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96358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公园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79950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9883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地铁站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315051" y="2808387"/>
            <a:ext cx="2032099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33935" y="3148013"/>
            <a:ext cx="17943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加油站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550301" y="2808387"/>
            <a:ext cx="2031950" cy="1212652"/>
          </a:xfrm>
          <a:prstGeom prst="roundRect">
            <a:avLst>
              <a:gd name="adj" fmla="val 942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669186" y="3148013"/>
            <a:ext cx="179418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玩具店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09600" y="41734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这五个词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只认，不写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——课本 p.149 第十题的选项里有它们。一起读一遍，认得出来就够了。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57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水果店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书店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理发店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84562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24188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快餐店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2972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82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今天没有新句型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2663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今天没有新句型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26655"/>
            <a:ext cx="10972800" cy="1179165"/>
          </a:xfrm>
          <a:prstGeom prst="roundRect">
            <a:avLst>
              <a:gd name="adj" fmla="val 9693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850505"/>
            <a:ext cx="1047998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今天的活儿，是把前面五课的句型</a:t>
            </a: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一起</a:t>
            </a:r>
            <a:r>
              <a:rPr lang="en-US" sz="27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用出来。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858220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 new pattern today. The job is running all of them at once.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328071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下一页老师在黑板上一句一句搭出来，每搭一句就说出它是哪一课的。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2648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33439" y="166688"/>
            <a:ext cx="15371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五个句型，一段话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4982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老师在黑板上一句一句搭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49846"/>
            <a:ext cx="10972800" cy="857250"/>
          </a:xfrm>
          <a:prstGeom prst="roundRect">
            <a:avLst>
              <a:gd name="adj" fmla="val 13333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59396"/>
            <a:ext cx="1053160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附近有…等　·　离…远／近　·　就在…对面　·　挺…的　·　先…然后…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09600" y="213404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29597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295971"/>
            <a:ext cx="46245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水果店、书店、快餐店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34121"/>
            <a:ext cx="462457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第一课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3285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49478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494782"/>
            <a:ext cx="70728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我家不远，走路五分钟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到了。书店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就在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马路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32932"/>
            <a:ext cx="707288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第二课 + 第三课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3166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69359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693593"/>
            <a:ext cx="54406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坐船，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坐公共汽车，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二十分钟。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31743"/>
            <a:ext cx="544068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第四课 + 第五课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0502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搭完擦掉，只留结构的名字——全班照着名字重说一遍。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水果店里卖什么？用中文说三样。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4080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苹果、香蕉、橘子……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502215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bookshop is right across the road.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502215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小白板：书店就在马路对面。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91325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我说五句，错的那一句大拇指朝下。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91325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我家离超市很近。／书店在就马路对面。／大约二十分钟。／我先走路，然后坐船。／理发店在花店右面。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54406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用「等」说一句，里面要有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四个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店。三十秒。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54406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800" y="176213"/>
            <a:ext cx="4857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1798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shuiguod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417" y="1455986"/>
            <a:ext cx="1041350" cy="10413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50516" y="2598837"/>
            <a:ext cx="12824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水果店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26434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LHO6BoqOp1/img/shud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50" y="1455986"/>
            <a:ext cx="1041350" cy="10413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76900" y="2598837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书店</a:t>
            </a:r>
            <a:endParaRPr lang="en-US" sz="3300" dirty="0"/>
          </a:p>
        </p:txBody>
      </p:sp>
      <p:sp>
        <p:nvSpPr>
          <p:cNvPr id="15" name="Text 11"/>
          <p:cNvSpPr/>
          <p:nvPr/>
        </p:nvSpPr>
        <p:spPr>
          <a:xfrm>
            <a:off x="8043267" y="1319510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LHO6BoqOp1/img/lifadi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084" y="1455986"/>
            <a:ext cx="1041350" cy="10413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84184" y="2598837"/>
            <a:ext cx="12824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理发店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3503563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3" descr="/var/folders/6c/210dcgxn4gz5sm71vld2cy1h0000gn/T/tmp.LHO6BoqOp1/img/kuaicandi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417" y="3640038"/>
            <a:ext cx="1041350" cy="10413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750516" y="4782889"/>
            <a:ext cx="12824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快餐店</a:t>
            </a:r>
            <a:endParaRPr lang="en-US" sz="3300" dirty="0"/>
          </a:p>
        </p:txBody>
      </p:sp>
      <p:sp>
        <p:nvSpPr>
          <p:cNvPr id="21" name="Text 15"/>
          <p:cNvSpPr/>
          <p:nvPr/>
        </p:nvSpPr>
        <p:spPr>
          <a:xfrm>
            <a:off x="609600" y="563686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这一页留在屏幕上——后面三个活动都看它。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9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6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348" y="176213"/>
            <a:ext cx="4790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看地图，轮着说</a:t>
            </a:r>
            <a:endParaRPr lang="en-US" sz="1100" dirty="0"/>
          </a:p>
        </p:txBody>
      </p:sp>
      <p:pic>
        <p:nvPicPr>
          <p:cNvPr id="9" name="Image 0" descr="/var/folders/6c/210dcgxn4gz5sm71vld2cy1h0000gn/T/tmp.LHO6BoqOp1/img/dit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44003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三人一组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，每组一张 A3 地图，屏幕上是同一张。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78546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轮流说，一人一句——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句型不能重复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130897"/>
            <a:ext cx="8031531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所以一组要凑齐：附近有……等 / 离……远近 / 就在……对面 / 挺……的 / 先……，然后……。每组至少六句。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82175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然后全班：老师指一个店，全班齐声答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那是什么店？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29413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超市离学校很近，走路三分钟就到了。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246" y="176213"/>
            <a:ext cx="4853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123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 · 关掉投影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12368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76001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投影关掉，地图扣过来，三个人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凭记忆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把地图说出来。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10544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一个人负责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记下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另外两个人说的。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45087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说完再翻开地图核对，错的地方要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自己改。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92325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不对，理发店不在书店对面，在书店右面。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0397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9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7651" y="176213"/>
            <a:ext cx="4859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火车站的问讯处 · 课本 P.151 第十二题</a:t>
            </a:r>
            <a:endParaRPr lang="en-US" sz="1100" dirty="0"/>
          </a:p>
        </p:txBody>
      </p:sp>
      <p:pic>
        <p:nvPicPr>
          <p:cNvPr id="9" name="Image 0" descr="/var/folders/6c/210dcgxn4gz5sm71vld2cy1h0000gn/T/tmp.LHO6BoqOp1/img/zhi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21262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两人一组，用那张 A3 地图。一个坐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问讯处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，一个是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刚下车的客人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255805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客人要问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五个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地方，每个地方都要问到三件事：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290348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① 在哪儿？　② 怎么去？　③ 要多长时间？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248918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四分半换角色。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3721298"/>
            <a:ext cx="8031531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请问，电影院在哪儿？ —— 电影院就在马路对面。</a:t>
            </a:r>
            <a:endParaRPr lang="en-US" sz="2100" dirty="0"/>
          </a:p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从这儿怎么去超市？ —— 你先走路，然后坐五路公共汽车。</a:t>
            </a:r>
            <a:endParaRPr lang="en-US" sz="2100" dirty="0"/>
          </a:p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要多长时间？ —— 大约十五分钟。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4285" y="176213"/>
            <a:ext cx="5097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 · 客人很难伺候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客人拖着一个很重的箱子——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不能走路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客人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只有二十分钟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，火车就要开了。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客人要在开车前去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地方。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问讯处要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安排顺序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，还要说出为什么这么排。客人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看不到地图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你先去水果店，因为它很近，然后去书店，书店就在对面，大约二十分钟就够了。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25536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8 分钟 · 课本 p.153 第十六题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0392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画你梦想中的城市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239268"/>
            <a:ext cx="10972800" cy="511522"/>
          </a:xfrm>
          <a:prstGeom prst="roundRect">
            <a:avLst>
              <a:gd name="adj" fmla="val 12414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2350294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2350294"/>
            <a:ext cx="896118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两人一组，一张 A3。四分钟，画至少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八个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地方，全部写汉字，其中至少六个是这六课学过的店。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9600" y="2826990"/>
            <a:ext cx="10972800" cy="511522"/>
          </a:xfrm>
          <a:prstGeom prst="roundRect">
            <a:avLst>
              <a:gd name="adj" fmla="val 12414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6826" y="2938016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203127" y="2938016"/>
            <a:ext cx="483801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下面写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给一个要来玩的朋友：去哪儿，怎么去。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414713"/>
            <a:ext cx="10972800" cy="511522"/>
          </a:xfrm>
          <a:prstGeom prst="roundRect">
            <a:avLst>
              <a:gd name="adj" fmla="val 12414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96826" y="35257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203127" y="3525738"/>
            <a:ext cx="652077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全部贴到墙上。两分钟大家走一圈，在</a:t>
            </a: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最想去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的那一张旁边打一个勾。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09600" y="4002435"/>
            <a:ext cx="10972800" cy="511522"/>
          </a:xfrm>
          <a:prstGeom prst="roundRect">
            <a:avLst>
              <a:gd name="adj" fmla="val 12414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6826" y="411346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203127" y="4113461"/>
            <a:ext cx="357591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票最多的两组把他们写的两句念出来。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9600" y="461545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画得漂亮不算分，写得清楚才算。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23863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32981" y="166688"/>
            <a:ext cx="12063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活动三 · 加难 · 写成一封信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不写两句，写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五句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，而且要写成一封给朋友的信。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「你好」开头；「附近有……等」「离……挺远的」「先……，然后……」各至少用一次；最后推荐一个地方，还要说为什么。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这就是练习册那篇社区作文，也是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单元测验第十一部分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——现在先写一遍，而且是当众写。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最好的两封留下来，下节课贴出来。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6088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370683" y="166688"/>
            <a:ext cx="13947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六课一起回头看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44709" y="180975"/>
            <a:ext cx="4481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84337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这六节课，你学会了什么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84362"/>
            <a:ext cx="10972800" cy="721816"/>
          </a:xfrm>
          <a:prstGeom prst="roundRect">
            <a:avLst>
              <a:gd name="adj" fmla="val 87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157288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3127" y="1157288"/>
            <a:ext cx="362585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第一课　我家附近有花店、文具店、家具店等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3127" y="1457027"/>
            <a:ext cx="362585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举一个中文例子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1856929"/>
            <a:ext cx="10972800" cy="721816"/>
          </a:xfrm>
          <a:prstGeom prst="roundRect">
            <a:avLst>
              <a:gd name="adj" fmla="val 87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1929854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3127" y="1929854"/>
            <a:ext cx="2949261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第二课　超市离我家不远　·　挺远的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3127" y="2229594"/>
            <a:ext cx="294926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举一个中文例子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629495"/>
            <a:ext cx="10972800" cy="721816"/>
          </a:xfrm>
          <a:prstGeom prst="roundRect">
            <a:avLst>
              <a:gd name="adj" fmla="val 87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2702421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03127" y="2702421"/>
            <a:ext cx="235692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第三课　火车站就在马路对面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03127" y="3002161"/>
            <a:ext cx="235692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举一个中文例子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402062"/>
            <a:ext cx="10972800" cy="721816"/>
          </a:xfrm>
          <a:prstGeom prst="roundRect">
            <a:avLst>
              <a:gd name="adj" fmla="val 87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474988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3127" y="3474988"/>
            <a:ext cx="290068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第四课　我先坐船，然后坐公共汽车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3127" y="3774728"/>
            <a:ext cx="290068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举一个中文例子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174629"/>
            <a:ext cx="10972800" cy="721816"/>
          </a:xfrm>
          <a:prstGeom prst="roundRect">
            <a:avLst>
              <a:gd name="adj" fmla="val 87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247555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03127" y="4247555"/>
            <a:ext cx="3673066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第五课　要坐多长时间？　—— 大约二十分钟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03127" y="4547295"/>
            <a:ext cx="367306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举一个中文例子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4947196"/>
            <a:ext cx="10972800" cy="721816"/>
          </a:xfrm>
          <a:prstGeom prst="roundRect">
            <a:avLst>
              <a:gd name="adj" fmla="val 87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6826" y="5020121"/>
            <a:ext cx="246075" cy="25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03127" y="5020121"/>
            <a:ext cx="326334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第六课　水果店、书店、理发店、快餐店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03127" y="5319861"/>
            <a:ext cx="326334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举一个中文例子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9600" y="57705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今天不是只看今天的三条——六节课一条一条过。每一条请一个同学用中文举例，说得出来才算学会。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901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 · 小白板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243" y="176213"/>
            <a:ext cx="510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24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2596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LHO6BoqOp1/img/fuj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0970" y="2125861"/>
            <a:ext cx="609600" cy="609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30970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2839641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LHO6BoqOp1/img/l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011" y="2125861"/>
            <a:ext cx="609600" cy="609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13411" y="2798862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离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5069681" y="2027486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5943451" y="2125861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就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7299871" y="2027486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2" descr="/var/folders/6c/210dcgxn4gz5sm71vld2cy1h0000gn/T/tmp.LHO6BoqOp1/img/ranho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1241" y="2125861"/>
            <a:ext cx="609600" cy="6096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21241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然后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9529911" y="2027486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3" descr="/var/folders/6c/210dcgxn4gz5sm71vld2cy1h0000gn/T/tmp.LHO6BoqOp1/img/day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1281" y="2125861"/>
            <a:ext cx="609600" cy="609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251281" y="2798862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大约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09600" y="3503563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4" descr="/var/folders/6c/210dcgxn4gz5sm71vld2cy1h0000gn/T/tmp.LHO6BoqOp1/img/duimi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0970" y="3601938"/>
            <a:ext cx="609600" cy="609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330970" y="4274939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2400" dirty="0"/>
          </a:p>
        </p:txBody>
      </p:sp>
      <p:sp>
        <p:nvSpPr>
          <p:cNvPr id="26" name="Text 19"/>
          <p:cNvSpPr/>
          <p:nvPr/>
        </p:nvSpPr>
        <p:spPr>
          <a:xfrm>
            <a:off x="2839641" y="3503563"/>
            <a:ext cx="2052340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0"/>
          <p:cNvSpPr/>
          <p:nvPr/>
        </p:nvSpPr>
        <p:spPr>
          <a:xfrm>
            <a:off x="3713411" y="3601938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挺</a:t>
            </a:r>
            <a:endParaRPr lang="en-US" sz="2400" dirty="0"/>
          </a:p>
        </p:txBody>
      </p:sp>
      <p:sp>
        <p:nvSpPr>
          <p:cNvPr id="28" name="Text 21"/>
          <p:cNvSpPr/>
          <p:nvPr/>
        </p:nvSpPr>
        <p:spPr>
          <a:xfrm>
            <a:off x="5069681" y="3503563"/>
            <a:ext cx="2052489" cy="1298377"/>
          </a:xfrm>
          <a:prstGeom prst="roundRect">
            <a:avLst>
              <a:gd name="adj" fmla="val 880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9" name="Image 5" descr="/var/folders/6c/210dcgxn4gz5sm71vld2cy1h0000gn/T/tmp.LHO6BoqOp1/img/shijia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051" y="3601938"/>
            <a:ext cx="609600" cy="6096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588050" y="4274939"/>
            <a:ext cx="103606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多长时间</a:t>
            </a:r>
            <a:endParaRPr lang="en-US" sz="2000" dirty="0"/>
          </a:p>
        </p:txBody>
      </p:sp>
      <p:sp>
        <p:nvSpPr>
          <p:cNvPr id="31" name="Text 23"/>
          <p:cNvSpPr/>
          <p:nvPr/>
        </p:nvSpPr>
        <p:spPr>
          <a:xfrm>
            <a:off x="609600" y="492889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小白板：这八样，哪一样你还是 😐？写下来举起来。举得最多的那一个，就是复习要从哪儿开始。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1324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Exit ticket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392" y="176213"/>
            <a:ext cx="5106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25 / 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4783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写三句你自己的社区，交上来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47863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19551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第一句用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「附近有……等」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54094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第二句用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「离……远／近」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2886373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第三句用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「先……，然后……」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358753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三句都写对的那几张，就是单元测验写作部分的样子——下节课带回来。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09600" y="4184154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7250" y="4380905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7250" y="4644330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写完了？再写第四句，用「就」。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2026-09-15T23:18:10Z</dcterms:created>
  <dcterms:modified xsi:type="dcterms:W3CDTF">2026-09-15T23:18:10Z</dcterms:modified>
</cp:coreProperties>
</file>