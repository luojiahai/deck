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27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2568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第十五课 · 社区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697" y="176213"/>
            <a:ext cx="4012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P.142, P.144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超市离我家不远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Far or Near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8 · Book 2 · Unit 5 · Lesson 15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901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上一课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575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花店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2684562"/>
            <a:ext cx="2590949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3024188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家具店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42972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只有汉字，没有拼音。三十秒，全班一起读。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901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改一改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4016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改一改 · 哪里错了？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67136"/>
            <a:ext cx="2844701" cy="657225"/>
          </a:xfrm>
          <a:prstGeom prst="roundRect">
            <a:avLst>
              <a:gd name="adj" fmla="val 9662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2681436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我家有附近花店。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949452" y="2567136"/>
            <a:ext cx="2844701" cy="657225"/>
          </a:xfrm>
          <a:prstGeom prst="roundRect">
            <a:avLst>
              <a:gd name="adj" fmla="val 9662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52602" y="2681436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我家附近有花店。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073503" y="2781449"/>
            <a:ext cx="253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「附近」跟着「我家」走，不能拆开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503563"/>
            <a:ext cx="2844701" cy="657225"/>
          </a:xfrm>
          <a:prstGeom prst="roundRect">
            <a:avLst>
              <a:gd name="adj" fmla="val 9662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3617863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我买笔在文具店。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949452" y="3503563"/>
            <a:ext cx="2844701" cy="657225"/>
          </a:xfrm>
          <a:prstGeom prst="roundRect">
            <a:avLst>
              <a:gd name="adj" fmla="val 9662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152602" y="3617863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我在文具店买笔。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73503" y="3717875"/>
            <a:ext cx="1949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「在 + 地方」放在动词前面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441468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两人一组找错，各派一组上来改。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396" y="176213"/>
            <a:ext cx="4270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816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81720"/>
            <a:ext cx="10972800" cy="784175"/>
          </a:xfrm>
          <a:prstGeom prst="roundRect">
            <a:avLst>
              <a:gd name="adj" fmla="val 14576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591270"/>
            <a:ext cx="10531602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say how far one place is from another.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3182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619821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817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781746"/>
            <a:ext cx="320763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超市 and 远 in Chinese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116907"/>
            <a:ext cx="32076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能说「超市」和「远」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697932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85985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3859857"/>
            <a:ext cx="624494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how far one place is from another with A 离 B 远／近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195018"/>
            <a:ext cx="62449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会用「A 离 B 远／近」说两个地方有多远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776043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49379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4937968"/>
            <a:ext cx="387982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soften a judgement with 挺……的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273129"/>
            <a:ext cx="38798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会用「挺……的」说「挺远的」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kuKuqUEQz8/img/chaos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47380" y="3866852"/>
            <a:ext cx="8494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chāoshì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691854" y="5070723"/>
            <a:ext cx="11669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supermarket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kuKuqUEQz8/img/yu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74745" y="3866852"/>
            <a:ext cx="5167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yuǎn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962900" y="4285952"/>
            <a:ext cx="1968755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远（遠）</a:t>
            </a:r>
            <a:endParaRPr lang="en-US" sz="3800" dirty="0"/>
          </a:p>
        </p:txBody>
      </p:sp>
      <p:sp>
        <p:nvSpPr>
          <p:cNvPr id="18" name="Text 14"/>
          <p:cNvSpPr/>
          <p:nvPr/>
        </p:nvSpPr>
        <p:spPr>
          <a:xfrm>
            <a:off x="8798868" y="4931122"/>
            <a:ext cx="2635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4801" y="176213"/>
            <a:ext cx="4276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我家附近有一个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 supermarket near my home.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花店不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远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，走路五分钟。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flower shop isn't far — five minutes on foot.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远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，我常常走路去。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supermarket isn't far; I often walk there.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问：你家附近的超市远不远？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1349" y="176213"/>
            <a:ext cx="4209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725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7259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9644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不远，走路 ________ 分钟。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664744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86149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12492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一句话说两个地方，一个近一个远，中间用「可是」：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超市不远，走路五分钟，可是家具店很远，我要坐公共汽车去。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247" y="176213"/>
            <a:ext cx="4271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253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26828"/>
            <a:ext cx="5308550" cy="4131320"/>
          </a:xfrm>
          <a:prstGeom prst="roundRect">
            <a:avLst>
              <a:gd name="adj" fmla="val 276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kuKuqUEQz8/img/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917353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1144" y="3936653"/>
            <a:ext cx="1279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lí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298799" y="4355753"/>
            <a:ext cx="1968755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离（離）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2359819" y="5000923"/>
            <a:ext cx="1844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distance away from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526828"/>
            <a:ext cx="5308699" cy="4131320"/>
          </a:xfrm>
          <a:prstGeom prst="roundRect">
            <a:avLst>
              <a:gd name="adj" fmla="val 276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719542" y="2476054"/>
            <a:ext cx="4253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tǐng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508950" y="2958554"/>
            <a:ext cx="854964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挺</a:t>
            </a:r>
            <a:endParaRPr lang="en-US" sz="6600" dirty="0"/>
          </a:p>
        </p:txBody>
      </p:sp>
      <p:sp>
        <p:nvSpPr>
          <p:cNvPr id="17" name="Text 14"/>
          <p:cNvSpPr/>
          <p:nvPr/>
        </p:nvSpPr>
        <p:spPr>
          <a:xfrm>
            <a:off x="8364289" y="4058245"/>
            <a:ext cx="11500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rather; quite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4652" y="176213"/>
            <a:ext cx="4277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离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我家不远。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supermarket isn't far from my home.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挺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大的。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house is quite big.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学校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离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挺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近的。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School is quite close to my home.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问：「近」这个字你已经会了——在哪个词里见过？（附近）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725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7259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9644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离我家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664744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86149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12492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「挺……的」用两次，一次说近一次说远，还要说为什么：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超市离我家挺近的，所以我天天去。机场离我家挺远的，我一年去一次。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2882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4329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70274"/>
            <a:ext cx="2590800" cy="1488877"/>
          </a:xfrm>
          <a:prstGeom prst="roundRect">
            <a:avLst>
              <a:gd name="adj" fmla="val 767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3009900"/>
            <a:ext cx="2364206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2670274"/>
            <a:ext cx="2590800" cy="1488877"/>
          </a:xfrm>
          <a:prstGeom prst="roundRect">
            <a:avLst>
              <a:gd name="adj" fmla="val 767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3009900"/>
            <a:ext cx="2364206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远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2670274"/>
            <a:ext cx="2590800" cy="1488877"/>
          </a:xfrm>
          <a:prstGeom prst="roundRect">
            <a:avLst>
              <a:gd name="adj" fmla="val 767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3009900"/>
            <a:ext cx="2364206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离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2670274"/>
            <a:ext cx="2590949" cy="1488877"/>
          </a:xfrm>
          <a:prstGeom prst="roundRect">
            <a:avLst>
              <a:gd name="adj" fmla="val 767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3009900"/>
            <a:ext cx="2364358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挺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431155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读不出来就停下来重教——不要往下走。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800" y="176213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说两个地方有多远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1765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地方一 + 离 + 地方二 + 远／近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42865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离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我家很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近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428650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supermarket is very close to my home.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305901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离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学校不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远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305901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home isn't far from school.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592068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花店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离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挺近的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592068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flower shop is quite close to my home. — 挺 + adj + 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问句：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你家离学校远吗？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答：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挺远的。／不远。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最常见的错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4016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改一改 · 「离」最常见的两个错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67136"/>
            <a:ext cx="2235101" cy="657225"/>
          </a:xfrm>
          <a:prstGeom prst="roundRect">
            <a:avLst>
              <a:gd name="adj" fmla="val 9662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2681436"/>
            <a:ext cx="18653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我家离学校。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39852" y="2567136"/>
            <a:ext cx="2844701" cy="657225"/>
          </a:xfrm>
          <a:prstGeom prst="roundRect">
            <a:avLst>
              <a:gd name="adj" fmla="val 9662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43002" y="2681436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我家离学校很远。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63903" y="2781449"/>
            <a:ext cx="380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「离」后面一定要有「远」或者「近」——它不是动词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503563"/>
            <a:ext cx="2844701" cy="657225"/>
          </a:xfrm>
          <a:prstGeom prst="roundRect">
            <a:avLst>
              <a:gd name="adj" fmla="val 9662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3617863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我离家学校很远。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949452" y="3503563"/>
            <a:ext cx="2844701" cy="657225"/>
          </a:xfrm>
          <a:prstGeom prst="roundRect">
            <a:avLst>
              <a:gd name="adj" fmla="val 9662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152602" y="3617863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我家离学校很远。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73503" y="3717875"/>
            <a:ext cx="2913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两个地方各自是完整的：我家 / 离 / 学校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441468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这两句今天会在小白板上出现很多次。现在看清楚，等一下就少写一次。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651" y="176213"/>
            <a:ext cx="4859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5518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三个分句，两个结构，还要有转折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55205"/>
            <a:ext cx="10972800" cy="1179165"/>
          </a:xfrm>
          <a:prstGeom prst="roundRect">
            <a:avLst>
              <a:gd name="adj" fmla="val 9693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7905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我家离学校挺远的，可是超市离我家很近，走路五分钟。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686770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home is quite far from school, but the supermarket is very close to my home — five minutes on foot.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49952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「离」用两次，一次配「挺……的」，一次配「很近」。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149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CD 71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800" y="176213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5767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全文 · 课本 P.142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57698"/>
            <a:ext cx="10972800" cy="1553170"/>
          </a:xfrm>
          <a:prstGeom prst="roundRect">
            <a:avLst>
              <a:gd name="adj" fmla="val 7359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81548"/>
            <a:ext cx="10479988" cy="905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5"/>
              </a:lnSpc>
              <a:buNone/>
            </a:pPr>
            <a:r>
              <a:rPr lang="en-US" sz="23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我家附近有饭店、文具店、家具店、花店等。超市离我家也不远，走路五分钟</a:t>
            </a: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23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到了。我家离学校也挺近的。我每天走路上学。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3763268"/>
            <a:ext cx="10972800" cy="1262360"/>
          </a:xfrm>
          <a:prstGeom prst="roundRect">
            <a:avLst>
              <a:gd name="adj" fmla="val 9054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3450" y="40109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超市离他家远吗？ 他家离学校远不远？ 他每天怎么上学？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44325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Bef>
                <a:spcPts val="600"/>
              </a:spcBef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第二句里那个灰色的「就」今天先放着——读过去，别停。下节课整节课都是它。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055" y="176213"/>
            <a:ext cx="4865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54406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用「离」说一句。二十秒，小白板，举起来。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老师专门看：后面有没有「远／近」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40805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「挺远的」比「很远」远还是近？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软一点——quite far，不是 very far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536022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翻译：</a:t>
            </a:r>
            <a:r>
              <a:rPr lang="en-US" sz="2100" b="1" i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The stationery shop isn't far from school.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53602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文具店离学校不远。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353644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这句对不对？　我家离超市。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3536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竖大拇指还是朝下？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4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3604" y="176213"/>
            <a:ext cx="4798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893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90861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kuKuqUEQz8/img/chaos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417" y="2027337"/>
            <a:ext cx="1041350" cy="1041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0066" y="3170188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1890861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kuKuqUEQz8/img/yu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50" y="2027337"/>
            <a:ext cx="1041350" cy="1041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86450" y="3170188"/>
            <a:ext cx="4274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远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43267" y="1890861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kuKuqUEQz8/img/l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084" y="2027337"/>
            <a:ext cx="1041350" cy="1041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3284" y="3170188"/>
            <a:ext cx="4274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离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4074914"/>
            <a:ext cx="3539133" cy="863501"/>
          </a:xfrm>
          <a:prstGeom prst="roundRect">
            <a:avLst>
              <a:gd name="adj" fmla="val 1323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2169616" y="4211389"/>
            <a:ext cx="4274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挺</a:t>
            </a:r>
            <a:endParaRPr lang="en-US" sz="3300" dirty="0"/>
          </a:p>
        </p:txBody>
      </p:sp>
      <p:sp>
        <p:nvSpPr>
          <p:cNvPr id="20" name="Text 15"/>
          <p:cNvSpPr/>
          <p:nvPr/>
        </p:nvSpPr>
        <p:spPr>
          <a:xfrm>
            <a:off x="609600" y="506536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「挺」没有图——它不是东西，是一个程度。这一页留在屏幕上。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0327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7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502" y="176213"/>
            <a:ext cx="486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590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远近梯子</a:t>
            </a:r>
            <a:endParaRPr lang="en-US" sz="1100" dirty="0"/>
          </a:p>
        </p:txBody>
      </p:sp>
      <p:pic>
        <p:nvPicPr>
          <p:cNvPr id="9" name="Image 0" descr="/var/folders/6c/210dcgxn4gz5sm71vld2cy1h0000gn/T/tmp.kuKuqUEQz8/img/tij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09800"/>
            <a:ext cx="2667000" cy="2667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08350" y="244003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发纸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一条竖线，最上面是「很近」，最下面是「很远」，中间六格。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708350" y="2785467"/>
            <a:ext cx="8031531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填六个真的地方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超市、花店、文具店、家具店、火车站、我家，按离学校大门的远近排。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08350" y="347632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写三句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在梯子下面写三句，四个生词全部用上。三分钟。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08350" y="382175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写完请两个同学念自己最上面和最下面的那一格。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708350" y="4294138"/>
            <a:ext cx="8031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超市离学校很近。家具店离学校挺远的。我家离学校不远。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907" y="176213"/>
            <a:ext cx="4866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231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2343"/>
            <a:ext cx="10972800" cy="2458641"/>
          </a:xfrm>
          <a:prstGeom prst="roundRect">
            <a:avLst>
              <a:gd name="adj" fmla="val 4649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5999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六个地方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全部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排好，然后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当场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说出其中两个为什么排在那儿——不许先写。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0542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理由要用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「因为……所以……」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5085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最后再用「比」比较两个地方。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723233"/>
            <a:ext cx="105316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因为家具店在马路那边，所以它离学校挺远的。</a:t>
            </a:r>
            <a:endParaRPr lang="en-US" sz="2100" dirty="0"/>
          </a:p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超市离学校比家具店近。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5008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听力 · CD 73 · 4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392" y="176213"/>
            <a:ext cx="5106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3554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听力 · 课本 P.147 第八题 · 放两遍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35572"/>
            <a:ext cx="5397550" cy="877639"/>
          </a:xfrm>
          <a:prstGeom prst="roundRect">
            <a:avLst>
              <a:gd name="adj" fmla="val 723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4175" y="2559397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90476" y="2559397"/>
            <a:ext cx="25648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第一段：这是什么地方？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90476" y="2940397"/>
            <a:ext cx="256489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里边卖什么？说三样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3414713"/>
            <a:ext cx="5397550" cy="877639"/>
          </a:xfrm>
          <a:prstGeom prst="roundRect">
            <a:avLst>
              <a:gd name="adj" fmla="val 723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4175" y="353853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90476" y="3538538"/>
            <a:ext cx="25648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第二段：这是什么地方？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90476" y="3919537"/>
            <a:ext cx="256489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他们家什么做得好吃？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84850" y="2435572"/>
            <a:ext cx="5397550" cy="877639"/>
          </a:xfrm>
          <a:prstGeom prst="roundRect">
            <a:avLst>
              <a:gd name="adj" fmla="val 723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59426" y="2559397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765727" y="2559397"/>
            <a:ext cx="25648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第三段：这是什么地方？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65727" y="2940397"/>
            <a:ext cx="256489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他去那儿做什么？妈妈呢？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9600" y="4419302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三段都是「我家附近有……」开头。先听地方，再听里边有什么。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9434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086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课本 P.144 第二题 · 写在本子上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08708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97063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970633"/>
            <a:ext cx="373029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七个句子，用「离」加「远／近」补完。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2305794"/>
            <a:ext cx="373029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括号里给了提示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896344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3058269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3058269"/>
            <a:ext cx="310850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写完再自己写三句，说真的地方。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3393430"/>
            <a:ext cx="310850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学校、超市、火车站、你家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983980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14590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4145905"/>
            <a:ext cx="549183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老师走一圈，专找一种句子：</a:t>
            </a: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「离」后面什么都没有的那种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4481066"/>
            <a:ext cx="54918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找到就当场改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504616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写完的人不要停——看下一页。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2648" y="176213"/>
            <a:ext cx="5114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40312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加难 · 不写句子，写一段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3153"/>
            <a:ext cx="10972800" cy="1877020"/>
          </a:xfrm>
          <a:prstGeom prst="roundRect">
            <a:avLst>
              <a:gd name="adj" fmla="val 6089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85080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不做填空。写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一段五句话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，说从家走到学校这一路。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19623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「离」要用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，「挺……的」用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，还要说出上一课三个店的名字。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54166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桌上什么都不许放：没有词库，没有句型条。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88709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写完站起来念，不许低头看。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远近宾果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094" y="176213"/>
            <a:ext cx="510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912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远近宾果 · 7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91308"/>
            <a:ext cx="10972800" cy="1877020"/>
          </a:xfrm>
          <a:prstGeom prst="roundRect">
            <a:avLst>
              <a:gd name="adj" fmla="val 6089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138958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自己画一个三乘三的格子，填九个地方：超市、花店、文具店、家具店、饭店、学校、火车站、我家、公园。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8298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老师念一句：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这个地方离学校很远，要坐火车去。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1752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你觉得是哪个，就划掉哪个。连成一线就喊「宾果」。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3946029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14278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40620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赢的人接着当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发牌的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：自己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现编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中文提示，每一句都要有「离」，还要有一句用「挺……的」。其他人格子不换，接着玩。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写字 · 课文一生词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2499" y="176213"/>
            <a:ext cx="5115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7976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写字 · 课本笔顺 · 练习册 PP.165–166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79786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465511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09576" y="1617911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74727" y="1617911"/>
            <a:ext cx="19801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走字旁，右边是「召」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91874" y="155123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480774" y="155123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69675" y="155123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2186136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2271861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609576" y="2424261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74727" y="2424261"/>
            <a:ext cx="1782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第一笔是点，不是横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91874" y="235758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80774" y="235758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69675" y="235758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600" y="2992487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22275" y="3078212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离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1609576" y="3230612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画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574727" y="3230612"/>
            <a:ext cx="27721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上面是「亠」，中间那一横别忘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91874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480774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969675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9600" y="3798838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22275" y="3884563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远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1609576" y="4036963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画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574727" y="4036963"/>
            <a:ext cx="39601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先写「元」，最后写走之底——跟「近」一样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991874" y="3970288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480774" y="3970288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969675" y="3970288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9600" y="4605189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2275" y="4690914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挺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1609576" y="4843314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画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2574727" y="4843314"/>
            <a:ext cx="19801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提手旁，右边是「廷」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991874" y="477663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0480774" y="477663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0969675" y="477663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09600" y="547508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每个字写三遍。「远」和「近」的走之底都是最后写。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6088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70683" y="166688"/>
            <a:ext cx="1116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943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回头看今天的三个目标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94421"/>
            <a:ext cx="10972800" cy="944761"/>
          </a:xfrm>
          <a:prstGeom prst="roundRect">
            <a:avLst>
              <a:gd name="adj" fmla="val 672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9563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956346"/>
            <a:ext cx="207243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能说「超市」和「远」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2291507"/>
            <a:ext cx="2072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 / 😐 / 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891582"/>
            <a:ext cx="10972800" cy="944761"/>
          </a:xfrm>
          <a:prstGeom prst="roundRect">
            <a:avLst>
              <a:gd name="adj" fmla="val 672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305350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3053507"/>
            <a:ext cx="264307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会用「A 离 B 远／近」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3388668"/>
            <a:ext cx="264307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 / 😐 / 👎 —— 这一条最要紧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988743"/>
            <a:ext cx="10972800" cy="944761"/>
          </a:xfrm>
          <a:prstGeom prst="roundRect">
            <a:avLst>
              <a:gd name="adj" fmla="val 672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1506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4150668"/>
            <a:ext cx="157133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会用「挺……的」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4485829"/>
            <a:ext cx="15713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 / 😐 / 👎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506045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第二条如果四分之一的人举 😐，下节课开头再练一次「离」。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Exit ticket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1904" y="176213"/>
            <a:ext cx="5121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26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621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翻译，写在纸条上交上来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62150"/>
            <a:ext cx="10972800" cy="1179165"/>
          </a:xfrm>
          <a:prstGeom prst="roundRect">
            <a:avLst>
              <a:gd name="adj" fmla="val 9693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286000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The supermarket isn't far from my home — five minutes on foot.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293715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一句话。写完检查一遍：「离」后面有没有东西？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76356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下节课：那个被我们跳过去的「就」——还有怎么说「就在马路对面」。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4169866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366617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630043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写完了？再加一句，用「挺……的」。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2026-09-15T23:38:12Z</dcterms:created>
  <dcterms:modified xsi:type="dcterms:W3CDTF">2026-09-15T23:38:12Z</dcterms:modified>
</cp:coreProperties>
</file>