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80975"/>
            <a:ext cx="10866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3 OF 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858714" y="166688"/>
            <a:ext cx="9674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第十五课 · 社区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322397" y="180975"/>
            <a:ext cx="3688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27320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2 · P.145, P.152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600176"/>
            <a:ext cx="11192256" cy="905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128"/>
              </a:lnSpc>
              <a:spcBef>
                <a:spcPts val="1000"/>
              </a:spcBef>
              <a:buNone/>
            </a:pPr>
            <a:r>
              <a:rPr lang="en-US" sz="66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就在马路对面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609600" y="3581549"/>
            <a:ext cx="11192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Bef>
                <a:spcPts val="600"/>
              </a:spcBef>
              <a:buNone/>
            </a:pPr>
            <a:r>
              <a:rPr lang="en-US" sz="30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Right Across the Road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09600" y="4267349"/>
            <a:ext cx="111922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800"/>
              </a:spcBef>
              <a:buNone/>
            </a:pPr>
            <a:r>
              <a:rPr lang="en-US" sz="18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Year 8 · Book 2 · Unit 5 · Lesson 15 · 50 minutes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4684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0–8 MIN · REVIEW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233017" y="166688"/>
            <a:ext cx="9011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复习 · 上一课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6140" y="176213"/>
            <a:ext cx="4262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96440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小白板 · 五题 · 英译中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164431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96826" y="1275457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203127" y="1275457"/>
            <a:ext cx="4084153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supermarket isn't far from my home.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03127" y="1610618"/>
            <a:ext cx="408415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超市离我家不远。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2064544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96826" y="2175570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203127" y="2175570"/>
            <a:ext cx="3393290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School is quite far from my home.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03127" y="2510730"/>
            <a:ext cx="339329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我家离学校挺远的。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2964656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6826" y="3075682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203127" y="3075682"/>
            <a:ext cx="3289456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Is the flower shop far from here?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03127" y="3410843"/>
            <a:ext cx="328945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花店离这儿远吗？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3864769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6826" y="3975795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203127" y="3975795"/>
            <a:ext cx="666119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nearby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03127" y="4310955"/>
            <a:ext cx="66611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附近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9600" y="4764881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96826" y="4875907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1203127" y="4875907"/>
            <a:ext cx="1087073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quite close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203127" y="5211068"/>
            <a:ext cx="108707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挺近的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09600" y="5690295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8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第一题写完，请两个同学念出来——让全班听见「离」在句子中间，不在开头。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4684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0–8 MIN · REVIEW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233017" y="166688"/>
            <a:ext cx="148222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复习 · 跳过去的那个字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6438" y="176213"/>
            <a:ext cx="4259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326630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上一课课文里，有一个字我们绕过去了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526655"/>
            <a:ext cx="10972800" cy="1179165"/>
          </a:xfrm>
          <a:prstGeom prst="roundRect">
            <a:avLst>
              <a:gd name="adj" fmla="val 9693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850505"/>
            <a:ext cx="10479988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走路五分钟</a:t>
            </a:r>
            <a:r>
              <a:rPr lang="en-US" sz="27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就</a:t>
            </a:r>
            <a:r>
              <a:rPr lang="en-US" sz="27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到了。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09600" y="3858220"/>
            <a:ext cx="111922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200"/>
              </a:spcBef>
              <a:buNone/>
            </a:pPr>
            <a:r>
              <a:rPr lang="en-US" sz="18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Five minutes on foot and you're there.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09600" y="4328071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这个字很小，它没有自己的英文翻译，可是它一进句子，整句话的感觉就变了。今天一整节课都是它。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7417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8–10 MIN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520577" y="166688"/>
            <a:ext cx="202947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学习目标 · Learning Intention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5843" y="176213"/>
            <a:ext cx="4265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181695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LEARNING INTENTION · 学习目标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381720"/>
            <a:ext cx="10972800" cy="784175"/>
          </a:xfrm>
          <a:prstGeom prst="roundRect">
            <a:avLst>
              <a:gd name="adj" fmla="val 14576"/>
            </a:avLst>
          </a:prstGeom>
          <a:solidFill>
            <a:srgbClr val="D8DEE0"/>
          </a:solidFill>
          <a:ln w="19050">
            <a:solidFill>
              <a:srgbClr val="3D5A7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1591270"/>
            <a:ext cx="10531602" cy="365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75"/>
              </a:lnSpc>
              <a:buNone/>
            </a:pPr>
            <a:r>
              <a:rPr lang="en-US" sz="2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We are learning to say exactly where a place is, and stress that it is close by.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09600" y="231829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SUCCESS CRITERIA · 我能……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09600" y="2619821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2275" y="2781746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1279327" y="2781746"/>
            <a:ext cx="2914650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say 马路、对面、火车站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79327" y="3116907"/>
            <a:ext cx="2914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能说「马路」「对面」「火车站」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09600" y="3697932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22275" y="3859857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1279327" y="3859857"/>
            <a:ext cx="3173173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use 就 to mean right there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79327" y="4195018"/>
            <a:ext cx="317317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会用「就」说「就在马路对面」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09600" y="4776043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22275" y="4937968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1279327" y="4937968"/>
            <a:ext cx="6283348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say how quickly I get somewhere with 走路……分钟就到了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79327" y="5273129"/>
            <a:ext cx="628334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会说「走路五分钟就到了」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4087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生词 1 · Cycle 1 of 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6140" y="176213"/>
            <a:ext cx="4262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2253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NEW WORDS · 跟我读两遍 · REPEAT AFTER ME, TWICE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526828"/>
            <a:ext cx="5308550" cy="4131320"/>
          </a:xfrm>
          <a:prstGeom prst="roundRect">
            <a:avLst>
              <a:gd name="adj" fmla="val 276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var/folders/6c/210dcgxn4gz5sm71vld2cy1h0000gn/T/tmp.kuKuqUEQz8/img/mal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1301" y="1917353"/>
            <a:ext cx="1905000" cy="1905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004840" y="3936653"/>
            <a:ext cx="52843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mǎlù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816150" y="4355753"/>
            <a:ext cx="2953208" cy="530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马路（馬路）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2728913" y="5000923"/>
            <a:ext cx="10913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road; street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273701" y="1526828"/>
            <a:ext cx="5308699" cy="4131320"/>
          </a:xfrm>
          <a:prstGeom prst="roundRect">
            <a:avLst>
              <a:gd name="adj" fmla="val 276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5" name="Image 1" descr="/var/folders/6c/210dcgxn4gz5sm71vld2cy1h0000gn/T/tmp.kuKuqUEQz8/img/duimi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550" y="1917353"/>
            <a:ext cx="1905000" cy="1905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502997" y="3936653"/>
            <a:ext cx="86710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duìmiàn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7480399" y="4355753"/>
            <a:ext cx="2953208" cy="530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对面（對面）</a:t>
            </a:r>
            <a:endParaRPr lang="en-US" sz="3800" dirty="0"/>
          </a:p>
        </p:txBody>
      </p:sp>
      <p:sp>
        <p:nvSpPr>
          <p:cNvPr id="18" name="Text 14"/>
          <p:cNvSpPr/>
          <p:nvPr/>
        </p:nvSpPr>
        <p:spPr>
          <a:xfrm>
            <a:off x="8530530" y="5000923"/>
            <a:ext cx="81078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opposite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62097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1 · See them used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5396" y="176213"/>
            <a:ext cx="4270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395264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· SEE THEM USED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71489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33412" y="1671489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5825" y="1823889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我家附近有一条大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马路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85825" y="2333030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There's a big road near my home.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09600" y="2875955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33412" y="2875955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5825" y="3028355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花店在超市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对面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85825" y="3537496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flower shop is opposite the supermarket.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09600" y="4080421"/>
            <a:ext cx="10972800" cy="1052066"/>
          </a:xfrm>
          <a:prstGeom prst="rect">
            <a:avLst/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33412" y="4080421"/>
            <a:ext cx="0" cy="1052066"/>
          </a:xfrm>
          <a:prstGeom prst="line">
            <a:avLst/>
          </a:prstGeom>
          <a:noFill/>
          <a:ln w="47625">
            <a:solidFill>
              <a:srgbClr val="B05B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5825" y="4232821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马路对面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有一个花店。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85825" y="4741962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There's a flower shop across the road.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259437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问：「对面」跟第十三课的「左面」「右面」是一家的——最后一个字都是「面」。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7858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1 · Write your own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71796" y="176213"/>
            <a:ext cx="42049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97256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· WRITE ONE SENTENCE · 60–90 秒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172593"/>
            <a:ext cx="10972800" cy="1314450"/>
          </a:xfrm>
          <a:prstGeom prst="roundRect">
            <a:avLst>
              <a:gd name="adj" fmla="val 8696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496443"/>
            <a:ext cx="1047998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50"/>
              </a:lnSpc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________ 在 ________ 对面。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09600" y="3664744"/>
            <a:ext cx="10972800" cy="1245989"/>
          </a:xfrm>
          <a:prstGeom prst="roundRect">
            <a:avLst>
              <a:gd name="adj" fmla="val 5096"/>
            </a:avLst>
          </a:prstGeom>
          <a:solidFill>
            <a:srgbClr val="46684C">
              <a:alpha val="11000"/>
            </a:srgbClr>
          </a:solidFill>
          <a:ln w="19050">
            <a:solidFill>
              <a:srgbClr val="4668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7250" y="3861495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7250" y="4124920"/>
            <a:ext cx="10687050" cy="589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两句连起来，三个店排好位置，用上第十三课的「右面」或者「左面」：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花店在超市对面，文具店在花店右面。我常常先去超市，再去文具店。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46339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生词 2 · Cycle 2 of 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5694" y="176213"/>
            <a:ext cx="42672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1555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NEW WORDS · 跟我读两遍 · REPEAT AFTER ME, TWICE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457027"/>
            <a:ext cx="5308550" cy="4270921"/>
          </a:xfrm>
          <a:prstGeom prst="roundRect">
            <a:avLst>
              <a:gd name="adj" fmla="val 267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var/folders/6c/210dcgxn4gz5sm71vld2cy1h0000gn/T/tmp.kuKuqUEQz8/img/huochezh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1301" y="1847552"/>
            <a:ext cx="1905000" cy="1905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622352" y="3866852"/>
            <a:ext cx="130855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huǒchēzhàn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333649" y="4285952"/>
            <a:ext cx="3937510" cy="530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火车站（火車站）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2705695" y="4931122"/>
            <a:ext cx="113868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train station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273701" y="1457027"/>
            <a:ext cx="5308699" cy="4270921"/>
          </a:xfrm>
          <a:prstGeom prst="roundRect">
            <a:avLst>
              <a:gd name="adj" fmla="val 267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5" name="Image 1" descr="/var/folders/6c/210dcgxn4gz5sm71vld2cy1h0000gn/T/tmp.kuKuqUEQz8/img/l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550" y="1847552"/>
            <a:ext cx="1905000" cy="1905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829377" y="3866852"/>
            <a:ext cx="20129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lù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8623250" y="4285952"/>
            <a:ext cx="621792" cy="670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路</a:t>
            </a:r>
            <a:endParaRPr lang="en-US" sz="4800" dirty="0"/>
          </a:p>
        </p:txBody>
      </p:sp>
      <p:sp>
        <p:nvSpPr>
          <p:cNvPr id="18" name="Text 14"/>
          <p:cNvSpPr/>
          <p:nvPr/>
        </p:nvSpPr>
        <p:spPr>
          <a:xfrm>
            <a:off x="8088511" y="5070723"/>
            <a:ext cx="17126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route; bus number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6482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2 · See them used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5247" y="176213"/>
            <a:ext cx="4271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395264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· SEE THEM USED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71489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33412" y="1671489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5825" y="1823889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我家离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火车站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不远。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85825" y="2333030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My home isn't far from the train station.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09600" y="2875955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33412" y="2875955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5825" y="3028355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我坐五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路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公共汽车上学。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85825" y="3537496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take the number 5 bus to school.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09600" y="4080421"/>
            <a:ext cx="10972800" cy="1052066"/>
          </a:xfrm>
          <a:prstGeom prst="rect">
            <a:avLst/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33412" y="4080421"/>
            <a:ext cx="0" cy="1052066"/>
          </a:xfrm>
          <a:prstGeom prst="line">
            <a:avLst/>
          </a:prstGeom>
          <a:noFill/>
          <a:ln w="47625">
            <a:solidFill>
              <a:srgbClr val="B05B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5825" y="4232821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火车站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在马路对面，我坐十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路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公共汽车去。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85825" y="4741962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station is across the road; I take the number 10 bus.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259437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问：「五路公共汽车」的「路」，跟「马路」的「路」是同一个字。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8131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2 · Write your own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9139" y="176213"/>
            <a:ext cx="48440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97256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· WRITE ONE SENTENCE · 60–90 秒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172593"/>
            <a:ext cx="10972800" cy="1314450"/>
          </a:xfrm>
          <a:prstGeom prst="roundRect">
            <a:avLst>
              <a:gd name="adj" fmla="val 8696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496443"/>
            <a:ext cx="1047998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50"/>
              </a:lnSpc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我坐 ________ 路公共汽车去 ________ 。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09600" y="3664744"/>
            <a:ext cx="10972800" cy="1245989"/>
          </a:xfrm>
          <a:prstGeom prst="roundRect">
            <a:avLst>
              <a:gd name="adj" fmla="val 5096"/>
            </a:avLst>
          </a:prstGeom>
          <a:solidFill>
            <a:srgbClr val="46684C">
              <a:alpha val="11000"/>
            </a:srgbClr>
          </a:solidFill>
          <a:ln w="19050">
            <a:solidFill>
              <a:srgbClr val="4668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7250" y="3861495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7250" y="4124920"/>
            <a:ext cx="10687050" cy="589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一句话说清楚从学校怎么去火车站：车号 + 时间：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我坐十路公共汽车去火车站，十五分钟就到了。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再说一句：车不来的话你怎么办？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37975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认一认 · checkpoint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33547" y="176213"/>
            <a:ext cx="45951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11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35758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认一认 · CHARACTERS ONLY · 一起读出来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684562"/>
            <a:ext cx="2590800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22897" y="3024188"/>
            <a:ext cx="2364206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马路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403550" y="2684562"/>
            <a:ext cx="2590800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16847" y="3024188"/>
            <a:ext cx="2364206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对面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6197501" y="2684562"/>
            <a:ext cx="2590800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310798" y="3024188"/>
            <a:ext cx="2364206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火车站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8991451" y="2684562"/>
            <a:ext cx="2590949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104747" y="3024188"/>
            <a:ext cx="2364358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路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609600" y="4297263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读不出来就停下来重教——不要往下走。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6703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Sentence pattern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395" y="176213"/>
            <a:ext cx="4851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12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89267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「就」放在动词</a:t>
            </a: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前面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092696"/>
            <a:ext cx="10972800" cy="971550"/>
          </a:xfrm>
          <a:prstGeom prst="roundRect">
            <a:avLst>
              <a:gd name="adj" fmla="val 11765"/>
            </a:avLst>
          </a:prstGeom>
          <a:solidFill>
            <a:srgbClr val="D8DEE0"/>
          </a:solidFill>
          <a:ln w="19050">
            <a:solidFill>
              <a:srgbClr val="3D5A7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30199" y="1302246"/>
            <a:ext cx="10531602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……　就　+　动词　……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609600" y="2191196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22275" y="2353121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1279327" y="2353121"/>
            <a:ext cx="397864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超市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就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在我家附近。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79327" y="2791271"/>
            <a:ext cx="3978649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supermarket is </a:t>
            </a:r>
            <a:r>
              <a:rPr lang="en-US" sz="1600" i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right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near my home.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09600" y="3390007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22275" y="3551932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1279327" y="3551932"/>
            <a:ext cx="3483007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火车站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就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在马路对面。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79327" y="3990082"/>
            <a:ext cx="3483007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station is </a:t>
            </a:r>
            <a:r>
              <a:rPr lang="en-US" sz="1600" i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just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across the road.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9600" y="4588818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22275" y="4750743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1279327" y="4750743"/>
            <a:ext cx="379891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走路五分钟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就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到了。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279327" y="5188893"/>
            <a:ext cx="3798912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Five minutes on foot and you're </a:t>
            </a:r>
            <a:r>
              <a:rPr lang="en-US" sz="1600" i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there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09600" y="5762179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「就」没有一个对得上的英文字。它做的事是</a:t>
            </a:r>
            <a:r>
              <a:rPr lang="en-US" sz="1200" b="1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强调</a:t>
            </a: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：近得出乎意料，快得出乎意料。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80975"/>
            <a:ext cx="126483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033439" y="166688"/>
            <a:ext cx="11098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最常见的错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44709" y="180975"/>
            <a:ext cx="4481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13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23063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改一改 · 「就」最常见的两个错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557611"/>
            <a:ext cx="3149501" cy="666750"/>
          </a:xfrm>
          <a:prstGeom prst="roundRect">
            <a:avLst>
              <a:gd name="adj" fmla="val 9524"/>
            </a:avLst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12750" y="2671911"/>
            <a:ext cx="2798064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8A3C2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走路五分钟到了就。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248150" y="2557611"/>
            <a:ext cx="3149501" cy="666750"/>
          </a:xfrm>
          <a:prstGeom prst="roundRect">
            <a:avLst>
              <a:gd name="adj" fmla="val 9524"/>
            </a:avLst>
          </a:prstGeom>
          <a:solidFill>
            <a:srgbClr val="46684C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451300" y="2671911"/>
            <a:ext cx="2798064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46684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走路五分钟</a:t>
            </a:r>
            <a:r>
              <a:rPr lang="en-US" sz="2400" b="1" dirty="0">
                <a:solidFill>
                  <a:srgbClr val="46684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就</a:t>
            </a:r>
            <a:r>
              <a:rPr lang="en-US" sz="2400" dirty="0">
                <a:solidFill>
                  <a:srgbClr val="46684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到了。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7677001" y="2776686"/>
            <a:ext cx="27203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「就」在动词前面，跟「先」「也」一样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9600" y="3503563"/>
            <a:ext cx="3454301" cy="666750"/>
          </a:xfrm>
          <a:prstGeom prst="roundRect">
            <a:avLst>
              <a:gd name="adj" fmla="val 9524"/>
            </a:avLst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12750" y="3617863"/>
            <a:ext cx="310896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8A3C2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火车站在就马路对面。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4552950" y="3503563"/>
            <a:ext cx="3454301" cy="666750"/>
          </a:xfrm>
          <a:prstGeom prst="roundRect">
            <a:avLst>
              <a:gd name="adj" fmla="val 9524"/>
            </a:avLst>
          </a:prstGeom>
          <a:solidFill>
            <a:srgbClr val="46684C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756100" y="3617863"/>
            <a:ext cx="310896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46684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火车站</a:t>
            </a:r>
            <a:r>
              <a:rPr lang="en-US" sz="2400" b="1" dirty="0">
                <a:solidFill>
                  <a:srgbClr val="46684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就在</a:t>
            </a:r>
            <a:r>
              <a:rPr lang="en-US" sz="2400" dirty="0">
                <a:solidFill>
                  <a:srgbClr val="46684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马路对面。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286601" y="3722638"/>
            <a:ext cx="17876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是「就在」，不是「在就」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9600" y="4424214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手指指黑板：「就」该放在哪一半？全班一起指。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80975"/>
            <a:ext cx="126483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033439" y="166688"/>
            <a:ext cx="11098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最难的一句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44709" y="180975"/>
            <a:ext cx="4481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14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155180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三个分句，「就」用两次，还要接上一课的「离」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355205"/>
            <a:ext cx="10972800" cy="1179165"/>
          </a:xfrm>
          <a:prstGeom prst="roundRect">
            <a:avLst>
              <a:gd name="adj" fmla="val 9693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679055"/>
            <a:ext cx="10479988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我家离花店挺近的，走路两分钟就到了，家具店就在花店对面。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09600" y="3686770"/>
            <a:ext cx="11192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200"/>
              </a:spcBef>
              <a:buNone/>
            </a:pPr>
            <a:r>
              <a:rPr lang="en-US" sz="18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My home is quite close to the flower shop — two minutes on foot and you're there — and the furniture shop is right opposite it.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09600" y="4499521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上一课的「离」「挺……的」，加今天的「就」「对面」。旧的不丢，是拿来接新的。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0550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检查理解 · CFU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395" y="176213"/>
            <a:ext cx="4851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15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85263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检查理解 · CHECK FOR UNDERSTANDING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052661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275" y="1214586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279327" y="1214586"/>
            <a:ext cx="544068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「就」放在动词前面还是后面？用手指黑板。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79327" y="1665387"/>
            <a:ext cx="54406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全班一起指——看谁指错了那一半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2246412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22275" y="2408337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1279327" y="2408337"/>
            <a:ext cx="408051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什么意思？　书店就在学校对面。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79327" y="2859137"/>
            <a:ext cx="40805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先说英文，再说说为什么要加「就」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3440162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22275" y="3602087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1279327" y="3602087"/>
            <a:ext cx="554876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翻译：</a:t>
            </a:r>
            <a:r>
              <a:rPr lang="en-US" sz="2100" b="1" i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The furniture shop is right across the road.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279327" y="4052888"/>
            <a:ext cx="554876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小白板，家具店就在马路对面。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4633913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22275" y="4795838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2300" dirty="0"/>
          </a:p>
        </p:txBody>
      </p:sp>
      <p:sp>
        <p:nvSpPr>
          <p:cNvPr id="23" name="Text 21"/>
          <p:cNvSpPr/>
          <p:nvPr/>
        </p:nvSpPr>
        <p:spPr>
          <a:xfrm>
            <a:off x="1279327" y="4795838"/>
            <a:ext cx="571271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改一改：我家离超市很近，走路三分钟到了就。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279327" y="5246638"/>
            <a:ext cx="571271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哪里错了？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9600" y="5802213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答案不上屏——老师现场收（白板／点名）。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8640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词汇总览 · stays on screen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7651" y="176213"/>
            <a:ext cx="4859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16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017984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词汇总览 · 这一课的生词 · STAYS UP WHILE YOU WORK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319510"/>
            <a:ext cx="3539133" cy="2006352"/>
          </a:xfrm>
          <a:prstGeom prst="roundRect">
            <a:avLst>
              <a:gd name="adj" fmla="val 569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var/folders/6c/210dcgxn4gz5sm71vld2cy1h0000gn/T/tmp.kuKuqUEQz8/img/mal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8417" y="1455986"/>
            <a:ext cx="1041350" cy="104135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960066" y="2598837"/>
            <a:ext cx="854964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马路</a:t>
            </a:r>
            <a:endParaRPr lang="en-US" sz="3300" dirty="0"/>
          </a:p>
        </p:txBody>
      </p:sp>
      <p:sp>
        <p:nvSpPr>
          <p:cNvPr id="12" name="Text 9"/>
          <p:cNvSpPr/>
          <p:nvPr/>
        </p:nvSpPr>
        <p:spPr>
          <a:xfrm>
            <a:off x="4326434" y="1319510"/>
            <a:ext cx="3539133" cy="2006352"/>
          </a:xfrm>
          <a:prstGeom prst="roundRect">
            <a:avLst>
              <a:gd name="adj" fmla="val 569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3" name="Image 1" descr="/var/folders/6c/210dcgxn4gz5sm71vld2cy1h0000gn/T/tmp.kuKuqUEQz8/img/duimi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5250" y="1455986"/>
            <a:ext cx="1041350" cy="104135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76900" y="2598837"/>
            <a:ext cx="854964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对面</a:t>
            </a:r>
            <a:endParaRPr lang="en-US" sz="3300" dirty="0"/>
          </a:p>
        </p:txBody>
      </p:sp>
      <p:sp>
        <p:nvSpPr>
          <p:cNvPr id="15" name="Text 11"/>
          <p:cNvSpPr/>
          <p:nvPr/>
        </p:nvSpPr>
        <p:spPr>
          <a:xfrm>
            <a:off x="8043267" y="1319510"/>
            <a:ext cx="3539133" cy="2006352"/>
          </a:xfrm>
          <a:prstGeom prst="roundRect">
            <a:avLst>
              <a:gd name="adj" fmla="val 569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6" name="Image 2" descr="/var/folders/6c/210dcgxn4gz5sm71vld2cy1h0000gn/T/tmp.kuKuqUEQz8/img/huochezh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2084" y="1455986"/>
            <a:ext cx="1041350" cy="104135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184184" y="2598837"/>
            <a:ext cx="1282446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火车站</a:t>
            </a:r>
            <a:endParaRPr lang="en-US" sz="3300" dirty="0"/>
          </a:p>
        </p:txBody>
      </p:sp>
      <p:sp>
        <p:nvSpPr>
          <p:cNvPr id="18" name="Text 13"/>
          <p:cNvSpPr/>
          <p:nvPr/>
        </p:nvSpPr>
        <p:spPr>
          <a:xfrm>
            <a:off x="609600" y="3503563"/>
            <a:ext cx="3539133" cy="2006352"/>
          </a:xfrm>
          <a:prstGeom prst="roundRect">
            <a:avLst>
              <a:gd name="adj" fmla="val 569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9" name="Image 3" descr="/var/folders/6c/210dcgxn4gz5sm71vld2cy1h0000gn/T/tmp.kuKuqUEQz8/img/l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8417" y="3640038"/>
            <a:ext cx="1041350" cy="104135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2169616" y="4782889"/>
            <a:ext cx="42748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路</a:t>
            </a:r>
            <a:endParaRPr lang="en-US" sz="3300" dirty="0"/>
          </a:p>
        </p:txBody>
      </p:sp>
      <p:sp>
        <p:nvSpPr>
          <p:cNvPr id="21" name="Text 15"/>
          <p:cNvSpPr/>
          <p:nvPr/>
        </p:nvSpPr>
        <p:spPr>
          <a:xfrm>
            <a:off x="609600" y="5636865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这一页留在屏幕上——后面两个活动都看它。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03272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7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14050" y="176213"/>
            <a:ext cx="47939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17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959025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看地图说话</a:t>
            </a:r>
            <a:endParaRPr lang="en-US" sz="1100" dirty="0"/>
          </a:p>
        </p:txBody>
      </p:sp>
      <p:pic>
        <p:nvPicPr>
          <p:cNvPr id="9" name="Image 0" descr="/var/folders/6c/210dcgxn4gz5sm71vld2cy1h0000gn/T/tmp.kuKuqUEQz8/img/dit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2209800"/>
            <a:ext cx="2667000" cy="26670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708350" y="2612678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两人一组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每组一张 A3 地图，屏幕上也是同一张。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3708350" y="2958108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 问：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超市在哪儿？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 答，答案里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一定要有「就」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。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3708350" y="3303538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地图上八个地方，一人问四次，然后换。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3708350" y="3648968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最后全班一起：老师指一个地方，全班齐声回答。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3708350" y="4121348"/>
            <a:ext cx="803153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超市在哪儿？　—— 就在马路对面。／就在花店右面。</a:t>
            </a:r>
            <a:endParaRPr lang="en-US" sz="2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29626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Extension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7948" y="176213"/>
            <a:ext cx="48562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18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575917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加难 · 不看地图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775942"/>
            <a:ext cx="10972800" cy="1531590"/>
          </a:xfrm>
          <a:prstGeom prst="roundRect">
            <a:avLst>
              <a:gd name="adj" fmla="val 7463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3023592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 先看三十秒地图，然后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把地图扣过来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，凭记忆回答。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3369022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 的问题也换：不问「在哪儿」，问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「从学校怎么去火车站？」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——B 要说一条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路线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，不是一个位置。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714452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桌上什么都不许放。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0397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9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7502" y="176213"/>
            <a:ext cx="48607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19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62297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课本两题 · 写在本子上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822996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275" y="1984921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279327" y="1984921"/>
            <a:ext cx="5280374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p.145 第五题 · 5 分钟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六个带「就」的句子翻成英文。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79327" y="2320082"/>
            <a:ext cx="528037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翻完自己再写三句，说学校附近真的地方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2901107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22275" y="3063032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1279327" y="3063032"/>
            <a:ext cx="3786161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老师收三个同学写得好的，抄到黑板上。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79327" y="3398193"/>
            <a:ext cx="378616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抄的是学生自己写的，不是课本的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3979218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22275" y="4141143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1279327" y="4141143"/>
            <a:ext cx="7593422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p.152 第十四题 · 4 分钟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用「前面、后面、左面、右面、对面」描述课本地图。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79327" y="4476304"/>
            <a:ext cx="759342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写四句，至少两句有「就」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5031879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写完的人不要停——看下一页。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29626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Extension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3987" y="176213"/>
            <a:ext cx="5100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575917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加难 · 写一张走法，给别人用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775942"/>
            <a:ext cx="10972800" cy="1531590"/>
          </a:xfrm>
          <a:prstGeom prst="roundRect">
            <a:avLst>
              <a:gd name="adj" fmla="val 7463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3023592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不做翻译。写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六行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，说从学校大门走到火车站怎么走——要写得让一个七年级学生照着就能走到。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3369022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「就」用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三次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，「对面」用一次，「离」用一次。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714452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写完把纸给同桌，他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只看你写的字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，把路线画出来。画错了就是你没写清楚。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04639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 · 句子拼图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395" y="176213"/>
            <a:ext cx="4851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21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60049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 · 句子拼图 · 7 分钟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800523"/>
            <a:ext cx="10972800" cy="2058591"/>
          </a:xfrm>
          <a:prstGeom prst="roundRect">
            <a:avLst>
              <a:gd name="adj" fmla="val 5552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048173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四人一组，一个信封。信封里是六个句子，剪成了一个词一张。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2393603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六个句子都带「就」，用的都是今天的词。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2739033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哪一组先把六句全部摆对，哪一组赢。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3211413"/>
            <a:ext cx="1053160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火车站 / 就 / 在 / 马路 / 对面　　走路 / 五 / 分钟 / 就 / 到了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09600" y="4036814"/>
            <a:ext cx="10972800" cy="1245989"/>
          </a:xfrm>
          <a:prstGeom prst="roundRect">
            <a:avLst>
              <a:gd name="adj" fmla="val 5096"/>
            </a:avLst>
          </a:prstGeom>
          <a:solidFill>
            <a:srgbClr val="46684C">
              <a:alpha val="11000"/>
            </a:srgbClr>
          </a:solidFill>
          <a:ln w="19050">
            <a:solidFill>
              <a:srgbClr val="4668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57250" y="4233565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57250" y="4496991"/>
            <a:ext cx="10687050" cy="589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强的那一组换信封：里面只有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四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句的卡片，却多了三张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哪一句都不属于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的干扰卡（一个 / 很 / 了）。四句摆对，还要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用中文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说出每一张多余的卡为什么放不进去。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75583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写字 · 生词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3243" y="176213"/>
            <a:ext cx="51082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22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17976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写字 · 课本笔顺 · 练习册 PP.166–167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379786"/>
            <a:ext cx="10972800" cy="742950"/>
          </a:xfrm>
          <a:prstGeom prst="roundRect">
            <a:avLst>
              <a:gd name="adj" fmla="val 854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275" y="1465511"/>
            <a:ext cx="5698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马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1609576" y="1617911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 画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574727" y="1617911"/>
            <a:ext cx="297005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只有三画——横折、竖折折钩、横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991874" y="1551236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480774" y="1551236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0969675" y="1551236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09600" y="2186136"/>
            <a:ext cx="10972800" cy="742950"/>
          </a:xfrm>
          <a:prstGeom prst="roundRect">
            <a:avLst>
              <a:gd name="adj" fmla="val 854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22275" y="2271861"/>
            <a:ext cx="5698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路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1609576" y="2424261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13 画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574727" y="2424261"/>
            <a:ext cx="19801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足字旁，右边是「各」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991874" y="2357586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0480774" y="2357586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0969675" y="2357586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09600" y="2992487"/>
            <a:ext cx="10972800" cy="742950"/>
          </a:xfrm>
          <a:prstGeom prst="roundRect">
            <a:avLst>
              <a:gd name="adj" fmla="val 854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22275" y="3078212"/>
            <a:ext cx="5698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对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1609576" y="3230612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 画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2574727" y="3230612"/>
            <a:ext cx="257415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左边是「又」，右边是「寸」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91874" y="3163937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0480774" y="3163937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10969675" y="3163937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09600" y="3798838"/>
            <a:ext cx="10972800" cy="742950"/>
          </a:xfrm>
          <a:prstGeom prst="roundRect">
            <a:avLst>
              <a:gd name="adj" fmla="val 854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22275" y="3884563"/>
            <a:ext cx="5698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面</a:t>
            </a:r>
            <a:endParaRPr lang="en-US" sz="3200" dirty="0"/>
          </a:p>
        </p:txBody>
      </p:sp>
      <p:sp>
        <p:nvSpPr>
          <p:cNvPr id="32" name="Text 30"/>
          <p:cNvSpPr/>
          <p:nvPr/>
        </p:nvSpPr>
        <p:spPr>
          <a:xfrm>
            <a:off x="1609576" y="4036963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 画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2574727" y="4036963"/>
            <a:ext cx="217809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外框先写，里面两横一竖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991874" y="3970288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0480774" y="3970288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0969675" y="3970288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09600" y="4605189"/>
            <a:ext cx="10972800" cy="742950"/>
          </a:xfrm>
          <a:prstGeom prst="roundRect">
            <a:avLst>
              <a:gd name="adj" fmla="val 854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822275" y="4690914"/>
            <a:ext cx="5698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站</a:t>
            </a:r>
            <a:endParaRPr lang="en-US" sz="3200" dirty="0"/>
          </a:p>
        </p:txBody>
      </p:sp>
      <p:sp>
        <p:nvSpPr>
          <p:cNvPr id="39" name="Text 37"/>
          <p:cNvSpPr/>
          <p:nvPr/>
        </p:nvSpPr>
        <p:spPr>
          <a:xfrm>
            <a:off x="1609576" y="4843314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 画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2574727" y="4843314"/>
            <a:ext cx="415808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立字旁，右边是「占」——跟「店」的右边一样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9991874" y="4776639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10480774" y="4776639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10969675" y="4776639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609600" y="5475089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每个字写三遍。「站」和「店」右边同一个「占」，左边不同。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7858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43–50 MIN · PLENARY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544217" y="166688"/>
            <a:ext cx="127956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小结 · 43–50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3541" y="176213"/>
            <a:ext cx="51051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23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608683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小结 · 回头看今天的三个目标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808708"/>
            <a:ext cx="10972800" cy="935236"/>
          </a:xfrm>
          <a:prstGeom prst="roundRect">
            <a:avLst>
              <a:gd name="adj" fmla="val 679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275" y="1970633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279327" y="1970633"/>
            <a:ext cx="3155109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能说「马路」「对面」「火车站」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79327" y="2305794"/>
            <a:ext cx="3155109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👍 / 😐 / 👎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2896344"/>
            <a:ext cx="10972800" cy="935236"/>
          </a:xfrm>
          <a:prstGeom prst="roundRect">
            <a:avLst>
              <a:gd name="adj" fmla="val 679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22275" y="3058269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1279327" y="3058269"/>
            <a:ext cx="2944859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会用「就」说「就在马路对面」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79327" y="3393430"/>
            <a:ext cx="2944859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👍 / 😐 / 👎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3983980"/>
            <a:ext cx="10972800" cy="935236"/>
          </a:xfrm>
          <a:prstGeom prst="roundRect">
            <a:avLst>
              <a:gd name="adj" fmla="val 679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22275" y="4145905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1279327" y="4145905"/>
            <a:ext cx="2524208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会说「走路五分钟就到了」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79327" y="4481066"/>
            <a:ext cx="2524208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👍 / 😐 / 👎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5046166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每一条请一个同学用中文举一个例子——说得出来才算 👍。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7858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43–50 MIN · PLENARY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544217" y="166688"/>
            <a:ext cx="13248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出门条 · Exit ticket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2945" y="176213"/>
            <a:ext cx="5111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24 / 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762125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出门条 · 写一句用「就」的句子，交上来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962150"/>
            <a:ext cx="10972800" cy="1179165"/>
          </a:xfrm>
          <a:prstGeom prst="roundRect">
            <a:avLst>
              <a:gd name="adj" fmla="val 9693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286000"/>
            <a:ext cx="10479988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________ 就在 ________ 。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09600" y="3293715"/>
            <a:ext cx="111922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200"/>
              </a:spcBef>
              <a:buNone/>
            </a:pPr>
            <a:r>
              <a:rPr lang="en-US" sz="18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Must be about a real place you know.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09600" y="3763566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下节课是</a:t>
            </a:r>
            <a:r>
              <a:rPr lang="en-US" sz="1200" b="1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游戏课</a:t>
            </a: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——你会需要的，因为要开始说两段的路：先坐船，然后坐公共汽车。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600" y="4169866"/>
            <a:ext cx="10972800" cy="951458"/>
          </a:xfrm>
          <a:prstGeom prst="roundRect">
            <a:avLst>
              <a:gd name="adj" fmla="val 6674"/>
            </a:avLst>
          </a:prstGeom>
          <a:solidFill>
            <a:srgbClr val="46684C">
              <a:alpha val="11000"/>
            </a:srgbClr>
          </a:solidFill>
          <a:ln w="19050">
            <a:solidFill>
              <a:srgbClr val="4668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57250" y="4366617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57250" y="4630043"/>
            <a:ext cx="10687050" cy="294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写完了？写两句：一句「就在」，一句「就到了」。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2026-09-15T23:39:21Z</dcterms:created>
  <dcterms:modified xsi:type="dcterms:W3CDTF">2026-09-15T23:39:21Z</dcterms:modified>
</cp:coreProperties>
</file>