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4171" y="4476750"/>
            <a:ext cx="3901836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266176" y="2824163"/>
            <a:ext cx="3755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Y8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58643" y="3090863"/>
            <a:ext cx="11705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9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480560" y="4386263"/>
            <a:ext cx="93268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Aft>
                <a:spcPts val="600"/>
              </a:spcAft>
              <a:buNone/>
            </a:pPr>
            <a:r>
              <a:rPr lang="en-US" sz="1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r>
              <a:rPr lang="en-US" sz="120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2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数量范围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851446" y="6215063"/>
            <a:ext cx="45851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Kind/Type + Number Ranges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3211" y="7253288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41149" y="7253288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73969" y="7253288"/>
            <a:ext cx="17603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Listening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90539" y="7253288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2192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4000"/>
            <a:ext cx="639947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这些/那些/一些 + 都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43000" y="2486025"/>
            <a:ext cx="781050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2762250"/>
            <a:ext cx="41913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DIALOGUE — REDO FROM MEMORY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9225" y="3152775"/>
            <a:ext cx="7258050" cy="952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 a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partner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redo the near/far object-pointing activity from Lesson 6 — point at things and say 这些/那些/一些 correctly</a:t>
            </a:r>
            <a:endParaRPr lang="en-US" sz="1500" dirty="0"/>
          </a:p>
          <a:p>
            <a:pPr algn="l" marL="114300" indent="-1143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check: </a:t>
            </a:r>
            <a:r>
              <a:rPr lang="en-US" sz="15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one sentence with 都"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hold up on three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34500" y="2486025"/>
            <a:ext cx="1756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· RECAP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34500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64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496425" y="3086100"/>
            <a:ext cx="30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72700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3346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334625" y="3086100"/>
            <a:ext cx="3107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those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10900" y="269557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172825" y="27813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172825" y="3086100"/>
            <a:ext cx="301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49100" y="2695575"/>
            <a:ext cx="83567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011025" y="27813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011025" y="3086100"/>
            <a:ext cx="522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/ both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4762500"/>
            <a:ext cx="16002000" cy="8001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166813" y="4762500"/>
            <a:ext cx="0" cy="8001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9225" y="4914900"/>
            <a:ext cx="1537963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can now talk about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things with 这些/那些/一些. Today we get more precise — using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count </a:t>
            </a:r>
            <a:r>
              <a:rPr lang="en-US" sz="1425" i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kinds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things, and learning how to say ranges like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'two or three'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instead of an exact number."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824163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148013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090987"/>
            <a:ext cx="14944725" cy="135255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090987"/>
            <a:ext cx="0" cy="135255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300538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529138"/>
            <a:ext cx="1425886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measure word for "kinds/types" of things, and to say approximate number ranges like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"two or three kinds."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7673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584358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5757863"/>
            <a:ext cx="62768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as a measure word </a:t>
            </a:r>
            <a:r>
              <a:rPr lang="en-US" sz="16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(三种水果, 两种运动)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63007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37698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291263"/>
            <a:ext cx="8396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number range using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两三种/三四个小时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(two-to-three / three-to-four)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3500" y="6834188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691038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6824663"/>
            <a:ext cx="80124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"how many kinds of X do you like?" —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你喜欢几种蔬菜？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33500" y="7367587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65213" y="7443788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47850" y="7358063"/>
            <a:ext cx="8369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spoken sentences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number ranges to the correct picture/person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606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Grammar Focus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56735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语法点 · 种 + Number Ranges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2133600"/>
            <a:ext cx="58906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 (zhǒng) — measure word for "kind/type": [number] + 种 + noun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33500" y="2609850"/>
            <a:ext cx="1162050" cy="752475"/>
          </a:xfrm>
          <a:prstGeom prst="roundRect">
            <a:avLst>
              <a:gd name="adj" fmla="val 25316"/>
            </a:avLst>
          </a:prstGeom>
          <a:solidFill>
            <a:srgbClr val="E8E2C8"/>
          </a:solidFill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2771775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90800" y="2609850"/>
            <a:ext cx="857250" cy="752475"/>
          </a:xfrm>
          <a:prstGeom prst="roundRect">
            <a:avLst>
              <a:gd name="adj" fmla="val 25316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67025" y="277177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81400" y="2809875"/>
            <a:ext cx="161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872805" y="2609850"/>
            <a:ext cx="1162050" cy="752475"/>
          </a:xfrm>
          <a:prstGeom prst="roundRect">
            <a:avLst>
              <a:gd name="adj" fmla="val 25316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49030" y="2771775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44405" y="2862263"/>
            <a:ext cx="1897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[number] + 种 + noun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33500" y="3609975"/>
            <a:ext cx="1543050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60957" y="3752850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种水果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1280" y="4171950"/>
            <a:ext cx="10674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kind of fruit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28950" y="39004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09950" y="3609975"/>
            <a:ext cx="1592461" cy="895350"/>
          </a:xfrm>
          <a:prstGeom prst="roundRect">
            <a:avLst>
              <a:gd name="adj" fmla="val 1276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62112" y="3752850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种水果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3636913" y="4171950"/>
            <a:ext cx="1138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kinds of fruit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54811" y="39004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5811" y="3609975"/>
            <a:ext cx="2150864" cy="895350"/>
          </a:xfrm>
          <a:prstGeom prst="roundRect">
            <a:avLst>
              <a:gd name="adj" fmla="val 12766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31158" y="375285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种水果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757190" y="4171950"/>
            <a:ext cx="1708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or three kinds of fruit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33500" y="4752975"/>
            <a:ext cx="15621000" cy="876300"/>
          </a:xfrm>
          <a:prstGeom prst="roundRect">
            <a:avLst>
              <a:gd name="adj" fmla="val 21739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81150" y="4962525"/>
            <a:ext cx="6159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NUMBER-RANGE PATTERN · TWO ADJACENT NUMBERS = "ABOUT X TO Y"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81150" y="515302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2438400" y="5191125"/>
            <a:ext cx="13739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or three kinds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14043" y="5153025"/>
            <a:ext cx="918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‖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4332684" y="515302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三四个小时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609034" y="5191125"/>
            <a:ext cx="28015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or four hours (Unit 3 durations)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84257" y="5153025"/>
            <a:ext cx="918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‖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902898" y="515302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五六天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760148" y="5191125"/>
            <a:ext cx="11447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five or six days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2029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60998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Key Sentence Pattern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2133600"/>
            <a:ext cx="5747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Asking and answering how many kinds of something you like/do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33500" y="2628900"/>
            <a:ext cx="15621000" cy="10477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357313" y="2628900"/>
            <a:ext cx="0" cy="104775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725" y="2781300"/>
            <a:ext cx="69951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你每天吃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水果？我每天都吃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9725" y="3314700"/>
            <a:ext cx="6157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fruit do you eat every day? I eat two or three kinds every day.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3500" y="3886200"/>
            <a:ext cx="15621000" cy="899071"/>
          </a:xfrm>
          <a:prstGeom prst="roundRect">
            <a:avLst>
              <a:gd name="adj" fmla="val 211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90675" y="4067175"/>
            <a:ext cx="214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— THINK ALOUD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590675" y="4333875"/>
            <a:ext cx="80152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"To say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'I eat three or four kinds of vegetables'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I need 我吃 +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三四种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蔬菜 →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我吃三四种蔬菜。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333500" y="4956721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2575" y="5080546"/>
            <a:ext cx="21859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他会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说两三种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语言。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4103251" y="5142458"/>
            <a:ext cx="26848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can speak two or three languages.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33500" y="5623471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52575" y="5747296"/>
            <a:ext cx="36433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她每个周末画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两三个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小时的画儿。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312973" y="5809208"/>
            <a:ext cx="3490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paints for two or three hours every weekend.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33500" y="6290221"/>
            <a:ext cx="15621000" cy="571500"/>
          </a:xfrm>
          <a:prstGeom prst="roundRect">
            <a:avLst>
              <a:gd name="adj" fmla="val 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52575" y="6414046"/>
            <a:ext cx="53829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八九种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水果，可是我只吃</a:t>
            </a:r>
            <a:r>
              <a:rPr lang="en-US" sz="187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一种</a:t>
            </a:r>
            <a:r>
              <a:rPr lang="en-US" sz="18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r>
              <a:rPr lang="en-US" sz="90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SILLY EXAMPLE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554396" y="6475958"/>
            <a:ext cx="4264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family has eight or nine kinds of fruit, but I only eat one!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662362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271963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49103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5577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538663"/>
            <a:ext cx="80165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measure — people, kinds, or time?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94823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5614988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83406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90073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834063"/>
            <a:ext cx="7031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I say "four or five kinds"?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22458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6891338"/>
            <a:ext cx="15621000" cy="1104900"/>
          </a:xfrm>
          <a:prstGeom prst="roundRect">
            <a:avLst>
              <a:gd name="adj" fmla="val 1724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9725" y="71104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3046" y="7177088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219325" y="7138988"/>
            <a:ext cx="54973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我喜欢两三蔬菜。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missing?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539037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5286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3383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1005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33837"/>
            <a:ext cx="46075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种 measure — people, kinds, or time?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4376738"/>
            <a:ext cx="17320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 = kinds / types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729163"/>
            <a:ext cx="53740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zhǒng — a measure word for kinds/types of things, not people or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91138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721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3878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72113"/>
            <a:ext cx="1827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"Four or five kinds"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5815013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四五种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67438"/>
            <a:ext cx="46002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sì-wǔ zhǒng — two adjacent numbers said together, then 种.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2941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1038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6977063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10388"/>
            <a:ext cx="43945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我喜欢两三蔬菜。 What's missing?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19325" y="7253288"/>
            <a:ext cx="3443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missing 种 — 我喜欢两三种蔬菜。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05713"/>
            <a:ext cx="4698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种 must appear right after the number range, before the noun.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302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90625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7775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104900"/>
            <a:ext cx="67011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Partner Dialogue — Kinds of Things · Act.11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173355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00225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86111" y="1771650"/>
            <a:ext cx="757089" cy="266700"/>
          </a:xfrm>
          <a:prstGeom prst="roundRect">
            <a:avLst>
              <a:gd name="adj" fmla="val 3567857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19461" y="1819275"/>
            <a:ext cx="500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224790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33475" y="23907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你会说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语言？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3475" y="2695575"/>
            <a:ext cx="2296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languages can you speak?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457950" y="224790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38925" y="23907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38925" y="2695575"/>
            <a:ext cx="231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sport do you like?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963400" y="224790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144375" y="2390775"/>
            <a:ext cx="136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你看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144375" y="2695575"/>
            <a:ext cx="26407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magazine do you read?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52500" y="314325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33475" y="328612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你会画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33475" y="3590925"/>
            <a:ext cx="2652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pictures can you paint?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457950" y="314325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38925" y="328612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38925" y="3590925"/>
            <a:ext cx="2654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vegetables do you like?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963400" y="3143250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144375" y="328612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15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几种</a:t>
            </a: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水果？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144375" y="3590925"/>
            <a:ext cx="2253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kinds of fruit do you like?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52500" y="4057650"/>
            <a:ext cx="8115300" cy="742950"/>
          </a:xfrm>
          <a:prstGeom prst="roundRect">
            <a:avLst>
              <a:gd name="adj" fmla="val 15385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62050" y="4238625"/>
            <a:ext cx="1312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等等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162050" y="4429125"/>
            <a:ext cx="47519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the kinds using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等等</a:t>
            </a: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我会说两三种语言：英语、汉语等等。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20200" y="4057650"/>
            <a:ext cx="8115300" cy="742950"/>
          </a:xfrm>
          <a:prstGeom prst="roundRect">
            <a:avLst>
              <a:gd name="adj" fmla="val 15385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429750" y="4238625"/>
            <a:ext cx="1333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EX.12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9429750" y="4429125"/>
            <a:ext cx="6760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full-sentence answers to Ex.12's 4 questions — e.g.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你今天吃了几种蔬菜？什么蔬菜？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52500" y="5162550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104900" y="527685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104900" y="5467350"/>
            <a:ext cx="51320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cards printed with sentence frames; number-range word strips available to slot in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6464201" y="516255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16601" y="527685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616601" y="5467350"/>
            <a:ext cx="44562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等等 list answers + Workbook Ex.12 full-sentence write-up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1976050" y="516255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2128450" y="527685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2128450" y="5467350"/>
            <a:ext cx="3717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both asks and answers all 6 questions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210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143000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7750" y="1200150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690" y="1066800"/>
            <a:ext cx="5034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Match the Sentence Halves · Act.13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57250" y="16573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225" y="1724025"/>
            <a:ext cx="576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898749" y="1695450"/>
            <a:ext cx="1577429" cy="266700"/>
          </a:xfrm>
          <a:prstGeom prst="roundRect">
            <a:avLst>
              <a:gd name="adj" fmla="val 3567857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32099" y="1743075"/>
            <a:ext cx="13369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57250" y="2133600"/>
            <a:ext cx="18213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BEGINNINGS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57250" y="23622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00125" y="24479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5340" y="2466975"/>
            <a:ext cx="81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285875" y="242887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他会说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857250" y="277177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0125" y="28575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2038" y="2876550"/>
            <a:ext cx="68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285875" y="2838450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她今年学了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857250" y="318135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00125" y="32670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61740" y="3286125"/>
            <a:ext cx="68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285875" y="3248025"/>
            <a:ext cx="66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妈妈打了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857250" y="359092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00125" y="36766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61442" y="3695700"/>
            <a:ext cx="69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285875" y="3657600"/>
            <a:ext cx="66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爸爸开了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857250" y="40005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0125" y="40862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61889" y="4105275"/>
            <a:ext cx="683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285875" y="4067175"/>
            <a:ext cx="1156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弟弟在家休息了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857250" y="441007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0125" y="44958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61293" y="4514850"/>
            <a:ext cx="6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285875" y="447675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他学了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857250" y="481965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00125" y="49053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64270" y="4924425"/>
            <a:ext cx="633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285875" y="4886325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姐姐每天吃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857250" y="522922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00125" y="53149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61442" y="5334000"/>
            <a:ext cx="69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285875" y="5295900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哥哥每天看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857250" y="56388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00125" y="57245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61293" y="5743575"/>
            <a:ext cx="6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285875" y="5705475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妹妹每天弹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9258300" y="2133600"/>
            <a:ext cx="20126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NUMBER-RANGE ENDINGS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9258300" y="23622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401175" y="24479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456390" y="2466975"/>
            <a:ext cx="81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9686925" y="2428875"/>
            <a:ext cx="990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两三种语言。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6444913" y="2457450"/>
            <a:ext cx="859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example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9258300" y="277177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9401175" y="28575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469041" y="2876550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9686925" y="2838450"/>
            <a:ext cx="825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八九门课。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9258300" y="318135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401175" y="32670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9469041" y="3286125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9686925" y="3248025"/>
            <a:ext cx="148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一两个小时的电话。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9258300" y="359092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401175" y="36766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9469041" y="3695700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9686925" y="3657600"/>
            <a:ext cx="1321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三四个小时的车。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9258300" y="40005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9401175" y="40862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469041" y="4105275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9686925" y="4067175"/>
            <a:ext cx="66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四五天。</a:t>
            </a:r>
            <a:endParaRPr lang="en-US" sz="1275" dirty="0"/>
          </a:p>
        </p:txBody>
      </p:sp>
      <p:sp>
        <p:nvSpPr>
          <p:cNvPr id="73" name="Text 71"/>
          <p:cNvSpPr/>
          <p:nvPr/>
        </p:nvSpPr>
        <p:spPr>
          <a:xfrm>
            <a:off x="9258300" y="441007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9401175" y="44958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9469041" y="4514850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9686925" y="4476750"/>
            <a:ext cx="1321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五六年的油画儿。</a:t>
            </a:r>
            <a:endParaRPr lang="en-US" sz="1275" dirty="0"/>
          </a:p>
        </p:txBody>
      </p:sp>
      <p:sp>
        <p:nvSpPr>
          <p:cNvPr id="77" name="Text 75"/>
          <p:cNvSpPr/>
          <p:nvPr/>
        </p:nvSpPr>
        <p:spPr>
          <a:xfrm>
            <a:off x="9258300" y="481965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9401175" y="49053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9469041" y="4924425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9686925" y="4886325"/>
            <a:ext cx="990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三四种水果。</a:t>
            </a:r>
            <a:endParaRPr lang="en-US" sz="1275" dirty="0"/>
          </a:p>
        </p:txBody>
      </p:sp>
      <p:sp>
        <p:nvSpPr>
          <p:cNvPr id="81" name="Text 79"/>
          <p:cNvSpPr/>
          <p:nvPr/>
        </p:nvSpPr>
        <p:spPr>
          <a:xfrm>
            <a:off x="9258300" y="5229225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9401175" y="53149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469041" y="5334000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9686925" y="5295900"/>
            <a:ext cx="148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一两个小时的电视。</a:t>
            </a:r>
            <a:endParaRPr lang="en-US" sz="1275" dirty="0"/>
          </a:p>
        </p:txBody>
      </p:sp>
      <p:sp>
        <p:nvSpPr>
          <p:cNvPr id="85" name="Text 83"/>
          <p:cNvSpPr/>
          <p:nvPr/>
        </p:nvSpPr>
        <p:spPr>
          <a:xfrm>
            <a:off x="9258300" y="5638800"/>
            <a:ext cx="8172450" cy="361950"/>
          </a:xfrm>
          <a:prstGeom prst="roundRect">
            <a:avLst>
              <a:gd name="adj" fmla="val 1578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9401175" y="572452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9469041" y="5743575"/>
            <a:ext cx="558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9686925" y="5705475"/>
            <a:ext cx="148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一两个小时的钢琴。</a:t>
            </a:r>
            <a:endParaRPr lang="en-US" sz="1275" dirty="0"/>
          </a:p>
        </p:txBody>
      </p:sp>
      <p:sp>
        <p:nvSpPr>
          <p:cNvPr id="89" name="Text 87"/>
          <p:cNvSpPr/>
          <p:nvPr/>
        </p:nvSpPr>
        <p:spPr>
          <a:xfrm>
            <a:off x="857250" y="6115050"/>
            <a:ext cx="8220075" cy="624780"/>
          </a:xfrm>
          <a:prstGeom prst="roundRect">
            <a:avLst>
              <a:gd name="adj" fmla="val 18294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1047750" y="6267450"/>
            <a:ext cx="785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47750" y="6429375"/>
            <a:ext cx="44037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0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original sentences</a:t>
            </a: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your own using a different number range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9210675" y="6115050"/>
            <a:ext cx="8220075" cy="624780"/>
          </a:xfrm>
          <a:prstGeom prst="roundRect">
            <a:avLst>
              <a:gd name="adj" fmla="val 18294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9401175" y="6267450"/>
            <a:ext cx="12329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EX.13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401175" y="6429375"/>
            <a:ext cx="56154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Rearrange 6 word sets into sentences — e.g. </a:t>
            </a:r>
            <a:r>
              <a:rPr lang="en-US" sz="10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非常/我/打篮球/喜欢 → 我非常喜欢打篮球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857250" y="7082730"/>
            <a:ext cx="54228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1009650" y="719703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009650" y="7387530"/>
            <a:ext cx="4532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 through item 1 together as a class example (shown above)</a:t>
            </a:r>
            <a:endParaRPr lang="en-US" sz="1125" dirty="0"/>
          </a:p>
        </p:txBody>
      </p:sp>
      <p:sp>
        <p:nvSpPr>
          <p:cNvPr id="98" name="Text 96"/>
          <p:cNvSpPr/>
          <p:nvPr/>
        </p:nvSpPr>
        <p:spPr>
          <a:xfrm>
            <a:off x="6432500" y="7082730"/>
            <a:ext cx="54228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6584900" y="719703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6584900" y="7387530"/>
            <a:ext cx="39851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original sentences + Workbook Ex.13 rearrange-words</a:t>
            </a:r>
            <a:endParaRPr lang="en-US" sz="1125" dirty="0"/>
          </a:p>
        </p:txBody>
      </p:sp>
      <p:sp>
        <p:nvSpPr>
          <p:cNvPr id="101" name="Text 99"/>
          <p:cNvSpPr/>
          <p:nvPr/>
        </p:nvSpPr>
        <p:spPr>
          <a:xfrm>
            <a:off x="12007751" y="7082730"/>
            <a:ext cx="5422850" cy="619125"/>
          </a:xfrm>
          <a:prstGeom prst="roundRect">
            <a:avLst>
              <a:gd name="adj" fmla="val 18462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12160151" y="719703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103" name="Text 101"/>
          <p:cNvSpPr/>
          <p:nvPr/>
        </p:nvSpPr>
        <p:spPr>
          <a:xfrm>
            <a:off x="12160151" y="7387530"/>
            <a:ext cx="4993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Whiteboard/worksheet check with a partner before whole-class reveal</a:t>
            </a:r>
            <a:endParaRPr lang="en-US" sz="1125" dirty="0"/>
          </a:p>
        </p:txBody>
      </p:sp>
      <p:sp>
        <p:nvSpPr>
          <p:cNvPr id="104" name="Shape 10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384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90625"/>
            <a:ext cx="1284684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7775"/>
            <a:ext cx="9217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7684" y="1104900"/>
            <a:ext cx="706620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— Match People to Activities · Act.14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17716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838325"/>
            <a:ext cx="576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93999" y="1809750"/>
            <a:ext cx="846088" cy="266700"/>
          </a:xfrm>
          <a:prstGeom prst="roundRect">
            <a:avLst>
              <a:gd name="adj" fmla="val 3567857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7349" y="1857375"/>
            <a:ext cx="5909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954387" y="1785938"/>
            <a:ext cx="1268611" cy="314325"/>
          </a:xfrm>
          <a:prstGeom prst="roundRect">
            <a:avLst>
              <a:gd name="adj" fmla="val 3027273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97262" y="1862138"/>
            <a:ext cx="10025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CD Track 50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52500" y="2305050"/>
            <a:ext cx="7006977" cy="2423815"/>
          </a:xfrm>
          <a:prstGeom prst="roundRect">
            <a:avLst>
              <a:gd name="adj" fmla="val 78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90625" y="2543175"/>
            <a:ext cx="13670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90625" y="2905125"/>
            <a:ext cx="6530727" cy="143321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audio; students match each of the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people</a:t>
            </a:r>
            <a:r>
              <a:rPr lang="en-US" sz="13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their activity description</a:t>
            </a:r>
            <a:endParaRPr lang="en-US" sz="1350" dirty="0"/>
          </a:p>
          <a:p>
            <a:pPr algn="l" marL="95250" indent="-95250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descriptions use a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 range</a:t>
            </a:r>
            <a:endParaRPr lang="en-US" sz="1350" dirty="0"/>
          </a:p>
          <a:p>
            <a:pPr algn="l" marL="95250" indent="-95250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Pre-read the 6 answer options as a class before playing; pause and replay each item once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6177" y="2305050"/>
            <a:ext cx="9109174" cy="3714750"/>
          </a:xfrm>
          <a:prstGeom prst="roundRect">
            <a:avLst>
              <a:gd name="adj" fmla="val 5128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35727" y="2495550"/>
            <a:ext cx="40879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PEOPLE · ACTIVITY DESCRIPTIONS HEARD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35727" y="27051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97652" y="27908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99188" y="28194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大生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264402" y="2814638"/>
            <a:ext cx="1399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去过七八个国家。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35727" y="32385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597652" y="33242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699188" y="33528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9264402" y="3348038"/>
            <a:ext cx="15739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三四天没去游泳了。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35727" y="37719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97652" y="38576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699188" y="38862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美美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9264402" y="3881438"/>
            <a:ext cx="2098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每天吃四五种蔬菜、水果。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35727" y="43053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597652" y="43910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699188" y="44196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冬冬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9264402" y="4414838"/>
            <a:ext cx="13990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会说两三种语言。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435727" y="48387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597652" y="49244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699188" y="49530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王星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9264402" y="4948238"/>
            <a:ext cx="24483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每个周末打一两个小时的网球。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435727" y="5372100"/>
            <a:ext cx="8690074" cy="457200"/>
          </a:xfrm>
          <a:prstGeom prst="roundRect">
            <a:avLst>
              <a:gd name="adj" fmla="val 25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97652" y="54578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699188" y="548640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小英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9264402" y="5481638"/>
            <a:ext cx="15739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家里有五六种水果。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52500" y="6248400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104900" y="636270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104900" y="6553200"/>
            <a:ext cx="48169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Pre-read the 6 answer options as a class before playing; pause and replay each item once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6464201" y="62484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16601" y="636270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6616601" y="6553200"/>
            <a:ext cx="50509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write out the full sentence for 2 people, not just match the letter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11976050" y="6248400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128450" y="636270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2128450" y="6553200"/>
            <a:ext cx="2553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hold-up after each item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043238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367088"/>
            <a:ext cx="342957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310063"/>
            <a:ext cx="7658100" cy="3200400"/>
          </a:xfrm>
          <a:prstGeom prst="roundRect">
            <a:avLst>
              <a:gd name="adj" fmla="val 595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8775" y="4567238"/>
            <a:ext cx="2562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8775" y="47767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5925" y="48101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2150" y="47767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48101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5525" y="47767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2675" y="48101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4625" y="4805363"/>
            <a:ext cx="448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种 correctly as a measure word (三种水果, 两种运动)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28775" y="5176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5925" y="5210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2150" y="5176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19300" y="5210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95525" y="51768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2675" y="52101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4625" y="5205413"/>
            <a:ext cx="357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a number range using 两三种/三四个小时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28775" y="5576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925" y="5610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2150" y="5576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19300" y="5610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95525" y="557688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52675" y="56102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14625" y="5605463"/>
            <a:ext cx="48629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 "how many kinds of X?" — 你喜欢几种蔬菜？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628775" y="5976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85925" y="6010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62150" y="5976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19300" y="6010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95525" y="5976938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52675" y="60102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4625" y="6005513"/>
            <a:ext cx="6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spoken sentences with number ranges to the correct picture/person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296400" y="4310063"/>
            <a:ext cx="7658100" cy="3200400"/>
          </a:xfrm>
          <a:prstGeom prst="roundRect">
            <a:avLst>
              <a:gd name="adj" fmla="val 595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591675" y="4567238"/>
            <a:ext cx="1139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91675" y="4776788"/>
            <a:ext cx="7067550" cy="11620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9615488" y="4776788"/>
            <a:ext cx="0" cy="1162050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48850" y="4948238"/>
            <a:ext cx="403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848850" y="5195888"/>
            <a:ext cx="63114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saying how many kinds of fruit or vegetables you eat, using 种 and a number range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591675" y="6119813"/>
            <a:ext cx="6802368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demonstrates each success criterion — a 种 sentence, a number range, a Q&amp;A exchange.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4 criteria above.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is our final Lesson 10 session — we'll pull everything together: vegetables, fruits, 应该, 可是, 这些/那些, and 种 — with a big review game and a short piece of writing.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275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种 + NUMBER RANGES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83607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97258" y="2731740"/>
            <a:ext cx="3893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L8 · FINAL LESSON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511796" y="3017490"/>
            <a:ext cx="326440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单元</a:t>
            </a:r>
            <a:r>
              <a:rPr lang="en-US" sz="42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整合复习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94599" y="3773686"/>
            <a:ext cx="96988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Consolidation — pulling all of Unit 4 together with a big review game and short writing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38500" y="4545211"/>
            <a:ext cx="2209800" cy="1581150"/>
          </a:xfrm>
          <a:prstGeom prst="roundRect">
            <a:avLst>
              <a:gd name="adj" fmla="val 12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49090" y="4783336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🥕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81914" y="5431036"/>
            <a:ext cx="922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蔬菜、水果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3550829" y="5716786"/>
            <a:ext cx="15849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 &amp; fruits vocab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638800" y="4545211"/>
            <a:ext cx="2209800" cy="1581150"/>
          </a:xfrm>
          <a:prstGeom prst="roundRect">
            <a:avLst>
              <a:gd name="adj" fmla="val 12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49390" y="4783336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59106" y="5431036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544532" y="5716786"/>
            <a:ext cx="398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39100" y="4545211"/>
            <a:ext cx="2209800" cy="1581150"/>
          </a:xfrm>
          <a:prstGeom prst="roundRect">
            <a:avLst>
              <a:gd name="adj" fmla="val 12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949690" y="4783336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🔀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59406" y="5431036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045327" y="5716786"/>
            <a:ext cx="1973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439400" y="4545211"/>
            <a:ext cx="2209800" cy="1581150"/>
          </a:xfrm>
          <a:prstGeom prst="roundRect">
            <a:avLst>
              <a:gd name="adj" fmla="val 12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349990" y="4783336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👉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1128962" y="5431036"/>
            <a:ext cx="830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这些/那些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1133822" y="5716786"/>
            <a:ext cx="820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/ those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839700" y="4545211"/>
            <a:ext cx="2209800" cy="1581150"/>
          </a:xfrm>
          <a:prstGeom prst="roundRect">
            <a:avLst>
              <a:gd name="adj" fmla="val 1204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750290" y="4783336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3852303" y="5431036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3298976" y="5716786"/>
            <a:ext cx="12910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kinds/types + ranges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7045523" y="6507361"/>
            <a:ext cx="4196953" cy="1314450"/>
          </a:xfrm>
          <a:prstGeom prst="roundRect">
            <a:avLst>
              <a:gd name="adj" fmla="val 14493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699212" y="6716911"/>
            <a:ext cx="88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761059" y="6964561"/>
            <a:ext cx="2765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大复习游戏 + 短文写作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469898" y="7402711"/>
            <a:ext cx="33482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big review game + a short piece of writing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2026-08-01T05:43:23Z</dcterms:created>
  <dcterms:modified xsi:type="dcterms:W3CDTF">2026-08-01T05:43:23Z</dcterms:modified>
</cp:coreProperties>
</file>