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34171" y="4476750"/>
            <a:ext cx="3901836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些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7260409" y="2919413"/>
            <a:ext cx="37670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OF 8 · Y8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61070" y="3186113"/>
            <a:ext cx="11658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90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703320" y="4519613"/>
            <a:ext cx="1088136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0"/>
              </a:lnSpc>
              <a:spcAft>
                <a:spcPts val="600"/>
              </a:spcAft>
              <a:buNone/>
            </a:pPr>
            <a:r>
              <a:rPr lang="en-US" sz="10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105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0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</a:t>
            </a:r>
            <a:r>
              <a:rPr lang="en-US" sz="105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0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一些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5853633" y="6119813"/>
            <a:ext cx="658073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Demonstratives + 都 Review + Full Text 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28913" y="7158038"/>
            <a:ext cx="1281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86852" y="7158038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22586" y="7158038"/>
            <a:ext cx="1463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+ Game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44837" y="7158038"/>
            <a:ext cx="2223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219200"/>
            <a:ext cx="1862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24000"/>
            <a:ext cx="5342614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Fruit Vocabulary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143000" y="2486025"/>
            <a:ext cx="7810500" cy="2333625"/>
          </a:xfrm>
          <a:prstGeom prst="roundRect">
            <a:avLst>
              <a:gd name="adj" fmla="val 81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9225" y="2762250"/>
            <a:ext cx="24675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FLASHCARD RAPID FIRE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9225" y="3152775"/>
            <a:ext cx="7258050" cy="12382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fruit words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projector, one at a time → class says pinyin + English chorally.</a:t>
            </a:r>
            <a:endParaRPr lang="en-US" sz="1500" dirty="0"/>
          </a:p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play a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Bingo grid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fruit words for 3 minutes — teacher calls out English or pinyin, students cross off the matching hanzi.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34500" y="2486025"/>
            <a:ext cx="22016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· FRUITS 水果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34500" y="269557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96425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496425" y="3086100"/>
            <a:ext cx="3064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172700" y="269557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334625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334625" y="3086100"/>
            <a:ext cx="409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banana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10900" y="2695575"/>
            <a:ext cx="843855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172825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172825" y="3086100"/>
            <a:ext cx="530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tangerine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950005" y="2695575"/>
            <a:ext cx="963513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111930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111930" y="3086100"/>
            <a:ext cx="652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watermelon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008769" y="2695575"/>
            <a:ext cx="569714" cy="638175"/>
          </a:xfrm>
          <a:prstGeom prst="roundRect">
            <a:avLst>
              <a:gd name="adj" fmla="val 20063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170694" y="2781300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170694" y="3086100"/>
            <a:ext cx="2507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673733" y="269557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835658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葡萄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835658" y="3086100"/>
            <a:ext cx="3221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grape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511933" y="2695575"/>
            <a:ext cx="909489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4673858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草莓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4673858" y="3086100"/>
            <a:ext cx="5973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strawberry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516671" y="269557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678596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桃子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5678596" y="3086100"/>
            <a:ext cx="3394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peach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" y="5048250"/>
            <a:ext cx="16002000" cy="800100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166813" y="5048250"/>
            <a:ext cx="0" cy="80010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19225" y="5200650"/>
            <a:ext cx="15769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can now name lots of fruits. Today we learn how to talk about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groups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them — 'these apples', 'those bananas', 'some grapes' — and we revisit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which you used back in Unit 3 for hobbies. Then we'll read the full fruit conversation and play a big radical review game."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3033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824163"/>
            <a:ext cx="36756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148013"/>
            <a:ext cx="507801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090987"/>
            <a:ext cx="13992225" cy="1352550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4090987"/>
            <a:ext cx="0" cy="135255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300538"/>
            <a:ext cx="16610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529138"/>
            <a:ext cx="1331175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use </a:t>
            </a:r>
            <a:r>
              <a:rPr lang="en-US" sz="19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这些/那些/一些</a:t>
            </a: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talk about groups of things, and to revisit </a:t>
            </a:r>
            <a:r>
              <a:rPr lang="en-US" sz="19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(all/both) from Unit 3.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767388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80096" y="5843588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850" y="5757863"/>
            <a:ext cx="73411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这些/那些/一些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to describe groups of fruit or objects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33500" y="6300788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66106" y="6376988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7850" y="6291263"/>
            <a:ext cx="95989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……，都……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I like/dislike everything in a list —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苹果、香蕉、橘子，我都喜欢吃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33500" y="6834188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5808" y="6910388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7850" y="6824663"/>
            <a:ext cx="6366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full Text 2 dialogue about fruit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33500" y="7367587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65213" y="7443788"/>
            <a:ext cx="100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47850" y="7358063"/>
            <a:ext cx="67389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 this unit's radicals from memory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a dictation game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606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Grammar Focus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11811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485900"/>
            <a:ext cx="669747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语法重点 · 这些 / 那些 / 一些 + 都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33500" y="2305050"/>
            <a:ext cx="7639050" cy="3895725"/>
          </a:xfrm>
          <a:prstGeom prst="roundRect">
            <a:avLst>
              <a:gd name="adj" fmla="val 489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2581275"/>
            <a:ext cx="16566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NEAR · FAR · SOME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9725" y="2771775"/>
            <a:ext cx="3457575" cy="1419225"/>
          </a:xfrm>
          <a:prstGeom prst="roundRect">
            <a:avLst>
              <a:gd name="adj" fmla="val 8054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43022" y="2943225"/>
            <a:ext cx="9909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🍎🍎🍎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3085910" y="3457575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352087" y="3829050"/>
            <a:ext cx="19727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zhèxiē — these (near + plural)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8750" y="2771775"/>
            <a:ext cx="3457575" cy="1419225"/>
          </a:xfrm>
          <a:prstGeom prst="roundRect">
            <a:avLst>
              <a:gd name="adj" fmla="val 8054"/>
            </a:avLst>
          </a:prstGeom>
          <a:solidFill>
            <a:srgbClr val="C94F3D">
              <a:alpha val="10000"/>
            </a:srgbClr>
          </a:solidFill>
          <a:ln w="19050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2047" y="2943225"/>
            <a:ext cx="9909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🍌🍌🍌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6714934" y="3457575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065212" y="3829050"/>
            <a:ext cx="18045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nàxiē — those (far + plural)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09725" y="4343400"/>
            <a:ext cx="7086600" cy="866775"/>
          </a:xfrm>
          <a:prstGeom prst="roundRect">
            <a:avLst>
              <a:gd name="adj" fmla="val 13187"/>
            </a:avLst>
          </a:prstGeom>
          <a:solidFill>
            <a:srgbClr val="E08A3C">
              <a:alpha val="12000"/>
            </a:srgbClr>
          </a:solidFill>
          <a:ln w="19050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00422" y="4495800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一些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3892439" y="4867275"/>
            <a:ext cx="2521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yìxiē — some (an unspecified amount)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09725" y="5367337"/>
            <a:ext cx="7086600" cy="0"/>
          </a:xfrm>
          <a:prstGeom prst="line">
            <a:avLst/>
          </a:prstGeom>
          <a:noFill/>
          <a:ln w="9525">
            <a:solidFill>
              <a:srgbClr val="CFC7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9725" y="5495925"/>
            <a:ext cx="72098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 with the </a:t>
            </a: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singular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forms you already know: </a:t>
            </a:r>
            <a:r>
              <a:rPr lang="en-US" sz="11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(this one) / </a:t>
            </a:r>
            <a:r>
              <a:rPr lang="en-US" sz="11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那个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(that one) — just add </a:t>
            </a: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些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a group.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2029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Sentence Pattern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11811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485900"/>
            <a:ext cx="582262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Key Sentence Pattern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333500" y="2105025"/>
            <a:ext cx="53672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 several things, then say you like/dislike them all with 都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333500" y="2581275"/>
            <a:ext cx="1589187" cy="666750"/>
          </a:xfrm>
          <a:prstGeom prst="roundRect">
            <a:avLst>
              <a:gd name="adj" fmla="val 28571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90675" y="2724150"/>
            <a:ext cx="10963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X、Y、Z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056037" y="2757488"/>
            <a:ext cx="23620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0963" y="2581275"/>
            <a:ext cx="1847850" cy="666750"/>
          </a:xfrm>
          <a:prstGeom prst="roundRect">
            <a:avLst>
              <a:gd name="adj" fmla="val 28571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78138" y="2724150"/>
            <a:ext cx="1360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我都喜欢吃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78363" y="2795588"/>
            <a:ext cx="22081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"X, Y, Z — I like them all."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33500" y="3457575"/>
            <a:ext cx="15621000" cy="571500"/>
          </a:xfrm>
          <a:prstGeom prst="roundRect">
            <a:avLst>
              <a:gd name="adj" fmla="val 20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52575" y="3581400"/>
            <a:ext cx="364331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苹果、香蕉、橘子，我</a:t>
            </a: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喜欢吃。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577888" y="3643313"/>
            <a:ext cx="32206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Apples, bananas, tangerines — I like them all.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33500" y="4124325"/>
            <a:ext cx="15621000" cy="571500"/>
          </a:xfrm>
          <a:prstGeom prst="roundRect">
            <a:avLst>
              <a:gd name="adj" fmla="val 20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52575" y="4248150"/>
            <a:ext cx="46148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我不喜欢吃</a:t>
            </a: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水果。我喜欢吃西瓜和梨。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131403" y="4310063"/>
            <a:ext cx="36761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like these fruits. I like watermelon and pears.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333500" y="4791075"/>
            <a:ext cx="15621000" cy="571500"/>
          </a:xfrm>
          <a:prstGeom prst="roundRect">
            <a:avLst>
              <a:gd name="adj" fmla="val 20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52575" y="4914900"/>
            <a:ext cx="2914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那些杂志，我</a:t>
            </a: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不喜欢看。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3646646" y="4976813"/>
            <a:ext cx="3150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Those magazines — I don't like any of them.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333500" y="5457825"/>
            <a:ext cx="15621000" cy="571500"/>
          </a:xfrm>
          <a:prstGeom prst="roundRect">
            <a:avLst>
              <a:gd name="adj" fmla="val 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52575" y="5581650"/>
            <a:ext cx="514010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是我的，一个也不给你！</a:t>
            </a:r>
            <a:r>
              <a:rPr lang="en-US" sz="9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SILLY EXAMPLE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746831" y="5643563"/>
            <a:ext cx="4068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apples are ALL mine — you don't get a single one!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333500" y="6219825"/>
            <a:ext cx="54025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 goes </a:t>
            </a:r>
            <a:r>
              <a:rPr lang="en-US" sz="1050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</a:t>
            </a: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verb — never after. Think "I ALL-like-eat", not "I like-eat all".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715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43175"/>
            <a:ext cx="361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67025"/>
            <a:ext cx="361613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648075"/>
            <a:ext cx="4387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 </a:t>
            </a: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4257675"/>
            <a:ext cx="15621000" cy="1133475"/>
          </a:xfrm>
          <a:prstGeom prst="roundRect">
            <a:avLst>
              <a:gd name="adj" fmla="val 1680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4476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2692" y="454342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219325" y="4524375"/>
            <a:ext cx="50066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21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那些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you know.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933950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33500" y="5600700"/>
            <a:ext cx="15621000" cy="1133475"/>
          </a:xfrm>
          <a:prstGeom prst="roundRect">
            <a:avLst>
              <a:gd name="adj" fmla="val 1680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81977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886450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867400"/>
            <a:ext cx="72386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does </a:t>
            </a:r>
            <a:r>
              <a:rPr lang="en-US" sz="21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go in the sentence — before or after the verb?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19325" y="6276975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6943725"/>
            <a:ext cx="15621000" cy="1066800"/>
          </a:xfrm>
          <a:prstGeom prst="roundRect">
            <a:avLst>
              <a:gd name="adj" fmla="val 1785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09725" y="71628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53046" y="722947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219325" y="7162800"/>
            <a:ext cx="63495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would I say "some fruits"?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19325" y="7553325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57463"/>
            <a:ext cx="2758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81313"/>
            <a:ext cx="33557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85286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4033837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2692" y="4100513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19325" y="4033837"/>
            <a:ext cx="2148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那些 mean?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19325" y="4376738"/>
            <a:ext cx="12391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 = those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729163"/>
            <a:ext cx="4610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nàxiē — points at a plural group that is far from the speaker.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5291138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4721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538788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472113"/>
            <a:ext cx="43482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does 都 go — before or after the verb?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19325" y="5815013"/>
            <a:ext cx="25164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 goes BEFORE the verb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19325" y="6167438"/>
            <a:ext cx="3430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我都喜欢吃 (I ALL-like-eat), never 我喜欢吃都.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33500" y="672941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09725" y="691038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53046" y="6977063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219325" y="6910388"/>
            <a:ext cx="12640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"Some fruits"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19325" y="7253288"/>
            <a:ext cx="9326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一些水果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19325" y="7605713"/>
            <a:ext cx="36367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yìxiē shuǐguǒ — 一些 for an unspecified amount.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565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· Full Dialogue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38436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TEXT PRESENTATION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381125"/>
            <a:ext cx="33032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 · 水果对话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2085975"/>
            <a:ext cx="12668250" cy="4369594"/>
          </a:xfrm>
          <a:prstGeom prst="roundRect">
            <a:avLst>
              <a:gd name="adj" fmla="val 610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95400" y="2371725"/>
            <a:ext cx="2009924" cy="333375"/>
          </a:xfrm>
          <a:prstGeom prst="roundRect">
            <a:avLst>
              <a:gd name="adj" fmla="val 2854286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57325" y="2457450"/>
            <a:ext cx="17197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🎵 CD Track 49 · p.95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38674" y="2405063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665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95400" y="2895600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93BB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4399" y="2943225"/>
            <a:ext cx="90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695450" y="2876550"/>
            <a:ext cx="236086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0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你喜欢吃什么水果？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295400" y="3421261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83953" y="3468886"/>
            <a:ext cx="91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695450" y="3402211"/>
            <a:ext cx="891882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0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苹果、香蕉、橘子，我</a:t>
            </a:r>
            <a:r>
              <a:rPr lang="en-US" sz="20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20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喜欢吃。我不喜欢吃</a:t>
            </a:r>
            <a:r>
              <a:rPr lang="en-US" sz="20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20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水果。我喜欢吃西瓜和梨。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295400" y="3946922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93BB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84399" y="3994547"/>
            <a:ext cx="90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695450" y="3927872"/>
            <a:ext cx="236086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0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</a:t>
            </a:r>
            <a:r>
              <a:rPr lang="en-US" sz="20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20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吃水果吗？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295400" y="4472583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83953" y="4520208"/>
            <a:ext cx="91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695450" y="4453533"/>
            <a:ext cx="288550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0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</a:t>
            </a:r>
            <a:r>
              <a:rPr lang="en-US" sz="20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20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</a:t>
            </a:r>
            <a:r>
              <a:rPr lang="en-US" sz="2025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两三种</a:t>
            </a:r>
            <a:r>
              <a:rPr lang="en-US" sz="20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295400" y="4964906"/>
            <a:ext cx="11982450" cy="0"/>
          </a:xfrm>
          <a:prstGeom prst="line">
            <a:avLst/>
          </a:prstGeom>
          <a:noFill/>
          <a:ln w="9525">
            <a:solidFill>
              <a:srgbClr val="CFC7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5400" y="5131594"/>
            <a:ext cx="8167851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 Nǐ xǐhuan chī shénme shuǐguǒ?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B: Píngguǒ, xiāngjiāo, júzi, wǒ dōu xǐhuan chī. Wǒ bù xǐhuan chī zhèxiē shuǐguǒ. Wǒ xǐhuan chī xīguā hé lí.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A: Nǐ měitiān dōu chī shuǐguǒ ma?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B: Wǒ měitiān dōu chī liǎng sān zhǒng shuǐguǒ.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906500" y="2085975"/>
            <a:ext cx="3429000" cy="1009650"/>
          </a:xfrm>
          <a:prstGeom prst="roundRect">
            <a:avLst>
              <a:gd name="adj" fmla="val 18868"/>
            </a:avLst>
          </a:prstGeom>
          <a:solidFill>
            <a:srgbClr val="E8E2C8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4855904" y="2266950"/>
            <a:ext cx="15301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 对话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4448309" y="2695575"/>
            <a:ext cx="23453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two-speaker fruit conversation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3906500" y="3248025"/>
            <a:ext cx="3429000" cy="914400"/>
          </a:xfrm>
          <a:prstGeom prst="roundRect">
            <a:avLst>
              <a:gd name="adj" fmla="val 12500"/>
            </a:avLst>
          </a:prstGeom>
          <a:solidFill>
            <a:srgbClr val="E08A3C">
              <a:alpha val="12000"/>
            </a:srgbClr>
          </a:solidFill>
          <a:ln w="19050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4116050" y="3548063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458950" y="3400425"/>
            <a:ext cx="1179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两三种 — new!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4458950" y="3629025"/>
            <a:ext cx="26644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"Two or three kinds" — we'll unpack the measure word 种 fully next lesson.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25234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· Comprehension Questions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190750"/>
            <a:ext cx="361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514600"/>
            <a:ext cx="575400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Comprehension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295650"/>
            <a:ext cx="8900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together, then in pairs (A/B roles). Answer in Chinese where you can </a:t>
            </a: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PREFERRED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3867150"/>
            <a:ext cx="15621000" cy="1371600"/>
          </a:xfrm>
          <a:prstGeom prst="roundRect">
            <a:avLst>
              <a:gd name="adj" fmla="val 138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40862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2692" y="4152900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219325" y="4086225"/>
            <a:ext cx="26717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第一句提到哪三种水果？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2219325" y="4486275"/>
            <a:ext cx="31862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3 fruits does the first line mention?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19325" y="4772025"/>
            <a:ext cx="2104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333500" y="5429250"/>
            <a:ext cx="15621000" cy="1371600"/>
          </a:xfrm>
          <a:prstGeom prst="roundRect">
            <a:avLst>
              <a:gd name="adj" fmla="val 138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09725" y="56483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53642" y="5715000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219325" y="5648325"/>
            <a:ext cx="2914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第二个人喜欢这些水果吗？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2219325" y="6048375"/>
            <a:ext cx="32278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the second speaker like those fruits?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19325" y="6334125"/>
            <a:ext cx="2104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333500" y="6991350"/>
            <a:ext cx="15621000" cy="1371600"/>
          </a:xfrm>
          <a:prstGeom prst="roundRect">
            <a:avLst>
              <a:gd name="adj" fmla="val 138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09725" y="72104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53046" y="7277100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219325" y="7210425"/>
            <a:ext cx="2914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第二个人每天吃几种水果？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2219325" y="7610475"/>
            <a:ext cx="49073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kinds of fruit does the second speaker eat every day?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19325" y="7896225"/>
            <a:ext cx="2104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4340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·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09838"/>
            <a:ext cx="2758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33688"/>
            <a:ext cx="33557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805237"/>
            <a:ext cx="15621000" cy="1285875"/>
          </a:xfrm>
          <a:prstGeom prst="roundRect">
            <a:avLst>
              <a:gd name="adj" fmla="val 14815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400526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2692" y="4071938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19325" y="4005262"/>
            <a:ext cx="206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第一句提到哪三种水果？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2219325" y="4329113"/>
            <a:ext cx="18653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苹果、香蕉、橘子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681538"/>
            <a:ext cx="2245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Apple, banana, and tangerine.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5281613"/>
            <a:ext cx="15621000" cy="1285875"/>
          </a:xfrm>
          <a:prstGeom prst="roundRect">
            <a:avLst>
              <a:gd name="adj" fmla="val 14815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48163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548313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481638"/>
            <a:ext cx="22573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第二个人喜欢这些水果吗？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2219325" y="5805488"/>
            <a:ext cx="59021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不完全 — 她说她不喜欢吃"这些水果"，更喜欢西瓜和梨。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19325" y="6157913"/>
            <a:ext cx="129193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 entirely — right after listing apple/banana/tangerine, she says she doesn't like "these fruits" (pointing to a different group) and prefers watermelon and pears instead.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33500" y="6757988"/>
            <a:ext cx="15621000" cy="1285875"/>
          </a:xfrm>
          <a:prstGeom prst="roundRect">
            <a:avLst>
              <a:gd name="adj" fmla="val 14815"/>
            </a:avLst>
          </a:prstGeom>
          <a:solidFill>
            <a:srgbClr val="F2EFDE"/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09725" y="69580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53046" y="7024688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219325" y="6958013"/>
            <a:ext cx="22573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第二个人每天吃几种水果？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2219325" y="7281863"/>
            <a:ext cx="699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19325" y="7634288"/>
            <a:ext cx="71159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or three kinds — flag 两三种 for next lesson, where we unpack the measure word 种 fully.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2052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1 · Near/Far Object Sort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1088"/>
            <a:ext cx="1153120" cy="314325"/>
          </a:xfrm>
          <a:prstGeom prst="roundRect">
            <a:avLst>
              <a:gd name="adj" fmla="val 3027273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38238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8020" y="1066800"/>
            <a:ext cx="919311" cy="342900"/>
          </a:xfrm>
          <a:prstGeom prst="roundRect">
            <a:avLst>
              <a:gd name="adj" fmla="val 277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8995" y="1133475"/>
            <a:ext cx="568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29732" y="1081088"/>
            <a:ext cx="815727" cy="314325"/>
          </a:xfrm>
          <a:prstGeom prst="roundRect">
            <a:avLst>
              <a:gd name="adj" fmla="val 3027273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1182" y="1138238"/>
            <a:ext cx="4822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504950"/>
            <a:ext cx="531787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远近分类 · Near/Far Object Sort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047875"/>
            <a:ext cx="81371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clusters of fruit-picture cards on the desks — practise pointing and describing each group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2500" y="2457450"/>
            <a:ext cx="8058150" cy="3552825"/>
          </a:xfrm>
          <a:prstGeom prst="roundRect">
            <a:avLst>
              <a:gd name="adj" fmla="val 536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2695575"/>
            <a:ext cx="10412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DESK SETUP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90625" y="2886075"/>
            <a:ext cx="3724275" cy="942975"/>
          </a:xfrm>
          <a:prstGeom prst="roundRect">
            <a:avLst>
              <a:gd name="adj" fmla="val 12121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0160" y="3038475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🍎🍎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2591276" y="3429000"/>
            <a:ext cx="922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这些是苹果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5048250" y="2886075"/>
            <a:ext cx="3724275" cy="942975"/>
          </a:xfrm>
          <a:prstGeom prst="roundRect">
            <a:avLst>
              <a:gd name="adj" fmla="val 12121"/>
            </a:avLst>
          </a:prstGeom>
          <a:solidFill>
            <a:srgbClr val="C94F3D">
              <a:alpha val="10000"/>
            </a:srgbClr>
          </a:solidFill>
          <a:ln w="19050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57784" y="3038475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🍌🍌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448901" y="3429000"/>
            <a:ext cx="922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那些是香蕉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190625" y="3962400"/>
            <a:ext cx="11854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190625" y="4210050"/>
            <a:ext cx="7581900" cy="4762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214438" y="4210050"/>
            <a:ext cx="0" cy="47625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09700" y="4324350"/>
            <a:ext cx="32147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 / 那些 / 一些 + 是 / 喜欢吃 + noun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190625" y="4819650"/>
            <a:ext cx="7581900" cy="971550"/>
          </a:xfrm>
          <a:prstGeom prst="roundRect">
            <a:avLst>
              <a:gd name="adj" fmla="val 11765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62075" y="4991100"/>
            <a:ext cx="32052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· WORKBOOK EX.15 TRANSLATION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62075" y="5162550"/>
            <a:ext cx="26426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我不喜欢吃这些水果。你们有西瓜吗？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62075" y="5410200"/>
            <a:ext cx="27980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那些画儿我都不喜欢。你们有国画儿吗？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77350" y="2457450"/>
            <a:ext cx="8058150" cy="863798"/>
          </a:xfrm>
          <a:prstGeom prst="roundRect">
            <a:avLst>
              <a:gd name="adj" fmla="val 2205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496425" y="2676525"/>
            <a:ext cx="12689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496425" y="2647950"/>
            <a:ext cx="7636687" cy="479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practise pointing and saying </a:t>
            </a:r>
            <a:r>
              <a:rPr lang="en-US" sz="127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这些是苹果 / 那些是香蕉</a:t>
            </a:r>
            <a:r>
              <a:rPr lang="en-US" sz="12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then describe a "some" subset with </a:t>
            </a:r>
            <a:r>
              <a:rPr lang="en-US" sz="127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一些</a:t>
            </a:r>
            <a:r>
              <a:rPr lang="en-US" sz="12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9277350" y="3549848"/>
            <a:ext cx="2584400" cy="1219200"/>
          </a:xfrm>
          <a:prstGeom prst="roundRect">
            <a:avLst>
              <a:gd name="adj" fmla="val 9375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429750" y="3664148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9429750" y="3854648"/>
            <a:ext cx="231137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on the board: 这些/那些/一些 + 是/喜欢吃 + noun.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2014150" y="3549848"/>
            <a:ext cx="2584400" cy="1219200"/>
          </a:xfrm>
          <a:prstGeom prst="roundRect">
            <a:avLst>
              <a:gd name="adj" fmla="val 9375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166550" y="3664148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2166550" y="3854648"/>
            <a:ext cx="23207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Combine with 都: 这些水果，我都喜欢吃. Fluent speakers translate 2 sentences from Workbook Ex.15 into English.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4750951" y="3549848"/>
            <a:ext cx="2584549" cy="1219200"/>
          </a:xfrm>
          <a:prstGeom prst="roundRect">
            <a:avLst>
              <a:gd name="adj" fmla="val 9375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4903351" y="3664148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4903351" y="3854648"/>
            <a:ext cx="22151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says at least one sentence in pairs.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7847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2 · Group the Words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1088"/>
            <a:ext cx="1179165" cy="314325"/>
          </a:xfrm>
          <a:prstGeom prst="roundRect">
            <a:avLst>
              <a:gd name="adj" fmla="val 3027273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38238"/>
            <a:ext cx="8141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84065" y="1066800"/>
            <a:ext cx="919311" cy="342900"/>
          </a:xfrm>
          <a:prstGeom prst="roundRect">
            <a:avLst>
              <a:gd name="adj" fmla="val 277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5040" y="1133475"/>
            <a:ext cx="568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55777" y="1081088"/>
            <a:ext cx="1588145" cy="314325"/>
          </a:xfrm>
          <a:prstGeom prst="roundRect">
            <a:avLst>
              <a:gd name="adj" fmla="val 3027273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27227" y="1138238"/>
            <a:ext cx="1270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504950"/>
            <a:ext cx="466040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词语分类 · Group the Words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047875"/>
            <a:ext cx="61697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Ex.10 — sort the words below into vegetables / fruits / sports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2500" y="2438400"/>
            <a:ext cx="16383000" cy="876300"/>
          </a:xfrm>
          <a:prstGeom prst="roundRect">
            <a:avLst>
              <a:gd name="adj" fmla="val 2173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2638425"/>
            <a:ext cx="8699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525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76350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800225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24050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2447925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71750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3095625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19450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3743325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67150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4391025" y="2809875"/>
            <a:ext cx="733425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14850" y="2867025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52006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244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58483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721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南瓜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64960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198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冬瓜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1437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2675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77914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9152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8439150" y="2809875"/>
            <a:ext cx="733425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562975" y="2867025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9248775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372600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9896475" y="2809875"/>
            <a:ext cx="409575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020300" y="2867025"/>
            <a:ext cx="165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103822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5060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110299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11537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</a:t>
            </a:r>
            <a:endParaRPr lang="en-US" sz="1275" dirty="0"/>
          </a:p>
        </p:txBody>
      </p:sp>
      <p:sp>
        <p:nvSpPr>
          <p:cNvPr id="49" name="Text 47"/>
          <p:cNvSpPr/>
          <p:nvPr/>
        </p:nvSpPr>
        <p:spPr>
          <a:xfrm>
            <a:off x="116776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18014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12325350" y="2809875"/>
            <a:ext cx="571500" cy="342900"/>
          </a:xfrm>
          <a:prstGeom prst="roundRect">
            <a:avLst>
              <a:gd name="adj" fmla="val 16667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449175" y="286702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952500" y="3467100"/>
            <a:ext cx="5346650" cy="1028700"/>
          </a:xfrm>
          <a:prstGeom prst="roundRect">
            <a:avLst>
              <a:gd name="adj" fmla="val 11111"/>
            </a:avLst>
          </a:prstGeom>
          <a:solidFill>
            <a:srgbClr val="FBFAF2"/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123950" y="3629025"/>
            <a:ext cx="127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蔬菜 VEGETABLES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123950" y="3810000"/>
            <a:ext cx="12921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r>
              <a:rPr lang="en-US" sz="1200" dirty="0">
                <a:solidFill>
                  <a:srgbClr val="8C948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✓ </a:t>
            </a:r>
            <a:r>
              <a:rPr lang="en-US" sz="975" dirty="0">
                <a:solidFill>
                  <a:srgbClr val="8C948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(example done)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70600" y="3467100"/>
            <a:ext cx="5346650" cy="1028700"/>
          </a:xfrm>
          <a:prstGeom prst="roundRect">
            <a:avLst>
              <a:gd name="adj" fmla="val 11111"/>
            </a:avLst>
          </a:prstGeom>
          <a:solidFill>
            <a:srgbClr val="FBFAF2"/>
          </a:solidFill>
          <a:ln w="19050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642050" y="3629025"/>
            <a:ext cx="841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 FRUITS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6642050" y="3810000"/>
            <a:ext cx="56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1988701" y="3467100"/>
            <a:ext cx="5346650" cy="1028700"/>
          </a:xfrm>
          <a:prstGeom prst="roundRect">
            <a:avLst>
              <a:gd name="adj" fmla="val 11111"/>
            </a:avLst>
          </a:prstGeom>
          <a:solidFill>
            <a:srgbClr val="FBFAF2"/>
          </a:solidFill>
          <a:ln w="19050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2160151" y="3629025"/>
            <a:ext cx="905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 SPORTS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12160151" y="3810000"/>
            <a:ext cx="56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52500" y="4857750"/>
            <a:ext cx="5359301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104900" y="4972050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1104900" y="5162550"/>
            <a:ext cx="3611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word done as an example: 黄瓜 → vegetables.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6464201" y="4857750"/>
            <a:ext cx="5359450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616601" y="4972050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6616601" y="5162550"/>
            <a:ext cx="4925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都-sentence per column, e.g. 黄瓜、青菜、土豆，都是蔬菜。</a:t>
            </a:r>
            <a:endParaRPr lang="en-US" sz="1125" dirty="0"/>
          </a:p>
        </p:txBody>
      </p:sp>
      <p:sp>
        <p:nvSpPr>
          <p:cNvPr id="68" name="Text 66"/>
          <p:cNvSpPr/>
          <p:nvPr/>
        </p:nvSpPr>
        <p:spPr>
          <a:xfrm>
            <a:off x="11976050" y="4857750"/>
            <a:ext cx="5359450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2128450" y="4972050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2128450" y="5162550"/>
            <a:ext cx="5034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Whiteboard/worksheet check with a partner before whole-class reveal.</a:t>
            </a:r>
            <a:endParaRPr lang="en-US" sz="1125" dirty="0"/>
          </a:p>
        </p:txBody>
      </p:sp>
      <p:sp>
        <p:nvSpPr>
          <p:cNvPr id="71" name="Shape 6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21797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Radical Dictation Grid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239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0810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09650"/>
            <a:ext cx="927646" cy="342900"/>
          </a:xfrm>
          <a:prstGeom prst="roundRect">
            <a:avLst>
              <a:gd name="adj" fmla="val 277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076325"/>
            <a:ext cx="577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9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5825" y="1023938"/>
            <a:ext cx="2374106" cy="314325"/>
          </a:xfrm>
          <a:prstGeom prst="roundRect">
            <a:avLst>
              <a:gd name="adj" fmla="val 3027273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7275" y="1081088"/>
            <a:ext cx="2071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Team Competition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09700"/>
            <a:ext cx="594952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部首听写方格 · Radical Dictation Grid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2500" y="1924050"/>
            <a:ext cx="92326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Cumulative Unit 3 + Unit 4 review — memorise the radical grid, then write each dictated radical back from memory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52500" y="2286000"/>
            <a:ext cx="4819650" cy="3505200"/>
          </a:xfrm>
          <a:prstGeom prst="roundRect">
            <a:avLst>
              <a:gd name="adj" fmla="val 5435"/>
            </a:avLst>
          </a:prstGeom>
          <a:noFill/>
          <a:ln w="2857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81075" y="2314575"/>
            <a:ext cx="4762500" cy="361950"/>
          </a:xfrm>
          <a:prstGeom prst="rect">
            <a:avLst/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19382" y="2381250"/>
            <a:ext cx="3085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 × 6 CUMULATIVE RADICAL GRID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981075" y="26765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28312" y="2686050"/>
            <a:ext cx="396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1342328" y="28003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74775" y="26765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21856" y="2686050"/>
            <a:ext cx="555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136029" y="28003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568476" y="267652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15552" y="2686050"/>
            <a:ext cx="560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929878" y="28003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62325" y="26765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09395" y="2686050"/>
            <a:ext cx="566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723578" y="28003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156025" y="26765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203103" y="2686050"/>
            <a:ext cx="55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517279" y="28003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49726" y="267652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96794" y="2686050"/>
            <a:ext cx="56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5311128" y="28003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81075" y="31908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28192" y="3200400"/>
            <a:ext cx="517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1342328" y="33147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774775" y="31908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821845" y="3200400"/>
            <a:ext cx="566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2136029" y="33147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568476" y="319087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615544" y="3200400"/>
            <a:ext cx="56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2929878" y="33147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362325" y="31908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409003" y="3200400"/>
            <a:ext cx="965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3723578" y="33147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156025" y="31908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202874" y="3200400"/>
            <a:ext cx="792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4517279" y="33147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949726" y="319087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996418" y="3200400"/>
            <a:ext cx="951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5311128" y="33147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81075" y="37052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027762" y="3714750"/>
            <a:ext cx="956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1342328" y="38290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774775" y="37052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821457" y="3714750"/>
            <a:ext cx="962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2136029" y="38290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2568476" y="370522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615165" y="3714750"/>
            <a:ext cx="954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2929878" y="38290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3362325" y="37052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409005" y="3714750"/>
            <a:ext cx="963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3723578" y="38290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4156025" y="37052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202754" y="3714750"/>
            <a:ext cx="913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675" dirty="0"/>
          </a:p>
        </p:txBody>
      </p:sp>
      <p:sp>
        <p:nvSpPr>
          <p:cNvPr id="68" name="Text 66"/>
          <p:cNvSpPr/>
          <p:nvPr/>
        </p:nvSpPr>
        <p:spPr>
          <a:xfrm>
            <a:off x="4517279" y="38290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4949726" y="370522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996407" y="3714750"/>
            <a:ext cx="962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5311128" y="38290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981075" y="42195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027755" y="4229100"/>
            <a:ext cx="963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675" dirty="0"/>
          </a:p>
        </p:txBody>
      </p:sp>
      <p:sp>
        <p:nvSpPr>
          <p:cNvPr id="74" name="Text 72"/>
          <p:cNvSpPr/>
          <p:nvPr/>
        </p:nvSpPr>
        <p:spPr>
          <a:xfrm>
            <a:off x="1342328" y="43434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1774775" y="42195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821298" y="4229100"/>
            <a:ext cx="112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2136029" y="43434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2568476" y="421957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2615168" y="4229100"/>
            <a:ext cx="951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</a:t>
            </a:r>
            <a:endParaRPr lang="en-US" sz="675" dirty="0"/>
          </a:p>
        </p:txBody>
      </p:sp>
      <p:sp>
        <p:nvSpPr>
          <p:cNvPr id="80" name="Text 78"/>
          <p:cNvSpPr/>
          <p:nvPr/>
        </p:nvSpPr>
        <p:spPr>
          <a:xfrm>
            <a:off x="2929878" y="43434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3362325" y="42195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3408861" y="4229100"/>
            <a:ext cx="1111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675" dirty="0"/>
          </a:p>
        </p:txBody>
      </p:sp>
      <p:sp>
        <p:nvSpPr>
          <p:cNvPr id="83" name="Text 81"/>
          <p:cNvSpPr/>
          <p:nvPr/>
        </p:nvSpPr>
        <p:spPr>
          <a:xfrm>
            <a:off x="3723578" y="43434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4156025" y="42195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4202557" y="4229100"/>
            <a:ext cx="1115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</a:t>
            </a:r>
            <a:endParaRPr lang="en-US" sz="675" dirty="0"/>
          </a:p>
        </p:txBody>
      </p:sp>
      <p:sp>
        <p:nvSpPr>
          <p:cNvPr id="86" name="Text 84"/>
          <p:cNvSpPr/>
          <p:nvPr/>
        </p:nvSpPr>
        <p:spPr>
          <a:xfrm>
            <a:off x="4517279" y="43434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4949726" y="421957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4996251" y="4229100"/>
            <a:ext cx="1121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</a:t>
            </a:r>
            <a:endParaRPr lang="en-US" sz="675" dirty="0"/>
          </a:p>
        </p:txBody>
      </p:sp>
      <p:sp>
        <p:nvSpPr>
          <p:cNvPr id="89" name="Text 87"/>
          <p:cNvSpPr/>
          <p:nvPr/>
        </p:nvSpPr>
        <p:spPr>
          <a:xfrm>
            <a:off x="5311128" y="43434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981075" y="47339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1027608" y="4743450"/>
            <a:ext cx="111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675" dirty="0"/>
          </a:p>
        </p:txBody>
      </p:sp>
      <p:sp>
        <p:nvSpPr>
          <p:cNvPr id="92" name="Text 90"/>
          <p:cNvSpPr/>
          <p:nvPr/>
        </p:nvSpPr>
        <p:spPr>
          <a:xfrm>
            <a:off x="1342328" y="48577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1774775" y="47339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1821299" y="4743450"/>
            <a:ext cx="1123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26</a:t>
            </a:r>
            <a:endParaRPr lang="en-US" sz="675" dirty="0"/>
          </a:p>
        </p:txBody>
      </p:sp>
      <p:sp>
        <p:nvSpPr>
          <p:cNvPr id="95" name="Text 93"/>
          <p:cNvSpPr/>
          <p:nvPr/>
        </p:nvSpPr>
        <p:spPr>
          <a:xfrm>
            <a:off x="2136029" y="48577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96" name="Text 94"/>
          <p:cNvSpPr/>
          <p:nvPr/>
        </p:nvSpPr>
        <p:spPr>
          <a:xfrm>
            <a:off x="2568476" y="473392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2615049" y="4743450"/>
            <a:ext cx="1073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</a:t>
            </a:r>
            <a:endParaRPr lang="en-US" sz="675" dirty="0"/>
          </a:p>
        </p:txBody>
      </p:sp>
      <p:sp>
        <p:nvSpPr>
          <p:cNvPr id="98" name="Text 96"/>
          <p:cNvSpPr/>
          <p:nvPr/>
        </p:nvSpPr>
        <p:spPr>
          <a:xfrm>
            <a:off x="2929878" y="48577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3362325" y="47339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3408852" y="4743450"/>
            <a:ext cx="112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</a:t>
            </a:r>
            <a:endParaRPr lang="en-US" sz="675" dirty="0"/>
          </a:p>
        </p:txBody>
      </p:sp>
      <p:sp>
        <p:nvSpPr>
          <p:cNvPr id="101" name="Text 99"/>
          <p:cNvSpPr/>
          <p:nvPr/>
        </p:nvSpPr>
        <p:spPr>
          <a:xfrm>
            <a:off x="3723578" y="48577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02" name="Text 100"/>
          <p:cNvSpPr/>
          <p:nvPr/>
        </p:nvSpPr>
        <p:spPr>
          <a:xfrm>
            <a:off x="4156025" y="473392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4202549" y="4743450"/>
            <a:ext cx="1123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</a:t>
            </a:r>
            <a:endParaRPr lang="en-US" sz="675" dirty="0"/>
          </a:p>
        </p:txBody>
      </p:sp>
      <p:sp>
        <p:nvSpPr>
          <p:cNvPr id="104" name="Text 102"/>
          <p:cNvSpPr/>
          <p:nvPr/>
        </p:nvSpPr>
        <p:spPr>
          <a:xfrm>
            <a:off x="4517279" y="48577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05" name="Text 103"/>
          <p:cNvSpPr/>
          <p:nvPr/>
        </p:nvSpPr>
        <p:spPr>
          <a:xfrm>
            <a:off x="4949726" y="473392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4996244" y="4743450"/>
            <a:ext cx="1129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</a:t>
            </a:r>
            <a:endParaRPr lang="en-US" sz="675" dirty="0"/>
          </a:p>
        </p:txBody>
      </p:sp>
      <p:sp>
        <p:nvSpPr>
          <p:cNvPr id="107" name="Text 105"/>
          <p:cNvSpPr/>
          <p:nvPr/>
        </p:nvSpPr>
        <p:spPr>
          <a:xfrm>
            <a:off x="5311128" y="485775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08" name="Text 106"/>
          <p:cNvSpPr/>
          <p:nvPr/>
        </p:nvSpPr>
        <p:spPr>
          <a:xfrm>
            <a:off x="981075" y="52482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1027762" y="5257800"/>
            <a:ext cx="956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</a:t>
            </a:r>
            <a:endParaRPr lang="en-US" sz="675" dirty="0"/>
          </a:p>
        </p:txBody>
      </p:sp>
      <p:sp>
        <p:nvSpPr>
          <p:cNvPr id="110" name="Text 108"/>
          <p:cNvSpPr/>
          <p:nvPr/>
        </p:nvSpPr>
        <p:spPr>
          <a:xfrm>
            <a:off x="1342328" y="53721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11" name="Text 109"/>
          <p:cNvSpPr/>
          <p:nvPr/>
        </p:nvSpPr>
        <p:spPr>
          <a:xfrm>
            <a:off x="1774775" y="52482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1821307" y="5257800"/>
            <a:ext cx="1115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32</a:t>
            </a:r>
            <a:endParaRPr lang="en-US" sz="675" dirty="0"/>
          </a:p>
        </p:txBody>
      </p:sp>
      <p:sp>
        <p:nvSpPr>
          <p:cNvPr id="113" name="Text 111"/>
          <p:cNvSpPr/>
          <p:nvPr/>
        </p:nvSpPr>
        <p:spPr>
          <a:xfrm>
            <a:off x="2136029" y="53721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14" name="Text 112"/>
          <p:cNvSpPr/>
          <p:nvPr/>
        </p:nvSpPr>
        <p:spPr>
          <a:xfrm>
            <a:off x="2568476" y="524827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2615002" y="5257800"/>
            <a:ext cx="1120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</a:t>
            </a:r>
            <a:endParaRPr lang="en-US" sz="675" dirty="0"/>
          </a:p>
        </p:txBody>
      </p:sp>
      <p:sp>
        <p:nvSpPr>
          <p:cNvPr id="116" name="Text 114"/>
          <p:cNvSpPr/>
          <p:nvPr/>
        </p:nvSpPr>
        <p:spPr>
          <a:xfrm>
            <a:off x="2929878" y="53721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3362325" y="52482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3408846" y="5257800"/>
            <a:ext cx="112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34</a:t>
            </a:r>
            <a:endParaRPr lang="en-US" sz="675" dirty="0"/>
          </a:p>
        </p:txBody>
      </p:sp>
      <p:sp>
        <p:nvSpPr>
          <p:cNvPr id="119" name="Text 117"/>
          <p:cNvSpPr/>
          <p:nvPr/>
        </p:nvSpPr>
        <p:spPr>
          <a:xfrm>
            <a:off x="3723578" y="53721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20" name="Text 118"/>
          <p:cNvSpPr/>
          <p:nvPr/>
        </p:nvSpPr>
        <p:spPr>
          <a:xfrm>
            <a:off x="4156025" y="5248275"/>
            <a:ext cx="793700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9"/>
          <p:cNvSpPr/>
          <p:nvPr/>
        </p:nvSpPr>
        <p:spPr>
          <a:xfrm>
            <a:off x="4202554" y="5257800"/>
            <a:ext cx="1118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35</a:t>
            </a:r>
            <a:endParaRPr lang="en-US" sz="675" dirty="0"/>
          </a:p>
        </p:txBody>
      </p:sp>
      <p:sp>
        <p:nvSpPr>
          <p:cNvPr id="122" name="Text 120"/>
          <p:cNvSpPr/>
          <p:nvPr/>
        </p:nvSpPr>
        <p:spPr>
          <a:xfrm>
            <a:off x="4517279" y="53721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23" name="Text 121"/>
          <p:cNvSpPr/>
          <p:nvPr/>
        </p:nvSpPr>
        <p:spPr>
          <a:xfrm>
            <a:off x="4949726" y="5248275"/>
            <a:ext cx="793849" cy="51435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22"/>
          <p:cNvSpPr/>
          <p:nvPr/>
        </p:nvSpPr>
        <p:spPr>
          <a:xfrm>
            <a:off x="4996245" y="5257800"/>
            <a:ext cx="1127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</a:t>
            </a:r>
            <a:endParaRPr lang="en-US" sz="675" dirty="0"/>
          </a:p>
        </p:txBody>
      </p:sp>
      <p:sp>
        <p:nvSpPr>
          <p:cNvPr id="125" name="Text 123"/>
          <p:cNvSpPr/>
          <p:nvPr/>
        </p:nvSpPr>
        <p:spPr>
          <a:xfrm>
            <a:off x="5311128" y="5372100"/>
            <a:ext cx="7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FC7A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?</a:t>
            </a:r>
            <a:endParaRPr lang="en-US" sz="1500" dirty="0"/>
          </a:p>
        </p:txBody>
      </p:sp>
      <p:sp>
        <p:nvSpPr>
          <p:cNvPr id="126" name="Text 124"/>
          <p:cNvSpPr/>
          <p:nvPr/>
        </p:nvSpPr>
        <p:spPr>
          <a:xfrm>
            <a:off x="6019800" y="2286000"/>
            <a:ext cx="11315700" cy="1790700"/>
          </a:xfrm>
          <a:prstGeom prst="roundRect">
            <a:avLst>
              <a:gd name="adj" fmla="val 106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25"/>
          <p:cNvSpPr/>
          <p:nvPr/>
        </p:nvSpPr>
        <p:spPr>
          <a:xfrm>
            <a:off x="6219825" y="2476500"/>
            <a:ext cx="1081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75" dirty="0"/>
          </a:p>
        </p:txBody>
      </p:sp>
      <p:sp>
        <p:nvSpPr>
          <p:cNvPr id="128" name="Text 126"/>
          <p:cNvSpPr/>
          <p:nvPr/>
        </p:nvSpPr>
        <p:spPr>
          <a:xfrm>
            <a:off x="6219825" y="2686050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275" dirty="0"/>
          </a:p>
        </p:txBody>
      </p:sp>
      <p:sp>
        <p:nvSpPr>
          <p:cNvPr id="129" name="Text 127"/>
          <p:cNvSpPr/>
          <p:nvPr/>
        </p:nvSpPr>
        <p:spPr>
          <a:xfrm>
            <a:off x="6534150" y="2657475"/>
            <a:ext cx="78997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textbook's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cumulative radical grid (p.97)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minutes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students memorise the positions.</a:t>
            </a:r>
            <a:endParaRPr lang="en-US" sz="1200" dirty="0"/>
          </a:p>
        </p:txBody>
      </p:sp>
      <p:sp>
        <p:nvSpPr>
          <p:cNvPr id="130" name="Text 128"/>
          <p:cNvSpPr/>
          <p:nvPr/>
        </p:nvSpPr>
        <p:spPr>
          <a:xfrm>
            <a:off x="6219825" y="3019425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275" dirty="0"/>
          </a:p>
        </p:txBody>
      </p:sp>
      <p:sp>
        <p:nvSpPr>
          <p:cNvPr id="131" name="Text 129"/>
          <p:cNvSpPr/>
          <p:nvPr/>
        </p:nvSpPr>
        <p:spPr>
          <a:xfrm>
            <a:off x="6534150" y="2990850"/>
            <a:ext cx="57779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Hide the grid. Teacher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dictates radicals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at a time by pinyin or meaning.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6219825" y="3352800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275" dirty="0"/>
          </a:p>
        </p:txBody>
      </p:sp>
      <p:sp>
        <p:nvSpPr>
          <p:cNvPr id="133" name="Text 131"/>
          <p:cNvSpPr/>
          <p:nvPr/>
        </p:nvSpPr>
        <p:spPr>
          <a:xfrm>
            <a:off x="6534150" y="3324225"/>
            <a:ext cx="77288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teams, students write each radical into its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grid square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memory on the blank template.</a:t>
            </a:r>
            <a:endParaRPr lang="en-US" sz="1200" dirty="0"/>
          </a:p>
        </p:txBody>
      </p:sp>
      <p:sp>
        <p:nvSpPr>
          <p:cNvPr id="134" name="Text 132"/>
          <p:cNvSpPr/>
          <p:nvPr/>
        </p:nvSpPr>
        <p:spPr>
          <a:xfrm>
            <a:off x="6219825" y="3686175"/>
            <a:ext cx="204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275" dirty="0"/>
          </a:p>
        </p:txBody>
      </p:sp>
      <p:sp>
        <p:nvSpPr>
          <p:cNvPr id="135" name="Text 133"/>
          <p:cNvSpPr/>
          <p:nvPr/>
        </p:nvSpPr>
        <p:spPr>
          <a:xfrm>
            <a:off x="6534150" y="3657600"/>
            <a:ext cx="21158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Most correct squares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wins.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6019800" y="4191000"/>
            <a:ext cx="11315700" cy="628650"/>
          </a:xfrm>
          <a:prstGeom prst="roundRect">
            <a:avLst>
              <a:gd name="adj" fmla="val 18182"/>
            </a:avLst>
          </a:prstGeom>
          <a:solidFill>
            <a:srgbClr val="C94F3D">
              <a:alpha val="10000"/>
            </a:srgbClr>
          </a:solidFill>
          <a:ln w="19050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Text 135"/>
          <p:cNvSpPr/>
          <p:nvPr/>
        </p:nvSpPr>
        <p:spPr>
          <a:xfrm>
            <a:off x="6191250" y="4391025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🗂️</a:t>
            </a:r>
            <a:endParaRPr lang="en-US" sz="1350" dirty="0"/>
          </a:p>
        </p:txBody>
      </p:sp>
      <p:sp>
        <p:nvSpPr>
          <p:cNvPr id="138" name="Text 136"/>
          <p:cNvSpPr/>
          <p:nvPr/>
        </p:nvSpPr>
        <p:spPr>
          <a:xfrm>
            <a:off x="6505575" y="4305300"/>
            <a:ext cx="11024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6505575" y="4533900"/>
            <a:ext cx="43744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 grid (p.97) on the projector + blank 6×6 grid template per team</a:t>
            </a:r>
            <a:endParaRPr lang="en-US" sz="975" dirty="0"/>
          </a:p>
        </p:txBody>
      </p:sp>
      <p:sp>
        <p:nvSpPr>
          <p:cNvPr id="140" name="Text 138"/>
          <p:cNvSpPr/>
          <p:nvPr/>
        </p:nvSpPr>
        <p:spPr>
          <a:xfrm>
            <a:off x="6019800" y="4886325"/>
            <a:ext cx="76767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Radicals: 寸米足木斗力 · 青立矢皿巾水 · 舌瓜羊禾弓田 · 自己包止士豆 · 夕心目方平土 · 角页食果欠石 — cumulative Unit 3 + Unit 4 review.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176588"/>
            <a:ext cx="915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500438"/>
            <a:ext cx="342957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443413"/>
            <a:ext cx="7658100" cy="2933700"/>
          </a:xfrm>
          <a:prstGeom prst="roundRect">
            <a:avLst>
              <a:gd name="adj" fmla="val 649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28775" y="4700588"/>
            <a:ext cx="2562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8775" y="49101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85925" y="49434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2150" y="49101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9300" y="49434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95525" y="49101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52675" y="49434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14625" y="4938713"/>
            <a:ext cx="457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这些/那些/一些 to describe groups of fruit or objects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28775" y="53101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85925" y="53435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2150" y="53101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19300" y="53435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95525" y="53101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52675" y="53435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14625" y="5338763"/>
            <a:ext cx="4463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……，都…… to say I like/dislike everything in a list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628775" y="57102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85925" y="57435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2150" y="57102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19300" y="57435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95525" y="57102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52675" y="57435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14625" y="5738813"/>
            <a:ext cx="4515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 the full Text 2 dialogue about fruit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628775" y="61102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685925" y="61436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62150" y="61102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19300" y="61436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95525" y="61102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352675" y="61436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14625" y="6138863"/>
            <a:ext cx="4730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 this unit's radicals from memory in a dictation game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9296400" y="4443413"/>
            <a:ext cx="7658100" cy="2933700"/>
          </a:xfrm>
          <a:prstGeom prst="roundRect">
            <a:avLst>
              <a:gd name="adj" fmla="val 649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591675" y="4700588"/>
            <a:ext cx="1139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91675" y="4910138"/>
            <a:ext cx="7067550" cy="8953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9615488" y="4910138"/>
            <a:ext cx="0" cy="895350"/>
          </a:xfrm>
          <a:prstGeom prst="line">
            <a:avLst/>
          </a:prstGeom>
          <a:noFill/>
          <a:ln w="47625">
            <a:solidFill>
              <a:srgbClr val="E08A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48850" y="5081588"/>
            <a:ext cx="403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9848850" y="5329238"/>
            <a:ext cx="45617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using 这些 or 那些 about food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9591675" y="5986463"/>
            <a:ext cx="7113112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responds with the target structure.
</a:t>
            </a: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4 criteria above.
</a:t>
            </a: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 we'll learn the measure word 种 (kind/type) and how to say ranges like "two or three kinds" — 两三种!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这些/那些/一些 + TEXT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63975" y="280988"/>
            <a:ext cx="1627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40228" y="2426940"/>
            <a:ext cx="2207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L7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715821" y="2712690"/>
            <a:ext cx="2856357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 </a:t>
            </a:r>
            <a:r>
              <a:rPr lang="en-US" sz="42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数量范围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303343" y="3468886"/>
            <a:ext cx="76811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measure word 种 (kind/type) + saying number ranges like 两三种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34050" y="4278511"/>
            <a:ext cx="329565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48703" y="4554736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🔢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75005" y="5326261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28807" y="5650111"/>
            <a:ext cx="21059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 for "kind/type"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258300" y="4278511"/>
            <a:ext cx="329565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672953" y="4554736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🍇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371773" y="5326261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两三种水果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805237" y="5650111"/>
            <a:ext cx="2201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"Two or three kinds" of fruit — number ranges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069634" y="6745486"/>
            <a:ext cx="4148584" cy="1381125"/>
          </a:xfrm>
          <a:prstGeom prst="roundRect">
            <a:avLst>
              <a:gd name="adj" fmla="val 13793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99063" y="6955036"/>
            <a:ext cx="889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744819" y="7202686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我每天吃两三种水果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94492" y="7688461"/>
            <a:ext cx="32988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eat two or three kinds of fruit every day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2026-08-01T05:43:16Z</dcterms:created>
  <dcterms:modified xsi:type="dcterms:W3CDTF">2026-08-01T05:43:16Z</dcterms:modified>
</cp:coreProperties>
</file>