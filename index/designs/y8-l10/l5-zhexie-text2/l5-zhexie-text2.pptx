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6800" y="2453580"/>
            <a:ext cx="167106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UNIT 4 · LESSON 10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6800" y="3082230"/>
            <a:ext cx="16710660" cy="184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5"/>
              </a:lnSpc>
              <a:spcBef>
                <a:spcPts val="1950"/>
              </a:spcBef>
              <a:spcAft>
                <a:spcPts val="750"/>
              </a:spcAft>
              <a:buNone/>
            </a:pPr>
            <a:r>
              <a:rPr lang="en-US" sz="14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endParaRPr lang="en-US" sz="14250" dirty="0"/>
          </a:p>
        </p:txBody>
      </p:sp>
      <p:sp>
        <p:nvSpPr>
          <p:cNvPr id="7" name="Text 5"/>
          <p:cNvSpPr/>
          <p:nvPr/>
        </p:nvSpPr>
        <p:spPr>
          <a:xfrm>
            <a:off x="1066800" y="5023396"/>
            <a:ext cx="1671066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These · 西瓜 · 梨 · Text 2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1066800" y="6271171"/>
            <a:ext cx="167106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50 minutes · 课本 p.95, 99</a:t>
            </a:r>
            <a:endParaRPr lang="en-US" sz="2250" dirty="0"/>
          </a:p>
        </p:txBody>
      </p:sp>
      <p:pic>
        <p:nvPicPr>
          <p:cNvPr id="9" name="Image 0" descr="/Users/luojiahai/code/deck/index/designs/y8-l10/img/xigu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7128421"/>
            <a:ext cx="1428750" cy="1428750"/>
          </a:xfrm>
          <a:prstGeom prst="rect">
            <a:avLst/>
          </a:prstGeom>
        </p:spPr>
      </p:pic>
      <p:pic>
        <p:nvPicPr>
          <p:cNvPr id="10" name="Image 1" descr="/Users/luojiahai/code/deck/index/designs/y8-l10/img/li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250" y="7128421"/>
            <a:ext cx="1428750" cy="1428750"/>
          </a:xfrm>
          <a:prstGeom prst="rect">
            <a:avLst/>
          </a:prstGeom>
        </p:spPr>
      </p:pic>
      <p:pic>
        <p:nvPicPr>
          <p:cNvPr id="11" name="Image 2" descr="/Users/luojiahai/code/deck/index/designs/y8-l10/img/pingguo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7700" y="7128421"/>
            <a:ext cx="1428750" cy="1428750"/>
          </a:xfrm>
          <a:prstGeom prst="rect">
            <a:avLst/>
          </a:prstGeom>
        </p:spPr>
      </p:pic>
      <p:pic>
        <p:nvPicPr>
          <p:cNvPr id="12" name="Image 3" descr="/Users/luojiahai/code/deck/index/designs/y8-l10/img/xiangjiao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3150" y="7128421"/>
            <a:ext cx="1428750" cy="1428750"/>
          </a:xfrm>
          <a:prstGeom prst="rect">
            <a:avLst/>
          </a:prstGeom>
        </p:spPr>
      </p:pic>
      <p:pic>
        <p:nvPicPr>
          <p:cNvPr id="13" name="Image 4" descr="/Users/luojiahai/code/deck/index/designs/y8-l10/img/juzi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8600" y="7128421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PINYIN AND ENGLISH, CHORALLY — THEN AGAIN AT DOUBLE SPEED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0369" y="2009775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</a:t>
            </a:r>
            <a:endParaRPr lang="en-US" sz="7050" dirty="0"/>
          </a:p>
        </p:txBody>
      </p:sp>
      <p:sp>
        <p:nvSpPr>
          <p:cNvPr id="8" name="Text 6"/>
          <p:cNvSpPr/>
          <p:nvPr/>
        </p:nvSpPr>
        <p:spPr>
          <a:xfrm>
            <a:off x="6451550" y="1666875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3720" y="2009775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</a:t>
            </a:r>
            <a:endParaRPr lang="en-US" sz="7050" dirty="0"/>
          </a:p>
        </p:txBody>
      </p:sp>
      <p:sp>
        <p:nvSpPr>
          <p:cNvPr id="10" name="Text 8"/>
          <p:cNvSpPr/>
          <p:nvPr/>
        </p:nvSpPr>
        <p:spPr>
          <a:xfrm>
            <a:off x="12064901" y="1666875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147070" y="2009775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香蕉</a:t>
            </a:r>
            <a:endParaRPr lang="en-US" sz="7050" dirty="0"/>
          </a:p>
        </p:txBody>
      </p:sp>
      <p:sp>
        <p:nvSpPr>
          <p:cNvPr id="12" name="Text 10"/>
          <p:cNvSpPr/>
          <p:nvPr/>
        </p:nvSpPr>
        <p:spPr>
          <a:xfrm>
            <a:off x="838200" y="3521273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0369" y="3864173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橘子</a:t>
            </a:r>
            <a:endParaRPr lang="en-US" sz="7050" dirty="0"/>
          </a:p>
        </p:txBody>
      </p:sp>
      <p:sp>
        <p:nvSpPr>
          <p:cNvPr id="14" name="Text 12"/>
          <p:cNvSpPr/>
          <p:nvPr/>
        </p:nvSpPr>
        <p:spPr>
          <a:xfrm>
            <a:off x="6451550" y="3521273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33720" y="3864173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endParaRPr lang="en-US" sz="7050" dirty="0"/>
          </a:p>
        </p:txBody>
      </p:sp>
      <p:sp>
        <p:nvSpPr>
          <p:cNvPr id="16" name="Text 14"/>
          <p:cNvSpPr/>
          <p:nvPr/>
        </p:nvSpPr>
        <p:spPr>
          <a:xfrm>
            <a:off x="12064901" y="3521273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147070" y="3864173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生菜</a:t>
            </a:r>
            <a:endParaRPr lang="en-US" sz="7050" dirty="0"/>
          </a:p>
        </p:txBody>
      </p:sp>
      <p:sp>
        <p:nvSpPr>
          <p:cNvPr id="18" name="Text 16"/>
          <p:cNvSpPr/>
          <p:nvPr/>
        </p:nvSpPr>
        <p:spPr>
          <a:xfrm>
            <a:off x="838200" y="5375672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20369" y="5718572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黄瓜</a:t>
            </a:r>
            <a:endParaRPr lang="en-US" sz="7050" dirty="0"/>
          </a:p>
        </p:txBody>
      </p:sp>
      <p:sp>
        <p:nvSpPr>
          <p:cNvPr id="20" name="Text 18"/>
          <p:cNvSpPr/>
          <p:nvPr/>
        </p:nvSpPr>
        <p:spPr>
          <a:xfrm>
            <a:off x="6451550" y="5375672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33720" y="5718572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土豆</a:t>
            </a:r>
            <a:endParaRPr lang="en-US" sz="7050" dirty="0"/>
          </a:p>
        </p:txBody>
      </p:sp>
      <p:sp>
        <p:nvSpPr>
          <p:cNvPr id="22" name="Text 20"/>
          <p:cNvSpPr/>
          <p:nvPr/>
        </p:nvSpPr>
        <p:spPr>
          <a:xfrm>
            <a:off x="12064901" y="5375672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147070" y="5718572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西红柿</a:t>
            </a:r>
            <a:endParaRPr lang="en-US" sz="7050" dirty="0"/>
          </a:p>
        </p:txBody>
      </p:sp>
      <p:sp>
        <p:nvSpPr>
          <p:cNvPr id="24" name="Text 22"/>
          <p:cNvSpPr/>
          <p:nvPr/>
        </p:nvSpPr>
        <p:spPr>
          <a:xfrm>
            <a:off x="838200" y="7001470"/>
            <a:ext cx="16611600" cy="1663898"/>
          </a:xfrm>
          <a:prstGeom prst="roundRect">
            <a:avLst>
              <a:gd name="adj" fmla="val 6869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23950" y="7230070"/>
            <a:ext cx="61606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ONE QUESTION ON YOUR WHITEBOARDS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123950" y="7515820"/>
            <a:ext cx="616069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in a full sentence with 都.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123950" y="7930158"/>
            <a:ext cx="6160690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苹果、香蕉、橘子，你都喜欢吃吗？</a:t>
            </a:r>
            <a:endParaRPr lang="en-US" sz="2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75736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185988"/>
            <a:ext cx="16611600" cy="1581150"/>
          </a:xfrm>
          <a:prstGeom prst="roundRect">
            <a:avLst>
              <a:gd name="adj" fmla="val 12048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90625" y="2424113"/>
            <a:ext cx="1622488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use 这些 / 那些 / 一些 to talk about groups of things, and to read the Text 2 dialogue about fruit.</a:t>
            </a:r>
            <a:endParaRPr lang="en-US" sz="3750" dirty="0"/>
          </a:p>
        </p:txBody>
      </p:sp>
      <p:sp>
        <p:nvSpPr>
          <p:cNvPr id="8" name="Text 6"/>
          <p:cNvSpPr/>
          <p:nvPr/>
        </p:nvSpPr>
        <p:spPr>
          <a:xfrm>
            <a:off x="838200" y="395763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我会……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4386263"/>
            <a:ext cx="16611600" cy="1123950"/>
          </a:xfrm>
          <a:prstGeom prst="roundRect">
            <a:avLst>
              <a:gd name="adj" fmla="val 1016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5375" y="4529138"/>
            <a:ext cx="36918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685925" y="4529138"/>
            <a:ext cx="431671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and write 西瓜 and 梨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685925" y="4938713"/>
            <a:ext cx="431671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 · 梨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8200" y="5634038"/>
            <a:ext cx="16611600" cy="1123950"/>
          </a:xfrm>
          <a:prstGeom prst="roundRect">
            <a:avLst>
              <a:gd name="adj" fmla="val 1016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5375" y="5776913"/>
            <a:ext cx="36918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685925" y="5776913"/>
            <a:ext cx="542428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这些、那些、一些 with a noun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685925" y="6186488"/>
            <a:ext cx="542428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我不喜欢吃这些水果。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8200" y="6881813"/>
            <a:ext cx="16611600" cy="1123950"/>
          </a:xfrm>
          <a:prstGeom prst="roundRect">
            <a:avLst>
              <a:gd name="adj" fmla="val 1016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95375" y="7024688"/>
            <a:ext cx="36918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685925" y="7024688"/>
            <a:ext cx="95574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read Text 2 aloud with a partner and answer questions about it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685925" y="7434263"/>
            <a:ext cx="955747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你喜欢吃什么水果？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38200" y="8129588"/>
            <a:ext cx="16611600" cy="1123950"/>
          </a:xfrm>
          <a:prstGeom prst="roundRect">
            <a:avLst>
              <a:gd name="adj" fmla="val 1016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5375" y="8272463"/>
            <a:ext cx="36918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685925" y="8272463"/>
            <a:ext cx="500226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who something belongs to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685925" y="8682038"/>
            <a:ext cx="50022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这些是谁的？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27082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0/img/xigu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3194745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52020" y="5709345"/>
            <a:ext cx="119667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xīguā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657600" y="6433245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3952726" y="7806630"/>
            <a:ext cx="1807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watermelon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4488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luojiahai/code/deck/index/designs/y8-l10/img/li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3194745"/>
            <a:ext cx="2381250" cy="2381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329047" y="5709345"/>
            <a:ext cx="2453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lí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12858750" y="6433245"/>
            <a:ext cx="1204722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梨</a:t>
            </a:r>
            <a:endParaRPr lang="en-US" sz="9300" dirty="0"/>
          </a:p>
        </p:txBody>
      </p:sp>
      <p:sp>
        <p:nvSpPr>
          <p:cNvPr id="15" name="Text 11"/>
          <p:cNvSpPr/>
          <p:nvPr/>
        </p:nvSpPr>
        <p:spPr>
          <a:xfrm>
            <a:off x="13109079" y="7806630"/>
            <a:ext cx="694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pear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fēicháng xǐhuan chī xīguā.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我非常喜欢吃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really like eating watermelon.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Lí hé píngguǒ wǒ dōu xǐhuan chī.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梨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和苹果我都喜欢吃。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both pears and apples.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chī xīguā hé lí.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梨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Straight out of Text 2 — the line you are about to read.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1714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102918"/>
            <a:ext cx="16611600" cy="3322141"/>
          </a:xfrm>
          <a:prstGeom prst="roundRect">
            <a:avLst>
              <a:gd name="adj" fmla="val 5734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474393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______ 喜欢吃西瓜。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4478238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 和 ______ 我都喜欢吃。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1304925" y="5653534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Mini whiteboards.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200" y="6615559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525" y="6853684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52525" y="7234684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clauses with 可是,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new words in the same sentence — then add when you eat it.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52525" y="7649021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我非常喜欢吃西瓜，可是我不太喜欢吃梨。夏天我每天都吃西瓜。</a:t>
            </a:r>
            <a:endParaRPr lang="en-US" sz="2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55094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91400" y="3140869"/>
            <a:ext cx="3505200" cy="5214938"/>
          </a:xfrm>
          <a:prstGeom prst="roundRect">
            <a:avLst>
              <a:gd name="adj" fmla="val 543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87966" y="4283869"/>
            <a:ext cx="133815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zhèxiē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715250" y="5064919"/>
            <a:ext cx="2914650" cy="150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3"/>
              </a:lnSpc>
              <a:buNone/>
            </a:pPr>
            <a:r>
              <a:rPr lang="en-US" sz="11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8727728" y="6755606"/>
            <a:ext cx="8491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46580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951583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1951583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142083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Zhèxiē shuǐguǒ hěn hǎo.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2599283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水果很好。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379440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fruits are good.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160490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160490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350990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bù xǐhuan chī zhèxiē shuǐguǒ.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4808190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5588347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like eating these fruits.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369397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369397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655989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Zhèxiē shuǐguǒ wǒ dōu bù xǐhuan chī, kěshì wǒ xǐhuan chī xīguā hé lí.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01709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水果我都不喜欢吃，可是我喜欢吃西瓜和梨。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779725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 cycles in one sentence.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38200" y="8387804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23950" y="8616404"/>
            <a:ext cx="107395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MISTAKE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23950" y="8902154"/>
            <a:ext cx="1073957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这些个水果 is wrong — 些 is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already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measure word. Never add 个 after it.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16512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650903"/>
            <a:ext cx="16611600" cy="2318296"/>
          </a:xfrm>
          <a:prstGeom prst="roundRect">
            <a:avLst>
              <a:gd name="adj" fmla="val 8217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4022378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 ________ 我 ________ 喜欢。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5197673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Characters, not pinyin.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8200" y="6159698"/>
            <a:ext cx="16611600" cy="1685925"/>
          </a:xfrm>
          <a:prstGeom prst="roundRect">
            <a:avLst>
              <a:gd name="adj" fmla="val 6780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6397823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2525" y="6778823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sentences — one each with 这些 / 那些 / 一些 — about three different categories: fruit, vegetables, and something from an earlier unit (衣服, 小说, 画儿). No word bank.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522464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READ THESE BACK — NO PINYIN, NO ENGLISH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0369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</a:t>
            </a:r>
            <a:endParaRPr lang="en-US" sz="7050" dirty="0"/>
          </a:p>
        </p:txBody>
      </p:sp>
      <p:sp>
        <p:nvSpPr>
          <p:cNvPr id="8" name="Text 6"/>
          <p:cNvSpPr/>
          <p:nvPr/>
        </p:nvSpPr>
        <p:spPr>
          <a:xfrm>
            <a:off x="6451550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3720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梨</a:t>
            </a:r>
            <a:endParaRPr lang="en-US" sz="7050" dirty="0"/>
          </a:p>
        </p:txBody>
      </p:sp>
      <p:sp>
        <p:nvSpPr>
          <p:cNvPr id="10" name="Text 8"/>
          <p:cNvSpPr/>
          <p:nvPr/>
        </p:nvSpPr>
        <p:spPr>
          <a:xfrm>
            <a:off x="12064901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147070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endParaRPr lang="en-US" sz="7050" dirty="0"/>
          </a:p>
        </p:txBody>
      </p:sp>
      <p:sp>
        <p:nvSpPr>
          <p:cNvPr id="12" name="Text 10"/>
          <p:cNvSpPr/>
          <p:nvPr/>
        </p:nvSpPr>
        <p:spPr>
          <a:xfrm>
            <a:off x="838200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0369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</a:t>
            </a:r>
            <a:endParaRPr lang="en-US" sz="7050" dirty="0"/>
          </a:p>
        </p:txBody>
      </p:sp>
      <p:sp>
        <p:nvSpPr>
          <p:cNvPr id="14" name="Text 12"/>
          <p:cNvSpPr/>
          <p:nvPr/>
        </p:nvSpPr>
        <p:spPr>
          <a:xfrm>
            <a:off x="6451550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33720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香蕉</a:t>
            </a:r>
            <a:endParaRPr lang="en-US" sz="7050" dirty="0"/>
          </a:p>
        </p:txBody>
      </p:sp>
      <p:sp>
        <p:nvSpPr>
          <p:cNvPr id="16" name="Text 14"/>
          <p:cNvSpPr/>
          <p:nvPr/>
        </p:nvSpPr>
        <p:spPr>
          <a:xfrm>
            <a:off x="12064901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147070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橘子</a:t>
            </a:r>
            <a:endParaRPr lang="en-US" sz="7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21456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词族 · A SHARED CHARACTER IS A SHARED CATEGORY — 练习册 EX.11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TEXT 2 — 课本 P.95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62100" y="1666875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chī shénme shuǐguǒ?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62100" y="2057400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你喜欢吃什么水果？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38200" y="2804071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62100" y="2804071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Píngguǒ、xiāngjiāo、júzi, wǒ dōu xǐhuan chī.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62100" y="3194596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苹果、香蕉、橘子，我都喜欢吃。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38200" y="3941266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62100" y="3941266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bù xǐhuan chī zhèxiē shuǐguǒ. Wǒ xǐhuan chī xīguā hé lí.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562100" y="4331791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我不喜欢吃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水果。我喜欢吃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梨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8200" y="5078462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62100" y="5078462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měi tiān dōu chī shuǐguǒ ma?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562100" y="5468987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你每天都吃水果吗？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8200" y="6215658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562100" y="6215658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měi tiān dōu chī liǎng sān zhǒng shuǐguǒ.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562100" y="6606183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我每天都吃两三种水果。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回答问题 · ANSWER IN CHINESE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8383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97000" y="1890713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6850" y="1838325"/>
            <a:ext cx="2829488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喜欢吃什么水果？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8200" y="2382738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6164" y="2435126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6850" y="2382738"/>
            <a:ext cx="2823264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喜欢吃什么水果？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8200" y="2927152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75568" y="2979539"/>
            <a:ext cx="1472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6850" y="2927152"/>
            <a:ext cx="2509635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每天吃水果吗？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8200" y="3347740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23950" y="3576340"/>
            <a:ext cx="109640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THAT LAST LINE · 两三种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23950" y="3862090"/>
            <a:ext cx="1096409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are reading it today, not learning it. 两三种 is next lesson's whole business.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TEXT 2 IN PAIRS — WE 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2715518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743075"/>
            <a:ext cx="24200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6 MINUTES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3336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7000" y="2386013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2333625"/>
            <a:ext cx="7369207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 A and B aloud from the handout with pinyin.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8200" y="2878038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6164" y="2930426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2878038"/>
            <a:ext cx="1704463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Swap roles.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8200" y="3422452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5568" y="3474839"/>
            <a:ext cx="1472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6850" y="3422452"/>
            <a:ext cx="9974782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 it a third time, handout face down, characters only on screen.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8200" y="396686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4824" y="4019252"/>
            <a:ext cx="1487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6850" y="3966865"/>
            <a:ext cx="7507956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Listen for 橘 (jú, not jū) and the neutral tone on 些.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8200" y="4577953"/>
            <a:ext cx="16611600" cy="1685925"/>
          </a:xfrm>
          <a:prstGeom prst="roundRect">
            <a:avLst>
              <a:gd name="adj" fmla="val 6780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52525" y="4816078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52525" y="5197078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 it from memory with the fruits swapped — B names three fruits that are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the book, A rejects them with 这些 and names two others. The last line stays as it is.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TRANSLATE INTO ENGLISH — 练习册 EX.15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3975795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743075"/>
            <a:ext cx="37055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YOUR BOOKS · 8 MINUTES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3336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7000" y="2386013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2333625"/>
            <a:ext cx="4184800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Translate all four sentences.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8200" y="2878038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6164" y="2930426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2878038"/>
            <a:ext cx="9595878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two sentences of your own — one with 这些, one with 那些.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8200" y="3546277"/>
            <a:ext cx="16611600" cy="2696170"/>
          </a:xfrm>
          <a:prstGeom prst="roundRect">
            <a:avLst>
              <a:gd name="adj" fmla="val 7066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90625" y="382250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 我不喜欢吃这些水果。你们有西瓜吗？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190625" y="435843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2. 那些画儿我都不喜欢。你们有国画儿吗？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1190625" y="489436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3. 这些电视节目我都不喜欢看。我们看动画片吧！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1190625" y="543029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4. 我有一些衣服太小了，但是很好看。你要吗？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838200" y="6432947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52525" y="6671072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52525" y="7052072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Translate the other way too, book closed. Then write a fifth sentence that uses 这些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都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可是 together.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52525" y="7466409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这些水果我都不喜欢吃，可是我妈妈说我应该每天吃。</a:t>
            </a:r>
            <a:endParaRPr lang="en-US" sz="2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这些……是谁的？ — TEXTBOOK P.99 EX.16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6902946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743075"/>
            <a:ext cx="66912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GROUPS OF FOUR · CARDS FACE DOWN · 9 MINUTES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3336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7000" y="2386013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2333625"/>
            <a:ext cx="5144509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Take two cards and ask the group.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8200" y="2878038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6164" y="2930426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2878038"/>
            <a:ext cx="4955512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Everyone must ask at least twice.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8200" y="3546277"/>
            <a:ext cx="16611600" cy="1624310"/>
          </a:xfrm>
          <a:prstGeom prst="roundRect">
            <a:avLst>
              <a:gd name="adj" fmla="val 11728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90625" y="382250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A：这些小说是你的吗？　B：不是我的。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190625" y="435843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A：那是谁的？　　　　　B：是小明的。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838200" y="5361087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52525" y="5599212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52525" y="5980212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asker may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use the card's word — describe the object in Chinese until someone names it, then ask the question. The answer must give a reason.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52525" y="6808887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是小明的，因为他每天都看。</a:t>
            </a:r>
            <a:endParaRPr lang="en-US" sz="2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卡片 · EIGHT OBJECTS, FACE DOWN IN THE MIDDLE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4403" y="2009775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</a:t>
            </a:r>
            <a:endParaRPr lang="en-US" sz="7050" dirty="0"/>
          </a:p>
        </p:txBody>
      </p:sp>
      <p:sp>
        <p:nvSpPr>
          <p:cNvPr id="8" name="Text 6"/>
          <p:cNvSpPr/>
          <p:nvPr/>
        </p:nvSpPr>
        <p:spPr>
          <a:xfrm>
            <a:off x="5048250" y="1666875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4453" y="2009775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杂志</a:t>
            </a:r>
            <a:endParaRPr lang="en-US" sz="7050" dirty="0"/>
          </a:p>
        </p:txBody>
      </p:sp>
      <p:sp>
        <p:nvSpPr>
          <p:cNvPr id="10" name="Text 8"/>
          <p:cNvSpPr/>
          <p:nvPr/>
        </p:nvSpPr>
        <p:spPr>
          <a:xfrm>
            <a:off x="9258300" y="1666875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54503" y="2009775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小人书</a:t>
            </a:r>
            <a:endParaRPr lang="en-US" sz="7050" dirty="0"/>
          </a:p>
        </p:txBody>
      </p:sp>
      <p:sp>
        <p:nvSpPr>
          <p:cNvPr id="12" name="Text 10"/>
          <p:cNvSpPr/>
          <p:nvPr/>
        </p:nvSpPr>
        <p:spPr>
          <a:xfrm>
            <a:off x="13468350" y="1666875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564553" y="2009775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画儿</a:t>
            </a:r>
            <a:endParaRPr lang="en-US" sz="7050" dirty="0"/>
          </a:p>
        </p:txBody>
      </p:sp>
      <p:sp>
        <p:nvSpPr>
          <p:cNvPr id="14" name="Text 12"/>
          <p:cNvSpPr/>
          <p:nvPr/>
        </p:nvSpPr>
        <p:spPr>
          <a:xfrm>
            <a:off x="838200" y="3521273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4403" y="3864173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网球</a:t>
            </a:r>
            <a:endParaRPr lang="en-US" sz="7050" dirty="0"/>
          </a:p>
        </p:txBody>
      </p:sp>
      <p:sp>
        <p:nvSpPr>
          <p:cNvPr id="16" name="Text 14"/>
          <p:cNvSpPr/>
          <p:nvPr/>
        </p:nvSpPr>
        <p:spPr>
          <a:xfrm>
            <a:off x="5048250" y="3521273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4453" y="3864173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短裤</a:t>
            </a:r>
            <a:endParaRPr lang="en-US" sz="7050" dirty="0"/>
          </a:p>
        </p:txBody>
      </p:sp>
      <p:sp>
        <p:nvSpPr>
          <p:cNvPr id="18" name="Text 16"/>
          <p:cNvSpPr/>
          <p:nvPr/>
        </p:nvSpPr>
        <p:spPr>
          <a:xfrm>
            <a:off x="9258300" y="3521273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54503" y="3864173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汗衫</a:t>
            </a:r>
            <a:endParaRPr lang="en-US" sz="7050" dirty="0"/>
          </a:p>
        </p:txBody>
      </p:sp>
      <p:sp>
        <p:nvSpPr>
          <p:cNvPr id="20" name="Text 18"/>
          <p:cNvSpPr/>
          <p:nvPr/>
        </p:nvSpPr>
        <p:spPr>
          <a:xfrm>
            <a:off x="13468350" y="3521273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564553" y="3864173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衣服</a:t>
            </a:r>
            <a:endParaRPr lang="en-US" sz="7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90232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我做到了吗？ 👍 / 😐 / 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388096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14425" y="2588121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762125" y="2588121"/>
            <a:ext cx="458708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and write 西瓜 and 梨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8200" y="3393877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4425" y="3593902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762125" y="3593902"/>
            <a:ext cx="576721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这些、那些、一些 with a noun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8200" y="4399657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14425" y="4599682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762125" y="4599682"/>
            <a:ext cx="798598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read Text 2 aloud and answer questions about it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8200" y="5405438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14425" y="5605463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762125" y="5605463"/>
            <a:ext cx="330949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这些是谁的？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8200" y="6287393"/>
            <a:ext cx="16611600" cy="1663898"/>
          </a:xfrm>
          <a:prstGeom prst="roundRect">
            <a:avLst>
              <a:gd name="adj" fmla="val 6869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23950" y="6515993"/>
            <a:ext cx="64425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23950" y="6801743"/>
            <a:ext cx="644259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Name at least three more fruits, in characters: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3950" y="7216080"/>
            <a:ext cx="6442591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我家冰箱里有苹果、____________ 。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838200" y="7951291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23950" y="8179891"/>
            <a:ext cx="99687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LESSON · 下节课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23950" y="8465641"/>
            <a:ext cx="996871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last lesson on this topic — how to say "two or three kinds", 两三种.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2026-09-14T04:55:10Z</dcterms:created>
  <dcterms:modified xsi:type="dcterms:W3CDTF">2026-09-14T04:55:10Z</dcterms:modified>
</cp:coreProperties>
</file>