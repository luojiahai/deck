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5034171" y="4476750"/>
            <a:ext cx="3901836" cy="533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0"/>
              </a:lnSpc>
              <a:buNone/>
            </a:pPr>
            <a:r>
              <a:rPr lang="en-US" sz="30000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菜</a:t>
            </a:r>
            <a:endParaRPr lang="en-US" sz="30000" dirty="0"/>
          </a:p>
        </p:txBody>
      </p:sp>
      <p:sp>
        <p:nvSpPr>
          <p:cNvPr id="3" name="Text 1"/>
          <p:cNvSpPr/>
          <p:nvPr/>
        </p:nvSpPr>
        <p:spPr>
          <a:xfrm>
            <a:off x="7279386" y="2824163"/>
            <a:ext cx="372893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1 OF 8 · Y8 UNIT 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558643" y="3090863"/>
            <a:ext cx="117056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0"/>
              </a:lnSpc>
              <a:buNone/>
            </a:pPr>
            <a:r>
              <a:rPr lang="en-US" sz="9000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蔬</a:t>
            </a:r>
            <a:endParaRPr lang="en-US" sz="9000" dirty="0"/>
          </a:p>
        </p:txBody>
      </p:sp>
      <p:sp>
        <p:nvSpPr>
          <p:cNvPr id="5" name="Text 3"/>
          <p:cNvSpPr/>
          <p:nvPr/>
        </p:nvSpPr>
        <p:spPr>
          <a:xfrm>
            <a:off x="7589371" y="4386263"/>
            <a:ext cx="310896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0"/>
              </a:lnSpc>
              <a:spcAft>
                <a:spcPts val="600"/>
              </a:spcAft>
              <a:buNone/>
            </a:pPr>
            <a:r>
              <a:rPr lang="en-US" sz="1200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蔬菜</a:t>
            </a:r>
            <a:endParaRPr lang="en-US" sz="12000" dirty="0"/>
          </a:p>
        </p:txBody>
      </p:sp>
      <p:sp>
        <p:nvSpPr>
          <p:cNvPr id="6" name="Text 4"/>
          <p:cNvSpPr/>
          <p:nvPr/>
        </p:nvSpPr>
        <p:spPr>
          <a:xfrm>
            <a:off x="7334186" y="6215063"/>
            <a:ext cx="361947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Vegetables Vocabulary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682938" y="7253288"/>
            <a:ext cx="128168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8 Chinese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440876" y="7253288"/>
            <a:ext cx="66126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50 mins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577693" y="7253288"/>
            <a:ext cx="135273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Vocab + Writing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390663" y="7253288"/>
            <a:ext cx="222348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轻松学中文 Book 2 · Unit 4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771525"/>
          </a:xfrm>
          <a:prstGeom prst="rect">
            <a:avLst/>
          </a:prstGeom>
          <a:solidFill>
            <a:srgbClr val="FBFAF2">
              <a:alpha val="9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766763"/>
            <a:ext cx="1828800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285750"/>
            <a:ext cx="214545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VEGETABLES VOCAB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3255913" y="280988"/>
            <a:ext cx="130142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0–8 min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5C8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143000" y="1219200"/>
            <a:ext cx="186203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94F3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0–8 MIN · REVIEW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43000" y="1524000"/>
            <a:ext cx="4909212" cy="695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回顾 · Unit 3 Hobbies</a:t>
            </a:r>
            <a:endParaRPr lang="en-US" sz="3900" dirty="0"/>
          </a:p>
        </p:txBody>
      </p:sp>
      <p:sp>
        <p:nvSpPr>
          <p:cNvPr id="9" name="Text 7"/>
          <p:cNvSpPr/>
          <p:nvPr/>
        </p:nvSpPr>
        <p:spPr>
          <a:xfrm>
            <a:off x="1143000" y="2486025"/>
            <a:ext cx="7810500" cy="2333625"/>
          </a:xfrm>
          <a:prstGeom prst="roundRect">
            <a:avLst>
              <a:gd name="adj" fmla="val 8163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419225" y="2762250"/>
            <a:ext cx="246758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50"/>
              </a:spcAft>
              <a:buNone/>
            </a:pPr>
            <a:r>
              <a:rPr lang="en-US" sz="1350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FLASHCARD RAPID FIRE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419225" y="3152775"/>
            <a:ext cx="7258050" cy="1238250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lnSpc>
                <a:spcPts val="2250"/>
              </a:lnSpc>
              <a:buSzPct val="100000"/>
              <a:buChar char="•"/>
            </a:pPr>
            <a:r>
              <a:rPr lang="en-US" sz="1500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shows a </a:t>
            </a:r>
            <a:r>
              <a:rPr lang="en-US" sz="1500" b="1" dirty="0">
                <a:solidFill>
                  <a:srgbClr val="24321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Unit 3 hobby word</a:t>
            </a:r>
            <a:r>
              <a:rPr lang="en-US" sz="1500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on the projector → class chorally says pinyin + English</a:t>
            </a:r>
            <a:endParaRPr lang="en-US" sz="1500" dirty="0"/>
          </a:p>
          <a:p>
            <a:pPr algn="l" marL="114300" indent="-114300">
              <a:lnSpc>
                <a:spcPts val="2250"/>
              </a:lnSpc>
              <a:buSzPct val="100000"/>
              <a:buChar char="•"/>
            </a:pPr>
            <a:r>
              <a:rPr lang="en-US" sz="1500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asks </a:t>
            </a:r>
            <a:r>
              <a:rPr lang="en-US" sz="1500" b="1" dirty="0">
                <a:solidFill>
                  <a:srgbClr val="24321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3–4 students</a:t>
            </a:r>
            <a:r>
              <a:rPr lang="en-US" sz="1500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"你喜欢做什么？" for quick oral answers, using </a:t>
            </a:r>
            <a:r>
              <a:rPr lang="en-US" sz="1500" b="1" dirty="0">
                <a:solidFill>
                  <a:srgbClr val="24321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非常喜欢 / 不太喜欢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334500" y="2486025"/>
            <a:ext cx="165163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50"/>
              </a:spcAft>
              <a:buNone/>
            </a:pPr>
            <a:r>
              <a:rPr lang="en-US" sz="1200" b="1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UNIT 3 · HOBBIES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334500" y="2695575"/>
            <a:ext cx="1107728" cy="638175"/>
          </a:xfrm>
          <a:prstGeom prst="roundRect">
            <a:avLst>
              <a:gd name="adj" fmla="val 17910"/>
            </a:avLst>
          </a:prstGeom>
          <a:solidFill>
            <a:srgbClr val="E8E2C8"/>
          </a:solidFill>
          <a:ln w="9525">
            <a:solidFill>
              <a:srgbClr val="CFC7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9496425" y="2781300"/>
            <a:ext cx="64122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弹钢琴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9496425" y="3086100"/>
            <a:ext cx="79955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the piano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537478" y="2695575"/>
            <a:ext cx="965895" cy="638175"/>
          </a:xfrm>
          <a:prstGeom prst="roundRect">
            <a:avLst>
              <a:gd name="adj" fmla="val 17910"/>
            </a:avLst>
          </a:prstGeom>
          <a:solidFill>
            <a:srgbClr val="E8E2C8"/>
          </a:solidFill>
          <a:ln w="9525">
            <a:solidFill>
              <a:srgbClr val="CFC7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0699403" y="2781300"/>
            <a:ext cx="42748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唱歌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10699403" y="3086100"/>
            <a:ext cx="65488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sing a song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598622" y="2695575"/>
            <a:ext cx="952500" cy="638175"/>
          </a:xfrm>
          <a:prstGeom prst="roundRect">
            <a:avLst>
              <a:gd name="adj" fmla="val 17910"/>
            </a:avLst>
          </a:prstGeom>
          <a:solidFill>
            <a:srgbClr val="E8E2C8"/>
          </a:solidFill>
          <a:ln w="9525">
            <a:solidFill>
              <a:srgbClr val="CFC7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1760547" y="2781300"/>
            <a:ext cx="64122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打网球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1760547" y="3086100"/>
            <a:ext cx="61071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tennis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2646372" y="2695575"/>
            <a:ext cx="742950" cy="638175"/>
          </a:xfrm>
          <a:prstGeom prst="roundRect">
            <a:avLst>
              <a:gd name="adj" fmla="val 17910"/>
            </a:avLst>
          </a:prstGeom>
          <a:solidFill>
            <a:srgbClr val="E8E2C8"/>
          </a:solidFill>
          <a:ln w="9525">
            <a:solidFill>
              <a:srgbClr val="CFC7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12808297" y="2781300"/>
            <a:ext cx="42748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跳舞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12808297" y="3086100"/>
            <a:ext cx="33973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dance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3484572" y="2695575"/>
            <a:ext cx="952500" cy="638175"/>
          </a:xfrm>
          <a:prstGeom prst="roundRect">
            <a:avLst>
              <a:gd name="adj" fmla="val 17910"/>
            </a:avLst>
          </a:prstGeom>
          <a:solidFill>
            <a:srgbClr val="E8E2C8"/>
          </a:solidFill>
          <a:ln w="9525">
            <a:solidFill>
              <a:srgbClr val="CFC7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13646497" y="2781300"/>
            <a:ext cx="64122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画画儿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3646497" y="3086100"/>
            <a:ext cx="27431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draw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4532322" y="2695575"/>
            <a:ext cx="742950" cy="638175"/>
          </a:xfrm>
          <a:prstGeom prst="roundRect">
            <a:avLst>
              <a:gd name="adj" fmla="val 17910"/>
            </a:avLst>
          </a:prstGeom>
          <a:solidFill>
            <a:srgbClr val="E8E2C8"/>
          </a:solidFill>
          <a:ln w="9525">
            <a:solidFill>
              <a:srgbClr val="CFC7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14694247" y="2781300"/>
            <a:ext cx="42748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游泳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14694247" y="3086100"/>
            <a:ext cx="28691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swim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334500" y="3486150"/>
            <a:ext cx="169049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94F3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LIKING LANGUAGE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334500" y="3790950"/>
            <a:ext cx="1162050" cy="638175"/>
          </a:xfrm>
          <a:prstGeom prst="roundRect">
            <a:avLst>
              <a:gd name="adj" fmla="val 17910"/>
            </a:avLst>
          </a:prstGeom>
          <a:solidFill>
            <a:srgbClr val="E8E2C8"/>
          </a:solidFill>
          <a:ln w="9525">
            <a:solidFill>
              <a:srgbClr val="CFC7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9496425" y="3876675"/>
            <a:ext cx="85496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非常喜欢</a:t>
            </a:r>
            <a:endParaRPr lang="en-US" sz="1650" dirty="0"/>
          </a:p>
        </p:txBody>
      </p:sp>
      <p:sp>
        <p:nvSpPr>
          <p:cNvPr id="34" name="Text 32"/>
          <p:cNvSpPr/>
          <p:nvPr/>
        </p:nvSpPr>
        <p:spPr>
          <a:xfrm>
            <a:off x="9496425" y="4181475"/>
            <a:ext cx="48896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like a lot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591800" y="3790950"/>
            <a:ext cx="1162050" cy="638175"/>
          </a:xfrm>
          <a:prstGeom prst="roundRect">
            <a:avLst>
              <a:gd name="adj" fmla="val 17910"/>
            </a:avLst>
          </a:prstGeom>
          <a:solidFill>
            <a:srgbClr val="E8E2C8"/>
          </a:solidFill>
          <a:ln w="9525">
            <a:solidFill>
              <a:srgbClr val="CFC7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10753725" y="3876675"/>
            <a:ext cx="85496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不太喜欢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10753725" y="4181475"/>
            <a:ext cx="75932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not really like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43000" y="5048250"/>
            <a:ext cx="16002000" cy="800100"/>
          </a:xfrm>
          <a:prstGeom prst="rect">
            <a:avLst/>
          </a:prstGeom>
          <a:solidFill>
            <a:srgbClr val="5C8A3A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Shape 37"/>
          <p:cNvSpPr/>
          <p:nvPr/>
        </p:nvSpPr>
        <p:spPr>
          <a:xfrm>
            <a:off x="1166813" y="5048250"/>
            <a:ext cx="0" cy="800100"/>
          </a:xfrm>
          <a:prstGeom prst="line">
            <a:avLst/>
          </a:prstGeom>
          <a:noFill/>
          <a:ln w="47625">
            <a:solidFill>
              <a:srgbClr val="5C8A3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419225" y="5200650"/>
            <a:ext cx="15546622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2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"You already know how to say how much you like an activity — </a:t>
            </a:r>
            <a:r>
              <a:rPr lang="en-US" sz="1425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非常喜欢, 不太喜欢</a:t>
            </a:r>
            <a:r>
              <a:rPr lang="en-US" sz="142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 Today we start a brand-new unit: food! First topic — </a:t>
            </a:r>
            <a:r>
              <a:rPr lang="en-US" sz="1425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vegetables 蔬菜</a:t>
            </a:r>
            <a:r>
              <a:rPr lang="en-US" sz="142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 We'll use the same liking-language to talk about what we eat."</a:t>
            </a:r>
            <a:endParaRPr lang="en-US" sz="1425" dirty="0"/>
          </a:p>
        </p:txBody>
      </p:sp>
      <p:sp>
        <p:nvSpPr>
          <p:cNvPr id="41" name="Shape 39"/>
          <p:cNvSpPr/>
          <p:nvPr/>
        </p:nvSpPr>
        <p:spPr>
          <a:xfrm>
            <a:off x="0" y="9786938"/>
            <a:ext cx="1828800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62000" y="9958388"/>
            <a:ext cx="323647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4 Vegetables &amp; Fruits 蔬菜、水果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771525"/>
          </a:xfrm>
          <a:prstGeom prst="rect">
            <a:avLst/>
          </a:prstGeom>
          <a:solidFill>
            <a:srgbClr val="FBFAF2">
              <a:alpha val="9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766763"/>
            <a:ext cx="1828800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285750"/>
            <a:ext cx="214545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VEGETABLES VOCAB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3255913" y="280988"/>
            <a:ext cx="130339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5C8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333500" y="2824163"/>
            <a:ext cx="367564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94F3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8–10 MIN · DISPLAY ON PROJECTOR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333500" y="3148013"/>
            <a:ext cx="5078019" cy="638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1333500" y="4090987"/>
            <a:ext cx="13992225" cy="1352550"/>
          </a:xfrm>
          <a:prstGeom prst="rect">
            <a:avLst/>
          </a:prstGeom>
          <a:solidFill>
            <a:srgbClr val="5C8A3A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1357313" y="4090987"/>
            <a:ext cx="0" cy="1352550"/>
          </a:xfrm>
          <a:prstGeom prst="line">
            <a:avLst/>
          </a:prstGeom>
          <a:noFill/>
          <a:ln w="47625">
            <a:solidFill>
              <a:srgbClr val="5C8A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685925" y="4300538"/>
            <a:ext cx="166104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1685925" y="4529138"/>
            <a:ext cx="13162074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>
                <a:solidFill>
                  <a:srgbClr val="24321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name common </a:t>
            </a:r>
            <a:r>
              <a:rPr lang="en-US" sz="1950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vegetables</a:t>
            </a:r>
            <a:r>
              <a:rPr lang="en-US" sz="1950" dirty="0">
                <a:solidFill>
                  <a:srgbClr val="24321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in Chinese and say how much we like (or don't like) eating them.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333500" y="5767388"/>
            <a:ext cx="361950" cy="361950"/>
          </a:xfrm>
          <a:prstGeom prst="roundRect">
            <a:avLst>
              <a:gd name="adj" fmla="val 252632"/>
            </a:avLst>
          </a:prstGeom>
          <a:noFill/>
          <a:ln w="19050">
            <a:solidFill>
              <a:srgbClr val="5C8A3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480096" y="5843588"/>
            <a:ext cx="7013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847850" y="5757863"/>
            <a:ext cx="756807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75"/>
              </a:lnSpc>
              <a:buNone/>
            </a:pPr>
            <a:r>
              <a:rPr lang="en-US" sz="1650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say </a:t>
            </a:r>
            <a:r>
              <a:rPr lang="en-US" sz="1650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蔬菜, 生菜, 黄瓜, 菜花儿, 土豆, 西红柿</a:t>
            </a:r>
            <a:r>
              <a:rPr lang="en-US" sz="1650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in Chinese </a:t>
            </a:r>
            <a:r>
              <a:rPr lang="en-US" sz="1650" i="1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(用拼音说出新词汇)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1333500" y="6300788"/>
            <a:ext cx="361950" cy="361950"/>
          </a:xfrm>
          <a:prstGeom prst="roundRect">
            <a:avLst>
              <a:gd name="adj" fmla="val 252632"/>
            </a:avLst>
          </a:prstGeom>
          <a:noFill/>
          <a:ln w="19050">
            <a:solidFill>
              <a:srgbClr val="5C8A3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466106" y="6376988"/>
            <a:ext cx="9852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847850" y="6291263"/>
            <a:ext cx="715728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75"/>
              </a:lnSpc>
              <a:buNone/>
            </a:pPr>
            <a:r>
              <a:rPr lang="en-US" sz="1650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use </a:t>
            </a:r>
            <a:r>
              <a:rPr lang="en-US" sz="1650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非常</a:t>
            </a:r>
            <a:r>
              <a:rPr lang="en-US" sz="1650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to say I like/dislike something a lot — </a:t>
            </a:r>
            <a:r>
              <a:rPr lang="en-US" sz="1650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我非常喜欢吃黄瓜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333500" y="6834188"/>
            <a:ext cx="361950" cy="361950"/>
          </a:xfrm>
          <a:prstGeom prst="roundRect">
            <a:avLst>
              <a:gd name="adj" fmla="val 252632"/>
            </a:avLst>
          </a:prstGeom>
          <a:noFill/>
          <a:ln w="19050">
            <a:solidFill>
              <a:srgbClr val="5C8A3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465808" y="6910388"/>
            <a:ext cx="9928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847850" y="6824663"/>
            <a:ext cx="67153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75"/>
              </a:lnSpc>
              <a:buNone/>
            </a:pPr>
            <a:r>
              <a:rPr lang="en-US" sz="1650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</a:t>
            </a:r>
            <a:r>
              <a:rPr lang="en-US" sz="1650" b="1" dirty="0">
                <a:solidFill>
                  <a:srgbClr val="24321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name at least 3 extra vegetables</a:t>
            </a:r>
            <a:r>
              <a:rPr lang="en-US" sz="1650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from the Extra Words list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1333500" y="7367587"/>
            <a:ext cx="361950" cy="361950"/>
          </a:xfrm>
          <a:prstGeom prst="roundRect">
            <a:avLst>
              <a:gd name="adj" fmla="val 252632"/>
            </a:avLst>
          </a:prstGeom>
          <a:noFill/>
          <a:ln w="19050">
            <a:solidFill>
              <a:srgbClr val="5C8A3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1465213" y="7443788"/>
            <a:ext cx="10034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847850" y="7358063"/>
            <a:ext cx="517426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75"/>
              </a:lnSpc>
              <a:buNone/>
            </a:pPr>
            <a:r>
              <a:rPr lang="en-US" sz="1650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</a:t>
            </a:r>
            <a:r>
              <a:rPr lang="en-US" sz="1650" b="1" dirty="0">
                <a:solidFill>
                  <a:srgbClr val="24321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draw and label</a:t>
            </a:r>
            <a:r>
              <a:rPr lang="en-US" sz="1650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vegetables I know in Chinese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0" y="9786938"/>
            <a:ext cx="1828800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2000" y="9958388"/>
            <a:ext cx="323647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4 Vegetables &amp; Fruits 蔬菜、水果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771525"/>
          </a:xfrm>
          <a:prstGeom prst="rect">
            <a:avLst/>
          </a:prstGeom>
          <a:solidFill>
            <a:srgbClr val="FBFAF2">
              <a:alpha val="9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766763"/>
            <a:ext cx="1828800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285750"/>
            <a:ext cx="214545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VEGETABLES VOCAB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3255913" y="280988"/>
            <a:ext cx="257096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New Vocabulary · 10–20 min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5C8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7250" y="1066800"/>
            <a:ext cx="163630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</a:t>
            </a:r>
            <a:endParaRPr lang="en-US" sz="1125" dirty="0"/>
          </a:p>
        </p:txBody>
      </p:sp>
      <p:sp>
        <p:nvSpPr>
          <p:cNvPr id="8" name="Text 6"/>
          <p:cNvSpPr/>
          <p:nvPr/>
        </p:nvSpPr>
        <p:spPr>
          <a:xfrm>
            <a:off x="857250" y="1323975"/>
            <a:ext cx="3821987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New Vocabulary · 词汇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857250" y="2057400"/>
            <a:ext cx="26899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CORE VOCABULARY · 12 WORDS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57250" y="2324100"/>
            <a:ext cx="3238500" cy="561975"/>
          </a:xfrm>
          <a:prstGeom prst="roundRect">
            <a:avLst>
              <a:gd name="adj" fmla="val 20339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981075" y="2428875"/>
            <a:ext cx="252603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蔬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323975" y="2428875"/>
            <a:ext cx="22026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shū</a:t>
            </a:r>
            <a:endParaRPr lang="en-US" sz="975" dirty="0"/>
          </a:p>
        </p:txBody>
      </p:sp>
      <p:sp>
        <p:nvSpPr>
          <p:cNvPr id="13" name="Text 11"/>
          <p:cNvSpPr/>
          <p:nvPr/>
        </p:nvSpPr>
        <p:spPr>
          <a:xfrm>
            <a:off x="1323975" y="2609850"/>
            <a:ext cx="65458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vegetables</a:t>
            </a:r>
            <a:endParaRPr lang="en-US" sz="975" dirty="0"/>
          </a:p>
        </p:txBody>
      </p:sp>
      <p:sp>
        <p:nvSpPr>
          <p:cNvPr id="14" name="Text 12"/>
          <p:cNvSpPr/>
          <p:nvPr/>
        </p:nvSpPr>
        <p:spPr>
          <a:xfrm>
            <a:off x="4191000" y="2324100"/>
            <a:ext cx="3238500" cy="561975"/>
          </a:xfrm>
          <a:prstGeom prst="roundRect">
            <a:avLst>
              <a:gd name="adj" fmla="val 20339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314825" y="2428875"/>
            <a:ext cx="252603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菜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4657725" y="2428875"/>
            <a:ext cx="18004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cài</a:t>
            </a:r>
            <a:endParaRPr lang="en-US" sz="975" dirty="0"/>
          </a:p>
        </p:txBody>
      </p:sp>
      <p:sp>
        <p:nvSpPr>
          <p:cNvPr id="17" name="Text 15"/>
          <p:cNvSpPr/>
          <p:nvPr/>
        </p:nvSpPr>
        <p:spPr>
          <a:xfrm>
            <a:off x="4657725" y="2609850"/>
            <a:ext cx="91948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vegetable; dish</a:t>
            </a:r>
            <a:endParaRPr lang="en-US" sz="975" dirty="0"/>
          </a:p>
        </p:txBody>
      </p:sp>
      <p:sp>
        <p:nvSpPr>
          <p:cNvPr id="18" name="Text 16"/>
          <p:cNvSpPr/>
          <p:nvPr/>
        </p:nvSpPr>
        <p:spPr>
          <a:xfrm>
            <a:off x="7524750" y="2324100"/>
            <a:ext cx="3238500" cy="561975"/>
          </a:xfrm>
          <a:prstGeom prst="roundRect">
            <a:avLst>
              <a:gd name="adj" fmla="val 20339"/>
            </a:avLst>
          </a:prstGeom>
          <a:solidFill>
            <a:srgbClr val="5C8A3A">
              <a:alpha val="12000"/>
            </a:srgbClr>
          </a:solidFill>
          <a:ln w="9525">
            <a:solidFill>
              <a:srgbClr val="5C8A3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648575" y="2428875"/>
            <a:ext cx="50520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蔬菜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8239125" y="2428875"/>
            <a:ext cx="40015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shūcài</a:t>
            </a:r>
            <a:endParaRPr lang="en-US" sz="975" dirty="0"/>
          </a:p>
        </p:txBody>
      </p:sp>
      <p:sp>
        <p:nvSpPr>
          <p:cNvPr id="21" name="Text 19"/>
          <p:cNvSpPr/>
          <p:nvPr/>
        </p:nvSpPr>
        <p:spPr>
          <a:xfrm>
            <a:off x="8239125" y="2609850"/>
            <a:ext cx="65458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vegetables</a:t>
            </a:r>
            <a:endParaRPr lang="en-US" sz="975" dirty="0"/>
          </a:p>
        </p:txBody>
      </p:sp>
      <p:sp>
        <p:nvSpPr>
          <p:cNvPr id="22" name="Text 20"/>
          <p:cNvSpPr/>
          <p:nvPr/>
        </p:nvSpPr>
        <p:spPr>
          <a:xfrm>
            <a:off x="10858500" y="2324100"/>
            <a:ext cx="3238500" cy="561975"/>
          </a:xfrm>
          <a:prstGeom prst="roundRect">
            <a:avLst>
              <a:gd name="adj" fmla="val 20339"/>
            </a:avLst>
          </a:prstGeom>
          <a:solidFill>
            <a:srgbClr val="5C8A3A">
              <a:alpha val="12000"/>
            </a:srgbClr>
          </a:solidFill>
          <a:ln w="9525">
            <a:solidFill>
              <a:srgbClr val="5C8A3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10982325" y="2428875"/>
            <a:ext cx="50520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生菜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11572875" y="2428875"/>
            <a:ext cx="5468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shēngcài</a:t>
            </a:r>
            <a:endParaRPr lang="en-US" sz="975" dirty="0"/>
          </a:p>
        </p:txBody>
      </p:sp>
      <p:sp>
        <p:nvSpPr>
          <p:cNvPr id="25" name="Text 23"/>
          <p:cNvSpPr/>
          <p:nvPr/>
        </p:nvSpPr>
        <p:spPr>
          <a:xfrm>
            <a:off x="11572875" y="2609850"/>
            <a:ext cx="41746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lettuce</a:t>
            </a:r>
            <a:endParaRPr lang="en-US" sz="975" dirty="0"/>
          </a:p>
        </p:txBody>
      </p:sp>
      <p:sp>
        <p:nvSpPr>
          <p:cNvPr id="26" name="Text 24"/>
          <p:cNvSpPr/>
          <p:nvPr/>
        </p:nvSpPr>
        <p:spPr>
          <a:xfrm>
            <a:off x="14192250" y="2324100"/>
            <a:ext cx="3238500" cy="561975"/>
          </a:xfrm>
          <a:prstGeom prst="roundRect">
            <a:avLst>
              <a:gd name="adj" fmla="val 20339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14316075" y="2428875"/>
            <a:ext cx="252603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非</a:t>
            </a:r>
            <a:endParaRPr lang="en-US" sz="1950" dirty="0"/>
          </a:p>
        </p:txBody>
      </p:sp>
      <p:sp>
        <p:nvSpPr>
          <p:cNvPr id="28" name="Text 26"/>
          <p:cNvSpPr/>
          <p:nvPr/>
        </p:nvSpPr>
        <p:spPr>
          <a:xfrm>
            <a:off x="14658975" y="2428875"/>
            <a:ext cx="1572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fēi</a:t>
            </a:r>
            <a:endParaRPr lang="en-US" sz="975" dirty="0"/>
          </a:p>
        </p:txBody>
      </p:sp>
      <p:sp>
        <p:nvSpPr>
          <p:cNvPr id="29" name="Text 27"/>
          <p:cNvSpPr/>
          <p:nvPr/>
        </p:nvSpPr>
        <p:spPr>
          <a:xfrm>
            <a:off x="14658975" y="2609850"/>
            <a:ext cx="65169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wrong; not</a:t>
            </a:r>
            <a:endParaRPr lang="en-US" sz="975" dirty="0"/>
          </a:p>
        </p:txBody>
      </p:sp>
      <p:sp>
        <p:nvSpPr>
          <p:cNvPr id="30" name="Text 28"/>
          <p:cNvSpPr/>
          <p:nvPr/>
        </p:nvSpPr>
        <p:spPr>
          <a:xfrm>
            <a:off x="857250" y="2981325"/>
            <a:ext cx="3238500" cy="561975"/>
          </a:xfrm>
          <a:prstGeom prst="roundRect">
            <a:avLst>
              <a:gd name="adj" fmla="val 20339"/>
            </a:avLst>
          </a:prstGeom>
          <a:solidFill>
            <a:srgbClr val="5C8A3A">
              <a:alpha val="12000"/>
            </a:srgbClr>
          </a:solidFill>
          <a:ln w="9525">
            <a:solidFill>
              <a:srgbClr val="5C8A3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981075" y="3086100"/>
            <a:ext cx="50520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非常</a:t>
            </a:r>
            <a:endParaRPr lang="en-US" sz="1950" dirty="0"/>
          </a:p>
        </p:txBody>
      </p:sp>
      <p:sp>
        <p:nvSpPr>
          <p:cNvPr id="32" name="Text 30"/>
          <p:cNvSpPr/>
          <p:nvPr/>
        </p:nvSpPr>
        <p:spPr>
          <a:xfrm>
            <a:off x="1571625" y="3086100"/>
            <a:ext cx="5287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fēicháng</a:t>
            </a:r>
            <a:endParaRPr lang="en-US" sz="975" dirty="0"/>
          </a:p>
        </p:txBody>
      </p:sp>
      <p:sp>
        <p:nvSpPr>
          <p:cNvPr id="33" name="Text 31"/>
          <p:cNvSpPr/>
          <p:nvPr/>
        </p:nvSpPr>
        <p:spPr>
          <a:xfrm>
            <a:off x="1571625" y="3267075"/>
            <a:ext cx="9199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very; extremely</a:t>
            </a:r>
            <a:endParaRPr lang="en-US" sz="975" dirty="0"/>
          </a:p>
        </p:txBody>
      </p:sp>
      <p:sp>
        <p:nvSpPr>
          <p:cNvPr id="34" name="Text 32"/>
          <p:cNvSpPr/>
          <p:nvPr/>
        </p:nvSpPr>
        <p:spPr>
          <a:xfrm>
            <a:off x="4191000" y="2981325"/>
            <a:ext cx="3238500" cy="561975"/>
          </a:xfrm>
          <a:prstGeom prst="roundRect">
            <a:avLst>
              <a:gd name="adj" fmla="val 20339"/>
            </a:avLst>
          </a:prstGeom>
          <a:solidFill>
            <a:srgbClr val="5C8A3A">
              <a:alpha val="12000"/>
            </a:srgbClr>
          </a:solidFill>
          <a:ln w="9525">
            <a:solidFill>
              <a:srgbClr val="5C8A3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314825" y="3086100"/>
            <a:ext cx="50520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黄瓜</a:t>
            </a:r>
            <a:endParaRPr lang="en-US" sz="1950" dirty="0"/>
          </a:p>
        </p:txBody>
      </p:sp>
      <p:sp>
        <p:nvSpPr>
          <p:cNvPr id="36" name="Text 34"/>
          <p:cNvSpPr/>
          <p:nvPr/>
        </p:nvSpPr>
        <p:spPr>
          <a:xfrm>
            <a:off x="4905375" y="3086100"/>
            <a:ext cx="59780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huángguā</a:t>
            </a:r>
            <a:endParaRPr lang="en-US" sz="975" dirty="0"/>
          </a:p>
        </p:txBody>
      </p:sp>
      <p:sp>
        <p:nvSpPr>
          <p:cNvPr id="37" name="Text 35"/>
          <p:cNvSpPr/>
          <p:nvPr/>
        </p:nvSpPr>
        <p:spPr>
          <a:xfrm>
            <a:off x="4905375" y="3267075"/>
            <a:ext cx="59886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cucumber</a:t>
            </a:r>
            <a:endParaRPr lang="en-US" sz="975" dirty="0"/>
          </a:p>
        </p:txBody>
      </p:sp>
      <p:sp>
        <p:nvSpPr>
          <p:cNvPr id="38" name="Text 36"/>
          <p:cNvSpPr/>
          <p:nvPr/>
        </p:nvSpPr>
        <p:spPr>
          <a:xfrm>
            <a:off x="7524750" y="2981325"/>
            <a:ext cx="3238500" cy="561975"/>
          </a:xfrm>
          <a:prstGeom prst="roundRect">
            <a:avLst>
              <a:gd name="adj" fmla="val 20339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7648575" y="3086100"/>
            <a:ext cx="252603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花</a:t>
            </a:r>
            <a:endParaRPr lang="en-US" sz="1950" dirty="0"/>
          </a:p>
        </p:txBody>
      </p:sp>
      <p:sp>
        <p:nvSpPr>
          <p:cNvPr id="40" name="Text 38"/>
          <p:cNvSpPr/>
          <p:nvPr/>
        </p:nvSpPr>
        <p:spPr>
          <a:xfrm>
            <a:off x="7991475" y="3086100"/>
            <a:ext cx="22042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huā</a:t>
            </a:r>
            <a:endParaRPr lang="en-US" sz="975" dirty="0"/>
          </a:p>
        </p:txBody>
      </p:sp>
      <p:sp>
        <p:nvSpPr>
          <p:cNvPr id="41" name="Text 39"/>
          <p:cNvSpPr/>
          <p:nvPr/>
        </p:nvSpPr>
        <p:spPr>
          <a:xfrm>
            <a:off x="7991475" y="3267075"/>
            <a:ext cx="37814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flower</a:t>
            </a:r>
            <a:endParaRPr lang="en-US" sz="975" dirty="0"/>
          </a:p>
        </p:txBody>
      </p:sp>
      <p:sp>
        <p:nvSpPr>
          <p:cNvPr id="42" name="Text 40"/>
          <p:cNvSpPr/>
          <p:nvPr/>
        </p:nvSpPr>
        <p:spPr>
          <a:xfrm>
            <a:off x="10858500" y="2981325"/>
            <a:ext cx="3238500" cy="561975"/>
          </a:xfrm>
          <a:prstGeom prst="roundRect">
            <a:avLst>
              <a:gd name="adj" fmla="val 20339"/>
            </a:avLst>
          </a:prstGeom>
          <a:solidFill>
            <a:srgbClr val="5C8A3A">
              <a:alpha val="12000"/>
            </a:srgbClr>
          </a:solidFill>
          <a:ln w="9525">
            <a:solidFill>
              <a:srgbClr val="5C8A3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10982325" y="3086100"/>
            <a:ext cx="757809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菜花儿</a:t>
            </a:r>
            <a:endParaRPr lang="en-US" sz="1950" dirty="0"/>
          </a:p>
        </p:txBody>
      </p:sp>
      <p:sp>
        <p:nvSpPr>
          <p:cNvPr id="44" name="Text 42"/>
          <p:cNvSpPr/>
          <p:nvPr/>
        </p:nvSpPr>
        <p:spPr>
          <a:xfrm>
            <a:off x="11820525" y="3086100"/>
            <a:ext cx="44994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càihuār</a:t>
            </a:r>
            <a:endParaRPr lang="en-US" sz="975" dirty="0"/>
          </a:p>
        </p:txBody>
      </p:sp>
      <p:sp>
        <p:nvSpPr>
          <p:cNvPr id="45" name="Text 43"/>
          <p:cNvSpPr/>
          <p:nvPr/>
        </p:nvSpPr>
        <p:spPr>
          <a:xfrm>
            <a:off x="11820525" y="3267075"/>
            <a:ext cx="6638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cauliflower</a:t>
            </a:r>
            <a:endParaRPr lang="en-US" sz="975" dirty="0"/>
          </a:p>
        </p:txBody>
      </p:sp>
      <p:sp>
        <p:nvSpPr>
          <p:cNvPr id="46" name="Text 44"/>
          <p:cNvSpPr/>
          <p:nvPr/>
        </p:nvSpPr>
        <p:spPr>
          <a:xfrm>
            <a:off x="14192250" y="2981325"/>
            <a:ext cx="3238500" cy="561975"/>
          </a:xfrm>
          <a:prstGeom prst="roundRect">
            <a:avLst>
              <a:gd name="adj" fmla="val 20339"/>
            </a:avLst>
          </a:prstGeom>
          <a:solidFill>
            <a:srgbClr val="5C8A3A">
              <a:alpha val="12000"/>
            </a:srgbClr>
          </a:solidFill>
          <a:ln w="9525">
            <a:solidFill>
              <a:srgbClr val="5C8A3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14316075" y="3086100"/>
            <a:ext cx="50520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土豆</a:t>
            </a:r>
            <a:endParaRPr lang="en-US" sz="1950" dirty="0"/>
          </a:p>
        </p:txBody>
      </p:sp>
      <p:sp>
        <p:nvSpPr>
          <p:cNvPr id="48" name="Text 46"/>
          <p:cNvSpPr/>
          <p:nvPr/>
        </p:nvSpPr>
        <p:spPr>
          <a:xfrm>
            <a:off x="14906625" y="3086100"/>
            <a:ext cx="35583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tǔdòu</a:t>
            </a:r>
            <a:endParaRPr lang="en-US" sz="975" dirty="0"/>
          </a:p>
        </p:txBody>
      </p:sp>
      <p:sp>
        <p:nvSpPr>
          <p:cNvPr id="49" name="Text 47"/>
          <p:cNvSpPr/>
          <p:nvPr/>
        </p:nvSpPr>
        <p:spPr>
          <a:xfrm>
            <a:off x="14906625" y="3267075"/>
            <a:ext cx="3978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potato</a:t>
            </a:r>
            <a:endParaRPr lang="en-US" sz="975" dirty="0"/>
          </a:p>
        </p:txBody>
      </p:sp>
      <p:sp>
        <p:nvSpPr>
          <p:cNvPr id="50" name="Text 48"/>
          <p:cNvSpPr/>
          <p:nvPr/>
        </p:nvSpPr>
        <p:spPr>
          <a:xfrm>
            <a:off x="857250" y="3638550"/>
            <a:ext cx="8239125" cy="561975"/>
          </a:xfrm>
          <a:prstGeom prst="roundRect">
            <a:avLst>
              <a:gd name="adj" fmla="val 20339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981075" y="3743325"/>
            <a:ext cx="252603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柿</a:t>
            </a:r>
            <a:endParaRPr lang="en-US" sz="1950" dirty="0"/>
          </a:p>
        </p:txBody>
      </p:sp>
      <p:sp>
        <p:nvSpPr>
          <p:cNvPr id="52" name="Text 50"/>
          <p:cNvSpPr/>
          <p:nvPr/>
        </p:nvSpPr>
        <p:spPr>
          <a:xfrm>
            <a:off x="1323975" y="3743325"/>
            <a:ext cx="17806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shì</a:t>
            </a:r>
            <a:endParaRPr lang="en-US" sz="975" dirty="0"/>
          </a:p>
        </p:txBody>
      </p:sp>
      <p:sp>
        <p:nvSpPr>
          <p:cNvPr id="53" name="Text 51"/>
          <p:cNvSpPr/>
          <p:nvPr/>
        </p:nvSpPr>
        <p:spPr>
          <a:xfrm>
            <a:off x="1323975" y="3924300"/>
            <a:ext cx="67067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persimmon</a:t>
            </a:r>
            <a:endParaRPr lang="en-US" sz="975" dirty="0"/>
          </a:p>
        </p:txBody>
      </p:sp>
      <p:sp>
        <p:nvSpPr>
          <p:cNvPr id="54" name="Text 52"/>
          <p:cNvSpPr/>
          <p:nvPr/>
        </p:nvSpPr>
        <p:spPr>
          <a:xfrm>
            <a:off x="9191625" y="3638550"/>
            <a:ext cx="8239125" cy="561975"/>
          </a:xfrm>
          <a:prstGeom prst="roundRect">
            <a:avLst>
              <a:gd name="adj" fmla="val 20339"/>
            </a:avLst>
          </a:prstGeom>
          <a:solidFill>
            <a:srgbClr val="5C8A3A">
              <a:alpha val="12000"/>
            </a:srgbClr>
          </a:solidFill>
          <a:ln w="9525">
            <a:solidFill>
              <a:srgbClr val="5C8A3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9315450" y="3743325"/>
            <a:ext cx="757809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西红柿</a:t>
            </a:r>
            <a:endParaRPr lang="en-US" sz="1950" dirty="0"/>
          </a:p>
        </p:txBody>
      </p:sp>
      <p:sp>
        <p:nvSpPr>
          <p:cNvPr id="56" name="Text 54"/>
          <p:cNvSpPr/>
          <p:nvPr/>
        </p:nvSpPr>
        <p:spPr>
          <a:xfrm>
            <a:off x="10153650" y="3743325"/>
            <a:ext cx="60600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xīhóngshì</a:t>
            </a:r>
            <a:endParaRPr lang="en-US" sz="975" dirty="0"/>
          </a:p>
        </p:txBody>
      </p:sp>
      <p:sp>
        <p:nvSpPr>
          <p:cNvPr id="57" name="Text 55"/>
          <p:cNvSpPr/>
          <p:nvPr/>
        </p:nvSpPr>
        <p:spPr>
          <a:xfrm>
            <a:off x="10153650" y="3924300"/>
            <a:ext cx="4320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tomato</a:t>
            </a:r>
            <a:endParaRPr lang="en-US" sz="975" dirty="0"/>
          </a:p>
        </p:txBody>
      </p:sp>
      <p:sp>
        <p:nvSpPr>
          <p:cNvPr id="58" name="Text 56"/>
          <p:cNvSpPr/>
          <p:nvPr/>
        </p:nvSpPr>
        <p:spPr>
          <a:xfrm>
            <a:off x="857250" y="4352925"/>
            <a:ext cx="276345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94F3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EXTRA WORDS · ACTIVITY 1, P.91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857250" y="4619625"/>
            <a:ext cx="3238500" cy="561975"/>
          </a:xfrm>
          <a:prstGeom prst="roundRect">
            <a:avLst>
              <a:gd name="adj" fmla="val 20339"/>
            </a:avLst>
          </a:prstGeom>
          <a:solidFill>
            <a:srgbClr val="C94F3D">
              <a:alpha val="10000"/>
            </a:srgbClr>
          </a:solidFill>
          <a:ln w="9525">
            <a:solidFill>
              <a:srgbClr val="C94F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981075" y="4724400"/>
            <a:ext cx="50520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青菜</a:t>
            </a:r>
            <a:endParaRPr lang="en-US" sz="1950" dirty="0"/>
          </a:p>
        </p:txBody>
      </p:sp>
      <p:sp>
        <p:nvSpPr>
          <p:cNvPr id="61" name="Text 59"/>
          <p:cNvSpPr/>
          <p:nvPr/>
        </p:nvSpPr>
        <p:spPr>
          <a:xfrm>
            <a:off x="1571625" y="4724400"/>
            <a:ext cx="46467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qīngcài</a:t>
            </a:r>
            <a:endParaRPr lang="en-US" sz="975" dirty="0"/>
          </a:p>
        </p:txBody>
      </p:sp>
      <p:sp>
        <p:nvSpPr>
          <p:cNvPr id="62" name="Text 60"/>
          <p:cNvSpPr/>
          <p:nvPr/>
        </p:nvSpPr>
        <p:spPr>
          <a:xfrm>
            <a:off x="1571625" y="4905375"/>
            <a:ext cx="41093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greens</a:t>
            </a:r>
            <a:endParaRPr lang="en-US" sz="975" dirty="0"/>
          </a:p>
        </p:txBody>
      </p:sp>
      <p:sp>
        <p:nvSpPr>
          <p:cNvPr id="63" name="Text 61"/>
          <p:cNvSpPr/>
          <p:nvPr/>
        </p:nvSpPr>
        <p:spPr>
          <a:xfrm>
            <a:off x="4191000" y="4619625"/>
            <a:ext cx="3238500" cy="561975"/>
          </a:xfrm>
          <a:prstGeom prst="roundRect">
            <a:avLst>
              <a:gd name="adj" fmla="val 20339"/>
            </a:avLst>
          </a:prstGeom>
          <a:solidFill>
            <a:srgbClr val="C94F3D">
              <a:alpha val="10000"/>
            </a:srgbClr>
          </a:solidFill>
          <a:ln w="9525">
            <a:solidFill>
              <a:srgbClr val="C94F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4314825" y="4724400"/>
            <a:ext cx="50520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冬瓜</a:t>
            </a:r>
            <a:endParaRPr lang="en-US" sz="1950" dirty="0"/>
          </a:p>
        </p:txBody>
      </p:sp>
      <p:sp>
        <p:nvSpPr>
          <p:cNvPr id="65" name="Text 63"/>
          <p:cNvSpPr/>
          <p:nvPr/>
        </p:nvSpPr>
        <p:spPr>
          <a:xfrm>
            <a:off x="4905375" y="4724400"/>
            <a:ext cx="53253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dōngguā</a:t>
            </a:r>
            <a:endParaRPr lang="en-US" sz="975" dirty="0"/>
          </a:p>
        </p:txBody>
      </p:sp>
      <p:sp>
        <p:nvSpPr>
          <p:cNvPr id="66" name="Text 64"/>
          <p:cNvSpPr/>
          <p:nvPr/>
        </p:nvSpPr>
        <p:spPr>
          <a:xfrm>
            <a:off x="4905375" y="4905375"/>
            <a:ext cx="78528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winter melon</a:t>
            </a:r>
            <a:endParaRPr lang="en-US" sz="975" dirty="0"/>
          </a:p>
        </p:txBody>
      </p:sp>
      <p:sp>
        <p:nvSpPr>
          <p:cNvPr id="67" name="Text 65"/>
          <p:cNvSpPr/>
          <p:nvPr/>
        </p:nvSpPr>
        <p:spPr>
          <a:xfrm>
            <a:off x="7524750" y="4619625"/>
            <a:ext cx="3238500" cy="561975"/>
          </a:xfrm>
          <a:prstGeom prst="roundRect">
            <a:avLst>
              <a:gd name="adj" fmla="val 20339"/>
            </a:avLst>
          </a:prstGeom>
          <a:solidFill>
            <a:srgbClr val="C94F3D">
              <a:alpha val="10000"/>
            </a:srgbClr>
          </a:solidFill>
          <a:ln w="9525">
            <a:solidFill>
              <a:srgbClr val="C94F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Text 66"/>
          <p:cNvSpPr/>
          <p:nvPr/>
        </p:nvSpPr>
        <p:spPr>
          <a:xfrm>
            <a:off x="7648575" y="4724400"/>
            <a:ext cx="50520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南瓜</a:t>
            </a:r>
            <a:endParaRPr lang="en-US" sz="1950" dirty="0"/>
          </a:p>
        </p:txBody>
      </p:sp>
      <p:sp>
        <p:nvSpPr>
          <p:cNvPr id="69" name="Text 67"/>
          <p:cNvSpPr/>
          <p:nvPr/>
        </p:nvSpPr>
        <p:spPr>
          <a:xfrm>
            <a:off x="8239125" y="4724400"/>
            <a:ext cx="4446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nánguā</a:t>
            </a:r>
            <a:endParaRPr lang="en-US" sz="975" dirty="0"/>
          </a:p>
        </p:txBody>
      </p:sp>
      <p:sp>
        <p:nvSpPr>
          <p:cNvPr id="70" name="Text 68"/>
          <p:cNvSpPr/>
          <p:nvPr/>
        </p:nvSpPr>
        <p:spPr>
          <a:xfrm>
            <a:off x="8239125" y="4905375"/>
            <a:ext cx="51507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pumpkin</a:t>
            </a:r>
            <a:endParaRPr lang="en-US" sz="975" dirty="0"/>
          </a:p>
        </p:txBody>
      </p:sp>
      <p:sp>
        <p:nvSpPr>
          <p:cNvPr id="71" name="Text 69"/>
          <p:cNvSpPr/>
          <p:nvPr/>
        </p:nvSpPr>
        <p:spPr>
          <a:xfrm>
            <a:off x="10858500" y="4619625"/>
            <a:ext cx="3238500" cy="561975"/>
          </a:xfrm>
          <a:prstGeom prst="roundRect">
            <a:avLst>
              <a:gd name="adj" fmla="val 20339"/>
            </a:avLst>
          </a:prstGeom>
          <a:solidFill>
            <a:srgbClr val="C94F3D">
              <a:alpha val="10000"/>
            </a:srgbClr>
          </a:solidFill>
          <a:ln w="9525">
            <a:solidFill>
              <a:srgbClr val="C94F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Text 70"/>
          <p:cNvSpPr/>
          <p:nvPr/>
        </p:nvSpPr>
        <p:spPr>
          <a:xfrm>
            <a:off x="10982325" y="4724400"/>
            <a:ext cx="757809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四季豆</a:t>
            </a:r>
            <a:endParaRPr lang="en-US" sz="1950" dirty="0"/>
          </a:p>
        </p:txBody>
      </p:sp>
      <p:sp>
        <p:nvSpPr>
          <p:cNvPr id="73" name="Text 71"/>
          <p:cNvSpPr/>
          <p:nvPr/>
        </p:nvSpPr>
        <p:spPr>
          <a:xfrm>
            <a:off x="11820525" y="4724400"/>
            <a:ext cx="40622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sìjìdòu</a:t>
            </a:r>
            <a:endParaRPr lang="en-US" sz="975" dirty="0"/>
          </a:p>
        </p:txBody>
      </p:sp>
      <p:sp>
        <p:nvSpPr>
          <p:cNvPr id="74" name="Text 72"/>
          <p:cNvSpPr/>
          <p:nvPr/>
        </p:nvSpPr>
        <p:spPr>
          <a:xfrm>
            <a:off x="11820525" y="4905375"/>
            <a:ext cx="75113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green beans</a:t>
            </a:r>
            <a:endParaRPr lang="en-US" sz="975" dirty="0"/>
          </a:p>
        </p:txBody>
      </p:sp>
      <p:sp>
        <p:nvSpPr>
          <p:cNvPr id="75" name="Text 73"/>
          <p:cNvSpPr/>
          <p:nvPr/>
        </p:nvSpPr>
        <p:spPr>
          <a:xfrm>
            <a:off x="14192250" y="4619625"/>
            <a:ext cx="3238500" cy="561975"/>
          </a:xfrm>
          <a:prstGeom prst="roundRect">
            <a:avLst>
              <a:gd name="adj" fmla="val 20339"/>
            </a:avLst>
          </a:prstGeom>
          <a:solidFill>
            <a:srgbClr val="C94F3D">
              <a:alpha val="10000"/>
            </a:srgbClr>
          </a:solidFill>
          <a:ln w="9525">
            <a:solidFill>
              <a:srgbClr val="C94F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14316075" y="4724400"/>
            <a:ext cx="757809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大白菜</a:t>
            </a:r>
            <a:endParaRPr lang="en-US" sz="1950" dirty="0"/>
          </a:p>
        </p:txBody>
      </p:sp>
      <p:sp>
        <p:nvSpPr>
          <p:cNvPr id="77" name="Text 75"/>
          <p:cNvSpPr/>
          <p:nvPr/>
        </p:nvSpPr>
        <p:spPr>
          <a:xfrm>
            <a:off x="15154275" y="4724400"/>
            <a:ext cx="51340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dàbáicài</a:t>
            </a:r>
            <a:endParaRPr lang="en-US" sz="975" dirty="0"/>
          </a:p>
        </p:txBody>
      </p:sp>
      <p:sp>
        <p:nvSpPr>
          <p:cNvPr id="78" name="Text 76"/>
          <p:cNvSpPr/>
          <p:nvPr/>
        </p:nvSpPr>
        <p:spPr>
          <a:xfrm>
            <a:off x="15154275" y="4905375"/>
            <a:ext cx="105322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Chinese cabbage</a:t>
            </a:r>
            <a:endParaRPr lang="en-US" sz="975" dirty="0"/>
          </a:p>
        </p:txBody>
      </p:sp>
      <p:sp>
        <p:nvSpPr>
          <p:cNvPr id="79" name="Text 77"/>
          <p:cNvSpPr/>
          <p:nvPr/>
        </p:nvSpPr>
        <p:spPr>
          <a:xfrm>
            <a:off x="857250" y="5314950"/>
            <a:ext cx="16573500" cy="628650"/>
          </a:xfrm>
          <a:prstGeom prst="roundRect">
            <a:avLst>
              <a:gd name="adj" fmla="val 18182"/>
            </a:avLst>
          </a:prstGeom>
          <a:solidFill>
            <a:srgbClr val="E08A3C">
              <a:alpha val="12000"/>
            </a:srgbClr>
          </a:solidFill>
          <a:ln w="19050">
            <a:solidFill>
              <a:srgbClr val="E08A3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Text 78"/>
          <p:cNvSpPr/>
          <p:nvPr/>
        </p:nvSpPr>
        <p:spPr>
          <a:xfrm>
            <a:off x="1085850" y="5486400"/>
            <a:ext cx="22345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24321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🥬</a:t>
            </a:r>
            <a:endParaRPr lang="en-US" sz="1650" dirty="0"/>
          </a:p>
        </p:txBody>
      </p:sp>
      <p:sp>
        <p:nvSpPr>
          <p:cNvPr id="81" name="Text 79"/>
          <p:cNvSpPr/>
          <p:nvPr/>
        </p:nvSpPr>
        <p:spPr>
          <a:xfrm>
            <a:off x="1438275" y="5438775"/>
            <a:ext cx="617328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75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菜</a:t>
            </a:r>
            <a:r>
              <a:rPr lang="en-US" sz="1200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is the "vegetable/dish" building block — it appears in </a:t>
            </a:r>
            <a:r>
              <a:rPr lang="en-US" sz="1275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蔬菜, 生菜,</a:t>
            </a:r>
            <a:r>
              <a:rPr lang="en-US" sz="1200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and </a:t>
            </a:r>
            <a:r>
              <a:rPr lang="en-US" sz="1275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菜花儿</a:t>
            </a:r>
            <a:endParaRPr lang="en-US" sz="1200" dirty="0"/>
          </a:p>
        </p:txBody>
      </p:sp>
      <p:sp>
        <p:nvSpPr>
          <p:cNvPr id="82" name="Text 80"/>
          <p:cNvSpPr/>
          <p:nvPr/>
        </p:nvSpPr>
        <p:spPr>
          <a:xfrm>
            <a:off x="1438275" y="5657850"/>
            <a:ext cx="808223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Just like 球 was the building block for sports in Unit 3. And 花 in 菜花儿 means "flower" — cauliflower looks like a vegetable flower!</a:t>
            </a:r>
            <a:endParaRPr lang="en-US" sz="975" dirty="0"/>
          </a:p>
        </p:txBody>
      </p:sp>
      <p:sp>
        <p:nvSpPr>
          <p:cNvPr id="83" name="Shape 81"/>
          <p:cNvSpPr/>
          <p:nvPr/>
        </p:nvSpPr>
        <p:spPr>
          <a:xfrm>
            <a:off x="0" y="9786938"/>
            <a:ext cx="1828800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62000" y="9958388"/>
            <a:ext cx="323647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4 Vegetables &amp; Fruits 蔬菜、水果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771525"/>
          </a:xfrm>
          <a:prstGeom prst="rect">
            <a:avLst/>
          </a:prstGeom>
          <a:solidFill>
            <a:srgbClr val="FBFAF2">
              <a:alpha val="9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766763"/>
            <a:ext cx="1828800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285750"/>
            <a:ext cx="214545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VEGETABLES VOCAB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3255913" y="280988"/>
            <a:ext cx="202932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Key Sentence Pattern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5C8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333500" y="1181100"/>
            <a:ext cx="17454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333500" y="1485900"/>
            <a:ext cx="6099816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关键句型 · Key Sentence Pattern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333500" y="2133600"/>
            <a:ext cx="509486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25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to say you like eating vegetables — and which ones</a:t>
            </a:r>
            <a:endParaRPr lang="en-US" sz="1425" dirty="0"/>
          </a:p>
        </p:txBody>
      </p:sp>
      <p:sp>
        <p:nvSpPr>
          <p:cNvPr id="10" name="Text 8"/>
          <p:cNvSpPr/>
          <p:nvPr/>
        </p:nvSpPr>
        <p:spPr>
          <a:xfrm>
            <a:off x="1333500" y="2590800"/>
            <a:ext cx="2647950" cy="666750"/>
          </a:xfrm>
          <a:prstGeom prst="roundRect">
            <a:avLst>
              <a:gd name="adj" fmla="val 28571"/>
            </a:avLst>
          </a:prstGeom>
          <a:solidFill>
            <a:srgbClr val="E8E2C8"/>
          </a:solidFill>
          <a:ln w="28575">
            <a:solidFill>
              <a:srgbClr val="5C8A3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590675" y="2733675"/>
            <a:ext cx="217627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你喜欢吃蔬菜吗？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4114800" y="2767013"/>
            <a:ext cx="23317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476750" y="2590800"/>
            <a:ext cx="2381250" cy="666750"/>
          </a:xfrm>
          <a:prstGeom prst="roundRect">
            <a:avLst>
              <a:gd name="adj" fmla="val 28571"/>
            </a:avLst>
          </a:prstGeom>
          <a:solidFill>
            <a:srgbClr val="E8E2C8"/>
          </a:solidFill>
          <a:ln w="28575">
            <a:solidFill>
              <a:srgbClr val="5C8A3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733925" y="2733675"/>
            <a:ext cx="190423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我非常喜欢吃。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7067550" y="2805113"/>
            <a:ext cx="4358009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"Do you like eating vegetables? I like it very much."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1333500" y="3409950"/>
            <a:ext cx="2914650" cy="666750"/>
          </a:xfrm>
          <a:prstGeom prst="roundRect">
            <a:avLst>
              <a:gd name="adj" fmla="val 28571"/>
            </a:avLst>
          </a:prstGeom>
          <a:solidFill>
            <a:srgbClr val="E8E2C8"/>
          </a:solidFill>
          <a:ln w="28575">
            <a:solidFill>
              <a:srgbClr val="5C8A3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590675" y="3552825"/>
            <a:ext cx="244830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你喜欢吃什么蔬菜？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4381500" y="3586163"/>
            <a:ext cx="23317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743450" y="3409950"/>
            <a:ext cx="2304752" cy="666750"/>
          </a:xfrm>
          <a:prstGeom prst="roundRect">
            <a:avLst>
              <a:gd name="adj" fmla="val 28571"/>
            </a:avLst>
          </a:prstGeom>
          <a:solidFill>
            <a:srgbClr val="E8E2C8"/>
          </a:solidFill>
          <a:ln w="28575">
            <a:solidFill>
              <a:srgbClr val="5C8A3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000625" y="3552825"/>
            <a:ext cx="182621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我喜欢吃</a:t>
            </a:r>
            <a:r>
              <a:rPr lang="en-US" sz="2100" b="1" dirty="0">
                <a:solidFill>
                  <a:srgbClr val="C94F3D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X</a:t>
            </a:r>
            <a:r>
              <a:rPr lang="en-US" sz="2100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……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7257752" y="3624263"/>
            <a:ext cx="400901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"What vegetables do you like? I like eating X..."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1333500" y="4229100"/>
            <a:ext cx="15621000" cy="571500"/>
          </a:xfrm>
          <a:prstGeom prst="roundRect">
            <a:avLst>
              <a:gd name="adj" fmla="val 20000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1552575" y="4352925"/>
            <a:ext cx="24288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75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</a:t>
            </a:r>
            <a:r>
              <a:rPr lang="en-US" sz="1875" b="1" dirty="0">
                <a:solidFill>
                  <a:srgbClr val="5C8A3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非常喜欢吃</a:t>
            </a:r>
            <a:r>
              <a:rPr lang="en-US" sz="1875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西红柿。</a:t>
            </a:r>
            <a:endParaRPr lang="en-US" sz="1875" dirty="0"/>
          </a:p>
        </p:txBody>
      </p:sp>
      <p:sp>
        <p:nvSpPr>
          <p:cNvPr id="24" name="Text 22"/>
          <p:cNvSpPr/>
          <p:nvPr/>
        </p:nvSpPr>
        <p:spPr>
          <a:xfrm>
            <a:off x="14777591" y="4414838"/>
            <a:ext cx="199699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really like eating tomatoes.</a:t>
            </a:r>
            <a:endParaRPr lang="en-US" sz="1125" dirty="0"/>
          </a:p>
        </p:txBody>
      </p:sp>
      <p:sp>
        <p:nvSpPr>
          <p:cNvPr id="25" name="Text 23"/>
          <p:cNvSpPr/>
          <p:nvPr/>
        </p:nvSpPr>
        <p:spPr>
          <a:xfrm>
            <a:off x="1333500" y="4895850"/>
            <a:ext cx="15621000" cy="571500"/>
          </a:xfrm>
          <a:prstGeom prst="roundRect">
            <a:avLst>
              <a:gd name="adj" fmla="val 20000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1552575" y="5019675"/>
            <a:ext cx="2185988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75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</a:t>
            </a:r>
            <a:r>
              <a:rPr lang="en-US" sz="1875" b="1" dirty="0">
                <a:solidFill>
                  <a:srgbClr val="5C8A3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不太喜欢吃</a:t>
            </a:r>
            <a:r>
              <a:rPr lang="en-US" sz="1875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生菜。</a:t>
            </a:r>
            <a:endParaRPr lang="en-US" sz="1875" dirty="0"/>
          </a:p>
        </p:txBody>
      </p:sp>
      <p:sp>
        <p:nvSpPr>
          <p:cNvPr id="27" name="Text 25"/>
          <p:cNvSpPr/>
          <p:nvPr/>
        </p:nvSpPr>
        <p:spPr>
          <a:xfrm>
            <a:off x="14550182" y="5081588"/>
            <a:ext cx="222894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don't really like eating lettuce.</a:t>
            </a:r>
            <a:endParaRPr lang="en-US" sz="1125" dirty="0"/>
          </a:p>
        </p:txBody>
      </p:sp>
      <p:sp>
        <p:nvSpPr>
          <p:cNvPr id="28" name="Text 26"/>
          <p:cNvSpPr/>
          <p:nvPr/>
        </p:nvSpPr>
        <p:spPr>
          <a:xfrm>
            <a:off x="1333500" y="5562600"/>
            <a:ext cx="15621000" cy="571500"/>
          </a:xfrm>
          <a:prstGeom prst="roundRect">
            <a:avLst>
              <a:gd name="adj" fmla="val 20000"/>
            </a:avLst>
          </a:prstGeom>
          <a:solidFill>
            <a:srgbClr val="C94F3D">
              <a:alpha val="10000"/>
            </a:srgbClr>
          </a:solidFill>
          <a:ln w="9525">
            <a:solidFill>
              <a:srgbClr val="C94F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1552575" y="5686425"/>
            <a:ext cx="4897219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75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</a:t>
            </a:r>
            <a:r>
              <a:rPr lang="en-US" sz="1875" b="1" dirty="0">
                <a:solidFill>
                  <a:srgbClr val="5C8A3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非常喜欢吃</a:t>
            </a:r>
            <a:r>
              <a:rPr lang="en-US" sz="1875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土豆、土豆、土豆！</a:t>
            </a:r>
            <a:r>
              <a:rPr lang="en-US" sz="900" b="1" dirty="0">
                <a:solidFill>
                  <a:srgbClr val="C94F3D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SILLY EXAMPLE</a:t>
            </a:r>
            <a:endParaRPr lang="en-US" sz="1875" dirty="0"/>
          </a:p>
        </p:txBody>
      </p:sp>
      <p:sp>
        <p:nvSpPr>
          <p:cNvPr id="30" name="Text 28"/>
          <p:cNvSpPr/>
          <p:nvPr/>
        </p:nvSpPr>
        <p:spPr>
          <a:xfrm>
            <a:off x="13883283" y="5748338"/>
            <a:ext cx="290918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really like eating potato, potato, potato!</a:t>
            </a:r>
            <a:endParaRPr lang="en-US" sz="1125" dirty="0"/>
          </a:p>
        </p:txBody>
      </p:sp>
      <p:sp>
        <p:nvSpPr>
          <p:cNvPr id="31" name="Text 29"/>
          <p:cNvSpPr/>
          <p:nvPr/>
        </p:nvSpPr>
        <p:spPr>
          <a:xfrm>
            <a:off x="1333500" y="6324600"/>
            <a:ext cx="393675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非常</a:t>
            </a:r>
            <a:r>
              <a:rPr lang="en-US" sz="1050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comes right before </a:t>
            </a:r>
            <a:r>
              <a:rPr lang="en-US" sz="1050" b="1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喜欢</a:t>
            </a:r>
            <a:r>
              <a:rPr lang="en-US" sz="1050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never between 喜欢 and 吃.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0" y="9786938"/>
            <a:ext cx="1828800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62000" y="9958388"/>
            <a:ext cx="323647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4 Vegetables &amp; Fruits 蔬菜、水果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771525"/>
          </a:xfrm>
          <a:prstGeom prst="rect">
            <a:avLst/>
          </a:prstGeom>
          <a:solidFill>
            <a:srgbClr val="FBFAF2">
              <a:alpha val="9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766763"/>
            <a:ext cx="1828800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285750"/>
            <a:ext cx="214545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VEGETABLES VOCAB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3255913" y="280988"/>
            <a:ext cx="171584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CFU Checkpoints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5C8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333500" y="2557463"/>
            <a:ext cx="361598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CHECK FOR UNDERSTANDING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333500" y="2881313"/>
            <a:ext cx="3616139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理解检查 · CFU</a:t>
            </a:r>
            <a:endParaRPr lang="en-US" sz="3750" dirty="0"/>
          </a:p>
        </p:txBody>
      </p:sp>
      <p:sp>
        <p:nvSpPr>
          <p:cNvPr id="9" name="Text 7"/>
          <p:cNvSpPr/>
          <p:nvPr/>
        </p:nvSpPr>
        <p:spPr>
          <a:xfrm>
            <a:off x="1333500" y="3662362"/>
            <a:ext cx="438791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Respond as prompted for each question </a:t>
            </a:r>
            <a:r>
              <a:rPr lang="en-US" sz="975" b="1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CFU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33500" y="4271963"/>
            <a:ext cx="15621000" cy="1133475"/>
          </a:xfrm>
          <a:prstGeom prst="roundRect">
            <a:avLst>
              <a:gd name="adj" fmla="val 16807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609725" y="4491038"/>
            <a:ext cx="419100" cy="419100"/>
          </a:xfrm>
          <a:prstGeom prst="roundRect">
            <a:avLst>
              <a:gd name="adj" fmla="val 218182"/>
            </a:avLst>
          </a:prstGeom>
          <a:solidFill>
            <a:srgbClr val="5C8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772692" y="4557713"/>
            <a:ext cx="9503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2219325" y="4538663"/>
            <a:ext cx="500667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4321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does </a:t>
            </a:r>
            <a:r>
              <a:rPr lang="en-US" sz="2100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黄瓜</a:t>
            </a:r>
            <a:r>
              <a:rPr lang="en-US" sz="1800" dirty="0">
                <a:solidFill>
                  <a:srgbClr val="24321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mean? </a:t>
            </a:r>
            <a:r>
              <a:rPr lang="en-US" sz="1425" b="1" i="1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Thumbs up if you know.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219325" y="4948238"/>
            <a:ext cx="199365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on next slide →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333500" y="5614988"/>
            <a:ext cx="15621000" cy="1066800"/>
          </a:xfrm>
          <a:prstGeom prst="roundRect">
            <a:avLst>
              <a:gd name="adj" fmla="val 17857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609725" y="5834063"/>
            <a:ext cx="419100" cy="419100"/>
          </a:xfrm>
          <a:prstGeom prst="roundRect">
            <a:avLst>
              <a:gd name="adj" fmla="val 218182"/>
            </a:avLst>
          </a:prstGeom>
          <a:solidFill>
            <a:srgbClr val="5C8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753642" y="5900738"/>
            <a:ext cx="13389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2219325" y="5834063"/>
            <a:ext cx="902023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4321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would I say "I like eating cauliflower very much"? </a:t>
            </a:r>
            <a:r>
              <a:rPr lang="en-US" sz="1425" b="1" i="1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it on your whiteboard.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2219325" y="6224588"/>
            <a:ext cx="199365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on next slide →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333500" y="6891338"/>
            <a:ext cx="15621000" cy="1104900"/>
          </a:xfrm>
          <a:prstGeom prst="roundRect">
            <a:avLst>
              <a:gd name="adj" fmla="val 17241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609725" y="7110413"/>
            <a:ext cx="419100" cy="419100"/>
          </a:xfrm>
          <a:prstGeom prst="roundRect">
            <a:avLst>
              <a:gd name="adj" fmla="val 218182"/>
            </a:avLst>
          </a:prstGeom>
          <a:solidFill>
            <a:srgbClr val="5C8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753046" y="7177088"/>
            <a:ext cx="13495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2219325" y="7138988"/>
            <a:ext cx="5823683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4321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check: </a:t>
            </a:r>
            <a:r>
              <a:rPr lang="en-US" sz="1950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我喜欢非常吃西红柿。</a:t>
            </a:r>
            <a:r>
              <a:rPr lang="en-US" sz="1800" dirty="0">
                <a:solidFill>
                  <a:srgbClr val="24321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What's wrong?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2219325" y="7539037"/>
            <a:ext cx="199365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on next slide →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0" y="9786938"/>
            <a:ext cx="1828800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2000" y="9958388"/>
            <a:ext cx="323647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4 Vegetables &amp; Fruits 蔬菜、水果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771525"/>
          </a:xfrm>
          <a:prstGeom prst="rect">
            <a:avLst/>
          </a:prstGeom>
          <a:solidFill>
            <a:srgbClr val="FBFAF2">
              <a:alpha val="9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766763"/>
            <a:ext cx="1828800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285750"/>
            <a:ext cx="214545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VEGETABLES VOCAB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3255913" y="280988"/>
            <a:ext cx="162491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CFU Answers ↳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5C8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333500" y="2557463"/>
            <a:ext cx="275859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ANSWERS REVEALED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333500" y="2881313"/>
            <a:ext cx="3355794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答案 · Answers</a:t>
            </a:r>
            <a:endParaRPr lang="en-US" sz="3750" dirty="0"/>
          </a:p>
        </p:txBody>
      </p:sp>
      <p:sp>
        <p:nvSpPr>
          <p:cNvPr id="9" name="Text 7"/>
          <p:cNvSpPr/>
          <p:nvPr/>
        </p:nvSpPr>
        <p:spPr>
          <a:xfrm>
            <a:off x="1333500" y="3852863"/>
            <a:ext cx="15621000" cy="1266825"/>
          </a:xfrm>
          <a:prstGeom prst="roundRect">
            <a:avLst>
              <a:gd name="adj" fmla="val 15038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609725" y="4033837"/>
            <a:ext cx="419100" cy="419100"/>
          </a:xfrm>
          <a:prstGeom prst="roundRect">
            <a:avLst>
              <a:gd name="adj" fmla="val 218182"/>
            </a:avLst>
          </a:prstGeom>
          <a:solidFill>
            <a:srgbClr val="5C8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772692" y="4100513"/>
            <a:ext cx="9503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2219325" y="4033837"/>
            <a:ext cx="214834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does 黄瓜 mean?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219325" y="4376738"/>
            <a:ext cx="166211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C8A3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黄瓜 = cucumber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219325" y="4729163"/>
            <a:ext cx="274265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huángguā — literally "yellow melon."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333500" y="5291138"/>
            <a:ext cx="15621000" cy="1266825"/>
          </a:xfrm>
          <a:prstGeom prst="roundRect">
            <a:avLst>
              <a:gd name="adj" fmla="val 15038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609725" y="5472113"/>
            <a:ext cx="419100" cy="419100"/>
          </a:xfrm>
          <a:prstGeom prst="roundRect">
            <a:avLst>
              <a:gd name="adj" fmla="val 218182"/>
            </a:avLst>
          </a:prstGeom>
          <a:solidFill>
            <a:srgbClr val="5C8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753642" y="5538788"/>
            <a:ext cx="13389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2219325" y="5472113"/>
            <a:ext cx="338053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"I like eating cauliflower very much"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2219325" y="5815013"/>
            <a:ext cx="233172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C8A3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我非常喜欢吃菜花儿。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2219325" y="6167438"/>
            <a:ext cx="233597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wǒ fēicháng xǐhuan chī càihuār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333500" y="6729413"/>
            <a:ext cx="15621000" cy="1266825"/>
          </a:xfrm>
          <a:prstGeom prst="roundRect">
            <a:avLst>
              <a:gd name="adj" fmla="val 15038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609725" y="6910388"/>
            <a:ext cx="419100" cy="419100"/>
          </a:xfrm>
          <a:prstGeom prst="roundRect">
            <a:avLst>
              <a:gd name="adj" fmla="val 218182"/>
            </a:avLst>
          </a:prstGeom>
          <a:solidFill>
            <a:srgbClr val="5C8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1753046" y="6977063"/>
            <a:ext cx="13495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2219325" y="6910388"/>
            <a:ext cx="465205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check: 我喜欢非常吃西红柿。 What's wrong?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2219325" y="7253288"/>
            <a:ext cx="5407587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C8A3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非常 must come before 喜欢 — 我非常喜欢吃西红柿。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2219325" y="7605713"/>
            <a:ext cx="462214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非常 modifies 喜欢, not 吃 — it can't sit between 喜欢 and 吃.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0" y="9786938"/>
            <a:ext cx="1828800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2000" y="9958388"/>
            <a:ext cx="323647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4 Vegetables &amp; Fruits 蔬菜、水果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771525"/>
          </a:xfrm>
          <a:prstGeom prst="rect">
            <a:avLst/>
          </a:prstGeom>
          <a:solidFill>
            <a:srgbClr val="FBFAF2">
              <a:alpha val="9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766763"/>
            <a:ext cx="1828800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285750"/>
            <a:ext cx="214545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VEGETABLES VOCAB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3255913" y="280988"/>
            <a:ext cx="238515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 1 · Vocab Tracing Worksheet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5C8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52500" y="1119188"/>
            <a:ext cx="1153120" cy="314325"/>
          </a:xfrm>
          <a:prstGeom prst="roundRect">
            <a:avLst>
              <a:gd name="adj" fmla="val 3027273"/>
            </a:avLst>
          </a:prstGeom>
          <a:solidFill>
            <a:srgbClr val="E08A3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143000" y="1176338"/>
            <a:ext cx="78756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</a:t>
            </a:r>
            <a:endParaRPr lang="en-US" sz="1125" dirty="0"/>
          </a:p>
        </p:txBody>
      </p:sp>
      <p:sp>
        <p:nvSpPr>
          <p:cNvPr id="9" name="Text 7"/>
          <p:cNvSpPr/>
          <p:nvPr/>
        </p:nvSpPr>
        <p:spPr>
          <a:xfrm>
            <a:off x="2258020" y="1104900"/>
            <a:ext cx="927199" cy="342900"/>
          </a:xfrm>
          <a:prstGeom prst="roundRect">
            <a:avLst>
              <a:gd name="adj" fmla="val 2775000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438995" y="1171575"/>
            <a:ext cx="57655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8 min</a:t>
            </a:r>
            <a:endParaRPr lang="en-US" sz="1125" dirty="0"/>
          </a:p>
        </p:txBody>
      </p:sp>
      <p:sp>
        <p:nvSpPr>
          <p:cNvPr id="11" name="Text 9"/>
          <p:cNvSpPr/>
          <p:nvPr/>
        </p:nvSpPr>
        <p:spPr>
          <a:xfrm>
            <a:off x="3337620" y="1119188"/>
            <a:ext cx="815727" cy="314325"/>
          </a:xfrm>
          <a:prstGeom prst="roundRect">
            <a:avLst>
              <a:gd name="adj" fmla="val 3027273"/>
            </a:avLst>
          </a:prstGeom>
          <a:solidFill>
            <a:srgbClr val="E08A3C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509070" y="1176338"/>
            <a:ext cx="48228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</a:t>
            </a:r>
            <a:endParaRPr lang="en-US" sz="1125" dirty="0"/>
          </a:p>
        </p:txBody>
      </p:sp>
      <p:sp>
        <p:nvSpPr>
          <p:cNvPr id="13" name="Text 11"/>
          <p:cNvSpPr/>
          <p:nvPr/>
        </p:nvSpPr>
        <p:spPr>
          <a:xfrm>
            <a:off x="952500" y="1543050"/>
            <a:ext cx="7032504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蔬菜词汇描红 · Vocab Tracing Worksheet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952500" y="2133600"/>
            <a:ext cx="796549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25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Trace each of the 12 new words/phrases three times, saying the word aloud as you write</a:t>
            </a:r>
            <a:endParaRPr lang="en-US" sz="1425" dirty="0"/>
          </a:p>
        </p:txBody>
      </p:sp>
      <p:sp>
        <p:nvSpPr>
          <p:cNvPr id="15" name="Text 13"/>
          <p:cNvSpPr/>
          <p:nvPr/>
        </p:nvSpPr>
        <p:spPr>
          <a:xfrm>
            <a:off x="952500" y="2590800"/>
            <a:ext cx="8039100" cy="3724275"/>
          </a:xfrm>
          <a:prstGeom prst="roundRect">
            <a:avLst>
              <a:gd name="adj" fmla="val 5115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209675" y="2828925"/>
            <a:ext cx="183243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50"/>
              </a:spcAft>
              <a:buNone/>
            </a:pPr>
            <a:r>
              <a:rPr lang="en-US" sz="1050" b="1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WORKSHEET PREVIEW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1209675" y="3529013"/>
            <a:ext cx="752475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09675" y="3095625"/>
            <a:ext cx="50520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蔬菜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2409825" y="3100388"/>
            <a:ext cx="1765250" cy="342900"/>
          </a:xfrm>
          <a:prstGeom prst="roundRect">
            <a:avLst>
              <a:gd name="adj" fmla="val 11111"/>
            </a:avLst>
          </a:prstGeom>
          <a:solidFill>
            <a:srgbClr val="FBFAF2"/>
          </a:solidFill>
          <a:ln w="9525">
            <a:solidFill>
              <a:srgbClr val="CFC7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4232225" y="3100388"/>
            <a:ext cx="1765399" cy="342900"/>
          </a:xfrm>
          <a:prstGeom prst="roundRect">
            <a:avLst>
              <a:gd name="adj" fmla="val 11111"/>
            </a:avLst>
          </a:prstGeom>
          <a:solidFill>
            <a:srgbClr val="FBFAF2"/>
          </a:solidFill>
          <a:ln w="9525">
            <a:solidFill>
              <a:srgbClr val="CFC7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054775" y="3100388"/>
            <a:ext cx="1765250" cy="342900"/>
          </a:xfrm>
          <a:prstGeom prst="roundRect">
            <a:avLst>
              <a:gd name="adj" fmla="val 11111"/>
            </a:avLst>
          </a:prstGeom>
          <a:solidFill>
            <a:srgbClr val="FBFAF2"/>
          </a:solidFill>
          <a:ln w="9525">
            <a:solidFill>
              <a:srgbClr val="CFC7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347627" y="3186113"/>
            <a:ext cx="38679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75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shūcài</a:t>
            </a:r>
            <a:endParaRPr lang="en-US" sz="975" dirty="0"/>
          </a:p>
        </p:txBody>
      </p:sp>
      <p:sp>
        <p:nvSpPr>
          <p:cNvPr id="23" name="Shape 21"/>
          <p:cNvSpPr/>
          <p:nvPr/>
        </p:nvSpPr>
        <p:spPr>
          <a:xfrm>
            <a:off x="1209675" y="4043363"/>
            <a:ext cx="752475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209675" y="3609975"/>
            <a:ext cx="50520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生菜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2409825" y="3614738"/>
            <a:ext cx="1765250" cy="342900"/>
          </a:xfrm>
          <a:prstGeom prst="roundRect">
            <a:avLst>
              <a:gd name="adj" fmla="val 11111"/>
            </a:avLst>
          </a:prstGeom>
          <a:solidFill>
            <a:srgbClr val="FBFAF2"/>
          </a:solidFill>
          <a:ln w="9525">
            <a:solidFill>
              <a:srgbClr val="CFC7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232225" y="3614738"/>
            <a:ext cx="1765399" cy="342900"/>
          </a:xfrm>
          <a:prstGeom prst="roundRect">
            <a:avLst>
              <a:gd name="adj" fmla="val 11111"/>
            </a:avLst>
          </a:prstGeom>
          <a:solidFill>
            <a:srgbClr val="FBFAF2"/>
          </a:solidFill>
          <a:ln w="9525">
            <a:solidFill>
              <a:srgbClr val="CFC7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054775" y="3614738"/>
            <a:ext cx="1765250" cy="342900"/>
          </a:xfrm>
          <a:prstGeom prst="roundRect">
            <a:avLst>
              <a:gd name="adj" fmla="val 11111"/>
            </a:avLst>
          </a:prstGeom>
          <a:solidFill>
            <a:srgbClr val="FBFAF2"/>
          </a:solidFill>
          <a:ln w="9525">
            <a:solidFill>
              <a:srgbClr val="CFC7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8197340" y="3700463"/>
            <a:ext cx="53708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75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shēngcài</a:t>
            </a:r>
            <a:endParaRPr lang="en-US" sz="975" dirty="0"/>
          </a:p>
        </p:txBody>
      </p:sp>
      <p:sp>
        <p:nvSpPr>
          <p:cNvPr id="29" name="Shape 27"/>
          <p:cNvSpPr/>
          <p:nvPr/>
        </p:nvSpPr>
        <p:spPr>
          <a:xfrm>
            <a:off x="1209675" y="4557713"/>
            <a:ext cx="752475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209675" y="4124325"/>
            <a:ext cx="50520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非常</a:t>
            </a:r>
            <a:endParaRPr lang="en-US" sz="1950" dirty="0"/>
          </a:p>
        </p:txBody>
      </p:sp>
      <p:sp>
        <p:nvSpPr>
          <p:cNvPr id="31" name="Text 29"/>
          <p:cNvSpPr/>
          <p:nvPr/>
        </p:nvSpPr>
        <p:spPr>
          <a:xfrm>
            <a:off x="2409825" y="4129088"/>
            <a:ext cx="1765250" cy="342900"/>
          </a:xfrm>
          <a:prstGeom prst="roundRect">
            <a:avLst>
              <a:gd name="adj" fmla="val 11111"/>
            </a:avLst>
          </a:prstGeom>
          <a:solidFill>
            <a:srgbClr val="FBFAF2"/>
          </a:solidFill>
          <a:ln w="9525">
            <a:solidFill>
              <a:srgbClr val="CFC7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4232225" y="4129088"/>
            <a:ext cx="1765399" cy="342900"/>
          </a:xfrm>
          <a:prstGeom prst="roundRect">
            <a:avLst>
              <a:gd name="adj" fmla="val 11111"/>
            </a:avLst>
          </a:prstGeom>
          <a:solidFill>
            <a:srgbClr val="FBFAF2"/>
          </a:solidFill>
          <a:ln w="9525">
            <a:solidFill>
              <a:srgbClr val="CFC7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6054775" y="4129088"/>
            <a:ext cx="1765250" cy="342900"/>
          </a:xfrm>
          <a:prstGeom prst="roundRect">
            <a:avLst>
              <a:gd name="adj" fmla="val 11111"/>
            </a:avLst>
          </a:prstGeom>
          <a:solidFill>
            <a:srgbClr val="FBFAF2"/>
          </a:solidFill>
          <a:ln w="9525">
            <a:solidFill>
              <a:srgbClr val="CFC7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8214039" y="4214813"/>
            <a:ext cx="52038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75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fēicháng</a:t>
            </a:r>
            <a:endParaRPr lang="en-US" sz="975" dirty="0"/>
          </a:p>
        </p:txBody>
      </p:sp>
      <p:sp>
        <p:nvSpPr>
          <p:cNvPr id="35" name="Shape 33"/>
          <p:cNvSpPr/>
          <p:nvPr/>
        </p:nvSpPr>
        <p:spPr>
          <a:xfrm>
            <a:off x="1209675" y="5072063"/>
            <a:ext cx="752475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209675" y="4638675"/>
            <a:ext cx="50520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黄瓜</a:t>
            </a:r>
            <a:endParaRPr lang="en-US" sz="1950" dirty="0"/>
          </a:p>
        </p:txBody>
      </p:sp>
      <p:sp>
        <p:nvSpPr>
          <p:cNvPr id="37" name="Text 35"/>
          <p:cNvSpPr/>
          <p:nvPr/>
        </p:nvSpPr>
        <p:spPr>
          <a:xfrm>
            <a:off x="2409825" y="4643438"/>
            <a:ext cx="1765250" cy="342900"/>
          </a:xfrm>
          <a:prstGeom prst="roundRect">
            <a:avLst>
              <a:gd name="adj" fmla="val 11111"/>
            </a:avLst>
          </a:prstGeom>
          <a:solidFill>
            <a:srgbClr val="FBFAF2"/>
          </a:solidFill>
          <a:ln w="9525">
            <a:solidFill>
              <a:srgbClr val="CFC7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4232225" y="4643438"/>
            <a:ext cx="1765399" cy="342900"/>
          </a:xfrm>
          <a:prstGeom prst="roundRect">
            <a:avLst>
              <a:gd name="adj" fmla="val 11111"/>
            </a:avLst>
          </a:prstGeom>
          <a:solidFill>
            <a:srgbClr val="FBFAF2"/>
          </a:solidFill>
          <a:ln w="9525">
            <a:solidFill>
              <a:srgbClr val="CFC7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6054775" y="4643438"/>
            <a:ext cx="1765250" cy="342900"/>
          </a:xfrm>
          <a:prstGeom prst="roundRect">
            <a:avLst>
              <a:gd name="adj" fmla="val 11111"/>
            </a:avLst>
          </a:prstGeom>
          <a:solidFill>
            <a:srgbClr val="FBFAF2"/>
          </a:solidFill>
          <a:ln w="9525">
            <a:solidFill>
              <a:srgbClr val="CFC7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8146637" y="4729163"/>
            <a:ext cx="58778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75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huángguā</a:t>
            </a:r>
            <a:endParaRPr lang="en-US" sz="975" dirty="0"/>
          </a:p>
        </p:txBody>
      </p:sp>
      <p:sp>
        <p:nvSpPr>
          <p:cNvPr id="41" name="Shape 39"/>
          <p:cNvSpPr/>
          <p:nvPr/>
        </p:nvSpPr>
        <p:spPr>
          <a:xfrm>
            <a:off x="1209675" y="5586413"/>
            <a:ext cx="752475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209675" y="5153025"/>
            <a:ext cx="50520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土豆</a:t>
            </a:r>
            <a:endParaRPr lang="en-US" sz="1950" dirty="0"/>
          </a:p>
        </p:txBody>
      </p:sp>
      <p:sp>
        <p:nvSpPr>
          <p:cNvPr id="43" name="Text 41"/>
          <p:cNvSpPr/>
          <p:nvPr/>
        </p:nvSpPr>
        <p:spPr>
          <a:xfrm>
            <a:off x="2409825" y="5157788"/>
            <a:ext cx="1765250" cy="342900"/>
          </a:xfrm>
          <a:prstGeom prst="roundRect">
            <a:avLst>
              <a:gd name="adj" fmla="val 11111"/>
            </a:avLst>
          </a:prstGeom>
          <a:solidFill>
            <a:srgbClr val="FBFAF2"/>
          </a:solidFill>
          <a:ln w="9525">
            <a:solidFill>
              <a:srgbClr val="CFC7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4232225" y="5157788"/>
            <a:ext cx="1765399" cy="342900"/>
          </a:xfrm>
          <a:prstGeom prst="roundRect">
            <a:avLst>
              <a:gd name="adj" fmla="val 11111"/>
            </a:avLst>
          </a:prstGeom>
          <a:solidFill>
            <a:srgbClr val="FBFAF2"/>
          </a:solidFill>
          <a:ln w="9525">
            <a:solidFill>
              <a:srgbClr val="CFC7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6054775" y="5157788"/>
            <a:ext cx="1765250" cy="342900"/>
          </a:xfrm>
          <a:prstGeom prst="roundRect">
            <a:avLst>
              <a:gd name="adj" fmla="val 11111"/>
            </a:avLst>
          </a:prstGeom>
          <a:solidFill>
            <a:srgbClr val="FBFAF2"/>
          </a:solidFill>
          <a:ln w="9525">
            <a:solidFill>
              <a:srgbClr val="CFC7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8396508" y="5243513"/>
            <a:ext cx="3379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75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tǔdòu</a:t>
            </a:r>
            <a:endParaRPr lang="en-US" sz="975" dirty="0"/>
          </a:p>
        </p:txBody>
      </p:sp>
      <p:sp>
        <p:nvSpPr>
          <p:cNvPr id="47" name="Text 45"/>
          <p:cNvSpPr/>
          <p:nvPr/>
        </p:nvSpPr>
        <p:spPr>
          <a:xfrm>
            <a:off x="1209675" y="5667375"/>
            <a:ext cx="757809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西红柿</a:t>
            </a:r>
            <a:endParaRPr lang="en-US" sz="1950" dirty="0"/>
          </a:p>
        </p:txBody>
      </p:sp>
      <p:sp>
        <p:nvSpPr>
          <p:cNvPr id="48" name="Text 46"/>
          <p:cNvSpPr/>
          <p:nvPr/>
        </p:nvSpPr>
        <p:spPr>
          <a:xfrm>
            <a:off x="2409825" y="5672138"/>
            <a:ext cx="1765250" cy="342900"/>
          </a:xfrm>
          <a:prstGeom prst="roundRect">
            <a:avLst>
              <a:gd name="adj" fmla="val 11111"/>
            </a:avLst>
          </a:prstGeom>
          <a:solidFill>
            <a:srgbClr val="FBFAF2"/>
          </a:solidFill>
          <a:ln w="9525">
            <a:solidFill>
              <a:srgbClr val="CFC7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4232225" y="5672138"/>
            <a:ext cx="1765399" cy="342900"/>
          </a:xfrm>
          <a:prstGeom prst="roundRect">
            <a:avLst>
              <a:gd name="adj" fmla="val 11111"/>
            </a:avLst>
          </a:prstGeom>
          <a:solidFill>
            <a:srgbClr val="FBFAF2"/>
          </a:solidFill>
          <a:ln w="9525">
            <a:solidFill>
              <a:srgbClr val="CFC7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6054775" y="5672138"/>
            <a:ext cx="1765250" cy="342900"/>
          </a:xfrm>
          <a:prstGeom prst="roundRect">
            <a:avLst>
              <a:gd name="adj" fmla="val 11111"/>
            </a:avLst>
          </a:prstGeom>
          <a:solidFill>
            <a:srgbClr val="FBFAF2"/>
          </a:solidFill>
          <a:ln w="9525">
            <a:solidFill>
              <a:srgbClr val="CFC7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8150129" y="5757863"/>
            <a:ext cx="58429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75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xīhóngshì</a:t>
            </a:r>
            <a:endParaRPr lang="en-US" sz="975" dirty="0"/>
          </a:p>
        </p:txBody>
      </p:sp>
      <p:sp>
        <p:nvSpPr>
          <p:cNvPr id="52" name="Text 50"/>
          <p:cNvSpPr/>
          <p:nvPr/>
        </p:nvSpPr>
        <p:spPr>
          <a:xfrm>
            <a:off x="9296400" y="2590800"/>
            <a:ext cx="8039100" cy="910530"/>
          </a:xfrm>
          <a:prstGeom prst="roundRect">
            <a:avLst>
              <a:gd name="adj" fmla="val 20922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9515475" y="2819400"/>
            <a:ext cx="126893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900"/>
              </a:spcAft>
              <a:buNone/>
            </a:pPr>
            <a:r>
              <a:rPr lang="en-US" sz="1050" b="1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IT WORKS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9515475" y="2781300"/>
            <a:ext cx="7327612" cy="5124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350" dirty="0">
                <a:solidFill>
                  <a:srgbClr val="24321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Printed worksheet has all </a:t>
            </a:r>
            <a:r>
              <a:rPr lang="en-US" sz="1350" b="1" dirty="0">
                <a:solidFill>
                  <a:srgbClr val="24321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 words/phrases</a:t>
            </a:r>
            <a:r>
              <a:rPr lang="en-US" sz="1350" dirty="0">
                <a:solidFill>
                  <a:srgbClr val="24321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, each with 3 tracing lines. Students trace and say each word aloud as they write.</a:t>
            </a:r>
            <a:endParaRPr lang="en-US" sz="1350" dirty="0"/>
          </a:p>
        </p:txBody>
      </p:sp>
      <p:sp>
        <p:nvSpPr>
          <p:cNvPr id="55" name="Text 53"/>
          <p:cNvSpPr/>
          <p:nvPr/>
        </p:nvSpPr>
        <p:spPr>
          <a:xfrm>
            <a:off x="9296400" y="3729930"/>
            <a:ext cx="2578001" cy="1419225"/>
          </a:xfrm>
          <a:prstGeom prst="roundRect">
            <a:avLst>
              <a:gd name="adj" fmla="val 8054"/>
            </a:avLst>
          </a:prstGeom>
          <a:solidFill>
            <a:srgbClr val="F2EF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9448800" y="3844230"/>
            <a:ext cx="6822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825" dirty="0"/>
          </a:p>
        </p:txBody>
      </p:sp>
      <p:sp>
        <p:nvSpPr>
          <p:cNvPr id="57" name="Text 55"/>
          <p:cNvSpPr/>
          <p:nvPr/>
        </p:nvSpPr>
        <p:spPr>
          <a:xfrm>
            <a:off x="9448800" y="4034730"/>
            <a:ext cx="2127543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Pinyin printed above every character on the tracing lines.</a:t>
            </a:r>
            <a:endParaRPr lang="en-US" sz="1125" dirty="0"/>
          </a:p>
        </p:txBody>
      </p:sp>
      <p:sp>
        <p:nvSpPr>
          <p:cNvPr id="58" name="Text 56"/>
          <p:cNvSpPr/>
          <p:nvPr/>
        </p:nvSpPr>
        <p:spPr>
          <a:xfrm>
            <a:off x="12026801" y="3729930"/>
            <a:ext cx="2578150" cy="1419225"/>
          </a:xfrm>
          <a:prstGeom prst="roundRect">
            <a:avLst>
              <a:gd name="adj" fmla="val 8054"/>
            </a:avLst>
          </a:prstGeom>
          <a:solidFill>
            <a:srgbClr val="F2EF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12179201" y="3844230"/>
            <a:ext cx="73989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825" dirty="0"/>
          </a:p>
        </p:txBody>
      </p:sp>
      <p:sp>
        <p:nvSpPr>
          <p:cNvPr id="60" name="Text 58"/>
          <p:cNvSpPr/>
          <p:nvPr/>
        </p:nvSpPr>
        <p:spPr>
          <a:xfrm>
            <a:off x="12179201" y="4034730"/>
            <a:ext cx="2133159" cy="1000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Cover pinyin/English columns and self-quiz meanings from memory; then write one sentence using 非常喜欢吃 + a vegetable of choice.</a:t>
            </a:r>
            <a:endParaRPr lang="en-US" sz="1125" dirty="0"/>
          </a:p>
        </p:txBody>
      </p:sp>
      <p:sp>
        <p:nvSpPr>
          <p:cNvPr id="61" name="Text 59"/>
          <p:cNvSpPr/>
          <p:nvPr/>
        </p:nvSpPr>
        <p:spPr>
          <a:xfrm>
            <a:off x="14757350" y="3729930"/>
            <a:ext cx="2578001" cy="1419225"/>
          </a:xfrm>
          <a:prstGeom prst="roundRect">
            <a:avLst>
              <a:gd name="adj" fmla="val 8054"/>
            </a:avLst>
          </a:prstGeom>
          <a:solidFill>
            <a:srgbClr val="F2EF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14909750" y="3844230"/>
            <a:ext cx="26626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C94F3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825" dirty="0"/>
          </a:p>
        </p:txBody>
      </p:sp>
      <p:sp>
        <p:nvSpPr>
          <p:cNvPr id="63" name="Text 61"/>
          <p:cNvSpPr/>
          <p:nvPr/>
        </p:nvSpPr>
        <p:spPr>
          <a:xfrm>
            <a:off x="14909750" y="4034730"/>
            <a:ext cx="2261131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Every student writes every word — 100% response rate by design.</a:t>
            </a:r>
            <a:endParaRPr lang="en-US" sz="1125" dirty="0"/>
          </a:p>
        </p:txBody>
      </p:sp>
      <p:sp>
        <p:nvSpPr>
          <p:cNvPr id="64" name="Shape 62"/>
          <p:cNvSpPr/>
          <p:nvPr/>
        </p:nvSpPr>
        <p:spPr>
          <a:xfrm>
            <a:off x="0" y="9786938"/>
            <a:ext cx="1828800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62000" y="9958388"/>
            <a:ext cx="323647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4 Vegetables &amp; Fruits 蔬菜、水果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771525"/>
          </a:xfrm>
          <a:prstGeom prst="rect">
            <a:avLst/>
          </a:prstGeom>
          <a:solidFill>
            <a:srgbClr val="FBFAF2">
              <a:alpha val="9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766763"/>
            <a:ext cx="1828800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285750"/>
            <a:ext cx="214545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VEGETABLES VOCAB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3255913" y="280988"/>
            <a:ext cx="209490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 2 · Name the Vegetables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5C8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52500" y="1119188"/>
            <a:ext cx="1179165" cy="314325"/>
          </a:xfrm>
          <a:prstGeom prst="roundRect">
            <a:avLst>
              <a:gd name="adj" fmla="val 3027273"/>
            </a:avLst>
          </a:prstGeom>
          <a:solidFill>
            <a:srgbClr val="E08A3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143000" y="1176338"/>
            <a:ext cx="81412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</a:t>
            </a:r>
            <a:endParaRPr lang="en-US" sz="1125" dirty="0"/>
          </a:p>
        </p:txBody>
      </p:sp>
      <p:sp>
        <p:nvSpPr>
          <p:cNvPr id="9" name="Text 7"/>
          <p:cNvSpPr/>
          <p:nvPr/>
        </p:nvSpPr>
        <p:spPr>
          <a:xfrm>
            <a:off x="2284065" y="1104900"/>
            <a:ext cx="919311" cy="342900"/>
          </a:xfrm>
          <a:prstGeom prst="roundRect">
            <a:avLst>
              <a:gd name="adj" fmla="val 2775000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465040" y="1171575"/>
            <a:ext cx="56850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7 min</a:t>
            </a:r>
            <a:endParaRPr lang="en-US" sz="1125" dirty="0"/>
          </a:p>
        </p:txBody>
      </p:sp>
      <p:sp>
        <p:nvSpPr>
          <p:cNvPr id="11" name="Text 9"/>
          <p:cNvSpPr/>
          <p:nvPr/>
        </p:nvSpPr>
        <p:spPr>
          <a:xfrm>
            <a:off x="3355777" y="1119188"/>
            <a:ext cx="1588145" cy="314325"/>
          </a:xfrm>
          <a:prstGeom prst="roundRect">
            <a:avLst>
              <a:gd name="adj" fmla="val 3027273"/>
            </a:avLst>
          </a:prstGeom>
          <a:solidFill>
            <a:srgbClr val="E08A3C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527227" y="1176338"/>
            <a:ext cx="12701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→ You Do</a:t>
            </a:r>
            <a:endParaRPr lang="en-US" sz="1125" dirty="0"/>
          </a:p>
        </p:txBody>
      </p:sp>
      <p:sp>
        <p:nvSpPr>
          <p:cNvPr id="13" name="Text 11"/>
          <p:cNvSpPr/>
          <p:nvPr/>
        </p:nvSpPr>
        <p:spPr>
          <a:xfrm>
            <a:off x="952500" y="1543050"/>
            <a:ext cx="789688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说出蔬菜名字 · Name the Vegetables </a:t>
            </a:r>
            <a:r>
              <a:rPr lang="en-US" sz="1500" dirty="0">
                <a:solidFill>
                  <a:srgbClr val="8C948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(Textbook Act.1)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952500" y="2133600"/>
            <a:ext cx="1040059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25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Project the numbered pictures — students write the Chinese name for each on mini whiteboards, hold up on "three"</a:t>
            </a:r>
            <a:endParaRPr lang="en-US" sz="1425" dirty="0"/>
          </a:p>
        </p:txBody>
      </p:sp>
      <p:sp>
        <p:nvSpPr>
          <p:cNvPr id="15" name="Text 13"/>
          <p:cNvSpPr/>
          <p:nvPr/>
        </p:nvSpPr>
        <p:spPr>
          <a:xfrm>
            <a:off x="952500" y="2571750"/>
            <a:ext cx="3995738" cy="1314450"/>
          </a:xfrm>
          <a:prstGeom prst="roundRect">
            <a:avLst>
              <a:gd name="adj" fmla="val 8696"/>
            </a:avLst>
          </a:prstGeom>
          <a:solidFill>
            <a:srgbClr val="F2EFDE"/>
          </a:solidFill>
          <a:ln w="19050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066282" y="2667000"/>
            <a:ext cx="5282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736628" y="2819400"/>
            <a:ext cx="427482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300" dirty="0">
                <a:solidFill>
                  <a:srgbClr val="24321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🥬</a:t>
            </a:r>
            <a:endParaRPr lang="en-US" sz="3300" dirty="0"/>
          </a:p>
        </p:txBody>
      </p:sp>
      <p:sp>
        <p:nvSpPr>
          <p:cNvPr id="18" name="Shape 16"/>
          <p:cNvSpPr/>
          <p:nvPr/>
        </p:nvSpPr>
        <p:spPr>
          <a:xfrm>
            <a:off x="1104900" y="3724275"/>
            <a:ext cx="3690937" cy="0"/>
          </a:xfrm>
          <a:prstGeom prst="line">
            <a:avLst/>
          </a:prstGeom>
          <a:noFill/>
          <a:ln w="19050">
            <a:solidFill>
              <a:srgbClr val="CFC7A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81588" y="2571750"/>
            <a:ext cx="3995738" cy="1314450"/>
          </a:xfrm>
          <a:prstGeom prst="roundRect">
            <a:avLst>
              <a:gd name="adj" fmla="val 8696"/>
            </a:avLst>
          </a:prstGeom>
          <a:solidFill>
            <a:srgbClr val="F2EFDE"/>
          </a:solidFill>
          <a:ln w="19050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195163" y="2667000"/>
            <a:ext cx="739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865715" y="2819400"/>
            <a:ext cx="427482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300" dirty="0">
                <a:solidFill>
                  <a:srgbClr val="24321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🥒</a:t>
            </a:r>
            <a:endParaRPr lang="en-US" sz="3300" dirty="0"/>
          </a:p>
        </p:txBody>
      </p:sp>
      <p:sp>
        <p:nvSpPr>
          <p:cNvPr id="22" name="Shape 20"/>
          <p:cNvSpPr/>
          <p:nvPr/>
        </p:nvSpPr>
        <p:spPr>
          <a:xfrm>
            <a:off x="5233988" y="3724275"/>
            <a:ext cx="3690937" cy="0"/>
          </a:xfrm>
          <a:prstGeom prst="line">
            <a:avLst/>
          </a:prstGeom>
          <a:noFill/>
          <a:ln w="19050">
            <a:solidFill>
              <a:srgbClr val="CFC7A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210675" y="2571750"/>
            <a:ext cx="3995738" cy="1314450"/>
          </a:xfrm>
          <a:prstGeom prst="roundRect">
            <a:avLst>
              <a:gd name="adj" fmla="val 8696"/>
            </a:avLst>
          </a:prstGeom>
          <a:solidFill>
            <a:srgbClr val="F2EFDE"/>
          </a:solidFill>
          <a:ln w="19050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9324244" y="2667000"/>
            <a:ext cx="7453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994803" y="2819400"/>
            <a:ext cx="427482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300" dirty="0">
                <a:solidFill>
                  <a:srgbClr val="24321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🥔</a:t>
            </a:r>
            <a:endParaRPr lang="en-US" sz="3300" dirty="0"/>
          </a:p>
        </p:txBody>
      </p:sp>
      <p:sp>
        <p:nvSpPr>
          <p:cNvPr id="26" name="Shape 24"/>
          <p:cNvSpPr/>
          <p:nvPr/>
        </p:nvSpPr>
        <p:spPr>
          <a:xfrm>
            <a:off x="9363075" y="3724275"/>
            <a:ext cx="3690938" cy="0"/>
          </a:xfrm>
          <a:prstGeom prst="line">
            <a:avLst/>
          </a:prstGeom>
          <a:noFill/>
          <a:ln w="19050">
            <a:solidFill>
              <a:srgbClr val="CFC7A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3339763" y="2571750"/>
            <a:ext cx="3995738" cy="1314450"/>
          </a:xfrm>
          <a:prstGeom prst="roundRect">
            <a:avLst>
              <a:gd name="adj" fmla="val 8696"/>
            </a:avLst>
          </a:prstGeom>
          <a:solidFill>
            <a:srgbClr val="F2EFDE"/>
          </a:solidFill>
          <a:ln w="19050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13453323" y="2667000"/>
            <a:ext cx="754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5123890" y="2819400"/>
            <a:ext cx="427482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300" dirty="0">
                <a:solidFill>
                  <a:srgbClr val="24321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🍅</a:t>
            </a:r>
            <a:endParaRPr lang="en-US" sz="3300" dirty="0"/>
          </a:p>
        </p:txBody>
      </p:sp>
      <p:sp>
        <p:nvSpPr>
          <p:cNvPr id="30" name="Shape 28"/>
          <p:cNvSpPr/>
          <p:nvPr/>
        </p:nvSpPr>
        <p:spPr>
          <a:xfrm>
            <a:off x="13492163" y="3724275"/>
            <a:ext cx="3690938" cy="0"/>
          </a:xfrm>
          <a:prstGeom prst="line">
            <a:avLst/>
          </a:prstGeom>
          <a:noFill/>
          <a:ln w="19050">
            <a:solidFill>
              <a:srgbClr val="CFC7A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52500" y="4019550"/>
            <a:ext cx="3995738" cy="1314450"/>
          </a:xfrm>
          <a:prstGeom prst="roundRect">
            <a:avLst>
              <a:gd name="adj" fmla="val 8696"/>
            </a:avLst>
          </a:prstGeom>
          <a:solidFill>
            <a:srgbClr val="C94F3D">
              <a:alpha val="10000"/>
            </a:srgbClr>
          </a:solidFill>
          <a:ln w="19050">
            <a:solidFill>
              <a:srgbClr val="C94F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1066071" y="4114800"/>
            <a:ext cx="7438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736628" y="4267200"/>
            <a:ext cx="427482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300" dirty="0">
                <a:solidFill>
                  <a:srgbClr val="24321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🥦</a:t>
            </a:r>
            <a:endParaRPr lang="en-US" sz="3300" dirty="0"/>
          </a:p>
        </p:txBody>
      </p:sp>
      <p:sp>
        <p:nvSpPr>
          <p:cNvPr id="34" name="Shape 32"/>
          <p:cNvSpPr/>
          <p:nvPr/>
        </p:nvSpPr>
        <p:spPr>
          <a:xfrm>
            <a:off x="1104900" y="5172075"/>
            <a:ext cx="3690937" cy="0"/>
          </a:xfrm>
          <a:prstGeom prst="line">
            <a:avLst/>
          </a:prstGeom>
          <a:noFill/>
          <a:ln w="19050">
            <a:solidFill>
              <a:srgbClr val="CFC7A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081588" y="4019550"/>
            <a:ext cx="3995738" cy="1314450"/>
          </a:xfrm>
          <a:prstGeom prst="roundRect">
            <a:avLst>
              <a:gd name="adj" fmla="val 8696"/>
            </a:avLst>
          </a:prstGeom>
          <a:solidFill>
            <a:srgbClr val="C94F3D">
              <a:alpha val="10000"/>
            </a:srgbClr>
          </a:solidFill>
          <a:ln w="19050">
            <a:solidFill>
              <a:srgbClr val="C94F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5195146" y="4114800"/>
            <a:ext cx="7559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865715" y="4267200"/>
            <a:ext cx="427482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300" dirty="0">
                <a:solidFill>
                  <a:srgbClr val="24321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🎃</a:t>
            </a:r>
            <a:endParaRPr lang="en-US" sz="3300" dirty="0"/>
          </a:p>
        </p:txBody>
      </p:sp>
      <p:sp>
        <p:nvSpPr>
          <p:cNvPr id="38" name="Shape 36"/>
          <p:cNvSpPr/>
          <p:nvPr/>
        </p:nvSpPr>
        <p:spPr>
          <a:xfrm>
            <a:off x="5233988" y="5172075"/>
            <a:ext cx="3690937" cy="0"/>
          </a:xfrm>
          <a:prstGeom prst="line">
            <a:avLst/>
          </a:prstGeom>
          <a:noFill/>
          <a:ln w="19050">
            <a:solidFill>
              <a:srgbClr val="CFC7A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210675" y="4019550"/>
            <a:ext cx="3995738" cy="1314450"/>
          </a:xfrm>
          <a:prstGeom prst="roundRect">
            <a:avLst>
              <a:gd name="adj" fmla="val 8696"/>
            </a:avLst>
          </a:prstGeom>
          <a:solidFill>
            <a:srgbClr val="C94F3D">
              <a:alpha val="10000"/>
            </a:srgbClr>
          </a:solidFill>
          <a:ln w="19050">
            <a:solidFill>
              <a:srgbClr val="C94F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9324299" y="4114800"/>
            <a:ext cx="6891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0994803" y="4267200"/>
            <a:ext cx="427482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300" dirty="0">
                <a:solidFill>
                  <a:srgbClr val="24321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🫘</a:t>
            </a:r>
            <a:endParaRPr lang="en-US" sz="3300" dirty="0"/>
          </a:p>
        </p:txBody>
      </p:sp>
      <p:sp>
        <p:nvSpPr>
          <p:cNvPr id="42" name="Shape 40"/>
          <p:cNvSpPr/>
          <p:nvPr/>
        </p:nvSpPr>
        <p:spPr>
          <a:xfrm>
            <a:off x="9363075" y="5172075"/>
            <a:ext cx="3690938" cy="0"/>
          </a:xfrm>
          <a:prstGeom prst="line">
            <a:avLst/>
          </a:prstGeom>
          <a:noFill/>
          <a:ln w="19050">
            <a:solidFill>
              <a:srgbClr val="CFC7A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339763" y="4019550"/>
            <a:ext cx="3995738" cy="1314450"/>
          </a:xfrm>
          <a:prstGeom prst="roundRect">
            <a:avLst>
              <a:gd name="adj" fmla="val 8696"/>
            </a:avLst>
          </a:prstGeom>
          <a:solidFill>
            <a:srgbClr val="C94F3D">
              <a:alpha val="10000"/>
            </a:srgbClr>
          </a:solidFill>
          <a:ln w="19050">
            <a:solidFill>
              <a:srgbClr val="C94F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13453324" y="4114800"/>
            <a:ext cx="7529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5123890" y="4267200"/>
            <a:ext cx="427482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300" dirty="0">
                <a:solidFill>
                  <a:srgbClr val="24321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🥗</a:t>
            </a:r>
            <a:endParaRPr lang="en-US" sz="3300" dirty="0"/>
          </a:p>
        </p:txBody>
      </p:sp>
      <p:sp>
        <p:nvSpPr>
          <p:cNvPr id="46" name="Shape 44"/>
          <p:cNvSpPr/>
          <p:nvPr/>
        </p:nvSpPr>
        <p:spPr>
          <a:xfrm>
            <a:off x="13492163" y="5172075"/>
            <a:ext cx="3690938" cy="0"/>
          </a:xfrm>
          <a:prstGeom prst="line">
            <a:avLst/>
          </a:prstGeom>
          <a:noFill/>
          <a:ln w="19050">
            <a:solidFill>
              <a:srgbClr val="CFC7A6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52500" y="5486400"/>
            <a:ext cx="16383000" cy="819150"/>
          </a:xfrm>
          <a:prstGeom prst="roundRect">
            <a:avLst>
              <a:gd name="adj" fmla="val 23256"/>
            </a:avLst>
          </a:prstGeom>
          <a:solidFill>
            <a:srgbClr val="E8E2C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1162050" y="5667375"/>
            <a:ext cx="312095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50"/>
              </a:spcAft>
              <a:buNone/>
            </a:pPr>
            <a:r>
              <a:rPr lang="en-US" sz="975" b="1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WORD BANK · DISPLAYED THROUGHOUT</a:t>
            </a:r>
            <a:endParaRPr lang="en-US" sz="975" dirty="0"/>
          </a:p>
        </p:txBody>
      </p:sp>
      <p:sp>
        <p:nvSpPr>
          <p:cNvPr id="49" name="Text 47"/>
          <p:cNvSpPr/>
          <p:nvPr/>
        </p:nvSpPr>
        <p:spPr>
          <a:xfrm>
            <a:off x="1162050" y="5848350"/>
            <a:ext cx="590550" cy="304800"/>
          </a:xfrm>
          <a:prstGeom prst="roundRect">
            <a:avLst>
              <a:gd name="adj" fmla="val 3121875"/>
            </a:avLst>
          </a:prstGeom>
          <a:solidFill>
            <a:srgbClr val="FBFAF2"/>
          </a:solidFill>
          <a:ln w="9525">
            <a:solidFill>
              <a:srgbClr val="CFC7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1304925" y="5895975"/>
            <a:ext cx="3108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蔬菜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1828800" y="5848350"/>
            <a:ext cx="590550" cy="304800"/>
          </a:xfrm>
          <a:prstGeom prst="roundRect">
            <a:avLst>
              <a:gd name="adj" fmla="val 3121875"/>
            </a:avLst>
          </a:prstGeom>
          <a:solidFill>
            <a:srgbClr val="FBFAF2"/>
          </a:solidFill>
          <a:ln w="9525">
            <a:solidFill>
              <a:srgbClr val="CFC7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1971675" y="5895975"/>
            <a:ext cx="3108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生菜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2495550" y="5848350"/>
            <a:ext cx="590550" cy="304800"/>
          </a:xfrm>
          <a:prstGeom prst="roundRect">
            <a:avLst>
              <a:gd name="adj" fmla="val 3121875"/>
            </a:avLst>
          </a:prstGeom>
          <a:solidFill>
            <a:srgbClr val="FBFAF2"/>
          </a:solidFill>
          <a:ln w="9525">
            <a:solidFill>
              <a:srgbClr val="CFC7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2638425" y="5895975"/>
            <a:ext cx="3108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黄瓜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3162300" y="5848350"/>
            <a:ext cx="742950" cy="304800"/>
          </a:xfrm>
          <a:prstGeom prst="roundRect">
            <a:avLst>
              <a:gd name="adj" fmla="val 3121875"/>
            </a:avLst>
          </a:prstGeom>
          <a:solidFill>
            <a:srgbClr val="FBFAF2"/>
          </a:solidFill>
          <a:ln w="9525">
            <a:solidFill>
              <a:srgbClr val="CFC7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3305175" y="5895975"/>
            <a:ext cx="46634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菜花儿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3981450" y="5848350"/>
            <a:ext cx="590550" cy="304800"/>
          </a:xfrm>
          <a:prstGeom prst="roundRect">
            <a:avLst>
              <a:gd name="adj" fmla="val 3121875"/>
            </a:avLst>
          </a:prstGeom>
          <a:solidFill>
            <a:srgbClr val="FBFAF2"/>
          </a:solidFill>
          <a:ln w="9525">
            <a:solidFill>
              <a:srgbClr val="CFC7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4124325" y="5895975"/>
            <a:ext cx="3108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土豆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4648200" y="5848350"/>
            <a:ext cx="742950" cy="304800"/>
          </a:xfrm>
          <a:prstGeom prst="roundRect">
            <a:avLst>
              <a:gd name="adj" fmla="val 3121875"/>
            </a:avLst>
          </a:prstGeom>
          <a:solidFill>
            <a:srgbClr val="FBFAF2"/>
          </a:solidFill>
          <a:ln w="9525">
            <a:solidFill>
              <a:srgbClr val="CFC7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4791075" y="5895975"/>
            <a:ext cx="46634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西红柿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5467350" y="5848350"/>
            <a:ext cx="590550" cy="304800"/>
          </a:xfrm>
          <a:prstGeom prst="roundRect">
            <a:avLst>
              <a:gd name="adj" fmla="val 3121875"/>
            </a:avLst>
          </a:prstGeom>
          <a:solidFill>
            <a:srgbClr val="FBFAF2"/>
          </a:solidFill>
          <a:ln w="9525">
            <a:solidFill>
              <a:srgbClr val="C94F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5610225" y="5895975"/>
            <a:ext cx="3108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94F3D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青菜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6134100" y="5848350"/>
            <a:ext cx="590550" cy="304800"/>
          </a:xfrm>
          <a:prstGeom prst="roundRect">
            <a:avLst>
              <a:gd name="adj" fmla="val 3121875"/>
            </a:avLst>
          </a:prstGeom>
          <a:solidFill>
            <a:srgbClr val="FBFAF2"/>
          </a:solidFill>
          <a:ln w="9525">
            <a:solidFill>
              <a:srgbClr val="C94F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6276975" y="5895975"/>
            <a:ext cx="3108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94F3D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冬瓜</a:t>
            </a:r>
            <a:endParaRPr lang="en-US" sz="1200" dirty="0"/>
          </a:p>
        </p:txBody>
      </p:sp>
      <p:sp>
        <p:nvSpPr>
          <p:cNvPr id="65" name="Text 63"/>
          <p:cNvSpPr/>
          <p:nvPr/>
        </p:nvSpPr>
        <p:spPr>
          <a:xfrm>
            <a:off x="6800850" y="5848350"/>
            <a:ext cx="590550" cy="304800"/>
          </a:xfrm>
          <a:prstGeom prst="roundRect">
            <a:avLst>
              <a:gd name="adj" fmla="val 3121875"/>
            </a:avLst>
          </a:prstGeom>
          <a:solidFill>
            <a:srgbClr val="FBFAF2"/>
          </a:solidFill>
          <a:ln w="9525">
            <a:solidFill>
              <a:srgbClr val="C94F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6943725" y="5895975"/>
            <a:ext cx="3108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94F3D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南瓜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7467600" y="5848350"/>
            <a:ext cx="742950" cy="304800"/>
          </a:xfrm>
          <a:prstGeom prst="roundRect">
            <a:avLst>
              <a:gd name="adj" fmla="val 3121875"/>
            </a:avLst>
          </a:prstGeom>
          <a:solidFill>
            <a:srgbClr val="FBFAF2"/>
          </a:solidFill>
          <a:ln w="9525">
            <a:solidFill>
              <a:srgbClr val="C94F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Text 66"/>
          <p:cNvSpPr/>
          <p:nvPr/>
        </p:nvSpPr>
        <p:spPr>
          <a:xfrm>
            <a:off x="7610475" y="5895975"/>
            <a:ext cx="46634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94F3D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四季豆</a:t>
            </a:r>
            <a:endParaRPr lang="en-US" sz="1200" dirty="0"/>
          </a:p>
        </p:txBody>
      </p:sp>
      <p:sp>
        <p:nvSpPr>
          <p:cNvPr id="69" name="Text 67"/>
          <p:cNvSpPr/>
          <p:nvPr/>
        </p:nvSpPr>
        <p:spPr>
          <a:xfrm>
            <a:off x="8286750" y="5848350"/>
            <a:ext cx="742950" cy="304800"/>
          </a:xfrm>
          <a:prstGeom prst="roundRect">
            <a:avLst>
              <a:gd name="adj" fmla="val 3121875"/>
            </a:avLst>
          </a:prstGeom>
          <a:solidFill>
            <a:srgbClr val="FBFAF2"/>
          </a:solidFill>
          <a:ln w="9525">
            <a:solidFill>
              <a:srgbClr val="C94F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Text 68"/>
          <p:cNvSpPr/>
          <p:nvPr/>
        </p:nvSpPr>
        <p:spPr>
          <a:xfrm>
            <a:off x="8429625" y="5895975"/>
            <a:ext cx="46634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94F3D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大白菜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952500" y="6667500"/>
            <a:ext cx="5359301" cy="819150"/>
          </a:xfrm>
          <a:prstGeom prst="roundRect">
            <a:avLst>
              <a:gd name="adj" fmla="val 13953"/>
            </a:avLst>
          </a:prstGeom>
          <a:solidFill>
            <a:srgbClr val="F2EF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Text 70"/>
          <p:cNvSpPr/>
          <p:nvPr/>
        </p:nvSpPr>
        <p:spPr>
          <a:xfrm>
            <a:off x="1104900" y="6781800"/>
            <a:ext cx="6822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825" dirty="0"/>
          </a:p>
        </p:txBody>
      </p:sp>
      <p:sp>
        <p:nvSpPr>
          <p:cNvPr id="73" name="Text 71"/>
          <p:cNvSpPr/>
          <p:nvPr/>
        </p:nvSpPr>
        <p:spPr>
          <a:xfrm>
            <a:off x="1104900" y="6972300"/>
            <a:ext cx="4513153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Word bank of all 13 vegetable names displayed on the projector throughout.</a:t>
            </a:r>
            <a:endParaRPr lang="en-US" sz="1125" dirty="0"/>
          </a:p>
        </p:txBody>
      </p:sp>
      <p:sp>
        <p:nvSpPr>
          <p:cNvPr id="74" name="Text 72"/>
          <p:cNvSpPr/>
          <p:nvPr/>
        </p:nvSpPr>
        <p:spPr>
          <a:xfrm>
            <a:off x="6464201" y="6667500"/>
            <a:ext cx="5359450" cy="819150"/>
          </a:xfrm>
          <a:prstGeom prst="roundRect">
            <a:avLst>
              <a:gd name="adj" fmla="val 13953"/>
            </a:avLst>
          </a:prstGeom>
          <a:solidFill>
            <a:srgbClr val="F2EF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6616601" y="6781800"/>
            <a:ext cx="73989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825" dirty="0"/>
          </a:p>
        </p:txBody>
      </p:sp>
      <p:sp>
        <p:nvSpPr>
          <p:cNvPr id="76" name="Text 74"/>
          <p:cNvSpPr/>
          <p:nvPr/>
        </p:nvSpPr>
        <p:spPr>
          <a:xfrm>
            <a:off x="6616601" y="6972300"/>
            <a:ext cx="5027923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Fluent speakers also write one sentence per vegetable using 我(不太)喜欢吃……</a:t>
            </a:r>
            <a:endParaRPr lang="en-US" sz="1125" dirty="0"/>
          </a:p>
        </p:txBody>
      </p:sp>
      <p:sp>
        <p:nvSpPr>
          <p:cNvPr id="77" name="Text 75"/>
          <p:cNvSpPr/>
          <p:nvPr/>
        </p:nvSpPr>
        <p:spPr>
          <a:xfrm>
            <a:off x="11976050" y="6667500"/>
            <a:ext cx="5359450" cy="819150"/>
          </a:xfrm>
          <a:prstGeom prst="roundRect">
            <a:avLst>
              <a:gd name="adj" fmla="val 13953"/>
            </a:avLst>
          </a:prstGeom>
          <a:solidFill>
            <a:srgbClr val="F2EF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Text 76"/>
          <p:cNvSpPr/>
          <p:nvPr/>
        </p:nvSpPr>
        <p:spPr>
          <a:xfrm>
            <a:off x="12128450" y="6781800"/>
            <a:ext cx="26626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C94F3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825" dirty="0"/>
          </a:p>
        </p:txBody>
      </p:sp>
      <p:sp>
        <p:nvSpPr>
          <p:cNvPr id="79" name="Text 77"/>
          <p:cNvSpPr/>
          <p:nvPr/>
        </p:nvSpPr>
        <p:spPr>
          <a:xfrm>
            <a:off x="12128450" y="6972300"/>
            <a:ext cx="402343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Mini whiteboards — every student responds every round.</a:t>
            </a:r>
            <a:endParaRPr lang="en-US" sz="1125" dirty="0"/>
          </a:p>
        </p:txBody>
      </p:sp>
      <p:sp>
        <p:nvSpPr>
          <p:cNvPr id="80" name="Shape 78"/>
          <p:cNvSpPr/>
          <p:nvPr/>
        </p:nvSpPr>
        <p:spPr>
          <a:xfrm>
            <a:off x="0" y="9786938"/>
            <a:ext cx="1828800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762000" y="9958388"/>
            <a:ext cx="323647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4 Vegetables &amp; Fruits 蔬菜、水果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771525"/>
          </a:xfrm>
          <a:prstGeom prst="rect">
            <a:avLst/>
          </a:prstGeom>
          <a:solidFill>
            <a:srgbClr val="FBFAF2">
              <a:alpha val="9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766763"/>
            <a:ext cx="1828800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285750"/>
            <a:ext cx="214545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VEGETABLES VOCAB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3255913" y="280988"/>
            <a:ext cx="280444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 3 · Supermarket Vegetable Project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5C8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52500" y="1119188"/>
            <a:ext cx="1179909" cy="314325"/>
          </a:xfrm>
          <a:prstGeom prst="roundRect">
            <a:avLst>
              <a:gd name="adj" fmla="val 3027273"/>
            </a:avLst>
          </a:prstGeom>
          <a:solidFill>
            <a:srgbClr val="E08A3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143000" y="1176338"/>
            <a:ext cx="81488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3</a:t>
            </a:r>
            <a:endParaRPr lang="en-US" sz="1125" dirty="0"/>
          </a:p>
        </p:txBody>
      </p:sp>
      <p:sp>
        <p:nvSpPr>
          <p:cNvPr id="9" name="Text 7"/>
          <p:cNvSpPr/>
          <p:nvPr/>
        </p:nvSpPr>
        <p:spPr>
          <a:xfrm>
            <a:off x="2284809" y="1104900"/>
            <a:ext cx="927199" cy="342900"/>
          </a:xfrm>
          <a:prstGeom prst="roundRect">
            <a:avLst>
              <a:gd name="adj" fmla="val 2775000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465784" y="1171575"/>
            <a:ext cx="57655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8 min</a:t>
            </a:r>
            <a:endParaRPr lang="en-US" sz="1125" dirty="0"/>
          </a:p>
        </p:txBody>
      </p:sp>
      <p:sp>
        <p:nvSpPr>
          <p:cNvPr id="11" name="Text 9"/>
          <p:cNvSpPr/>
          <p:nvPr/>
        </p:nvSpPr>
        <p:spPr>
          <a:xfrm>
            <a:off x="3364409" y="1119188"/>
            <a:ext cx="871538" cy="314325"/>
          </a:xfrm>
          <a:prstGeom prst="roundRect">
            <a:avLst>
              <a:gd name="adj" fmla="val 3027273"/>
            </a:avLst>
          </a:prstGeom>
          <a:solidFill>
            <a:srgbClr val="E08A3C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535859" y="1176338"/>
            <a:ext cx="53921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</a:t>
            </a:r>
            <a:endParaRPr lang="en-US" sz="1125" dirty="0"/>
          </a:p>
        </p:txBody>
      </p:sp>
      <p:sp>
        <p:nvSpPr>
          <p:cNvPr id="13" name="Text 11"/>
          <p:cNvSpPr/>
          <p:nvPr/>
        </p:nvSpPr>
        <p:spPr>
          <a:xfrm>
            <a:off x="952500" y="1543050"/>
            <a:ext cx="1036401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超市蔬菜项目 · Supermarket Vegetable Project </a:t>
            </a:r>
            <a:r>
              <a:rPr lang="en-US" sz="1500" dirty="0">
                <a:solidFill>
                  <a:srgbClr val="8C948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(Textbook Act.8, adapted)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952500" y="2133600"/>
            <a:ext cx="728434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25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Draw 3–4 vegetables you'd find in a local supermarket and label each in Chinese</a:t>
            </a:r>
            <a:endParaRPr lang="en-US" sz="1425" dirty="0"/>
          </a:p>
        </p:txBody>
      </p:sp>
      <p:sp>
        <p:nvSpPr>
          <p:cNvPr id="15" name="Text 13"/>
          <p:cNvSpPr/>
          <p:nvPr/>
        </p:nvSpPr>
        <p:spPr>
          <a:xfrm>
            <a:off x="952500" y="2590800"/>
            <a:ext cx="8039100" cy="2933700"/>
          </a:xfrm>
          <a:prstGeom prst="roundRect">
            <a:avLst>
              <a:gd name="adj" fmla="val 6494"/>
            </a:avLst>
          </a:prstGeom>
          <a:solidFill>
            <a:srgbClr val="F2EFDE"/>
          </a:solidFill>
          <a:ln w="19050">
            <a:solidFill>
              <a:srgbClr val="CFC7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181100" y="2838450"/>
            <a:ext cx="171068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50"/>
              </a:spcAft>
              <a:buNone/>
            </a:pPr>
            <a:r>
              <a:rPr lang="en-US" sz="1050" b="1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DRAWING TEMPLATE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181100" y="3028950"/>
            <a:ext cx="3724275" cy="1066800"/>
          </a:xfrm>
          <a:prstGeom prst="roundRect">
            <a:avLst>
              <a:gd name="adj" fmla="val 10714"/>
            </a:avLst>
          </a:prstGeom>
          <a:solidFill>
            <a:srgbClr val="FBFAF2"/>
          </a:solidFill>
          <a:ln w="9525">
            <a:solidFill>
              <a:srgbClr val="CFC7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2881313" y="3200400"/>
            <a:ext cx="3303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>
                <a:solidFill>
                  <a:srgbClr val="24321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🥕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1746349" y="3914775"/>
            <a:ext cx="2593628" cy="0"/>
          </a:xfrm>
          <a:prstGeom prst="line">
            <a:avLst/>
          </a:prstGeom>
          <a:noFill/>
          <a:ln w="19050">
            <a:solidFill>
              <a:srgbClr val="CFC7A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38725" y="3028950"/>
            <a:ext cx="3724275" cy="1066800"/>
          </a:xfrm>
          <a:prstGeom prst="roundRect">
            <a:avLst>
              <a:gd name="adj" fmla="val 10714"/>
            </a:avLst>
          </a:prstGeom>
          <a:solidFill>
            <a:srgbClr val="FBFAF2"/>
          </a:solidFill>
          <a:ln w="9525">
            <a:solidFill>
              <a:srgbClr val="CFC7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738938" y="3200400"/>
            <a:ext cx="3303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>
                <a:solidFill>
                  <a:srgbClr val="24321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🥦</a:t>
            </a:r>
            <a:endParaRPr lang="en-US" sz="2550" dirty="0"/>
          </a:p>
        </p:txBody>
      </p:sp>
      <p:sp>
        <p:nvSpPr>
          <p:cNvPr id="22" name="Shape 20"/>
          <p:cNvSpPr/>
          <p:nvPr/>
        </p:nvSpPr>
        <p:spPr>
          <a:xfrm>
            <a:off x="5603974" y="3914775"/>
            <a:ext cx="2593628" cy="0"/>
          </a:xfrm>
          <a:prstGeom prst="line">
            <a:avLst/>
          </a:prstGeom>
          <a:noFill/>
          <a:ln w="19050">
            <a:solidFill>
              <a:srgbClr val="CFC7A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81100" y="4229100"/>
            <a:ext cx="3724275" cy="1066800"/>
          </a:xfrm>
          <a:prstGeom prst="roundRect">
            <a:avLst>
              <a:gd name="adj" fmla="val 10714"/>
            </a:avLst>
          </a:prstGeom>
          <a:solidFill>
            <a:srgbClr val="FBFAF2"/>
          </a:solidFill>
          <a:ln w="9525">
            <a:solidFill>
              <a:srgbClr val="CFC7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2881313" y="4400550"/>
            <a:ext cx="3303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>
                <a:solidFill>
                  <a:srgbClr val="24321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🍅</a:t>
            </a:r>
            <a:endParaRPr lang="en-US" sz="2550" dirty="0"/>
          </a:p>
        </p:txBody>
      </p:sp>
      <p:sp>
        <p:nvSpPr>
          <p:cNvPr id="25" name="Shape 23"/>
          <p:cNvSpPr/>
          <p:nvPr/>
        </p:nvSpPr>
        <p:spPr>
          <a:xfrm>
            <a:off x="1746349" y="5114925"/>
            <a:ext cx="2593628" cy="0"/>
          </a:xfrm>
          <a:prstGeom prst="line">
            <a:avLst/>
          </a:prstGeom>
          <a:noFill/>
          <a:ln w="19050">
            <a:solidFill>
              <a:srgbClr val="CFC7A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38725" y="4229100"/>
            <a:ext cx="3724275" cy="1066800"/>
          </a:xfrm>
          <a:prstGeom prst="roundRect">
            <a:avLst>
              <a:gd name="adj" fmla="val 10714"/>
            </a:avLst>
          </a:prstGeom>
          <a:solidFill>
            <a:srgbClr val="FBFAF2"/>
          </a:solidFill>
          <a:ln w="9525">
            <a:solidFill>
              <a:srgbClr val="CFC7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738938" y="4400550"/>
            <a:ext cx="3303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>
                <a:solidFill>
                  <a:srgbClr val="24321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🥔</a:t>
            </a:r>
            <a:endParaRPr lang="en-US" sz="2550" dirty="0"/>
          </a:p>
        </p:txBody>
      </p:sp>
      <p:sp>
        <p:nvSpPr>
          <p:cNvPr id="28" name="Shape 26"/>
          <p:cNvSpPr/>
          <p:nvPr/>
        </p:nvSpPr>
        <p:spPr>
          <a:xfrm>
            <a:off x="5603974" y="5114925"/>
            <a:ext cx="2593628" cy="0"/>
          </a:xfrm>
          <a:prstGeom prst="line">
            <a:avLst/>
          </a:prstGeom>
          <a:noFill/>
          <a:ln w="19050">
            <a:solidFill>
              <a:srgbClr val="CFC7A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96400" y="2590800"/>
            <a:ext cx="8039100" cy="2933700"/>
          </a:xfrm>
          <a:prstGeom prst="roundRect">
            <a:avLst>
              <a:gd name="adj" fmla="val 6494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9515475" y="2819400"/>
            <a:ext cx="126893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900"/>
              </a:spcAft>
              <a:buNone/>
            </a:pPr>
            <a:r>
              <a:rPr lang="en-US" sz="1050" b="1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IT WORKS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9515475" y="2781300"/>
            <a:ext cx="7610576" cy="5124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24321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Students draw </a:t>
            </a:r>
            <a:r>
              <a:rPr lang="en-US" sz="1350" b="1" dirty="0">
                <a:solidFill>
                  <a:srgbClr val="24321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3–4 vegetables</a:t>
            </a:r>
            <a:r>
              <a:rPr lang="en-US" sz="1350" dirty="0">
                <a:solidFill>
                  <a:srgbClr val="24321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from memory or the flashcard set on their template, labelling each in Chinese underneath.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9515475" y="3320355"/>
            <a:ext cx="7600950" cy="531465"/>
          </a:xfrm>
          <a:prstGeom prst="rect">
            <a:avLst/>
          </a:prstGeom>
          <a:solidFill>
            <a:srgbClr val="E8E2C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Shape 31"/>
          <p:cNvSpPr/>
          <p:nvPr/>
        </p:nvSpPr>
        <p:spPr>
          <a:xfrm>
            <a:off x="9539288" y="3320355"/>
            <a:ext cx="0" cy="531465"/>
          </a:xfrm>
          <a:prstGeom prst="line">
            <a:avLst/>
          </a:prstGeom>
          <a:noFill/>
          <a:ln w="47625">
            <a:solidFill>
              <a:srgbClr val="5C8A3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734550" y="3472755"/>
            <a:ext cx="256489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我在超市买了</a:t>
            </a:r>
            <a:r>
              <a:rPr lang="en-US" sz="1350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……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9515475" y="3861346"/>
            <a:ext cx="608919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750"/>
              </a:spcBef>
              <a:buNone/>
            </a:pPr>
            <a:r>
              <a:rPr lang="en-US" sz="1125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"I bought … at the supermarket" — extension sentence, using 都 or 等等 for 2+ items.</a:t>
            </a:r>
            <a:endParaRPr lang="en-US" sz="1125" dirty="0"/>
          </a:p>
        </p:txBody>
      </p:sp>
      <p:sp>
        <p:nvSpPr>
          <p:cNvPr id="36" name="Text 34"/>
          <p:cNvSpPr/>
          <p:nvPr/>
        </p:nvSpPr>
        <p:spPr>
          <a:xfrm>
            <a:off x="952500" y="5905500"/>
            <a:ext cx="5359301" cy="819150"/>
          </a:xfrm>
          <a:prstGeom prst="roundRect">
            <a:avLst>
              <a:gd name="adj" fmla="val 13953"/>
            </a:avLst>
          </a:prstGeom>
          <a:solidFill>
            <a:srgbClr val="F2EF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1104900" y="6019800"/>
            <a:ext cx="6822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825" dirty="0"/>
          </a:p>
        </p:txBody>
      </p:sp>
      <p:sp>
        <p:nvSpPr>
          <p:cNvPr id="38" name="Text 36"/>
          <p:cNvSpPr/>
          <p:nvPr/>
        </p:nvSpPr>
        <p:spPr>
          <a:xfrm>
            <a:off x="1104900" y="6210300"/>
            <a:ext cx="4785491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Students may copy from the vocabulary sheet if needed; word bank stays visible.</a:t>
            </a:r>
            <a:endParaRPr lang="en-US" sz="1125" dirty="0"/>
          </a:p>
        </p:txBody>
      </p:sp>
      <p:sp>
        <p:nvSpPr>
          <p:cNvPr id="39" name="Text 37"/>
          <p:cNvSpPr/>
          <p:nvPr/>
        </p:nvSpPr>
        <p:spPr>
          <a:xfrm>
            <a:off x="6464201" y="5905500"/>
            <a:ext cx="5359450" cy="819150"/>
          </a:xfrm>
          <a:prstGeom prst="roundRect">
            <a:avLst>
              <a:gd name="adj" fmla="val 13953"/>
            </a:avLst>
          </a:prstGeom>
          <a:solidFill>
            <a:srgbClr val="F2EF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616601" y="6019800"/>
            <a:ext cx="73989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825" dirty="0"/>
          </a:p>
        </p:txBody>
      </p:sp>
      <p:sp>
        <p:nvSpPr>
          <p:cNvPr id="41" name="Text 39"/>
          <p:cNvSpPr/>
          <p:nvPr/>
        </p:nvSpPr>
        <p:spPr>
          <a:xfrm>
            <a:off x="6616601" y="6210300"/>
            <a:ext cx="512249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Add a sentence: 我在超市买了……using 都 or 等等 if they know 2+ items.</a:t>
            </a:r>
            <a:endParaRPr lang="en-US" sz="1125" dirty="0"/>
          </a:p>
        </p:txBody>
      </p:sp>
      <p:sp>
        <p:nvSpPr>
          <p:cNvPr id="42" name="Text 40"/>
          <p:cNvSpPr/>
          <p:nvPr/>
        </p:nvSpPr>
        <p:spPr>
          <a:xfrm>
            <a:off x="11976050" y="5905500"/>
            <a:ext cx="5359450" cy="819150"/>
          </a:xfrm>
          <a:prstGeom prst="roundRect">
            <a:avLst>
              <a:gd name="adj" fmla="val 13953"/>
            </a:avLst>
          </a:prstGeom>
          <a:solidFill>
            <a:srgbClr val="F2EF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12128450" y="6019800"/>
            <a:ext cx="26626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C94F3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825" dirty="0"/>
          </a:p>
        </p:txBody>
      </p:sp>
      <p:sp>
        <p:nvSpPr>
          <p:cNvPr id="44" name="Text 42"/>
          <p:cNvSpPr/>
          <p:nvPr/>
        </p:nvSpPr>
        <p:spPr>
          <a:xfrm>
            <a:off x="12128450" y="6210300"/>
            <a:ext cx="5095476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Turn and talk — partners describe their drawing in Chinese, 30 seconds each.</a:t>
            </a:r>
            <a:endParaRPr lang="en-US" sz="1125" dirty="0"/>
          </a:p>
        </p:txBody>
      </p:sp>
      <p:sp>
        <p:nvSpPr>
          <p:cNvPr id="45" name="Shape 43"/>
          <p:cNvSpPr/>
          <p:nvPr/>
        </p:nvSpPr>
        <p:spPr>
          <a:xfrm>
            <a:off x="0" y="9786938"/>
            <a:ext cx="1828800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62000" y="9958388"/>
            <a:ext cx="323647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4 Vegetables &amp; Fruits 蔬菜、水果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771525"/>
          </a:xfrm>
          <a:prstGeom prst="rect">
            <a:avLst/>
          </a:prstGeom>
          <a:solidFill>
            <a:srgbClr val="FBFAF2">
              <a:alpha val="9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766763"/>
            <a:ext cx="1828800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285750"/>
            <a:ext cx="214545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VEGETABLES VOCAB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3255913" y="280988"/>
            <a:ext cx="150529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 · 43–50 min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5C8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333500" y="3071813"/>
            <a:ext cx="91583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333500" y="3395663"/>
            <a:ext cx="3429572" cy="638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总结 · Wrap-Up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1333500" y="4338638"/>
            <a:ext cx="7658100" cy="3143250"/>
          </a:xfrm>
          <a:prstGeom prst="roundRect">
            <a:avLst>
              <a:gd name="adj" fmla="val 6061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628775" y="4595813"/>
            <a:ext cx="256200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350"/>
              </a:spcAft>
              <a:buNone/>
            </a:pPr>
            <a:r>
              <a:rPr lang="en-US" sz="1200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628775" y="4805363"/>
            <a:ext cx="285750" cy="285750"/>
          </a:xfrm>
          <a:prstGeom prst="roundRect">
            <a:avLst>
              <a:gd name="adj" fmla="val 320000"/>
            </a:avLst>
          </a:prstGeom>
          <a:solidFill>
            <a:srgbClr val="E08A3C">
              <a:alpha val="12000"/>
            </a:srgbClr>
          </a:solidFill>
          <a:ln w="9525">
            <a:solidFill>
              <a:srgbClr val="E08A3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685925" y="4838700"/>
            <a:ext cx="17487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962150" y="4805363"/>
            <a:ext cx="285750" cy="285750"/>
          </a:xfrm>
          <a:prstGeom prst="roundRect">
            <a:avLst>
              <a:gd name="adj" fmla="val 320000"/>
            </a:avLst>
          </a:prstGeom>
          <a:solidFill>
            <a:srgbClr val="5C8A3A">
              <a:alpha val="12000"/>
            </a:srgbClr>
          </a:solidFill>
          <a:ln w="9525">
            <a:solidFill>
              <a:srgbClr val="5C8A3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019300" y="4838700"/>
            <a:ext cx="17487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✋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295525" y="4805363"/>
            <a:ext cx="285750" cy="285750"/>
          </a:xfrm>
          <a:prstGeom prst="roundRect">
            <a:avLst>
              <a:gd name="adj" fmla="val 320000"/>
            </a:avLst>
          </a:prstGeom>
          <a:solidFill>
            <a:srgbClr val="C94F3D">
              <a:alpha val="10000"/>
            </a:srgbClr>
          </a:solidFill>
          <a:ln w="9525">
            <a:solidFill>
              <a:srgbClr val="C94F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2352675" y="4838700"/>
            <a:ext cx="17487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714625" y="4833938"/>
            <a:ext cx="41213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7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Say 蔬菜, 生菜, 黄瓜, 菜花儿, 土豆, 西红柿 in Chinese</a:t>
            </a:r>
            <a:endParaRPr lang="en-US" sz="1275" dirty="0"/>
          </a:p>
        </p:txBody>
      </p:sp>
      <p:sp>
        <p:nvSpPr>
          <p:cNvPr id="18" name="Text 16"/>
          <p:cNvSpPr/>
          <p:nvPr/>
        </p:nvSpPr>
        <p:spPr>
          <a:xfrm>
            <a:off x="1628775" y="5205413"/>
            <a:ext cx="285750" cy="285750"/>
          </a:xfrm>
          <a:prstGeom prst="roundRect">
            <a:avLst>
              <a:gd name="adj" fmla="val 320000"/>
            </a:avLst>
          </a:prstGeom>
          <a:solidFill>
            <a:srgbClr val="E08A3C">
              <a:alpha val="12000"/>
            </a:srgbClr>
          </a:solidFill>
          <a:ln w="9525">
            <a:solidFill>
              <a:srgbClr val="E08A3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685925" y="5238750"/>
            <a:ext cx="17487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962150" y="5205413"/>
            <a:ext cx="285750" cy="285750"/>
          </a:xfrm>
          <a:prstGeom prst="roundRect">
            <a:avLst>
              <a:gd name="adj" fmla="val 320000"/>
            </a:avLst>
          </a:prstGeom>
          <a:solidFill>
            <a:srgbClr val="5C8A3A">
              <a:alpha val="12000"/>
            </a:srgbClr>
          </a:solidFill>
          <a:ln w="9525">
            <a:solidFill>
              <a:srgbClr val="5C8A3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019300" y="5238750"/>
            <a:ext cx="17487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✋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295525" y="5205413"/>
            <a:ext cx="285750" cy="285750"/>
          </a:xfrm>
          <a:prstGeom prst="roundRect">
            <a:avLst>
              <a:gd name="adj" fmla="val 320000"/>
            </a:avLst>
          </a:prstGeom>
          <a:solidFill>
            <a:srgbClr val="C94F3D">
              <a:alpha val="10000"/>
            </a:srgbClr>
          </a:solidFill>
          <a:ln w="9525">
            <a:solidFill>
              <a:srgbClr val="C94F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2352675" y="5238750"/>
            <a:ext cx="17487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714625" y="5233988"/>
            <a:ext cx="35633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7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Use 非常 to say I like/dislike something a lot</a:t>
            </a:r>
            <a:endParaRPr lang="en-US" sz="1275" dirty="0"/>
          </a:p>
        </p:txBody>
      </p:sp>
      <p:sp>
        <p:nvSpPr>
          <p:cNvPr id="25" name="Text 23"/>
          <p:cNvSpPr/>
          <p:nvPr/>
        </p:nvSpPr>
        <p:spPr>
          <a:xfrm>
            <a:off x="1628775" y="5605463"/>
            <a:ext cx="285750" cy="285750"/>
          </a:xfrm>
          <a:prstGeom prst="roundRect">
            <a:avLst>
              <a:gd name="adj" fmla="val 320000"/>
            </a:avLst>
          </a:prstGeom>
          <a:solidFill>
            <a:srgbClr val="E08A3C">
              <a:alpha val="12000"/>
            </a:srgbClr>
          </a:solidFill>
          <a:ln w="9525">
            <a:solidFill>
              <a:srgbClr val="E08A3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1685925" y="5638800"/>
            <a:ext cx="17487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962150" y="5605463"/>
            <a:ext cx="285750" cy="285750"/>
          </a:xfrm>
          <a:prstGeom prst="roundRect">
            <a:avLst>
              <a:gd name="adj" fmla="val 320000"/>
            </a:avLst>
          </a:prstGeom>
          <a:solidFill>
            <a:srgbClr val="5C8A3A">
              <a:alpha val="12000"/>
            </a:srgbClr>
          </a:solidFill>
          <a:ln w="9525">
            <a:solidFill>
              <a:srgbClr val="5C8A3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2019300" y="5638800"/>
            <a:ext cx="17487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✋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2295525" y="5605463"/>
            <a:ext cx="285750" cy="285750"/>
          </a:xfrm>
          <a:prstGeom prst="roundRect">
            <a:avLst>
              <a:gd name="adj" fmla="val 320000"/>
            </a:avLst>
          </a:prstGeom>
          <a:solidFill>
            <a:srgbClr val="C94F3D">
              <a:alpha val="10000"/>
            </a:srgbClr>
          </a:solidFill>
          <a:ln w="9525">
            <a:solidFill>
              <a:srgbClr val="C94F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2352675" y="5638800"/>
            <a:ext cx="17487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2714625" y="5634038"/>
            <a:ext cx="322326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7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Name at least 3 Extra Words vegetables</a:t>
            </a:r>
            <a:endParaRPr lang="en-US" sz="1275" dirty="0"/>
          </a:p>
        </p:txBody>
      </p:sp>
      <p:sp>
        <p:nvSpPr>
          <p:cNvPr id="32" name="Text 30"/>
          <p:cNvSpPr/>
          <p:nvPr/>
        </p:nvSpPr>
        <p:spPr>
          <a:xfrm>
            <a:off x="1628775" y="6005513"/>
            <a:ext cx="285750" cy="285750"/>
          </a:xfrm>
          <a:prstGeom prst="roundRect">
            <a:avLst>
              <a:gd name="adj" fmla="val 320000"/>
            </a:avLst>
          </a:prstGeom>
          <a:solidFill>
            <a:srgbClr val="E08A3C">
              <a:alpha val="12000"/>
            </a:srgbClr>
          </a:solidFill>
          <a:ln w="9525">
            <a:solidFill>
              <a:srgbClr val="E08A3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1685925" y="6038850"/>
            <a:ext cx="17487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1962150" y="6005513"/>
            <a:ext cx="285750" cy="285750"/>
          </a:xfrm>
          <a:prstGeom prst="roundRect">
            <a:avLst>
              <a:gd name="adj" fmla="val 320000"/>
            </a:avLst>
          </a:prstGeom>
          <a:solidFill>
            <a:srgbClr val="5C8A3A">
              <a:alpha val="12000"/>
            </a:srgbClr>
          </a:solidFill>
          <a:ln w="9525">
            <a:solidFill>
              <a:srgbClr val="5C8A3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2019300" y="6038850"/>
            <a:ext cx="17487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✋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2295525" y="6005513"/>
            <a:ext cx="285750" cy="285750"/>
          </a:xfrm>
          <a:prstGeom prst="roundRect">
            <a:avLst>
              <a:gd name="adj" fmla="val 320000"/>
            </a:avLst>
          </a:prstGeom>
          <a:solidFill>
            <a:srgbClr val="C94F3D">
              <a:alpha val="10000"/>
            </a:srgbClr>
          </a:solidFill>
          <a:ln w="9525">
            <a:solidFill>
              <a:srgbClr val="C94F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2352675" y="6038850"/>
            <a:ext cx="17487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2714625" y="6034088"/>
            <a:ext cx="35686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7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Draw and label vegetables I know in Chinese</a:t>
            </a:r>
            <a:endParaRPr lang="en-US" sz="1275" dirty="0"/>
          </a:p>
        </p:txBody>
      </p:sp>
      <p:sp>
        <p:nvSpPr>
          <p:cNvPr id="39" name="Text 37"/>
          <p:cNvSpPr/>
          <p:nvPr/>
        </p:nvSpPr>
        <p:spPr>
          <a:xfrm>
            <a:off x="9296400" y="4338638"/>
            <a:ext cx="7658100" cy="3143250"/>
          </a:xfrm>
          <a:prstGeom prst="roundRect">
            <a:avLst>
              <a:gd name="adj" fmla="val 6061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9591675" y="4595813"/>
            <a:ext cx="113929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350"/>
              </a:spcAft>
              <a:buNone/>
            </a:pPr>
            <a:r>
              <a:rPr lang="en-US" sz="1200" b="1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EXIT TICKET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9591675" y="4805363"/>
            <a:ext cx="7067550" cy="876300"/>
          </a:xfrm>
          <a:prstGeom prst="rect">
            <a:avLst/>
          </a:prstGeom>
          <a:solidFill>
            <a:srgbClr val="E8E2C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Shape 40"/>
          <p:cNvSpPr/>
          <p:nvPr/>
        </p:nvSpPr>
        <p:spPr>
          <a:xfrm>
            <a:off x="9615488" y="4805363"/>
            <a:ext cx="0" cy="876300"/>
          </a:xfrm>
          <a:prstGeom prst="line">
            <a:avLst/>
          </a:prstGeom>
          <a:noFill/>
          <a:ln w="47625">
            <a:solidFill>
              <a:srgbClr val="E08A3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848850" y="4976813"/>
            <a:ext cx="40304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TASK</a:t>
            </a:r>
            <a:endParaRPr lang="en-US" sz="975" dirty="0"/>
          </a:p>
        </p:txBody>
      </p:sp>
      <p:sp>
        <p:nvSpPr>
          <p:cNvPr id="44" name="Text 42"/>
          <p:cNvSpPr/>
          <p:nvPr/>
        </p:nvSpPr>
        <p:spPr>
          <a:xfrm>
            <a:off x="9848850" y="5224463"/>
            <a:ext cx="613746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Write one sentence about a vegetable you don't like, using 不太喜欢吃</a:t>
            </a:r>
            <a:endParaRPr lang="en-US" sz="1650" dirty="0"/>
          </a:p>
        </p:txBody>
      </p:sp>
      <p:sp>
        <p:nvSpPr>
          <p:cNvPr id="45" name="Text 43"/>
          <p:cNvSpPr/>
          <p:nvPr/>
        </p:nvSpPr>
        <p:spPr>
          <a:xfrm>
            <a:off x="9591675" y="5862638"/>
            <a:ext cx="7051328" cy="1343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25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Student volunteer reads each success criterion aloud — class responds with the target word or sentence.
</a:t>
            </a:r>
            <a:r>
              <a:rPr lang="en-US" sz="1125" b="1" dirty="0">
                <a:solidFill>
                  <a:srgbClr val="C94F3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Self-assess with thumbs</a:t>
            </a:r>
            <a:r>
              <a:rPr lang="en-US" sz="1125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against each of the 4 criteria above.
</a:t>
            </a:r>
            <a:r>
              <a:rPr lang="en-US" sz="1125" b="1" dirty="0">
                <a:solidFill>
                  <a:srgbClr val="C94F3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Preview:</a:t>
            </a:r>
            <a:r>
              <a:rPr lang="en-US" sz="1125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Next lesson we'll learn a new word, 应该 (should) — and use it to give advice about eating vegetables!</a:t>
            </a:r>
            <a:endParaRPr lang="en-US" sz="1125" dirty="0"/>
          </a:p>
        </p:txBody>
      </p:sp>
      <p:sp>
        <p:nvSpPr>
          <p:cNvPr id="46" name="Shape 44"/>
          <p:cNvSpPr/>
          <p:nvPr/>
        </p:nvSpPr>
        <p:spPr>
          <a:xfrm>
            <a:off x="0" y="9786938"/>
            <a:ext cx="1828800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62000" y="9958388"/>
            <a:ext cx="323647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4 Vegetables &amp; Fruits 蔬菜、水果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771525"/>
          </a:xfrm>
          <a:prstGeom prst="rect">
            <a:avLst/>
          </a:prstGeom>
          <a:solidFill>
            <a:srgbClr val="FBFAF2">
              <a:alpha val="9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766763"/>
            <a:ext cx="1828800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285750"/>
            <a:ext cx="214545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VEGETABLES VOCAB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3255913" y="280988"/>
            <a:ext cx="162719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Preview · Next Lesson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5C8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037040" y="2426940"/>
            <a:ext cx="221392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COMING UP NEXT · L2</a:t>
            </a:r>
            <a:endParaRPr lang="en-US" sz="1125" dirty="0"/>
          </a:p>
        </p:txBody>
      </p:sp>
      <p:sp>
        <p:nvSpPr>
          <p:cNvPr id="8" name="Text 6"/>
          <p:cNvSpPr/>
          <p:nvPr/>
        </p:nvSpPr>
        <p:spPr>
          <a:xfrm>
            <a:off x="7715821" y="2712690"/>
            <a:ext cx="2856357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830"/>
              </a:lnSpc>
              <a:buNone/>
            </a:pPr>
            <a:r>
              <a:rPr lang="en-US" sz="4200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应该 </a:t>
            </a:r>
            <a:r>
              <a:rPr lang="en-US" sz="4200" b="1" dirty="0">
                <a:solidFill>
                  <a:srgbClr val="5C8A3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给建议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707751" y="3468886"/>
            <a:ext cx="68723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应该 (should) to give advice about eating vegetables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734050" y="4278511"/>
            <a:ext cx="3295650" cy="2047875"/>
          </a:xfrm>
          <a:prstGeom prst="roundRect">
            <a:avLst>
              <a:gd name="adj" fmla="val 9302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148703" y="4554736"/>
            <a:ext cx="466344" cy="638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dirty="0">
                <a:solidFill>
                  <a:srgbClr val="24321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6687217" y="5326261"/>
            <a:ext cx="138931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应该 · 应该不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6107019" y="5650111"/>
            <a:ext cx="254971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25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"should" / "shouldn't" + a vegetable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9258300" y="4278511"/>
            <a:ext cx="3295650" cy="2047875"/>
          </a:xfrm>
          <a:prstGeom prst="roundRect">
            <a:avLst>
              <a:gd name="adj" fmla="val 9302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0672953" y="4554736"/>
            <a:ext cx="466344" cy="638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dirty="0">
                <a:solidFill>
                  <a:srgbClr val="24321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🥗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0478643" y="5326261"/>
            <a:ext cx="85496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健康建议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9720380" y="5650111"/>
            <a:ext cx="2371341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25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Giving healthy-eating advice with vegetables</a:t>
            </a:r>
            <a:endParaRPr lang="en-US" sz="1125" dirty="0"/>
          </a:p>
        </p:txBody>
      </p:sp>
      <p:sp>
        <p:nvSpPr>
          <p:cNvPr id="18" name="Text 16"/>
          <p:cNvSpPr/>
          <p:nvPr/>
        </p:nvSpPr>
        <p:spPr>
          <a:xfrm>
            <a:off x="7440216" y="6745486"/>
            <a:ext cx="3407420" cy="1381125"/>
          </a:xfrm>
          <a:prstGeom prst="roundRect">
            <a:avLst>
              <a:gd name="adj" fmla="val 13793"/>
            </a:avLst>
          </a:prstGeom>
          <a:solidFill>
            <a:srgbClr val="E8E2C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699063" y="6955036"/>
            <a:ext cx="8895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COMING UP</a:t>
            </a:r>
            <a:endParaRPr lang="en-US" sz="975" dirty="0"/>
          </a:p>
        </p:txBody>
      </p:sp>
      <p:sp>
        <p:nvSpPr>
          <p:cNvPr id="20" name="Text 18"/>
          <p:cNvSpPr/>
          <p:nvPr/>
        </p:nvSpPr>
        <p:spPr>
          <a:xfrm>
            <a:off x="7900267" y="7202686"/>
            <a:ext cx="2487168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你应该多吃蔬菜。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7872485" y="7688461"/>
            <a:ext cx="254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7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should eat more vegetables</a:t>
            </a:r>
            <a:endParaRPr lang="en-US" sz="1275" dirty="0"/>
          </a:p>
        </p:txBody>
      </p:sp>
      <p:sp>
        <p:nvSpPr>
          <p:cNvPr id="22" name="Shape 20"/>
          <p:cNvSpPr/>
          <p:nvPr/>
        </p:nvSpPr>
        <p:spPr>
          <a:xfrm>
            <a:off x="0" y="9786938"/>
            <a:ext cx="1828800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62000" y="9958388"/>
            <a:ext cx="323647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4 Vegetables &amp; Fruits 蔬菜、水果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2026-08-01T05:37:38Z</dcterms:created>
  <dcterms:modified xsi:type="dcterms:W3CDTF">2026-08-01T05:37:38Z</dcterms:modified>
</cp:coreProperties>
</file>