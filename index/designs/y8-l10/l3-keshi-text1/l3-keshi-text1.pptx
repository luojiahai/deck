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66800" y="2453580"/>
            <a:ext cx="167106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UNIT 4 · LESSON 10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66800" y="3082230"/>
            <a:ext cx="16710660" cy="184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5"/>
              </a:lnSpc>
              <a:spcBef>
                <a:spcPts val="1950"/>
              </a:spcBef>
              <a:spcAft>
                <a:spcPts val="750"/>
              </a:spcAft>
              <a:buNone/>
            </a:pPr>
            <a:r>
              <a:rPr lang="en-US" sz="142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可是</a:t>
            </a:r>
            <a:endParaRPr lang="en-US" sz="14250" dirty="0"/>
          </a:p>
        </p:txBody>
      </p:sp>
      <p:sp>
        <p:nvSpPr>
          <p:cNvPr id="7" name="Text 5"/>
          <p:cNvSpPr/>
          <p:nvPr/>
        </p:nvSpPr>
        <p:spPr>
          <a:xfrm>
            <a:off x="1066800" y="5023396"/>
            <a:ext cx="1671066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But · Text 1 · the supermarket project</a:t>
            </a:r>
            <a:endParaRPr lang="en-US" sz="5100" dirty="0"/>
          </a:p>
        </p:txBody>
      </p:sp>
      <p:sp>
        <p:nvSpPr>
          <p:cNvPr id="8" name="Text 6"/>
          <p:cNvSpPr/>
          <p:nvPr/>
        </p:nvSpPr>
        <p:spPr>
          <a:xfrm>
            <a:off x="1066800" y="6271171"/>
            <a:ext cx="167106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50 minutes · 课本 p.90, 93–94</a:t>
            </a:r>
            <a:endParaRPr lang="en-US" sz="2250" dirty="0"/>
          </a:p>
        </p:txBody>
      </p:sp>
      <p:pic>
        <p:nvPicPr>
          <p:cNvPr id="9" name="Image 0" descr="/Users/luojiahai/code/deck/index/designs/y8-l10/img/shucai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7128421"/>
            <a:ext cx="1428750" cy="1428750"/>
          </a:xfrm>
          <a:prstGeom prst="rect">
            <a:avLst/>
          </a:prstGeom>
        </p:spPr>
      </p:pic>
      <p:pic>
        <p:nvPicPr>
          <p:cNvPr id="10" name="Image 1" descr="/Users/luojiahai/code/deck/index/designs/y8-l10/img/caihuar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250" y="7128421"/>
            <a:ext cx="1428750" cy="1428750"/>
          </a:xfrm>
          <a:prstGeom prst="rect">
            <a:avLst/>
          </a:prstGeom>
        </p:spPr>
      </p:pic>
      <p:pic>
        <p:nvPicPr>
          <p:cNvPr id="11" name="Image 2" descr="/Users/luojiahai/code/deck/index/designs/y8-l10/img/xihongshi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7700" y="7128421"/>
            <a:ext cx="1428750" cy="1428750"/>
          </a:xfrm>
          <a:prstGeom prst="rect">
            <a:avLst/>
          </a:prstGeom>
        </p:spPr>
      </p:pic>
      <p:pic>
        <p:nvPicPr>
          <p:cNvPr id="12" name="Image 3" descr="/Users/luojiahai/code/deck/index/designs/y8-l10/img/qingcai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3150" y="7128421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452688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听一听，选一选 · THE TEACHER READS EACH DIALOGUE TWICE — 课本 P.92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 · ANSWERS — THE CORRECT OPTION IN GREEN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5435501" cy="904875"/>
          </a:xfrm>
          <a:prstGeom prst="roundRect">
            <a:avLst>
              <a:gd name="adj" fmla="val 1263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26101" y="1666875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014150" y="1666875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8200" y="2724150"/>
            <a:ext cx="5435501" cy="904875"/>
          </a:xfrm>
          <a:prstGeom prst="roundRect">
            <a:avLst>
              <a:gd name="adj" fmla="val 1263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26101" y="2724150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014150" y="2724150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8200" y="3629025"/>
            <a:ext cx="16611600" cy="1663898"/>
          </a:xfrm>
          <a:prstGeom prst="roundRect">
            <a:avLst>
              <a:gd name="adj" fmla="val 6869"/>
            </a:avLst>
          </a:prstGeom>
          <a:solidFill>
            <a:srgbClr val="B93F2C">
              <a:alpha val="11000"/>
            </a:srgbClr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23950" y="3857625"/>
            <a:ext cx="9690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CORRECT THE TEACHER · 改错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23950" y="4143375"/>
            <a:ext cx="9690756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sentences, each wrong in one way. Fix them on your whiteboard.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23950" y="4557713"/>
            <a:ext cx="9690756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① 我吃应该蔬菜。　② 妈妈说我每天应该吃青菜等等。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838200" y="5292923"/>
            <a:ext cx="16611600" cy="1663898"/>
          </a:xfrm>
          <a:prstGeom prst="roundRect">
            <a:avLst>
              <a:gd name="adj" fmla="val 6869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23950" y="5521523"/>
            <a:ext cx="119069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CONNECTION · 今天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23950" y="5807273"/>
            <a:ext cx="11906952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Items 1 and 5 used a word we have not taught yet — the one that lets you push back.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23950" y="6221611"/>
            <a:ext cx="11906952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……，可是……</a:t>
            </a:r>
            <a:endParaRPr lang="en-US" sz="2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757363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185988"/>
            <a:ext cx="16611600" cy="1581150"/>
          </a:xfrm>
          <a:prstGeom prst="roundRect">
            <a:avLst>
              <a:gd name="adj" fmla="val 12048"/>
            </a:avLst>
          </a:prstGeom>
          <a:solidFill>
            <a:srgbClr val="E8E2C8"/>
          </a:solidFill>
          <a:ln w="2857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90625" y="2424113"/>
            <a:ext cx="16224885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join two contrasting ideas with 可是, and to read the whole Text 1 dialogue about vegetables.</a:t>
            </a:r>
            <a:endParaRPr lang="en-US" sz="3750" dirty="0"/>
          </a:p>
        </p:txBody>
      </p:sp>
      <p:sp>
        <p:nvSpPr>
          <p:cNvPr id="8" name="Text 6"/>
          <p:cNvSpPr/>
          <p:nvPr/>
        </p:nvSpPr>
        <p:spPr>
          <a:xfrm>
            <a:off x="838200" y="3957638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我会……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4386263"/>
            <a:ext cx="16611600" cy="1123950"/>
          </a:xfrm>
          <a:prstGeom prst="roundRect">
            <a:avLst>
              <a:gd name="adj" fmla="val 1016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95375" y="4529138"/>
            <a:ext cx="36918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685925" y="4529138"/>
            <a:ext cx="65927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可是 to join two clauses that disagree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685925" y="4938713"/>
            <a:ext cx="659272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我不太喜欢吃菜花儿，可是妈妈说我应该吃。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8200" y="5634038"/>
            <a:ext cx="16611600" cy="1123950"/>
          </a:xfrm>
          <a:prstGeom prst="roundRect">
            <a:avLst>
              <a:gd name="adj" fmla="val 1016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95375" y="5776913"/>
            <a:ext cx="36918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685925" y="5776913"/>
            <a:ext cx="949978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read Text 1 aloud with a partner and answer questions about it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685925" y="6186488"/>
            <a:ext cx="949978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你喜欢吃什么蔬菜？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8200" y="6881813"/>
            <a:ext cx="16611600" cy="1123950"/>
          </a:xfrm>
          <a:prstGeom prst="roundRect">
            <a:avLst>
              <a:gd name="adj" fmla="val 1016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95375" y="7024688"/>
            <a:ext cx="36918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685925" y="7024688"/>
            <a:ext cx="6712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write the simple characters 食、果、欠、石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685925" y="7434263"/>
            <a:ext cx="671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食 · 果 · 欠 · 石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38200" y="8129588"/>
            <a:ext cx="16611600" cy="1123950"/>
          </a:xfrm>
          <a:prstGeom prst="roundRect">
            <a:avLst>
              <a:gd name="adj" fmla="val 1016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5375" y="8272463"/>
            <a:ext cx="36918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685925" y="8272463"/>
            <a:ext cx="726081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hear and mark the tones on ie and üe syllables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685925" y="8682038"/>
            <a:ext cx="726081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ie · üe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655094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91400" y="3140869"/>
            <a:ext cx="3505200" cy="5214938"/>
          </a:xfrm>
          <a:prstGeom prst="roundRect">
            <a:avLst>
              <a:gd name="adj" fmla="val 543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01224" y="4283869"/>
            <a:ext cx="11072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kěshì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715250" y="5064919"/>
            <a:ext cx="2914650" cy="1500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3"/>
              </a:lnSpc>
              <a:buNone/>
            </a:pPr>
            <a:r>
              <a:rPr lang="en-US" sz="112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可是</a:t>
            </a:r>
            <a:endParaRPr lang="en-US" sz="11250" dirty="0"/>
          </a:p>
        </p:txBody>
      </p:sp>
      <p:sp>
        <p:nvSpPr>
          <p:cNvPr id="9" name="Text 7"/>
          <p:cNvSpPr/>
          <p:nvPr/>
        </p:nvSpPr>
        <p:spPr>
          <a:xfrm>
            <a:off x="8896648" y="6755606"/>
            <a:ext cx="5045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but</a:t>
            </a:r>
            <a:endParaRPr lang="en-US" sz="2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4445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30227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5825" y="2530227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2720727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bú tài xǐhuan chī càihuār, kěshì wǒ měi tiān dōu chī.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3177927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我不太喜欢吃菜花儿，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可是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我每天都吃。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" y="3958084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don't much like cauliflower, but I eat it every day.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39134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85825" y="4739134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929634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fēicháng xǐhuan chī tǔdòu, kěshì māma shuō wǒ yīnggāi duō chī qīngcài.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5386834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我非常喜欢吃土豆，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可是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妈妈说我应该多吃青菜。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6166991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really like potatoes, but Mum says I should eat more green vegetables.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6948041"/>
            <a:ext cx="16611600" cy="20184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85825" y="6948041"/>
            <a:ext cx="0" cy="2018407"/>
          </a:xfrm>
          <a:prstGeom prst="line">
            <a:avLst/>
          </a:prstGeom>
          <a:noFill/>
          <a:ln w="95250">
            <a:solidFill>
              <a:srgbClr val="B93F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7138541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bú tài xǐhuan chī shūcài, kěshì wǒ māma shuō wǒ yīnggāi měi tiān chī.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7595741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我不太喜欢吃蔬菜，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可是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我妈妈说我应该每天吃。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8250" y="8375898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Straight out of Text 1 — the line you are about to read.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617143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102918"/>
            <a:ext cx="16611600" cy="3322141"/>
          </a:xfrm>
          <a:prstGeom prst="roundRect">
            <a:avLst>
              <a:gd name="adj" fmla="val 5734"/>
            </a:avLst>
          </a:prstGeom>
          <a:solidFill>
            <a:srgbClr val="E8E2C8"/>
          </a:solidFill>
          <a:ln w="2857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04925" y="3474393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 ____________ ，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304925" y="4478238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可是 ____________ 。</a:t>
            </a:r>
            <a:endParaRPr lang="en-US" sz="4650" dirty="0"/>
          </a:p>
        </p:txBody>
      </p:sp>
      <p:sp>
        <p:nvSpPr>
          <p:cNvPr id="9" name="Text 7"/>
          <p:cNvSpPr/>
          <p:nvPr/>
        </p:nvSpPr>
        <p:spPr>
          <a:xfrm>
            <a:off x="1304925" y="5653534"/>
            <a:ext cx="15991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90 seconds. Both halves. The second half must disagree with the first.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38200" y="6615559"/>
            <a:ext cx="16611600" cy="1778198"/>
          </a:xfrm>
          <a:prstGeom prst="roundRect">
            <a:avLst>
              <a:gd name="adj" fmla="val 642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2525" y="6853684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52525" y="7234684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clauses, not two. Then write a second one where the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second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clause is the positive.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52525" y="7649021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我非常喜欢吃西红柿，可是我不喜欢吃菜花儿，妈妈说我应该都吃。</a:t>
            </a:r>
            <a:endParaRPr lang="en-US" sz="2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72834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简单字 · LEARN THE SIMPLE CHARACTERS — 课本 P.94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385566"/>
            <a:ext cx="3995738" cy="1420118"/>
          </a:xfrm>
          <a:prstGeom prst="roundRect">
            <a:avLst>
              <a:gd name="adj" fmla="val 1341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40794" y="2785616"/>
            <a:ext cx="602361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食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5043488" y="2385566"/>
            <a:ext cx="3995738" cy="1420118"/>
          </a:xfrm>
          <a:prstGeom prst="roundRect">
            <a:avLst>
              <a:gd name="adj" fmla="val 1341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46081" y="2785616"/>
            <a:ext cx="602361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果</a:t>
            </a:r>
            <a:endParaRPr lang="en-US" sz="4650" dirty="0"/>
          </a:p>
        </p:txBody>
      </p:sp>
      <p:sp>
        <p:nvSpPr>
          <p:cNvPr id="10" name="Text 8"/>
          <p:cNvSpPr/>
          <p:nvPr/>
        </p:nvSpPr>
        <p:spPr>
          <a:xfrm>
            <a:off x="9248775" y="2385566"/>
            <a:ext cx="3995738" cy="1420118"/>
          </a:xfrm>
          <a:prstGeom prst="roundRect">
            <a:avLst>
              <a:gd name="adj" fmla="val 1341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951369" y="2785616"/>
            <a:ext cx="602361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欠</a:t>
            </a:r>
            <a:endParaRPr lang="en-US" sz="4650" dirty="0"/>
          </a:p>
        </p:txBody>
      </p:sp>
      <p:sp>
        <p:nvSpPr>
          <p:cNvPr id="12" name="Text 10"/>
          <p:cNvSpPr/>
          <p:nvPr/>
        </p:nvSpPr>
        <p:spPr>
          <a:xfrm>
            <a:off x="13454063" y="2385566"/>
            <a:ext cx="3995738" cy="1420118"/>
          </a:xfrm>
          <a:prstGeom prst="roundRect">
            <a:avLst>
              <a:gd name="adj" fmla="val 1341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156656" y="2785616"/>
            <a:ext cx="602361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石</a:t>
            </a:r>
            <a:endParaRPr lang="en-US" sz="4650" dirty="0"/>
          </a:p>
        </p:txBody>
      </p:sp>
      <p:sp>
        <p:nvSpPr>
          <p:cNvPr id="14" name="Text 12"/>
          <p:cNvSpPr/>
          <p:nvPr/>
        </p:nvSpPr>
        <p:spPr>
          <a:xfrm>
            <a:off x="838200" y="7710934"/>
            <a:ext cx="16611600" cy="1571625"/>
          </a:xfrm>
          <a:prstGeom prst="roundRect">
            <a:avLst>
              <a:gd name="adj" fmla="val 7273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23950" y="7939534"/>
            <a:ext cx="163609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NOW?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23950" y="8225284"/>
            <a:ext cx="16360902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果 turns up inside 苹果 and 水果 in two lessons. 食 is the source of the 饣 radical you meet in Lesson 11. The book teaches them here on purpose.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TEXT 1 — 课本 P.90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62100" y="1666875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chī shūcài ma?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62100" y="2057400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你喜欢吃蔬菜吗？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38200" y="2804071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62100" y="2804071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fēicháng xǐhuan chī.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562100" y="3194596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我非常喜欢吃。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38200" y="3941266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62100" y="3941266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chī shénme shūcài?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562100" y="4331791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你喜欢吃什么蔬菜？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38200" y="5078462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62100" y="5078462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chī huángguā、càihuār、tǔdòu、shēngcài、xīhóngshì děngděng. Nǐ ne?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562100" y="5468987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我喜欢吃黄瓜、菜花儿、土豆、生菜、西红柿等等。你呢？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38200" y="6215658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562100" y="6215658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bú tài xǐhuan chī. Kěshì wǒ māma shuō wǒ yīnggāi měi tiān chī shūcài.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562100" y="6606183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我不太喜欢吃。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可是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我妈妈说我应该每天吃蔬菜。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回答问题 · ANSWER IN CHINESE IF YOU CAN — ENGLISH IF YOU STALL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838325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97000" y="1890713"/>
            <a:ext cx="1035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6850" y="1838325"/>
            <a:ext cx="2515859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喜欢吃蔬菜吗？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38200" y="2382738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76164" y="2435126"/>
            <a:ext cx="1460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6850" y="2382738"/>
            <a:ext cx="6305967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喜欢吃什么蔬菜？ — name at least three.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8200" y="2927152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75568" y="2979539"/>
            <a:ext cx="1472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6850" y="2927152"/>
            <a:ext cx="3137044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为什么每天吃蔬菜？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8200" y="3347740"/>
            <a:ext cx="16611600" cy="1157288"/>
          </a:xfrm>
          <a:prstGeom prst="roundRect">
            <a:avLst>
              <a:gd name="adj" fmla="val 9877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23950" y="3576340"/>
            <a:ext cx="155540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LOOK FOR THESE THREE THINGS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23950" y="3862090"/>
            <a:ext cx="1555406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degree word (非常). The list closed with 等等. And the 可是 that turns the whole dialogue around at the end.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TEXT 1 IN PAIRS — WE 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2713137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1743075"/>
            <a:ext cx="24176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 · 5 MINUTES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2333625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97000" y="2386013"/>
            <a:ext cx="1035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6850" y="2333625"/>
            <a:ext cx="9461531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 the dialogue aloud, A and B, from the handout with pinyin.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8200" y="2878038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6164" y="2930426"/>
            <a:ext cx="1460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6850" y="2878038"/>
            <a:ext cx="11825889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Swap roles and read it again — handout turned over, characters only on screen.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8200" y="3422452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75568" y="3474839"/>
            <a:ext cx="1472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6850" y="3422452"/>
            <a:ext cx="8322237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Listen for 蔬 (shū, not shù) and the neutral tone on 什么.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8200" y="4033540"/>
            <a:ext cx="16611600" cy="1685925"/>
          </a:xfrm>
          <a:prstGeom prst="roundRect">
            <a:avLst>
              <a:gd name="adj" fmla="val 6780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52525" y="4271665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52525" y="4652665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 it from memory with one substitution: B names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different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vegetables, and A's last line changes who gave the advice — 爸爸说 / 老师说 / 医生说. No handout at all.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2 · COMPLETE WITH 可是 — TEXTBOOK P.93 EX.7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3974009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1743075"/>
            <a:ext cx="37037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YOUR BOOKS · 5 MINUTES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2333625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97000" y="2386013"/>
            <a:ext cx="1035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6850" y="2333625"/>
            <a:ext cx="5544514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Complete four of these in characters.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8200" y="2878038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6164" y="2930426"/>
            <a:ext cx="1460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6850" y="2878038"/>
            <a:ext cx="5015171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answers read aloud for each.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8200" y="3546277"/>
            <a:ext cx="16611600" cy="2696170"/>
          </a:xfrm>
          <a:prstGeom prst="roundRect">
            <a:avLst>
              <a:gd name="adj" fmla="val 7066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90625" y="3822502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1. 我不太喜欢运动，可是 ____________ 。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1190625" y="4358432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2. 我不太喜欢看电视，可是 ____________ 。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1190625" y="4894362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3. 我不喜欢做作业，可是 ____________ 。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1190625" y="5430292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4. 我不太喜欢吃蔬菜，可是 ____________ 。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838200" y="6432947"/>
            <a:ext cx="16611600" cy="2192536"/>
          </a:xfrm>
          <a:prstGeom prst="roundRect">
            <a:avLst>
              <a:gd name="adj" fmla="val 521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52525" y="6671072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52525" y="7052072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Complete all seven, and make the second clause of each one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longer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than the first — it must contain a time expression or a second verb. Then flip two of them so the negative is in the second clause.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152525" y="7880747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我很喜欢吃土豆，可是妈妈说我不应该每天吃。</a:t>
            </a:r>
            <a:endParaRPr lang="en-US" sz="2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3 · THE SUPERMARKET PROJECT — TEXTBOOK P.94 EX.8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3311723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1743075"/>
            <a:ext cx="3028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A4 PAPER · 10 MINUTES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2333625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97000" y="2386013"/>
            <a:ext cx="1035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6850" y="2333625"/>
            <a:ext cx="9432991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Draw the vegetable section of the supermarket near your home.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8200" y="2878038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6164" y="2930426"/>
            <a:ext cx="1460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6850" y="2878038"/>
            <a:ext cx="9752844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Label every vegetable in Chinese characters. </a:t>
            </a:r>
            <a:r>
              <a:rPr lang="en-US" sz="24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Minimum six labels.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8200" y="3422452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75568" y="3474839"/>
            <a:ext cx="1472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6850" y="3422452"/>
            <a:ext cx="11592413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 least four must be words from this unit — use the Extra Words for the rest.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8200" y="3966865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74824" y="4019252"/>
            <a:ext cx="1487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6850" y="3966865"/>
            <a:ext cx="14628659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Last two minutes: gallery walk. Find one vegetable on someone else's drawing that is not on yours.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8200" y="4577953"/>
            <a:ext cx="16611600" cy="2284809"/>
          </a:xfrm>
          <a:prstGeom prst="roundRect">
            <a:avLst>
              <a:gd name="adj" fmla="val 500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52525" y="4816078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52525" y="5197078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Label ten, and add a caption line under the drawing using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of this lesson's structures.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152525" y="5611416"/>
            <a:ext cx="16302609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我们家附近的超市有青菜、南瓜、生菜、西红柿等等。</a:t>
            </a: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我非常喜欢吃西红柿，可是我不喜欢吃南瓜。</a:t>
            </a:r>
            <a:endParaRPr lang="en-US" sz="2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拼音 · ADD THE TONE MARKS — 课本 P.93 EX.6 · PRACTICE FOCUS: IE · ÜE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5435501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26101" y="1666875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014150" y="1666875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8200" y="2724150"/>
            <a:ext cx="5435501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26101" y="2724150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014150" y="2724150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8200" y="3629025"/>
            <a:ext cx="16611600" cy="1157288"/>
          </a:xfrm>
          <a:prstGeom prst="roundRect">
            <a:avLst>
              <a:gd name="adj" fmla="val 9877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23950" y="3857625"/>
            <a:ext cx="146575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IT RUNS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23950" y="4143375"/>
            <a:ext cx="14657502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Teacher reads each syllable twice. Write it with the tone marks and hold up. One point per correct board.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 · ANSWERS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5435501" cy="904875"/>
          </a:xfrm>
          <a:prstGeom prst="roundRect">
            <a:avLst>
              <a:gd name="adj" fmla="val 1263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26101" y="1666875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014150" y="1666875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8200" y="2724150"/>
            <a:ext cx="5435501" cy="904875"/>
          </a:xfrm>
          <a:prstGeom prst="roundRect">
            <a:avLst>
              <a:gd name="adj" fmla="val 1263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26101" y="2724150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014150" y="2724150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8200" y="3629025"/>
            <a:ext cx="16611600" cy="1571625"/>
          </a:xfrm>
          <a:prstGeom prst="roundRect">
            <a:avLst>
              <a:gd name="adj" fmla="val 7273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23950" y="3857625"/>
            <a:ext cx="163609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HARDER VERSION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23950" y="4143375"/>
            <a:ext cx="16360902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the syllable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one character you know containing that sound — 解、谢、月. Or take the teacher's job and read the syllables to the class yourself.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90232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 · 我做到了吗？ 👍 / 😐 / 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388096"/>
            <a:ext cx="16611600" cy="881955"/>
          </a:xfrm>
          <a:prstGeom prst="roundRect">
            <a:avLst>
              <a:gd name="adj" fmla="val 1296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14425" y="2588121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762125" y="2588121"/>
            <a:ext cx="700366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可是 to join two clauses that disagree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38200" y="3393877"/>
            <a:ext cx="16611600" cy="881955"/>
          </a:xfrm>
          <a:prstGeom prst="roundRect">
            <a:avLst>
              <a:gd name="adj" fmla="val 1296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4425" y="3593902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762125" y="3593902"/>
            <a:ext cx="792450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read Text 1 aloud and answer questions about it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8200" y="4399657"/>
            <a:ext cx="16611600" cy="881955"/>
          </a:xfrm>
          <a:prstGeom prst="roundRect">
            <a:avLst>
              <a:gd name="adj" fmla="val 1296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14425" y="4599682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762125" y="4599682"/>
            <a:ext cx="384460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write 食、果、欠、石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8200" y="5405438"/>
            <a:ext cx="16611600" cy="881955"/>
          </a:xfrm>
          <a:prstGeom prst="roundRect">
            <a:avLst>
              <a:gd name="adj" fmla="val 1296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14425" y="5605463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762125" y="5605463"/>
            <a:ext cx="631689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mark the tones on ie and üe syllables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8200" y="6287393"/>
            <a:ext cx="16611600" cy="1663898"/>
          </a:xfrm>
          <a:prstGeom prst="roundRect">
            <a:avLst>
              <a:gd name="adj" fmla="val 6869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23950" y="6515993"/>
            <a:ext cx="855343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 · 出门条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23950" y="6801743"/>
            <a:ext cx="855343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 blanks filled, in characters: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23950" y="7216080"/>
            <a:ext cx="8553435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我不太喜欢吃 ____________ ，可是 ____________ 。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838200" y="7951291"/>
            <a:ext cx="16611600" cy="1157288"/>
          </a:xfrm>
          <a:prstGeom prst="roundRect">
            <a:avLst>
              <a:gd name="adj" fmla="val 9877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23950" y="8179891"/>
            <a:ext cx="70016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LESSON · 下节课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23950" y="8465641"/>
            <a:ext cx="700168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leave the vegetables and start on fruit — 水果.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2026-09-14T04:54:41Z</dcterms:created>
  <dcterms:modified xsi:type="dcterms:W3CDTF">2026-09-14T04:54:41Z</dcterms:modified>
</cp:coreProperties>
</file>